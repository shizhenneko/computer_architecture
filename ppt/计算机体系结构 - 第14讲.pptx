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5"/>
  </p:notesMasterIdLst>
  <p:handoutMasterIdLst>
    <p:handoutMasterId r:id="rId86"/>
  </p:handoutMasterIdLst>
  <p:sldIdLst>
    <p:sldId id="256" r:id="rId2"/>
    <p:sldId id="1973" r:id="rId3"/>
    <p:sldId id="1708" r:id="rId4"/>
    <p:sldId id="1709" r:id="rId5"/>
    <p:sldId id="1710" r:id="rId6"/>
    <p:sldId id="1711" r:id="rId7"/>
    <p:sldId id="1758" r:id="rId8"/>
    <p:sldId id="1712" r:id="rId9"/>
    <p:sldId id="1713" r:id="rId10"/>
    <p:sldId id="1714" r:id="rId11"/>
    <p:sldId id="1715" r:id="rId12"/>
    <p:sldId id="1716" r:id="rId13"/>
    <p:sldId id="1717" r:id="rId14"/>
    <p:sldId id="1719" r:id="rId15"/>
    <p:sldId id="1829" r:id="rId16"/>
    <p:sldId id="1850" r:id="rId17"/>
    <p:sldId id="1721" r:id="rId18"/>
    <p:sldId id="1722" r:id="rId19"/>
    <p:sldId id="1723" r:id="rId20"/>
    <p:sldId id="1724" r:id="rId21"/>
    <p:sldId id="1828" r:id="rId22"/>
    <p:sldId id="1725" r:id="rId23"/>
    <p:sldId id="1726" r:id="rId24"/>
    <p:sldId id="1877" r:id="rId25"/>
    <p:sldId id="1821" r:id="rId26"/>
    <p:sldId id="1822" r:id="rId27"/>
    <p:sldId id="697" r:id="rId28"/>
    <p:sldId id="1825" r:id="rId29"/>
    <p:sldId id="1826" r:id="rId30"/>
    <p:sldId id="1874" r:id="rId31"/>
    <p:sldId id="1837" r:id="rId32"/>
    <p:sldId id="1832" r:id="rId33"/>
    <p:sldId id="417" r:id="rId34"/>
    <p:sldId id="418" r:id="rId35"/>
    <p:sldId id="419" r:id="rId36"/>
    <p:sldId id="420" r:id="rId37"/>
    <p:sldId id="421" r:id="rId38"/>
    <p:sldId id="422" r:id="rId39"/>
    <p:sldId id="423" r:id="rId40"/>
    <p:sldId id="424" r:id="rId41"/>
    <p:sldId id="425" r:id="rId42"/>
    <p:sldId id="426" r:id="rId43"/>
    <p:sldId id="427" r:id="rId44"/>
    <p:sldId id="428" r:id="rId45"/>
    <p:sldId id="429" r:id="rId46"/>
    <p:sldId id="430" r:id="rId47"/>
    <p:sldId id="431" r:id="rId48"/>
    <p:sldId id="432" r:id="rId49"/>
    <p:sldId id="433" r:id="rId50"/>
    <p:sldId id="1871" r:id="rId51"/>
    <p:sldId id="1873" r:id="rId52"/>
    <p:sldId id="1835" r:id="rId53"/>
    <p:sldId id="1788" r:id="rId54"/>
    <p:sldId id="1843" r:id="rId55"/>
    <p:sldId id="1789" r:id="rId56"/>
    <p:sldId id="1844" r:id="rId57"/>
    <p:sldId id="1970" r:id="rId58"/>
    <p:sldId id="1790" r:id="rId59"/>
    <p:sldId id="1791" r:id="rId60"/>
    <p:sldId id="1792" r:id="rId61"/>
    <p:sldId id="1793" r:id="rId62"/>
    <p:sldId id="1794" r:id="rId63"/>
    <p:sldId id="1795" r:id="rId64"/>
    <p:sldId id="1796" r:id="rId65"/>
    <p:sldId id="1971" r:id="rId66"/>
    <p:sldId id="1797" r:id="rId67"/>
    <p:sldId id="1798" r:id="rId68"/>
    <p:sldId id="1799" r:id="rId69"/>
    <p:sldId id="1802" r:id="rId70"/>
    <p:sldId id="1805" r:id="rId71"/>
    <p:sldId id="1808" r:id="rId72"/>
    <p:sldId id="1972" r:id="rId73"/>
    <p:sldId id="1809" r:id="rId74"/>
    <p:sldId id="1810" r:id="rId75"/>
    <p:sldId id="1811" r:id="rId76"/>
    <p:sldId id="1812" r:id="rId77"/>
    <p:sldId id="1813" r:id="rId78"/>
    <p:sldId id="1814" r:id="rId79"/>
    <p:sldId id="1815" r:id="rId80"/>
    <p:sldId id="1816" r:id="rId81"/>
    <p:sldId id="1817" r:id="rId82"/>
    <p:sldId id="1841" r:id="rId83"/>
    <p:sldId id="1818" r:id="rId84"/>
  </p:sldIdLst>
  <p:sldSz cx="9144000" cy="6858000" type="screen4x3"/>
  <p:notesSz cx="6735763" cy="9869488"/>
  <p:kinsoku lang="zh-CN" invalStChars="!),.:;?]}、。—ˇ¨〃々～‖…’”〕〉》」』〗】∶！＂＇），．：；？］｀｜｝·" invalEndChars="([{‘“〔〈《「『〖【（［｛．·"/>
  <p:defaultTex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0033CC"/>
    <a:srgbClr val="003399"/>
    <a:srgbClr val="3366FF"/>
    <a:srgbClr val="C28F3E"/>
    <a:srgbClr val="BC7D3E"/>
    <a:srgbClr val="B0753A"/>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80735" autoAdjust="0"/>
  </p:normalViewPr>
  <p:slideViewPr>
    <p:cSldViewPr>
      <p:cViewPr varScale="1">
        <p:scale>
          <a:sx n="71" d="100"/>
          <a:sy n="71" d="100"/>
        </p:scale>
        <p:origin x="1365" y="4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19032" cy="492938"/>
          </a:xfrm>
          <a:prstGeom prst="rect">
            <a:avLst/>
          </a:prstGeom>
        </p:spPr>
        <p:txBody>
          <a:bodyPr vert="horz" lIns="94883" tIns="47441" rIns="94883" bIns="47441" rtlCol="0"/>
          <a:lstStyle>
            <a:lvl1pPr algn="l">
              <a:defRPr sz="1300">
                <a:latin typeface="宋体" panose="02010600030101010101" pitchFamily="2" charset="-122"/>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3815226" y="1"/>
            <a:ext cx="2919032" cy="492938"/>
          </a:xfrm>
          <a:prstGeom prst="rect">
            <a:avLst/>
          </a:prstGeom>
        </p:spPr>
        <p:txBody>
          <a:bodyPr vert="horz" lIns="94883" tIns="47441" rIns="94883" bIns="47441" rtlCol="0"/>
          <a:lstStyle>
            <a:lvl1pPr algn="r">
              <a:defRPr sz="1300">
                <a:latin typeface="宋体" panose="02010600030101010101" pitchFamily="2" charset="-122"/>
                <a:ea typeface="宋体" panose="02010600030101010101" pitchFamily="2" charset="-122"/>
              </a:defRPr>
            </a:lvl1pPr>
          </a:lstStyle>
          <a:p>
            <a:pPr>
              <a:defRPr/>
            </a:pPr>
            <a:fld id="{5C9833CB-0817-44DC-BDA6-97E8269B2A4B}" type="datetimeFigureOut">
              <a:rPr lang="zh-CN" altLang="en-US"/>
              <a:t>2025/10/28</a:t>
            </a:fld>
            <a:endParaRPr lang="zh-CN" altLang="en-US"/>
          </a:p>
        </p:txBody>
      </p:sp>
      <p:sp>
        <p:nvSpPr>
          <p:cNvPr id="4" name="页脚占位符 3"/>
          <p:cNvSpPr>
            <a:spLocks noGrp="1"/>
          </p:cNvSpPr>
          <p:nvPr>
            <p:ph type="ftr" sz="quarter" idx="2"/>
          </p:nvPr>
        </p:nvSpPr>
        <p:spPr>
          <a:xfrm>
            <a:off x="0" y="9375020"/>
            <a:ext cx="2919032" cy="492938"/>
          </a:xfrm>
          <a:prstGeom prst="rect">
            <a:avLst/>
          </a:prstGeom>
        </p:spPr>
        <p:txBody>
          <a:bodyPr vert="horz" lIns="94883" tIns="47441" rIns="94883" bIns="47441" rtlCol="0" anchor="b"/>
          <a:lstStyle>
            <a:lvl1pPr algn="l">
              <a:defRPr sz="1300">
                <a:latin typeface="宋体" panose="02010600030101010101" pitchFamily="2" charset="-122"/>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3815226" y="9375020"/>
            <a:ext cx="2919032" cy="492938"/>
          </a:xfrm>
          <a:prstGeom prst="rect">
            <a:avLst/>
          </a:prstGeom>
        </p:spPr>
        <p:txBody>
          <a:bodyPr vert="horz" lIns="94883" tIns="47441" rIns="94883" bIns="47441" rtlCol="0" anchor="b"/>
          <a:lstStyle>
            <a:lvl1pPr algn="r">
              <a:defRPr sz="1300">
                <a:latin typeface="宋体" panose="02010600030101010101" pitchFamily="2" charset="-122"/>
                <a:ea typeface="宋体" panose="02010600030101010101" pitchFamily="2" charset="-122"/>
              </a:defRPr>
            </a:lvl1pPr>
          </a:lstStyle>
          <a:p>
            <a:pPr>
              <a:defRPr/>
            </a:pPr>
            <a:fld id="{78BBD55E-9969-4143-865D-25DDD65926A5}" type="slidenum">
              <a:rPr lang="zh-CN" altLang="en-US"/>
              <a:t>‹#›</a:t>
            </a:fld>
            <a:endParaRPr lang="zh-CN" altLang="en-US"/>
          </a:p>
        </p:txBody>
      </p:sp>
    </p:spTree>
    <p:extLst>
      <p:ext uri="{BB962C8B-B14F-4D97-AF65-F5344CB8AC3E}">
        <p14:creationId xmlns:p14="http://schemas.microsoft.com/office/powerpoint/2010/main" val="32362760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1"/>
            <a:ext cx="2919032" cy="492938"/>
          </a:xfrm>
          <a:prstGeom prst="rect">
            <a:avLst/>
          </a:prstGeom>
          <a:noFill/>
          <a:ln w="9525">
            <a:noFill/>
            <a:miter lim="800000"/>
          </a:ln>
          <a:effectLst/>
        </p:spPr>
        <p:txBody>
          <a:bodyPr vert="horz" wrap="square" lIns="94883" tIns="47441" rIns="94883" bIns="47441" numCol="1" anchor="t" anchorCtr="0" compatLnSpc="1"/>
          <a:lstStyle>
            <a:lvl1pPr>
              <a:spcBef>
                <a:spcPct val="20000"/>
              </a:spcBef>
              <a:defRPr sz="1300">
                <a:latin typeface="宋体" panose="02010600030101010101" pitchFamily="2" charset="-122"/>
                <a:ea typeface="宋体" panose="02010600030101010101" pitchFamily="2" charset="-122"/>
              </a:defRPr>
            </a:lvl1pPr>
          </a:lstStyle>
          <a:p>
            <a:pPr>
              <a:defRPr/>
            </a:pPr>
            <a:endParaRPr lang="zh-CN" altLang="en-US"/>
          </a:p>
        </p:txBody>
      </p:sp>
      <p:sp>
        <p:nvSpPr>
          <p:cNvPr id="51203" name="Rectangle 3"/>
          <p:cNvSpPr>
            <a:spLocks noGrp="1" noChangeArrowheads="1"/>
          </p:cNvSpPr>
          <p:nvPr>
            <p:ph type="dt" idx="1"/>
          </p:nvPr>
        </p:nvSpPr>
        <p:spPr bwMode="auto">
          <a:xfrm>
            <a:off x="3816732" y="1"/>
            <a:ext cx="2919032" cy="492938"/>
          </a:xfrm>
          <a:prstGeom prst="rect">
            <a:avLst/>
          </a:prstGeom>
          <a:noFill/>
          <a:ln w="9525">
            <a:noFill/>
            <a:miter lim="800000"/>
          </a:ln>
          <a:effectLst/>
        </p:spPr>
        <p:txBody>
          <a:bodyPr vert="horz" wrap="square" lIns="94883" tIns="47441" rIns="94883" bIns="47441" numCol="1" anchor="t" anchorCtr="0" compatLnSpc="1"/>
          <a:lstStyle>
            <a:lvl1pPr algn="r">
              <a:spcBef>
                <a:spcPct val="20000"/>
              </a:spcBef>
              <a:defRPr sz="1300">
                <a:latin typeface="宋体" panose="02010600030101010101" pitchFamily="2" charset="-122"/>
                <a:ea typeface="宋体" panose="02010600030101010101" pitchFamily="2" charset="-122"/>
              </a:defRPr>
            </a:lvl1pPr>
          </a:lstStyle>
          <a:p>
            <a:pPr>
              <a:defRPr/>
            </a:pPr>
            <a:endParaRPr lang="en-US" altLang="zh-CN"/>
          </a:p>
        </p:txBody>
      </p:sp>
      <p:sp>
        <p:nvSpPr>
          <p:cNvPr id="44036" name="Rectangle 4"/>
          <p:cNvSpPr>
            <a:spLocks noGrp="1" noRot="1" noChangeAspect="1" noChangeArrowheads="1" noTextEdit="1"/>
          </p:cNvSpPr>
          <p:nvPr>
            <p:ph type="sldImg" idx="2"/>
          </p:nvPr>
        </p:nvSpPr>
        <p:spPr bwMode="auto">
          <a:xfrm>
            <a:off x="900113" y="739775"/>
            <a:ext cx="4935537" cy="37020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897700" y="4687510"/>
            <a:ext cx="4940363" cy="4441040"/>
          </a:xfrm>
          <a:prstGeom prst="rect">
            <a:avLst/>
          </a:prstGeom>
          <a:noFill/>
          <a:ln w="9525">
            <a:noFill/>
            <a:miter lim="800000"/>
          </a:ln>
          <a:effectLst/>
        </p:spPr>
        <p:txBody>
          <a:bodyPr vert="horz" wrap="square" lIns="94883" tIns="47441" rIns="94883" bIns="47441"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06" name="Rectangle 6"/>
          <p:cNvSpPr>
            <a:spLocks noGrp="1" noChangeArrowheads="1"/>
          </p:cNvSpPr>
          <p:nvPr>
            <p:ph type="ftr" sz="quarter" idx="4"/>
          </p:nvPr>
        </p:nvSpPr>
        <p:spPr bwMode="auto">
          <a:xfrm>
            <a:off x="0" y="9376550"/>
            <a:ext cx="2919032" cy="492938"/>
          </a:xfrm>
          <a:prstGeom prst="rect">
            <a:avLst/>
          </a:prstGeom>
          <a:noFill/>
          <a:ln w="9525">
            <a:noFill/>
            <a:miter lim="800000"/>
          </a:ln>
          <a:effectLst/>
        </p:spPr>
        <p:txBody>
          <a:bodyPr vert="horz" wrap="square" lIns="94883" tIns="47441" rIns="94883" bIns="47441" numCol="1" anchor="b" anchorCtr="0" compatLnSpc="1"/>
          <a:lstStyle>
            <a:lvl1pPr>
              <a:spcBef>
                <a:spcPct val="20000"/>
              </a:spcBef>
              <a:defRPr sz="1300">
                <a:latin typeface="宋体" panose="02010600030101010101" pitchFamily="2" charset="-122"/>
                <a:ea typeface="宋体" panose="02010600030101010101" pitchFamily="2" charset="-122"/>
              </a:defRPr>
            </a:lvl1pPr>
          </a:lstStyle>
          <a:p>
            <a:pPr>
              <a:defRPr/>
            </a:pPr>
            <a:endParaRPr lang="en-US" altLang="zh-CN"/>
          </a:p>
        </p:txBody>
      </p:sp>
      <p:sp>
        <p:nvSpPr>
          <p:cNvPr id="51207" name="Rectangle 7"/>
          <p:cNvSpPr>
            <a:spLocks noGrp="1" noChangeArrowheads="1"/>
          </p:cNvSpPr>
          <p:nvPr>
            <p:ph type="sldNum" sz="quarter" idx="5"/>
          </p:nvPr>
        </p:nvSpPr>
        <p:spPr bwMode="auto">
          <a:xfrm>
            <a:off x="3816732" y="9376550"/>
            <a:ext cx="2919032" cy="492938"/>
          </a:xfrm>
          <a:prstGeom prst="rect">
            <a:avLst/>
          </a:prstGeom>
          <a:noFill/>
          <a:ln w="9525">
            <a:noFill/>
            <a:miter lim="800000"/>
          </a:ln>
          <a:effectLst/>
        </p:spPr>
        <p:txBody>
          <a:bodyPr vert="horz" wrap="square" lIns="94883" tIns="47441" rIns="94883" bIns="47441" numCol="1" anchor="b" anchorCtr="0" compatLnSpc="1"/>
          <a:lstStyle>
            <a:lvl1pPr algn="r">
              <a:spcBef>
                <a:spcPct val="20000"/>
              </a:spcBef>
              <a:defRPr sz="1300">
                <a:latin typeface="宋体" panose="02010600030101010101" pitchFamily="2" charset="-122"/>
                <a:ea typeface="宋体" panose="02010600030101010101" pitchFamily="2" charset="-122"/>
              </a:defRPr>
            </a:lvl1pPr>
          </a:lstStyle>
          <a:p>
            <a:pPr>
              <a:defRPr/>
            </a:pPr>
            <a:fld id="{E900B983-0E40-4C29-87BA-CE566D420E22}" type="slidenum">
              <a:rPr lang="zh-CN" altLang="en-US"/>
              <a:t>‹#›</a:t>
            </a:fld>
            <a:endParaRPr lang="en-US" altLang="zh-CN"/>
          </a:p>
        </p:txBody>
      </p:sp>
    </p:spTree>
    <p:extLst>
      <p:ext uri="{BB962C8B-B14F-4D97-AF65-F5344CB8AC3E}">
        <p14:creationId xmlns:p14="http://schemas.microsoft.com/office/powerpoint/2010/main" val="31672892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1</a:t>
            </a:fld>
            <a:endParaRPr lang="en-US" altLang="zh-CN"/>
          </a:p>
        </p:txBody>
      </p:sp>
    </p:spTree>
    <p:extLst>
      <p:ext uri="{BB962C8B-B14F-4D97-AF65-F5344CB8AC3E}">
        <p14:creationId xmlns:p14="http://schemas.microsoft.com/office/powerpoint/2010/main" val="1003212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2" indent="-309524" eaLnBrk="0" hangingPunct="0">
              <a:defRPr>
                <a:solidFill>
                  <a:schemeClr val="tx1"/>
                </a:solidFill>
                <a:latin typeface="Calibri" pitchFamily="34" charset="0"/>
                <a:ea typeface="宋体" pitchFamily="2" charset="-122"/>
              </a:defRPr>
            </a:lvl2pPr>
            <a:lvl3pPr marL="1238097" indent="-247620" eaLnBrk="0" hangingPunct="0">
              <a:defRPr>
                <a:solidFill>
                  <a:schemeClr val="tx1"/>
                </a:solidFill>
                <a:latin typeface="Calibri" pitchFamily="34" charset="0"/>
                <a:ea typeface="宋体" pitchFamily="2" charset="-122"/>
              </a:defRPr>
            </a:lvl3pPr>
            <a:lvl4pPr marL="1733335" indent="-247620" eaLnBrk="0" hangingPunct="0">
              <a:defRPr>
                <a:solidFill>
                  <a:schemeClr val="tx1"/>
                </a:solidFill>
                <a:latin typeface="Calibri" pitchFamily="34" charset="0"/>
                <a:ea typeface="宋体" pitchFamily="2" charset="-122"/>
              </a:defRPr>
            </a:lvl4pPr>
            <a:lvl5pPr marL="2228574" indent="-247620" eaLnBrk="0" hangingPunct="0">
              <a:defRPr>
                <a:solidFill>
                  <a:schemeClr val="tx1"/>
                </a:solidFill>
                <a:latin typeface="Calibri" pitchFamily="34" charset="0"/>
                <a:ea typeface="宋体" pitchFamily="2" charset="-122"/>
              </a:defRPr>
            </a:lvl5pPr>
            <a:lvl6pPr marL="2723813"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1"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0"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29"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0B6B6E32-5E71-4A61-8920-38914C9ED59A}" type="slidenum">
              <a:rPr lang="en-US" altLang="zh-CN" smtClean="0">
                <a:latin typeface="Arial" pitchFamily="34" charset="0"/>
              </a:rPr>
              <a:pPr eaLnBrk="1" fontAlgn="base" hangingPunct="1">
                <a:spcBef>
                  <a:spcPct val="0"/>
                </a:spcBef>
                <a:spcAft>
                  <a:spcPct val="0"/>
                </a:spcAft>
              </a:pPr>
              <a:t>3</a:t>
            </a:fld>
            <a:endParaRPr lang="en-US" altLang="zh-CN">
              <a:latin typeface="Arial" pitchFamily="34" charset="0"/>
            </a:endParaRPr>
          </a:p>
        </p:txBody>
      </p:sp>
      <p:sp>
        <p:nvSpPr>
          <p:cNvPr id="593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6</a:t>
            </a:fld>
            <a:endParaRPr lang="en-US" altLang="zh-CN"/>
          </a:p>
        </p:txBody>
      </p:sp>
    </p:spTree>
    <p:extLst>
      <p:ext uri="{BB962C8B-B14F-4D97-AF65-F5344CB8AC3E}">
        <p14:creationId xmlns:p14="http://schemas.microsoft.com/office/powerpoint/2010/main" val="1849137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770919" indent="-296507" eaLnBrk="0" hangingPunct="0">
              <a:defRPr>
                <a:solidFill>
                  <a:schemeClr val="tx1"/>
                </a:solidFill>
                <a:latin typeface="Calibri" pitchFamily="34" charset="0"/>
                <a:ea typeface="宋体" pitchFamily="2" charset="-122"/>
              </a:defRPr>
            </a:lvl2pPr>
            <a:lvl3pPr marL="1186030" indent="-237207" eaLnBrk="0" hangingPunct="0">
              <a:defRPr>
                <a:solidFill>
                  <a:schemeClr val="tx1"/>
                </a:solidFill>
                <a:latin typeface="Calibri" pitchFamily="34" charset="0"/>
                <a:ea typeface="宋体" pitchFamily="2" charset="-122"/>
              </a:defRPr>
            </a:lvl3pPr>
            <a:lvl4pPr marL="1660442" indent="-237207" eaLnBrk="0" hangingPunct="0">
              <a:defRPr>
                <a:solidFill>
                  <a:schemeClr val="tx1"/>
                </a:solidFill>
                <a:latin typeface="Calibri" pitchFamily="34" charset="0"/>
                <a:ea typeface="宋体" pitchFamily="2" charset="-122"/>
              </a:defRPr>
            </a:lvl4pPr>
            <a:lvl5pPr marL="2134854" indent="-237207" eaLnBrk="0" hangingPunct="0">
              <a:defRPr>
                <a:solidFill>
                  <a:schemeClr val="tx1"/>
                </a:solidFill>
                <a:latin typeface="Calibri" pitchFamily="34" charset="0"/>
                <a:ea typeface="宋体" pitchFamily="2" charset="-122"/>
              </a:defRPr>
            </a:lvl5pPr>
            <a:lvl6pPr marL="2609266" indent="-237207" eaLnBrk="0" fontAlgn="base" hangingPunct="0">
              <a:spcBef>
                <a:spcPct val="0"/>
              </a:spcBef>
              <a:spcAft>
                <a:spcPct val="0"/>
              </a:spcAft>
              <a:defRPr>
                <a:solidFill>
                  <a:schemeClr val="tx1"/>
                </a:solidFill>
                <a:latin typeface="Calibri" pitchFamily="34" charset="0"/>
                <a:ea typeface="宋体" pitchFamily="2" charset="-122"/>
              </a:defRPr>
            </a:lvl6pPr>
            <a:lvl7pPr marL="3083678" indent="-237207" eaLnBrk="0" fontAlgn="base" hangingPunct="0">
              <a:spcBef>
                <a:spcPct val="0"/>
              </a:spcBef>
              <a:spcAft>
                <a:spcPct val="0"/>
              </a:spcAft>
              <a:defRPr>
                <a:solidFill>
                  <a:schemeClr val="tx1"/>
                </a:solidFill>
                <a:latin typeface="Calibri" pitchFamily="34" charset="0"/>
                <a:ea typeface="宋体" pitchFamily="2" charset="-122"/>
              </a:defRPr>
            </a:lvl7pPr>
            <a:lvl8pPr marL="3558090" indent="-237207" eaLnBrk="0" fontAlgn="base" hangingPunct="0">
              <a:spcBef>
                <a:spcPct val="0"/>
              </a:spcBef>
              <a:spcAft>
                <a:spcPct val="0"/>
              </a:spcAft>
              <a:defRPr>
                <a:solidFill>
                  <a:schemeClr val="tx1"/>
                </a:solidFill>
                <a:latin typeface="Calibri" pitchFamily="34" charset="0"/>
                <a:ea typeface="宋体" pitchFamily="2" charset="-122"/>
              </a:defRPr>
            </a:lvl8pPr>
            <a:lvl9pPr marL="4032502" indent="-237207"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0B6B6E32-5E71-4A61-8920-38914C9ED59A}" type="slidenum">
              <a:rPr lang="en-US" altLang="zh-CN" smtClean="0">
                <a:latin typeface="Arial" pitchFamily="34" charset="0"/>
              </a:rPr>
              <a:pPr eaLnBrk="1" fontAlgn="base" hangingPunct="1">
                <a:spcBef>
                  <a:spcPct val="0"/>
                </a:spcBef>
                <a:spcAft>
                  <a:spcPct val="0"/>
                </a:spcAft>
              </a:pPr>
              <a:t>16</a:t>
            </a:fld>
            <a:endParaRPr lang="en-US" altLang="zh-CN">
              <a:latin typeface="Arial" pitchFamily="34" charset="0"/>
            </a:endParaRPr>
          </a:p>
        </p:txBody>
      </p:sp>
      <p:sp>
        <p:nvSpPr>
          <p:cNvPr id="593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17</a:t>
            </a:fld>
            <a:endParaRPr lang="en-US" altLang="zh-CN"/>
          </a:p>
        </p:txBody>
      </p:sp>
    </p:spTree>
    <p:extLst>
      <p:ext uri="{BB962C8B-B14F-4D97-AF65-F5344CB8AC3E}">
        <p14:creationId xmlns:p14="http://schemas.microsoft.com/office/powerpoint/2010/main" val="1736842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21</a:t>
            </a:fld>
            <a:endParaRPr lang="en-US" altLang="zh-CN"/>
          </a:p>
        </p:txBody>
      </p:sp>
    </p:spTree>
    <p:extLst>
      <p:ext uri="{BB962C8B-B14F-4D97-AF65-F5344CB8AC3E}">
        <p14:creationId xmlns:p14="http://schemas.microsoft.com/office/powerpoint/2010/main" val="2441014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770919" indent="-296507" eaLnBrk="0" hangingPunct="0">
              <a:defRPr>
                <a:solidFill>
                  <a:schemeClr val="tx1"/>
                </a:solidFill>
                <a:latin typeface="Calibri" pitchFamily="34" charset="0"/>
                <a:ea typeface="宋体" pitchFamily="2" charset="-122"/>
              </a:defRPr>
            </a:lvl2pPr>
            <a:lvl3pPr marL="1186030" indent="-237207" eaLnBrk="0" hangingPunct="0">
              <a:defRPr>
                <a:solidFill>
                  <a:schemeClr val="tx1"/>
                </a:solidFill>
                <a:latin typeface="Calibri" pitchFamily="34" charset="0"/>
                <a:ea typeface="宋体" pitchFamily="2" charset="-122"/>
              </a:defRPr>
            </a:lvl3pPr>
            <a:lvl4pPr marL="1660442" indent="-237207" eaLnBrk="0" hangingPunct="0">
              <a:defRPr>
                <a:solidFill>
                  <a:schemeClr val="tx1"/>
                </a:solidFill>
                <a:latin typeface="Calibri" pitchFamily="34" charset="0"/>
                <a:ea typeface="宋体" pitchFamily="2" charset="-122"/>
              </a:defRPr>
            </a:lvl4pPr>
            <a:lvl5pPr marL="2134854" indent="-237207" eaLnBrk="0" hangingPunct="0">
              <a:defRPr>
                <a:solidFill>
                  <a:schemeClr val="tx1"/>
                </a:solidFill>
                <a:latin typeface="Calibri" pitchFamily="34" charset="0"/>
                <a:ea typeface="宋体" pitchFamily="2" charset="-122"/>
              </a:defRPr>
            </a:lvl5pPr>
            <a:lvl6pPr marL="2609266" indent="-237207" eaLnBrk="0" fontAlgn="base" hangingPunct="0">
              <a:spcBef>
                <a:spcPct val="0"/>
              </a:spcBef>
              <a:spcAft>
                <a:spcPct val="0"/>
              </a:spcAft>
              <a:defRPr>
                <a:solidFill>
                  <a:schemeClr val="tx1"/>
                </a:solidFill>
                <a:latin typeface="Calibri" pitchFamily="34" charset="0"/>
                <a:ea typeface="宋体" pitchFamily="2" charset="-122"/>
              </a:defRPr>
            </a:lvl6pPr>
            <a:lvl7pPr marL="3083678" indent="-237207" eaLnBrk="0" fontAlgn="base" hangingPunct="0">
              <a:spcBef>
                <a:spcPct val="0"/>
              </a:spcBef>
              <a:spcAft>
                <a:spcPct val="0"/>
              </a:spcAft>
              <a:defRPr>
                <a:solidFill>
                  <a:schemeClr val="tx1"/>
                </a:solidFill>
                <a:latin typeface="Calibri" pitchFamily="34" charset="0"/>
                <a:ea typeface="宋体" pitchFamily="2" charset="-122"/>
              </a:defRPr>
            </a:lvl7pPr>
            <a:lvl8pPr marL="3558090" indent="-237207" eaLnBrk="0" fontAlgn="base" hangingPunct="0">
              <a:spcBef>
                <a:spcPct val="0"/>
              </a:spcBef>
              <a:spcAft>
                <a:spcPct val="0"/>
              </a:spcAft>
              <a:defRPr>
                <a:solidFill>
                  <a:schemeClr val="tx1"/>
                </a:solidFill>
                <a:latin typeface="Calibri" pitchFamily="34" charset="0"/>
                <a:ea typeface="宋体" pitchFamily="2" charset="-122"/>
              </a:defRPr>
            </a:lvl8pPr>
            <a:lvl9pPr marL="4032502" indent="-237207"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0B6B6E32-5E71-4A61-8920-38914C9ED59A}" type="slidenum">
              <a:rPr lang="en-US" altLang="zh-CN" smtClean="0">
                <a:latin typeface="Arial" pitchFamily="34" charset="0"/>
              </a:rPr>
              <a:pPr eaLnBrk="1" fontAlgn="base" hangingPunct="1">
                <a:spcBef>
                  <a:spcPct val="0"/>
                </a:spcBef>
                <a:spcAft>
                  <a:spcPct val="0"/>
                </a:spcAft>
              </a:pPr>
              <a:t>24</a:t>
            </a:fld>
            <a:endParaRPr lang="en-US" altLang="zh-CN">
              <a:latin typeface="Arial" pitchFamily="34" charset="0"/>
            </a:endParaRPr>
          </a:p>
        </p:txBody>
      </p:sp>
      <p:sp>
        <p:nvSpPr>
          <p:cNvPr id="593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2453782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25</a:t>
            </a:fld>
            <a:endParaRPr lang="en-US" altLang="zh-CN"/>
          </a:p>
        </p:txBody>
      </p:sp>
    </p:spTree>
    <p:extLst>
      <p:ext uri="{BB962C8B-B14F-4D97-AF65-F5344CB8AC3E}">
        <p14:creationId xmlns:p14="http://schemas.microsoft.com/office/powerpoint/2010/main" val="11606671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26</a:t>
            </a:fld>
            <a:endParaRPr lang="en-US" altLang="zh-CN"/>
          </a:p>
        </p:txBody>
      </p:sp>
    </p:spTree>
    <p:extLst>
      <p:ext uri="{BB962C8B-B14F-4D97-AF65-F5344CB8AC3E}">
        <p14:creationId xmlns:p14="http://schemas.microsoft.com/office/powerpoint/2010/main" val="3785230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27</a:t>
            </a:fld>
            <a:endParaRPr lang="en-US" altLang="zh-CN"/>
          </a:p>
        </p:txBody>
      </p:sp>
    </p:spTree>
    <p:extLst>
      <p:ext uri="{BB962C8B-B14F-4D97-AF65-F5344CB8AC3E}">
        <p14:creationId xmlns:p14="http://schemas.microsoft.com/office/powerpoint/2010/main" val="34414987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28</a:t>
            </a:fld>
            <a:endParaRPr lang="en-US" altLang="zh-CN"/>
          </a:p>
        </p:txBody>
      </p:sp>
    </p:spTree>
    <p:extLst>
      <p:ext uri="{BB962C8B-B14F-4D97-AF65-F5344CB8AC3E}">
        <p14:creationId xmlns:p14="http://schemas.microsoft.com/office/powerpoint/2010/main" val="41963697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29</a:t>
            </a:fld>
            <a:endParaRPr lang="en-US" altLang="zh-CN"/>
          </a:p>
        </p:txBody>
      </p:sp>
    </p:spTree>
    <p:extLst>
      <p:ext uri="{BB962C8B-B14F-4D97-AF65-F5344CB8AC3E}">
        <p14:creationId xmlns:p14="http://schemas.microsoft.com/office/powerpoint/2010/main" val="22332715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7138" name="Rectangle 7">
            <a:extLst>
              <a:ext uri="{FF2B5EF4-FFF2-40B4-BE49-F238E27FC236}">
                <a16:creationId xmlns:a16="http://schemas.microsoft.com/office/drawing/2014/main" id="{9E333850-C6B6-4081-A7F4-89AB29363655}"/>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505BE258-46B9-4B2D-ADAB-46282C1FD864}" type="slidenum">
              <a:rPr lang="zh-CN" altLang="zh-CN" smtClean="0">
                <a:latin typeface="Calibri" panose="020F0502020204030204" pitchFamily="34" charset="0"/>
              </a:rPr>
              <a:pPr>
                <a:spcBef>
                  <a:spcPct val="0"/>
                </a:spcBef>
                <a:buClrTx/>
                <a:buFontTx/>
                <a:buNone/>
              </a:pPr>
              <a:t>30</a:t>
            </a:fld>
            <a:endParaRPr lang="zh-CN" altLang="zh-CN">
              <a:latin typeface="Calibri" panose="020F0502020204030204" pitchFamily="34" charset="0"/>
            </a:endParaRPr>
          </a:p>
        </p:txBody>
      </p:sp>
      <p:sp>
        <p:nvSpPr>
          <p:cNvPr id="347139" name="Rectangle 1">
            <a:extLst>
              <a:ext uri="{FF2B5EF4-FFF2-40B4-BE49-F238E27FC236}">
                <a16:creationId xmlns:a16="http://schemas.microsoft.com/office/drawing/2014/main" id="{F085D6C4-3DF2-4563-8F4A-1FE792D55525}"/>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7140" name="Text Box 2">
            <a:extLst>
              <a:ext uri="{FF2B5EF4-FFF2-40B4-BE49-F238E27FC236}">
                <a16:creationId xmlns:a16="http://schemas.microsoft.com/office/drawing/2014/main" id="{1B6F73C6-A7E3-44AB-BC08-5C3BAEDFD43C}"/>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extLst>
      <p:ext uri="{BB962C8B-B14F-4D97-AF65-F5344CB8AC3E}">
        <p14:creationId xmlns:p14="http://schemas.microsoft.com/office/powerpoint/2010/main" val="2544092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8"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8"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8"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8"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8" charset="0"/>
              </a:defRPr>
            </a:lvl5pPr>
            <a:lvl6pPr marL="2514600" indent="-228600" defTabSz="449263" eaLnBrk="0" fontAlgn="base" hangingPunct="0">
              <a:spcBef>
                <a:spcPct val="3000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8" charset="0"/>
              </a:defRPr>
            </a:lvl6pPr>
            <a:lvl7pPr marL="2971800" indent="-228600" defTabSz="449263" eaLnBrk="0" fontAlgn="base" hangingPunct="0">
              <a:spcBef>
                <a:spcPct val="3000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8" charset="0"/>
              </a:defRPr>
            </a:lvl7pPr>
            <a:lvl8pPr marL="3429000" indent="-228600" defTabSz="449263" eaLnBrk="0" fontAlgn="base" hangingPunct="0">
              <a:spcBef>
                <a:spcPct val="3000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8" charset="0"/>
              </a:defRPr>
            </a:lvl8pPr>
            <a:lvl9pPr marL="3886200" indent="-228600" defTabSz="449263" eaLnBrk="0" fontAlgn="base" hangingPunct="0">
              <a:spcBef>
                <a:spcPct val="3000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itchFamily="18" charset="0"/>
              </a:defRPr>
            </a:lvl9pPr>
          </a:lstStyle>
          <a:p>
            <a:fld id="{216CDE81-DC94-46D2-86AE-714D8D2C9ADB}" type="slidenum">
              <a:rPr lang="zh-CN" altLang="zh-CN">
                <a:latin typeface="Calibri" pitchFamily="34" charset="0"/>
              </a:rPr>
              <a:pPr/>
              <a:t>31</a:t>
            </a:fld>
            <a:endParaRPr lang="zh-CN" altLang="zh-CN">
              <a:latin typeface="Calibri" pitchFamily="34" charset="0"/>
            </a:endParaRPr>
          </a:p>
        </p:txBody>
      </p:sp>
      <p:sp>
        <p:nvSpPr>
          <p:cNvPr id="339971" name="Rectangle 1"/>
          <p:cNvSpPr>
            <a:spLocks noGrp="1" noRot="1" noChangeAspect="1" noChangeArrowheads="1" noTextEdit="1"/>
          </p:cNvSpPr>
          <p:nvPr>
            <p:ph type="sldImg"/>
          </p:nvPr>
        </p:nvSpPr>
        <p:spPr>
          <a:xfrm>
            <a:off x="1147763" y="1233488"/>
            <a:ext cx="4440237" cy="33305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Text Box 2"/>
          <p:cNvSpPr txBox="1">
            <a:spLocks noChangeArrowheads="1"/>
          </p:cNvSpPr>
          <p:nvPr/>
        </p:nvSpPr>
        <p:spPr bwMode="auto">
          <a:xfrm>
            <a:off x="673577" y="4749691"/>
            <a:ext cx="5388610" cy="3886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itchFamily="18" charset="0"/>
              <a:buNone/>
            </a:pP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9186" name="Rectangle 7">
            <a:extLst>
              <a:ext uri="{FF2B5EF4-FFF2-40B4-BE49-F238E27FC236}">
                <a16:creationId xmlns:a16="http://schemas.microsoft.com/office/drawing/2014/main" id="{636B0067-A712-425E-9C33-B72C61683F77}"/>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8D7696CD-91EF-47F4-AB51-3F6F9BEC489B}" type="slidenum">
              <a:rPr lang="zh-CN" altLang="zh-CN" smtClean="0">
                <a:latin typeface="Calibri" panose="020F0502020204030204" pitchFamily="34" charset="0"/>
              </a:rPr>
              <a:pPr>
                <a:spcBef>
                  <a:spcPct val="0"/>
                </a:spcBef>
                <a:buClrTx/>
                <a:buFontTx/>
                <a:buNone/>
              </a:pPr>
              <a:t>33</a:t>
            </a:fld>
            <a:endParaRPr lang="zh-CN" altLang="zh-CN">
              <a:latin typeface="Calibri" panose="020F0502020204030204" pitchFamily="34" charset="0"/>
            </a:endParaRPr>
          </a:p>
        </p:txBody>
      </p:sp>
      <p:sp>
        <p:nvSpPr>
          <p:cNvPr id="349187" name="Rectangle 1">
            <a:extLst>
              <a:ext uri="{FF2B5EF4-FFF2-40B4-BE49-F238E27FC236}">
                <a16:creationId xmlns:a16="http://schemas.microsoft.com/office/drawing/2014/main" id="{CBAC05F9-D1D2-4923-8E4C-30B7E3624941}"/>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9188" name="Text Box 2">
            <a:extLst>
              <a:ext uri="{FF2B5EF4-FFF2-40B4-BE49-F238E27FC236}">
                <a16:creationId xmlns:a16="http://schemas.microsoft.com/office/drawing/2014/main" id="{31AA7F70-B73B-40D6-BB44-A3D899920532}"/>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2" name="备注占位符 1">
            <a:extLst>
              <a:ext uri="{FF2B5EF4-FFF2-40B4-BE49-F238E27FC236}">
                <a16:creationId xmlns:a16="http://schemas.microsoft.com/office/drawing/2014/main" id="{5AE49B64-D4EB-468B-A521-457B1C7185FB}"/>
              </a:ext>
            </a:extLst>
          </p:cNvPr>
          <p:cNvSpPr>
            <a:spLocks noGrp="1"/>
          </p:cNvSpPr>
          <p:nvPr>
            <p:ph type="body" idx="1"/>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1234" name="Rectangle 7">
            <a:extLst>
              <a:ext uri="{FF2B5EF4-FFF2-40B4-BE49-F238E27FC236}">
                <a16:creationId xmlns:a16="http://schemas.microsoft.com/office/drawing/2014/main" id="{C0FB38A0-0C03-4248-9DD4-4274AC71C637}"/>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A4D4756E-6EAB-4D46-9FA8-AF1BB65121A7}" type="slidenum">
              <a:rPr lang="zh-CN" altLang="zh-CN" smtClean="0">
                <a:latin typeface="Calibri" panose="020F0502020204030204" pitchFamily="34" charset="0"/>
              </a:rPr>
              <a:pPr>
                <a:spcBef>
                  <a:spcPct val="0"/>
                </a:spcBef>
                <a:buClrTx/>
                <a:buFontTx/>
                <a:buNone/>
              </a:pPr>
              <a:t>34</a:t>
            </a:fld>
            <a:endParaRPr lang="zh-CN" altLang="zh-CN">
              <a:latin typeface="Calibri" panose="020F0502020204030204" pitchFamily="34" charset="0"/>
            </a:endParaRPr>
          </a:p>
        </p:txBody>
      </p:sp>
      <p:sp>
        <p:nvSpPr>
          <p:cNvPr id="351235" name="Rectangle 1">
            <a:extLst>
              <a:ext uri="{FF2B5EF4-FFF2-40B4-BE49-F238E27FC236}">
                <a16:creationId xmlns:a16="http://schemas.microsoft.com/office/drawing/2014/main" id="{C3B0F9EA-40AF-48EF-9CF8-E49A595671AC}"/>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1236" name="Text Box 2">
            <a:extLst>
              <a:ext uri="{FF2B5EF4-FFF2-40B4-BE49-F238E27FC236}">
                <a16:creationId xmlns:a16="http://schemas.microsoft.com/office/drawing/2014/main" id="{A7AEB1BE-0F52-4EF3-A3D0-7AD9DE69DA04}"/>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3282" name="Rectangle 7">
            <a:extLst>
              <a:ext uri="{FF2B5EF4-FFF2-40B4-BE49-F238E27FC236}">
                <a16:creationId xmlns:a16="http://schemas.microsoft.com/office/drawing/2014/main" id="{14714689-AF0C-48ED-985D-2BEA36F2BE11}"/>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71EDE12E-F73A-4758-A67B-FD50CAB3C176}" type="slidenum">
              <a:rPr lang="zh-CN" altLang="zh-CN" smtClean="0">
                <a:latin typeface="Calibri" panose="020F0502020204030204" pitchFamily="34" charset="0"/>
              </a:rPr>
              <a:pPr>
                <a:spcBef>
                  <a:spcPct val="0"/>
                </a:spcBef>
                <a:buClrTx/>
                <a:buFontTx/>
                <a:buNone/>
              </a:pPr>
              <a:t>35</a:t>
            </a:fld>
            <a:endParaRPr lang="zh-CN" altLang="zh-CN">
              <a:latin typeface="Calibri" panose="020F0502020204030204" pitchFamily="34" charset="0"/>
            </a:endParaRPr>
          </a:p>
        </p:txBody>
      </p:sp>
      <p:sp>
        <p:nvSpPr>
          <p:cNvPr id="353283" name="Rectangle 1">
            <a:extLst>
              <a:ext uri="{FF2B5EF4-FFF2-40B4-BE49-F238E27FC236}">
                <a16:creationId xmlns:a16="http://schemas.microsoft.com/office/drawing/2014/main" id="{D4F686D7-974D-444C-A369-6C20A0B185B7}"/>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3284" name="Text Box 2">
            <a:extLst>
              <a:ext uri="{FF2B5EF4-FFF2-40B4-BE49-F238E27FC236}">
                <a16:creationId xmlns:a16="http://schemas.microsoft.com/office/drawing/2014/main" id="{46AE0BA9-8A10-40F0-B357-47A403F1CEC2}"/>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5330" name="Rectangle 7">
            <a:extLst>
              <a:ext uri="{FF2B5EF4-FFF2-40B4-BE49-F238E27FC236}">
                <a16:creationId xmlns:a16="http://schemas.microsoft.com/office/drawing/2014/main" id="{8FB5C6B8-786A-46DA-902F-3729707FE581}"/>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2B413277-8498-47A7-85A1-B034BDD7D569}" type="slidenum">
              <a:rPr lang="zh-CN" altLang="zh-CN" smtClean="0">
                <a:latin typeface="Calibri" panose="020F0502020204030204" pitchFamily="34" charset="0"/>
              </a:rPr>
              <a:pPr>
                <a:spcBef>
                  <a:spcPct val="0"/>
                </a:spcBef>
                <a:buClrTx/>
                <a:buFontTx/>
                <a:buNone/>
              </a:pPr>
              <a:t>36</a:t>
            </a:fld>
            <a:endParaRPr lang="zh-CN" altLang="zh-CN">
              <a:latin typeface="Calibri" panose="020F0502020204030204" pitchFamily="34" charset="0"/>
            </a:endParaRPr>
          </a:p>
        </p:txBody>
      </p:sp>
      <p:sp>
        <p:nvSpPr>
          <p:cNvPr id="355331" name="Rectangle 1">
            <a:extLst>
              <a:ext uri="{FF2B5EF4-FFF2-40B4-BE49-F238E27FC236}">
                <a16:creationId xmlns:a16="http://schemas.microsoft.com/office/drawing/2014/main" id="{2E018543-2235-4362-9393-AE62422D6560}"/>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5332" name="Text Box 2">
            <a:extLst>
              <a:ext uri="{FF2B5EF4-FFF2-40B4-BE49-F238E27FC236}">
                <a16:creationId xmlns:a16="http://schemas.microsoft.com/office/drawing/2014/main" id="{7D665829-1DCB-4641-AA16-B2A8D9670A3A}"/>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7378" name="Rectangle 7">
            <a:extLst>
              <a:ext uri="{FF2B5EF4-FFF2-40B4-BE49-F238E27FC236}">
                <a16:creationId xmlns:a16="http://schemas.microsoft.com/office/drawing/2014/main" id="{0B33EDFA-46F7-48C9-A0B7-BCAFBF839CB3}"/>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5AAA641B-7973-41D7-B66D-7556FE00B3F8}" type="slidenum">
              <a:rPr lang="zh-CN" altLang="zh-CN" smtClean="0">
                <a:latin typeface="Calibri" panose="020F0502020204030204" pitchFamily="34" charset="0"/>
              </a:rPr>
              <a:pPr>
                <a:spcBef>
                  <a:spcPct val="0"/>
                </a:spcBef>
                <a:buClrTx/>
                <a:buFontTx/>
                <a:buNone/>
              </a:pPr>
              <a:t>37</a:t>
            </a:fld>
            <a:endParaRPr lang="zh-CN" altLang="zh-CN">
              <a:latin typeface="Calibri" panose="020F0502020204030204" pitchFamily="34" charset="0"/>
            </a:endParaRPr>
          </a:p>
        </p:txBody>
      </p:sp>
      <p:sp>
        <p:nvSpPr>
          <p:cNvPr id="357379" name="Rectangle 1">
            <a:extLst>
              <a:ext uri="{FF2B5EF4-FFF2-40B4-BE49-F238E27FC236}">
                <a16:creationId xmlns:a16="http://schemas.microsoft.com/office/drawing/2014/main" id="{454C24CF-C1C2-4DB8-A5E0-FAF4BEFB53E0}"/>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7380" name="Text Box 2">
            <a:extLst>
              <a:ext uri="{FF2B5EF4-FFF2-40B4-BE49-F238E27FC236}">
                <a16:creationId xmlns:a16="http://schemas.microsoft.com/office/drawing/2014/main" id="{0D13ECEF-83F7-45EF-8398-58D502F85133}"/>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9426" name="Rectangle 7">
            <a:extLst>
              <a:ext uri="{FF2B5EF4-FFF2-40B4-BE49-F238E27FC236}">
                <a16:creationId xmlns:a16="http://schemas.microsoft.com/office/drawing/2014/main" id="{B78D5889-45D8-4940-A934-2D3B57CDA517}"/>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55DCFD82-F31E-4ABD-A876-9B5CAA846EFE}" type="slidenum">
              <a:rPr lang="zh-CN" altLang="zh-CN" smtClean="0">
                <a:latin typeface="Calibri" panose="020F0502020204030204" pitchFamily="34" charset="0"/>
              </a:rPr>
              <a:pPr>
                <a:spcBef>
                  <a:spcPct val="0"/>
                </a:spcBef>
                <a:buClrTx/>
                <a:buFontTx/>
                <a:buNone/>
              </a:pPr>
              <a:t>38</a:t>
            </a:fld>
            <a:endParaRPr lang="zh-CN" altLang="zh-CN">
              <a:latin typeface="Calibri" panose="020F0502020204030204" pitchFamily="34" charset="0"/>
            </a:endParaRPr>
          </a:p>
        </p:txBody>
      </p:sp>
      <p:sp>
        <p:nvSpPr>
          <p:cNvPr id="359427" name="Rectangle 1">
            <a:extLst>
              <a:ext uri="{FF2B5EF4-FFF2-40B4-BE49-F238E27FC236}">
                <a16:creationId xmlns:a16="http://schemas.microsoft.com/office/drawing/2014/main" id="{5C42AE3F-C5E9-497A-BCB2-78F52AA89216}"/>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9428" name="Text Box 2">
            <a:extLst>
              <a:ext uri="{FF2B5EF4-FFF2-40B4-BE49-F238E27FC236}">
                <a16:creationId xmlns:a16="http://schemas.microsoft.com/office/drawing/2014/main" id="{7AD1E232-39C0-4C96-97ED-D4B05E851AD8}"/>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1474" name="Rectangle 7">
            <a:extLst>
              <a:ext uri="{FF2B5EF4-FFF2-40B4-BE49-F238E27FC236}">
                <a16:creationId xmlns:a16="http://schemas.microsoft.com/office/drawing/2014/main" id="{E700B35B-778C-435F-B00E-45563DCCC8F6}"/>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3D68377C-EAB0-46E0-919C-D974621CAF45}" type="slidenum">
              <a:rPr lang="zh-CN" altLang="zh-CN" smtClean="0">
                <a:latin typeface="Calibri" panose="020F0502020204030204" pitchFamily="34" charset="0"/>
              </a:rPr>
              <a:pPr>
                <a:spcBef>
                  <a:spcPct val="0"/>
                </a:spcBef>
                <a:buClrTx/>
                <a:buFontTx/>
                <a:buNone/>
              </a:pPr>
              <a:t>39</a:t>
            </a:fld>
            <a:endParaRPr lang="zh-CN" altLang="zh-CN">
              <a:latin typeface="Calibri" panose="020F0502020204030204" pitchFamily="34" charset="0"/>
            </a:endParaRPr>
          </a:p>
        </p:txBody>
      </p:sp>
      <p:sp>
        <p:nvSpPr>
          <p:cNvPr id="361475" name="Rectangle 1">
            <a:extLst>
              <a:ext uri="{FF2B5EF4-FFF2-40B4-BE49-F238E27FC236}">
                <a16:creationId xmlns:a16="http://schemas.microsoft.com/office/drawing/2014/main" id="{140EB077-EE4D-4672-A122-B2425BBE4AB7}"/>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1476" name="Text Box 2">
            <a:extLst>
              <a:ext uri="{FF2B5EF4-FFF2-40B4-BE49-F238E27FC236}">
                <a16:creationId xmlns:a16="http://schemas.microsoft.com/office/drawing/2014/main" id="{86916C3D-DDE9-4518-9D87-C7340D853A73}"/>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3522" name="Rectangle 7">
            <a:extLst>
              <a:ext uri="{FF2B5EF4-FFF2-40B4-BE49-F238E27FC236}">
                <a16:creationId xmlns:a16="http://schemas.microsoft.com/office/drawing/2014/main" id="{4C8C6A7A-EE65-4FBE-AF4A-57FF123C3148}"/>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D4BA8C68-9809-4EED-B969-6EBC367DA6FF}" type="slidenum">
              <a:rPr lang="zh-CN" altLang="zh-CN" smtClean="0">
                <a:latin typeface="Calibri" panose="020F0502020204030204" pitchFamily="34" charset="0"/>
              </a:rPr>
              <a:pPr>
                <a:spcBef>
                  <a:spcPct val="0"/>
                </a:spcBef>
                <a:buClrTx/>
                <a:buFontTx/>
                <a:buNone/>
              </a:pPr>
              <a:t>40</a:t>
            </a:fld>
            <a:endParaRPr lang="zh-CN" altLang="zh-CN">
              <a:latin typeface="Calibri" panose="020F0502020204030204" pitchFamily="34" charset="0"/>
            </a:endParaRPr>
          </a:p>
        </p:txBody>
      </p:sp>
      <p:sp>
        <p:nvSpPr>
          <p:cNvPr id="363523" name="Rectangle 1">
            <a:extLst>
              <a:ext uri="{FF2B5EF4-FFF2-40B4-BE49-F238E27FC236}">
                <a16:creationId xmlns:a16="http://schemas.microsoft.com/office/drawing/2014/main" id="{6909C6D9-42AA-4352-B41A-1150B63A3D17}"/>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3524" name="Text Box 2">
            <a:extLst>
              <a:ext uri="{FF2B5EF4-FFF2-40B4-BE49-F238E27FC236}">
                <a16:creationId xmlns:a16="http://schemas.microsoft.com/office/drawing/2014/main" id="{846FC512-1986-4E99-9516-D11AC46B15D0}"/>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5570" name="Rectangle 7">
            <a:extLst>
              <a:ext uri="{FF2B5EF4-FFF2-40B4-BE49-F238E27FC236}">
                <a16:creationId xmlns:a16="http://schemas.microsoft.com/office/drawing/2014/main" id="{8B7BC9C4-95F5-4A38-8032-1629ABB6B452}"/>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8F5649A4-FDDB-45CA-A7A1-EDB11B885D02}" type="slidenum">
              <a:rPr lang="zh-CN" altLang="zh-CN" smtClean="0">
                <a:latin typeface="Calibri" panose="020F0502020204030204" pitchFamily="34" charset="0"/>
              </a:rPr>
              <a:pPr>
                <a:spcBef>
                  <a:spcPct val="0"/>
                </a:spcBef>
                <a:buClrTx/>
                <a:buFontTx/>
                <a:buNone/>
              </a:pPr>
              <a:t>41</a:t>
            </a:fld>
            <a:endParaRPr lang="zh-CN" altLang="zh-CN">
              <a:latin typeface="Calibri" panose="020F0502020204030204" pitchFamily="34" charset="0"/>
            </a:endParaRPr>
          </a:p>
        </p:txBody>
      </p:sp>
      <p:sp>
        <p:nvSpPr>
          <p:cNvPr id="365571" name="Rectangle 1">
            <a:extLst>
              <a:ext uri="{FF2B5EF4-FFF2-40B4-BE49-F238E27FC236}">
                <a16:creationId xmlns:a16="http://schemas.microsoft.com/office/drawing/2014/main" id="{06BEE8C1-74B0-4AD7-9211-EDF1478FD7B9}"/>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5572" name="Text Box 2">
            <a:extLst>
              <a:ext uri="{FF2B5EF4-FFF2-40B4-BE49-F238E27FC236}">
                <a16:creationId xmlns:a16="http://schemas.microsoft.com/office/drawing/2014/main" id="{8D640B81-5AB9-4EA5-8905-4115021AB86E}"/>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7618" name="Rectangle 7">
            <a:extLst>
              <a:ext uri="{FF2B5EF4-FFF2-40B4-BE49-F238E27FC236}">
                <a16:creationId xmlns:a16="http://schemas.microsoft.com/office/drawing/2014/main" id="{C1C63CC9-5D04-44FD-B46D-C4607675BC40}"/>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AAB236F1-44CE-47B1-9B44-53D0B6B3598E}" type="slidenum">
              <a:rPr lang="zh-CN" altLang="zh-CN" smtClean="0">
                <a:latin typeface="Calibri" panose="020F0502020204030204" pitchFamily="34" charset="0"/>
              </a:rPr>
              <a:pPr>
                <a:spcBef>
                  <a:spcPct val="0"/>
                </a:spcBef>
                <a:buClrTx/>
                <a:buFontTx/>
                <a:buNone/>
              </a:pPr>
              <a:t>42</a:t>
            </a:fld>
            <a:endParaRPr lang="zh-CN" altLang="zh-CN">
              <a:latin typeface="Calibri" panose="020F0502020204030204" pitchFamily="34" charset="0"/>
            </a:endParaRPr>
          </a:p>
        </p:txBody>
      </p:sp>
      <p:sp>
        <p:nvSpPr>
          <p:cNvPr id="367619" name="Rectangle 1">
            <a:extLst>
              <a:ext uri="{FF2B5EF4-FFF2-40B4-BE49-F238E27FC236}">
                <a16:creationId xmlns:a16="http://schemas.microsoft.com/office/drawing/2014/main" id="{E3C3E50F-F488-4FE3-9171-00CC21468B76}"/>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7620" name="Text Box 2">
            <a:extLst>
              <a:ext uri="{FF2B5EF4-FFF2-40B4-BE49-F238E27FC236}">
                <a16:creationId xmlns:a16="http://schemas.microsoft.com/office/drawing/2014/main" id="{6C479FEF-9947-4931-ABB1-84B7CA2C73CE}"/>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9666" name="Rectangle 7">
            <a:extLst>
              <a:ext uri="{FF2B5EF4-FFF2-40B4-BE49-F238E27FC236}">
                <a16:creationId xmlns:a16="http://schemas.microsoft.com/office/drawing/2014/main" id="{AEDD5960-D3B1-4765-99FF-61B2A0723AA0}"/>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B5B61D13-2B7F-44F5-B21F-040363B4A121}" type="slidenum">
              <a:rPr lang="zh-CN" altLang="zh-CN" smtClean="0">
                <a:latin typeface="Calibri" panose="020F0502020204030204" pitchFamily="34" charset="0"/>
              </a:rPr>
              <a:pPr>
                <a:spcBef>
                  <a:spcPct val="0"/>
                </a:spcBef>
                <a:buClrTx/>
                <a:buFontTx/>
                <a:buNone/>
              </a:pPr>
              <a:t>43</a:t>
            </a:fld>
            <a:endParaRPr lang="zh-CN" altLang="zh-CN">
              <a:latin typeface="Calibri" panose="020F0502020204030204" pitchFamily="34" charset="0"/>
            </a:endParaRPr>
          </a:p>
        </p:txBody>
      </p:sp>
      <p:sp>
        <p:nvSpPr>
          <p:cNvPr id="369667" name="Rectangle 1">
            <a:extLst>
              <a:ext uri="{FF2B5EF4-FFF2-40B4-BE49-F238E27FC236}">
                <a16:creationId xmlns:a16="http://schemas.microsoft.com/office/drawing/2014/main" id="{2391515B-5C0A-458A-9C0B-24192A1CE586}"/>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9668" name="Text Box 2">
            <a:extLst>
              <a:ext uri="{FF2B5EF4-FFF2-40B4-BE49-F238E27FC236}">
                <a16:creationId xmlns:a16="http://schemas.microsoft.com/office/drawing/2014/main" id="{E8EB15B3-F667-4B04-A4F0-42CBD78E821F}"/>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1714" name="Rectangle 7">
            <a:extLst>
              <a:ext uri="{FF2B5EF4-FFF2-40B4-BE49-F238E27FC236}">
                <a16:creationId xmlns:a16="http://schemas.microsoft.com/office/drawing/2014/main" id="{41B751D7-7659-4C7C-BD97-420A89E03C30}"/>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28845BC0-7D99-460A-86D0-6350BE18558B}" type="slidenum">
              <a:rPr lang="zh-CN" altLang="zh-CN" smtClean="0">
                <a:latin typeface="Calibri" panose="020F0502020204030204" pitchFamily="34" charset="0"/>
              </a:rPr>
              <a:pPr>
                <a:spcBef>
                  <a:spcPct val="0"/>
                </a:spcBef>
                <a:buClrTx/>
                <a:buFontTx/>
                <a:buNone/>
              </a:pPr>
              <a:t>44</a:t>
            </a:fld>
            <a:endParaRPr lang="zh-CN" altLang="zh-CN">
              <a:latin typeface="Calibri" panose="020F0502020204030204" pitchFamily="34" charset="0"/>
            </a:endParaRPr>
          </a:p>
        </p:txBody>
      </p:sp>
      <p:sp>
        <p:nvSpPr>
          <p:cNvPr id="371715" name="Rectangle 1">
            <a:extLst>
              <a:ext uri="{FF2B5EF4-FFF2-40B4-BE49-F238E27FC236}">
                <a16:creationId xmlns:a16="http://schemas.microsoft.com/office/drawing/2014/main" id="{54554669-ADFD-42FE-8F2C-4824D7B41DC7}"/>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1716" name="Text Box 2">
            <a:extLst>
              <a:ext uri="{FF2B5EF4-FFF2-40B4-BE49-F238E27FC236}">
                <a16:creationId xmlns:a16="http://schemas.microsoft.com/office/drawing/2014/main" id="{A813AE6D-84AC-4550-9ABF-645E620B264E}"/>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3762" name="Rectangle 7">
            <a:extLst>
              <a:ext uri="{FF2B5EF4-FFF2-40B4-BE49-F238E27FC236}">
                <a16:creationId xmlns:a16="http://schemas.microsoft.com/office/drawing/2014/main" id="{C03FD25D-93B0-49A6-B7BC-5E3A4883B727}"/>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EE500AA0-5277-4FC6-8A2F-9C10E72BD7E4}" type="slidenum">
              <a:rPr lang="zh-CN" altLang="zh-CN" smtClean="0">
                <a:latin typeface="Calibri" panose="020F0502020204030204" pitchFamily="34" charset="0"/>
              </a:rPr>
              <a:pPr>
                <a:spcBef>
                  <a:spcPct val="0"/>
                </a:spcBef>
                <a:buClrTx/>
                <a:buFontTx/>
                <a:buNone/>
              </a:pPr>
              <a:t>45</a:t>
            </a:fld>
            <a:endParaRPr lang="zh-CN" altLang="zh-CN">
              <a:latin typeface="Calibri" panose="020F0502020204030204" pitchFamily="34" charset="0"/>
            </a:endParaRPr>
          </a:p>
        </p:txBody>
      </p:sp>
      <p:sp>
        <p:nvSpPr>
          <p:cNvPr id="373763" name="Rectangle 1">
            <a:extLst>
              <a:ext uri="{FF2B5EF4-FFF2-40B4-BE49-F238E27FC236}">
                <a16:creationId xmlns:a16="http://schemas.microsoft.com/office/drawing/2014/main" id="{2EBC6998-AF1F-4455-BA01-38349B489B6E}"/>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3764" name="Text Box 2">
            <a:extLst>
              <a:ext uri="{FF2B5EF4-FFF2-40B4-BE49-F238E27FC236}">
                <a16:creationId xmlns:a16="http://schemas.microsoft.com/office/drawing/2014/main" id="{6C866788-23A3-4AF2-B8AE-E86376CB0F3F}"/>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5810" name="Rectangle 7">
            <a:extLst>
              <a:ext uri="{FF2B5EF4-FFF2-40B4-BE49-F238E27FC236}">
                <a16:creationId xmlns:a16="http://schemas.microsoft.com/office/drawing/2014/main" id="{1B953F04-97B1-461E-8831-F93ECE2B601B}"/>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55400DC3-72FE-4E71-AE8D-623F654676D0}" type="slidenum">
              <a:rPr lang="zh-CN" altLang="zh-CN" smtClean="0">
                <a:latin typeface="Calibri" panose="020F0502020204030204" pitchFamily="34" charset="0"/>
              </a:rPr>
              <a:pPr>
                <a:spcBef>
                  <a:spcPct val="0"/>
                </a:spcBef>
                <a:buClrTx/>
                <a:buFontTx/>
                <a:buNone/>
              </a:pPr>
              <a:t>46</a:t>
            </a:fld>
            <a:endParaRPr lang="zh-CN" altLang="zh-CN">
              <a:latin typeface="Calibri" panose="020F0502020204030204" pitchFamily="34" charset="0"/>
            </a:endParaRPr>
          </a:p>
        </p:txBody>
      </p:sp>
      <p:sp>
        <p:nvSpPr>
          <p:cNvPr id="375811" name="Rectangle 1">
            <a:extLst>
              <a:ext uri="{FF2B5EF4-FFF2-40B4-BE49-F238E27FC236}">
                <a16:creationId xmlns:a16="http://schemas.microsoft.com/office/drawing/2014/main" id="{F79B3C2E-51C1-4933-90D1-11DB8C65203A}"/>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5812" name="Text Box 2">
            <a:extLst>
              <a:ext uri="{FF2B5EF4-FFF2-40B4-BE49-F238E27FC236}">
                <a16:creationId xmlns:a16="http://schemas.microsoft.com/office/drawing/2014/main" id="{724AED67-92ED-426E-9A80-8801433495A0}"/>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7858" name="Rectangle 7">
            <a:extLst>
              <a:ext uri="{FF2B5EF4-FFF2-40B4-BE49-F238E27FC236}">
                <a16:creationId xmlns:a16="http://schemas.microsoft.com/office/drawing/2014/main" id="{9691AA00-4EF8-4DDC-B517-C722073B9D93}"/>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911525A6-113C-4F40-96E8-B6C90A6FCC2D}" type="slidenum">
              <a:rPr lang="zh-CN" altLang="zh-CN" smtClean="0">
                <a:latin typeface="Calibri" panose="020F0502020204030204" pitchFamily="34" charset="0"/>
              </a:rPr>
              <a:pPr>
                <a:spcBef>
                  <a:spcPct val="0"/>
                </a:spcBef>
                <a:buClrTx/>
                <a:buFontTx/>
                <a:buNone/>
              </a:pPr>
              <a:t>47</a:t>
            </a:fld>
            <a:endParaRPr lang="zh-CN" altLang="zh-CN">
              <a:latin typeface="Calibri" panose="020F0502020204030204" pitchFamily="34" charset="0"/>
            </a:endParaRPr>
          </a:p>
        </p:txBody>
      </p:sp>
      <p:sp>
        <p:nvSpPr>
          <p:cNvPr id="377859" name="Rectangle 1">
            <a:extLst>
              <a:ext uri="{FF2B5EF4-FFF2-40B4-BE49-F238E27FC236}">
                <a16:creationId xmlns:a16="http://schemas.microsoft.com/office/drawing/2014/main" id="{5EF2EE8F-689E-44D6-8199-F5FD0B4F65FA}"/>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7860" name="Text Box 2">
            <a:extLst>
              <a:ext uri="{FF2B5EF4-FFF2-40B4-BE49-F238E27FC236}">
                <a16:creationId xmlns:a16="http://schemas.microsoft.com/office/drawing/2014/main" id="{6DB79F72-3E99-4947-BDF3-79BCAAB523FA}"/>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9906" name="Rectangle 7">
            <a:extLst>
              <a:ext uri="{FF2B5EF4-FFF2-40B4-BE49-F238E27FC236}">
                <a16:creationId xmlns:a16="http://schemas.microsoft.com/office/drawing/2014/main" id="{7F4FCDA4-1302-489C-B52A-FFA6C0C3D87B}"/>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200A46B8-9EB2-4902-9720-C0D33D668A89}" type="slidenum">
              <a:rPr lang="zh-CN" altLang="zh-CN" smtClean="0">
                <a:latin typeface="Calibri" panose="020F0502020204030204" pitchFamily="34" charset="0"/>
              </a:rPr>
              <a:pPr>
                <a:spcBef>
                  <a:spcPct val="0"/>
                </a:spcBef>
                <a:buClrTx/>
                <a:buFontTx/>
                <a:buNone/>
              </a:pPr>
              <a:t>48</a:t>
            </a:fld>
            <a:endParaRPr lang="zh-CN" altLang="zh-CN">
              <a:latin typeface="Calibri" panose="020F0502020204030204" pitchFamily="34" charset="0"/>
            </a:endParaRPr>
          </a:p>
        </p:txBody>
      </p:sp>
      <p:sp>
        <p:nvSpPr>
          <p:cNvPr id="379907" name="Rectangle 1">
            <a:extLst>
              <a:ext uri="{FF2B5EF4-FFF2-40B4-BE49-F238E27FC236}">
                <a16:creationId xmlns:a16="http://schemas.microsoft.com/office/drawing/2014/main" id="{C4046705-19AC-41E0-BDBE-6D5F93A4DB43}"/>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9908" name="Text Box 2">
            <a:extLst>
              <a:ext uri="{FF2B5EF4-FFF2-40B4-BE49-F238E27FC236}">
                <a16:creationId xmlns:a16="http://schemas.microsoft.com/office/drawing/2014/main" id="{75841609-2730-4DCB-9AA8-C4881D90C981}"/>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1954" name="Rectangle 7">
            <a:extLst>
              <a:ext uri="{FF2B5EF4-FFF2-40B4-BE49-F238E27FC236}">
                <a16:creationId xmlns:a16="http://schemas.microsoft.com/office/drawing/2014/main" id="{03AA0E87-C041-4AAC-8A01-5426F0ABEB50}"/>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3562D2CC-51DE-4731-A46B-4C203B18E957}" type="slidenum">
              <a:rPr lang="zh-CN" altLang="zh-CN" smtClean="0">
                <a:latin typeface="Calibri" panose="020F0502020204030204" pitchFamily="34" charset="0"/>
              </a:rPr>
              <a:pPr>
                <a:spcBef>
                  <a:spcPct val="0"/>
                </a:spcBef>
                <a:buClrTx/>
                <a:buFontTx/>
                <a:buNone/>
              </a:pPr>
              <a:t>49</a:t>
            </a:fld>
            <a:endParaRPr lang="zh-CN" altLang="zh-CN">
              <a:latin typeface="Calibri" panose="020F0502020204030204" pitchFamily="34" charset="0"/>
            </a:endParaRPr>
          </a:p>
        </p:txBody>
      </p:sp>
      <p:sp>
        <p:nvSpPr>
          <p:cNvPr id="381955" name="Rectangle 1">
            <a:extLst>
              <a:ext uri="{FF2B5EF4-FFF2-40B4-BE49-F238E27FC236}">
                <a16:creationId xmlns:a16="http://schemas.microsoft.com/office/drawing/2014/main" id="{D3A459C0-A7DF-440A-A05E-78FD6CC6BF43}"/>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1956" name="Text Box 2">
            <a:extLst>
              <a:ext uri="{FF2B5EF4-FFF2-40B4-BE49-F238E27FC236}">
                <a16:creationId xmlns:a16="http://schemas.microsoft.com/office/drawing/2014/main" id="{6BE0EA6B-9770-4E32-B088-644AE6009956}"/>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50</a:t>
            </a:fld>
            <a:endParaRPr lang="en-US" altLang="zh-CN"/>
          </a:p>
        </p:txBody>
      </p:sp>
    </p:spTree>
    <p:extLst>
      <p:ext uri="{BB962C8B-B14F-4D97-AF65-F5344CB8AC3E}">
        <p14:creationId xmlns:p14="http://schemas.microsoft.com/office/powerpoint/2010/main" val="42813264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Multiply has just reached commit, so other instructions can start committing.</a:t>
            </a:r>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51</a:t>
            </a:fld>
            <a:endParaRPr lang="en-US" altLang="zh-CN"/>
          </a:p>
        </p:txBody>
      </p:sp>
    </p:spTree>
    <p:extLst>
      <p:ext uri="{BB962C8B-B14F-4D97-AF65-F5344CB8AC3E}">
        <p14:creationId xmlns:p14="http://schemas.microsoft.com/office/powerpoint/2010/main" val="36480279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幻灯片图像占位符 1"/>
          <p:cNvSpPr>
            <a:spLocks noGrp="1" noRot="1" noChangeAspect="1" noChangeArrowheads="1" noTextEdit="1"/>
          </p:cNvSpPr>
          <p:nvPr>
            <p:ph type="sldImg" idx="4294967295"/>
          </p:nvPr>
        </p:nvSpPr>
        <p:spPr>
          <a:ln/>
        </p:spPr>
      </p:sp>
      <p:sp>
        <p:nvSpPr>
          <p:cNvPr id="259075" name="备注占位符 2"/>
          <p:cNvSpPr>
            <a:spLocks noGrp="1" noChangeArrowheads="1"/>
          </p:cNvSpPr>
          <p:nvPr>
            <p:ph type="body" idx="4294967295"/>
          </p:nvPr>
        </p:nvSpPr>
        <p:spPr/>
        <p:txBody>
          <a:bodyPr/>
          <a:lstStyle/>
          <a:p>
            <a:pPr>
              <a:lnSpc>
                <a:spcPct val="80000"/>
              </a:lnSpc>
            </a:pPr>
            <a:endParaRPr lang="zh-CN" altLang="en-US" sz="900" dirty="0"/>
          </a:p>
        </p:txBody>
      </p:sp>
      <p:sp>
        <p:nvSpPr>
          <p:cNvPr id="259076" name="灯片编号占位符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itchFamily="34" charset="0"/>
                <a:ea typeface="黑体" pitchFamily="49" charset="-122"/>
              </a:defRPr>
            </a:lvl1pPr>
            <a:lvl2pPr marL="742950" indent="-285750">
              <a:defRPr sz="2400">
                <a:solidFill>
                  <a:schemeClr val="tx1"/>
                </a:solidFill>
                <a:latin typeface="Tahoma" pitchFamily="34" charset="0"/>
                <a:ea typeface="黑体" pitchFamily="49" charset="-122"/>
              </a:defRPr>
            </a:lvl2pPr>
            <a:lvl3pPr marL="1143000" indent="-228600">
              <a:defRPr sz="2400">
                <a:solidFill>
                  <a:schemeClr val="tx1"/>
                </a:solidFill>
                <a:latin typeface="Tahoma" pitchFamily="34" charset="0"/>
                <a:ea typeface="黑体" pitchFamily="49" charset="-122"/>
              </a:defRPr>
            </a:lvl3pPr>
            <a:lvl4pPr marL="1600200" indent="-228600">
              <a:defRPr sz="2400">
                <a:solidFill>
                  <a:schemeClr val="tx1"/>
                </a:solidFill>
                <a:latin typeface="Tahoma" pitchFamily="34" charset="0"/>
                <a:ea typeface="黑体" pitchFamily="49" charset="-122"/>
              </a:defRPr>
            </a:lvl4pPr>
            <a:lvl5pPr marL="2057400" indent="-228600">
              <a:defRPr sz="2400">
                <a:solidFill>
                  <a:schemeClr val="tx1"/>
                </a:solidFill>
                <a:latin typeface="Tahoma" pitchFamily="34" charset="0"/>
                <a:ea typeface="黑体" pitchFamily="49" charset="-122"/>
              </a:defRPr>
            </a:lvl5pPr>
            <a:lvl6pPr marL="2514600" indent="-228600" eaLnBrk="0" fontAlgn="base" hangingPunct="0">
              <a:spcBef>
                <a:spcPct val="0"/>
              </a:spcBef>
              <a:spcAft>
                <a:spcPct val="0"/>
              </a:spcAft>
              <a:defRPr sz="2400">
                <a:solidFill>
                  <a:schemeClr val="tx1"/>
                </a:solidFill>
                <a:latin typeface="Tahoma" pitchFamily="34" charset="0"/>
                <a:ea typeface="黑体" pitchFamily="49" charset="-122"/>
              </a:defRPr>
            </a:lvl6pPr>
            <a:lvl7pPr marL="2971800" indent="-228600" eaLnBrk="0" fontAlgn="base" hangingPunct="0">
              <a:spcBef>
                <a:spcPct val="0"/>
              </a:spcBef>
              <a:spcAft>
                <a:spcPct val="0"/>
              </a:spcAft>
              <a:defRPr sz="2400">
                <a:solidFill>
                  <a:schemeClr val="tx1"/>
                </a:solidFill>
                <a:latin typeface="Tahoma" pitchFamily="34" charset="0"/>
                <a:ea typeface="黑体" pitchFamily="49" charset="-122"/>
              </a:defRPr>
            </a:lvl7pPr>
            <a:lvl8pPr marL="3429000" indent="-228600" eaLnBrk="0" fontAlgn="base" hangingPunct="0">
              <a:spcBef>
                <a:spcPct val="0"/>
              </a:spcBef>
              <a:spcAft>
                <a:spcPct val="0"/>
              </a:spcAft>
              <a:defRPr sz="2400">
                <a:solidFill>
                  <a:schemeClr val="tx1"/>
                </a:solidFill>
                <a:latin typeface="Tahoma" pitchFamily="34" charset="0"/>
                <a:ea typeface="黑体" pitchFamily="49" charset="-122"/>
              </a:defRPr>
            </a:lvl8pPr>
            <a:lvl9pPr marL="3886200" indent="-228600" eaLnBrk="0" fontAlgn="base" hangingPunct="0">
              <a:spcBef>
                <a:spcPct val="0"/>
              </a:spcBef>
              <a:spcAft>
                <a:spcPct val="0"/>
              </a:spcAft>
              <a:defRPr sz="2400">
                <a:solidFill>
                  <a:schemeClr val="tx1"/>
                </a:solidFill>
                <a:latin typeface="Tahoma" pitchFamily="34" charset="0"/>
                <a:ea typeface="黑体" pitchFamily="49" charset="-122"/>
              </a:defRPr>
            </a:lvl9pPr>
          </a:lstStyle>
          <a:p>
            <a:fld id="{69D76B12-A0D7-4E7F-A779-2E018A8CAEC4}" type="slidenum">
              <a:rPr kumimoji="0" lang="en-US" altLang="zh-CN" sz="1200">
                <a:latin typeface="Times New Roman" pitchFamily="18" charset="0"/>
                <a:ea typeface="宋体" pitchFamily="2" charset="-122"/>
              </a:rPr>
              <a:pPr/>
              <a:t>52</a:t>
            </a:fld>
            <a:endParaRPr kumimoji="0" lang="en-US" altLang="zh-CN" sz="1200">
              <a:latin typeface="Times New Roman" pitchFamily="18" charset="0"/>
              <a:ea typeface="宋体"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770919" indent="-296507" eaLnBrk="0" hangingPunct="0">
              <a:defRPr>
                <a:solidFill>
                  <a:schemeClr val="tx1"/>
                </a:solidFill>
                <a:latin typeface="Calibri" pitchFamily="34" charset="0"/>
                <a:ea typeface="宋体" pitchFamily="2" charset="-122"/>
              </a:defRPr>
            </a:lvl2pPr>
            <a:lvl3pPr marL="1186030" indent="-237207" eaLnBrk="0" hangingPunct="0">
              <a:defRPr>
                <a:solidFill>
                  <a:schemeClr val="tx1"/>
                </a:solidFill>
                <a:latin typeface="Calibri" pitchFamily="34" charset="0"/>
                <a:ea typeface="宋体" pitchFamily="2" charset="-122"/>
              </a:defRPr>
            </a:lvl3pPr>
            <a:lvl4pPr marL="1660442" indent="-237207" eaLnBrk="0" hangingPunct="0">
              <a:defRPr>
                <a:solidFill>
                  <a:schemeClr val="tx1"/>
                </a:solidFill>
                <a:latin typeface="Calibri" pitchFamily="34" charset="0"/>
                <a:ea typeface="宋体" pitchFamily="2" charset="-122"/>
              </a:defRPr>
            </a:lvl4pPr>
            <a:lvl5pPr marL="2134854" indent="-237207" eaLnBrk="0" hangingPunct="0">
              <a:defRPr>
                <a:solidFill>
                  <a:schemeClr val="tx1"/>
                </a:solidFill>
                <a:latin typeface="Calibri" pitchFamily="34" charset="0"/>
                <a:ea typeface="宋体" pitchFamily="2" charset="-122"/>
              </a:defRPr>
            </a:lvl5pPr>
            <a:lvl6pPr marL="2609266" indent="-237207" eaLnBrk="0" fontAlgn="base" hangingPunct="0">
              <a:spcBef>
                <a:spcPct val="0"/>
              </a:spcBef>
              <a:spcAft>
                <a:spcPct val="0"/>
              </a:spcAft>
              <a:defRPr>
                <a:solidFill>
                  <a:schemeClr val="tx1"/>
                </a:solidFill>
                <a:latin typeface="Calibri" pitchFamily="34" charset="0"/>
                <a:ea typeface="宋体" pitchFamily="2" charset="-122"/>
              </a:defRPr>
            </a:lvl6pPr>
            <a:lvl7pPr marL="3083678" indent="-237207" eaLnBrk="0" fontAlgn="base" hangingPunct="0">
              <a:spcBef>
                <a:spcPct val="0"/>
              </a:spcBef>
              <a:spcAft>
                <a:spcPct val="0"/>
              </a:spcAft>
              <a:defRPr>
                <a:solidFill>
                  <a:schemeClr val="tx1"/>
                </a:solidFill>
                <a:latin typeface="Calibri" pitchFamily="34" charset="0"/>
                <a:ea typeface="宋体" pitchFamily="2" charset="-122"/>
              </a:defRPr>
            </a:lvl7pPr>
            <a:lvl8pPr marL="3558090" indent="-237207" eaLnBrk="0" fontAlgn="base" hangingPunct="0">
              <a:spcBef>
                <a:spcPct val="0"/>
              </a:spcBef>
              <a:spcAft>
                <a:spcPct val="0"/>
              </a:spcAft>
              <a:defRPr>
                <a:solidFill>
                  <a:schemeClr val="tx1"/>
                </a:solidFill>
                <a:latin typeface="Calibri" pitchFamily="34" charset="0"/>
                <a:ea typeface="宋体" pitchFamily="2" charset="-122"/>
              </a:defRPr>
            </a:lvl8pPr>
            <a:lvl9pPr marL="4032502" indent="-237207"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3D3F1409-CD7C-4210-8C8B-A2430C63E9D3}" type="slidenum">
              <a:rPr lang="en-US" altLang="zh-CN" smtClean="0">
                <a:latin typeface="Arial" pitchFamily="34" charset="0"/>
              </a:rPr>
              <a:pPr eaLnBrk="1" fontAlgn="base" hangingPunct="1">
                <a:spcBef>
                  <a:spcPct val="0"/>
                </a:spcBef>
                <a:spcAft>
                  <a:spcPct val="0"/>
                </a:spcAft>
              </a:pPr>
              <a:t>53</a:t>
            </a:fld>
            <a:endParaRPr lang="en-US" altLang="zh-CN">
              <a:latin typeface="Arial" pitchFamily="34" charset="0"/>
            </a:endParaRPr>
          </a:p>
        </p:txBody>
      </p:sp>
      <p:sp>
        <p:nvSpPr>
          <p:cNvPr id="604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幻灯片图像占位符 1"/>
          <p:cNvSpPr>
            <a:spLocks noGrp="1" noRot="1" noChangeAspect="1" noChangeArrowheads="1" noTextEdit="1"/>
          </p:cNvSpPr>
          <p:nvPr>
            <p:ph type="sldImg" idx="4294967295"/>
          </p:nvPr>
        </p:nvSpPr>
        <p:spPr>
          <a:ln/>
        </p:spPr>
      </p:sp>
      <p:sp>
        <p:nvSpPr>
          <p:cNvPr id="246787" name="备注占位符 2"/>
          <p:cNvSpPr>
            <a:spLocks noGrp="1" noChangeArrowheads="1"/>
          </p:cNvSpPr>
          <p:nvPr>
            <p:ph type="body" idx="4294967295"/>
          </p:nvPr>
        </p:nvSpPr>
        <p:spPr/>
        <p:txBody>
          <a:bodyPr/>
          <a:lstStyle/>
          <a:p>
            <a:endParaRPr lang="zh-CN" altLang="en-US" dirty="0">
              <a:solidFill>
                <a:srgbClr val="000000"/>
              </a:solidFill>
            </a:endParaRPr>
          </a:p>
        </p:txBody>
      </p:sp>
      <p:sp>
        <p:nvSpPr>
          <p:cNvPr id="246788" name="灯片编号占位符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itchFamily="34" charset="0"/>
                <a:ea typeface="黑体" pitchFamily="49" charset="-122"/>
              </a:defRPr>
            </a:lvl1pPr>
            <a:lvl2pPr marL="742950" indent="-285750">
              <a:defRPr sz="2400">
                <a:solidFill>
                  <a:schemeClr val="tx1"/>
                </a:solidFill>
                <a:latin typeface="Tahoma" pitchFamily="34" charset="0"/>
                <a:ea typeface="黑体" pitchFamily="49" charset="-122"/>
              </a:defRPr>
            </a:lvl2pPr>
            <a:lvl3pPr marL="1143000" indent="-228600">
              <a:defRPr sz="2400">
                <a:solidFill>
                  <a:schemeClr val="tx1"/>
                </a:solidFill>
                <a:latin typeface="Tahoma" pitchFamily="34" charset="0"/>
                <a:ea typeface="黑体" pitchFamily="49" charset="-122"/>
              </a:defRPr>
            </a:lvl3pPr>
            <a:lvl4pPr marL="1600200" indent="-228600">
              <a:defRPr sz="2400">
                <a:solidFill>
                  <a:schemeClr val="tx1"/>
                </a:solidFill>
                <a:latin typeface="Tahoma" pitchFamily="34" charset="0"/>
                <a:ea typeface="黑体" pitchFamily="49" charset="-122"/>
              </a:defRPr>
            </a:lvl4pPr>
            <a:lvl5pPr marL="2057400" indent="-228600">
              <a:defRPr sz="2400">
                <a:solidFill>
                  <a:schemeClr val="tx1"/>
                </a:solidFill>
                <a:latin typeface="Tahoma" pitchFamily="34" charset="0"/>
                <a:ea typeface="黑体" pitchFamily="49" charset="-122"/>
              </a:defRPr>
            </a:lvl5pPr>
            <a:lvl6pPr marL="2514600" indent="-228600" eaLnBrk="0" fontAlgn="base" hangingPunct="0">
              <a:spcBef>
                <a:spcPct val="0"/>
              </a:spcBef>
              <a:spcAft>
                <a:spcPct val="0"/>
              </a:spcAft>
              <a:defRPr sz="2400">
                <a:solidFill>
                  <a:schemeClr val="tx1"/>
                </a:solidFill>
                <a:latin typeface="Tahoma" pitchFamily="34" charset="0"/>
                <a:ea typeface="黑体" pitchFamily="49" charset="-122"/>
              </a:defRPr>
            </a:lvl6pPr>
            <a:lvl7pPr marL="2971800" indent="-228600" eaLnBrk="0" fontAlgn="base" hangingPunct="0">
              <a:spcBef>
                <a:spcPct val="0"/>
              </a:spcBef>
              <a:spcAft>
                <a:spcPct val="0"/>
              </a:spcAft>
              <a:defRPr sz="2400">
                <a:solidFill>
                  <a:schemeClr val="tx1"/>
                </a:solidFill>
                <a:latin typeface="Tahoma" pitchFamily="34" charset="0"/>
                <a:ea typeface="黑体" pitchFamily="49" charset="-122"/>
              </a:defRPr>
            </a:lvl7pPr>
            <a:lvl8pPr marL="3429000" indent="-228600" eaLnBrk="0" fontAlgn="base" hangingPunct="0">
              <a:spcBef>
                <a:spcPct val="0"/>
              </a:spcBef>
              <a:spcAft>
                <a:spcPct val="0"/>
              </a:spcAft>
              <a:defRPr sz="2400">
                <a:solidFill>
                  <a:schemeClr val="tx1"/>
                </a:solidFill>
                <a:latin typeface="Tahoma" pitchFamily="34" charset="0"/>
                <a:ea typeface="黑体" pitchFamily="49" charset="-122"/>
              </a:defRPr>
            </a:lvl8pPr>
            <a:lvl9pPr marL="3886200" indent="-228600" eaLnBrk="0" fontAlgn="base" hangingPunct="0">
              <a:spcBef>
                <a:spcPct val="0"/>
              </a:spcBef>
              <a:spcAft>
                <a:spcPct val="0"/>
              </a:spcAft>
              <a:defRPr sz="2400">
                <a:solidFill>
                  <a:schemeClr val="tx1"/>
                </a:solidFill>
                <a:latin typeface="Tahoma" pitchFamily="34" charset="0"/>
                <a:ea typeface="黑体" pitchFamily="49" charset="-122"/>
              </a:defRPr>
            </a:lvl9pPr>
          </a:lstStyle>
          <a:p>
            <a:fld id="{986963B5-1BF6-44C6-9BBC-C7F965DF195C}" type="slidenum">
              <a:rPr kumimoji="0" lang="en-US" altLang="zh-CN" sz="1200">
                <a:latin typeface="Times New Roman" pitchFamily="18" charset="0"/>
                <a:ea typeface="宋体" pitchFamily="2" charset="-122"/>
              </a:rPr>
              <a:pPr/>
              <a:t>56</a:t>
            </a:fld>
            <a:endParaRPr kumimoji="0" lang="en-US" altLang="zh-CN" sz="1200">
              <a:latin typeface="Times New Roman" pitchFamily="18" charset="0"/>
              <a:ea typeface="宋体"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770919" indent="-296507" eaLnBrk="0" hangingPunct="0">
              <a:defRPr>
                <a:solidFill>
                  <a:schemeClr val="tx1"/>
                </a:solidFill>
                <a:latin typeface="Calibri" pitchFamily="34" charset="0"/>
                <a:ea typeface="宋体" pitchFamily="2" charset="-122"/>
              </a:defRPr>
            </a:lvl2pPr>
            <a:lvl3pPr marL="1186030" indent="-237207" eaLnBrk="0" hangingPunct="0">
              <a:defRPr>
                <a:solidFill>
                  <a:schemeClr val="tx1"/>
                </a:solidFill>
                <a:latin typeface="Calibri" pitchFamily="34" charset="0"/>
                <a:ea typeface="宋体" pitchFamily="2" charset="-122"/>
              </a:defRPr>
            </a:lvl3pPr>
            <a:lvl4pPr marL="1660442" indent="-237207" eaLnBrk="0" hangingPunct="0">
              <a:defRPr>
                <a:solidFill>
                  <a:schemeClr val="tx1"/>
                </a:solidFill>
                <a:latin typeface="Calibri" pitchFamily="34" charset="0"/>
                <a:ea typeface="宋体" pitchFamily="2" charset="-122"/>
              </a:defRPr>
            </a:lvl4pPr>
            <a:lvl5pPr marL="2134854" indent="-237207" eaLnBrk="0" hangingPunct="0">
              <a:defRPr>
                <a:solidFill>
                  <a:schemeClr val="tx1"/>
                </a:solidFill>
                <a:latin typeface="Calibri" pitchFamily="34" charset="0"/>
                <a:ea typeface="宋体" pitchFamily="2" charset="-122"/>
              </a:defRPr>
            </a:lvl5pPr>
            <a:lvl6pPr marL="2609266" indent="-237207" eaLnBrk="0" fontAlgn="base" hangingPunct="0">
              <a:spcBef>
                <a:spcPct val="0"/>
              </a:spcBef>
              <a:spcAft>
                <a:spcPct val="0"/>
              </a:spcAft>
              <a:defRPr>
                <a:solidFill>
                  <a:schemeClr val="tx1"/>
                </a:solidFill>
                <a:latin typeface="Calibri" pitchFamily="34" charset="0"/>
                <a:ea typeface="宋体" pitchFamily="2" charset="-122"/>
              </a:defRPr>
            </a:lvl6pPr>
            <a:lvl7pPr marL="3083678" indent="-237207" eaLnBrk="0" fontAlgn="base" hangingPunct="0">
              <a:spcBef>
                <a:spcPct val="0"/>
              </a:spcBef>
              <a:spcAft>
                <a:spcPct val="0"/>
              </a:spcAft>
              <a:defRPr>
                <a:solidFill>
                  <a:schemeClr val="tx1"/>
                </a:solidFill>
                <a:latin typeface="Calibri" pitchFamily="34" charset="0"/>
                <a:ea typeface="宋体" pitchFamily="2" charset="-122"/>
              </a:defRPr>
            </a:lvl7pPr>
            <a:lvl8pPr marL="3558090" indent="-237207" eaLnBrk="0" fontAlgn="base" hangingPunct="0">
              <a:spcBef>
                <a:spcPct val="0"/>
              </a:spcBef>
              <a:spcAft>
                <a:spcPct val="0"/>
              </a:spcAft>
              <a:defRPr>
                <a:solidFill>
                  <a:schemeClr val="tx1"/>
                </a:solidFill>
                <a:latin typeface="Calibri" pitchFamily="34" charset="0"/>
                <a:ea typeface="宋体" pitchFamily="2" charset="-122"/>
              </a:defRPr>
            </a:lvl8pPr>
            <a:lvl9pPr marL="4032502" indent="-237207"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3D3F1409-CD7C-4210-8C8B-A2430C63E9D3}" type="slidenum">
              <a:rPr lang="en-US" altLang="zh-CN" smtClean="0">
                <a:latin typeface="Arial" pitchFamily="34" charset="0"/>
              </a:rPr>
              <a:pPr eaLnBrk="1" fontAlgn="base" hangingPunct="1">
                <a:spcBef>
                  <a:spcPct val="0"/>
                </a:spcBef>
                <a:spcAft>
                  <a:spcPct val="0"/>
                </a:spcAft>
              </a:pPr>
              <a:t>57</a:t>
            </a:fld>
            <a:endParaRPr lang="en-US" altLang="zh-CN">
              <a:latin typeface="Arial" pitchFamily="34" charset="0"/>
            </a:endParaRPr>
          </a:p>
        </p:txBody>
      </p:sp>
      <p:sp>
        <p:nvSpPr>
          <p:cNvPr id="604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27209072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61</a:t>
            </a:fld>
            <a:endParaRPr lang="en-US" altLang="zh-CN"/>
          </a:p>
        </p:txBody>
      </p:sp>
    </p:spTree>
    <p:extLst>
      <p:ext uri="{BB962C8B-B14F-4D97-AF65-F5344CB8AC3E}">
        <p14:creationId xmlns:p14="http://schemas.microsoft.com/office/powerpoint/2010/main" val="10686268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63</a:t>
            </a:fld>
            <a:endParaRPr lang="en-US" altLang="zh-CN"/>
          </a:p>
        </p:txBody>
      </p:sp>
    </p:spTree>
    <p:extLst>
      <p:ext uri="{BB962C8B-B14F-4D97-AF65-F5344CB8AC3E}">
        <p14:creationId xmlns:p14="http://schemas.microsoft.com/office/powerpoint/2010/main" val="5329853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64</a:t>
            </a:fld>
            <a:endParaRPr lang="en-US" altLang="zh-CN"/>
          </a:p>
        </p:txBody>
      </p:sp>
    </p:spTree>
    <p:extLst>
      <p:ext uri="{BB962C8B-B14F-4D97-AF65-F5344CB8AC3E}">
        <p14:creationId xmlns:p14="http://schemas.microsoft.com/office/powerpoint/2010/main" val="3447209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770919" indent="-296507" eaLnBrk="0" hangingPunct="0">
              <a:defRPr>
                <a:solidFill>
                  <a:schemeClr val="tx1"/>
                </a:solidFill>
                <a:latin typeface="Calibri" pitchFamily="34" charset="0"/>
                <a:ea typeface="宋体" pitchFamily="2" charset="-122"/>
              </a:defRPr>
            </a:lvl2pPr>
            <a:lvl3pPr marL="1186030" indent="-237207" eaLnBrk="0" hangingPunct="0">
              <a:defRPr>
                <a:solidFill>
                  <a:schemeClr val="tx1"/>
                </a:solidFill>
                <a:latin typeface="Calibri" pitchFamily="34" charset="0"/>
                <a:ea typeface="宋体" pitchFamily="2" charset="-122"/>
              </a:defRPr>
            </a:lvl3pPr>
            <a:lvl4pPr marL="1660442" indent="-237207" eaLnBrk="0" hangingPunct="0">
              <a:defRPr>
                <a:solidFill>
                  <a:schemeClr val="tx1"/>
                </a:solidFill>
                <a:latin typeface="Calibri" pitchFamily="34" charset="0"/>
                <a:ea typeface="宋体" pitchFamily="2" charset="-122"/>
              </a:defRPr>
            </a:lvl4pPr>
            <a:lvl5pPr marL="2134854" indent="-237207" eaLnBrk="0" hangingPunct="0">
              <a:defRPr>
                <a:solidFill>
                  <a:schemeClr val="tx1"/>
                </a:solidFill>
                <a:latin typeface="Calibri" pitchFamily="34" charset="0"/>
                <a:ea typeface="宋体" pitchFamily="2" charset="-122"/>
              </a:defRPr>
            </a:lvl5pPr>
            <a:lvl6pPr marL="2609266" indent="-237207" eaLnBrk="0" fontAlgn="base" hangingPunct="0">
              <a:spcBef>
                <a:spcPct val="0"/>
              </a:spcBef>
              <a:spcAft>
                <a:spcPct val="0"/>
              </a:spcAft>
              <a:defRPr>
                <a:solidFill>
                  <a:schemeClr val="tx1"/>
                </a:solidFill>
                <a:latin typeface="Calibri" pitchFamily="34" charset="0"/>
                <a:ea typeface="宋体" pitchFamily="2" charset="-122"/>
              </a:defRPr>
            </a:lvl6pPr>
            <a:lvl7pPr marL="3083678" indent="-237207" eaLnBrk="0" fontAlgn="base" hangingPunct="0">
              <a:spcBef>
                <a:spcPct val="0"/>
              </a:spcBef>
              <a:spcAft>
                <a:spcPct val="0"/>
              </a:spcAft>
              <a:defRPr>
                <a:solidFill>
                  <a:schemeClr val="tx1"/>
                </a:solidFill>
                <a:latin typeface="Calibri" pitchFamily="34" charset="0"/>
                <a:ea typeface="宋体" pitchFamily="2" charset="-122"/>
              </a:defRPr>
            </a:lvl7pPr>
            <a:lvl8pPr marL="3558090" indent="-237207" eaLnBrk="0" fontAlgn="base" hangingPunct="0">
              <a:spcBef>
                <a:spcPct val="0"/>
              </a:spcBef>
              <a:spcAft>
                <a:spcPct val="0"/>
              </a:spcAft>
              <a:defRPr>
                <a:solidFill>
                  <a:schemeClr val="tx1"/>
                </a:solidFill>
                <a:latin typeface="Calibri" pitchFamily="34" charset="0"/>
                <a:ea typeface="宋体" pitchFamily="2" charset="-122"/>
              </a:defRPr>
            </a:lvl8pPr>
            <a:lvl9pPr marL="4032502" indent="-237207"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3D3F1409-CD7C-4210-8C8B-A2430C63E9D3}" type="slidenum">
              <a:rPr lang="en-US" altLang="zh-CN" smtClean="0">
                <a:latin typeface="Arial" pitchFamily="34" charset="0"/>
              </a:rPr>
              <a:pPr eaLnBrk="1" fontAlgn="base" hangingPunct="1">
                <a:spcBef>
                  <a:spcPct val="0"/>
                </a:spcBef>
                <a:spcAft>
                  <a:spcPct val="0"/>
                </a:spcAft>
              </a:pPr>
              <a:t>65</a:t>
            </a:fld>
            <a:endParaRPr lang="en-US" altLang="zh-CN">
              <a:latin typeface="Arial" pitchFamily="34" charset="0"/>
            </a:endParaRPr>
          </a:p>
        </p:txBody>
      </p:sp>
      <p:sp>
        <p:nvSpPr>
          <p:cNvPr id="604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25944809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b="1" dirty="0"/>
          </a:p>
        </p:txBody>
      </p:sp>
      <p:sp>
        <p:nvSpPr>
          <p:cNvPr id="6144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770919" indent="-296507" eaLnBrk="0" hangingPunct="0">
              <a:defRPr>
                <a:solidFill>
                  <a:schemeClr val="tx1"/>
                </a:solidFill>
                <a:latin typeface="Calibri" pitchFamily="34" charset="0"/>
                <a:ea typeface="宋体" pitchFamily="2" charset="-122"/>
              </a:defRPr>
            </a:lvl2pPr>
            <a:lvl3pPr marL="1186030" indent="-237207" eaLnBrk="0" hangingPunct="0">
              <a:defRPr>
                <a:solidFill>
                  <a:schemeClr val="tx1"/>
                </a:solidFill>
                <a:latin typeface="Calibri" pitchFamily="34" charset="0"/>
                <a:ea typeface="宋体" pitchFamily="2" charset="-122"/>
              </a:defRPr>
            </a:lvl3pPr>
            <a:lvl4pPr marL="1660442" indent="-237207" eaLnBrk="0" hangingPunct="0">
              <a:defRPr>
                <a:solidFill>
                  <a:schemeClr val="tx1"/>
                </a:solidFill>
                <a:latin typeface="Calibri" pitchFamily="34" charset="0"/>
                <a:ea typeface="宋体" pitchFamily="2" charset="-122"/>
              </a:defRPr>
            </a:lvl4pPr>
            <a:lvl5pPr marL="2134854" indent="-237207" eaLnBrk="0" hangingPunct="0">
              <a:defRPr>
                <a:solidFill>
                  <a:schemeClr val="tx1"/>
                </a:solidFill>
                <a:latin typeface="Calibri" pitchFamily="34" charset="0"/>
                <a:ea typeface="宋体" pitchFamily="2" charset="-122"/>
              </a:defRPr>
            </a:lvl5pPr>
            <a:lvl6pPr marL="2609266" indent="-237207" eaLnBrk="0" fontAlgn="base" hangingPunct="0">
              <a:spcBef>
                <a:spcPct val="0"/>
              </a:spcBef>
              <a:spcAft>
                <a:spcPct val="0"/>
              </a:spcAft>
              <a:defRPr>
                <a:solidFill>
                  <a:schemeClr val="tx1"/>
                </a:solidFill>
                <a:latin typeface="Calibri" pitchFamily="34" charset="0"/>
                <a:ea typeface="宋体" pitchFamily="2" charset="-122"/>
              </a:defRPr>
            </a:lvl6pPr>
            <a:lvl7pPr marL="3083678" indent="-237207" eaLnBrk="0" fontAlgn="base" hangingPunct="0">
              <a:spcBef>
                <a:spcPct val="0"/>
              </a:spcBef>
              <a:spcAft>
                <a:spcPct val="0"/>
              </a:spcAft>
              <a:defRPr>
                <a:solidFill>
                  <a:schemeClr val="tx1"/>
                </a:solidFill>
                <a:latin typeface="Calibri" pitchFamily="34" charset="0"/>
                <a:ea typeface="宋体" pitchFamily="2" charset="-122"/>
              </a:defRPr>
            </a:lvl7pPr>
            <a:lvl8pPr marL="3558090" indent="-237207" eaLnBrk="0" fontAlgn="base" hangingPunct="0">
              <a:spcBef>
                <a:spcPct val="0"/>
              </a:spcBef>
              <a:spcAft>
                <a:spcPct val="0"/>
              </a:spcAft>
              <a:defRPr>
                <a:solidFill>
                  <a:schemeClr val="tx1"/>
                </a:solidFill>
                <a:latin typeface="Calibri" pitchFamily="34" charset="0"/>
                <a:ea typeface="宋体" pitchFamily="2" charset="-122"/>
              </a:defRPr>
            </a:lvl8pPr>
            <a:lvl9pPr marL="4032502" indent="-237207"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7BBDD82A-3345-4668-BFC7-90A046A6D0E2}" type="slidenum">
              <a:rPr lang="en-US" altLang="zh-CN" smtClean="0">
                <a:latin typeface="Times New Roman" pitchFamily="18" charset="0"/>
              </a:rPr>
              <a:pPr eaLnBrk="1" fontAlgn="base" hangingPunct="1">
                <a:spcBef>
                  <a:spcPct val="0"/>
                </a:spcBef>
                <a:spcAft>
                  <a:spcPct val="0"/>
                </a:spcAft>
              </a:pPr>
              <a:t>66</a:t>
            </a:fld>
            <a:endParaRPr lang="en-US" altLang="zh-CN">
              <a:latin typeface="Times New Roman"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6246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770919" indent="-296507" eaLnBrk="0" hangingPunct="0">
              <a:defRPr>
                <a:solidFill>
                  <a:schemeClr val="tx1"/>
                </a:solidFill>
                <a:latin typeface="Calibri" pitchFamily="34" charset="0"/>
                <a:ea typeface="宋体" pitchFamily="2" charset="-122"/>
              </a:defRPr>
            </a:lvl2pPr>
            <a:lvl3pPr marL="1186030" indent="-237207" eaLnBrk="0" hangingPunct="0">
              <a:defRPr>
                <a:solidFill>
                  <a:schemeClr val="tx1"/>
                </a:solidFill>
                <a:latin typeface="Calibri" pitchFamily="34" charset="0"/>
                <a:ea typeface="宋体" pitchFamily="2" charset="-122"/>
              </a:defRPr>
            </a:lvl3pPr>
            <a:lvl4pPr marL="1660442" indent="-237207" eaLnBrk="0" hangingPunct="0">
              <a:defRPr>
                <a:solidFill>
                  <a:schemeClr val="tx1"/>
                </a:solidFill>
                <a:latin typeface="Calibri" pitchFamily="34" charset="0"/>
                <a:ea typeface="宋体" pitchFamily="2" charset="-122"/>
              </a:defRPr>
            </a:lvl4pPr>
            <a:lvl5pPr marL="2134854" indent="-237207" eaLnBrk="0" hangingPunct="0">
              <a:defRPr>
                <a:solidFill>
                  <a:schemeClr val="tx1"/>
                </a:solidFill>
                <a:latin typeface="Calibri" pitchFamily="34" charset="0"/>
                <a:ea typeface="宋体" pitchFamily="2" charset="-122"/>
              </a:defRPr>
            </a:lvl5pPr>
            <a:lvl6pPr marL="2609266" indent="-237207" eaLnBrk="0" fontAlgn="base" hangingPunct="0">
              <a:spcBef>
                <a:spcPct val="0"/>
              </a:spcBef>
              <a:spcAft>
                <a:spcPct val="0"/>
              </a:spcAft>
              <a:defRPr>
                <a:solidFill>
                  <a:schemeClr val="tx1"/>
                </a:solidFill>
                <a:latin typeface="Calibri" pitchFamily="34" charset="0"/>
                <a:ea typeface="宋体" pitchFamily="2" charset="-122"/>
              </a:defRPr>
            </a:lvl6pPr>
            <a:lvl7pPr marL="3083678" indent="-237207" eaLnBrk="0" fontAlgn="base" hangingPunct="0">
              <a:spcBef>
                <a:spcPct val="0"/>
              </a:spcBef>
              <a:spcAft>
                <a:spcPct val="0"/>
              </a:spcAft>
              <a:defRPr>
                <a:solidFill>
                  <a:schemeClr val="tx1"/>
                </a:solidFill>
                <a:latin typeface="Calibri" pitchFamily="34" charset="0"/>
                <a:ea typeface="宋体" pitchFamily="2" charset="-122"/>
              </a:defRPr>
            </a:lvl7pPr>
            <a:lvl8pPr marL="3558090" indent="-237207" eaLnBrk="0" fontAlgn="base" hangingPunct="0">
              <a:spcBef>
                <a:spcPct val="0"/>
              </a:spcBef>
              <a:spcAft>
                <a:spcPct val="0"/>
              </a:spcAft>
              <a:defRPr>
                <a:solidFill>
                  <a:schemeClr val="tx1"/>
                </a:solidFill>
                <a:latin typeface="Calibri" pitchFamily="34" charset="0"/>
                <a:ea typeface="宋体" pitchFamily="2" charset="-122"/>
              </a:defRPr>
            </a:lvl8pPr>
            <a:lvl9pPr marL="4032502" indent="-237207"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C8A56ABC-3A0C-46AC-B228-C964F7CDA79B}" type="slidenum">
              <a:rPr lang="en-US" altLang="zh-CN" smtClean="0">
                <a:latin typeface="Times New Roman" pitchFamily="18" charset="0"/>
              </a:rPr>
              <a:pPr eaLnBrk="1" fontAlgn="base" hangingPunct="1">
                <a:spcBef>
                  <a:spcPct val="0"/>
                </a:spcBef>
                <a:spcAft>
                  <a:spcPct val="0"/>
                </a:spcAft>
              </a:pPr>
              <a:t>67</a:t>
            </a:fld>
            <a:endParaRPr lang="en-US" altLang="zh-CN">
              <a:latin typeface="Times New Roman"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68</a:t>
            </a:fld>
            <a:endParaRPr lang="en-US" altLang="zh-CN"/>
          </a:p>
        </p:txBody>
      </p:sp>
    </p:spTree>
    <p:extLst>
      <p:ext uri="{BB962C8B-B14F-4D97-AF65-F5344CB8AC3E}">
        <p14:creationId xmlns:p14="http://schemas.microsoft.com/office/powerpoint/2010/main" val="22290469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645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770919" indent="-296507" eaLnBrk="0" hangingPunct="0">
              <a:defRPr>
                <a:solidFill>
                  <a:schemeClr val="tx1"/>
                </a:solidFill>
                <a:latin typeface="Calibri" pitchFamily="34" charset="0"/>
                <a:ea typeface="宋体" pitchFamily="2" charset="-122"/>
              </a:defRPr>
            </a:lvl2pPr>
            <a:lvl3pPr marL="1186030" indent="-237207" eaLnBrk="0" hangingPunct="0">
              <a:defRPr>
                <a:solidFill>
                  <a:schemeClr val="tx1"/>
                </a:solidFill>
                <a:latin typeface="Calibri" pitchFamily="34" charset="0"/>
                <a:ea typeface="宋体" pitchFamily="2" charset="-122"/>
              </a:defRPr>
            </a:lvl3pPr>
            <a:lvl4pPr marL="1660442" indent="-237207" eaLnBrk="0" hangingPunct="0">
              <a:defRPr>
                <a:solidFill>
                  <a:schemeClr val="tx1"/>
                </a:solidFill>
                <a:latin typeface="Calibri" pitchFamily="34" charset="0"/>
                <a:ea typeface="宋体" pitchFamily="2" charset="-122"/>
              </a:defRPr>
            </a:lvl4pPr>
            <a:lvl5pPr marL="2134854" indent="-237207" eaLnBrk="0" hangingPunct="0">
              <a:defRPr>
                <a:solidFill>
                  <a:schemeClr val="tx1"/>
                </a:solidFill>
                <a:latin typeface="Calibri" pitchFamily="34" charset="0"/>
                <a:ea typeface="宋体" pitchFamily="2" charset="-122"/>
              </a:defRPr>
            </a:lvl5pPr>
            <a:lvl6pPr marL="2609266" indent="-237207" eaLnBrk="0" fontAlgn="base" hangingPunct="0">
              <a:spcBef>
                <a:spcPct val="0"/>
              </a:spcBef>
              <a:spcAft>
                <a:spcPct val="0"/>
              </a:spcAft>
              <a:defRPr>
                <a:solidFill>
                  <a:schemeClr val="tx1"/>
                </a:solidFill>
                <a:latin typeface="Calibri" pitchFamily="34" charset="0"/>
                <a:ea typeface="宋体" pitchFamily="2" charset="-122"/>
              </a:defRPr>
            </a:lvl6pPr>
            <a:lvl7pPr marL="3083678" indent="-237207" eaLnBrk="0" fontAlgn="base" hangingPunct="0">
              <a:spcBef>
                <a:spcPct val="0"/>
              </a:spcBef>
              <a:spcAft>
                <a:spcPct val="0"/>
              </a:spcAft>
              <a:defRPr>
                <a:solidFill>
                  <a:schemeClr val="tx1"/>
                </a:solidFill>
                <a:latin typeface="Calibri" pitchFamily="34" charset="0"/>
                <a:ea typeface="宋体" pitchFamily="2" charset="-122"/>
              </a:defRPr>
            </a:lvl7pPr>
            <a:lvl8pPr marL="3558090" indent="-237207" eaLnBrk="0" fontAlgn="base" hangingPunct="0">
              <a:spcBef>
                <a:spcPct val="0"/>
              </a:spcBef>
              <a:spcAft>
                <a:spcPct val="0"/>
              </a:spcAft>
              <a:defRPr>
                <a:solidFill>
                  <a:schemeClr val="tx1"/>
                </a:solidFill>
                <a:latin typeface="Calibri" pitchFamily="34" charset="0"/>
                <a:ea typeface="宋体" pitchFamily="2" charset="-122"/>
              </a:defRPr>
            </a:lvl8pPr>
            <a:lvl9pPr marL="4032502" indent="-237207"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643B4835-11A0-4EAA-970A-E8DB30D2461D}" type="slidenum">
              <a:rPr lang="en-US" altLang="zh-CN" smtClean="0">
                <a:latin typeface="Times New Roman" pitchFamily="18" charset="0"/>
                <a:ea typeface="黑体" pitchFamily="49" charset="-122"/>
              </a:rPr>
              <a:pPr eaLnBrk="1" fontAlgn="base" hangingPunct="1">
                <a:spcBef>
                  <a:spcPct val="0"/>
                </a:spcBef>
                <a:spcAft>
                  <a:spcPct val="0"/>
                </a:spcAft>
              </a:pPr>
              <a:t>69</a:t>
            </a:fld>
            <a:endParaRPr lang="en-US" altLang="zh-CN">
              <a:latin typeface="Times New Roman" pitchFamily="18" charset="0"/>
              <a:ea typeface="黑体" pitchFamily="49"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71</a:t>
            </a:fld>
            <a:endParaRPr lang="en-US" altLang="zh-CN"/>
          </a:p>
        </p:txBody>
      </p:sp>
    </p:spTree>
    <p:extLst>
      <p:ext uri="{BB962C8B-B14F-4D97-AF65-F5344CB8AC3E}">
        <p14:creationId xmlns:p14="http://schemas.microsoft.com/office/powerpoint/2010/main" val="42292368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770919" indent="-296507" eaLnBrk="0" hangingPunct="0">
              <a:defRPr>
                <a:solidFill>
                  <a:schemeClr val="tx1"/>
                </a:solidFill>
                <a:latin typeface="Calibri" pitchFamily="34" charset="0"/>
                <a:ea typeface="宋体" pitchFamily="2" charset="-122"/>
              </a:defRPr>
            </a:lvl2pPr>
            <a:lvl3pPr marL="1186030" indent="-237207" eaLnBrk="0" hangingPunct="0">
              <a:defRPr>
                <a:solidFill>
                  <a:schemeClr val="tx1"/>
                </a:solidFill>
                <a:latin typeface="Calibri" pitchFamily="34" charset="0"/>
                <a:ea typeface="宋体" pitchFamily="2" charset="-122"/>
              </a:defRPr>
            </a:lvl3pPr>
            <a:lvl4pPr marL="1660442" indent="-237207" eaLnBrk="0" hangingPunct="0">
              <a:defRPr>
                <a:solidFill>
                  <a:schemeClr val="tx1"/>
                </a:solidFill>
                <a:latin typeface="Calibri" pitchFamily="34" charset="0"/>
                <a:ea typeface="宋体" pitchFamily="2" charset="-122"/>
              </a:defRPr>
            </a:lvl4pPr>
            <a:lvl5pPr marL="2134854" indent="-237207" eaLnBrk="0" hangingPunct="0">
              <a:defRPr>
                <a:solidFill>
                  <a:schemeClr val="tx1"/>
                </a:solidFill>
                <a:latin typeface="Calibri" pitchFamily="34" charset="0"/>
                <a:ea typeface="宋体" pitchFamily="2" charset="-122"/>
              </a:defRPr>
            </a:lvl5pPr>
            <a:lvl6pPr marL="2609266" indent="-237207" eaLnBrk="0" fontAlgn="base" hangingPunct="0">
              <a:spcBef>
                <a:spcPct val="0"/>
              </a:spcBef>
              <a:spcAft>
                <a:spcPct val="0"/>
              </a:spcAft>
              <a:defRPr>
                <a:solidFill>
                  <a:schemeClr val="tx1"/>
                </a:solidFill>
                <a:latin typeface="Calibri" pitchFamily="34" charset="0"/>
                <a:ea typeface="宋体" pitchFamily="2" charset="-122"/>
              </a:defRPr>
            </a:lvl6pPr>
            <a:lvl7pPr marL="3083678" indent="-237207" eaLnBrk="0" fontAlgn="base" hangingPunct="0">
              <a:spcBef>
                <a:spcPct val="0"/>
              </a:spcBef>
              <a:spcAft>
                <a:spcPct val="0"/>
              </a:spcAft>
              <a:defRPr>
                <a:solidFill>
                  <a:schemeClr val="tx1"/>
                </a:solidFill>
                <a:latin typeface="Calibri" pitchFamily="34" charset="0"/>
                <a:ea typeface="宋体" pitchFamily="2" charset="-122"/>
              </a:defRPr>
            </a:lvl7pPr>
            <a:lvl8pPr marL="3558090" indent="-237207" eaLnBrk="0" fontAlgn="base" hangingPunct="0">
              <a:spcBef>
                <a:spcPct val="0"/>
              </a:spcBef>
              <a:spcAft>
                <a:spcPct val="0"/>
              </a:spcAft>
              <a:defRPr>
                <a:solidFill>
                  <a:schemeClr val="tx1"/>
                </a:solidFill>
                <a:latin typeface="Calibri" pitchFamily="34" charset="0"/>
                <a:ea typeface="宋体" pitchFamily="2" charset="-122"/>
              </a:defRPr>
            </a:lvl8pPr>
            <a:lvl9pPr marL="4032502" indent="-237207"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3D3F1409-CD7C-4210-8C8B-A2430C63E9D3}" type="slidenum">
              <a:rPr lang="en-US" altLang="zh-CN" smtClean="0">
                <a:latin typeface="Arial" pitchFamily="34" charset="0"/>
              </a:rPr>
              <a:pPr eaLnBrk="1" fontAlgn="base" hangingPunct="1">
                <a:spcBef>
                  <a:spcPct val="0"/>
                </a:spcBef>
                <a:spcAft>
                  <a:spcPct val="0"/>
                </a:spcAft>
              </a:pPr>
              <a:t>72</a:t>
            </a:fld>
            <a:endParaRPr lang="en-US" altLang="zh-CN">
              <a:latin typeface="Arial" pitchFamily="34" charset="0"/>
            </a:endParaRPr>
          </a:p>
        </p:txBody>
      </p:sp>
      <p:sp>
        <p:nvSpPr>
          <p:cNvPr id="604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39507424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74</a:t>
            </a:fld>
            <a:endParaRPr lang="en-US" altLang="zh-CN"/>
          </a:p>
        </p:txBody>
      </p:sp>
    </p:spTree>
    <p:extLst>
      <p:ext uri="{BB962C8B-B14F-4D97-AF65-F5344CB8AC3E}">
        <p14:creationId xmlns:p14="http://schemas.microsoft.com/office/powerpoint/2010/main" val="245189818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75</a:t>
            </a:fld>
            <a:endParaRPr lang="en-US" altLang="zh-CN"/>
          </a:p>
        </p:txBody>
      </p:sp>
    </p:spTree>
    <p:extLst>
      <p:ext uri="{BB962C8B-B14F-4D97-AF65-F5344CB8AC3E}">
        <p14:creationId xmlns:p14="http://schemas.microsoft.com/office/powerpoint/2010/main" val="13154344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81</a:t>
            </a:fld>
            <a:endParaRPr lang="en-US" altLang="zh-CN"/>
          </a:p>
        </p:txBody>
      </p:sp>
    </p:spTree>
    <p:extLst>
      <p:ext uri="{BB962C8B-B14F-4D97-AF65-F5344CB8AC3E}">
        <p14:creationId xmlns:p14="http://schemas.microsoft.com/office/powerpoint/2010/main" val="1110300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ADA341C1-76EA-4CAE-8F0B-28709FDD964B}" type="datetime1">
              <a:rPr lang="zh-CN" altLang="en-US" smtClean="0"/>
              <a:t>2025/10/28</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5AE633C-541A-4E3F-A22A-3C4C63E8EF5F}" type="slidenum">
              <a:rPr lang="zh-CN" altLang="en-US"/>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52BCE1E7-BD98-4766-972D-27163991C82C}" type="datetime1">
              <a:rPr lang="zh-CN" altLang="en-US" smtClean="0"/>
              <a:t>2025/10/28</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BCAC33D-D29A-48B3-BCD6-381D3D720D26}"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AF8EEB84-5148-4C2E-B3E8-DC27767F71B2}" type="datetime1">
              <a:rPr lang="zh-CN" altLang="en-US" smtClean="0"/>
              <a:t>2025/10/28</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0836AFD5-B4CE-4309-A85F-E56CFD431173}"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CE883F2C-2A6A-4F6D-8A2D-CEEC7AEC56A8}" type="datetime1">
              <a:rPr lang="zh-CN" altLang="en-US" smtClean="0"/>
              <a:t>2025/10/28</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B3CCC3E9-608E-4023-AA79-77ECC6312F57}"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52B073EE-2D0D-4ACD-88F1-33939FE3B0FD}" type="datetime1">
              <a:rPr lang="zh-CN" altLang="en-US" smtClean="0"/>
              <a:t>2025/10/28</a:t>
            </a:fld>
            <a:endParaRPr lang="en-US" altLang="zh-CN"/>
          </a:p>
        </p:txBody>
      </p:sp>
      <p:sp>
        <p:nvSpPr>
          <p:cNvPr id="8"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CD980664-B5A2-458D-9781-BDBB3E444617}"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754056BD-94D8-4E6C-A09D-5F442EBBD359}" type="datetime1">
              <a:rPr lang="zh-CN" altLang="en-US" smtClean="0"/>
              <a:t>2025/10/28</a:t>
            </a:fld>
            <a:endParaRPr lang="en-US" altLang="zh-CN"/>
          </a:p>
        </p:txBody>
      </p:sp>
      <p:sp>
        <p:nvSpPr>
          <p:cNvPr id="4"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3342FEDC-7E89-472C-BFD5-D857A9C78A6E}"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E39D1C7B-8105-45A5-8B97-A8507493D12C}" type="datetime1">
              <a:rPr lang="zh-CN" altLang="en-US" smtClean="0"/>
              <a:t>2025/10/28</a:t>
            </a:fld>
            <a:endParaRPr lang="en-US" altLang="zh-CN"/>
          </a:p>
        </p:txBody>
      </p:sp>
      <p:sp>
        <p:nvSpPr>
          <p:cNvPr id="3"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4" name="灯片编号占位符 5"/>
          <p:cNvSpPr>
            <a:spLocks noGrp="1"/>
          </p:cNvSpPr>
          <p:nvPr>
            <p:ph type="sldNum" sz="quarter" idx="12"/>
          </p:nvPr>
        </p:nvSpPr>
        <p:spPr/>
        <p:txBody>
          <a:bodyPr/>
          <a:lstStyle>
            <a:lvl1pPr>
              <a:defRPr/>
            </a:lvl1pPr>
          </a:lstStyle>
          <a:p>
            <a:pPr>
              <a:defRPr/>
            </a:pPr>
            <a:fld id="{65B7EA61-351E-4105-9AD9-76D38C6E9934}"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26797002-15E0-4FB8-9692-880BC90F3B66}" type="datetime1">
              <a:rPr lang="zh-CN" altLang="en-US" smtClean="0"/>
              <a:t>2025/10/28</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AFC75736-67D3-4C0D-9AD3-EBB1133B7A15}"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88DFA5F5-2E10-4EBD-990B-C4DCF3625848}" type="datetime1">
              <a:rPr lang="zh-CN" altLang="en-US" smtClean="0"/>
              <a:t>2025/10/28</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6B43B5C7-14AB-4EB9-8E35-9962854618D2}"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30051CA9-10E8-4943-B775-91178CC6B430}" type="datetime1">
              <a:rPr lang="zh-CN" altLang="en-US" smtClean="0"/>
              <a:t>2025/10/28</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739E446-6F6B-46FF-A641-54E99657CB0F}"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53BBF1B2-B94B-4675-B513-A2EA5CD8E17B}" type="datetime1">
              <a:rPr lang="zh-CN" altLang="en-US" smtClean="0"/>
              <a:t>2025/10/28</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295BA35-14E5-4401-B968-D9FCFD45D966}"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247650"/>
            <a:ext cx="8305800" cy="592455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1029"/>
          <p:cNvSpPr>
            <a:spLocks noGrp="1" noChangeArrowheads="1"/>
          </p:cNvSpPr>
          <p:nvPr>
            <p:ph type="dt" sz="half" idx="10"/>
          </p:nvPr>
        </p:nvSpPr>
        <p:spPr/>
        <p:txBody>
          <a:bodyPr/>
          <a:lstStyle>
            <a:lvl1pPr>
              <a:defRPr/>
            </a:lvl1pPr>
          </a:lstStyle>
          <a:p>
            <a:pPr>
              <a:defRPr/>
            </a:pPr>
            <a:fld id="{6185813E-E299-4F3F-84D9-32A86264A960}" type="datetime1">
              <a:rPr lang="zh-CN" altLang="en-US" smtClean="0"/>
              <a:t>2025/10/28</a:t>
            </a:fld>
            <a:endParaRPr lang="en-US" altLang="zh-CN"/>
          </a:p>
        </p:txBody>
      </p:sp>
      <p:sp>
        <p:nvSpPr>
          <p:cNvPr id="4" name="Rectangle 1030"/>
          <p:cNvSpPr>
            <a:spLocks noGrp="1" noChangeArrowheads="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5" name="Rectangle 1031"/>
          <p:cNvSpPr>
            <a:spLocks noGrp="1" noChangeArrowheads="1"/>
          </p:cNvSpPr>
          <p:nvPr>
            <p:ph type="sldNum" sz="quarter" idx="12"/>
          </p:nvPr>
        </p:nvSpPr>
        <p:spPr/>
        <p:txBody>
          <a:bodyPr/>
          <a:lstStyle>
            <a:lvl1pPr>
              <a:defRPr/>
            </a:lvl1pPr>
          </a:lstStyle>
          <a:p>
            <a:pPr>
              <a:defRPr/>
            </a:pPr>
            <a:fld id="{0D31C944-F470-43DB-AA6A-FA332AA1ED5F}" type="slidenum">
              <a:rPr lang="en-US" altLang="zh-CN"/>
              <a:pPr>
                <a:defRPr/>
              </a:pPr>
              <a:t>‹#›</a:t>
            </a:fld>
            <a:endParaRPr lang="en-US" altLang="zh-CN"/>
          </a:p>
        </p:txBody>
      </p:sp>
    </p:spTree>
    <p:extLst>
      <p:ext uri="{BB962C8B-B14F-4D97-AF65-F5344CB8AC3E}">
        <p14:creationId xmlns:p14="http://schemas.microsoft.com/office/powerpoint/2010/main" val="2202193639"/>
      </p:ext>
    </p:extLst>
  </p:cSld>
  <p:clrMapOvr>
    <a:masterClrMapping/>
  </p:clrMapOvr>
  <p:transition>
    <p:pull dir="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86200" y="247650"/>
            <a:ext cx="5105400" cy="381000"/>
          </a:xfrm>
        </p:spPr>
        <p:txBody>
          <a:bodyPr/>
          <a:lstStyle/>
          <a:p>
            <a:r>
              <a:rPr lang="zh-CN" altLang="en-US" noProof="1"/>
              <a:t>单击此处编辑母版标题样式</a:t>
            </a:r>
          </a:p>
        </p:txBody>
      </p:sp>
      <p:sp>
        <p:nvSpPr>
          <p:cNvPr id="3" name="表格占位符 2"/>
          <p:cNvSpPr>
            <a:spLocks noGrp="1"/>
          </p:cNvSpPr>
          <p:nvPr>
            <p:ph type="tbl" idx="1"/>
          </p:nvPr>
        </p:nvSpPr>
        <p:spPr>
          <a:xfrm>
            <a:off x="685800" y="1219200"/>
            <a:ext cx="7772400" cy="4953000"/>
          </a:xfrm>
        </p:spPr>
        <p:txBody>
          <a:bodyPr/>
          <a:lstStyle/>
          <a:p>
            <a:pPr lvl="0"/>
            <a:endParaRPr lang="zh-CN" altLang="en-US" noProof="0"/>
          </a:p>
        </p:txBody>
      </p:sp>
    </p:spTree>
    <p:extLst>
      <p:ext uri="{BB962C8B-B14F-4D97-AF65-F5344CB8AC3E}">
        <p14:creationId xmlns:p14="http://schemas.microsoft.com/office/powerpoint/2010/main" val="2614999690"/>
      </p:ext>
    </p:extLst>
  </p:cSld>
  <p:clrMapOvr>
    <a:masterClrMapping/>
  </p:clrMapOvr>
  <p:transition>
    <p:pull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fld id="{B22C9B01-3256-473F-8A06-48C46FE0DDB7}" type="datetime1">
              <a:rPr lang="zh-CN" altLang="en-US" smtClean="0"/>
              <a:t>2025/10/28</a:t>
            </a:fld>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fld id="{2CE38698-3FD2-4DD5-AB6F-61E8F41EBC15}" type="slidenum">
              <a:rPr lang="zh-CN" altLang="en-US"/>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2.bin"/><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7.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6.bin"/><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oleObject" Target="../embeddings/oleObject7.bin"/><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oleObject" Target="../embeddings/oleObject8.bin"/><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1596230" y="1412776"/>
            <a:ext cx="5910263" cy="1143000"/>
          </a:xfrm>
        </p:spPr>
        <p:txBody>
          <a:bodyPr/>
          <a:lstStyle/>
          <a:p>
            <a:pPr algn="dist" eaLnBrk="1" hangingPunct="1"/>
            <a:r>
              <a:rPr lang="zh-CN" altLang="en-US" sz="5400" b="1" dirty="0"/>
              <a:t>计算机体系结构</a:t>
            </a:r>
          </a:p>
        </p:txBody>
      </p:sp>
      <p:sp>
        <p:nvSpPr>
          <p:cNvPr id="2051" name="Text Box 7"/>
          <p:cNvSpPr txBox="1">
            <a:spLocks noChangeArrowheads="1"/>
          </p:cNvSpPr>
          <p:nvPr/>
        </p:nvSpPr>
        <p:spPr bwMode="auto">
          <a:xfrm>
            <a:off x="3714750" y="5072063"/>
            <a:ext cx="2951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800" dirty="0"/>
              <a:t> 刘宏伟</a:t>
            </a:r>
          </a:p>
        </p:txBody>
      </p:sp>
      <p:sp>
        <p:nvSpPr>
          <p:cNvPr id="2052" name="Text Box 7"/>
          <p:cNvSpPr txBox="1">
            <a:spLocks noChangeArrowheads="1"/>
          </p:cNvSpPr>
          <p:nvPr/>
        </p:nvSpPr>
        <p:spPr bwMode="auto">
          <a:xfrm>
            <a:off x="2571750" y="4500563"/>
            <a:ext cx="4357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800"/>
              <a:t> 计算机科学与技术学院</a:t>
            </a:r>
          </a:p>
        </p:txBody>
      </p:sp>
      <p:sp>
        <p:nvSpPr>
          <p:cNvPr id="5" name="Rectangle 2"/>
          <p:cNvSpPr txBox="1">
            <a:spLocks noChangeArrowheads="1"/>
          </p:cNvSpPr>
          <p:nvPr/>
        </p:nvSpPr>
        <p:spPr bwMode="auto">
          <a:xfrm>
            <a:off x="1714500" y="3071813"/>
            <a:ext cx="5673725" cy="1143000"/>
          </a:xfrm>
          <a:prstGeom prst="rect">
            <a:avLst/>
          </a:prstGeom>
          <a:noFill/>
          <a:ln w="9525">
            <a:noFill/>
            <a:miter lim="800000"/>
          </a:ln>
          <a:effectLst/>
        </p:spPr>
        <p:txBody>
          <a:bodyPr lIns="92075" tIns="46038" rIns="92075" bIns="46038" anchor="ctr"/>
          <a:lstStyle/>
          <a:p>
            <a:pPr algn="ctr">
              <a:defRPr/>
            </a:pPr>
            <a:r>
              <a:rPr lang="zh-CN" altLang="en-US" sz="4000" kern="0" dirty="0">
                <a:effectLst>
                  <a:outerShdw blurRad="38100" dist="38100" dir="2700000" algn="tl">
                    <a:srgbClr val="000000"/>
                  </a:outerShdw>
                </a:effectLst>
                <a:latin typeface="+mj-lt"/>
                <a:ea typeface="+mj-ea"/>
                <a:cs typeface="+mj-cs"/>
              </a:rPr>
              <a:t>第十四讲</a:t>
            </a:r>
          </a:p>
        </p:txBody>
      </p:sp>
      <p:sp>
        <p:nvSpPr>
          <p:cNvPr id="2" name="日期占位符 1">
            <a:extLst>
              <a:ext uri="{FF2B5EF4-FFF2-40B4-BE49-F238E27FC236}">
                <a16:creationId xmlns:a16="http://schemas.microsoft.com/office/drawing/2014/main" id="{A2D0F7FB-3182-43B0-37C0-A3ABB57D2534}"/>
              </a:ext>
            </a:extLst>
          </p:cNvPr>
          <p:cNvSpPr>
            <a:spLocks noGrp="1"/>
          </p:cNvSpPr>
          <p:nvPr>
            <p:ph type="dt" sz="half" idx="10"/>
          </p:nvPr>
        </p:nvSpPr>
        <p:spPr/>
        <p:txBody>
          <a:bodyPr/>
          <a:lstStyle/>
          <a:p>
            <a:pPr>
              <a:defRPr/>
            </a:pPr>
            <a:fld id="{548FA43E-CB23-4D31-8105-D75C5AD44003}"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67439062-7511-77C7-7C7C-3D7E5499CF3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63451CAF-4EEC-0438-9ABB-EBA586357C4A}"/>
              </a:ext>
            </a:extLst>
          </p:cNvPr>
          <p:cNvSpPr>
            <a:spLocks noGrp="1"/>
          </p:cNvSpPr>
          <p:nvPr>
            <p:ph type="sldNum" sz="quarter" idx="12"/>
          </p:nvPr>
        </p:nvSpPr>
        <p:spPr/>
        <p:txBody>
          <a:bodyPr/>
          <a:lstStyle/>
          <a:p>
            <a:pPr>
              <a:defRPr/>
            </a:pPr>
            <a:fld id="{8BCAC33D-D29A-48B3-BCD6-381D3D720D26}" type="slidenum">
              <a:rPr lang="zh-CN" altLang="en-US" smtClean="0"/>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title"/>
          </p:nvPr>
        </p:nvSpPr>
        <p:spPr>
          <a:xfrm>
            <a:off x="685800" y="122907"/>
            <a:ext cx="7772400" cy="785813"/>
          </a:xfrm>
        </p:spPr>
        <p:txBody>
          <a:bodyPr/>
          <a:lstStyle/>
          <a:p>
            <a:pPr eaLnBrk="1" hangingPunct="1"/>
            <a:r>
              <a:rPr lang="en-US" altLang="zh-CN" b="1" dirty="0"/>
              <a:t>Recap</a:t>
            </a:r>
            <a:endParaRPr lang="zh-CN" altLang="en-US" b="1" dirty="0"/>
          </a:p>
        </p:txBody>
      </p:sp>
      <p:sp>
        <p:nvSpPr>
          <p:cNvPr id="3" name="内容占位符 2"/>
          <p:cNvSpPr>
            <a:spLocks noGrp="1"/>
          </p:cNvSpPr>
          <p:nvPr>
            <p:ph idx="1"/>
          </p:nvPr>
        </p:nvSpPr>
        <p:spPr>
          <a:xfrm>
            <a:off x="179512" y="908720"/>
            <a:ext cx="8352927" cy="5718994"/>
          </a:xfrm>
        </p:spPr>
        <p:txBody>
          <a:bodyPr rtlCol="0">
            <a:noAutofit/>
          </a:bodyPr>
          <a:lstStyle/>
          <a:p>
            <a:pPr lvl="1" eaLnBrk="1" fontAlgn="auto" hangingPunct="1">
              <a:lnSpc>
                <a:spcPct val="90000"/>
              </a:lnSpc>
              <a:spcAft>
                <a:spcPts val="0"/>
              </a:spcAft>
              <a:defRPr/>
            </a:pPr>
            <a:r>
              <a:rPr lang="zh-CN" altLang="en-US" sz="2400" b="1" dirty="0">
                <a:latin typeface="+mj-lt"/>
              </a:rPr>
              <a:t>指令动态调度</a:t>
            </a:r>
            <a:endParaRPr lang="en-US" altLang="zh-CN" sz="2400" b="1" dirty="0">
              <a:latin typeface="+mj-lt"/>
            </a:endParaRPr>
          </a:p>
          <a:p>
            <a:pPr marL="1101600" lvl="1" indent="-284400" eaLnBrk="1" fontAlgn="auto" hangingPunct="1">
              <a:lnSpc>
                <a:spcPct val="90000"/>
              </a:lnSpc>
              <a:spcBef>
                <a:spcPts val="24"/>
              </a:spcBef>
              <a:spcAft>
                <a:spcPts val="0"/>
              </a:spcAft>
              <a:buFont typeface="Wingdings" panose="05000000000000000000" pitchFamily="2" charset="2"/>
              <a:buChar char="ü"/>
              <a:defRPr/>
            </a:pPr>
            <a:r>
              <a:rPr lang="zh-CN" altLang="en-US" sz="2400" b="1" dirty="0"/>
              <a:t> 动态调度的目的、优点及缺点</a:t>
            </a:r>
            <a:endParaRPr lang="en-US" altLang="zh-CN" sz="2400" b="1" dirty="0"/>
          </a:p>
          <a:p>
            <a:pPr marL="1101600" lvl="1" indent="-284400" eaLnBrk="1" fontAlgn="auto" hangingPunct="1">
              <a:lnSpc>
                <a:spcPct val="90000"/>
              </a:lnSpc>
              <a:spcBef>
                <a:spcPts val="24"/>
              </a:spcBef>
              <a:spcAft>
                <a:spcPts val="0"/>
              </a:spcAft>
              <a:buFont typeface="Wingdings" panose="05000000000000000000" pitchFamily="2" charset="2"/>
              <a:buChar char="ü"/>
              <a:defRPr/>
            </a:pPr>
            <a:r>
              <a:rPr lang="zh-CN" altLang="en-US" sz="2400" b="1" dirty="0"/>
              <a:t> 译码段再划分为流出和读操作数两段</a:t>
            </a:r>
            <a:endParaRPr lang="en-US" altLang="zh-CN" sz="2400" b="1" dirty="0"/>
          </a:p>
          <a:p>
            <a:pPr marL="1101600" lvl="1" indent="-284400" eaLnBrk="1" fontAlgn="auto" hangingPunct="1">
              <a:lnSpc>
                <a:spcPct val="90000"/>
              </a:lnSpc>
              <a:spcBef>
                <a:spcPts val="24"/>
              </a:spcBef>
              <a:spcAft>
                <a:spcPts val="0"/>
              </a:spcAft>
              <a:buFont typeface="Wingdings" panose="05000000000000000000" pitchFamily="2" charset="2"/>
              <a:buChar char="ü"/>
              <a:defRPr/>
            </a:pPr>
            <a:r>
              <a:rPr lang="en-US" altLang="zh-CN" sz="2400" b="1" dirty="0"/>
              <a:t> </a:t>
            </a:r>
            <a:r>
              <a:rPr lang="zh-CN" altLang="en-US" sz="2400" b="1" dirty="0"/>
              <a:t>乱序执行</a:t>
            </a:r>
            <a:endParaRPr lang="en-US" altLang="zh-CN" sz="2400" b="1" dirty="0"/>
          </a:p>
          <a:p>
            <a:pPr lvl="1" eaLnBrk="1" fontAlgn="auto" hangingPunct="1">
              <a:lnSpc>
                <a:spcPct val="90000"/>
              </a:lnSpc>
              <a:spcAft>
                <a:spcPts val="0"/>
              </a:spcAft>
              <a:defRPr/>
            </a:pPr>
            <a:r>
              <a:rPr lang="zh-CN" altLang="en-US" sz="2400" b="1" dirty="0">
                <a:latin typeface="+mj-lt"/>
              </a:rPr>
              <a:t>记分牌</a:t>
            </a:r>
            <a:endParaRPr lang="en-US" altLang="zh-CN" sz="2400" b="1" dirty="0">
              <a:latin typeface="+mj-lt"/>
            </a:endParaRPr>
          </a:p>
          <a:p>
            <a:pPr marL="1101600" lvl="1" eaLnBrk="1" fontAlgn="auto" hangingPunct="1">
              <a:lnSpc>
                <a:spcPct val="90000"/>
              </a:lnSpc>
              <a:spcAft>
                <a:spcPts val="0"/>
              </a:spcAft>
              <a:buFont typeface="Wingdings" panose="05000000000000000000" pitchFamily="2" charset="2"/>
              <a:buChar char="ü"/>
              <a:defRPr/>
            </a:pPr>
            <a:r>
              <a:rPr lang="zh-CN" altLang="en-US" sz="2400" b="1" dirty="0"/>
              <a:t>基本原理（集中控制指令的流出和执行）</a:t>
            </a:r>
            <a:endParaRPr lang="en-US" altLang="zh-CN" sz="2400" b="1" dirty="0"/>
          </a:p>
          <a:p>
            <a:pPr marL="1101600" lvl="1" eaLnBrk="1" fontAlgn="auto" hangingPunct="1">
              <a:lnSpc>
                <a:spcPct val="90000"/>
              </a:lnSpc>
              <a:spcAft>
                <a:spcPts val="0"/>
              </a:spcAft>
              <a:buFont typeface="Wingdings" panose="05000000000000000000" pitchFamily="2" charset="2"/>
              <a:buChar char="ü"/>
              <a:defRPr/>
            </a:pPr>
            <a:r>
              <a:rPr lang="zh-CN" altLang="en-US" sz="2400" b="1" dirty="0"/>
              <a:t>执行过程（流出、读操作数、执行和写结果）</a:t>
            </a:r>
            <a:endParaRPr lang="en-US" altLang="zh-CN" sz="2400" b="1" dirty="0"/>
          </a:p>
          <a:p>
            <a:pPr marL="1101600" lvl="1" eaLnBrk="1" fontAlgn="auto" hangingPunct="1">
              <a:lnSpc>
                <a:spcPct val="90000"/>
              </a:lnSpc>
              <a:spcAft>
                <a:spcPts val="0"/>
              </a:spcAft>
              <a:buFont typeface="Wingdings" panose="05000000000000000000" pitchFamily="2" charset="2"/>
              <a:buChar char="ü"/>
              <a:defRPr/>
            </a:pPr>
            <a:r>
              <a:rPr lang="zh-CN" altLang="en-US" sz="2400" b="1" dirty="0"/>
              <a:t>记分牌的结构（指令状态表、功能部件状态表、结果寄存器状态表）</a:t>
            </a:r>
            <a:endParaRPr lang="en-US" altLang="zh-CN" sz="2400" b="1" dirty="0"/>
          </a:p>
          <a:p>
            <a:pPr lvl="1" eaLnBrk="1" fontAlgn="auto" hangingPunct="1">
              <a:lnSpc>
                <a:spcPct val="90000"/>
              </a:lnSpc>
              <a:spcAft>
                <a:spcPts val="0"/>
              </a:spcAft>
              <a:defRPr/>
            </a:pPr>
            <a:r>
              <a:rPr lang="en-US" altLang="zh-CN" sz="2400" b="1" dirty="0" err="1">
                <a:latin typeface="Times New Roman" panose="02020603050405020304" pitchFamily="18" charset="0"/>
                <a:cs typeface="Times New Roman" panose="02020603050405020304" pitchFamily="18" charset="0"/>
              </a:rPr>
              <a:t>Tomasulo</a:t>
            </a:r>
            <a:endParaRPr lang="en-US" altLang="zh-CN" sz="2400" b="1" dirty="0">
              <a:latin typeface="Times New Roman" panose="02020603050405020304" pitchFamily="18" charset="0"/>
              <a:cs typeface="Times New Roman" panose="02020603050405020304" pitchFamily="18" charset="0"/>
            </a:endParaRPr>
          </a:p>
          <a:p>
            <a:pPr marL="1101600" lvl="1" indent="-284400" eaLnBrk="1" fontAlgn="auto" hangingPunct="1">
              <a:lnSpc>
                <a:spcPct val="110000"/>
              </a:lnSpc>
              <a:spcBef>
                <a:spcPts val="24"/>
              </a:spcBef>
              <a:spcAft>
                <a:spcPts val="0"/>
              </a:spcAft>
              <a:buFont typeface="Wingdings" panose="05000000000000000000" pitchFamily="2" charset="2"/>
              <a:buChar char="ü"/>
              <a:defRPr/>
            </a:pPr>
            <a:r>
              <a:rPr lang="zh-CN" altLang="en-US" sz="2400" b="1" dirty="0">
                <a:latin typeface="Times New Roman" panose="02020603050405020304" pitchFamily="18" charset="0"/>
                <a:cs typeface="Times New Roman" panose="02020603050405020304" pitchFamily="18" charset="0"/>
              </a:rPr>
              <a:t> </a:t>
            </a:r>
            <a:r>
              <a:rPr lang="zh-CN" altLang="en-US" sz="2400" b="1" dirty="0"/>
              <a:t>分布式检测数据相关</a:t>
            </a:r>
            <a:endParaRPr lang="en-US" altLang="zh-CN" sz="2400" b="1" dirty="0"/>
          </a:p>
          <a:p>
            <a:pPr marL="1101600" lvl="1" indent="-284400" eaLnBrk="1" fontAlgn="auto" hangingPunct="1">
              <a:lnSpc>
                <a:spcPct val="110000"/>
              </a:lnSpc>
              <a:spcBef>
                <a:spcPts val="24"/>
              </a:spcBef>
              <a:spcAft>
                <a:spcPts val="0"/>
              </a:spcAft>
              <a:buFont typeface="Wingdings" panose="05000000000000000000" pitchFamily="2" charset="2"/>
              <a:buChar char="ü"/>
              <a:defRPr/>
            </a:pPr>
            <a:r>
              <a:rPr lang="en-US" altLang="zh-CN" sz="2400" b="1" dirty="0"/>
              <a:t> </a:t>
            </a:r>
            <a:r>
              <a:rPr lang="zh-CN" altLang="en-US" sz="2400" b="1" dirty="0"/>
              <a:t>执行过程（流出、执行和写结果）</a:t>
            </a:r>
            <a:endParaRPr lang="en-US" altLang="zh-CN" sz="2400" b="1" dirty="0"/>
          </a:p>
          <a:p>
            <a:pPr marL="1101600" lvl="1" indent="-284400" eaLnBrk="1" fontAlgn="auto" hangingPunct="1">
              <a:lnSpc>
                <a:spcPct val="110000"/>
              </a:lnSpc>
              <a:spcBef>
                <a:spcPts val="24"/>
              </a:spcBef>
              <a:spcAft>
                <a:spcPts val="0"/>
              </a:spcAft>
              <a:buFont typeface="Wingdings" panose="05000000000000000000" pitchFamily="2" charset="2"/>
              <a:buChar char="ü"/>
              <a:defRPr/>
            </a:pPr>
            <a:r>
              <a:rPr lang="zh-CN" altLang="en-US" sz="2400" b="1" dirty="0"/>
              <a:t> 保留站、公共数据总线</a:t>
            </a:r>
            <a:r>
              <a:rPr lang="en-US" altLang="zh-CN" sz="2400" b="1" dirty="0"/>
              <a:t>CDB</a:t>
            </a:r>
          </a:p>
          <a:p>
            <a:pPr marL="817200" lvl="1" indent="0" eaLnBrk="1" fontAlgn="auto" hangingPunct="1">
              <a:lnSpc>
                <a:spcPct val="90000"/>
              </a:lnSpc>
              <a:spcBef>
                <a:spcPts val="24"/>
              </a:spcBef>
              <a:spcAft>
                <a:spcPts val="0"/>
              </a:spcAft>
              <a:buNone/>
              <a:defRPr/>
            </a:pPr>
            <a:endParaRPr lang="en-US" altLang="zh-CN" sz="2400" b="1" dirty="0">
              <a:latin typeface="+mj-lt"/>
            </a:endParaRPr>
          </a:p>
        </p:txBody>
      </p:sp>
      <p:sp>
        <p:nvSpPr>
          <p:cNvPr id="2" name="日期占位符 1">
            <a:extLst>
              <a:ext uri="{FF2B5EF4-FFF2-40B4-BE49-F238E27FC236}">
                <a16:creationId xmlns:a16="http://schemas.microsoft.com/office/drawing/2014/main" id="{A3059DD1-5F6C-C3C8-C9F3-3F26605C823D}"/>
              </a:ext>
            </a:extLst>
          </p:cNvPr>
          <p:cNvSpPr>
            <a:spLocks noGrp="1"/>
          </p:cNvSpPr>
          <p:nvPr>
            <p:ph type="dt" sz="half" idx="10"/>
          </p:nvPr>
        </p:nvSpPr>
        <p:spPr/>
        <p:txBody>
          <a:bodyPr/>
          <a:lstStyle/>
          <a:p>
            <a:pPr>
              <a:defRPr/>
            </a:pPr>
            <a:fld id="{4AB60773-515E-4A87-B985-619BEFF4CE4D}"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9E05D908-B87C-D24A-3A10-ECBB199660F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5364877D-D1E5-E2B5-E492-2B64018DB6F4}"/>
              </a:ext>
            </a:extLst>
          </p:cNvPr>
          <p:cNvSpPr>
            <a:spLocks noGrp="1"/>
          </p:cNvSpPr>
          <p:nvPr>
            <p:ph type="sldNum" sz="quarter" idx="12"/>
          </p:nvPr>
        </p:nvSpPr>
        <p:spPr/>
        <p:txBody>
          <a:bodyPr/>
          <a:lstStyle/>
          <a:p>
            <a:pPr>
              <a:defRPr/>
            </a:pPr>
            <a:fld id="{8BCAC33D-D29A-48B3-BCD6-381D3D720D26}" type="slidenum">
              <a:rPr lang="zh-CN" altLang="en-US" smtClean="0"/>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a:xfrm>
            <a:off x="468313" y="414338"/>
            <a:ext cx="8229600" cy="1143000"/>
          </a:xfrm>
        </p:spPr>
        <p:txBody>
          <a:bodyPr rtlCol="0">
            <a:normAutofit/>
          </a:bodyPr>
          <a:lstStyle/>
          <a:p>
            <a:pPr eaLnBrk="1" fontAlgn="auto" hangingPunct="1">
              <a:spcAft>
                <a:spcPts val="0"/>
              </a:spcAft>
              <a:defRPr/>
            </a:pPr>
            <a:r>
              <a:rPr lang="en-US" altLang="zh-CN" sz="4000" b="1" dirty="0">
                <a:latin typeface="Times New Roman" panose="02020603050405020304" pitchFamily="18" charset="0"/>
                <a:cs typeface="Times New Roman" panose="02020603050405020304" pitchFamily="18" charset="0"/>
              </a:rPr>
              <a:t>4.3  </a:t>
            </a:r>
            <a:r>
              <a:rPr lang="zh-CN" altLang="en-US" sz="4000" b="1" dirty="0">
                <a:latin typeface="Times New Roman" panose="02020603050405020304" pitchFamily="18" charset="0"/>
                <a:cs typeface="Times New Roman" panose="02020603050405020304" pitchFamily="18" charset="0"/>
              </a:rPr>
              <a:t>控制相关的动态解决技术</a:t>
            </a:r>
          </a:p>
        </p:txBody>
      </p:sp>
      <p:sp>
        <p:nvSpPr>
          <p:cNvPr id="5123" name="Rectangle 2"/>
          <p:cNvSpPr>
            <a:spLocks noGrp="1" noChangeArrowheads="1"/>
          </p:cNvSpPr>
          <p:nvPr>
            <p:ph idx="1"/>
          </p:nvPr>
        </p:nvSpPr>
        <p:spPr>
          <a:xfrm>
            <a:off x="755650" y="2060575"/>
            <a:ext cx="7064375" cy="3313113"/>
          </a:xfrm>
        </p:spPr>
        <p:txBody>
          <a:bodyPr/>
          <a:lstStyle/>
          <a:p>
            <a:pPr marL="0" indent="0" eaLnBrk="1" hangingPunct="1">
              <a:spcBef>
                <a:spcPct val="50000"/>
              </a:spcBef>
              <a:buFont typeface="Arial" pitchFamily="34" charset="0"/>
              <a:buNone/>
            </a:pPr>
            <a:r>
              <a:rPr lang="en-US" altLang="zh-CN" sz="2800" b="1" u="sng" dirty="0">
                <a:latin typeface="Times New Roman" pitchFamily="18" charset="0"/>
              </a:rPr>
              <a:t>4.3.1  </a:t>
            </a:r>
            <a:r>
              <a:rPr lang="zh-CN" altLang="en-US" sz="2800" b="1" u="sng" dirty="0">
                <a:latin typeface="Times New Roman" pitchFamily="18" charset="0"/>
              </a:rPr>
              <a:t>分支预测缓冲</a:t>
            </a:r>
            <a:endParaRPr lang="en-US" altLang="zh-CN" sz="2800" b="1" u="sng" dirty="0">
              <a:latin typeface="Times New Roman" pitchFamily="18" charset="0"/>
            </a:endParaRPr>
          </a:p>
          <a:p>
            <a:pPr marL="0" indent="0" eaLnBrk="1" hangingPunct="1">
              <a:spcBef>
                <a:spcPct val="50000"/>
              </a:spcBef>
              <a:buFont typeface="Arial" pitchFamily="34" charset="0"/>
              <a:buNone/>
            </a:pPr>
            <a:endParaRPr lang="zh-CN" altLang="en-US" sz="2800" b="1" dirty="0">
              <a:latin typeface="Times New Roman" pitchFamily="18" charset="0"/>
            </a:endParaRPr>
          </a:p>
          <a:p>
            <a:pPr marL="0" indent="0" eaLnBrk="1" hangingPunct="1">
              <a:spcBef>
                <a:spcPct val="50000"/>
              </a:spcBef>
              <a:buFont typeface="Arial" pitchFamily="34" charset="0"/>
              <a:buNone/>
            </a:pPr>
            <a:r>
              <a:rPr lang="en-US" altLang="zh-CN" sz="2800" b="1" dirty="0">
                <a:latin typeface="Times New Roman" pitchFamily="18" charset="0"/>
              </a:rPr>
              <a:t>4.3.2  </a:t>
            </a:r>
            <a:r>
              <a:rPr lang="zh-CN" altLang="en-US" sz="2800" b="1" dirty="0">
                <a:latin typeface="Times New Roman" pitchFamily="18" charset="0"/>
              </a:rPr>
              <a:t>分支目标缓冲</a:t>
            </a:r>
            <a:endParaRPr lang="en-US" altLang="zh-CN" sz="2800" b="1" dirty="0">
              <a:latin typeface="Times New Roman" pitchFamily="18" charset="0"/>
            </a:endParaRPr>
          </a:p>
          <a:p>
            <a:pPr marL="0" indent="0" eaLnBrk="1" hangingPunct="1">
              <a:spcBef>
                <a:spcPct val="50000"/>
              </a:spcBef>
              <a:buFont typeface="Arial" pitchFamily="34" charset="0"/>
              <a:buNone/>
            </a:pPr>
            <a:endParaRPr lang="en-US" altLang="zh-CN" sz="2800" b="1" dirty="0">
              <a:latin typeface="Times New Roman" pitchFamily="18" charset="0"/>
            </a:endParaRPr>
          </a:p>
          <a:p>
            <a:pPr marL="0" indent="0" eaLnBrk="1" hangingPunct="1">
              <a:spcBef>
                <a:spcPct val="50000"/>
              </a:spcBef>
              <a:buFont typeface="Arial" pitchFamily="34" charset="0"/>
              <a:buNone/>
            </a:pPr>
            <a:r>
              <a:rPr lang="en-US" altLang="zh-CN" sz="2800" b="1" dirty="0">
                <a:latin typeface="Times New Roman" pitchFamily="18" charset="0"/>
              </a:rPr>
              <a:t>4.3.3 </a:t>
            </a:r>
            <a:r>
              <a:rPr lang="zh-CN" altLang="en-US" sz="2800" b="1" dirty="0">
                <a:latin typeface="Times New Roman" pitchFamily="18" charset="0"/>
              </a:rPr>
              <a:t>基于硬件的前瞻执行</a:t>
            </a:r>
            <a:endParaRPr lang="en-US" altLang="zh-CN" sz="2800" b="1" dirty="0">
              <a:latin typeface="Times New Roman" pitchFamily="18" charset="0"/>
            </a:endParaRPr>
          </a:p>
          <a:p>
            <a:pPr marL="0" indent="0" eaLnBrk="1" hangingPunct="1">
              <a:spcBef>
                <a:spcPct val="50000"/>
              </a:spcBef>
              <a:buFont typeface="Arial" pitchFamily="34" charset="0"/>
              <a:buNone/>
            </a:pPr>
            <a:endParaRPr lang="en-US" altLang="zh-CN" sz="2800" b="1" dirty="0">
              <a:latin typeface="Times New Roman" pitchFamily="18" charset="0"/>
            </a:endParaRPr>
          </a:p>
          <a:p>
            <a:pPr marL="0" indent="0" eaLnBrk="1" hangingPunct="1">
              <a:spcBef>
                <a:spcPct val="50000"/>
              </a:spcBef>
              <a:buFont typeface="Arial" pitchFamily="34" charset="0"/>
              <a:buNone/>
            </a:pPr>
            <a:endParaRPr lang="en-US" altLang="zh-CN" b="1" dirty="0">
              <a:latin typeface="Times New Roman" pitchFamily="18" charset="0"/>
            </a:endParaRPr>
          </a:p>
        </p:txBody>
      </p:sp>
      <p:sp>
        <p:nvSpPr>
          <p:cNvPr id="2" name="日期占位符 1">
            <a:extLst>
              <a:ext uri="{FF2B5EF4-FFF2-40B4-BE49-F238E27FC236}">
                <a16:creationId xmlns:a16="http://schemas.microsoft.com/office/drawing/2014/main" id="{128E26B0-3AB8-D2DA-8853-65618C8561F1}"/>
              </a:ext>
            </a:extLst>
          </p:cNvPr>
          <p:cNvSpPr>
            <a:spLocks noGrp="1"/>
          </p:cNvSpPr>
          <p:nvPr>
            <p:ph type="dt" sz="half" idx="10"/>
          </p:nvPr>
        </p:nvSpPr>
        <p:spPr/>
        <p:txBody>
          <a:bodyPr/>
          <a:lstStyle/>
          <a:p>
            <a:pPr>
              <a:defRPr/>
            </a:pPr>
            <a:fld id="{A0369BC6-5E23-422F-9D5F-96467EB495C3}"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581A2910-6315-4A05-5D3B-1592A3C6B30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57C6490C-E812-EE9F-2C48-3FFE7DB819D4}"/>
              </a:ext>
            </a:extLst>
          </p:cNvPr>
          <p:cNvSpPr>
            <a:spLocks noGrp="1"/>
          </p:cNvSpPr>
          <p:nvPr>
            <p:ph type="sldNum" sz="quarter" idx="12"/>
          </p:nvPr>
        </p:nvSpPr>
        <p:spPr/>
        <p:txBody>
          <a:bodyPr/>
          <a:lstStyle/>
          <a:p>
            <a:pPr>
              <a:defRPr/>
            </a:pPr>
            <a:fld id="{8BCAC33D-D29A-48B3-BCD6-381D3D720D26}" type="slidenum">
              <a:rPr lang="zh-CN" altLang="en-US" smtClean="0"/>
              <a:t>3</a:t>
            </a:fld>
            <a:endParaRPr lang="en-US" altLang="zh-CN"/>
          </a:p>
        </p:txBody>
      </p:sp>
    </p:spTree>
    <p:extLst>
      <p:ext uri="{BB962C8B-B14F-4D97-AF65-F5344CB8AC3E}">
        <p14:creationId xmlns:p14="http://schemas.microsoft.com/office/powerpoint/2010/main" val="236876417"/>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2"/>
          <p:cNvSpPr>
            <a:spLocks noGrp="1" noChangeArrowheads="1"/>
          </p:cNvSpPr>
          <p:nvPr>
            <p:ph type="title" idx="4294967295"/>
          </p:nvPr>
        </p:nvSpPr>
        <p:spPr>
          <a:xfrm>
            <a:off x="457200" y="44624"/>
            <a:ext cx="8229600" cy="1143000"/>
          </a:xfrm>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4.3.1  </a:t>
            </a:r>
            <a:r>
              <a:rPr lang="zh-CN" altLang="en-US" sz="3600" b="1" dirty="0">
                <a:latin typeface="Times New Roman" panose="02020603050405020304" pitchFamily="18" charset="0"/>
                <a:cs typeface="Times New Roman" panose="02020603050405020304" pitchFamily="18" charset="0"/>
              </a:rPr>
              <a:t>分支预测缓冲</a:t>
            </a:r>
          </a:p>
        </p:txBody>
      </p:sp>
      <p:sp>
        <p:nvSpPr>
          <p:cNvPr id="119821" name="Rectangle 13"/>
          <p:cNvSpPr>
            <a:spLocks noGrp="1" noChangeArrowheads="1"/>
          </p:cNvSpPr>
          <p:nvPr>
            <p:ph type="body" idx="4294967295"/>
          </p:nvPr>
        </p:nvSpPr>
        <p:spPr>
          <a:xfrm>
            <a:off x="457200" y="1124744"/>
            <a:ext cx="8002588" cy="4968453"/>
          </a:xfrm>
        </p:spPr>
        <p:txBody>
          <a:bodyPr rtlCol="0">
            <a:normAutofit fontScale="92500" lnSpcReduction="20000"/>
          </a:bodyPr>
          <a:lstStyle/>
          <a:p>
            <a:pPr eaLnBrk="1" fontAlgn="auto" hangingPunct="1">
              <a:lnSpc>
                <a:spcPct val="15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动态分支预测的两个理由</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lnSpc>
                <a:spcPct val="150000"/>
              </a:lnSpc>
              <a:spcAft>
                <a:spcPts val="0"/>
              </a:spcAft>
              <a:defRPr/>
            </a:pPr>
            <a:r>
              <a:rPr lang="en-US" altLang="zh-CN" sz="2400" b="1" dirty="0">
                <a:latin typeface="Times New Roman" panose="02020603050405020304" pitchFamily="18" charset="0"/>
                <a:ea typeface="+mj-ea"/>
                <a:cs typeface="Times New Roman" panose="02020603050405020304" pitchFamily="18" charset="0"/>
              </a:rPr>
              <a:t>n</a:t>
            </a:r>
            <a:r>
              <a:rPr lang="zh-CN" altLang="en-US" sz="2400" b="1" dirty="0">
                <a:latin typeface="Times New Roman" panose="02020603050405020304" pitchFamily="18" charset="0"/>
                <a:ea typeface="+mj-ea"/>
                <a:cs typeface="Times New Roman" panose="02020603050405020304" pitchFamily="18" charset="0"/>
              </a:rPr>
              <a:t>流出的处理器加速上限为</a:t>
            </a:r>
            <a:r>
              <a:rPr lang="en-US" altLang="zh-CN" sz="2400" b="1" dirty="0">
                <a:latin typeface="Times New Roman" panose="02020603050405020304" pitchFamily="18" charset="0"/>
                <a:ea typeface="+mj-ea"/>
                <a:cs typeface="Times New Roman" panose="02020603050405020304" pitchFamily="18" charset="0"/>
              </a:rPr>
              <a:t>n</a:t>
            </a:r>
            <a:r>
              <a:rPr lang="zh-CN" altLang="en-US" sz="2400" b="1" dirty="0">
                <a:latin typeface="Times New Roman" panose="02020603050405020304" pitchFamily="18" charset="0"/>
                <a:ea typeface="+mj-ea"/>
                <a:cs typeface="Times New Roman" panose="02020603050405020304" pitchFamily="18" charset="0"/>
              </a:rPr>
              <a:t>倍</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lnSpc>
                <a:spcPct val="15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在较低</a:t>
            </a:r>
            <a:r>
              <a:rPr lang="en-US" altLang="zh-CN" sz="2400" b="1" dirty="0">
                <a:latin typeface="Times New Roman" panose="02020603050405020304" pitchFamily="18" charset="0"/>
                <a:ea typeface="+mj-ea"/>
                <a:cs typeface="Times New Roman" panose="02020603050405020304" pitchFamily="18" charset="0"/>
              </a:rPr>
              <a:t>CPI</a:t>
            </a:r>
            <a:r>
              <a:rPr lang="zh-CN" altLang="en-US" sz="2400" b="1" dirty="0">
                <a:latin typeface="Times New Roman" panose="02020603050405020304" pitchFamily="18" charset="0"/>
                <a:ea typeface="+mj-ea"/>
                <a:cs typeface="Times New Roman" panose="02020603050405020304" pitchFamily="18" charset="0"/>
              </a:rPr>
              <a:t>机器上，控制相关导致的空转对机器性能影响大</a:t>
            </a:r>
            <a:endParaRPr lang="en-US" altLang="zh-CN" sz="2400" b="1" dirty="0">
              <a:latin typeface="Times New Roman" panose="02020603050405020304" pitchFamily="18" charset="0"/>
              <a:ea typeface="+mj-ea"/>
              <a:cs typeface="Times New Roman" panose="02020603050405020304" pitchFamily="18" charset="0"/>
            </a:endParaRPr>
          </a:p>
          <a:p>
            <a:pPr marL="0" lvl="1" eaLnBrk="1" fontAlgn="auto" hangingPunct="1">
              <a:lnSpc>
                <a:spcPct val="150000"/>
              </a:lnSpc>
              <a:spcAft>
                <a:spcPts val="0"/>
              </a:spcAft>
              <a:buFont typeface="Arial" panose="020B0604020202020204" pitchFamily="34" charset="0"/>
              <a:buChar char="•"/>
              <a:defRPr/>
            </a:pPr>
            <a:r>
              <a:rPr lang="zh-CN" altLang="en-US" sz="2400" b="1" dirty="0">
                <a:latin typeface="Times New Roman" panose="02020603050405020304" pitchFamily="18" charset="0"/>
                <a:ea typeface="+mj-ea"/>
                <a:cs typeface="Times New Roman" panose="02020603050405020304" pitchFamily="18" charset="0"/>
              </a:rPr>
              <a:t> 前面解决控制相关的静态策略</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lnSpc>
                <a:spcPct val="15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需要编译器将一条或多条指令移动到流水线产生的分支延迟槽中</a:t>
            </a:r>
            <a:endParaRPr lang="en-US" altLang="zh-CN" sz="2400" b="1" dirty="0">
              <a:latin typeface="Times New Roman" panose="02020603050405020304" pitchFamily="18" charset="0"/>
              <a:ea typeface="+mj-ea"/>
              <a:cs typeface="Times New Roman" panose="02020603050405020304" pitchFamily="18" charset="0"/>
            </a:endParaRPr>
          </a:p>
          <a:p>
            <a:pPr eaLnBrk="1" fontAlgn="auto" hangingPunct="1">
              <a:lnSpc>
                <a:spcPct val="15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关于分支预测策略的两部分工作</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lnSpc>
                <a:spcPct val="15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预测的分支是否成功</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lnSpc>
                <a:spcPct val="15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执行分支目标指令</a:t>
            </a:r>
            <a:endParaRPr lang="en-US" altLang="zh-CN" sz="2400" b="1" dirty="0">
              <a:latin typeface="Times New Roman" panose="02020603050405020304" pitchFamily="18" charset="0"/>
              <a:ea typeface="+mj-ea"/>
              <a:cs typeface="Times New Roman" panose="02020603050405020304" pitchFamily="18" charset="0"/>
            </a:endParaRPr>
          </a:p>
        </p:txBody>
      </p:sp>
      <p:sp>
        <p:nvSpPr>
          <p:cNvPr id="2" name="日期占位符 1">
            <a:extLst>
              <a:ext uri="{FF2B5EF4-FFF2-40B4-BE49-F238E27FC236}">
                <a16:creationId xmlns:a16="http://schemas.microsoft.com/office/drawing/2014/main" id="{8E904405-71CF-C74E-6392-9AFB735493D8}"/>
              </a:ext>
            </a:extLst>
          </p:cNvPr>
          <p:cNvSpPr>
            <a:spLocks noGrp="1"/>
          </p:cNvSpPr>
          <p:nvPr>
            <p:ph type="dt" sz="half" idx="10"/>
          </p:nvPr>
        </p:nvSpPr>
        <p:spPr/>
        <p:txBody>
          <a:bodyPr/>
          <a:lstStyle/>
          <a:p>
            <a:pPr>
              <a:defRPr/>
            </a:pPr>
            <a:fld id="{568CDC47-B7A1-47A7-BE62-40240B13DCCA}"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CC7D903E-9A6D-C4AD-C647-75F1862D6A8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53ADEBA5-DE95-0447-7489-74DDD21A425F}"/>
              </a:ext>
            </a:extLst>
          </p:cNvPr>
          <p:cNvSpPr>
            <a:spLocks noGrp="1"/>
          </p:cNvSpPr>
          <p:nvPr>
            <p:ph type="sldNum" sz="quarter" idx="12"/>
          </p:nvPr>
        </p:nvSpPr>
        <p:spPr/>
        <p:txBody>
          <a:bodyPr/>
          <a:lstStyle/>
          <a:p>
            <a:pPr>
              <a:defRPr/>
            </a:pPr>
            <a:fld id="{A5AE633C-541A-4E3F-A22A-3C4C63E8EF5F}" type="slidenum">
              <a:rPr lang="zh-CN" altLang="en-US" smtClean="0"/>
              <a:t>4</a:t>
            </a:fld>
            <a:endParaRPr lang="en-US" altLang="zh-CN"/>
          </a:p>
        </p:txBody>
      </p:sp>
    </p:spTree>
    <p:extLst>
      <p:ext uri="{BB962C8B-B14F-4D97-AF65-F5344CB8AC3E}">
        <p14:creationId xmlns:p14="http://schemas.microsoft.com/office/powerpoint/2010/main" val="569905340"/>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
          <p:cNvSpPr>
            <a:spLocks noGrp="1" noChangeArrowheads="1"/>
          </p:cNvSpPr>
          <p:nvPr>
            <p:ph type="title" idx="4294967295"/>
          </p:nvPr>
        </p:nvSpPr>
        <p:spPr/>
        <p:txBody>
          <a:bodyPr/>
          <a:lstStyle/>
          <a:p>
            <a:pPr eaLnBrk="1" hangingPunct="1">
              <a:defRPr/>
            </a:pPr>
            <a:r>
              <a:rPr lang="zh-CN" altLang="en-US" sz="3600" b="1" dirty="0">
                <a:latin typeface="+mj-ea"/>
              </a:rPr>
              <a:t>分支预测的效果</a:t>
            </a:r>
          </a:p>
        </p:txBody>
      </p:sp>
      <p:sp>
        <p:nvSpPr>
          <p:cNvPr id="6147" name="Rectangle 11"/>
          <p:cNvSpPr>
            <a:spLocks noGrp="1" noChangeArrowheads="1"/>
          </p:cNvSpPr>
          <p:nvPr>
            <p:ph type="body" idx="4294967295"/>
          </p:nvPr>
        </p:nvSpPr>
        <p:spPr/>
        <p:txBody>
          <a:bodyPr/>
          <a:lstStyle/>
          <a:p>
            <a:pPr eaLnBrk="1" hangingPunct="1">
              <a:lnSpc>
                <a:spcPct val="150000"/>
              </a:lnSpc>
              <a:buFont typeface="Arial" charset="0"/>
              <a:buChar char="•"/>
              <a:defRPr/>
            </a:pPr>
            <a:r>
              <a:rPr lang="zh-CN" altLang="en-US" sz="2400" b="1" dirty="0">
                <a:latin typeface="+mj-ea"/>
                <a:ea typeface="+mj-ea"/>
              </a:rPr>
              <a:t>预测的准确率</a:t>
            </a:r>
            <a:endParaRPr lang="en-US" altLang="zh-CN" sz="2400" b="1" dirty="0">
              <a:latin typeface="+mj-ea"/>
              <a:ea typeface="+mj-ea"/>
            </a:endParaRPr>
          </a:p>
          <a:p>
            <a:pPr eaLnBrk="1" hangingPunct="1">
              <a:lnSpc>
                <a:spcPct val="150000"/>
              </a:lnSpc>
              <a:buFont typeface="Arial" charset="0"/>
              <a:buChar char="•"/>
              <a:defRPr/>
            </a:pPr>
            <a:r>
              <a:rPr lang="zh-CN" altLang="en-US" sz="2400" b="1" dirty="0">
                <a:latin typeface="+mj-ea"/>
                <a:ea typeface="+mj-ea"/>
              </a:rPr>
              <a:t>分支的开销</a:t>
            </a:r>
            <a:endParaRPr lang="en-US" altLang="zh-CN" sz="2400" b="1" dirty="0">
              <a:latin typeface="+mj-ea"/>
              <a:ea typeface="+mj-ea"/>
            </a:endParaRPr>
          </a:p>
          <a:p>
            <a:pPr lvl="1" eaLnBrk="1" hangingPunct="1">
              <a:lnSpc>
                <a:spcPct val="150000"/>
              </a:lnSpc>
              <a:buFont typeface="Arial" charset="0"/>
              <a:buChar char="–"/>
              <a:defRPr/>
            </a:pPr>
            <a:r>
              <a:rPr lang="zh-CN" altLang="en-US" sz="2400" b="1" dirty="0">
                <a:latin typeface="+mj-ea"/>
                <a:ea typeface="+mj-ea"/>
              </a:rPr>
              <a:t>预测正确的开销</a:t>
            </a:r>
            <a:endParaRPr lang="en-US" altLang="zh-CN" sz="2400" b="1" dirty="0">
              <a:latin typeface="+mj-ea"/>
              <a:ea typeface="+mj-ea"/>
            </a:endParaRPr>
          </a:p>
          <a:p>
            <a:pPr lvl="1" eaLnBrk="1" hangingPunct="1">
              <a:lnSpc>
                <a:spcPct val="150000"/>
              </a:lnSpc>
              <a:buFont typeface="Arial" charset="0"/>
              <a:buChar char="–"/>
              <a:defRPr/>
            </a:pPr>
            <a:r>
              <a:rPr lang="zh-CN" altLang="en-US" sz="2400" b="1" dirty="0">
                <a:latin typeface="+mj-ea"/>
                <a:ea typeface="+mj-ea"/>
              </a:rPr>
              <a:t>预测错误的开销</a:t>
            </a:r>
            <a:endParaRPr lang="en-US" altLang="zh-CN" sz="2400" b="1" dirty="0">
              <a:latin typeface="+mj-ea"/>
              <a:ea typeface="+mj-ea"/>
            </a:endParaRPr>
          </a:p>
          <a:p>
            <a:pPr lvl="1" eaLnBrk="1" hangingPunct="1">
              <a:lnSpc>
                <a:spcPct val="150000"/>
              </a:lnSpc>
              <a:buFont typeface="Arial" charset="0"/>
              <a:buChar char="–"/>
              <a:defRPr/>
            </a:pPr>
            <a:r>
              <a:rPr lang="zh-CN" altLang="en-US" sz="2400" b="1" dirty="0">
                <a:latin typeface="+mj-ea"/>
                <a:ea typeface="+mj-ea"/>
              </a:rPr>
              <a:t>决定分支开销的因素：流水线的结构、预测的方法、预测错误时的恢复策略等</a:t>
            </a:r>
          </a:p>
          <a:p>
            <a:pPr lvl="1" eaLnBrk="1" hangingPunct="1">
              <a:buFont typeface="Arial" charset="0"/>
              <a:buChar char="–"/>
              <a:defRPr/>
            </a:pPr>
            <a:endParaRPr lang="zh-CN" altLang="en-US" sz="2400" b="1" dirty="0">
              <a:latin typeface="+mj-ea"/>
              <a:ea typeface="+mj-ea"/>
            </a:endParaRPr>
          </a:p>
        </p:txBody>
      </p:sp>
      <p:sp>
        <p:nvSpPr>
          <p:cNvPr id="2" name="日期占位符 1">
            <a:extLst>
              <a:ext uri="{FF2B5EF4-FFF2-40B4-BE49-F238E27FC236}">
                <a16:creationId xmlns:a16="http://schemas.microsoft.com/office/drawing/2014/main" id="{94AD9F76-CE1D-CC80-ED0E-01C9892835A7}"/>
              </a:ext>
            </a:extLst>
          </p:cNvPr>
          <p:cNvSpPr>
            <a:spLocks noGrp="1"/>
          </p:cNvSpPr>
          <p:nvPr>
            <p:ph type="dt" sz="half" idx="10"/>
          </p:nvPr>
        </p:nvSpPr>
        <p:spPr/>
        <p:txBody>
          <a:bodyPr/>
          <a:lstStyle/>
          <a:p>
            <a:pPr>
              <a:defRPr/>
            </a:pPr>
            <a:fld id="{0C6794BF-36B9-4B95-BAB9-296A2849C8DA}"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52741830-08E8-37F5-34A7-731354D2365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EFF6974-D471-AEEF-A81B-276A0DD559BC}"/>
              </a:ext>
            </a:extLst>
          </p:cNvPr>
          <p:cNvSpPr>
            <a:spLocks noGrp="1"/>
          </p:cNvSpPr>
          <p:nvPr>
            <p:ph type="sldNum" sz="quarter" idx="12"/>
          </p:nvPr>
        </p:nvSpPr>
        <p:spPr/>
        <p:txBody>
          <a:bodyPr/>
          <a:lstStyle/>
          <a:p>
            <a:pPr>
              <a:defRPr/>
            </a:pPr>
            <a:fld id="{A5AE633C-541A-4E3F-A22A-3C4C63E8EF5F}" type="slidenum">
              <a:rPr lang="zh-CN" altLang="en-US" smtClean="0"/>
              <a:t>5</a:t>
            </a:fld>
            <a:endParaRPr lang="en-US" altLang="zh-CN"/>
          </a:p>
        </p:txBody>
      </p:sp>
    </p:spTree>
    <p:extLst>
      <p:ext uri="{BB962C8B-B14F-4D97-AF65-F5344CB8AC3E}">
        <p14:creationId xmlns:p14="http://schemas.microsoft.com/office/powerpoint/2010/main" val="2903131788"/>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2"/>
          <p:cNvSpPr>
            <a:spLocks noGrp="1" noChangeArrowheads="1"/>
          </p:cNvSpPr>
          <p:nvPr>
            <p:ph type="title" idx="4294967295"/>
          </p:nvPr>
        </p:nvSpPr>
        <p:spPr/>
        <p:txBody>
          <a:bodyPr/>
          <a:lstStyle/>
          <a:p>
            <a:pPr eaLnBrk="1" hangingPunct="1">
              <a:defRPr/>
            </a:pPr>
            <a:r>
              <a:rPr lang="zh-CN" altLang="en-US" sz="3600" b="1" dirty="0">
                <a:latin typeface="Times New Roman" panose="02020603050405020304" pitchFamily="18" charset="0"/>
                <a:cs typeface="Times New Roman" panose="02020603050405020304" pitchFamily="18" charset="0"/>
              </a:rPr>
              <a:t>分支预测缓冲</a:t>
            </a:r>
            <a:r>
              <a:rPr lang="en-US" altLang="zh-CN" sz="3600" b="1" dirty="0">
                <a:latin typeface="Times New Roman" panose="02020603050405020304" pitchFamily="18" charset="0"/>
                <a:cs typeface="Times New Roman" panose="02020603050405020304" pitchFamily="18" charset="0"/>
              </a:rPr>
              <a:t>(BPB): </a:t>
            </a:r>
            <a:r>
              <a:rPr lang="zh-CN" altLang="en-US" sz="3600" b="1" dirty="0">
                <a:latin typeface="Times New Roman" panose="02020603050405020304" pitchFamily="18" charset="0"/>
                <a:cs typeface="Times New Roman" panose="02020603050405020304" pitchFamily="18" charset="0"/>
              </a:rPr>
              <a:t>原理</a:t>
            </a:r>
          </a:p>
        </p:txBody>
      </p:sp>
      <p:sp>
        <p:nvSpPr>
          <p:cNvPr id="123917" name="Rectangle 13"/>
          <p:cNvSpPr>
            <a:spLocks noGrp="1" noChangeArrowheads="1"/>
          </p:cNvSpPr>
          <p:nvPr>
            <p:ph type="body" idx="4294967295"/>
          </p:nvPr>
        </p:nvSpPr>
        <p:spPr>
          <a:xfrm>
            <a:off x="457200" y="1268760"/>
            <a:ext cx="7859216" cy="4824536"/>
          </a:xfrm>
        </p:spPr>
        <p:txBody>
          <a:bodyPr rtlCol="0">
            <a:normAutofit fontScale="92500" lnSpcReduction="10000"/>
          </a:bodyPr>
          <a:lstStyle/>
          <a:p>
            <a:pPr eaLnBrk="1" fontAlgn="auto" hangingPunct="1">
              <a:lnSpc>
                <a:spcPct val="15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最简单的分支预测策略</a:t>
            </a:r>
            <a:endParaRPr lang="en-US" altLang="zh-CN" sz="2400" b="1" dirty="0">
              <a:latin typeface="Times New Roman" panose="02020603050405020304" pitchFamily="18" charset="0"/>
              <a:ea typeface="+mj-ea"/>
              <a:cs typeface="Times New Roman" panose="02020603050405020304" pitchFamily="18" charset="0"/>
            </a:endParaRPr>
          </a:p>
          <a:p>
            <a:pPr eaLnBrk="1" fontAlgn="auto" hangingPunct="1">
              <a:lnSpc>
                <a:spcPct val="150000"/>
              </a:lnSpc>
              <a:spcAft>
                <a:spcPts val="0"/>
              </a:spcAft>
              <a:defRPr/>
            </a:pPr>
            <a:r>
              <a:rPr lang="en-US" altLang="zh-CN" sz="2400" b="1" dirty="0">
                <a:latin typeface="Times New Roman" panose="02020603050405020304" pitchFamily="18" charset="0"/>
                <a:cs typeface="Times New Roman" panose="02020603050405020304" pitchFamily="18" charset="0"/>
              </a:rPr>
              <a:t>BPB</a:t>
            </a:r>
            <a:r>
              <a:rPr lang="zh-CN" altLang="en-US" sz="2400" b="1" dirty="0">
                <a:latin typeface="Times New Roman" panose="02020603050405020304" pitchFamily="18" charset="0"/>
                <a:cs typeface="Times New Roman" panose="02020603050405020304" pitchFamily="18" charset="0"/>
              </a:rPr>
              <a:t>也被称为</a:t>
            </a:r>
            <a:r>
              <a:rPr lang="en-US" altLang="zh-CN" sz="2400" b="1" dirty="0">
                <a:latin typeface="Times New Roman" panose="02020603050405020304" pitchFamily="18" charset="0"/>
                <a:cs typeface="Times New Roman" panose="02020603050405020304" pitchFamily="18" charset="0"/>
              </a:rPr>
              <a:t>BHT</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Branch History Table</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BHT</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ea typeface="+mj-ea"/>
              <a:cs typeface="Times New Roman" panose="02020603050405020304" pitchFamily="18" charset="0"/>
            </a:endParaRPr>
          </a:p>
          <a:p>
            <a:pPr eaLnBrk="1" fontAlgn="auto" hangingPunct="1">
              <a:lnSpc>
                <a:spcPct val="15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分支预测缓冲是一个小的存储器阵列</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lnSpc>
                <a:spcPct val="15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每个单元最小可以只有</a:t>
            </a:r>
            <a:r>
              <a:rPr lang="en-US" altLang="zh-CN" sz="2400" b="1" dirty="0">
                <a:latin typeface="Times New Roman" panose="02020603050405020304" pitchFamily="18" charset="0"/>
                <a:ea typeface="+mj-ea"/>
                <a:cs typeface="Times New Roman" panose="02020603050405020304" pitchFamily="18" charset="0"/>
              </a:rPr>
              <a:t>1</a:t>
            </a:r>
            <a:r>
              <a:rPr lang="zh-CN" altLang="en-US" sz="2400" b="1" dirty="0">
                <a:latin typeface="Times New Roman" panose="02020603050405020304" pitchFamily="18" charset="0"/>
                <a:ea typeface="+mj-ea"/>
                <a:cs typeface="Times New Roman" panose="02020603050405020304" pitchFamily="18" charset="0"/>
              </a:rPr>
              <a:t>位，记录最近一次分支是否成功的信息</a:t>
            </a:r>
          </a:p>
          <a:p>
            <a:pPr lvl="1" eaLnBrk="1" fontAlgn="auto" hangingPunct="1">
              <a:lnSpc>
                <a:spcPct val="15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预测位为</a:t>
            </a:r>
            <a:r>
              <a:rPr lang="en-US" altLang="zh-CN" sz="2400" b="1" dirty="0">
                <a:latin typeface="Times New Roman" panose="02020603050405020304" pitchFamily="18" charset="0"/>
                <a:ea typeface="+mj-ea"/>
                <a:cs typeface="Times New Roman" panose="02020603050405020304" pitchFamily="18" charset="0"/>
              </a:rPr>
              <a:t>1</a:t>
            </a:r>
            <a:r>
              <a:rPr lang="zh-CN" altLang="en-US" sz="2400" b="1" dirty="0">
                <a:latin typeface="Times New Roman" panose="02020603050405020304" pitchFamily="18" charset="0"/>
                <a:ea typeface="+mj-ea"/>
                <a:cs typeface="Times New Roman" panose="02020603050405020304" pitchFamily="18" charset="0"/>
              </a:rPr>
              <a:t>时，表示预测分支成功，并从目标位置开始取指令</a:t>
            </a:r>
          </a:p>
          <a:p>
            <a:pPr lvl="1" eaLnBrk="1" fontAlgn="auto" hangingPunct="1">
              <a:lnSpc>
                <a:spcPct val="15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在预测错误时，要作废已经预取和分析的指令，恢复现场，并从另一条分支路径重新取指令。</a:t>
            </a:r>
          </a:p>
          <a:p>
            <a:pPr lvl="1" eaLnBrk="1" fontAlgn="auto" hangingPunct="1">
              <a:spcAft>
                <a:spcPts val="0"/>
              </a:spcAft>
              <a:defRPr/>
            </a:pPr>
            <a:endParaRPr lang="en-US" altLang="zh-CN" sz="2400" b="1" dirty="0">
              <a:latin typeface="Times New Roman" panose="02020603050405020304" pitchFamily="18" charset="0"/>
              <a:ea typeface="+mj-ea"/>
              <a:cs typeface="Times New Roman" panose="02020603050405020304" pitchFamily="18" charset="0"/>
            </a:endParaRPr>
          </a:p>
        </p:txBody>
      </p:sp>
      <p:sp>
        <p:nvSpPr>
          <p:cNvPr id="2" name="日期占位符 1">
            <a:extLst>
              <a:ext uri="{FF2B5EF4-FFF2-40B4-BE49-F238E27FC236}">
                <a16:creationId xmlns:a16="http://schemas.microsoft.com/office/drawing/2014/main" id="{CEC1178F-4E6D-6CA0-6FDA-A27777F29E48}"/>
              </a:ext>
            </a:extLst>
          </p:cNvPr>
          <p:cNvSpPr>
            <a:spLocks noGrp="1"/>
          </p:cNvSpPr>
          <p:nvPr>
            <p:ph type="dt" sz="half" idx="10"/>
          </p:nvPr>
        </p:nvSpPr>
        <p:spPr/>
        <p:txBody>
          <a:bodyPr/>
          <a:lstStyle/>
          <a:p>
            <a:pPr>
              <a:defRPr/>
            </a:pPr>
            <a:fld id="{D6D4B2CB-03A5-42C6-86D7-28C67B13D1F6}"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CC916FF9-6C65-9E2A-9201-1DF126730922}"/>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797CA9E0-2AA4-675F-759B-3BC035670B27}"/>
              </a:ext>
            </a:extLst>
          </p:cNvPr>
          <p:cNvSpPr>
            <a:spLocks noGrp="1"/>
          </p:cNvSpPr>
          <p:nvPr>
            <p:ph type="sldNum" sz="quarter" idx="12"/>
          </p:nvPr>
        </p:nvSpPr>
        <p:spPr/>
        <p:txBody>
          <a:bodyPr/>
          <a:lstStyle/>
          <a:p>
            <a:pPr>
              <a:defRPr/>
            </a:pPr>
            <a:fld id="{A5AE633C-541A-4E3F-A22A-3C4C63E8EF5F}" type="slidenum">
              <a:rPr lang="zh-CN" altLang="en-US" smtClean="0"/>
              <a:t>6</a:t>
            </a:fld>
            <a:endParaRPr lang="en-US" altLang="zh-CN"/>
          </a:p>
        </p:txBody>
      </p:sp>
    </p:spTree>
    <p:extLst>
      <p:ext uri="{BB962C8B-B14F-4D97-AF65-F5344CB8AC3E}">
        <p14:creationId xmlns:p14="http://schemas.microsoft.com/office/powerpoint/2010/main" val="3111063294"/>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627"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2218853"/>
            <a:ext cx="5791200" cy="31543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Rectangle 12"/>
          <p:cNvSpPr>
            <a:spLocks noGrp="1" noChangeArrowheads="1"/>
          </p:cNvSpPr>
          <p:nvPr>
            <p:ph type="title" idx="4294967295"/>
          </p:nvPr>
        </p:nvSpPr>
        <p:spPr>
          <a:xfrm>
            <a:off x="323528" y="260648"/>
            <a:ext cx="8229600" cy="1143000"/>
          </a:xfrm>
        </p:spPr>
        <p:txBody>
          <a:bodyPr/>
          <a:lstStyle/>
          <a:p>
            <a:pPr eaLnBrk="1" hangingPunct="1">
              <a:defRPr/>
            </a:pPr>
            <a:r>
              <a:rPr lang="zh-CN" altLang="en-US" sz="3600" b="1" dirty="0">
                <a:latin typeface="Times New Roman" panose="02020603050405020304" pitchFamily="18" charset="0"/>
                <a:cs typeface="Times New Roman" panose="02020603050405020304" pitchFamily="18" charset="0"/>
              </a:rPr>
              <a:t>分支预测执行不成功和重新执行过程</a:t>
            </a:r>
          </a:p>
        </p:txBody>
      </p:sp>
      <p:sp>
        <p:nvSpPr>
          <p:cNvPr id="2" name="日期占位符 1">
            <a:extLst>
              <a:ext uri="{FF2B5EF4-FFF2-40B4-BE49-F238E27FC236}">
                <a16:creationId xmlns:a16="http://schemas.microsoft.com/office/drawing/2014/main" id="{CB9B8085-A630-07EA-509E-02A6ABD04647}"/>
              </a:ext>
            </a:extLst>
          </p:cNvPr>
          <p:cNvSpPr>
            <a:spLocks noGrp="1"/>
          </p:cNvSpPr>
          <p:nvPr>
            <p:ph type="dt" sz="half" idx="10"/>
          </p:nvPr>
        </p:nvSpPr>
        <p:spPr/>
        <p:txBody>
          <a:bodyPr/>
          <a:lstStyle/>
          <a:p>
            <a:pPr>
              <a:defRPr/>
            </a:pPr>
            <a:fld id="{BE5E89DB-8BB4-48E6-A9F2-FCD1F3B826D2}"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871FECEA-AB9E-8AA4-63B1-3B1FFF5E032B}"/>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FB53D0E8-20B3-3205-B16F-D6AFA347C3ED}"/>
              </a:ext>
            </a:extLst>
          </p:cNvPr>
          <p:cNvSpPr>
            <a:spLocks noGrp="1"/>
          </p:cNvSpPr>
          <p:nvPr>
            <p:ph type="sldNum" sz="quarter" idx="12"/>
          </p:nvPr>
        </p:nvSpPr>
        <p:spPr/>
        <p:txBody>
          <a:bodyPr/>
          <a:lstStyle/>
          <a:p>
            <a:pPr>
              <a:defRPr/>
            </a:pPr>
            <a:fld id="{8BCAC33D-D29A-48B3-BCD6-381D3D720D26}" type="slidenum">
              <a:rPr lang="zh-CN" altLang="en-US" smtClean="0"/>
              <a:t>7</a:t>
            </a:fld>
            <a:endParaRPr lang="en-US" altLang="zh-CN"/>
          </a:p>
        </p:txBody>
      </p:sp>
    </p:spTree>
    <p:extLst>
      <p:ext uri="{BB962C8B-B14F-4D97-AF65-F5344CB8AC3E}">
        <p14:creationId xmlns:p14="http://schemas.microsoft.com/office/powerpoint/2010/main" val="2334763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2"/>
          <p:cNvSpPr>
            <a:spLocks noGrp="1" noChangeArrowheads="1"/>
          </p:cNvSpPr>
          <p:nvPr>
            <p:ph type="title" idx="4294967295"/>
          </p:nvPr>
        </p:nvSpPr>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1</a:t>
            </a:r>
            <a:r>
              <a:rPr lang="zh-CN" altLang="en-US" sz="3600" b="1" dirty="0">
                <a:latin typeface="Times New Roman" panose="02020603050405020304" pitchFamily="18" charset="0"/>
                <a:cs typeface="Times New Roman" panose="02020603050405020304" pitchFamily="18" charset="0"/>
              </a:rPr>
              <a:t>位</a:t>
            </a:r>
            <a:r>
              <a:rPr lang="en-US" altLang="zh-CN" sz="3600" b="1" dirty="0">
                <a:latin typeface="Times New Roman" panose="02020603050405020304" pitchFamily="18" charset="0"/>
                <a:cs typeface="Times New Roman" panose="02020603050405020304" pitchFamily="18" charset="0"/>
              </a:rPr>
              <a:t>BPB</a:t>
            </a:r>
            <a:r>
              <a:rPr lang="zh-CN" altLang="en-US" sz="3600" b="1" dirty="0">
                <a:latin typeface="Times New Roman" panose="02020603050405020304" pitchFamily="18" charset="0"/>
                <a:cs typeface="Times New Roman" panose="02020603050405020304" pitchFamily="18" charset="0"/>
              </a:rPr>
              <a:t>状态图</a:t>
            </a:r>
          </a:p>
        </p:txBody>
      </p:sp>
      <p:sp>
        <p:nvSpPr>
          <p:cNvPr id="8195" name="Rectangle 14"/>
          <p:cNvSpPr>
            <a:spLocks noGrp="1" noChangeArrowheads="1"/>
          </p:cNvSpPr>
          <p:nvPr>
            <p:ph type="body" sz="half" idx="4294967295"/>
          </p:nvPr>
        </p:nvSpPr>
        <p:spPr>
          <a:xfrm>
            <a:off x="468313" y="3792538"/>
            <a:ext cx="8207375" cy="2589212"/>
          </a:xfrm>
        </p:spPr>
        <p:txBody>
          <a:bodyPr/>
          <a:lstStyle/>
          <a:p>
            <a:pPr eaLnBrk="1" hangingPunct="1">
              <a:buFont typeface="Arial" charset="0"/>
              <a:buChar char="•"/>
              <a:defRPr/>
            </a:pPr>
            <a:r>
              <a:rPr lang="zh-CN" altLang="en-US" sz="2400" b="1" dirty="0">
                <a:latin typeface="+mj-ea"/>
                <a:ea typeface="+mj-ea"/>
              </a:rPr>
              <a:t>这种单位预测策略</a:t>
            </a:r>
            <a:r>
              <a:rPr lang="en-US" altLang="zh-CN" sz="2400" b="1" dirty="0">
                <a:latin typeface="+mj-ea"/>
                <a:ea typeface="+mj-ea"/>
              </a:rPr>
              <a:t>:</a:t>
            </a:r>
          </a:p>
          <a:p>
            <a:pPr lvl="1" eaLnBrk="1" hangingPunct="1">
              <a:buFont typeface="Arial" charset="0"/>
              <a:buChar char="–"/>
              <a:defRPr/>
            </a:pPr>
            <a:r>
              <a:rPr lang="zh-CN" altLang="en-US" sz="2400" b="1" dirty="0">
                <a:latin typeface="+mj-ea"/>
                <a:ea typeface="+mj-ea"/>
              </a:rPr>
              <a:t>当分支不成功时，可能会发生连续两次预测出错</a:t>
            </a:r>
            <a:endParaRPr lang="en-US" altLang="zh-CN" sz="2400" b="1" dirty="0">
              <a:latin typeface="+mj-ea"/>
              <a:ea typeface="+mj-ea"/>
            </a:endParaRPr>
          </a:p>
          <a:p>
            <a:pPr lvl="1" eaLnBrk="1" hangingPunct="1">
              <a:buFont typeface="Arial" charset="0"/>
              <a:buChar char="–"/>
              <a:defRPr/>
            </a:pPr>
            <a:r>
              <a:rPr lang="en-US" altLang="zh-CN" sz="2400" b="1" dirty="0">
                <a:latin typeface="+mj-ea"/>
                <a:ea typeface="+mj-ea"/>
              </a:rPr>
              <a:t>2</a:t>
            </a:r>
            <a:r>
              <a:rPr lang="zh-CN" altLang="en-US" sz="2400" b="1" dirty="0">
                <a:latin typeface="+mj-ea"/>
                <a:ea typeface="+mj-ea"/>
              </a:rPr>
              <a:t>位预测策略能够改善这种情况</a:t>
            </a:r>
            <a:endParaRPr lang="en-US" altLang="zh-CN" sz="2400" b="1" dirty="0">
              <a:latin typeface="+mj-ea"/>
              <a:ea typeface="+mj-ea"/>
            </a:endParaRPr>
          </a:p>
        </p:txBody>
      </p:sp>
      <p:sp>
        <p:nvSpPr>
          <p:cNvPr id="9220" name="Rectangle 15"/>
          <p:cNvSpPr>
            <a:spLocks noChangeArrowheads="1"/>
          </p:cNvSpPr>
          <p:nvPr/>
        </p:nvSpPr>
        <p:spPr bwMode="auto">
          <a:xfrm>
            <a:off x="0" y="4445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txBody>
          <a:bodyPr wrap="none" anchor="ctr">
            <a:spAutoFit/>
          </a:bodyPr>
          <a:lstStyle/>
          <a:p>
            <a:endParaRPr lang="zh-CN" altLang="en-US"/>
          </a:p>
        </p:txBody>
      </p:sp>
      <p:sp>
        <p:nvSpPr>
          <p:cNvPr id="9221" name="Rectangle 22"/>
          <p:cNvSpPr>
            <a:spLocks noChangeArrowheads="1"/>
          </p:cNvSpPr>
          <p:nvPr/>
        </p:nvSpPr>
        <p:spPr bwMode="auto">
          <a:xfrm>
            <a:off x="0" y="274638"/>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txBody>
          <a:bodyPr wrap="none" anchor="ctr">
            <a:spAutoFit/>
          </a:bodyPr>
          <a:lstStyle/>
          <a:p>
            <a:pPr eaLnBrk="0" hangingPunct="0"/>
            <a:endParaRPr lang="zh-CN" altLang="zh-CN"/>
          </a:p>
        </p:txBody>
      </p:sp>
      <p:pic>
        <p:nvPicPr>
          <p:cNvPr id="9222" name="Picture 27"/>
          <p:cNvPicPr>
            <a:picLocks noGrp="1" noChangeAspect="1" noChangeArrowheads="1"/>
          </p:cNvPicPr>
          <p:nvPr>
            <p:ph sz="half" idx="4294967295"/>
          </p:nvPr>
        </p:nvPicPr>
        <p:blipFill>
          <a:blip r:embed="rId2" cstate="print">
            <a:extLst>
              <a:ext uri="{28A0092B-C50C-407E-A947-70E740481C1C}">
                <a14:useLocalDpi xmlns:a14="http://schemas.microsoft.com/office/drawing/2010/main" val="0"/>
              </a:ext>
            </a:extLst>
          </a:blip>
          <a:srcRect/>
          <a:stretch>
            <a:fillRect/>
          </a:stretch>
        </p:blipFill>
        <p:spPr bwMode="hidden">
          <a:xfrm>
            <a:off x="968375" y="1265238"/>
            <a:ext cx="7204075" cy="2159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日期占位符 1">
            <a:extLst>
              <a:ext uri="{FF2B5EF4-FFF2-40B4-BE49-F238E27FC236}">
                <a16:creationId xmlns:a16="http://schemas.microsoft.com/office/drawing/2014/main" id="{73DECE39-6AFC-0ADD-76E2-DE5C8141A9B2}"/>
              </a:ext>
            </a:extLst>
          </p:cNvPr>
          <p:cNvSpPr>
            <a:spLocks noGrp="1"/>
          </p:cNvSpPr>
          <p:nvPr>
            <p:ph type="dt" sz="half" idx="10"/>
          </p:nvPr>
        </p:nvSpPr>
        <p:spPr/>
        <p:txBody>
          <a:bodyPr/>
          <a:lstStyle/>
          <a:p>
            <a:pPr>
              <a:defRPr/>
            </a:pPr>
            <a:fld id="{642FFFF6-A4B8-4296-8EE3-2448B69E11BA}"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91BB9BB6-36C8-1FB8-3DA1-FF307CA87840}"/>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0B02CEB4-2F32-29CF-B271-FFBD44423572}"/>
              </a:ext>
            </a:extLst>
          </p:cNvPr>
          <p:cNvSpPr>
            <a:spLocks noGrp="1"/>
          </p:cNvSpPr>
          <p:nvPr>
            <p:ph type="sldNum" sz="quarter" idx="12"/>
          </p:nvPr>
        </p:nvSpPr>
        <p:spPr/>
        <p:txBody>
          <a:bodyPr/>
          <a:lstStyle/>
          <a:p>
            <a:pPr>
              <a:defRPr/>
            </a:pPr>
            <a:fld id="{A5AE633C-541A-4E3F-A22A-3C4C63E8EF5F}" type="slidenum">
              <a:rPr lang="zh-CN" altLang="en-US" smtClean="0"/>
              <a:t>8</a:t>
            </a:fld>
            <a:endParaRPr lang="en-US" altLang="zh-CN"/>
          </a:p>
        </p:txBody>
      </p:sp>
    </p:spTree>
    <p:extLst>
      <p:ext uri="{BB962C8B-B14F-4D97-AF65-F5344CB8AC3E}">
        <p14:creationId xmlns:p14="http://schemas.microsoft.com/office/powerpoint/2010/main" val="2360517864"/>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8"/>
          <p:cNvSpPr>
            <a:spLocks noGrp="1" noChangeArrowheads="1"/>
          </p:cNvSpPr>
          <p:nvPr>
            <p:ph type="title" idx="4294967295"/>
          </p:nvPr>
        </p:nvSpPr>
        <p:spPr>
          <a:xfrm>
            <a:off x="395288" y="260350"/>
            <a:ext cx="8229600" cy="1143000"/>
          </a:xfrm>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2</a:t>
            </a:r>
            <a:r>
              <a:rPr lang="zh-CN" altLang="en-US" sz="3600" b="1" dirty="0">
                <a:latin typeface="Times New Roman" panose="02020603050405020304" pitchFamily="18" charset="0"/>
                <a:cs typeface="Times New Roman" panose="02020603050405020304" pitchFamily="18" charset="0"/>
              </a:rPr>
              <a:t>位</a:t>
            </a:r>
            <a:r>
              <a:rPr lang="en-US" altLang="zh-CN" sz="3600" b="1" dirty="0">
                <a:latin typeface="Times New Roman" panose="02020603050405020304" pitchFamily="18" charset="0"/>
                <a:cs typeface="Times New Roman" panose="02020603050405020304" pitchFamily="18" charset="0"/>
              </a:rPr>
              <a:t>BPB</a:t>
            </a:r>
            <a:r>
              <a:rPr lang="zh-CN" altLang="en-US" sz="3600" b="1" dirty="0">
                <a:latin typeface="Times New Roman" panose="02020603050405020304" pitchFamily="18" charset="0"/>
                <a:cs typeface="Times New Roman" panose="02020603050405020304" pitchFamily="18" charset="0"/>
              </a:rPr>
              <a:t>工作原理</a:t>
            </a:r>
          </a:p>
        </p:txBody>
      </p:sp>
      <p:sp>
        <p:nvSpPr>
          <p:cNvPr id="9219" name="Rectangle 9"/>
          <p:cNvSpPr>
            <a:spLocks noGrp="1" noChangeArrowheads="1"/>
          </p:cNvSpPr>
          <p:nvPr>
            <p:ph type="body" idx="4294967295"/>
          </p:nvPr>
        </p:nvSpPr>
        <p:spPr/>
        <p:txBody>
          <a:bodyPr/>
          <a:lstStyle/>
          <a:p>
            <a:pPr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在</a:t>
            </a:r>
            <a:r>
              <a:rPr lang="en-US" altLang="zh-CN" sz="2400" b="1" dirty="0">
                <a:latin typeface="Times New Roman" panose="02020603050405020304" pitchFamily="18" charset="0"/>
                <a:ea typeface="+mj-ea"/>
                <a:cs typeface="Times New Roman" panose="02020603050405020304" pitchFamily="18" charset="0"/>
              </a:rPr>
              <a:t>2</a:t>
            </a:r>
            <a:r>
              <a:rPr lang="zh-CN" altLang="en-US" sz="2400" b="1" dirty="0">
                <a:latin typeface="Times New Roman" panose="02020603050405020304" pitchFamily="18" charset="0"/>
                <a:ea typeface="+mj-ea"/>
                <a:cs typeface="Times New Roman" panose="02020603050405020304" pitchFamily="18" charset="0"/>
              </a:rPr>
              <a:t>位预测策略中，一个预测必须错误两次才会改变。</a:t>
            </a:r>
            <a:endParaRPr lang="en-US" altLang="zh-CN" sz="2400" b="1" dirty="0">
              <a:latin typeface="Times New Roman" panose="02020603050405020304" pitchFamily="18" charset="0"/>
              <a:ea typeface="+mj-ea"/>
              <a:cs typeface="Times New Roman" panose="02020603050405020304" pitchFamily="18" charset="0"/>
            </a:endParaRPr>
          </a:p>
          <a:p>
            <a:pPr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对于一个</a:t>
            </a:r>
            <a:r>
              <a:rPr lang="en-US" altLang="zh-CN" sz="2400" b="1" dirty="0">
                <a:latin typeface="Times New Roman" panose="02020603050405020304" pitchFamily="18" charset="0"/>
                <a:ea typeface="+mj-ea"/>
                <a:cs typeface="Times New Roman" panose="02020603050405020304" pitchFamily="18" charset="0"/>
              </a:rPr>
              <a:t>4096</a:t>
            </a:r>
            <a:r>
              <a:rPr lang="zh-CN" altLang="en-US" sz="2400" b="1" dirty="0">
                <a:latin typeface="Times New Roman" panose="02020603050405020304" pitchFamily="18" charset="0"/>
                <a:ea typeface="+mj-ea"/>
                <a:cs typeface="Times New Roman" panose="02020603050405020304" pitchFamily="18" charset="0"/>
              </a:rPr>
              <a:t>条记录的</a:t>
            </a:r>
            <a:r>
              <a:rPr lang="en-US" altLang="zh-CN" sz="2400" b="1" dirty="0">
                <a:latin typeface="Times New Roman" panose="02020603050405020304" pitchFamily="18" charset="0"/>
                <a:ea typeface="+mj-ea"/>
                <a:cs typeface="Times New Roman" panose="02020603050405020304" pitchFamily="18" charset="0"/>
              </a:rPr>
              <a:t>BPB</a:t>
            </a:r>
            <a:r>
              <a:rPr lang="zh-CN" altLang="en-US" sz="2400" b="1" dirty="0">
                <a:latin typeface="Times New Roman" panose="02020603050405020304" pitchFamily="18" charset="0"/>
                <a:ea typeface="+mj-ea"/>
                <a:cs typeface="Times New Roman" panose="02020603050405020304" pitchFamily="18" charset="0"/>
              </a:rPr>
              <a:t>，利用</a:t>
            </a:r>
            <a:r>
              <a:rPr lang="en-US" altLang="zh-CN" sz="2400" b="1" dirty="0">
                <a:latin typeface="Times New Roman" panose="02020603050405020304" pitchFamily="18" charset="0"/>
                <a:ea typeface="+mj-ea"/>
                <a:cs typeface="Times New Roman" panose="02020603050405020304" pitchFamily="18" charset="0"/>
              </a:rPr>
              <a:t>2</a:t>
            </a:r>
            <a:r>
              <a:rPr lang="zh-CN" altLang="en-US" sz="2400" b="1" dirty="0">
                <a:latin typeface="Times New Roman" panose="02020603050405020304" pitchFamily="18" charset="0"/>
                <a:ea typeface="+mj-ea"/>
                <a:cs typeface="Times New Roman" panose="02020603050405020304" pitchFamily="18" charset="0"/>
              </a:rPr>
              <a:t>位预测策略，用</a:t>
            </a:r>
            <a:r>
              <a:rPr lang="en-US" altLang="zh-CN" sz="2400" b="1" dirty="0">
                <a:latin typeface="Times New Roman" panose="02020603050405020304" pitchFamily="18" charset="0"/>
                <a:ea typeface="+mj-ea"/>
                <a:cs typeface="Times New Roman" panose="02020603050405020304" pitchFamily="18" charset="0"/>
              </a:rPr>
              <a:t>SPEC89</a:t>
            </a:r>
            <a:r>
              <a:rPr lang="zh-CN" altLang="en-US" sz="2400" b="1" dirty="0">
                <a:latin typeface="Times New Roman" panose="02020603050405020304" pitchFamily="18" charset="0"/>
                <a:ea typeface="+mj-ea"/>
                <a:cs typeface="Times New Roman" panose="02020603050405020304" pitchFamily="18" charset="0"/>
              </a:rPr>
              <a:t>测试，命中率为</a:t>
            </a:r>
            <a:r>
              <a:rPr lang="en-US" altLang="zh-CN" sz="2400" b="1" dirty="0">
                <a:latin typeface="Times New Roman" panose="02020603050405020304" pitchFamily="18" charset="0"/>
                <a:ea typeface="+mj-ea"/>
                <a:cs typeface="Times New Roman" panose="02020603050405020304" pitchFamily="18" charset="0"/>
              </a:rPr>
              <a:t>82%</a:t>
            </a:r>
            <a:r>
              <a:rPr lang="zh-CN" altLang="en-US" sz="2400" b="1" dirty="0">
                <a:latin typeface="Times New Roman" panose="02020603050405020304" pitchFamily="18" charset="0"/>
                <a:ea typeface="+mj-ea"/>
                <a:cs typeface="Times New Roman" panose="02020603050405020304" pitchFamily="18" charset="0"/>
              </a:rPr>
              <a:t>到</a:t>
            </a:r>
            <a:r>
              <a:rPr lang="en-US" altLang="zh-CN" sz="2400" b="1" dirty="0">
                <a:latin typeface="Times New Roman" panose="02020603050405020304" pitchFamily="18" charset="0"/>
                <a:ea typeface="+mj-ea"/>
                <a:cs typeface="Times New Roman" panose="02020603050405020304" pitchFamily="18" charset="0"/>
              </a:rPr>
              <a:t>99%</a:t>
            </a:r>
          </a:p>
          <a:p>
            <a:pPr lvl="1"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准确率最高的测试程序一般包含大量循环</a:t>
            </a:r>
            <a:endParaRPr lang="en-US" altLang="zh-CN" sz="2400" b="1" dirty="0">
              <a:latin typeface="Times New Roman" panose="02020603050405020304" pitchFamily="18" charset="0"/>
              <a:ea typeface="+mj-ea"/>
              <a:cs typeface="Times New Roman" panose="02020603050405020304" pitchFamily="18" charset="0"/>
            </a:endParaRPr>
          </a:p>
          <a:p>
            <a:pPr lvl="1"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没有循环的线性代码一般准确率最差</a:t>
            </a:r>
          </a:p>
        </p:txBody>
      </p:sp>
      <p:sp>
        <p:nvSpPr>
          <p:cNvPr id="2" name="日期占位符 1">
            <a:extLst>
              <a:ext uri="{FF2B5EF4-FFF2-40B4-BE49-F238E27FC236}">
                <a16:creationId xmlns:a16="http://schemas.microsoft.com/office/drawing/2014/main" id="{13AD2222-023A-2618-7FFD-033E0F0D1597}"/>
              </a:ext>
            </a:extLst>
          </p:cNvPr>
          <p:cNvSpPr>
            <a:spLocks noGrp="1"/>
          </p:cNvSpPr>
          <p:nvPr>
            <p:ph type="dt" sz="half" idx="10"/>
          </p:nvPr>
        </p:nvSpPr>
        <p:spPr/>
        <p:txBody>
          <a:bodyPr/>
          <a:lstStyle/>
          <a:p>
            <a:pPr>
              <a:defRPr/>
            </a:pPr>
            <a:fld id="{FBEE4CB8-BD15-4A29-905A-5968437F284A}"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238ED4D3-5194-DD77-1CE1-44EE79D500F6}"/>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2C392A68-B906-593C-9D77-BB8E4C1DF84F}"/>
              </a:ext>
            </a:extLst>
          </p:cNvPr>
          <p:cNvSpPr>
            <a:spLocks noGrp="1"/>
          </p:cNvSpPr>
          <p:nvPr>
            <p:ph type="sldNum" sz="quarter" idx="12"/>
          </p:nvPr>
        </p:nvSpPr>
        <p:spPr/>
        <p:txBody>
          <a:bodyPr/>
          <a:lstStyle/>
          <a:p>
            <a:pPr>
              <a:defRPr/>
            </a:pPr>
            <a:fld id="{A5AE633C-541A-4E3F-A22A-3C4C63E8EF5F}" type="slidenum">
              <a:rPr lang="zh-CN" altLang="en-US" smtClean="0"/>
              <a:t>9</a:t>
            </a:fld>
            <a:endParaRPr lang="en-US" altLang="zh-CN"/>
          </a:p>
        </p:txBody>
      </p:sp>
    </p:spTree>
    <p:extLst>
      <p:ext uri="{BB962C8B-B14F-4D97-AF65-F5344CB8AC3E}">
        <p14:creationId xmlns:p14="http://schemas.microsoft.com/office/powerpoint/2010/main" val="2469936840"/>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2</a:t>
            </a:r>
            <a:r>
              <a:rPr lang="zh-CN" altLang="en-US" sz="3600" b="1" dirty="0">
                <a:latin typeface="Times New Roman" panose="02020603050405020304" pitchFamily="18" charset="0"/>
                <a:cs typeface="Times New Roman" panose="02020603050405020304" pitchFamily="18" charset="0"/>
              </a:rPr>
              <a:t>位</a:t>
            </a:r>
            <a:r>
              <a:rPr lang="en-US" altLang="zh-CN" sz="3600" b="1" dirty="0">
                <a:latin typeface="Times New Roman" panose="02020603050405020304" pitchFamily="18" charset="0"/>
                <a:cs typeface="Times New Roman" panose="02020603050405020304" pitchFamily="18" charset="0"/>
              </a:rPr>
              <a:t>BPB</a:t>
            </a:r>
            <a:r>
              <a:rPr lang="zh-CN" altLang="en-US" sz="3600" b="1" dirty="0">
                <a:latin typeface="Times New Roman" panose="02020603050405020304" pitchFamily="18" charset="0"/>
                <a:cs typeface="Times New Roman" panose="02020603050405020304" pitchFamily="18" charset="0"/>
              </a:rPr>
              <a:t>状态转换图</a:t>
            </a:r>
          </a:p>
        </p:txBody>
      </p:sp>
      <p:grpSp>
        <p:nvGrpSpPr>
          <p:cNvPr id="2" name="Group 4"/>
          <p:cNvGrpSpPr>
            <a:grpSpLocks noChangeAspect="1"/>
          </p:cNvGrpSpPr>
          <p:nvPr/>
        </p:nvGrpSpPr>
        <p:grpSpPr bwMode="auto">
          <a:xfrm>
            <a:off x="528638" y="1762126"/>
            <a:ext cx="7959726" cy="3679825"/>
            <a:chOff x="333" y="1110"/>
            <a:chExt cx="5014" cy="2318"/>
          </a:xfrm>
        </p:grpSpPr>
        <p:sp>
          <p:nvSpPr>
            <p:cNvPr id="3" name="AutoShape 3"/>
            <p:cNvSpPr>
              <a:spLocks noChangeAspect="1" noChangeArrowheads="1" noTextEdit="1"/>
            </p:cNvSpPr>
            <p:nvPr/>
          </p:nvSpPr>
          <p:spPr bwMode="auto">
            <a:xfrm>
              <a:off x="340" y="1117"/>
              <a:ext cx="5007" cy="2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 name="Rectangle 5"/>
            <p:cNvSpPr>
              <a:spLocks noChangeArrowheads="1"/>
            </p:cNvSpPr>
            <p:nvPr/>
          </p:nvSpPr>
          <p:spPr bwMode="auto">
            <a:xfrm>
              <a:off x="340" y="1157"/>
              <a:ext cx="13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rgbClr val="000000"/>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5" name="Freeform 6"/>
            <p:cNvSpPr>
              <a:spLocks noEditPoints="1"/>
            </p:cNvSpPr>
            <p:nvPr/>
          </p:nvSpPr>
          <p:spPr bwMode="auto">
            <a:xfrm>
              <a:off x="333" y="2406"/>
              <a:ext cx="5000" cy="1022"/>
            </a:xfrm>
            <a:custGeom>
              <a:avLst/>
              <a:gdLst>
                <a:gd name="T0" fmla="*/ 4896 w 5000"/>
                <a:gd name="T1" fmla="*/ 14 h 1022"/>
                <a:gd name="T2" fmla="*/ 4702 w 5000"/>
                <a:gd name="T3" fmla="*/ 14 h 1022"/>
                <a:gd name="T4" fmla="*/ 4508 w 5000"/>
                <a:gd name="T5" fmla="*/ 14 h 1022"/>
                <a:gd name="T6" fmla="*/ 4314 w 5000"/>
                <a:gd name="T7" fmla="*/ 14 h 1022"/>
                <a:gd name="T8" fmla="*/ 4120 w 5000"/>
                <a:gd name="T9" fmla="*/ 14 h 1022"/>
                <a:gd name="T10" fmla="*/ 3926 w 5000"/>
                <a:gd name="T11" fmla="*/ 14 h 1022"/>
                <a:gd name="T12" fmla="*/ 3732 w 5000"/>
                <a:gd name="T13" fmla="*/ 14 h 1022"/>
                <a:gd name="T14" fmla="*/ 3538 w 5000"/>
                <a:gd name="T15" fmla="*/ 14 h 1022"/>
                <a:gd name="T16" fmla="*/ 3344 w 5000"/>
                <a:gd name="T17" fmla="*/ 14 h 1022"/>
                <a:gd name="T18" fmla="*/ 3151 w 5000"/>
                <a:gd name="T19" fmla="*/ 14 h 1022"/>
                <a:gd name="T20" fmla="*/ 2957 w 5000"/>
                <a:gd name="T21" fmla="*/ 14 h 1022"/>
                <a:gd name="T22" fmla="*/ 2763 w 5000"/>
                <a:gd name="T23" fmla="*/ 14 h 1022"/>
                <a:gd name="T24" fmla="*/ 2569 w 5000"/>
                <a:gd name="T25" fmla="*/ 14 h 1022"/>
                <a:gd name="T26" fmla="*/ 2375 w 5000"/>
                <a:gd name="T27" fmla="*/ 14 h 1022"/>
                <a:gd name="T28" fmla="*/ 2181 w 5000"/>
                <a:gd name="T29" fmla="*/ 14 h 1022"/>
                <a:gd name="T30" fmla="*/ 1987 w 5000"/>
                <a:gd name="T31" fmla="*/ 14 h 1022"/>
                <a:gd name="T32" fmla="*/ 1793 w 5000"/>
                <a:gd name="T33" fmla="*/ 14 h 1022"/>
                <a:gd name="T34" fmla="*/ 1599 w 5000"/>
                <a:gd name="T35" fmla="*/ 14 h 1022"/>
                <a:gd name="T36" fmla="*/ 1405 w 5000"/>
                <a:gd name="T37" fmla="*/ 14 h 1022"/>
                <a:gd name="T38" fmla="*/ 1211 w 5000"/>
                <a:gd name="T39" fmla="*/ 14 h 1022"/>
                <a:gd name="T40" fmla="*/ 1018 w 5000"/>
                <a:gd name="T41" fmla="*/ 14 h 1022"/>
                <a:gd name="T42" fmla="*/ 824 w 5000"/>
                <a:gd name="T43" fmla="*/ 14 h 1022"/>
                <a:gd name="T44" fmla="*/ 630 w 5000"/>
                <a:gd name="T45" fmla="*/ 14 h 1022"/>
                <a:gd name="T46" fmla="*/ 436 w 5000"/>
                <a:gd name="T47" fmla="*/ 14 h 1022"/>
                <a:gd name="T48" fmla="*/ 242 w 5000"/>
                <a:gd name="T49" fmla="*/ 14 h 1022"/>
                <a:gd name="T50" fmla="*/ 0 w 5000"/>
                <a:gd name="T51" fmla="*/ 21 h 1022"/>
                <a:gd name="T52" fmla="*/ 13 w 5000"/>
                <a:gd name="T53" fmla="*/ 215 h 1022"/>
                <a:gd name="T54" fmla="*/ 13 w 5000"/>
                <a:gd name="T55" fmla="*/ 409 h 1022"/>
                <a:gd name="T56" fmla="*/ 13 w 5000"/>
                <a:gd name="T57" fmla="*/ 603 h 1022"/>
                <a:gd name="T58" fmla="*/ 13 w 5000"/>
                <a:gd name="T59" fmla="*/ 796 h 1022"/>
                <a:gd name="T60" fmla="*/ 13 w 5000"/>
                <a:gd name="T61" fmla="*/ 990 h 1022"/>
                <a:gd name="T62" fmla="*/ 175 w 5000"/>
                <a:gd name="T63" fmla="*/ 1008 h 1022"/>
                <a:gd name="T64" fmla="*/ 369 w 5000"/>
                <a:gd name="T65" fmla="*/ 1008 h 1022"/>
                <a:gd name="T66" fmla="*/ 563 w 5000"/>
                <a:gd name="T67" fmla="*/ 1008 h 1022"/>
                <a:gd name="T68" fmla="*/ 757 w 5000"/>
                <a:gd name="T69" fmla="*/ 1008 h 1022"/>
                <a:gd name="T70" fmla="*/ 951 w 5000"/>
                <a:gd name="T71" fmla="*/ 1008 h 1022"/>
                <a:gd name="T72" fmla="*/ 1145 w 5000"/>
                <a:gd name="T73" fmla="*/ 1008 h 1022"/>
                <a:gd name="T74" fmla="*/ 1339 w 5000"/>
                <a:gd name="T75" fmla="*/ 1008 h 1022"/>
                <a:gd name="T76" fmla="*/ 1533 w 5000"/>
                <a:gd name="T77" fmla="*/ 1008 h 1022"/>
                <a:gd name="T78" fmla="*/ 1727 w 5000"/>
                <a:gd name="T79" fmla="*/ 1008 h 1022"/>
                <a:gd name="T80" fmla="*/ 1921 w 5000"/>
                <a:gd name="T81" fmla="*/ 1008 h 1022"/>
                <a:gd name="T82" fmla="*/ 2115 w 5000"/>
                <a:gd name="T83" fmla="*/ 1008 h 1022"/>
                <a:gd name="T84" fmla="*/ 2308 w 5000"/>
                <a:gd name="T85" fmla="*/ 1008 h 1022"/>
                <a:gd name="T86" fmla="*/ 2502 w 5000"/>
                <a:gd name="T87" fmla="*/ 1008 h 1022"/>
                <a:gd name="T88" fmla="*/ 2696 w 5000"/>
                <a:gd name="T89" fmla="*/ 1008 h 1022"/>
                <a:gd name="T90" fmla="*/ 2890 w 5000"/>
                <a:gd name="T91" fmla="*/ 1008 h 1022"/>
                <a:gd name="T92" fmla="*/ 3084 w 5000"/>
                <a:gd name="T93" fmla="*/ 1008 h 1022"/>
                <a:gd name="T94" fmla="*/ 3278 w 5000"/>
                <a:gd name="T95" fmla="*/ 1008 h 1022"/>
                <a:gd name="T96" fmla="*/ 3472 w 5000"/>
                <a:gd name="T97" fmla="*/ 1008 h 1022"/>
                <a:gd name="T98" fmla="*/ 3666 w 5000"/>
                <a:gd name="T99" fmla="*/ 1008 h 1022"/>
                <a:gd name="T100" fmla="*/ 3860 w 5000"/>
                <a:gd name="T101" fmla="*/ 1008 h 1022"/>
                <a:gd name="T102" fmla="*/ 4054 w 5000"/>
                <a:gd name="T103" fmla="*/ 1008 h 1022"/>
                <a:gd name="T104" fmla="*/ 4248 w 5000"/>
                <a:gd name="T105" fmla="*/ 1008 h 1022"/>
                <a:gd name="T106" fmla="*/ 4441 w 5000"/>
                <a:gd name="T107" fmla="*/ 1008 h 1022"/>
                <a:gd name="T108" fmla="*/ 4635 w 5000"/>
                <a:gd name="T109" fmla="*/ 1008 h 1022"/>
                <a:gd name="T110" fmla="*/ 4829 w 5000"/>
                <a:gd name="T111" fmla="*/ 1008 h 1022"/>
                <a:gd name="T112" fmla="*/ 4993 w 5000"/>
                <a:gd name="T113" fmla="*/ 1008 h 1022"/>
                <a:gd name="T114" fmla="*/ 5000 w 5000"/>
                <a:gd name="T115" fmla="*/ 943 h 1022"/>
                <a:gd name="T116" fmla="*/ 5000 w 5000"/>
                <a:gd name="T117" fmla="*/ 749 h 1022"/>
                <a:gd name="T118" fmla="*/ 5000 w 5000"/>
                <a:gd name="T119" fmla="*/ 555 h 1022"/>
                <a:gd name="T120" fmla="*/ 5000 w 5000"/>
                <a:gd name="T121" fmla="*/ 362 h 1022"/>
                <a:gd name="T122" fmla="*/ 5000 w 5000"/>
                <a:gd name="T123" fmla="*/ 168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000" h="1022">
                  <a:moveTo>
                    <a:pt x="4993" y="14"/>
                  </a:moveTo>
                  <a:lnTo>
                    <a:pt x="4937" y="14"/>
                  </a:lnTo>
                  <a:lnTo>
                    <a:pt x="4937" y="0"/>
                  </a:lnTo>
                  <a:lnTo>
                    <a:pt x="4993" y="0"/>
                  </a:lnTo>
                  <a:lnTo>
                    <a:pt x="4993" y="14"/>
                  </a:lnTo>
                  <a:close/>
                  <a:moveTo>
                    <a:pt x="4896" y="14"/>
                  </a:moveTo>
                  <a:lnTo>
                    <a:pt x="4840" y="14"/>
                  </a:lnTo>
                  <a:lnTo>
                    <a:pt x="4840" y="0"/>
                  </a:lnTo>
                  <a:lnTo>
                    <a:pt x="4896" y="0"/>
                  </a:lnTo>
                  <a:lnTo>
                    <a:pt x="4896" y="14"/>
                  </a:lnTo>
                  <a:close/>
                  <a:moveTo>
                    <a:pt x="4799" y="14"/>
                  </a:moveTo>
                  <a:lnTo>
                    <a:pt x="4743" y="14"/>
                  </a:lnTo>
                  <a:lnTo>
                    <a:pt x="4743" y="0"/>
                  </a:lnTo>
                  <a:lnTo>
                    <a:pt x="4799" y="0"/>
                  </a:lnTo>
                  <a:lnTo>
                    <a:pt x="4799" y="14"/>
                  </a:lnTo>
                  <a:close/>
                  <a:moveTo>
                    <a:pt x="4702" y="14"/>
                  </a:moveTo>
                  <a:lnTo>
                    <a:pt x="4646" y="14"/>
                  </a:lnTo>
                  <a:lnTo>
                    <a:pt x="4646" y="0"/>
                  </a:lnTo>
                  <a:lnTo>
                    <a:pt x="4702" y="0"/>
                  </a:lnTo>
                  <a:lnTo>
                    <a:pt x="4702" y="14"/>
                  </a:lnTo>
                  <a:close/>
                  <a:moveTo>
                    <a:pt x="4605" y="14"/>
                  </a:moveTo>
                  <a:lnTo>
                    <a:pt x="4549" y="14"/>
                  </a:lnTo>
                  <a:lnTo>
                    <a:pt x="4549" y="0"/>
                  </a:lnTo>
                  <a:lnTo>
                    <a:pt x="4605" y="0"/>
                  </a:lnTo>
                  <a:lnTo>
                    <a:pt x="4605" y="14"/>
                  </a:lnTo>
                  <a:close/>
                  <a:moveTo>
                    <a:pt x="4508" y="14"/>
                  </a:moveTo>
                  <a:lnTo>
                    <a:pt x="4452" y="14"/>
                  </a:lnTo>
                  <a:lnTo>
                    <a:pt x="4452" y="0"/>
                  </a:lnTo>
                  <a:lnTo>
                    <a:pt x="4508" y="0"/>
                  </a:lnTo>
                  <a:lnTo>
                    <a:pt x="4508" y="14"/>
                  </a:lnTo>
                  <a:close/>
                  <a:moveTo>
                    <a:pt x="4411" y="14"/>
                  </a:moveTo>
                  <a:lnTo>
                    <a:pt x="4356" y="14"/>
                  </a:lnTo>
                  <a:lnTo>
                    <a:pt x="4356" y="0"/>
                  </a:lnTo>
                  <a:lnTo>
                    <a:pt x="4411" y="0"/>
                  </a:lnTo>
                  <a:lnTo>
                    <a:pt x="4411" y="14"/>
                  </a:lnTo>
                  <a:close/>
                  <a:moveTo>
                    <a:pt x="4314" y="14"/>
                  </a:moveTo>
                  <a:lnTo>
                    <a:pt x="4259" y="14"/>
                  </a:lnTo>
                  <a:lnTo>
                    <a:pt x="4259" y="0"/>
                  </a:lnTo>
                  <a:lnTo>
                    <a:pt x="4314" y="0"/>
                  </a:lnTo>
                  <a:lnTo>
                    <a:pt x="4314" y="14"/>
                  </a:lnTo>
                  <a:close/>
                  <a:moveTo>
                    <a:pt x="4217" y="14"/>
                  </a:moveTo>
                  <a:lnTo>
                    <a:pt x="4162" y="14"/>
                  </a:lnTo>
                  <a:lnTo>
                    <a:pt x="4162" y="0"/>
                  </a:lnTo>
                  <a:lnTo>
                    <a:pt x="4217" y="0"/>
                  </a:lnTo>
                  <a:lnTo>
                    <a:pt x="4217" y="14"/>
                  </a:lnTo>
                  <a:close/>
                  <a:moveTo>
                    <a:pt x="4120" y="14"/>
                  </a:moveTo>
                  <a:lnTo>
                    <a:pt x="4065" y="14"/>
                  </a:lnTo>
                  <a:lnTo>
                    <a:pt x="4065" y="0"/>
                  </a:lnTo>
                  <a:lnTo>
                    <a:pt x="4120" y="0"/>
                  </a:lnTo>
                  <a:lnTo>
                    <a:pt x="4120" y="14"/>
                  </a:lnTo>
                  <a:close/>
                  <a:moveTo>
                    <a:pt x="4023" y="14"/>
                  </a:moveTo>
                  <a:lnTo>
                    <a:pt x="3968" y="14"/>
                  </a:lnTo>
                  <a:lnTo>
                    <a:pt x="3968" y="0"/>
                  </a:lnTo>
                  <a:lnTo>
                    <a:pt x="4023" y="0"/>
                  </a:lnTo>
                  <a:lnTo>
                    <a:pt x="4023" y="14"/>
                  </a:lnTo>
                  <a:close/>
                  <a:moveTo>
                    <a:pt x="3926" y="14"/>
                  </a:moveTo>
                  <a:lnTo>
                    <a:pt x="3871" y="14"/>
                  </a:lnTo>
                  <a:lnTo>
                    <a:pt x="3871" y="0"/>
                  </a:lnTo>
                  <a:lnTo>
                    <a:pt x="3926" y="0"/>
                  </a:lnTo>
                  <a:lnTo>
                    <a:pt x="3926" y="14"/>
                  </a:lnTo>
                  <a:close/>
                  <a:moveTo>
                    <a:pt x="3829" y="14"/>
                  </a:moveTo>
                  <a:lnTo>
                    <a:pt x="3774" y="14"/>
                  </a:lnTo>
                  <a:lnTo>
                    <a:pt x="3774" y="0"/>
                  </a:lnTo>
                  <a:lnTo>
                    <a:pt x="3829" y="0"/>
                  </a:lnTo>
                  <a:lnTo>
                    <a:pt x="3829" y="14"/>
                  </a:lnTo>
                  <a:close/>
                  <a:moveTo>
                    <a:pt x="3732" y="14"/>
                  </a:moveTo>
                  <a:lnTo>
                    <a:pt x="3677" y="14"/>
                  </a:lnTo>
                  <a:lnTo>
                    <a:pt x="3677" y="0"/>
                  </a:lnTo>
                  <a:lnTo>
                    <a:pt x="3732" y="0"/>
                  </a:lnTo>
                  <a:lnTo>
                    <a:pt x="3732" y="14"/>
                  </a:lnTo>
                  <a:close/>
                  <a:moveTo>
                    <a:pt x="3635" y="14"/>
                  </a:moveTo>
                  <a:lnTo>
                    <a:pt x="3580" y="14"/>
                  </a:lnTo>
                  <a:lnTo>
                    <a:pt x="3580" y="0"/>
                  </a:lnTo>
                  <a:lnTo>
                    <a:pt x="3635" y="0"/>
                  </a:lnTo>
                  <a:lnTo>
                    <a:pt x="3635" y="14"/>
                  </a:lnTo>
                  <a:close/>
                  <a:moveTo>
                    <a:pt x="3538" y="14"/>
                  </a:moveTo>
                  <a:lnTo>
                    <a:pt x="3483" y="14"/>
                  </a:lnTo>
                  <a:lnTo>
                    <a:pt x="3483" y="0"/>
                  </a:lnTo>
                  <a:lnTo>
                    <a:pt x="3538" y="0"/>
                  </a:lnTo>
                  <a:lnTo>
                    <a:pt x="3538" y="14"/>
                  </a:lnTo>
                  <a:close/>
                  <a:moveTo>
                    <a:pt x="3441" y="14"/>
                  </a:moveTo>
                  <a:lnTo>
                    <a:pt x="3386" y="14"/>
                  </a:lnTo>
                  <a:lnTo>
                    <a:pt x="3386" y="0"/>
                  </a:lnTo>
                  <a:lnTo>
                    <a:pt x="3441" y="0"/>
                  </a:lnTo>
                  <a:lnTo>
                    <a:pt x="3441" y="14"/>
                  </a:lnTo>
                  <a:close/>
                  <a:moveTo>
                    <a:pt x="3344" y="14"/>
                  </a:moveTo>
                  <a:lnTo>
                    <a:pt x="3289" y="14"/>
                  </a:lnTo>
                  <a:lnTo>
                    <a:pt x="3289" y="0"/>
                  </a:lnTo>
                  <a:lnTo>
                    <a:pt x="3344" y="0"/>
                  </a:lnTo>
                  <a:lnTo>
                    <a:pt x="3344" y="14"/>
                  </a:lnTo>
                  <a:close/>
                  <a:moveTo>
                    <a:pt x="3247" y="14"/>
                  </a:moveTo>
                  <a:lnTo>
                    <a:pt x="3192" y="14"/>
                  </a:lnTo>
                  <a:lnTo>
                    <a:pt x="3192" y="0"/>
                  </a:lnTo>
                  <a:lnTo>
                    <a:pt x="3247" y="0"/>
                  </a:lnTo>
                  <a:lnTo>
                    <a:pt x="3247" y="14"/>
                  </a:lnTo>
                  <a:close/>
                  <a:moveTo>
                    <a:pt x="3151" y="14"/>
                  </a:moveTo>
                  <a:lnTo>
                    <a:pt x="3095" y="14"/>
                  </a:lnTo>
                  <a:lnTo>
                    <a:pt x="3095" y="0"/>
                  </a:lnTo>
                  <a:lnTo>
                    <a:pt x="3151" y="0"/>
                  </a:lnTo>
                  <a:lnTo>
                    <a:pt x="3151" y="14"/>
                  </a:lnTo>
                  <a:close/>
                  <a:moveTo>
                    <a:pt x="3054" y="14"/>
                  </a:moveTo>
                  <a:lnTo>
                    <a:pt x="2998" y="14"/>
                  </a:lnTo>
                  <a:lnTo>
                    <a:pt x="2998" y="0"/>
                  </a:lnTo>
                  <a:lnTo>
                    <a:pt x="3054" y="0"/>
                  </a:lnTo>
                  <a:lnTo>
                    <a:pt x="3054" y="14"/>
                  </a:lnTo>
                  <a:close/>
                  <a:moveTo>
                    <a:pt x="2957" y="14"/>
                  </a:moveTo>
                  <a:lnTo>
                    <a:pt x="2901" y="14"/>
                  </a:lnTo>
                  <a:lnTo>
                    <a:pt x="2901" y="0"/>
                  </a:lnTo>
                  <a:lnTo>
                    <a:pt x="2957" y="0"/>
                  </a:lnTo>
                  <a:lnTo>
                    <a:pt x="2957" y="14"/>
                  </a:lnTo>
                  <a:close/>
                  <a:moveTo>
                    <a:pt x="2860" y="14"/>
                  </a:moveTo>
                  <a:lnTo>
                    <a:pt x="2804" y="14"/>
                  </a:lnTo>
                  <a:lnTo>
                    <a:pt x="2804" y="0"/>
                  </a:lnTo>
                  <a:lnTo>
                    <a:pt x="2860" y="0"/>
                  </a:lnTo>
                  <a:lnTo>
                    <a:pt x="2860" y="14"/>
                  </a:lnTo>
                  <a:close/>
                  <a:moveTo>
                    <a:pt x="2763" y="14"/>
                  </a:moveTo>
                  <a:lnTo>
                    <a:pt x="2707" y="14"/>
                  </a:lnTo>
                  <a:lnTo>
                    <a:pt x="2707" y="0"/>
                  </a:lnTo>
                  <a:lnTo>
                    <a:pt x="2763" y="0"/>
                  </a:lnTo>
                  <a:lnTo>
                    <a:pt x="2763" y="14"/>
                  </a:lnTo>
                  <a:close/>
                  <a:moveTo>
                    <a:pt x="2666" y="14"/>
                  </a:moveTo>
                  <a:lnTo>
                    <a:pt x="2610" y="14"/>
                  </a:lnTo>
                  <a:lnTo>
                    <a:pt x="2610" y="0"/>
                  </a:lnTo>
                  <a:lnTo>
                    <a:pt x="2666" y="0"/>
                  </a:lnTo>
                  <a:lnTo>
                    <a:pt x="2666" y="14"/>
                  </a:lnTo>
                  <a:close/>
                  <a:moveTo>
                    <a:pt x="2569" y="14"/>
                  </a:moveTo>
                  <a:lnTo>
                    <a:pt x="2513" y="14"/>
                  </a:lnTo>
                  <a:lnTo>
                    <a:pt x="2513" y="0"/>
                  </a:lnTo>
                  <a:lnTo>
                    <a:pt x="2569" y="0"/>
                  </a:lnTo>
                  <a:lnTo>
                    <a:pt x="2569" y="14"/>
                  </a:lnTo>
                  <a:close/>
                  <a:moveTo>
                    <a:pt x="2472" y="14"/>
                  </a:moveTo>
                  <a:lnTo>
                    <a:pt x="2416" y="14"/>
                  </a:lnTo>
                  <a:lnTo>
                    <a:pt x="2416" y="0"/>
                  </a:lnTo>
                  <a:lnTo>
                    <a:pt x="2472" y="0"/>
                  </a:lnTo>
                  <a:lnTo>
                    <a:pt x="2472" y="14"/>
                  </a:lnTo>
                  <a:close/>
                  <a:moveTo>
                    <a:pt x="2375" y="14"/>
                  </a:moveTo>
                  <a:lnTo>
                    <a:pt x="2319" y="14"/>
                  </a:lnTo>
                  <a:lnTo>
                    <a:pt x="2319" y="0"/>
                  </a:lnTo>
                  <a:lnTo>
                    <a:pt x="2375" y="0"/>
                  </a:lnTo>
                  <a:lnTo>
                    <a:pt x="2375" y="14"/>
                  </a:lnTo>
                  <a:close/>
                  <a:moveTo>
                    <a:pt x="2278" y="14"/>
                  </a:moveTo>
                  <a:lnTo>
                    <a:pt x="2223" y="14"/>
                  </a:lnTo>
                  <a:lnTo>
                    <a:pt x="2223" y="0"/>
                  </a:lnTo>
                  <a:lnTo>
                    <a:pt x="2278" y="0"/>
                  </a:lnTo>
                  <a:lnTo>
                    <a:pt x="2278" y="14"/>
                  </a:lnTo>
                  <a:close/>
                  <a:moveTo>
                    <a:pt x="2181" y="14"/>
                  </a:moveTo>
                  <a:lnTo>
                    <a:pt x="2126" y="14"/>
                  </a:lnTo>
                  <a:lnTo>
                    <a:pt x="2126" y="0"/>
                  </a:lnTo>
                  <a:lnTo>
                    <a:pt x="2181" y="0"/>
                  </a:lnTo>
                  <a:lnTo>
                    <a:pt x="2181" y="14"/>
                  </a:lnTo>
                  <a:close/>
                  <a:moveTo>
                    <a:pt x="2084" y="14"/>
                  </a:moveTo>
                  <a:lnTo>
                    <a:pt x="2029" y="14"/>
                  </a:lnTo>
                  <a:lnTo>
                    <a:pt x="2029" y="0"/>
                  </a:lnTo>
                  <a:lnTo>
                    <a:pt x="2084" y="0"/>
                  </a:lnTo>
                  <a:lnTo>
                    <a:pt x="2084" y="14"/>
                  </a:lnTo>
                  <a:close/>
                  <a:moveTo>
                    <a:pt x="1987" y="14"/>
                  </a:moveTo>
                  <a:lnTo>
                    <a:pt x="1932" y="14"/>
                  </a:lnTo>
                  <a:lnTo>
                    <a:pt x="1932" y="0"/>
                  </a:lnTo>
                  <a:lnTo>
                    <a:pt x="1987" y="0"/>
                  </a:lnTo>
                  <a:lnTo>
                    <a:pt x="1987" y="14"/>
                  </a:lnTo>
                  <a:close/>
                  <a:moveTo>
                    <a:pt x="1890" y="14"/>
                  </a:moveTo>
                  <a:lnTo>
                    <a:pt x="1835" y="14"/>
                  </a:lnTo>
                  <a:lnTo>
                    <a:pt x="1835" y="0"/>
                  </a:lnTo>
                  <a:lnTo>
                    <a:pt x="1890" y="0"/>
                  </a:lnTo>
                  <a:lnTo>
                    <a:pt x="1890" y="14"/>
                  </a:lnTo>
                  <a:close/>
                  <a:moveTo>
                    <a:pt x="1793" y="14"/>
                  </a:moveTo>
                  <a:lnTo>
                    <a:pt x="1738" y="14"/>
                  </a:lnTo>
                  <a:lnTo>
                    <a:pt x="1738" y="0"/>
                  </a:lnTo>
                  <a:lnTo>
                    <a:pt x="1793" y="0"/>
                  </a:lnTo>
                  <a:lnTo>
                    <a:pt x="1793" y="14"/>
                  </a:lnTo>
                  <a:close/>
                  <a:moveTo>
                    <a:pt x="1696" y="14"/>
                  </a:moveTo>
                  <a:lnTo>
                    <a:pt x="1641" y="14"/>
                  </a:lnTo>
                  <a:lnTo>
                    <a:pt x="1641" y="0"/>
                  </a:lnTo>
                  <a:lnTo>
                    <a:pt x="1696" y="0"/>
                  </a:lnTo>
                  <a:lnTo>
                    <a:pt x="1696" y="14"/>
                  </a:lnTo>
                  <a:close/>
                  <a:moveTo>
                    <a:pt x="1599" y="14"/>
                  </a:moveTo>
                  <a:lnTo>
                    <a:pt x="1544" y="14"/>
                  </a:lnTo>
                  <a:lnTo>
                    <a:pt x="1544" y="0"/>
                  </a:lnTo>
                  <a:lnTo>
                    <a:pt x="1599" y="0"/>
                  </a:lnTo>
                  <a:lnTo>
                    <a:pt x="1599" y="14"/>
                  </a:lnTo>
                  <a:close/>
                  <a:moveTo>
                    <a:pt x="1502" y="14"/>
                  </a:moveTo>
                  <a:lnTo>
                    <a:pt x="1447" y="14"/>
                  </a:lnTo>
                  <a:lnTo>
                    <a:pt x="1447" y="0"/>
                  </a:lnTo>
                  <a:lnTo>
                    <a:pt x="1502" y="0"/>
                  </a:lnTo>
                  <a:lnTo>
                    <a:pt x="1502" y="14"/>
                  </a:lnTo>
                  <a:close/>
                  <a:moveTo>
                    <a:pt x="1405" y="14"/>
                  </a:moveTo>
                  <a:lnTo>
                    <a:pt x="1350" y="14"/>
                  </a:lnTo>
                  <a:lnTo>
                    <a:pt x="1350" y="0"/>
                  </a:lnTo>
                  <a:lnTo>
                    <a:pt x="1405" y="0"/>
                  </a:lnTo>
                  <a:lnTo>
                    <a:pt x="1405" y="14"/>
                  </a:lnTo>
                  <a:close/>
                  <a:moveTo>
                    <a:pt x="1308" y="14"/>
                  </a:moveTo>
                  <a:lnTo>
                    <a:pt x="1253" y="14"/>
                  </a:lnTo>
                  <a:lnTo>
                    <a:pt x="1253" y="0"/>
                  </a:lnTo>
                  <a:lnTo>
                    <a:pt x="1308" y="0"/>
                  </a:lnTo>
                  <a:lnTo>
                    <a:pt x="1308" y="14"/>
                  </a:lnTo>
                  <a:close/>
                  <a:moveTo>
                    <a:pt x="1211" y="14"/>
                  </a:moveTo>
                  <a:lnTo>
                    <a:pt x="1156" y="14"/>
                  </a:lnTo>
                  <a:lnTo>
                    <a:pt x="1156" y="0"/>
                  </a:lnTo>
                  <a:lnTo>
                    <a:pt x="1211" y="0"/>
                  </a:lnTo>
                  <a:lnTo>
                    <a:pt x="1211" y="14"/>
                  </a:lnTo>
                  <a:close/>
                  <a:moveTo>
                    <a:pt x="1114" y="14"/>
                  </a:moveTo>
                  <a:lnTo>
                    <a:pt x="1059" y="14"/>
                  </a:lnTo>
                  <a:lnTo>
                    <a:pt x="1059" y="0"/>
                  </a:lnTo>
                  <a:lnTo>
                    <a:pt x="1114" y="0"/>
                  </a:lnTo>
                  <a:lnTo>
                    <a:pt x="1114" y="14"/>
                  </a:lnTo>
                  <a:close/>
                  <a:moveTo>
                    <a:pt x="1018" y="14"/>
                  </a:moveTo>
                  <a:lnTo>
                    <a:pt x="962" y="14"/>
                  </a:lnTo>
                  <a:lnTo>
                    <a:pt x="962" y="0"/>
                  </a:lnTo>
                  <a:lnTo>
                    <a:pt x="1018" y="0"/>
                  </a:lnTo>
                  <a:lnTo>
                    <a:pt x="1018" y="14"/>
                  </a:lnTo>
                  <a:close/>
                  <a:moveTo>
                    <a:pt x="921" y="14"/>
                  </a:moveTo>
                  <a:lnTo>
                    <a:pt x="865" y="14"/>
                  </a:lnTo>
                  <a:lnTo>
                    <a:pt x="865" y="0"/>
                  </a:lnTo>
                  <a:lnTo>
                    <a:pt x="921" y="0"/>
                  </a:lnTo>
                  <a:lnTo>
                    <a:pt x="921" y="14"/>
                  </a:lnTo>
                  <a:close/>
                  <a:moveTo>
                    <a:pt x="824" y="14"/>
                  </a:moveTo>
                  <a:lnTo>
                    <a:pt x="768" y="14"/>
                  </a:lnTo>
                  <a:lnTo>
                    <a:pt x="768" y="0"/>
                  </a:lnTo>
                  <a:lnTo>
                    <a:pt x="824" y="0"/>
                  </a:lnTo>
                  <a:lnTo>
                    <a:pt x="824" y="14"/>
                  </a:lnTo>
                  <a:close/>
                  <a:moveTo>
                    <a:pt x="727" y="14"/>
                  </a:moveTo>
                  <a:lnTo>
                    <a:pt x="671" y="14"/>
                  </a:lnTo>
                  <a:lnTo>
                    <a:pt x="671" y="0"/>
                  </a:lnTo>
                  <a:lnTo>
                    <a:pt x="727" y="0"/>
                  </a:lnTo>
                  <a:lnTo>
                    <a:pt x="727" y="14"/>
                  </a:lnTo>
                  <a:close/>
                  <a:moveTo>
                    <a:pt x="630" y="14"/>
                  </a:moveTo>
                  <a:lnTo>
                    <a:pt x="574" y="14"/>
                  </a:lnTo>
                  <a:lnTo>
                    <a:pt x="574" y="0"/>
                  </a:lnTo>
                  <a:lnTo>
                    <a:pt x="630" y="0"/>
                  </a:lnTo>
                  <a:lnTo>
                    <a:pt x="630" y="14"/>
                  </a:lnTo>
                  <a:close/>
                  <a:moveTo>
                    <a:pt x="533" y="14"/>
                  </a:moveTo>
                  <a:lnTo>
                    <a:pt x="477" y="14"/>
                  </a:lnTo>
                  <a:lnTo>
                    <a:pt x="477" y="0"/>
                  </a:lnTo>
                  <a:lnTo>
                    <a:pt x="533" y="0"/>
                  </a:lnTo>
                  <a:lnTo>
                    <a:pt x="533" y="14"/>
                  </a:lnTo>
                  <a:close/>
                  <a:moveTo>
                    <a:pt x="436" y="14"/>
                  </a:moveTo>
                  <a:lnTo>
                    <a:pt x="380" y="14"/>
                  </a:lnTo>
                  <a:lnTo>
                    <a:pt x="380" y="0"/>
                  </a:lnTo>
                  <a:lnTo>
                    <a:pt x="436" y="0"/>
                  </a:lnTo>
                  <a:lnTo>
                    <a:pt x="436" y="14"/>
                  </a:lnTo>
                  <a:close/>
                  <a:moveTo>
                    <a:pt x="339" y="14"/>
                  </a:moveTo>
                  <a:lnTo>
                    <a:pt x="283" y="14"/>
                  </a:lnTo>
                  <a:lnTo>
                    <a:pt x="283" y="0"/>
                  </a:lnTo>
                  <a:lnTo>
                    <a:pt x="339" y="0"/>
                  </a:lnTo>
                  <a:lnTo>
                    <a:pt x="339" y="14"/>
                  </a:lnTo>
                  <a:close/>
                  <a:moveTo>
                    <a:pt x="242" y="14"/>
                  </a:moveTo>
                  <a:lnTo>
                    <a:pt x="187" y="14"/>
                  </a:lnTo>
                  <a:lnTo>
                    <a:pt x="187" y="0"/>
                  </a:lnTo>
                  <a:lnTo>
                    <a:pt x="242" y="0"/>
                  </a:lnTo>
                  <a:lnTo>
                    <a:pt x="242" y="14"/>
                  </a:lnTo>
                  <a:close/>
                  <a:moveTo>
                    <a:pt x="145" y="14"/>
                  </a:moveTo>
                  <a:lnTo>
                    <a:pt x="90" y="14"/>
                  </a:lnTo>
                  <a:lnTo>
                    <a:pt x="90" y="0"/>
                  </a:lnTo>
                  <a:lnTo>
                    <a:pt x="145" y="0"/>
                  </a:lnTo>
                  <a:lnTo>
                    <a:pt x="145" y="14"/>
                  </a:lnTo>
                  <a:close/>
                  <a:moveTo>
                    <a:pt x="48" y="14"/>
                  </a:moveTo>
                  <a:lnTo>
                    <a:pt x="7" y="14"/>
                  </a:lnTo>
                  <a:lnTo>
                    <a:pt x="13" y="7"/>
                  </a:lnTo>
                  <a:lnTo>
                    <a:pt x="13" y="21"/>
                  </a:lnTo>
                  <a:lnTo>
                    <a:pt x="0" y="21"/>
                  </a:lnTo>
                  <a:lnTo>
                    <a:pt x="0" y="0"/>
                  </a:lnTo>
                  <a:lnTo>
                    <a:pt x="48" y="0"/>
                  </a:lnTo>
                  <a:lnTo>
                    <a:pt x="48" y="14"/>
                  </a:lnTo>
                  <a:close/>
                  <a:moveTo>
                    <a:pt x="13" y="62"/>
                  </a:moveTo>
                  <a:lnTo>
                    <a:pt x="13" y="118"/>
                  </a:lnTo>
                  <a:lnTo>
                    <a:pt x="0" y="118"/>
                  </a:lnTo>
                  <a:lnTo>
                    <a:pt x="0" y="62"/>
                  </a:lnTo>
                  <a:lnTo>
                    <a:pt x="13" y="62"/>
                  </a:lnTo>
                  <a:close/>
                  <a:moveTo>
                    <a:pt x="13" y="159"/>
                  </a:moveTo>
                  <a:lnTo>
                    <a:pt x="13" y="215"/>
                  </a:lnTo>
                  <a:lnTo>
                    <a:pt x="0" y="215"/>
                  </a:lnTo>
                  <a:lnTo>
                    <a:pt x="0" y="159"/>
                  </a:lnTo>
                  <a:lnTo>
                    <a:pt x="13" y="159"/>
                  </a:lnTo>
                  <a:close/>
                  <a:moveTo>
                    <a:pt x="13" y="256"/>
                  </a:moveTo>
                  <a:lnTo>
                    <a:pt x="13" y="312"/>
                  </a:lnTo>
                  <a:lnTo>
                    <a:pt x="0" y="312"/>
                  </a:lnTo>
                  <a:lnTo>
                    <a:pt x="0" y="256"/>
                  </a:lnTo>
                  <a:lnTo>
                    <a:pt x="13" y="256"/>
                  </a:lnTo>
                  <a:close/>
                  <a:moveTo>
                    <a:pt x="13" y="353"/>
                  </a:moveTo>
                  <a:lnTo>
                    <a:pt x="13" y="409"/>
                  </a:lnTo>
                  <a:lnTo>
                    <a:pt x="0" y="409"/>
                  </a:lnTo>
                  <a:lnTo>
                    <a:pt x="0" y="353"/>
                  </a:lnTo>
                  <a:lnTo>
                    <a:pt x="13" y="353"/>
                  </a:lnTo>
                  <a:close/>
                  <a:moveTo>
                    <a:pt x="13" y="450"/>
                  </a:moveTo>
                  <a:lnTo>
                    <a:pt x="13" y="506"/>
                  </a:lnTo>
                  <a:lnTo>
                    <a:pt x="0" y="506"/>
                  </a:lnTo>
                  <a:lnTo>
                    <a:pt x="0" y="450"/>
                  </a:lnTo>
                  <a:lnTo>
                    <a:pt x="13" y="450"/>
                  </a:lnTo>
                  <a:close/>
                  <a:moveTo>
                    <a:pt x="13" y="547"/>
                  </a:moveTo>
                  <a:lnTo>
                    <a:pt x="13" y="603"/>
                  </a:lnTo>
                  <a:lnTo>
                    <a:pt x="0" y="603"/>
                  </a:lnTo>
                  <a:lnTo>
                    <a:pt x="0" y="547"/>
                  </a:lnTo>
                  <a:lnTo>
                    <a:pt x="13" y="547"/>
                  </a:lnTo>
                  <a:close/>
                  <a:moveTo>
                    <a:pt x="13" y="644"/>
                  </a:moveTo>
                  <a:lnTo>
                    <a:pt x="13" y="700"/>
                  </a:lnTo>
                  <a:lnTo>
                    <a:pt x="0" y="700"/>
                  </a:lnTo>
                  <a:lnTo>
                    <a:pt x="0" y="644"/>
                  </a:lnTo>
                  <a:lnTo>
                    <a:pt x="13" y="644"/>
                  </a:lnTo>
                  <a:close/>
                  <a:moveTo>
                    <a:pt x="13" y="741"/>
                  </a:moveTo>
                  <a:lnTo>
                    <a:pt x="13" y="796"/>
                  </a:lnTo>
                  <a:lnTo>
                    <a:pt x="0" y="796"/>
                  </a:lnTo>
                  <a:lnTo>
                    <a:pt x="0" y="741"/>
                  </a:lnTo>
                  <a:lnTo>
                    <a:pt x="13" y="741"/>
                  </a:lnTo>
                  <a:close/>
                  <a:moveTo>
                    <a:pt x="13" y="838"/>
                  </a:moveTo>
                  <a:lnTo>
                    <a:pt x="13" y="893"/>
                  </a:lnTo>
                  <a:lnTo>
                    <a:pt x="0" y="893"/>
                  </a:lnTo>
                  <a:lnTo>
                    <a:pt x="0" y="838"/>
                  </a:lnTo>
                  <a:lnTo>
                    <a:pt x="13" y="838"/>
                  </a:lnTo>
                  <a:close/>
                  <a:moveTo>
                    <a:pt x="13" y="935"/>
                  </a:moveTo>
                  <a:lnTo>
                    <a:pt x="13" y="990"/>
                  </a:lnTo>
                  <a:lnTo>
                    <a:pt x="0" y="990"/>
                  </a:lnTo>
                  <a:lnTo>
                    <a:pt x="0" y="935"/>
                  </a:lnTo>
                  <a:lnTo>
                    <a:pt x="13" y="935"/>
                  </a:lnTo>
                  <a:close/>
                  <a:moveTo>
                    <a:pt x="23" y="1008"/>
                  </a:moveTo>
                  <a:lnTo>
                    <a:pt x="78" y="1008"/>
                  </a:lnTo>
                  <a:lnTo>
                    <a:pt x="78" y="1022"/>
                  </a:lnTo>
                  <a:lnTo>
                    <a:pt x="23" y="1022"/>
                  </a:lnTo>
                  <a:lnTo>
                    <a:pt x="23" y="1008"/>
                  </a:lnTo>
                  <a:close/>
                  <a:moveTo>
                    <a:pt x="120" y="1008"/>
                  </a:moveTo>
                  <a:lnTo>
                    <a:pt x="175" y="1008"/>
                  </a:lnTo>
                  <a:lnTo>
                    <a:pt x="175" y="1022"/>
                  </a:lnTo>
                  <a:lnTo>
                    <a:pt x="120" y="1022"/>
                  </a:lnTo>
                  <a:lnTo>
                    <a:pt x="120" y="1008"/>
                  </a:lnTo>
                  <a:close/>
                  <a:moveTo>
                    <a:pt x="217" y="1008"/>
                  </a:moveTo>
                  <a:lnTo>
                    <a:pt x="272" y="1008"/>
                  </a:lnTo>
                  <a:lnTo>
                    <a:pt x="272" y="1022"/>
                  </a:lnTo>
                  <a:lnTo>
                    <a:pt x="217" y="1022"/>
                  </a:lnTo>
                  <a:lnTo>
                    <a:pt x="217" y="1008"/>
                  </a:lnTo>
                  <a:close/>
                  <a:moveTo>
                    <a:pt x="314" y="1008"/>
                  </a:moveTo>
                  <a:lnTo>
                    <a:pt x="369" y="1008"/>
                  </a:lnTo>
                  <a:lnTo>
                    <a:pt x="369" y="1022"/>
                  </a:lnTo>
                  <a:lnTo>
                    <a:pt x="314" y="1022"/>
                  </a:lnTo>
                  <a:lnTo>
                    <a:pt x="314" y="1008"/>
                  </a:lnTo>
                  <a:close/>
                  <a:moveTo>
                    <a:pt x="411" y="1008"/>
                  </a:moveTo>
                  <a:lnTo>
                    <a:pt x="466" y="1008"/>
                  </a:lnTo>
                  <a:lnTo>
                    <a:pt x="466" y="1022"/>
                  </a:lnTo>
                  <a:lnTo>
                    <a:pt x="411" y="1022"/>
                  </a:lnTo>
                  <a:lnTo>
                    <a:pt x="411" y="1008"/>
                  </a:lnTo>
                  <a:close/>
                  <a:moveTo>
                    <a:pt x="508" y="1008"/>
                  </a:moveTo>
                  <a:lnTo>
                    <a:pt x="563" y="1008"/>
                  </a:lnTo>
                  <a:lnTo>
                    <a:pt x="563" y="1022"/>
                  </a:lnTo>
                  <a:lnTo>
                    <a:pt x="508" y="1022"/>
                  </a:lnTo>
                  <a:lnTo>
                    <a:pt x="508" y="1008"/>
                  </a:lnTo>
                  <a:close/>
                  <a:moveTo>
                    <a:pt x="605" y="1008"/>
                  </a:moveTo>
                  <a:lnTo>
                    <a:pt x="660" y="1008"/>
                  </a:lnTo>
                  <a:lnTo>
                    <a:pt x="660" y="1022"/>
                  </a:lnTo>
                  <a:lnTo>
                    <a:pt x="605" y="1022"/>
                  </a:lnTo>
                  <a:lnTo>
                    <a:pt x="605" y="1008"/>
                  </a:lnTo>
                  <a:close/>
                  <a:moveTo>
                    <a:pt x="702" y="1008"/>
                  </a:moveTo>
                  <a:lnTo>
                    <a:pt x="757" y="1008"/>
                  </a:lnTo>
                  <a:lnTo>
                    <a:pt x="757" y="1022"/>
                  </a:lnTo>
                  <a:lnTo>
                    <a:pt x="702" y="1022"/>
                  </a:lnTo>
                  <a:lnTo>
                    <a:pt x="702" y="1008"/>
                  </a:lnTo>
                  <a:close/>
                  <a:moveTo>
                    <a:pt x="799" y="1008"/>
                  </a:moveTo>
                  <a:lnTo>
                    <a:pt x="854" y="1008"/>
                  </a:lnTo>
                  <a:lnTo>
                    <a:pt x="854" y="1022"/>
                  </a:lnTo>
                  <a:lnTo>
                    <a:pt x="799" y="1022"/>
                  </a:lnTo>
                  <a:lnTo>
                    <a:pt x="799" y="1008"/>
                  </a:lnTo>
                  <a:close/>
                  <a:moveTo>
                    <a:pt x="896" y="1008"/>
                  </a:moveTo>
                  <a:lnTo>
                    <a:pt x="951" y="1008"/>
                  </a:lnTo>
                  <a:lnTo>
                    <a:pt x="951" y="1022"/>
                  </a:lnTo>
                  <a:lnTo>
                    <a:pt x="896" y="1022"/>
                  </a:lnTo>
                  <a:lnTo>
                    <a:pt x="896" y="1008"/>
                  </a:lnTo>
                  <a:close/>
                  <a:moveTo>
                    <a:pt x="993" y="1008"/>
                  </a:moveTo>
                  <a:lnTo>
                    <a:pt x="1048" y="1008"/>
                  </a:lnTo>
                  <a:lnTo>
                    <a:pt x="1048" y="1022"/>
                  </a:lnTo>
                  <a:lnTo>
                    <a:pt x="993" y="1022"/>
                  </a:lnTo>
                  <a:lnTo>
                    <a:pt x="993" y="1008"/>
                  </a:lnTo>
                  <a:close/>
                  <a:moveTo>
                    <a:pt x="1090" y="1008"/>
                  </a:moveTo>
                  <a:lnTo>
                    <a:pt x="1145" y="1008"/>
                  </a:lnTo>
                  <a:lnTo>
                    <a:pt x="1145" y="1022"/>
                  </a:lnTo>
                  <a:lnTo>
                    <a:pt x="1090" y="1022"/>
                  </a:lnTo>
                  <a:lnTo>
                    <a:pt x="1090" y="1008"/>
                  </a:lnTo>
                  <a:close/>
                  <a:moveTo>
                    <a:pt x="1187" y="1008"/>
                  </a:moveTo>
                  <a:lnTo>
                    <a:pt x="1242" y="1008"/>
                  </a:lnTo>
                  <a:lnTo>
                    <a:pt x="1242" y="1022"/>
                  </a:lnTo>
                  <a:lnTo>
                    <a:pt x="1187" y="1022"/>
                  </a:lnTo>
                  <a:lnTo>
                    <a:pt x="1187" y="1008"/>
                  </a:lnTo>
                  <a:close/>
                  <a:moveTo>
                    <a:pt x="1283" y="1008"/>
                  </a:moveTo>
                  <a:lnTo>
                    <a:pt x="1339" y="1008"/>
                  </a:lnTo>
                  <a:lnTo>
                    <a:pt x="1339" y="1022"/>
                  </a:lnTo>
                  <a:lnTo>
                    <a:pt x="1283" y="1022"/>
                  </a:lnTo>
                  <a:lnTo>
                    <a:pt x="1283" y="1008"/>
                  </a:lnTo>
                  <a:close/>
                  <a:moveTo>
                    <a:pt x="1380" y="1008"/>
                  </a:moveTo>
                  <a:lnTo>
                    <a:pt x="1436" y="1008"/>
                  </a:lnTo>
                  <a:lnTo>
                    <a:pt x="1436" y="1022"/>
                  </a:lnTo>
                  <a:lnTo>
                    <a:pt x="1380" y="1022"/>
                  </a:lnTo>
                  <a:lnTo>
                    <a:pt x="1380" y="1008"/>
                  </a:lnTo>
                  <a:close/>
                  <a:moveTo>
                    <a:pt x="1477" y="1008"/>
                  </a:moveTo>
                  <a:lnTo>
                    <a:pt x="1533" y="1008"/>
                  </a:lnTo>
                  <a:lnTo>
                    <a:pt x="1533" y="1022"/>
                  </a:lnTo>
                  <a:lnTo>
                    <a:pt x="1477" y="1022"/>
                  </a:lnTo>
                  <a:lnTo>
                    <a:pt x="1477" y="1008"/>
                  </a:lnTo>
                  <a:close/>
                  <a:moveTo>
                    <a:pt x="1574" y="1008"/>
                  </a:moveTo>
                  <a:lnTo>
                    <a:pt x="1630" y="1008"/>
                  </a:lnTo>
                  <a:lnTo>
                    <a:pt x="1630" y="1022"/>
                  </a:lnTo>
                  <a:lnTo>
                    <a:pt x="1574" y="1022"/>
                  </a:lnTo>
                  <a:lnTo>
                    <a:pt x="1574" y="1008"/>
                  </a:lnTo>
                  <a:close/>
                  <a:moveTo>
                    <a:pt x="1671" y="1008"/>
                  </a:moveTo>
                  <a:lnTo>
                    <a:pt x="1727" y="1008"/>
                  </a:lnTo>
                  <a:lnTo>
                    <a:pt x="1727" y="1022"/>
                  </a:lnTo>
                  <a:lnTo>
                    <a:pt x="1671" y="1022"/>
                  </a:lnTo>
                  <a:lnTo>
                    <a:pt x="1671" y="1008"/>
                  </a:lnTo>
                  <a:close/>
                  <a:moveTo>
                    <a:pt x="1768" y="1008"/>
                  </a:moveTo>
                  <a:lnTo>
                    <a:pt x="1824" y="1008"/>
                  </a:lnTo>
                  <a:lnTo>
                    <a:pt x="1824" y="1022"/>
                  </a:lnTo>
                  <a:lnTo>
                    <a:pt x="1768" y="1022"/>
                  </a:lnTo>
                  <a:lnTo>
                    <a:pt x="1768" y="1008"/>
                  </a:lnTo>
                  <a:close/>
                  <a:moveTo>
                    <a:pt x="1865" y="1008"/>
                  </a:moveTo>
                  <a:lnTo>
                    <a:pt x="1921" y="1008"/>
                  </a:lnTo>
                  <a:lnTo>
                    <a:pt x="1921" y="1022"/>
                  </a:lnTo>
                  <a:lnTo>
                    <a:pt x="1865" y="1022"/>
                  </a:lnTo>
                  <a:lnTo>
                    <a:pt x="1865" y="1008"/>
                  </a:lnTo>
                  <a:close/>
                  <a:moveTo>
                    <a:pt x="1962" y="1008"/>
                  </a:moveTo>
                  <a:lnTo>
                    <a:pt x="2018" y="1008"/>
                  </a:lnTo>
                  <a:lnTo>
                    <a:pt x="2018" y="1022"/>
                  </a:lnTo>
                  <a:lnTo>
                    <a:pt x="1962" y="1022"/>
                  </a:lnTo>
                  <a:lnTo>
                    <a:pt x="1962" y="1008"/>
                  </a:lnTo>
                  <a:close/>
                  <a:moveTo>
                    <a:pt x="2059" y="1008"/>
                  </a:moveTo>
                  <a:lnTo>
                    <a:pt x="2115" y="1008"/>
                  </a:lnTo>
                  <a:lnTo>
                    <a:pt x="2115" y="1022"/>
                  </a:lnTo>
                  <a:lnTo>
                    <a:pt x="2059" y="1022"/>
                  </a:lnTo>
                  <a:lnTo>
                    <a:pt x="2059" y="1008"/>
                  </a:lnTo>
                  <a:close/>
                  <a:moveTo>
                    <a:pt x="2156" y="1008"/>
                  </a:moveTo>
                  <a:lnTo>
                    <a:pt x="2211" y="1008"/>
                  </a:lnTo>
                  <a:lnTo>
                    <a:pt x="2211" y="1022"/>
                  </a:lnTo>
                  <a:lnTo>
                    <a:pt x="2156" y="1022"/>
                  </a:lnTo>
                  <a:lnTo>
                    <a:pt x="2156" y="1008"/>
                  </a:lnTo>
                  <a:close/>
                  <a:moveTo>
                    <a:pt x="2253" y="1008"/>
                  </a:moveTo>
                  <a:lnTo>
                    <a:pt x="2308" y="1008"/>
                  </a:lnTo>
                  <a:lnTo>
                    <a:pt x="2308" y="1022"/>
                  </a:lnTo>
                  <a:lnTo>
                    <a:pt x="2253" y="1022"/>
                  </a:lnTo>
                  <a:lnTo>
                    <a:pt x="2253" y="1008"/>
                  </a:lnTo>
                  <a:close/>
                  <a:moveTo>
                    <a:pt x="2350" y="1008"/>
                  </a:moveTo>
                  <a:lnTo>
                    <a:pt x="2405" y="1008"/>
                  </a:lnTo>
                  <a:lnTo>
                    <a:pt x="2405" y="1022"/>
                  </a:lnTo>
                  <a:lnTo>
                    <a:pt x="2350" y="1022"/>
                  </a:lnTo>
                  <a:lnTo>
                    <a:pt x="2350" y="1008"/>
                  </a:lnTo>
                  <a:close/>
                  <a:moveTo>
                    <a:pt x="2447" y="1008"/>
                  </a:moveTo>
                  <a:lnTo>
                    <a:pt x="2502" y="1008"/>
                  </a:lnTo>
                  <a:lnTo>
                    <a:pt x="2502" y="1022"/>
                  </a:lnTo>
                  <a:lnTo>
                    <a:pt x="2447" y="1022"/>
                  </a:lnTo>
                  <a:lnTo>
                    <a:pt x="2447" y="1008"/>
                  </a:lnTo>
                  <a:close/>
                  <a:moveTo>
                    <a:pt x="2544" y="1008"/>
                  </a:moveTo>
                  <a:lnTo>
                    <a:pt x="2599" y="1008"/>
                  </a:lnTo>
                  <a:lnTo>
                    <a:pt x="2599" y="1022"/>
                  </a:lnTo>
                  <a:lnTo>
                    <a:pt x="2544" y="1022"/>
                  </a:lnTo>
                  <a:lnTo>
                    <a:pt x="2544" y="1008"/>
                  </a:lnTo>
                  <a:close/>
                  <a:moveTo>
                    <a:pt x="2641" y="1008"/>
                  </a:moveTo>
                  <a:lnTo>
                    <a:pt x="2696" y="1008"/>
                  </a:lnTo>
                  <a:lnTo>
                    <a:pt x="2696" y="1022"/>
                  </a:lnTo>
                  <a:lnTo>
                    <a:pt x="2641" y="1022"/>
                  </a:lnTo>
                  <a:lnTo>
                    <a:pt x="2641" y="1008"/>
                  </a:lnTo>
                  <a:close/>
                  <a:moveTo>
                    <a:pt x="2738" y="1008"/>
                  </a:moveTo>
                  <a:lnTo>
                    <a:pt x="2793" y="1008"/>
                  </a:lnTo>
                  <a:lnTo>
                    <a:pt x="2793" y="1022"/>
                  </a:lnTo>
                  <a:lnTo>
                    <a:pt x="2738" y="1022"/>
                  </a:lnTo>
                  <a:lnTo>
                    <a:pt x="2738" y="1008"/>
                  </a:lnTo>
                  <a:close/>
                  <a:moveTo>
                    <a:pt x="2835" y="1008"/>
                  </a:moveTo>
                  <a:lnTo>
                    <a:pt x="2890" y="1008"/>
                  </a:lnTo>
                  <a:lnTo>
                    <a:pt x="2890" y="1022"/>
                  </a:lnTo>
                  <a:lnTo>
                    <a:pt x="2835" y="1022"/>
                  </a:lnTo>
                  <a:lnTo>
                    <a:pt x="2835" y="1008"/>
                  </a:lnTo>
                  <a:close/>
                  <a:moveTo>
                    <a:pt x="2932" y="1008"/>
                  </a:moveTo>
                  <a:lnTo>
                    <a:pt x="2987" y="1008"/>
                  </a:lnTo>
                  <a:lnTo>
                    <a:pt x="2987" y="1022"/>
                  </a:lnTo>
                  <a:lnTo>
                    <a:pt x="2932" y="1022"/>
                  </a:lnTo>
                  <a:lnTo>
                    <a:pt x="2932" y="1008"/>
                  </a:lnTo>
                  <a:close/>
                  <a:moveTo>
                    <a:pt x="3029" y="1008"/>
                  </a:moveTo>
                  <a:lnTo>
                    <a:pt x="3084" y="1008"/>
                  </a:lnTo>
                  <a:lnTo>
                    <a:pt x="3084" y="1022"/>
                  </a:lnTo>
                  <a:lnTo>
                    <a:pt x="3029" y="1022"/>
                  </a:lnTo>
                  <a:lnTo>
                    <a:pt x="3029" y="1008"/>
                  </a:lnTo>
                  <a:close/>
                  <a:moveTo>
                    <a:pt x="3126" y="1008"/>
                  </a:moveTo>
                  <a:lnTo>
                    <a:pt x="3181" y="1008"/>
                  </a:lnTo>
                  <a:lnTo>
                    <a:pt x="3181" y="1022"/>
                  </a:lnTo>
                  <a:lnTo>
                    <a:pt x="3126" y="1022"/>
                  </a:lnTo>
                  <a:lnTo>
                    <a:pt x="3126" y="1008"/>
                  </a:lnTo>
                  <a:close/>
                  <a:moveTo>
                    <a:pt x="3223" y="1008"/>
                  </a:moveTo>
                  <a:lnTo>
                    <a:pt x="3278" y="1008"/>
                  </a:lnTo>
                  <a:lnTo>
                    <a:pt x="3278" y="1022"/>
                  </a:lnTo>
                  <a:lnTo>
                    <a:pt x="3223" y="1022"/>
                  </a:lnTo>
                  <a:lnTo>
                    <a:pt x="3223" y="1008"/>
                  </a:lnTo>
                  <a:close/>
                  <a:moveTo>
                    <a:pt x="3320" y="1008"/>
                  </a:moveTo>
                  <a:lnTo>
                    <a:pt x="3375" y="1008"/>
                  </a:lnTo>
                  <a:lnTo>
                    <a:pt x="3375" y="1022"/>
                  </a:lnTo>
                  <a:lnTo>
                    <a:pt x="3320" y="1022"/>
                  </a:lnTo>
                  <a:lnTo>
                    <a:pt x="3320" y="1008"/>
                  </a:lnTo>
                  <a:close/>
                  <a:moveTo>
                    <a:pt x="3416" y="1008"/>
                  </a:moveTo>
                  <a:lnTo>
                    <a:pt x="3472" y="1008"/>
                  </a:lnTo>
                  <a:lnTo>
                    <a:pt x="3472" y="1022"/>
                  </a:lnTo>
                  <a:lnTo>
                    <a:pt x="3416" y="1022"/>
                  </a:lnTo>
                  <a:lnTo>
                    <a:pt x="3416" y="1008"/>
                  </a:lnTo>
                  <a:close/>
                  <a:moveTo>
                    <a:pt x="3513" y="1008"/>
                  </a:moveTo>
                  <a:lnTo>
                    <a:pt x="3569" y="1008"/>
                  </a:lnTo>
                  <a:lnTo>
                    <a:pt x="3569" y="1022"/>
                  </a:lnTo>
                  <a:lnTo>
                    <a:pt x="3513" y="1022"/>
                  </a:lnTo>
                  <a:lnTo>
                    <a:pt x="3513" y="1008"/>
                  </a:lnTo>
                  <a:close/>
                  <a:moveTo>
                    <a:pt x="3610" y="1008"/>
                  </a:moveTo>
                  <a:lnTo>
                    <a:pt x="3666" y="1008"/>
                  </a:lnTo>
                  <a:lnTo>
                    <a:pt x="3666" y="1022"/>
                  </a:lnTo>
                  <a:lnTo>
                    <a:pt x="3610" y="1022"/>
                  </a:lnTo>
                  <a:lnTo>
                    <a:pt x="3610" y="1008"/>
                  </a:lnTo>
                  <a:close/>
                  <a:moveTo>
                    <a:pt x="3707" y="1008"/>
                  </a:moveTo>
                  <a:lnTo>
                    <a:pt x="3763" y="1008"/>
                  </a:lnTo>
                  <a:lnTo>
                    <a:pt x="3763" y="1022"/>
                  </a:lnTo>
                  <a:lnTo>
                    <a:pt x="3707" y="1022"/>
                  </a:lnTo>
                  <a:lnTo>
                    <a:pt x="3707" y="1008"/>
                  </a:lnTo>
                  <a:close/>
                  <a:moveTo>
                    <a:pt x="3804" y="1008"/>
                  </a:moveTo>
                  <a:lnTo>
                    <a:pt x="3860" y="1008"/>
                  </a:lnTo>
                  <a:lnTo>
                    <a:pt x="3860" y="1022"/>
                  </a:lnTo>
                  <a:lnTo>
                    <a:pt x="3804" y="1022"/>
                  </a:lnTo>
                  <a:lnTo>
                    <a:pt x="3804" y="1008"/>
                  </a:lnTo>
                  <a:close/>
                  <a:moveTo>
                    <a:pt x="3901" y="1008"/>
                  </a:moveTo>
                  <a:lnTo>
                    <a:pt x="3957" y="1008"/>
                  </a:lnTo>
                  <a:lnTo>
                    <a:pt x="3957" y="1022"/>
                  </a:lnTo>
                  <a:lnTo>
                    <a:pt x="3901" y="1022"/>
                  </a:lnTo>
                  <a:lnTo>
                    <a:pt x="3901" y="1008"/>
                  </a:lnTo>
                  <a:close/>
                  <a:moveTo>
                    <a:pt x="3998" y="1008"/>
                  </a:moveTo>
                  <a:lnTo>
                    <a:pt x="4054" y="1008"/>
                  </a:lnTo>
                  <a:lnTo>
                    <a:pt x="4054" y="1022"/>
                  </a:lnTo>
                  <a:lnTo>
                    <a:pt x="3998" y="1022"/>
                  </a:lnTo>
                  <a:lnTo>
                    <a:pt x="3998" y="1008"/>
                  </a:lnTo>
                  <a:close/>
                  <a:moveTo>
                    <a:pt x="4095" y="1008"/>
                  </a:moveTo>
                  <a:lnTo>
                    <a:pt x="4151" y="1008"/>
                  </a:lnTo>
                  <a:lnTo>
                    <a:pt x="4151" y="1022"/>
                  </a:lnTo>
                  <a:lnTo>
                    <a:pt x="4095" y="1022"/>
                  </a:lnTo>
                  <a:lnTo>
                    <a:pt x="4095" y="1008"/>
                  </a:lnTo>
                  <a:close/>
                  <a:moveTo>
                    <a:pt x="4192" y="1008"/>
                  </a:moveTo>
                  <a:lnTo>
                    <a:pt x="4248" y="1008"/>
                  </a:lnTo>
                  <a:lnTo>
                    <a:pt x="4248" y="1022"/>
                  </a:lnTo>
                  <a:lnTo>
                    <a:pt x="4192" y="1022"/>
                  </a:lnTo>
                  <a:lnTo>
                    <a:pt x="4192" y="1008"/>
                  </a:lnTo>
                  <a:close/>
                  <a:moveTo>
                    <a:pt x="4289" y="1008"/>
                  </a:moveTo>
                  <a:lnTo>
                    <a:pt x="4344" y="1008"/>
                  </a:lnTo>
                  <a:lnTo>
                    <a:pt x="4344" y="1022"/>
                  </a:lnTo>
                  <a:lnTo>
                    <a:pt x="4289" y="1022"/>
                  </a:lnTo>
                  <a:lnTo>
                    <a:pt x="4289" y="1008"/>
                  </a:lnTo>
                  <a:close/>
                  <a:moveTo>
                    <a:pt x="4386" y="1008"/>
                  </a:moveTo>
                  <a:lnTo>
                    <a:pt x="4441" y="1008"/>
                  </a:lnTo>
                  <a:lnTo>
                    <a:pt x="4441" y="1022"/>
                  </a:lnTo>
                  <a:lnTo>
                    <a:pt x="4386" y="1022"/>
                  </a:lnTo>
                  <a:lnTo>
                    <a:pt x="4386" y="1008"/>
                  </a:lnTo>
                  <a:close/>
                  <a:moveTo>
                    <a:pt x="4483" y="1008"/>
                  </a:moveTo>
                  <a:lnTo>
                    <a:pt x="4538" y="1008"/>
                  </a:lnTo>
                  <a:lnTo>
                    <a:pt x="4538" y="1022"/>
                  </a:lnTo>
                  <a:lnTo>
                    <a:pt x="4483" y="1022"/>
                  </a:lnTo>
                  <a:lnTo>
                    <a:pt x="4483" y="1008"/>
                  </a:lnTo>
                  <a:close/>
                  <a:moveTo>
                    <a:pt x="4580" y="1008"/>
                  </a:moveTo>
                  <a:lnTo>
                    <a:pt x="4635" y="1008"/>
                  </a:lnTo>
                  <a:lnTo>
                    <a:pt x="4635" y="1022"/>
                  </a:lnTo>
                  <a:lnTo>
                    <a:pt x="4580" y="1022"/>
                  </a:lnTo>
                  <a:lnTo>
                    <a:pt x="4580" y="1008"/>
                  </a:lnTo>
                  <a:close/>
                  <a:moveTo>
                    <a:pt x="4677" y="1008"/>
                  </a:moveTo>
                  <a:lnTo>
                    <a:pt x="4732" y="1008"/>
                  </a:lnTo>
                  <a:lnTo>
                    <a:pt x="4732" y="1022"/>
                  </a:lnTo>
                  <a:lnTo>
                    <a:pt x="4677" y="1022"/>
                  </a:lnTo>
                  <a:lnTo>
                    <a:pt x="4677" y="1008"/>
                  </a:lnTo>
                  <a:close/>
                  <a:moveTo>
                    <a:pt x="4774" y="1008"/>
                  </a:moveTo>
                  <a:lnTo>
                    <a:pt x="4829" y="1008"/>
                  </a:lnTo>
                  <a:lnTo>
                    <a:pt x="4829" y="1022"/>
                  </a:lnTo>
                  <a:lnTo>
                    <a:pt x="4774" y="1022"/>
                  </a:lnTo>
                  <a:lnTo>
                    <a:pt x="4774" y="1008"/>
                  </a:lnTo>
                  <a:close/>
                  <a:moveTo>
                    <a:pt x="4871" y="1008"/>
                  </a:moveTo>
                  <a:lnTo>
                    <a:pt x="4926" y="1008"/>
                  </a:lnTo>
                  <a:lnTo>
                    <a:pt x="4926" y="1022"/>
                  </a:lnTo>
                  <a:lnTo>
                    <a:pt x="4871" y="1022"/>
                  </a:lnTo>
                  <a:lnTo>
                    <a:pt x="4871" y="1008"/>
                  </a:lnTo>
                  <a:close/>
                  <a:moveTo>
                    <a:pt x="4968" y="1008"/>
                  </a:moveTo>
                  <a:lnTo>
                    <a:pt x="4993" y="1008"/>
                  </a:lnTo>
                  <a:lnTo>
                    <a:pt x="4986" y="1015"/>
                  </a:lnTo>
                  <a:lnTo>
                    <a:pt x="4986" y="985"/>
                  </a:lnTo>
                  <a:lnTo>
                    <a:pt x="5000" y="985"/>
                  </a:lnTo>
                  <a:lnTo>
                    <a:pt x="5000" y="1022"/>
                  </a:lnTo>
                  <a:lnTo>
                    <a:pt x="4968" y="1022"/>
                  </a:lnTo>
                  <a:lnTo>
                    <a:pt x="4968" y="1008"/>
                  </a:lnTo>
                  <a:close/>
                  <a:moveTo>
                    <a:pt x="4986" y="943"/>
                  </a:moveTo>
                  <a:lnTo>
                    <a:pt x="4986" y="888"/>
                  </a:lnTo>
                  <a:lnTo>
                    <a:pt x="5000" y="888"/>
                  </a:lnTo>
                  <a:lnTo>
                    <a:pt x="5000" y="943"/>
                  </a:lnTo>
                  <a:lnTo>
                    <a:pt x="4986" y="943"/>
                  </a:lnTo>
                  <a:close/>
                  <a:moveTo>
                    <a:pt x="4986" y="846"/>
                  </a:moveTo>
                  <a:lnTo>
                    <a:pt x="4986" y="791"/>
                  </a:lnTo>
                  <a:lnTo>
                    <a:pt x="5000" y="791"/>
                  </a:lnTo>
                  <a:lnTo>
                    <a:pt x="5000" y="846"/>
                  </a:lnTo>
                  <a:lnTo>
                    <a:pt x="4986" y="846"/>
                  </a:lnTo>
                  <a:close/>
                  <a:moveTo>
                    <a:pt x="4986" y="749"/>
                  </a:moveTo>
                  <a:lnTo>
                    <a:pt x="4986" y="694"/>
                  </a:lnTo>
                  <a:lnTo>
                    <a:pt x="5000" y="694"/>
                  </a:lnTo>
                  <a:lnTo>
                    <a:pt x="5000" y="749"/>
                  </a:lnTo>
                  <a:lnTo>
                    <a:pt x="4986" y="749"/>
                  </a:lnTo>
                  <a:close/>
                  <a:moveTo>
                    <a:pt x="4986" y="652"/>
                  </a:moveTo>
                  <a:lnTo>
                    <a:pt x="4986" y="597"/>
                  </a:lnTo>
                  <a:lnTo>
                    <a:pt x="5000" y="597"/>
                  </a:lnTo>
                  <a:lnTo>
                    <a:pt x="5000" y="652"/>
                  </a:lnTo>
                  <a:lnTo>
                    <a:pt x="4986" y="652"/>
                  </a:lnTo>
                  <a:close/>
                  <a:moveTo>
                    <a:pt x="4986" y="555"/>
                  </a:moveTo>
                  <a:lnTo>
                    <a:pt x="4986" y="500"/>
                  </a:lnTo>
                  <a:lnTo>
                    <a:pt x="5000" y="500"/>
                  </a:lnTo>
                  <a:lnTo>
                    <a:pt x="5000" y="555"/>
                  </a:lnTo>
                  <a:lnTo>
                    <a:pt x="4986" y="555"/>
                  </a:lnTo>
                  <a:close/>
                  <a:moveTo>
                    <a:pt x="4986" y="459"/>
                  </a:moveTo>
                  <a:lnTo>
                    <a:pt x="4986" y="403"/>
                  </a:lnTo>
                  <a:lnTo>
                    <a:pt x="5000" y="403"/>
                  </a:lnTo>
                  <a:lnTo>
                    <a:pt x="5000" y="459"/>
                  </a:lnTo>
                  <a:lnTo>
                    <a:pt x="4986" y="459"/>
                  </a:lnTo>
                  <a:close/>
                  <a:moveTo>
                    <a:pt x="4986" y="362"/>
                  </a:moveTo>
                  <a:lnTo>
                    <a:pt x="4986" y="306"/>
                  </a:lnTo>
                  <a:lnTo>
                    <a:pt x="5000" y="306"/>
                  </a:lnTo>
                  <a:lnTo>
                    <a:pt x="5000" y="362"/>
                  </a:lnTo>
                  <a:lnTo>
                    <a:pt x="4986" y="362"/>
                  </a:lnTo>
                  <a:close/>
                  <a:moveTo>
                    <a:pt x="4986" y="265"/>
                  </a:moveTo>
                  <a:lnTo>
                    <a:pt x="4986" y="209"/>
                  </a:lnTo>
                  <a:lnTo>
                    <a:pt x="5000" y="209"/>
                  </a:lnTo>
                  <a:lnTo>
                    <a:pt x="5000" y="265"/>
                  </a:lnTo>
                  <a:lnTo>
                    <a:pt x="4986" y="265"/>
                  </a:lnTo>
                  <a:close/>
                  <a:moveTo>
                    <a:pt x="4986" y="168"/>
                  </a:moveTo>
                  <a:lnTo>
                    <a:pt x="4986" y="112"/>
                  </a:lnTo>
                  <a:lnTo>
                    <a:pt x="5000" y="112"/>
                  </a:lnTo>
                  <a:lnTo>
                    <a:pt x="5000" y="168"/>
                  </a:lnTo>
                  <a:lnTo>
                    <a:pt x="4986" y="168"/>
                  </a:lnTo>
                  <a:close/>
                  <a:moveTo>
                    <a:pt x="4986" y="71"/>
                  </a:moveTo>
                  <a:lnTo>
                    <a:pt x="4986" y="15"/>
                  </a:lnTo>
                  <a:lnTo>
                    <a:pt x="5000" y="15"/>
                  </a:lnTo>
                  <a:lnTo>
                    <a:pt x="5000" y="71"/>
                  </a:lnTo>
                  <a:lnTo>
                    <a:pt x="4986" y="71"/>
                  </a:lnTo>
                  <a:close/>
                </a:path>
              </a:pathLst>
            </a:custGeom>
            <a:solidFill>
              <a:srgbClr val="000000"/>
            </a:solidFill>
            <a:ln w="1" cap="flat">
              <a:solidFill>
                <a:srgbClr val="000000"/>
              </a:solidFill>
              <a:prstDash val="solid"/>
              <a:bevel/>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 name="Rectangle 7"/>
            <p:cNvSpPr>
              <a:spLocks noChangeArrowheads="1"/>
            </p:cNvSpPr>
            <p:nvPr/>
          </p:nvSpPr>
          <p:spPr bwMode="auto">
            <a:xfrm>
              <a:off x="481" y="2541"/>
              <a:ext cx="1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7" name="Rectangle 8"/>
            <p:cNvSpPr>
              <a:spLocks noChangeArrowheads="1"/>
            </p:cNvSpPr>
            <p:nvPr/>
          </p:nvSpPr>
          <p:spPr bwMode="auto">
            <a:xfrm>
              <a:off x="481" y="2837"/>
              <a:ext cx="25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100" b="0" i="0" u="none" strike="noStrike" cap="none" normalizeH="0" baseline="0">
                  <a:ln>
                    <a:noFill/>
                  </a:ln>
                  <a:solidFill>
                    <a:srgbClr val="000000"/>
                  </a:solidFill>
                  <a:effectLst/>
                  <a:latin typeface="宋体" pitchFamily="2" charset="-122"/>
                  <a:ea typeface="宋体" pitchFamily="2" charset="-122"/>
                  <a:cs typeface="宋体" pitchFamily="2" charset="-122"/>
                </a:rPr>
                <a:t>预测</a:t>
              </a:r>
              <a:endParaRPr kumimoji="0" 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8" name="Rectangle 9"/>
            <p:cNvSpPr>
              <a:spLocks noChangeArrowheads="1"/>
            </p:cNvSpPr>
            <p:nvPr/>
          </p:nvSpPr>
          <p:spPr bwMode="auto">
            <a:xfrm>
              <a:off x="813" y="2832"/>
              <a:ext cx="11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Rectangle 10"/>
            <p:cNvSpPr>
              <a:spLocks noChangeArrowheads="1"/>
            </p:cNvSpPr>
            <p:nvPr/>
          </p:nvSpPr>
          <p:spPr bwMode="auto">
            <a:xfrm>
              <a:off x="860" y="2832"/>
              <a:ext cx="1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0" name="Rectangle 11"/>
            <p:cNvSpPr>
              <a:spLocks noChangeArrowheads="1"/>
            </p:cNvSpPr>
            <p:nvPr/>
          </p:nvSpPr>
          <p:spPr bwMode="auto">
            <a:xfrm>
              <a:off x="481" y="3125"/>
              <a:ext cx="3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100" b="0" i="0" u="none" strike="noStrike" cap="none" normalizeH="0" baseline="0">
                  <a:ln>
                    <a:noFill/>
                  </a:ln>
                  <a:solidFill>
                    <a:srgbClr val="000000"/>
                  </a:solidFill>
                  <a:effectLst/>
                  <a:latin typeface="宋体" pitchFamily="2" charset="-122"/>
                  <a:ea typeface="宋体" pitchFamily="2" charset="-122"/>
                  <a:cs typeface="宋体" pitchFamily="2" charset="-122"/>
                </a:rPr>
                <a:t>不成功</a:t>
              </a:r>
              <a:endParaRPr kumimoji="0" 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1" name="Rectangle 12"/>
            <p:cNvSpPr>
              <a:spLocks noChangeArrowheads="1"/>
            </p:cNvSpPr>
            <p:nvPr/>
          </p:nvSpPr>
          <p:spPr bwMode="auto">
            <a:xfrm>
              <a:off x="979" y="3120"/>
              <a:ext cx="1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2" name="Freeform 13"/>
            <p:cNvSpPr>
              <a:spLocks noEditPoints="1"/>
            </p:cNvSpPr>
            <p:nvPr/>
          </p:nvSpPr>
          <p:spPr bwMode="auto">
            <a:xfrm>
              <a:off x="333" y="1110"/>
              <a:ext cx="5000" cy="1022"/>
            </a:xfrm>
            <a:custGeom>
              <a:avLst/>
              <a:gdLst>
                <a:gd name="T0" fmla="*/ 4896 w 5000"/>
                <a:gd name="T1" fmla="*/ 13 h 1022"/>
                <a:gd name="T2" fmla="*/ 4702 w 5000"/>
                <a:gd name="T3" fmla="*/ 13 h 1022"/>
                <a:gd name="T4" fmla="*/ 4508 w 5000"/>
                <a:gd name="T5" fmla="*/ 13 h 1022"/>
                <a:gd name="T6" fmla="*/ 4314 w 5000"/>
                <a:gd name="T7" fmla="*/ 13 h 1022"/>
                <a:gd name="T8" fmla="*/ 4120 w 5000"/>
                <a:gd name="T9" fmla="*/ 13 h 1022"/>
                <a:gd name="T10" fmla="*/ 3926 w 5000"/>
                <a:gd name="T11" fmla="*/ 13 h 1022"/>
                <a:gd name="T12" fmla="*/ 3732 w 5000"/>
                <a:gd name="T13" fmla="*/ 13 h 1022"/>
                <a:gd name="T14" fmla="*/ 3538 w 5000"/>
                <a:gd name="T15" fmla="*/ 13 h 1022"/>
                <a:gd name="T16" fmla="*/ 3344 w 5000"/>
                <a:gd name="T17" fmla="*/ 13 h 1022"/>
                <a:gd name="T18" fmla="*/ 3151 w 5000"/>
                <a:gd name="T19" fmla="*/ 13 h 1022"/>
                <a:gd name="T20" fmla="*/ 2957 w 5000"/>
                <a:gd name="T21" fmla="*/ 13 h 1022"/>
                <a:gd name="T22" fmla="*/ 2763 w 5000"/>
                <a:gd name="T23" fmla="*/ 13 h 1022"/>
                <a:gd name="T24" fmla="*/ 2569 w 5000"/>
                <a:gd name="T25" fmla="*/ 13 h 1022"/>
                <a:gd name="T26" fmla="*/ 2375 w 5000"/>
                <a:gd name="T27" fmla="*/ 13 h 1022"/>
                <a:gd name="T28" fmla="*/ 2181 w 5000"/>
                <a:gd name="T29" fmla="*/ 13 h 1022"/>
                <a:gd name="T30" fmla="*/ 1987 w 5000"/>
                <a:gd name="T31" fmla="*/ 13 h 1022"/>
                <a:gd name="T32" fmla="*/ 1793 w 5000"/>
                <a:gd name="T33" fmla="*/ 13 h 1022"/>
                <a:gd name="T34" fmla="*/ 1599 w 5000"/>
                <a:gd name="T35" fmla="*/ 13 h 1022"/>
                <a:gd name="T36" fmla="*/ 1405 w 5000"/>
                <a:gd name="T37" fmla="*/ 13 h 1022"/>
                <a:gd name="T38" fmla="*/ 1211 w 5000"/>
                <a:gd name="T39" fmla="*/ 13 h 1022"/>
                <a:gd name="T40" fmla="*/ 1018 w 5000"/>
                <a:gd name="T41" fmla="*/ 13 h 1022"/>
                <a:gd name="T42" fmla="*/ 824 w 5000"/>
                <a:gd name="T43" fmla="*/ 13 h 1022"/>
                <a:gd name="T44" fmla="*/ 630 w 5000"/>
                <a:gd name="T45" fmla="*/ 13 h 1022"/>
                <a:gd name="T46" fmla="*/ 436 w 5000"/>
                <a:gd name="T47" fmla="*/ 13 h 1022"/>
                <a:gd name="T48" fmla="*/ 242 w 5000"/>
                <a:gd name="T49" fmla="*/ 13 h 1022"/>
                <a:gd name="T50" fmla="*/ 0 w 5000"/>
                <a:gd name="T51" fmla="*/ 20 h 1022"/>
                <a:gd name="T52" fmla="*/ 13 w 5000"/>
                <a:gd name="T53" fmla="*/ 214 h 1022"/>
                <a:gd name="T54" fmla="*/ 13 w 5000"/>
                <a:gd name="T55" fmla="*/ 408 h 1022"/>
                <a:gd name="T56" fmla="*/ 13 w 5000"/>
                <a:gd name="T57" fmla="*/ 602 h 1022"/>
                <a:gd name="T58" fmla="*/ 13 w 5000"/>
                <a:gd name="T59" fmla="*/ 796 h 1022"/>
                <a:gd name="T60" fmla="*/ 13 w 5000"/>
                <a:gd name="T61" fmla="*/ 990 h 1022"/>
                <a:gd name="T62" fmla="*/ 175 w 5000"/>
                <a:gd name="T63" fmla="*/ 1008 h 1022"/>
                <a:gd name="T64" fmla="*/ 369 w 5000"/>
                <a:gd name="T65" fmla="*/ 1008 h 1022"/>
                <a:gd name="T66" fmla="*/ 563 w 5000"/>
                <a:gd name="T67" fmla="*/ 1008 h 1022"/>
                <a:gd name="T68" fmla="*/ 757 w 5000"/>
                <a:gd name="T69" fmla="*/ 1008 h 1022"/>
                <a:gd name="T70" fmla="*/ 951 w 5000"/>
                <a:gd name="T71" fmla="*/ 1008 h 1022"/>
                <a:gd name="T72" fmla="*/ 1145 w 5000"/>
                <a:gd name="T73" fmla="*/ 1008 h 1022"/>
                <a:gd name="T74" fmla="*/ 1339 w 5000"/>
                <a:gd name="T75" fmla="*/ 1008 h 1022"/>
                <a:gd name="T76" fmla="*/ 1533 w 5000"/>
                <a:gd name="T77" fmla="*/ 1008 h 1022"/>
                <a:gd name="T78" fmla="*/ 1727 w 5000"/>
                <a:gd name="T79" fmla="*/ 1008 h 1022"/>
                <a:gd name="T80" fmla="*/ 1921 w 5000"/>
                <a:gd name="T81" fmla="*/ 1008 h 1022"/>
                <a:gd name="T82" fmla="*/ 2115 w 5000"/>
                <a:gd name="T83" fmla="*/ 1008 h 1022"/>
                <a:gd name="T84" fmla="*/ 2308 w 5000"/>
                <a:gd name="T85" fmla="*/ 1008 h 1022"/>
                <a:gd name="T86" fmla="*/ 2502 w 5000"/>
                <a:gd name="T87" fmla="*/ 1008 h 1022"/>
                <a:gd name="T88" fmla="*/ 2696 w 5000"/>
                <a:gd name="T89" fmla="*/ 1008 h 1022"/>
                <a:gd name="T90" fmla="*/ 2890 w 5000"/>
                <a:gd name="T91" fmla="*/ 1008 h 1022"/>
                <a:gd name="T92" fmla="*/ 3084 w 5000"/>
                <a:gd name="T93" fmla="*/ 1008 h 1022"/>
                <a:gd name="T94" fmla="*/ 3278 w 5000"/>
                <a:gd name="T95" fmla="*/ 1008 h 1022"/>
                <a:gd name="T96" fmla="*/ 3472 w 5000"/>
                <a:gd name="T97" fmla="*/ 1008 h 1022"/>
                <a:gd name="T98" fmla="*/ 3666 w 5000"/>
                <a:gd name="T99" fmla="*/ 1008 h 1022"/>
                <a:gd name="T100" fmla="*/ 3860 w 5000"/>
                <a:gd name="T101" fmla="*/ 1008 h 1022"/>
                <a:gd name="T102" fmla="*/ 4054 w 5000"/>
                <a:gd name="T103" fmla="*/ 1008 h 1022"/>
                <a:gd name="T104" fmla="*/ 4248 w 5000"/>
                <a:gd name="T105" fmla="*/ 1008 h 1022"/>
                <a:gd name="T106" fmla="*/ 4441 w 5000"/>
                <a:gd name="T107" fmla="*/ 1008 h 1022"/>
                <a:gd name="T108" fmla="*/ 4635 w 5000"/>
                <a:gd name="T109" fmla="*/ 1008 h 1022"/>
                <a:gd name="T110" fmla="*/ 4829 w 5000"/>
                <a:gd name="T111" fmla="*/ 1008 h 1022"/>
                <a:gd name="T112" fmla="*/ 4993 w 5000"/>
                <a:gd name="T113" fmla="*/ 1008 h 1022"/>
                <a:gd name="T114" fmla="*/ 5000 w 5000"/>
                <a:gd name="T115" fmla="*/ 943 h 1022"/>
                <a:gd name="T116" fmla="*/ 5000 w 5000"/>
                <a:gd name="T117" fmla="*/ 749 h 1022"/>
                <a:gd name="T118" fmla="*/ 5000 w 5000"/>
                <a:gd name="T119" fmla="*/ 555 h 1022"/>
                <a:gd name="T120" fmla="*/ 5000 w 5000"/>
                <a:gd name="T121" fmla="*/ 361 h 1022"/>
                <a:gd name="T122" fmla="*/ 5000 w 5000"/>
                <a:gd name="T123" fmla="*/ 167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000" h="1022">
                  <a:moveTo>
                    <a:pt x="4993" y="13"/>
                  </a:moveTo>
                  <a:lnTo>
                    <a:pt x="4937" y="13"/>
                  </a:lnTo>
                  <a:lnTo>
                    <a:pt x="4937" y="0"/>
                  </a:lnTo>
                  <a:lnTo>
                    <a:pt x="4993" y="0"/>
                  </a:lnTo>
                  <a:lnTo>
                    <a:pt x="4993" y="13"/>
                  </a:lnTo>
                  <a:close/>
                  <a:moveTo>
                    <a:pt x="4896" y="13"/>
                  </a:moveTo>
                  <a:lnTo>
                    <a:pt x="4840" y="13"/>
                  </a:lnTo>
                  <a:lnTo>
                    <a:pt x="4840" y="0"/>
                  </a:lnTo>
                  <a:lnTo>
                    <a:pt x="4896" y="0"/>
                  </a:lnTo>
                  <a:lnTo>
                    <a:pt x="4896" y="13"/>
                  </a:lnTo>
                  <a:close/>
                  <a:moveTo>
                    <a:pt x="4799" y="13"/>
                  </a:moveTo>
                  <a:lnTo>
                    <a:pt x="4743" y="13"/>
                  </a:lnTo>
                  <a:lnTo>
                    <a:pt x="4743" y="0"/>
                  </a:lnTo>
                  <a:lnTo>
                    <a:pt x="4799" y="0"/>
                  </a:lnTo>
                  <a:lnTo>
                    <a:pt x="4799" y="13"/>
                  </a:lnTo>
                  <a:close/>
                  <a:moveTo>
                    <a:pt x="4702" y="13"/>
                  </a:moveTo>
                  <a:lnTo>
                    <a:pt x="4646" y="13"/>
                  </a:lnTo>
                  <a:lnTo>
                    <a:pt x="4646" y="0"/>
                  </a:lnTo>
                  <a:lnTo>
                    <a:pt x="4702" y="0"/>
                  </a:lnTo>
                  <a:lnTo>
                    <a:pt x="4702" y="13"/>
                  </a:lnTo>
                  <a:close/>
                  <a:moveTo>
                    <a:pt x="4605" y="13"/>
                  </a:moveTo>
                  <a:lnTo>
                    <a:pt x="4549" y="13"/>
                  </a:lnTo>
                  <a:lnTo>
                    <a:pt x="4549" y="0"/>
                  </a:lnTo>
                  <a:lnTo>
                    <a:pt x="4605" y="0"/>
                  </a:lnTo>
                  <a:lnTo>
                    <a:pt x="4605" y="13"/>
                  </a:lnTo>
                  <a:close/>
                  <a:moveTo>
                    <a:pt x="4508" y="13"/>
                  </a:moveTo>
                  <a:lnTo>
                    <a:pt x="4452" y="13"/>
                  </a:lnTo>
                  <a:lnTo>
                    <a:pt x="4452" y="0"/>
                  </a:lnTo>
                  <a:lnTo>
                    <a:pt x="4508" y="0"/>
                  </a:lnTo>
                  <a:lnTo>
                    <a:pt x="4508" y="13"/>
                  </a:lnTo>
                  <a:close/>
                  <a:moveTo>
                    <a:pt x="4411" y="13"/>
                  </a:moveTo>
                  <a:lnTo>
                    <a:pt x="4356" y="13"/>
                  </a:lnTo>
                  <a:lnTo>
                    <a:pt x="4356" y="0"/>
                  </a:lnTo>
                  <a:lnTo>
                    <a:pt x="4411" y="0"/>
                  </a:lnTo>
                  <a:lnTo>
                    <a:pt x="4411" y="13"/>
                  </a:lnTo>
                  <a:close/>
                  <a:moveTo>
                    <a:pt x="4314" y="13"/>
                  </a:moveTo>
                  <a:lnTo>
                    <a:pt x="4259" y="13"/>
                  </a:lnTo>
                  <a:lnTo>
                    <a:pt x="4259" y="0"/>
                  </a:lnTo>
                  <a:lnTo>
                    <a:pt x="4314" y="0"/>
                  </a:lnTo>
                  <a:lnTo>
                    <a:pt x="4314" y="13"/>
                  </a:lnTo>
                  <a:close/>
                  <a:moveTo>
                    <a:pt x="4217" y="13"/>
                  </a:moveTo>
                  <a:lnTo>
                    <a:pt x="4162" y="13"/>
                  </a:lnTo>
                  <a:lnTo>
                    <a:pt x="4162" y="0"/>
                  </a:lnTo>
                  <a:lnTo>
                    <a:pt x="4217" y="0"/>
                  </a:lnTo>
                  <a:lnTo>
                    <a:pt x="4217" y="13"/>
                  </a:lnTo>
                  <a:close/>
                  <a:moveTo>
                    <a:pt x="4120" y="13"/>
                  </a:moveTo>
                  <a:lnTo>
                    <a:pt x="4065" y="13"/>
                  </a:lnTo>
                  <a:lnTo>
                    <a:pt x="4065" y="0"/>
                  </a:lnTo>
                  <a:lnTo>
                    <a:pt x="4120" y="0"/>
                  </a:lnTo>
                  <a:lnTo>
                    <a:pt x="4120" y="13"/>
                  </a:lnTo>
                  <a:close/>
                  <a:moveTo>
                    <a:pt x="4023" y="13"/>
                  </a:moveTo>
                  <a:lnTo>
                    <a:pt x="3968" y="13"/>
                  </a:lnTo>
                  <a:lnTo>
                    <a:pt x="3968" y="0"/>
                  </a:lnTo>
                  <a:lnTo>
                    <a:pt x="4023" y="0"/>
                  </a:lnTo>
                  <a:lnTo>
                    <a:pt x="4023" y="13"/>
                  </a:lnTo>
                  <a:close/>
                  <a:moveTo>
                    <a:pt x="3926" y="13"/>
                  </a:moveTo>
                  <a:lnTo>
                    <a:pt x="3871" y="13"/>
                  </a:lnTo>
                  <a:lnTo>
                    <a:pt x="3871" y="0"/>
                  </a:lnTo>
                  <a:lnTo>
                    <a:pt x="3926" y="0"/>
                  </a:lnTo>
                  <a:lnTo>
                    <a:pt x="3926" y="13"/>
                  </a:lnTo>
                  <a:close/>
                  <a:moveTo>
                    <a:pt x="3829" y="13"/>
                  </a:moveTo>
                  <a:lnTo>
                    <a:pt x="3774" y="13"/>
                  </a:lnTo>
                  <a:lnTo>
                    <a:pt x="3774" y="0"/>
                  </a:lnTo>
                  <a:lnTo>
                    <a:pt x="3829" y="0"/>
                  </a:lnTo>
                  <a:lnTo>
                    <a:pt x="3829" y="13"/>
                  </a:lnTo>
                  <a:close/>
                  <a:moveTo>
                    <a:pt x="3732" y="13"/>
                  </a:moveTo>
                  <a:lnTo>
                    <a:pt x="3677" y="13"/>
                  </a:lnTo>
                  <a:lnTo>
                    <a:pt x="3677" y="0"/>
                  </a:lnTo>
                  <a:lnTo>
                    <a:pt x="3732" y="0"/>
                  </a:lnTo>
                  <a:lnTo>
                    <a:pt x="3732" y="13"/>
                  </a:lnTo>
                  <a:close/>
                  <a:moveTo>
                    <a:pt x="3635" y="13"/>
                  </a:moveTo>
                  <a:lnTo>
                    <a:pt x="3580" y="13"/>
                  </a:lnTo>
                  <a:lnTo>
                    <a:pt x="3580" y="0"/>
                  </a:lnTo>
                  <a:lnTo>
                    <a:pt x="3635" y="0"/>
                  </a:lnTo>
                  <a:lnTo>
                    <a:pt x="3635" y="13"/>
                  </a:lnTo>
                  <a:close/>
                  <a:moveTo>
                    <a:pt x="3538" y="13"/>
                  </a:moveTo>
                  <a:lnTo>
                    <a:pt x="3483" y="13"/>
                  </a:lnTo>
                  <a:lnTo>
                    <a:pt x="3483" y="0"/>
                  </a:lnTo>
                  <a:lnTo>
                    <a:pt x="3538" y="0"/>
                  </a:lnTo>
                  <a:lnTo>
                    <a:pt x="3538" y="13"/>
                  </a:lnTo>
                  <a:close/>
                  <a:moveTo>
                    <a:pt x="3441" y="13"/>
                  </a:moveTo>
                  <a:lnTo>
                    <a:pt x="3386" y="13"/>
                  </a:lnTo>
                  <a:lnTo>
                    <a:pt x="3386" y="0"/>
                  </a:lnTo>
                  <a:lnTo>
                    <a:pt x="3441" y="0"/>
                  </a:lnTo>
                  <a:lnTo>
                    <a:pt x="3441" y="13"/>
                  </a:lnTo>
                  <a:close/>
                  <a:moveTo>
                    <a:pt x="3344" y="13"/>
                  </a:moveTo>
                  <a:lnTo>
                    <a:pt x="3289" y="13"/>
                  </a:lnTo>
                  <a:lnTo>
                    <a:pt x="3289" y="0"/>
                  </a:lnTo>
                  <a:lnTo>
                    <a:pt x="3344" y="0"/>
                  </a:lnTo>
                  <a:lnTo>
                    <a:pt x="3344" y="13"/>
                  </a:lnTo>
                  <a:close/>
                  <a:moveTo>
                    <a:pt x="3247" y="13"/>
                  </a:moveTo>
                  <a:lnTo>
                    <a:pt x="3192" y="13"/>
                  </a:lnTo>
                  <a:lnTo>
                    <a:pt x="3192" y="0"/>
                  </a:lnTo>
                  <a:lnTo>
                    <a:pt x="3247" y="0"/>
                  </a:lnTo>
                  <a:lnTo>
                    <a:pt x="3247" y="13"/>
                  </a:lnTo>
                  <a:close/>
                  <a:moveTo>
                    <a:pt x="3151" y="13"/>
                  </a:moveTo>
                  <a:lnTo>
                    <a:pt x="3095" y="13"/>
                  </a:lnTo>
                  <a:lnTo>
                    <a:pt x="3095" y="0"/>
                  </a:lnTo>
                  <a:lnTo>
                    <a:pt x="3151" y="0"/>
                  </a:lnTo>
                  <a:lnTo>
                    <a:pt x="3151" y="13"/>
                  </a:lnTo>
                  <a:close/>
                  <a:moveTo>
                    <a:pt x="3054" y="13"/>
                  </a:moveTo>
                  <a:lnTo>
                    <a:pt x="2998" y="13"/>
                  </a:lnTo>
                  <a:lnTo>
                    <a:pt x="2998" y="0"/>
                  </a:lnTo>
                  <a:lnTo>
                    <a:pt x="3054" y="0"/>
                  </a:lnTo>
                  <a:lnTo>
                    <a:pt x="3054" y="13"/>
                  </a:lnTo>
                  <a:close/>
                  <a:moveTo>
                    <a:pt x="2957" y="13"/>
                  </a:moveTo>
                  <a:lnTo>
                    <a:pt x="2901" y="13"/>
                  </a:lnTo>
                  <a:lnTo>
                    <a:pt x="2901" y="0"/>
                  </a:lnTo>
                  <a:lnTo>
                    <a:pt x="2957" y="0"/>
                  </a:lnTo>
                  <a:lnTo>
                    <a:pt x="2957" y="13"/>
                  </a:lnTo>
                  <a:close/>
                  <a:moveTo>
                    <a:pt x="2860" y="13"/>
                  </a:moveTo>
                  <a:lnTo>
                    <a:pt x="2804" y="13"/>
                  </a:lnTo>
                  <a:lnTo>
                    <a:pt x="2804" y="0"/>
                  </a:lnTo>
                  <a:lnTo>
                    <a:pt x="2860" y="0"/>
                  </a:lnTo>
                  <a:lnTo>
                    <a:pt x="2860" y="13"/>
                  </a:lnTo>
                  <a:close/>
                  <a:moveTo>
                    <a:pt x="2763" y="13"/>
                  </a:moveTo>
                  <a:lnTo>
                    <a:pt x="2707" y="13"/>
                  </a:lnTo>
                  <a:lnTo>
                    <a:pt x="2707" y="0"/>
                  </a:lnTo>
                  <a:lnTo>
                    <a:pt x="2763" y="0"/>
                  </a:lnTo>
                  <a:lnTo>
                    <a:pt x="2763" y="13"/>
                  </a:lnTo>
                  <a:close/>
                  <a:moveTo>
                    <a:pt x="2666" y="13"/>
                  </a:moveTo>
                  <a:lnTo>
                    <a:pt x="2610" y="13"/>
                  </a:lnTo>
                  <a:lnTo>
                    <a:pt x="2610" y="0"/>
                  </a:lnTo>
                  <a:lnTo>
                    <a:pt x="2666" y="0"/>
                  </a:lnTo>
                  <a:lnTo>
                    <a:pt x="2666" y="13"/>
                  </a:lnTo>
                  <a:close/>
                  <a:moveTo>
                    <a:pt x="2569" y="13"/>
                  </a:moveTo>
                  <a:lnTo>
                    <a:pt x="2513" y="13"/>
                  </a:lnTo>
                  <a:lnTo>
                    <a:pt x="2513" y="0"/>
                  </a:lnTo>
                  <a:lnTo>
                    <a:pt x="2569" y="0"/>
                  </a:lnTo>
                  <a:lnTo>
                    <a:pt x="2569" y="13"/>
                  </a:lnTo>
                  <a:close/>
                  <a:moveTo>
                    <a:pt x="2472" y="13"/>
                  </a:moveTo>
                  <a:lnTo>
                    <a:pt x="2416" y="13"/>
                  </a:lnTo>
                  <a:lnTo>
                    <a:pt x="2416" y="0"/>
                  </a:lnTo>
                  <a:lnTo>
                    <a:pt x="2472" y="0"/>
                  </a:lnTo>
                  <a:lnTo>
                    <a:pt x="2472" y="13"/>
                  </a:lnTo>
                  <a:close/>
                  <a:moveTo>
                    <a:pt x="2375" y="13"/>
                  </a:moveTo>
                  <a:lnTo>
                    <a:pt x="2319" y="13"/>
                  </a:lnTo>
                  <a:lnTo>
                    <a:pt x="2319" y="0"/>
                  </a:lnTo>
                  <a:lnTo>
                    <a:pt x="2375" y="0"/>
                  </a:lnTo>
                  <a:lnTo>
                    <a:pt x="2375" y="13"/>
                  </a:lnTo>
                  <a:close/>
                  <a:moveTo>
                    <a:pt x="2278" y="13"/>
                  </a:moveTo>
                  <a:lnTo>
                    <a:pt x="2223" y="13"/>
                  </a:lnTo>
                  <a:lnTo>
                    <a:pt x="2223" y="0"/>
                  </a:lnTo>
                  <a:lnTo>
                    <a:pt x="2278" y="0"/>
                  </a:lnTo>
                  <a:lnTo>
                    <a:pt x="2278" y="13"/>
                  </a:lnTo>
                  <a:close/>
                  <a:moveTo>
                    <a:pt x="2181" y="13"/>
                  </a:moveTo>
                  <a:lnTo>
                    <a:pt x="2126" y="13"/>
                  </a:lnTo>
                  <a:lnTo>
                    <a:pt x="2126" y="0"/>
                  </a:lnTo>
                  <a:lnTo>
                    <a:pt x="2181" y="0"/>
                  </a:lnTo>
                  <a:lnTo>
                    <a:pt x="2181" y="13"/>
                  </a:lnTo>
                  <a:close/>
                  <a:moveTo>
                    <a:pt x="2084" y="13"/>
                  </a:moveTo>
                  <a:lnTo>
                    <a:pt x="2029" y="13"/>
                  </a:lnTo>
                  <a:lnTo>
                    <a:pt x="2029" y="0"/>
                  </a:lnTo>
                  <a:lnTo>
                    <a:pt x="2084" y="0"/>
                  </a:lnTo>
                  <a:lnTo>
                    <a:pt x="2084" y="13"/>
                  </a:lnTo>
                  <a:close/>
                  <a:moveTo>
                    <a:pt x="1987" y="13"/>
                  </a:moveTo>
                  <a:lnTo>
                    <a:pt x="1932" y="13"/>
                  </a:lnTo>
                  <a:lnTo>
                    <a:pt x="1932" y="0"/>
                  </a:lnTo>
                  <a:lnTo>
                    <a:pt x="1987" y="0"/>
                  </a:lnTo>
                  <a:lnTo>
                    <a:pt x="1987" y="13"/>
                  </a:lnTo>
                  <a:close/>
                  <a:moveTo>
                    <a:pt x="1890" y="13"/>
                  </a:moveTo>
                  <a:lnTo>
                    <a:pt x="1835" y="13"/>
                  </a:lnTo>
                  <a:lnTo>
                    <a:pt x="1835" y="0"/>
                  </a:lnTo>
                  <a:lnTo>
                    <a:pt x="1890" y="0"/>
                  </a:lnTo>
                  <a:lnTo>
                    <a:pt x="1890" y="13"/>
                  </a:lnTo>
                  <a:close/>
                  <a:moveTo>
                    <a:pt x="1793" y="13"/>
                  </a:moveTo>
                  <a:lnTo>
                    <a:pt x="1738" y="13"/>
                  </a:lnTo>
                  <a:lnTo>
                    <a:pt x="1738" y="0"/>
                  </a:lnTo>
                  <a:lnTo>
                    <a:pt x="1793" y="0"/>
                  </a:lnTo>
                  <a:lnTo>
                    <a:pt x="1793" y="13"/>
                  </a:lnTo>
                  <a:close/>
                  <a:moveTo>
                    <a:pt x="1696" y="13"/>
                  </a:moveTo>
                  <a:lnTo>
                    <a:pt x="1641" y="13"/>
                  </a:lnTo>
                  <a:lnTo>
                    <a:pt x="1641" y="0"/>
                  </a:lnTo>
                  <a:lnTo>
                    <a:pt x="1696" y="0"/>
                  </a:lnTo>
                  <a:lnTo>
                    <a:pt x="1696" y="13"/>
                  </a:lnTo>
                  <a:close/>
                  <a:moveTo>
                    <a:pt x="1599" y="13"/>
                  </a:moveTo>
                  <a:lnTo>
                    <a:pt x="1544" y="13"/>
                  </a:lnTo>
                  <a:lnTo>
                    <a:pt x="1544" y="0"/>
                  </a:lnTo>
                  <a:lnTo>
                    <a:pt x="1599" y="0"/>
                  </a:lnTo>
                  <a:lnTo>
                    <a:pt x="1599" y="13"/>
                  </a:lnTo>
                  <a:close/>
                  <a:moveTo>
                    <a:pt x="1502" y="13"/>
                  </a:moveTo>
                  <a:lnTo>
                    <a:pt x="1447" y="13"/>
                  </a:lnTo>
                  <a:lnTo>
                    <a:pt x="1447" y="0"/>
                  </a:lnTo>
                  <a:lnTo>
                    <a:pt x="1502" y="0"/>
                  </a:lnTo>
                  <a:lnTo>
                    <a:pt x="1502" y="13"/>
                  </a:lnTo>
                  <a:close/>
                  <a:moveTo>
                    <a:pt x="1405" y="13"/>
                  </a:moveTo>
                  <a:lnTo>
                    <a:pt x="1350" y="13"/>
                  </a:lnTo>
                  <a:lnTo>
                    <a:pt x="1350" y="0"/>
                  </a:lnTo>
                  <a:lnTo>
                    <a:pt x="1405" y="0"/>
                  </a:lnTo>
                  <a:lnTo>
                    <a:pt x="1405" y="13"/>
                  </a:lnTo>
                  <a:close/>
                  <a:moveTo>
                    <a:pt x="1308" y="13"/>
                  </a:moveTo>
                  <a:lnTo>
                    <a:pt x="1253" y="13"/>
                  </a:lnTo>
                  <a:lnTo>
                    <a:pt x="1253" y="0"/>
                  </a:lnTo>
                  <a:lnTo>
                    <a:pt x="1308" y="0"/>
                  </a:lnTo>
                  <a:lnTo>
                    <a:pt x="1308" y="13"/>
                  </a:lnTo>
                  <a:close/>
                  <a:moveTo>
                    <a:pt x="1211" y="13"/>
                  </a:moveTo>
                  <a:lnTo>
                    <a:pt x="1156" y="13"/>
                  </a:lnTo>
                  <a:lnTo>
                    <a:pt x="1156" y="0"/>
                  </a:lnTo>
                  <a:lnTo>
                    <a:pt x="1211" y="0"/>
                  </a:lnTo>
                  <a:lnTo>
                    <a:pt x="1211" y="13"/>
                  </a:lnTo>
                  <a:close/>
                  <a:moveTo>
                    <a:pt x="1114" y="13"/>
                  </a:moveTo>
                  <a:lnTo>
                    <a:pt x="1059" y="13"/>
                  </a:lnTo>
                  <a:lnTo>
                    <a:pt x="1059" y="0"/>
                  </a:lnTo>
                  <a:lnTo>
                    <a:pt x="1114" y="0"/>
                  </a:lnTo>
                  <a:lnTo>
                    <a:pt x="1114" y="13"/>
                  </a:lnTo>
                  <a:close/>
                  <a:moveTo>
                    <a:pt x="1018" y="13"/>
                  </a:moveTo>
                  <a:lnTo>
                    <a:pt x="962" y="13"/>
                  </a:lnTo>
                  <a:lnTo>
                    <a:pt x="962" y="0"/>
                  </a:lnTo>
                  <a:lnTo>
                    <a:pt x="1018" y="0"/>
                  </a:lnTo>
                  <a:lnTo>
                    <a:pt x="1018" y="13"/>
                  </a:lnTo>
                  <a:close/>
                  <a:moveTo>
                    <a:pt x="921" y="13"/>
                  </a:moveTo>
                  <a:lnTo>
                    <a:pt x="865" y="13"/>
                  </a:lnTo>
                  <a:lnTo>
                    <a:pt x="865" y="0"/>
                  </a:lnTo>
                  <a:lnTo>
                    <a:pt x="921" y="0"/>
                  </a:lnTo>
                  <a:lnTo>
                    <a:pt x="921" y="13"/>
                  </a:lnTo>
                  <a:close/>
                  <a:moveTo>
                    <a:pt x="824" y="13"/>
                  </a:moveTo>
                  <a:lnTo>
                    <a:pt x="768" y="13"/>
                  </a:lnTo>
                  <a:lnTo>
                    <a:pt x="768" y="0"/>
                  </a:lnTo>
                  <a:lnTo>
                    <a:pt x="824" y="0"/>
                  </a:lnTo>
                  <a:lnTo>
                    <a:pt x="824" y="13"/>
                  </a:lnTo>
                  <a:close/>
                  <a:moveTo>
                    <a:pt x="727" y="13"/>
                  </a:moveTo>
                  <a:lnTo>
                    <a:pt x="671" y="13"/>
                  </a:lnTo>
                  <a:lnTo>
                    <a:pt x="671" y="0"/>
                  </a:lnTo>
                  <a:lnTo>
                    <a:pt x="727" y="0"/>
                  </a:lnTo>
                  <a:lnTo>
                    <a:pt x="727" y="13"/>
                  </a:lnTo>
                  <a:close/>
                  <a:moveTo>
                    <a:pt x="630" y="13"/>
                  </a:moveTo>
                  <a:lnTo>
                    <a:pt x="574" y="13"/>
                  </a:lnTo>
                  <a:lnTo>
                    <a:pt x="574" y="0"/>
                  </a:lnTo>
                  <a:lnTo>
                    <a:pt x="630" y="0"/>
                  </a:lnTo>
                  <a:lnTo>
                    <a:pt x="630" y="13"/>
                  </a:lnTo>
                  <a:close/>
                  <a:moveTo>
                    <a:pt x="533" y="13"/>
                  </a:moveTo>
                  <a:lnTo>
                    <a:pt x="477" y="13"/>
                  </a:lnTo>
                  <a:lnTo>
                    <a:pt x="477" y="0"/>
                  </a:lnTo>
                  <a:lnTo>
                    <a:pt x="533" y="0"/>
                  </a:lnTo>
                  <a:lnTo>
                    <a:pt x="533" y="13"/>
                  </a:lnTo>
                  <a:close/>
                  <a:moveTo>
                    <a:pt x="436" y="13"/>
                  </a:moveTo>
                  <a:lnTo>
                    <a:pt x="380" y="13"/>
                  </a:lnTo>
                  <a:lnTo>
                    <a:pt x="380" y="0"/>
                  </a:lnTo>
                  <a:lnTo>
                    <a:pt x="436" y="0"/>
                  </a:lnTo>
                  <a:lnTo>
                    <a:pt x="436" y="13"/>
                  </a:lnTo>
                  <a:close/>
                  <a:moveTo>
                    <a:pt x="339" y="13"/>
                  </a:moveTo>
                  <a:lnTo>
                    <a:pt x="283" y="13"/>
                  </a:lnTo>
                  <a:lnTo>
                    <a:pt x="283" y="0"/>
                  </a:lnTo>
                  <a:lnTo>
                    <a:pt x="339" y="0"/>
                  </a:lnTo>
                  <a:lnTo>
                    <a:pt x="339" y="13"/>
                  </a:lnTo>
                  <a:close/>
                  <a:moveTo>
                    <a:pt x="242" y="13"/>
                  </a:moveTo>
                  <a:lnTo>
                    <a:pt x="187" y="13"/>
                  </a:lnTo>
                  <a:lnTo>
                    <a:pt x="187" y="0"/>
                  </a:lnTo>
                  <a:lnTo>
                    <a:pt x="242" y="0"/>
                  </a:lnTo>
                  <a:lnTo>
                    <a:pt x="242" y="13"/>
                  </a:lnTo>
                  <a:close/>
                  <a:moveTo>
                    <a:pt x="145" y="13"/>
                  </a:moveTo>
                  <a:lnTo>
                    <a:pt x="90" y="13"/>
                  </a:lnTo>
                  <a:lnTo>
                    <a:pt x="90" y="0"/>
                  </a:lnTo>
                  <a:lnTo>
                    <a:pt x="145" y="0"/>
                  </a:lnTo>
                  <a:lnTo>
                    <a:pt x="145" y="13"/>
                  </a:lnTo>
                  <a:close/>
                  <a:moveTo>
                    <a:pt x="48" y="13"/>
                  </a:moveTo>
                  <a:lnTo>
                    <a:pt x="7" y="13"/>
                  </a:lnTo>
                  <a:lnTo>
                    <a:pt x="13" y="7"/>
                  </a:lnTo>
                  <a:lnTo>
                    <a:pt x="13" y="20"/>
                  </a:lnTo>
                  <a:lnTo>
                    <a:pt x="0" y="20"/>
                  </a:lnTo>
                  <a:lnTo>
                    <a:pt x="0" y="0"/>
                  </a:lnTo>
                  <a:lnTo>
                    <a:pt x="48" y="0"/>
                  </a:lnTo>
                  <a:lnTo>
                    <a:pt x="48" y="13"/>
                  </a:lnTo>
                  <a:close/>
                  <a:moveTo>
                    <a:pt x="13" y="62"/>
                  </a:moveTo>
                  <a:lnTo>
                    <a:pt x="13" y="117"/>
                  </a:lnTo>
                  <a:lnTo>
                    <a:pt x="0" y="117"/>
                  </a:lnTo>
                  <a:lnTo>
                    <a:pt x="0" y="62"/>
                  </a:lnTo>
                  <a:lnTo>
                    <a:pt x="13" y="62"/>
                  </a:lnTo>
                  <a:close/>
                  <a:moveTo>
                    <a:pt x="13" y="159"/>
                  </a:moveTo>
                  <a:lnTo>
                    <a:pt x="13" y="214"/>
                  </a:lnTo>
                  <a:lnTo>
                    <a:pt x="0" y="214"/>
                  </a:lnTo>
                  <a:lnTo>
                    <a:pt x="0" y="159"/>
                  </a:lnTo>
                  <a:lnTo>
                    <a:pt x="13" y="159"/>
                  </a:lnTo>
                  <a:close/>
                  <a:moveTo>
                    <a:pt x="13" y="256"/>
                  </a:moveTo>
                  <a:lnTo>
                    <a:pt x="13" y="311"/>
                  </a:lnTo>
                  <a:lnTo>
                    <a:pt x="0" y="311"/>
                  </a:lnTo>
                  <a:lnTo>
                    <a:pt x="0" y="256"/>
                  </a:lnTo>
                  <a:lnTo>
                    <a:pt x="13" y="256"/>
                  </a:lnTo>
                  <a:close/>
                  <a:moveTo>
                    <a:pt x="13" y="353"/>
                  </a:moveTo>
                  <a:lnTo>
                    <a:pt x="13" y="408"/>
                  </a:lnTo>
                  <a:lnTo>
                    <a:pt x="0" y="408"/>
                  </a:lnTo>
                  <a:lnTo>
                    <a:pt x="0" y="353"/>
                  </a:lnTo>
                  <a:lnTo>
                    <a:pt x="13" y="353"/>
                  </a:lnTo>
                  <a:close/>
                  <a:moveTo>
                    <a:pt x="13" y="450"/>
                  </a:moveTo>
                  <a:lnTo>
                    <a:pt x="13" y="505"/>
                  </a:lnTo>
                  <a:lnTo>
                    <a:pt x="0" y="505"/>
                  </a:lnTo>
                  <a:lnTo>
                    <a:pt x="0" y="450"/>
                  </a:lnTo>
                  <a:lnTo>
                    <a:pt x="13" y="450"/>
                  </a:lnTo>
                  <a:close/>
                  <a:moveTo>
                    <a:pt x="13" y="547"/>
                  </a:moveTo>
                  <a:lnTo>
                    <a:pt x="13" y="602"/>
                  </a:lnTo>
                  <a:lnTo>
                    <a:pt x="0" y="602"/>
                  </a:lnTo>
                  <a:lnTo>
                    <a:pt x="0" y="547"/>
                  </a:lnTo>
                  <a:lnTo>
                    <a:pt x="13" y="547"/>
                  </a:lnTo>
                  <a:close/>
                  <a:moveTo>
                    <a:pt x="13" y="644"/>
                  </a:moveTo>
                  <a:lnTo>
                    <a:pt x="13" y="699"/>
                  </a:lnTo>
                  <a:lnTo>
                    <a:pt x="0" y="699"/>
                  </a:lnTo>
                  <a:lnTo>
                    <a:pt x="0" y="644"/>
                  </a:lnTo>
                  <a:lnTo>
                    <a:pt x="13" y="644"/>
                  </a:lnTo>
                  <a:close/>
                  <a:moveTo>
                    <a:pt x="13" y="741"/>
                  </a:moveTo>
                  <a:lnTo>
                    <a:pt x="13" y="796"/>
                  </a:lnTo>
                  <a:lnTo>
                    <a:pt x="0" y="796"/>
                  </a:lnTo>
                  <a:lnTo>
                    <a:pt x="0" y="741"/>
                  </a:lnTo>
                  <a:lnTo>
                    <a:pt x="13" y="741"/>
                  </a:lnTo>
                  <a:close/>
                  <a:moveTo>
                    <a:pt x="13" y="838"/>
                  </a:moveTo>
                  <a:lnTo>
                    <a:pt x="13" y="893"/>
                  </a:lnTo>
                  <a:lnTo>
                    <a:pt x="0" y="893"/>
                  </a:lnTo>
                  <a:lnTo>
                    <a:pt x="0" y="838"/>
                  </a:lnTo>
                  <a:lnTo>
                    <a:pt x="13" y="838"/>
                  </a:lnTo>
                  <a:close/>
                  <a:moveTo>
                    <a:pt x="13" y="934"/>
                  </a:moveTo>
                  <a:lnTo>
                    <a:pt x="13" y="990"/>
                  </a:lnTo>
                  <a:lnTo>
                    <a:pt x="0" y="990"/>
                  </a:lnTo>
                  <a:lnTo>
                    <a:pt x="0" y="934"/>
                  </a:lnTo>
                  <a:lnTo>
                    <a:pt x="13" y="934"/>
                  </a:lnTo>
                  <a:close/>
                  <a:moveTo>
                    <a:pt x="23" y="1008"/>
                  </a:moveTo>
                  <a:lnTo>
                    <a:pt x="78" y="1008"/>
                  </a:lnTo>
                  <a:lnTo>
                    <a:pt x="78" y="1022"/>
                  </a:lnTo>
                  <a:lnTo>
                    <a:pt x="23" y="1022"/>
                  </a:lnTo>
                  <a:lnTo>
                    <a:pt x="23" y="1008"/>
                  </a:lnTo>
                  <a:close/>
                  <a:moveTo>
                    <a:pt x="120" y="1008"/>
                  </a:moveTo>
                  <a:lnTo>
                    <a:pt x="175" y="1008"/>
                  </a:lnTo>
                  <a:lnTo>
                    <a:pt x="175" y="1022"/>
                  </a:lnTo>
                  <a:lnTo>
                    <a:pt x="120" y="1022"/>
                  </a:lnTo>
                  <a:lnTo>
                    <a:pt x="120" y="1008"/>
                  </a:lnTo>
                  <a:close/>
                  <a:moveTo>
                    <a:pt x="217" y="1008"/>
                  </a:moveTo>
                  <a:lnTo>
                    <a:pt x="272" y="1008"/>
                  </a:lnTo>
                  <a:lnTo>
                    <a:pt x="272" y="1022"/>
                  </a:lnTo>
                  <a:lnTo>
                    <a:pt x="217" y="1022"/>
                  </a:lnTo>
                  <a:lnTo>
                    <a:pt x="217" y="1008"/>
                  </a:lnTo>
                  <a:close/>
                  <a:moveTo>
                    <a:pt x="314" y="1008"/>
                  </a:moveTo>
                  <a:lnTo>
                    <a:pt x="369" y="1008"/>
                  </a:lnTo>
                  <a:lnTo>
                    <a:pt x="369" y="1022"/>
                  </a:lnTo>
                  <a:lnTo>
                    <a:pt x="314" y="1022"/>
                  </a:lnTo>
                  <a:lnTo>
                    <a:pt x="314" y="1008"/>
                  </a:lnTo>
                  <a:close/>
                  <a:moveTo>
                    <a:pt x="411" y="1008"/>
                  </a:moveTo>
                  <a:lnTo>
                    <a:pt x="466" y="1008"/>
                  </a:lnTo>
                  <a:lnTo>
                    <a:pt x="466" y="1022"/>
                  </a:lnTo>
                  <a:lnTo>
                    <a:pt x="411" y="1022"/>
                  </a:lnTo>
                  <a:lnTo>
                    <a:pt x="411" y="1008"/>
                  </a:lnTo>
                  <a:close/>
                  <a:moveTo>
                    <a:pt x="508" y="1008"/>
                  </a:moveTo>
                  <a:lnTo>
                    <a:pt x="563" y="1008"/>
                  </a:lnTo>
                  <a:lnTo>
                    <a:pt x="563" y="1022"/>
                  </a:lnTo>
                  <a:lnTo>
                    <a:pt x="508" y="1022"/>
                  </a:lnTo>
                  <a:lnTo>
                    <a:pt x="508" y="1008"/>
                  </a:lnTo>
                  <a:close/>
                  <a:moveTo>
                    <a:pt x="605" y="1008"/>
                  </a:moveTo>
                  <a:lnTo>
                    <a:pt x="660" y="1008"/>
                  </a:lnTo>
                  <a:lnTo>
                    <a:pt x="660" y="1022"/>
                  </a:lnTo>
                  <a:lnTo>
                    <a:pt x="605" y="1022"/>
                  </a:lnTo>
                  <a:lnTo>
                    <a:pt x="605" y="1008"/>
                  </a:lnTo>
                  <a:close/>
                  <a:moveTo>
                    <a:pt x="702" y="1008"/>
                  </a:moveTo>
                  <a:lnTo>
                    <a:pt x="757" y="1008"/>
                  </a:lnTo>
                  <a:lnTo>
                    <a:pt x="757" y="1022"/>
                  </a:lnTo>
                  <a:lnTo>
                    <a:pt x="702" y="1022"/>
                  </a:lnTo>
                  <a:lnTo>
                    <a:pt x="702" y="1008"/>
                  </a:lnTo>
                  <a:close/>
                  <a:moveTo>
                    <a:pt x="799" y="1008"/>
                  </a:moveTo>
                  <a:lnTo>
                    <a:pt x="854" y="1008"/>
                  </a:lnTo>
                  <a:lnTo>
                    <a:pt x="854" y="1022"/>
                  </a:lnTo>
                  <a:lnTo>
                    <a:pt x="799" y="1022"/>
                  </a:lnTo>
                  <a:lnTo>
                    <a:pt x="799" y="1008"/>
                  </a:lnTo>
                  <a:close/>
                  <a:moveTo>
                    <a:pt x="896" y="1008"/>
                  </a:moveTo>
                  <a:lnTo>
                    <a:pt x="951" y="1008"/>
                  </a:lnTo>
                  <a:lnTo>
                    <a:pt x="951" y="1022"/>
                  </a:lnTo>
                  <a:lnTo>
                    <a:pt x="896" y="1022"/>
                  </a:lnTo>
                  <a:lnTo>
                    <a:pt x="896" y="1008"/>
                  </a:lnTo>
                  <a:close/>
                  <a:moveTo>
                    <a:pt x="993" y="1008"/>
                  </a:moveTo>
                  <a:lnTo>
                    <a:pt x="1048" y="1008"/>
                  </a:lnTo>
                  <a:lnTo>
                    <a:pt x="1048" y="1022"/>
                  </a:lnTo>
                  <a:lnTo>
                    <a:pt x="993" y="1022"/>
                  </a:lnTo>
                  <a:lnTo>
                    <a:pt x="993" y="1008"/>
                  </a:lnTo>
                  <a:close/>
                  <a:moveTo>
                    <a:pt x="1090" y="1008"/>
                  </a:moveTo>
                  <a:lnTo>
                    <a:pt x="1145" y="1008"/>
                  </a:lnTo>
                  <a:lnTo>
                    <a:pt x="1145" y="1022"/>
                  </a:lnTo>
                  <a:lnTo>
                    <a:pt x="1090" y="1022"/>
                  </a:lnTo>
                  <a:lnTo>
                    <a:pt x="1090" y="1008"/>
                  </a:lnTo>
                  <a:close/>
                  <a:moveTo>
                    <a:pt x="1187" y="1008"/>
                  </a:moveTo>
                  <a:lnTo>
                    <a:pt x="1242" y="1008"/>
                  </a:lnTo>
                  <a:lnTo>
                    <a:pt x="1242" y="1022"/>
                  </a:lnTo>
                  <a:lnTo>
                    <a:pt x="1187" y="1022"/>
                  </a:lnTo>
                  <a:lnTo>
                    <a:pt x="1187" y="1008"/>
                  </a:lnTo>
                  <a:close/>
                  <a:moveTo>
                    <a:pt x="1283" y="1008"/>
                  </a:moveTo>
                  <a:lnTo>
                    <a:pt x="1339" y="1008"/>
                  </a:lnTo>
                  <a:lnTo>
                    <a:pt x="1339" y="1022"/>
                  </a:lnTo>
                  <a:lnTo>
                    <a:pt x="1283" y="1022"/>
                  </a:lnTo>
                  <a:lnTo>
                    <a:pt x="1283" y="1008"/>
                  </a:lnTo>
                  <a:close/>
                  <a:moveTo>
                    <a:pt x="1380" y="1008"/>
                  </a:moveTo>
                  <a:lnTo>
                    <a:pt x="1436" y="1008"/>
                  </a:lnTo>
                  <a:lnTo>
                    <a:pt x="1436" y="1022"/>
                  </a:lnTo>
                  <a:lnTo>
                    <a:pt x="1380" y="1022"/>
                  </a:lnTo>
                  <a:lnTo>
                    <a:pt x="1380" y="1008"/>
                  </a:lnTo>
                  <a:close/>
                  <a:moveTo>
                    <a:pt x="1477" y="1008"/>
                  </a:moveTo>
                  <a:lnTo>
                    <a:pt x="1533" y="1008"/>
                  </a:lnTo>
                  <a:lnTo>
                    <a:pt x="1533" y="1022"/>
                  </a:lnTo>
                  <a:lnTo>
                    <a:pt x="1477" y="1022"/>
                  </a:lnTo>
                  <a:lnTo>
                    <a:pt x="1477" y="1008"/>
                  </a:lnTo>
                  <a:close/>
                  <a:moveTo>
                    <a:pt x="1574" y="1008"/>
                  </a:moveTo>
                  <a:lnTo>
                    <a:pt x="1630" y="1008"/>
                  </a:lnTo>
                  <a:lnTo>
                    <a:pt x="1630" y="1022"/>
                  </a:lnTo>
                  <a:lnTo>
                    <a:pt x="1574" y="1022"/>
                  </a:lnTo>
                  <a:lnTo>
                    <a:pt x="1574" y="1008"/>
                  </a:lnTo>
                  <a:close/>
                  <a:moveTo>
                    <a:pt x="1671" y="1008"/>
                  </a:moveTo>
                  <a:lnTo>
                    <a:pt x="1727" y="1008"/>
                  </a:lnTo>
                  <a:lnTo>
                    <a:pt x="1727" y="1022"/>
                  </a:lnTo>
                  <a:lnTo>
                    <a:pt x="1671" y="1022"/>
                  </a:lnTo>
                  <a:lnTo>
                    <a:pt x="1671" y="1008"/>
                  </a:lnTo>
                  <a:close/>
                  <a:moveTo>
                    <a:pt x="1768" y="1008"/>
                  </a:moveTo>
                  <a:lnTo>
                    <a:pt x="1824" y="1008"/>
                  </a:lnTo>
                  <a:lnTo>
                    <a:pt x="1824" y="1022"/>
                  </a:lnTo>
                  <a:lnTo>
                    <a:pt x="1768" y="1022"/>
                  </a:lnTo>
                  <a:lnTo>
                    <a:pt x="1768" y="1008"/>
                  </a:lnTo>
                  <a:close/>
                  <a:moveTo>
                    <a:pt x="1865" y="1008"/>
                  </a:moveTo>
                  <a:lnTo>
                    <a:pt x="1921" y="1008"/>
                  </a:lnTo>
                  <a:lnTo>
                    <a:pt x="1921" y="1022"/>
                  </a:lnTo>
                  <a:lnTo>
                    <a:pt x="1865" y="1022"/>
                  </a:lnTo>
                  <a:lnTo>
                    <a:pt x="1865" y="1008"/>
                  </a:lnTo>
                  <a:close/>
                  <a:moveTo>
                    <a:pt x="1962" y="1008"/>
                  </a:moveTo>
                  <a:lnTo>
                    <a:pt x="2018" y="1008"/>
                  </a:lnTo>
                  <a:lnTo>
                    <a:pt x="2018" y="1022"/>
                  </a:lnTo>
                  <a:lnTo>
                    <a:pt x="1962" y="1022"/>
                  </a:lnTo>
                  <a:lnTo>
                    <a:pt x="1962" y="1008"/>
                  </a:lnTo>
                  <a:close/>
                  <a:moveTo>
                    <a:pt x="2059" y="1008"/>
                  </a:moveTo>
                  <a:lnTo>
                    <a:pt x="2115" y="1008"/>
                  </a:lnTo>
                  <a:lnTo>
                    <a:pt x="2115" y="1022"/>
                  </a:lnTo>
                  <a:lnTo>
                    <a:pt x="2059" y="1022"/>
                  </a:lnTo>
                  <a:lnTo>
                    <a:pt x="2059" y="1008"/>
                  </a:lnTo>
                  <a:close/>
                  <a:moveTo>
                    <a:pt x="2156" y="1008"/>
                  </a:moveTo>
                  <a:lnTo>
                    <a:pt x="2211" y="1008"/>
                  </a:lnTo>
                  <a:lnTo>
                    <a:pt x="2211" y="1022"/>
                  </a:lnTo>
                  <a:lnTo>
                    <a:pt x="2156" y="1022"/>
                  </a:lnTo>
                  <a:lnTo>
                    <a:pt x="2156" y="1008"/>
                  </a:lnTo>
                  <a:close/>
                  <a:moveTo>
                    <a:pt x="2253" y="1008"/>
                  </a:moveTo>
                  <a:lnTo>
                    <a:pt x="2308" y="1008"/>
                  </a:lnTo>
                  <a:lnTo>
                    <a:pt x="2308" y="1022"/>
                  </a:lnTo>
                  <a:lnTo>
                    <a:pt x="2253" y="1022"/>
                  </a:lnTo>
                  <a:lnTo>
                    <a:pt x="2253" y="1008"/>
                  </a:lnTo>
                  <a:close/>
                  <a:moveTo>
                    <a:pt x="2350" y="1008"/>
                  </a:moveTo>
                  <a:lnTo>
                    <a:pt x="2405" y="1008"/>
                  </a:lnTo>
                  <a:lnTo>
                    <a:pt x="2405" y="1022"/>
                  </a:lnTo>
                  <a:lnTo>
                    <a:pt x="2350" y="1022"/>
                  </a:lnTo>
                  <a:lnTo>
                    <a:pt x="2350" y="1008"/>
                  </a:lnTo>
                  <a:close/>
                  <a:moveTo>
                    <a:pt x="2447" y="1008"/>
                  </a:moveTo>
                  <a:lnTo>
                    <a:pt x="2502" y="1008"/>
                  </a:lnTo>
                  <a:lnTo>
                    <a:pt x="2502" y="1022"/>
                  </a:lnTo>
                  <a:lnTo>
                    <a:pt x="2447" y="1022"/>
                  </a:lnTo>
                  <a:lnTo>
                    <a:pt x="2447" y="1008"/>
                  </a:lnTo>
                  <a:close/>
                  <a:moveTo>
                    <a:pt x="2544" y="1008"/>
                  </a:moveTo>
                  <a:lnTo>
                    <a:pt x="2599" y="1008"/>
                  </a:lnTo>
                  <a:lnTo>
                    <a:pt x="2599" y="1022"/>
                  </a:lnTo>
                  <a:lnTo>
                    <a:pt x="2544" y="1022"/>
                  </a:lnTo>
                  <a:lnTo>
                    <a:pt x="2544" y="1008"/>
                  </a:lnTo>
                  <a:close/>
                  <a:moveTo>
                    <a:pt x="2641" y="1008"/>
                  </a:moveTo>
                  <a:lnTo>
                    <a:pt x="2696" y="1008"/>
                  </a:lnTo>
                  <a:lnTo>
                    <a:pt x="2696" y="1022"/>
                  </a:lnTo>
                  <a:lnTo>
                    <a:pt x="2641" y="1022"/>
                  </a:lnTo>
                  <a:lnTo>
                    <a:pt x="2641" y="1008"/>
                  </a:lnTo>
                  <a:close/>
                  <a:moveTo>
                    <a:pt x="2738" y="1008"/>
                  </a:moveTo>
                  <a:lnTo>
                    <a:pt x="2793" y="1008"/>
                  </a:lnTo>
                  <a:lnTo>
                    <a:pt x="2793" y="1022"/>
                  </a:lnTo>
                  <a:lnTo>
                    <a:pt x="2738" y="1022"/>
                  </a:lnTo>
                  <a:lnTo>
                    <a:pt x="2738" y="1008"/>
                  </a:lnTo>
                  <a:close/>
                  <a:moveTo>
                    <a:pt x="2835" y="1008"/>
                  </a:moveTo>
                  <a:lnTo>
                    <a:pt x="2890" y="1008"/>
                  </a:lnTo>
                  <a:lnTo>
                    <a:pt x="2890" y="1022"/>
                  </a:lnTo>
                  <a:lnTo>
                    <a:pt x="2835" y="1022"/>
                  </a:lnTo>
                  <a:lnTo>
                    <a:pt x="2835" y="1008"/>
                  </a:lnTo>
                  <a:close/>
                  <a:moveTo>
                    <a:pt x="2932" y="1008"/>
                  </a:moveTo>
                  <a:lnTo>
                    <a:pt x="2987" y="1008"/>
                  </a:lnTo>
                  <a:lnTo>
                    <a:pt x="2987" y="1022"/>
                  </a:lnTo>
                  <a:lnTo>
                    <a:pt x="2932" y="1022"/>
                  </a:lnTo>
                  <a:lnTo>
                    <a:pt x="2932" y="1008"/>
                  </a:lnTo>
                  <a:close/>
                  <a:moveTo>
                    <a:pt x="3029" y="1008"/>
                  </a:moveTo>
                  <a:lnTo>
                    <a:pt x="3084" y="1008"/>
                  </a:lnTo>
                  <a:lnTo>
                    <a:pt x="3084" y="1022"/>
                  </a:lnTo>
                  <a:lnTo>
                    <a:pt x="3029" y="1022"/>
                  </a:lnTo>
                  <a:lnTo>
                    <a:pt x="3029" y="1008"/>
                  </a:lnTo>
                  <a:close/>
                  <a:moveTo>
                    <a:pt x="3126" y="1008"/>
                  </a:moveTo>
                  <a:lnTo>
                    <a:pt x="3181" y="1008"/>
                  </a:lnTo>
                  <a:lnTo>
                    <a:pt x="3181" y="1022"/>
                  </a:lnTo>
                  <a:lnTo>
                    <a:pt x="3126" y="1022"/>
                  </a:lnTo>
                  <a:lnTo>
                    <a:pt x="3126" y="1008"/>
                  </a:lnTo>
                  <a:close/>
                  <a:moveTo>
                    <a:pt x="3223" y="1008"/>
                  </a:moveTo>
                  <a:lnTo>
                    <a:pt x="3278" y="1008"/>
                  </a:lnTo>
                  <a:lnTo>
                    <a:pt x="3278" y="1022"/>
                  </a:lnTo>
                  <a:lnTo>
                    <a:pt x="3223" y="1022"/>
                  </a:lnTo>
                  <a:lnTo>
                    <a:pt x="3223" y="1008"/>
                  </a:lnTo>
                  <a:close/>
                  <a:moveTo>
                    <a:pt x="3320" y="1008"/>
                  </a:moveTo>
                  <a:lnTo>
                    <a:pt x="3375" y="1008"/>
                  </a:lnTo>
                  <a:lnTo>
                    <a:pt x="3375" y="1022"/>
                  </a:lnTo>
                  <a:lnTo>
                    <a:pt x="3320" y="1022"/>
                  </a:lnTo>
                  <a:lnTo>
                    <a:pt x="3320" y="1008"/>
                  </a:lnTo>
                  <a:close/>
                  <a:moveTo>
                    <a:pt x="3416" y="1008"/>
                  </a:moveTo>
                  <a:lnTo>
                    <a:pt x="3472" y="1008"/>
                  </a:lnTo>
                  <a:lnTo>
                    <a:pt x="3472" y="1022"/>
                  </a:lnTo>
                  <a:lnTo>
                    <a:pt x="3416" y="1022"/>
                  </a:lnTo>
                  <a:lnTo>
                    <a:pt x="3416" y="1008"/>
                  </a:lnTo>
                  <a:close/>
                  <a:moveTo>
                    <a:pt x="3513" y="1008"/>
                  </a:moveTo>
                  <a:lnTo>
                    <a:pt x="3569" y="1008"/>
                  </a:lnTo>
                  <a:lnTo>
                    <a:pt x="3569" y="1022"/>
                  </a:lnTo>
                  <a:lnTo>
                    <a:pt x="3513" y="1022"/>
                  </a:lnTo>
                  <a:lnTo>
                    <a:pt x="3513" y="1008"/>
                  </a:lnTo>
                  <a:close/>
                  <a:moveTo>
                    <a:pt x="3610" y="1008"/>
                  </a:moveTo>
                  <a:lnTo>
                    <a:pt x="3666" y="1008"/>
                  </a:lnTo>
                  <a:lnTo>
                    <a:pt x="3666" y="1022"/>
                  </a:lnTo>
                  <a:lnTo>
                    <a:pt x="3610" y="1022"/>
                  </a:lnTo>
                  <a:lnTo>
                    <a:pt x="3610" y="1008"/>
                  </a:lnTo>
                  <a:close/>
                  <a:moveTo>
                    <a:pt x="3707" y="1008"/>
                  </a:moveTo>
                  <a:lnTo>
                    <a:pt x="3763" y="1008"/>
                  </a:lnTo>
                  <a:lnTo>
                    <a:pt x="3763" y="1022"/>
                  </a:lnTo>
                  <a:lnTo>
                    <a:pt x="3707" y="1022"/>
                  </a:lnTo>
                  <a:lnTo>
                    <a:pt x="3707" y="1008"/>
                  </a:lnTo>
                  <a:close/>
                  <a:moveTo>
                    <a:pt x="3804" y="1008"/>
                  </a:moveTo>
                  <a:lnTo>
                    <a:pt x="3860" y="1008"/>
                  </a:lnTo>
                  <a:lnTo>
                    <a:pt x="3860" y="1022"/>
                  </a:lnTo>
                  <a:lnTo>
                    <a:pt x="3804" y="1022"/>
                  </a:lnTo>
                  <a:lnTo>
                    <a:pt x="3804" y="1008"/>
                  </a:lnTo>
                  <a:close/>
                  <a:moveTo>
                    <a:pt x="3901" y="1008"/>
                  </a:moveTo>
                  <a:lnTo>
                    <a:pt x="3957" y="1008"/>
                  </a:lnTo>
                  <a:lnTo>
                    <a:pt x="3957" y="1022"/>
                  </a:lnTo>
                  <a:lnTo>
                    <a:pt x="3901" y="1022"/>
                  </a:lnTo>
                  <a:lnTo>
                    <a:pt x="3901" y="1008"/>
                  </a:lnTo>
                  <a:close/>
                  <a:moveTo>
                    <a:pt x="3998" y="1008"/>
                  </a:moveTo>
                  <a:lnTo>
                    <a:pt x="4054" y="1008"/>
                  </a:lnTo>
                  <a:lnTo>
                    <a:pt x="4054" y="1022"/>
                  </a:lnTo>
                  <a:lnTo>
                    <a:pt x="3998" y="1022"/>
                  </a:lnTo>
                  <a:lnTo>
                    <a:pt x="3998" y="1008"/>
                  </a:lnTo>
                  <a:close/>
                  <a:moveTo>
                    <a:pt x="4095" y="1008"/>
                  </a:moveTo>
                  <a:lnTo>
                    <a:pt x="4151" y="1008"/>
                  </a:lnTo>
                  <a:lnTo>
                    <a:pt x="4151" y="1022"/>
                  </a:lnTo>
                  <a:lnTo>
                    <a:pt x="4095" y="1022"/>
                  </a:lnTo>
                  <a:lnTo>
                    <a:pt x="4095" y="1008"/>
                  </a:lnTo>
                  <a:close/>
                  <a:moveTo>
                    <a:pt x="4192" y="1008"/>
                  </a:moveTo>
                  <a:lnTo>
                    <a:pt x="4248" y="1008"/>
                  </a:lnTo>
                  <a:lnTo>
                    <a:pt x="4248" y="1022"/>
                  </a:lnTo>
                  <a:lnTo>
                    <a:pt x="4192" y="1022"/>
                  </a:lnTo>
                  <a:lnTo>
                    <a:pt x="4192" y="1008"/>
                  </a:lnTo>
                  <a:close/>
                  <a:moveTo>
                    <a:pt x="4289" y="1008"/>
                  </a:moveTo>
                  <a:lnTo>
                    <a:pt x="4344" y="1008"/>
                  </a:lnTo>
                  <a:lnTo>
                    <a:pt x="4344" y="1022"/>
                  </a:lnTo>
                  <a:lnTo>
                    <a:pt x="4289" y="1022"/>
                  </a:lnTo>
                  <a:lnTo>
                    <a:pt x="4289" y="1008"/>
                  </a:lnTo>
                  <a:close/>
                  <a:moveTo>
                    <a:pt x="4386" y="1008"/>
                  </a:moveTo>
                  <a:lnTo>
                    <a:pt x="4441" y="1008"/>
                  </a:lnTo>
                  <a:lnTo>
                    <a:pt x="4441" y="1022"/>
                  </a:lnTo>
                  <a:lnTo>
                    <a:pt x="4386" y="1022"/>
                  </a:lnTo>
                  <a:lnTo>
                    <a:pt x="4386" y="1008"/>
                  </a:lnTo>
                  <a:close/>
                  <a:moveTo>
                    <a:pt x="4483" y="1008"/>
                  </a:moveTo>
                  <a:lnTo>
                    <a:pt x="4538" y="1008"/>
                  </a:lnTo>
                  <a:lnTo>
                    <a:pt x="4538" y="1022"/>
                  </a:lnTo>
                  <a:lnTo>
                    <a:pt x="4483" y="1022"/>
                  </a:lnTo>
                  <a:lnTo>
                    <a:pt x="4483" y="1008"/>
                  </a:lnTo>
                  <a:close/>
                  <a:moveTo>
                    <a:pt x="4580" y="1008"/>
                  </a:moveTo>
                  <a:lnTo>
                    <a:pt x="4635" y="1008"/>
                  </a:lnTo>
                  <a:lnTo>
                    <a:pt x="4635" y="1022"/>
                  </a:lnTo>
                  <a:lnTo>
                    <a:pt x="4580" y="1022"/>
                  </a:lnTo>
                  <a:lnTo>
                    <a:pt x="4580" y="1008"/>
                  </a:lnTo>
                  <a:close/>
                  <a:moveTo>
                    <a:pt x="4677" y="1008"/>
                  </a:moveTo>
                  <a:lnTo>
                    <a:pt x="4732" y="1008"/>
                  </a:lnTo>
                  <a:lnTo>
                    <a:pt x="4732" y="1022"/>
                  </a:lnTo>
                  <a:lnTo>
                    <a:pt x="4677" y="1022"/>
                  </a:lnTo>
                  <a:lnTo>
                    <a:pt x="4677" y="1008"/>
                  </a:lnTo>
                  <a:close/>
                  <a:moveTo>
                    <a:pt x="4774" y="1008"/>
                  </a:moveTo>
                  <a:lnTo>
                    <a:pt x="4829" y="1008"/>
                  </a:lnTo>
                  <a:lnTo>
                    <a:pt x="4829" y="1022"/>
                  </a:lnTo>
                  <a:lnTo>
                    <a:pt x="4774" y="1022"/>
                  </a:lnTo>
                  <a:lnTo>
                    <a:pt x="4774" y="1008"/>
                  </a:lnTo>
                  <a:close/>
                  <a:moveTo>
                    <a:pt x="4871" y="1008"/>
                  </a:moveTo>
                  <a:lnTo>
                    <a:pt x="4926" y="1008"/>
                  </a:lnTo>
                  <a:lnTo>
                    <a:pt x="4926" y="1022"/>
                  </a:lnTo>
                  <a:lnTo>
                    <a:pt x="4871" y="1022"/>
                  </a:lnTo>
                  <a:lnTo>
                    <a:pt x="4871" y="1008"/>
                  </a:lnTo>
                  <a:close/>
                  <a:moveTo>
                    <a:pt x="4968" y="1008"/>
                  </a:moveTo>
                  <a:lnTo>
                    <a:pt x="4993" y="1008"/>
                  </a:lnTo>
                  <a:lnTo>
                    <a:pt x="4986" y="1015"/>
                  </a:lnTo>
                  <a:lnTo>
                    <a:pt x="4986" y="984"/>
                  </a:lnTo>
                  <a:lnTo>
                    <a:pt x="5000" y="984"/>
                  </a:lnTo>
                  <a:lnTo>
                    <a:pt x="5000" y="1022"/>
                  </a:lnTo>
                  <a:lnTo>
                    <a:pt x="4968" y="1022"/>
                  </a:lnTo>
                  <a:lnTo>
                    <a:pt x="4968" y="1008"/>
                  </a:lnTo>
                  <a:close/>
                  <a:moveTo>
                    <a:pt x="4986" y="943"/>
                  </a:moveTo>
                  <a:lnTo>
                    <a:pt x="4986" y="887"/>
                  </a:lnTo>
                  <a:lnTo>
                    <a:pt x="5000" y="887"/>
                  </a:lnTo>
                  <a:lnTo>
                    <a:pt x="5000" y="943"/>
                  </a:lnTo>
                  <a:lnTo>
                    <a:pt x="4986" y="943"/>
                  </a:lnTo>
                  <a:close/>
                  <a:moveTo>
                    <a:pt x="4986" y="846"/>
                  </a:moveTo>
                  <a:lnTo>
                    <a:pt x="4986" y="790"/>
                  </a:lnTo>
                  <a:lnTo>
                    <a:pt x="5000" y="790"/>
                  </a:lnTo>
                  <a:lnTo>
                    <a:pt x="5000" y="846"/>
                  </a:lnTo>
                  <a:lnTo>
                    <a:pt x="4986" y="846"/>
                  </a:lnTo>
                  <a:close/>
                  <a:moveTo>
                    <a:pt x="4986" y="749"/>
                  </a:moveTo>
                  <a:lnTo>
                    <a:pt x="4986" y="693"/>
                  </a:lnTo>
                  <a:lnTo>
                    <a:pt x="5000" y="693"/>
                  </a:lnTo>
                  <a:lnTo>
                    <a:pt x="5000" y="749"/>
                  </a:lnTo>
                  <a:lnTo>
                    <a:pt x="4986" y="749"/>
                  </a:lnTo>
                  <a:close/>
                  <a:moveTo>
                    <a:pt x="4986" y="652"/>
                  </a:moveTo>
                  <a:lnTo>
                    <a:pt x="4986" y="597"/>
                  </a:lnTo>
                  <a:lnTo>
                    <a:pt x="5000" y="597"/>
                  </a:lnTo>
                  <a:lnTo>
                    <a:pt x="5000" y="652"/>
                  </a:lnTo>
                  <a:lnTo>
                    <a:pt x="4986" y="652"/>
                  </a:lnTo>
                  <a:close/>
                  <a:moveTo>
                    <a:pt x="4986" y="555"/>
                  </a:moveTo>
                  <a:lnTo>
                    <a:pt x="4986" y="500"/>
                  </a:lnTo>
                  <a:lnTo>
                    <a:pt x="5000" y="500"/>
                  </a:lnTo>
                  <a:lnTo>
                    <a:pt x="5000" y="555"/>
                  </a:lnTo>
                  <a:lnTo>
                    <a:pt x="4986" y="555"/>
                  </a:lnTo>
                  <a:close/>
                  <a:moveTo>
                    <a:pt x="4986" y="458"/>
                  </a:moveTo>
                  <a:lnTo>
                    <a:pt x="4986" y="403"/>
                  </a:lnTo>
                  <a:lnTo>
                    <a:pt x="5000" y="403"/>
                  </a:lnTo>
                  <a:lnTo>
                    <a:pt x="5000" y="458"/>
                  </a:lnTo>
                  <a:lnTo>
                    <a:pt x="4986" y="458"/>
                  </a:lnTo>
                  <a:close/>
                  <a:moveTo>
                    <a:pt x="4986" y="361"/>
                  </a:moveTo>
                  <a:lnTo>
                    <a:pt x="4986" y="306"/>
                  </a:lnTo>
                  <a:lnTo>
                    <a:pt x="5000" y="306"/>
                  </a:lnTo>
                  <a:lnTo>
                    <a:pt x="5000" y="361"/>
                  </a:lnTo>
                  <a:lnTo>
                    <a:pt x="4986" y="361"/>
                  </a:lnTo>
                  <a:close/>
                  <a:moveTo>
                    <a:pt x="4986" y="264"/>
                  </a:moveTo>
                  <a:lnTo>
                    <a:pt x="4986" y="209"/>
                  </a:lnTo>
                  <a:lnTo>
                    <a:pt x="5000" y="209"/>
                  </a:lnTo>
                  <a:lnTo>
                    <a:pt x="5000" y="264"/>
                  </a:lnTo>
                  <a:lnTo>
                    <a:pt x="4986" y="264"/>
                  </a:lnTo>
                  <a:close/>
                  <a:moveTo>
                    <a:pt x="4986" y="167"/>
                  </a:moveTo>
                  <a:lnTo>
                    <a:pt x="4986" y="112"/>
                  </a:lnTo>
                  <a:lnTo>
                    <a:pt x="5000" y="112"/>
                  </a:lnTo>
                  <a:lnTo>
                    <a:pt x="5000" y="167"/>
                  </a:lnTo>
                  <a:lnTo>
                    <a:pt x="4986" y="167"/>
                  </a:lnTo>
                  <a:close/>
                  <a:moveTo>
                    <a:pt x="4986" y="70"/>
                  </a:moveTo>
                  <a:lnTo>
                    <a:pt x="4986" y="15"/>
                  </a:lnTo>
                  <a:lnTo>
                    <a:pt x="5000" y="15"/>
                  </a:lnTo>
                  <a:lnTo>
                    <a:pt x="5000" y="70"/>
                  </a:lnTo>
                  <a:lnTo>
                    <a:pt x="4986" y="70"/>
                  </a:lnTo>
                  <a:close/>
                </a:path>
              </a:pathLst>
            </a:custGeom>
            <a:solidFill>
              <a:srgbClr val="000000"/>
            </a:solidFill>
            <a:ln w="1" cap="flat">
              <a:solidFill>
                <a:srgbClr val="000000"/>
              </a:solidFill>
              <a:prstDash val="solid"/>
              <a:bevel/>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3" name="Rectangle 14"/>
            <p:cNvSpPr>
              <a:spLocks noChangeArrowheads="1"/>
            </p:cNvSpPr>
            <p:nvPr/>
          </p:nvSpPr>
          <p:spPr bwMode="auto">
            <a:xfrm>
              <a:off x="4809" y="1252"/>
              <a:ext cx="25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100" b="0" i="0" u="none" strike="noStrike" cap="none" normalizeH="0" baseline="0">
                  <a:ln>
                    <a:noFill/>
                  </a:ln>
                  <a:solidFill>
                    <a:srgbClr val="000000"/>
                  </a:solidFill>
                  <a:effectLst/>
                  <a:latin typeface="宋体" pitchFamily="2" charset="-122"/>
                  <a:ea typeface="宋体" pitchFamily="2" charset="-122"/>
                  <a:cs typeface="宋体" pitchFamily="2" charset="-122"/>
                </a:rPr>
                <a:t>预测</a:t>
              </a:r>
              <a:endParaRPr kumimoji="0" 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4" name="Rectangle 15"/>
            <p:cNvSpPr>
              <a:spLocks noChangeArrowheads="1"/>
            </p:cNvSpPr>
            <p:nvPr/>
          </p:nvSpPr>
          <p:spPr bwMode="auto">
            <a:xfrm>
              <a:off x="5141" y="1247"/>
              <a:ext cx="11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5" name="Rectangle 16"/>
            <p:cNvSpPr>
              <a:spLocks noChangeArrowheads="1"/>
            </p:cNvSpPr>
            <p:nvPr/>
          </p:nvSpPr>
          <p:spPr bwMode="auto">
            <a:xfrm>
              <a:off x="5188" y="1247"/>
              <a:ext cx="1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6" name="Rectangle 17"/>
            <p:cNvSpPr>
              <a:spLocks noChangeArrowheads="1"/>
            </p:cNvSpPr>
            <p:nvPr/>
          </p:nvSpPr>
          <p:spPr bwMode="auto">
            <a:xfrm>
              <a:off x="4855" y="1540"/>
              <a:ext cx="25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100" b="0" i="0" u="none" strike="noStrike" cap="none" normalizeH="0" baseline="0">
                  <a:ln>
                    <a:noFill/>
                  </a:ln>
                  <a:solidFill>
                    <a:srgbClr val="000000"/>
                  </a:solidFill>
                  <a:effectLst/>
                  <a:latin typeface="宋体" pitchFamily="2" charset="-122"/>
                  <a:ea typeface="宋体" pitchFamily="2" charset="-122"/>
                  <a:cs typeface="宋体" pitchFamily="2" charset="-122"/>
                </a:rPr>
                <a:t>成功</a:t>
              </a:r>
              <a:endParaRPr kumimoji="0" 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7" name="Rectangle 18"/>
            <p:cNvSpPr>
              <a:spLocks noChangeArrowheads="1"/>
            </p:cNvSpPr>
            <p:nvPr/>
          </p:nvSpPr>
          <p:spPr bwMode="auto">
            <a:xfrm>
              <a:off x="5188" y="1535"/>
              <a:ext cx="1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8" name="Oval 19"/>
            <p:cNvSpPr>
              <a:spLocks noChangeArrowheads="1"/>
            </p:cNvSpPr>
            <p:nvPr/>
          </p:nvSpPr>
          <p:spPr bwMode="auto">
            <a:xfrm>
              <a:off x="1508" y="1266"/>
              <a:ext cx="664" cy="665"/>
            </a:xfrm>
            <a:prstGeom prst="ellipse">
              <a:avLst/>
            </a:prstGeom>
            <a:noFill/>
            <a:ln w="14"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Rectangle 20"/>
            <p:cNvSpPr>
              <a:spLocks noChangeArrowheads="1"/>
            </p:cNvSpPr>
            <p:nvPr/>
          </p:nvSpPr>
          <p:spPr bwMode="auto">
            <a:xfrm>
              <a:off x="1761" y="1529"/>
              <a:ext cx="23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11</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0" name="Rectangle 21"/>
            <p:cNvSpPr>
              <a:spLocks noChangeArrowheads="1"/>
            </p:cNvSpPr>
            <p:nvPr/>
          </p:nvSpPr>
          <p:spPr bwMode="auto">
            <a:xfrm>
              <a:off x="1920" y="1529"/>
              <a:ext cx="1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1" name="Oval 22"/>
            <p:cNvSpPr>
              <a:spLocks noChangeArrowheads="1"/>
            </p:cNvSpPr>
            <p:nvPr/>
          </p:nvSpPr>
          <p:spPr bwMode="auto">
            <a:xfrm>
              <a:off x="3336" y="1269"/>
              <a:ext cx="665" cy="665"/>
            </a:xfrm>
            <a:prstGeom prst="ellipse">
              <a:avLst/>
            </a:prstGeom>
            <a:noFill/>
            <a:ln w="14"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Rectangle 23"/>
            <p:cNvSpPr>
              <a:spLocks noChangeArrowheads="1"/>
            </p:cNvSpPr>
            <p:nvPr/>
          </p:nvSpPr>
          <p:spPr bwMode="auto">
            <a:xfrm>
              <a:off x="3585" y="1530"/>
              <a:ext cx="23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10</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3" name="Rectangle 24"/>
            <p:cNvSpPr>
              <a:spLocks noChangeArrowheads="1"/>
            </p:cNvSpPr>
            <p:nvPr/>
          </p:nvSpPr>
          <p:spPr bwMode="auto">
            <a:xfrm>
              <a:off x="3752" y="1530"/>
              <a:ext cx="1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4" name="Freeform 25"/>
            <p:cNvSpPr>
              <a:spLocks noEditPoints="1"/>
            </p:cNvSpPr>
            <p:nvPr/>
          </p:nvSpPr>
          <p:spPr bwMode="auto">
            <a:xfrm>
              <a:off x="1171" y="1406"/>
              <a:ext cx="385" cy="468"/>
            </a:xfrm>
            <a:custGeom>
              <a:avLst/>
              <a:gdLst>
                <a:gd name="T0" fmla="*/ 4582 w 5573"/>
                <a:gd name="T1" fmla="*/ 6226 h 6751"/>
                <a:gd name="T2" fmla="*/ 4103 w 5573"/>
                <a:gd name="T3" fmla="*/ 6394 h 6751"/>
                <a:gd name="T4" fmla="*/ 3603 w 5573"/>
                <a:gd name="T5" fmla="*/ 6489 h 6751"/>
                <a:gd name="T6" fmla="*/ 3092 w 5573"/>
                <a:gd name="T7" fmla="*/ 6503 h 6751"/>
                <a:gd name="T8" fmla="*/ 2604 w 5573"/>
                <a:gd name="T9" fmla="*/ 6442 h 6751"/>
                <a:gd name="T10" fmla="*/ 2140 w 5573"/>
                <a:gd name="T11" fmla="*/ 6311 h 6751"/>
                <a:gd name="T12" fmla="*/ 1707 w 5573"/>
                <a:gd name="T13" fmla="*/ 6117 h 6751"/>
                <a:gd name="T14" fmla="*/ 1190 w 5573"/>
                <a:gd name="T15" fmla="*/ 5769 h 6751"/>
                <a:gd name="T16" fmla="*/ 560 w 5573"/>
                <a:gd name="T17" fmla="*/ 5078 h 6751"/>
                <a:gd name="T18" fmla="*/ 323 w 5573"/>
                <a:gd name="T19" fmla="*/ 4667 h 6751"/>
                <a:gd name="T20" fmla="*/ 147 w 5573"/>
                <a:gd name="T21" fmla="*/ 4224 h 6751"/>
                <a:gd name="T22" fmla="*/ 38 w 5573"/>
                <a:gd name="T23" fmla="*/ 3751 h 6751"/>
                <a:gd name="T24" fmla="*/ 0 w 5573"/>
                <a:gd name="T25" fmla="*/ 3257 h 6751"/>
                <a:gd name="T26" fmla="*/ 37 w 5573"/>
                <a:gd name="T27" fmla="*/ 2762 h 6751"/>
                <a:gd name="T28" fmla="*/ 145 w 5573"/>
                <a:gd name="T29" fmla="*/ 2289 h 6751"/>
                <a:gd name="T30" fmla="*/ 320 w 5573"/>
                <a:gd name="T31" fmla="*/ 1845 h 6751"/>
                <a:gd name="T32" fmla="*/ 554 w 5573"/>
                <a:gd name="T33" fmla="*/ 1437 h 6751"/>
                <a:gd name="T34" fmla="*/ 1180 w 5573"/>
                <a:gd name="T35" fmla="*/ 747 h 6751"/>
                <a:gd name="T36" fmla="*/ 1701 w 5573"/>
                <a:gd name="T37" fmla="*/ 394 h 6751"/>
                <a:gd name="T38" fmla="*/ 2134 w 5573"/>
                <a:gd name="T39" fmla="*/ 198 h 6751"/>
                <a:gd name="T40" fmla="*/ 2596 w 5573"/>
                <a:gd name="T41" fmla="*/ 67 h 6751"/>
                <a:gd name="T42" fmla="*/ 3085 w 5573"/>
                <a:gd name="T43" fmla="*/ 5 h 6751"/>
                <a:gd name="T44" fmla="*/ 3545 w 5573"/>
                <a:gd name="T45" fmla="*/ 13 h 6751"/>
                <a:gd name="T46" fmla="*/ 3974 w 5573"/>
                <a:gd name="T47" fmla="*/ 81 h 6751"/>
                <a:gd name="T48" fmla="*/ 4652 w 5573"/>
                <a:gd name="T49" fmla="*/ 315 h 6751"/>
                <a:gd name="T50" fmla="*/ 5381 w 5573"/>
                <a:gd name="T51" fmla="*/ 789 h 6751"/>
                <a:gd name="T52" fmla="*/ 5006 w 5573"/>
                <a:gd name="T53" fmla="*/ 832 h 6751"/>
                <a:gd name="T54" fmla="*/ 4305 w 5573"/>
                <a:gd name="T55" fmla="*/ 456 h 6751"/>
                <a:gd name="T56" fmla="*/ 3790 w 5573"/>
                <a:gd name="T57" fmla="*/ 315 h 6751"/>
                <a:gd name="T58" fmla="*/ 3394 w 5573"/>
                <a:gd name="T59" fmla="*/ 270 h 6751"/>
                <a:gd name="T60" fmla="*/ 2953 w 5573"/>
                <a:gd name="T61" fmla="*/ 282 h 6751"/>
                <a:gd name="T62" fmla="*/ 2512 w 5573"/>
                <a:gd name="T63" fmla="*/ 360 h 6751"/>
                <a:gd name="T64" fmla="*/ 2096 w 5573"/>
                <a:gd name="T65" fmla="*/ 500 h 6751"/>
                <a:gd name="T66" fmla="*/ 1709 w 5573"/>
                <a:gd name="T67" fmla="*/ 698 h 6751"/>
                <a:gd name="T68" fmla="*/ 1147 w 5573"/>
                <a:gd name="T69" fmla="*/ 1137 h 6751"/>
                <a:gd name="T70" fmla="*/ 701 w 5573"/>
                <a:gd name="T71" fmla="*/ 1702 h 6751"/>
                <a:gd name="T72" fmla="*/ 502 w 5573"/>
                <a:gd name="T73" fmla="*/ 2089 h 6751"/>
                <a:gd name="T74" fmla="*/ 361 w 5573"/>
                <a:gd name="T75" fmla="*/ 2504 h 6751"/>
                <a:gd name="T76" fmla="*/ 282 w 5573"/>
                <a:gd name="T77" fmla="*/ 2945 h 6751"/>
                <a:gd name="T78" fmla="*/ 270 w 5573"/>
                <a:gd name="T79" fmla="*/ 3404 h 6751"/>
                <a:gd name="T80" fmla="*/ 326 w 5573"/>
                <a:gd name="T81" fmla="*/ 3852 h 6751"/>
                <a:gd name="T82" fmla="*/ 447 w 5573"/>
                <a:gd name="T83" fmla="*/ 4278 h 6751"/>
                <a:gd name="T84" fmla="*/ 626 w 5573"/>
                <a:gd name="T85" fmla="*/ 4675 h 6751"/>
                <a:gd name="T86" fmla="*/ 945 w 5573"/>
                <a:gd name="T87" fmla="*/ 5149 h 6751"/>
                <a:gd name="T88" fmla="*/ 1583 w 5573"/>
                <a:gd name="T89" fmla="*/ 5728 h 6751"/>
                <a:gd name="T90" fmla="*/ 1958 w 5573"/>
                <a:gd name="T91" fmla="*/ 5944 h 6751"/>
                <a:gd name="T92" fmla="*/ 2364 w 5573"/>
                <a:gd name="T93" fmla="*/ 6105 h 6751"/>
                <a:gd name="T94" fmla="*/ 2797 w 5573"/>
                <a:gd name="T95" fmla="*/ 6205 h 6751"/>
                <a:gd name="T96" fmla="*/ 3253 w 5573"/>
                <a:gd name="T97" fmla="*/ 6240 h 6751"/>
                <a:gd name="T98" fmla="*/ 3723 w 5573"/>
                <a:gd name="T99" fmla="*/ 6203 h 6751"/>
                <a:gd name="T100" fmla="*/ 4177 w 5573"/>
                <a:gd name="T101" fmla="*/ 6095 h 6751"/>
                <a:gd name="T102" fmla="*/ 4607 w 5573"/>
                <a:gd name="T103" fmla="*/ 5918 h 6751"/>
                <a:gd name="T104" fmla="*/ 4796 w 5573"/>
                <a:gd name="T105" fmla="*/ 6119 h 6751"/>
                <a:gd name="T106" fmla="*/ 5573 w 5573"/>
                <a:gd name="T107" fmla="*/ 5345 h 6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573" h="6751">
                  <a:moveTo>
                    <a:pt x="4796" y="6119"/>
                  </a:moveTo>
                  <a:lnTo>
                    <a:pt x="4734" y="6153"/>
                  </a:lnTo>
                  <a:lnTo>
                    <a:pt x="4582" y="6226"/>
                  </a:lnTo>
                  <a:lnTo>
                    <a:pt x="4425" y="6290"/>
                  </a:lnTo>
                  <a:lnTo>
                    <a:pt x="4266" y="6346"/>
                  </a:lnTo>
                  <a:lnTo>
                    <a:pt x="4103" y="6394"/>
                  </a:lnTo>
                  <a:lnTo>
                    <a:pt x="3939" y="6434"/>
                  </a:lnTo>
                  <a:lnTo>
                    <a:pt x="3772" y="6466"/>
                  </a:lnTo>
                  <a:lnTo>
                    <a:pt x="3603" y="6489"/>
                  </a:lnTo>
                  <a:lnTo>
                    <a:pt x="3432" y="6502"/>
                  </a:lnTo>
                  <a:lnTo>
                    <a:pt x="3260" y="6507"/>
                  </a:lnTo>
                  <a:lnTo>
                    <a:pt x="3092" y="6503"/>
                  </a:lnTo>
                  <a:lnTo>
                    <a:pt x="2927" y="6490"/>
                  </a:lnTo>
                  <a:lnTo>
                    <a:pt x="2764" y="6470"/>
                  </a:lnTo>
                  <a:lnTo>
                    <a:pt x="2604" y="6442"/>
                  </a:lnTo>
                  <a:lnTo>
                    <a:pt x="2446" y="6405"/>
                  </a:lnTo>
                  <a:lnTo>
                    <a:pt x="2291" y="6362"/>
                  </a:lnTo>
                  <a:lnTo>
                    <a:pt x="2140" y="6311"/>
                  </a:lnTo>
                  <a:lnTo>
                    <a:pt x="1992" y="6253"/>
                  </a:lnTo>
                  <a:lnTo>
                    <a:pt x="1847" y="6187"/>
                  </a:lnTo>
                  <a:lnTo>
                    <a:pt x="1707" y="6117"/>
                  </a:lnTo>
                  <a:lnTo>
                    <a:pt x="1571" y="6038"/>
                  </a:lnTo>
                  <a:lnTo>
                    <a:pt x="1438" y="5952"/>
                  </a:lnTo>
                  <a:lnTo>
                    <a:pt x="1190" y="5769"/>
                  </a:lnTo>
                  <a:lnTo>
                    <a:pt x="959" y="5558"/>
                  </a:lnTo>
                  <a:lnTo>
                    <a:pt x="748" y="5328"/>
                  </a:lnTo>
                  <a:lnTo>
                    <a:pt x="560" y="5078"/>
                  </a:lnTo>
                  <a:lnTo>
                    <a:pt x="473" y="4943"/>
                  </a:lnTo>
                  <a:lnTo>
                    <a:pt x="395" y="4808"/>
                  </a:lnTo>
                  <a:lnTo>
                    <a:pt x="323" y="4667"/>
                  </a:lnTo>
                  <a:lnTo>
                    <a:pt x="257" y="4524"/>
                  </a:lnTo>
                  <a:lnTo>
                    <a:pt x="198" y="4375"/>
                  </a:lnTo>
                  <a:lnTo>
                    <a:pt x="147" y="4224"/>
                  </a:lnTo>
                  <a:lnTo>
                    <a:pt x="103" y="4070"/>
                  </a:lnTo>
                  <a:lnTo>
                    <a:pt x="67" y="3913"/>
                  </a:lnTo>
                  <a:lnTo>
                    <a:pt x="38" y="3751"/>
                  </a:lnTo>
                  <a:lnTo>
                    <a:pt x="17" y="3589"/>
                  </a:lnTo>
                  <a:lnTo>
                    <a:pt x="5" y="3425"/>
                  </a:lnTo>
                  <a:lnTo>
                    <a:pt x="0" y="3257"/>
                  </a:lnTo>
                  <a:lnTo>
                    <a:pt x="4" y="3089"/>
                  </a:lnTo>
                  <a:lnTo>
                    <a:pt x="17" y="2924"/>
                  </a:lnTo>
                  <a:lnTo>
                    <a:pt x="37" y="2762"/>
                  </a:lnTo>
                  <a:lnTo>
                    <a:pt x="65" y="2601"/>
                  </a:lnTo>
                  <a:lnTo>
                    <a:pt x="102" y="2443"/>
                  </a:lnTo>
                  <a:lnTo>
                    <a:pt x="145" y="2289"/>
                  </a:lnTo>
                  <a:lnTo>
                    <a:pt x="196" y="2138"/>
                  </a:lnTo>
                  <a:lnTo>
                    <a:pt x="255" y="1990"/>
                  </a:lnTo>
                  <a:lnTo>
                    <a:pt x="320" y="1845"/>
                  </a:lnTo>
                  <a:lnTo>
                    <a:pt x="392" y="1705"/>
                  </a:lnTo>
                  <a:lnTo>
                    <a:pt x="470" y="1569"/>
                  </a:lnTo>
                  <a:lnTo>
                    <a:pt x="554" y="1437"/>
                  </a:lnTo>
                  <a:lnTo>
                    <a:pt x="740" y="1189"/>
                  </a:lnTo>
                  <a:lnTo>
                    <a:pt x="950" y="958"/>
                  </a:lnTo>
                  <a:lnTo>
                    <a:pt x="1180" y="747"/>
                  </a:lnTo>
                  <a:lnTo>
                    <a:pt x="1431" y="559"/>
                  </a:lnTo>
                  <a:lnTo>
                    <a:pt x="1564" y="473"/>
                  </a:lnTo>
                  <a:lnTo>
                    <a:pt x="1701" y="394"/>
                  </a:lnTo>
                  <a:lnTo>
                    <a:pt x="1842" y="322"/>
                  </a:lnTo>
                  <a:lnTo>
                    <a:pt x="1985" y="257"/>
                  </a:lnTo>
                  <a:lnTo>
                    <a:pt x="2134" y="198"/>
                  </a:lnTo>
                  <a:lnTo>
                    <a:pt x="2285" y="147"/>
                  </a:lnTo>
                  <a:lnTo>
                    <a:pt x="2439" y="103"/>
                  </a:lnTo>
                  <a:lnTo>
                    <a:pt x="2596" y="67"/>
                  </a:lnTo>
                  <a:lnTo>
                    <a:pt x="2757" y="38"/>
                  </a:lnTo>
                  <a:lnTo>
                    <a:pt x="2920" y="17"/>
                  </a:lnTo>
                  <a:lnTo>
                    <a:pt x="3085" y="5"/>
                  </a:lnTo>
                  <a:lnTo>
                    <a:pt x="3253" y="0"/>
                  </a:lnTo>
                  <a:lnTo>
                    <a:pt x="3399" y="3"/>
                  </a:lnTo>
                  <a:lnTo>
                    <a:pt x="3545" y="13"/>
                  </a:lnTo>
                  <a:lnTo>
                    <a:pt x="3689" y="29"/>
                  </a:lnTo>
                  <a:lnTo>
                    <a:pt x="3833" y="52"/>
                  </a:lnTo>
                  <a:lnTo>
                    <a:pt x="3974" y="81"/>
                  </a:lnTo>
                  <a:lnTo>
                    <a:pt x="4113" y="115"/>
                  </a:lnTo>
                  <a:lnTo>
                    <a:pt x="4386" y="203"/>
                  </a:lnTo>
                  <a:lnTo>
                    <a:pt x="4652" y="315"/>
                  </a:lnTo>
                  <a:lnTo>
                    <a:pt x="4908" y="451"/>
                  </a:lnTo>
                  <a:lnTo>
                    <a:pt x="5151" y="609"/>
                  </a:lnTo>
                  <a:lnTo>
                    <a:pt x="5381" y="789"/>
                  </a:lnTo>
                  <a:cubicBezTo>
                    <a:pt x="5439" y="834"/>
                    <a:pt x="5449" y="918"/>
                    <a:pt x="5403" y="976"/>
                  </a:cubicBezTo>
                  <a:cubicBezTo>
                    <a:pt x="5358" y="1034"/>
                    <a:pt x="5274" y="1044"/>
                    <a:pt x="5216" y="998"/>
                  </a:cubicBezTo>
                  <a:lnTo>
                    <a:pt x="5006" y="832"/>
                  </a:lnTo>
                  <a:lnTo>
                    <a:pt x="4783" y="686"/>
                  </a:lnTo>
                  <a:lnTo>
                    <a:pt x="4548" y="560"/>
                  </a:lnTo>
                  <a:lnTo>
                    <a:pt x="4305" y="456"/>
                  </a:lnTo>
                  <a:lnTo>
                    <a:pt x="4050" y="374"/>
                  </a:lnTo>
                  <a:lnTo>
                    <a:pt x="3921" y="342"/>
                  </a:lnTo>
                  <a:lnTo>
                    <a:pt x="3790" y="315"/>
                  </a:lnTo>
                  <a:lnTo>
                    <a:pt x="3660" y="294"/>
                  </a:lnTo>
                  <a:lnTo>
                    <a:pt x="3526" y="279"/>
                  </a:lnTo>
                  <a:lnTo>
                    <a:pt x="3394" y="270"/>
                  </a:lnTo>
                  <a:lnTo>
                    <a:pt x="3260" y="267"/>
                  </a:lnTo>
                  <a:lnTo>
                    <a:pt x="3106" y="270"/>
                  </a:lnTo>
                  <a:lnTo>
                    <a:pt x="2953" y="282"/>
                  </a:lnTo>
                  <a:lnTo>
                    <a:pt x="2803" y="301"/>
                  </a:lnTo>
                  <a:lnTo>
                    <a:pt x="2657" y="326"/>
                  </a:lnTo>
                  <a:lnTo>
                    <a:pt x="2512" y="360"/>
                  </a:lnTo>
                  <a:lnTo>
                    <a:pt x="2370" y="400"/>
                  </a:lnTo>
                  <a:lnTo>
                    <a:pt x="2231" y="447"/>
                  </a:lnTo>
                  <a:lnTo>
                    <a:pt x="2096" y="500"/>
                  </a:lnTo>
                  <a:lnTo>
                    <a:pt x="1962" y="561"/>
                  </a:lnTo>
                  <a:lnTo>
                    <a:pt x="1834" y="625"/>
                  </a:lnTo>
                  <a:lnTo>
                    <a:pt x="1709" y="698"/>
                  </a:lnTo>
                  <a:lnTo>
                    <a:pt x="1590" y="774"/>
                  </a:lnTo>
                  <a:lnTo>
                    <a:pt x="1359" y="944"/>
                  </a:lnTo>
                  <a:lnTo>
                    <a:pt x="1147" y="1137"/>
                  </a:lnTo>
                  <a:lnTo>
                    <a:pt x="953" y="1348"/>
                  </a:lnTo>
                  <a:lnTo>
                    <a:pt x="779" y="1582"/>
                  </a:lnTo>
                  <a:lnTo>
                    <a:pt x="701" y="1702"/>
                  </a:lnTo>
                  <a:lnTo>
                    <a:pt x="629" y="1828"/>
                  </a:lnTo>
                  <a:lnTo>
                    <a:pt x="563" y="1956"/>
                  </a:lnTo>
                  <a:lnTo>
                    <a:pt x="502" y="2089"/>
                  </a:lnTo>
                  <a:lnTo>
                    <a:pt x="449" y="2223"/>
                  </a:lnTo>
                  <a:lnTo>
                    <a:pt x="402" y="2362"/>
                  </a:lnTo>
                  <a:lnTo>
                    <a:pt x="361" y="2504"/>
                  </a:lnTo>
                  <a:lnTo>
                    <a:pt x="328" y="2647"/>
                  </a:lnTo>
                  <a:lnTo>
                    <a:pt x="302" y="2795"/>
                  </a:lnTo>
                  <a:lnTo>
                    <a:pt x="282" y="2945"/>
                  </a:lnTo>
                  <a:lnTo>
                    <a:pt x="271" y="3096"/>
                  </a:lnTo>
                  <a:lnTo>
                    <a:pt x="267" y="3250"/>
                  </a:lnTo>
                  <a:lnTo>
                    <a:pt x="270" y="3404"/>
                  </a:lnTo>
                  <a:lnTo>
                    <a:pt x="282" y="3556"/>
                  </a:lnTo>
                  <a:lnTo>
                    <a:pt x="301" y="3705"/>
                  </a:lnTo>
                  <a:lnTo>
                    <a:pt x="326" y="3852"/>
                  </a:lnTo>
                  <a:lnTo>
                    <a:pt x="360" y="3997"/>
                  </a:lnTo>
                  <a:lnTo>
                    <a:pt x="400" y="4139"/>
                  </a:lnTo>
                  <a:lnTo>
                    <a:pt x="447" y="4278"/>
                  </a:lnTo>
                  <a:lnTo>
                    <a:pt x="500" y="4413"/>
                  </a:lnTo>
                  <a:lnTo>
                    <a:pt x="560" y="4546"/>
                  </a:lnTo>
                  <a:lnTo>
                    <a:pt x="626" y="4675"/>
                  </a:lnTo>
                  <a:lnTo>
                    <a:pt x="698" y="4800"/>
                  </a:lnTo>
                  <a:lnTo>
                    <a:pt x="773" y="4918"/>
                  </a:lnTo>
                  <a:lnTo>
                    <a:pt x="945" y="5149"/>
                  </a:lnTo>
                  <a:lnTo>
                    <a:pt x="1138" y="5361"/>
                  </a:lnTo>
                  <a:lnTo>
                    <a:pt x="1349" y="5554"/>
                  </a:lnTo>
                  <a:lnTo>
                    <a:pt x="1583" y="5728"/>
                  </a:lnTo>
                  <a:lnTo>
                    <a:pt x="1704" y="5807"/>
                  </a:lnTo>
                  <a:lnTo>
                    <a:pt x="1827" y="5878"/>
                  </a:lnTo>
                  <a:lnTo>
                    <a:pt x="1958" y="5944"/>
                  </a:lnTo>
                  <a:lnTo>
                    <a:pt x="2089" y="6004"/>
                  </a:lnTo>
                  <a:lnTo>
                    <a:pt x="2225" y="6058"/>
                  </a:lnTo>
                  <a:lnTo>
                    <a:pt x="2364" y="6105"/>
                  </a:lnTo>
                  <a:lnTo>
                    <a:pt x="2505" y="6146"/>
                  </a:lnTo>
                  <a:lnTo>
                    <a:pt x="2651" y="6179"/>
                  </a:lnTo>
                  <a:lnTo>
                    <a:pt x="2797" y="6205"/>
                  </a:lnTo>
                  <a:lnTo>
                    <a:pt x="2948" y="6225"/>
                  </a:lnTo>
                  <a:lnTo>
                    <a:pt x="3099" y="6236"/>
                  </a:lnTo>
                  <a:lnTo>
                    <a:pt x="3253" y="6240"/>
                  </a:lnTo>
                  <a:lnTo>
                    <a:pt x="3411" y="6237"/>
                  </a:lnTo>
                  <a:lnTo>
                    <a:pt x="3568" y="6224"/>
                  </a:lnTo>
                  <a:lnTo>
                    <a:pt x="3723" y="6203"/>
                  </a:lnTo>
                  <a:lnTo>
                    <a:pt x="3876" y="6175"/>
                  </a:lnTo>
                  <a:lnTo>
                    <a:pt x="4028" y="6139"/>
                  </a:lnTo>
                  <a:lnTo>
                    <a:pt x="4177" y="6095"/>
                  </a:lnTo>
                  <a:lnTo>
                    <a:pt x="4324" y="6043"/>
                  </a:lnTo>
                  <a:lnTo>
                    <a:pt x="4467" y="5985"/>
                  </a:lnTo>
                  <a:lnTo>
                    <a:pt x="4607" y="5918"/>
                  </a:lnTo>
                  <a:lnTo>
                    <a:pt x="4670" y="5885"/>
                  </a:lnTo>
                  <a:cubicBezTo>
                    <a:pt x="4734" y="5850"/>
                    <a:pt x="4815" y="5874"/>
                    <a:pt x="4850" y="5939"/>
                  </a:cubicBezTo>
                  <a:cubicBezTo>
                    <a:pt x="4885" y="6004"/>
                    <a:pt x="4861" y="6084"/>
                    <a:pt x="4796" y="6119"/>
                  </a:cubicBezTo>
                  <a:close/>
                  <a:moveTo>
                    <a:pt x="4733" y="6002"/>
                  </a:moveTo>
                  <a:lnTo>
                    <a:pt x="3984" y="5910"/>
                  </a:lnTo>
                  <a:lnTo>
                    <a:pt x="5573" y="5345"/>
                  </a:lnTo>
                  <a:lnTo>
                    <a:pt x="4641" y="6751"/>
                  </a:lnTo>
                  <a:lnTo>
                    <a:pt x="4733" y="6002"/>
                  </a:lnTo>
                  <a:close/>
                </a:path>
              </a:pathLst>
            </a:custGeom>
            <a:solidFill>
              <a:srgbClr val="000000"/>
            </a:solidFill>
            <a:ln w="1" cap="flat">
              <a:solidFill>
                <a:srgbClr val="000000"/>
              </a:solidFill>
              <a:prstDash val="solid"/>
              <a:bevel/>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26"/>
            <p:cNvSpPr>
              <a:spLocks noEditPoints="1"/>
            </p:cNvSpPr>
            <p:nvPr/>
          </p:nvSpPr>
          <p:spPr bwMode="auto">
            <a:xfrm>
              <a:off x="2172" y="1661"/>
              <a:ext cx="1173" cy="74"/>
            </a:xfrm>
            <a:custGeom>
              <a:avLst/>
              <a:gdLst>
                <a:gd name="T0" fmla="*/ 533 w 8466"/>
                <a:gd name="T1" fmla="*/ 200 h 533"/>
                <a:gd name="T2" fmla="*/ 8400 w 8466"/>
                <a:gd name="T3" fmla="*/ 200 h 533"/>
                <a:gd name="T4" fmla="*/ 8466 w 8466"/>
                <a:gd name="T5" fmla="*/ 266 h 533"/>
                <a:gd name="T6" fmla="*/ 8400 w 8466"/>
                <a:gd name="T7" fmla="*/ 333 h 533"/>
                <a:gd name="T8" fmla="*/ 533 w 8466"/>
                <a:gd name="T9" fmla="*/ 333 h 533"/>
                <a:gd name="T10" fmla="*/ 466 w 8466"/>
                <a:gd name="T11" fmla="*/ 266 h 533"/>
                <a:gd name="T12" fmla="*/ 533 w 8466"/>
                <a:gd name="T13" fmla="*/ 200 h 533"/>
                <a:gd name="T14" fmla="*/ 533 w 8466"/>
                <a:gd name="T15" fmla="*/ 266 h 533"/>
                <a:gd name="T16" fmla="*/ 800 w 8466"/>
                <a:gd name="T17" fmla="*/ 533 h 533"/>
                <a:gd name="T18" fmla="*/ 0 w 8466"/>
                <a:gd name="T19" fmla="*/ 266 h 533"/>
                <a:gd name="T20" fmla="*/ 800 w 8466"/>
                <a:gd name="T21" fmla="*/ 0 h 533"/>
                <a:gd name="T22" fmla="*/ 533 w 8466"/>
                <a:gd name="T23" fmla="*/ 266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466" h="533">
                  <a:moveTo>
                    <a:pt x="533" y="200"/>
                  </a:moveTo>
                  <a:lnTo>
                    <a:pt x="8400" y="200"/>
                  </a:lnTo>
                  <a:cubicBezTo>
                    <a:pt x="8437" y="200"/>
                    <a:pt x="8466" y="230"/>
                    <a:pt x="8466" y="266"/>
                  </a:cubicBezTo>
                  <a:cubicBezTo>
                    <a:pt x="8466" y="303"/>
                    <a:pt x="8437" y="333"/>
                    <a:pt x="8400" y="333"/>
                  </a:cubicBezTo>
                  <a:lnTo>
                    <a:pt x="533" y="333"/>
                  </a:lnTo>
                  <a:cubicBezTo>
                    <a:pt x="496" y="333"/>
                    <a:pt x="466" y="303"/>
                    <a:pt x="466" y="266"/>
                  </a:cubicBezTo>
                  <a:cubicBezTo>
                    <a:pt x="466" y="230"/>
                    <a:pt x="496" y="200"/>
                    <a:pt x="533" y="200"/>
                  </a:cubicBezTo>
                  <a:close/>
                  <a:moveTo>
                    <a:pt x="533" y="266"/>
                  </a:moveTo>
                  <a:lnTo>
                    <a:pt x="800" y="533"/>
                  </a:lnTo>
                  <a:lnTo>
                    <a:pt x="0" y="266"/>
                  </a:lnTo>
                  <a:lnTo>
                    <a:pt x="800" y="0"/>
                  </a:lnTo>
                  <a:lnTo>
                    <a:pt x="533" y="266"/>
                  </a:lnTo>
                  <a:close/>
                </a:path>
              </a:pathLst>
            </a:custGeom>
            <a:solidFill>
              <a:srgbClr val="000000"/>
            </a:solidFill>
            <a:ln w="1" cap="flat">
              <a:solidFill>
                <a:srgbClr val="000000"/>
              </a:solidFill>
              <a:prstDash val="solid"/>
              <a:bevel/>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27"/>
            <p:cNvSpPr>
              <a:spLocks noEditPoints="1"/>
            </p:cNvSpPr>
            <p:nvPr/>
          </p:nvSpPr>
          <p:spPr bwMode="auto">
            <a:xfrm>
              <a:off x="2163" y="1517"/>
              <a:ext cx="1173" cy="74"/>
            </a:xfrm>
            <a:custGeom>
              <a:avLst/>
              <a:gdLst>
                <a:gd name="T0" fmla="*/ 67 w 8467"/>
                <a:gd name="T1" fmla="*/ 200 h 533"/>
                <a:gd name="T2" fmla="*/ 7933 w 8467"/>
                <a:gd name="T3" fmla="*/ 200 h 533"/>
                <a:gd name="T4" fmla="*/ 8000 w 8467"/>
                <a:gd name="T5" fmla="*/ 266 h 533"/>
                <a:gd name="T6" fmla="*/ 7933 w 8467"/>
                <a:gd name="T7" fmla="*/ 333 h 533"/>
                <a:gd name="T8" fmla="*/ 67 w 8467"/>
                <a:gd name="T9" fmla="*/ 333 h 533"/>
                <a:gd name="T10" fmla="*/ 0 w 8467"/>
                <a:gd name="T11" fmla="*/ 266 h 533"/>
                <a:gd name="T12" fmla="*/ 67 w 8467"/>
                <a:gd name="T13" fmla="*/ 200 h 533"/>
                <a:gd name="T14" fmla="*/ 7933 w 8467"/>
                <a:gd name="T15" fmla="*/ 266 h 533"/>
                <a:gd name="T16" fmla="*/ 7667 w 8467"/>
                <a:gd name="T17" fmla="*/ 0 h 533"/>
                <a:gd name="T18" fmla="*/ 8467 w 8467"/>
                <a:gd name="T19" fmla="*/ 266 h 533"/>
                <a:gd name="T20" fmla="*/ 7667 w 8467"/>
                <a:gd name="T21" fmla="*/ 533 h 533"/>
                <a:gd name="T22" fmla="*/ 7933 w 8467"/>
                <a:gd name="T23" fmla="*/ 266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467" h="533">
                  <a:moveTo>
                    <a:pt x="67" y="200"/>
                  </a:moveTo>
                  <a:lnTo>
                    <a:pt x="7933" y="200"/>
                  </a:lnTo>
                  <a:cubicBezTo>
                    <a:pt x="7970" y="200"/>
                    <a:pt x="8000" y="230"/>
                    <a:pt x="8000" y="266"/>
                  </a:cubicBezTo>
                  <a:cubicBezTo>
                    <a:pt x="8000" y="303"/>
                    <a:pt x="7970" y="333"/>
                    <a:pt x="7933" y="333"/>
                  </a:cubicBezTo>
                  <a:lnTo>
                    <a:pt x="67" y="333"/>
                  </a:lnTo>
                  <a:cubicBezTo>
                    <a:pt x="30" y="333"/>
                    <a:pt x="0" y="303"/>
                    <a:pt x="0" y="266"/>
                  </a:cubicBezTo>
                  <a:cubicBezTo>
                    <a:pt x="0" y="230"/>
                    <a:pt x="30" y="200"/>
                    <a:pt x="67" y="200"/>
                  </a:cubicBezTo>
                  <a:close/>
                  <a:moveTo>
                    <a:pt x="7933" y="266"/>
                  </a:moveTo>
                  <a:lnTo>
                    <a:pt x="7667" y="0"/>
                  </a:lnTo>
                  <a:lnTo>
                    <a:pt x="8467" y="266"/>
                  </a:lnTo>
                  <a:lnTo>
                    <a:pt x="7667" y="533"/>
                  </a:lnTo>
                  <a:lnTo>
                    <a:pt x="7933" y="266"/>
                  </a:lnTo>
                  <a:close/>
                </a:path>
              </a:pathLst>
            </a:custGeom>
            <a:solidFill>
              <a:srgbClr val="000000"/>
            </a:solidFill>
            <a:ln w="1" cap="flat">
              <a:solidFill>
                <a:srgbClr val="000000"/>
              </a:solidFill>
              <a:prstDash val="solid"/>
              <a:bevel/>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7" name="Rectangle 28"/>
            <p:cNvSpPr>
              <a:spLocks noChangeArrowheads="1"/>
            </p:cNvSpPr>
            <p:nvPr/>
          </p:nvSpPr>
          <p:spPr bwMode="auto">
            <a:xfrm>
              <a:off x="2422" y="1347"/>
              <a:ext cx="3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100" b="0" i="0" u="none" strike="noStrike" cap="none" normalizeH="0" baseline="0">
                  <a:ln>
                    <a:noFill/>
                  </a:ln>
                  <a:solidFill>
                    <a:srgbClr val="000000"/>
                  </a:solidFill>
                  <a:effectLst/>
                  <a:latin typeface="宋体" pitchFamily="2" charset="-122"/>
                  <a:ea typeface="宋体" pitchFamily="2" charset="-122"/>
                  <a:cs typeface="宋体" pitchFamily="2" charset="-122"/>
                </a:rPr>
                <a:t>不成功</a:t>
              </a:r>
              <a:endParaRPr kumimoji="0" 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 name="Rectangle 29"/>
            <p:cNvSpPr>
              <a:spLocks noChangeArrowheads="1"/>
            </p:cNvSpPr>
            <p:nvPr/>
          </p:nvSpPr>
          <p:spPr bwMode="auto">
            <a:xfrm>
              <a:off x="2921" y="1342"/>
              <a:ext cx="1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 name="Rectangle 30"/>
            <p:cNvSpPr>
              <a:spLocks noChangeArrowheads="1"/>
            </p:cNvSpPr>
            <p:nvPr/>
          </p:nvSpPr>
          <p:spPr bwMode="auto">
            <a:xfrm>
              <a:off x="2501" y="1721"/>
              <a:ext cx="25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100" b="0" i="0" u="none" strike="noStrike" cap="none" normalizeH="0" baseline="0">
                  <a:ln>
                    <a:noFill/>
                  </a:ln>
                  <a:solidFill>
                    <a:srgbClr val="000000"/>
                  </a:solidFill>
                  <a:effectLst/>
                  <a:latin typeface="宋体" pitchFamily="2" charset="-122"/>
                  <a:ea typeface="宋体" pitchFamily="2" charset="-122"/>
                  <a:cs typeface="宋体" pitchFamily="2" charset="-122"/>
                </a:rPr>
                <a:t>成功</a:t>
              </a:r>
              <a:endParaRPr kumimoji="0" 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0" name="Rectangle 31"/>
            <p:cNvSpPr>
              <a:spLocks noChangeArrowheads="1"/>
            </p:cNvSpPr>
            <p:nvPr/>
          </p:nvSpPr>
          <p:spPr bwMode="auto">
            <a:xfrm>
              <a:off x="2833" y="1716"/>
              <a:ext cx="1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1" name="Rectangle 32"/>
            <p:cNvSpPr>
              <a:spLocks noChangeArrowheads="1"/>
            </p:cNvSpPr>
            <p:nvPr/>
          </p:nvSpPr>
          <p:spPr bwMode="auto">
            <a:xfrm>
              <a:off x="3742" y="2190"/>
              <a:ext cx="3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100" b="0" i="0" u="none" strike="noStrike" cap="none" normalizeH="0" baseline="0" dirty="0">
                  <a:ln>
                    <a:noFill/>
                  </a:ln>
                  <a:solidFill>
                    <a:srgbClr val="000000"/>
                  </a:solidFill>
                  <a:effectLst/>
                  <a:latin typeface="宋体" pitchFamily="2" charset="-122"/>
                  <a:ea typeface="宋体" pitchFamily="2" charset="-122"/>
                  <a:cs typeface="宋体" pitchFamily="2" charset="-122"/>
                </a:rPr>
                <a:t>不成功</a:t>
              </a:r>
              <a:endParaRPr kumimoji="0" lang="zh-CN" sz="18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1264" name="Rectangle 33"/>
            <p:cNvSpPr>
              <a:spLocks noChangeArrowheads="1"/>
            </p:cNvSpPr>
            <p:nvPr/>
          </p:nvSpPr>
          <p:spPr bwMode="auto">
            <a:xfrm>
              <a:off x="3830" y="2185"/>
              <a:ext cx="1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1265" name="Rectangle 34"/>
            <p:cNvSpPr>
              <a:spLocks noChangeArrowheads="1"/>
            </p:cNvSpPr>
            <p:nvPr/>
          </p:nvSpPr>
          <p:spPr bwMode="auto">
            <a:xfrm>
              <a:off x="511" y="1614"/>
              <a:ext cx="25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100" b="0" i="0" u="none" strike="noStrike" cap="none" normalizeH="0" baseline="0">
                  <a:ln>
                    <a:noFill/>
                  </a:ln>
                  <a:solidFill>
                    <a:srgbClr val="000000"/>
                  </a:solidFill>
                  <a:effectLst/>
                  <a:latin typeface="宋体" pitchFamily="2" charset="-122"/>
                  <a:ea typeface="宋体" pitchFamily="2" charset="-122"/>
                  <a:cs typeface="宋体" pitchFamily="2" charset="-122"/>
                </a:rPr>
                <a:t>成功</a:t>
              </a:r>
              <a:endParaRPr kumimoji="0" 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1266" name="Rectangle 35"/>
            <p:cNvSpPr>
              <a:spLocks noChangeArrowheads="1"/>
            </p:cNvSpPr>
            <p:nvPr/>
          </p:nvSpPr>
          <p:spPr bwMode="auto">
            <a:xfrm>
              <a:off x="843" y="1609"/>
              <a:ext cx="1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1268" name="Oval 36"/>
            <p:cNvSpPr>
              <a:spLocks noChangeArrowheads="1"/>
            </p:cNvSpPr>
            <p:nvPr/>
          </p:nvSpPr>
          <p:spPr bwMode="auto">
            <a:xfrm>
              <a:off x="1503" y="2563"/>
              <a:ext cx="665" cy="664"/>
            </a:xfrm>
            <a:prstGeom prst="ellipse">
              <a:avLst/>
            </a:prstGeom>
            <a:noFill/>
            <a:ln w="14"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269" name="Rectangle 37"/>
            <p:cNvSpPr>
              <a:spLocks noChangeArrowheads="1"/>
            </p:cNvSpPr>
            <p:nvPr/>
          </p:nvSpPr>
          <p:spPr bwMode="auto">
            <a:xfrm>
              <a:off x="1753" y="2825"/>
              <a:ext cx="23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01</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1270" name="Rectangle 38"/>
            <p:cNvSpPr>
              <a:spLocks noChangeArrowheads="1"/>
            </p:cNvSpPr>
            <p:nvPr/>
          </p:nvSpPr>
          <p:spPr bwMode="auto">
            <a:xfrm>
              <a:off x="1919" y="2825"/>
              <a:ext cx="1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1271" name="Oval 39"/>
            <p:cNvSpPr>
              <a:spLocks noChangeArrowheads="1"/>
            </p:cNvSpPr>
            <p:nvPr/>
          </p:nvSpPr>
          <p:spPr bwMode="auto">
            <a:xfrm>
              <a:off x="3331" y="2565"/>
              <a:ext cx="665" cy="665"/>
            </a:xfrm>
            <a:prstGeom prst="ellipse">
              <a:avLst/>
            </a:prstGeom>
            <a:noFill/>
            <a:ln w="14"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272" name="Rectangle 40"/>
            <p:cNvSpPr>
              <a:spLocks noChangeArrowheads="1"/>
            </p:cNvSpPr>
            <p:nvPr/>
          </p:nvSpPr>
          <p:spPr bwMode="auto">
            <a:xfrm>
              <a:off x="3581" y="2826"/>
              <a:ext cx="23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00</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1273" name="Rectangle 41"/>
            <p:cNvSpPr>
              <a:spLocks noChangeArrowheads="1"/>
            </p:cNvSpPr>
            <p:nvPr/>
          </p:nvSpPr>
          <p:spPr bwMode="auto">
            <a:xfrm>
              <a:off x="3747" y="2826"/>
              <a:ext cx="1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1274" name="Freeform 42"/>
            <p:cNvSpPr>
              <a:spLocks noEditPoints="1"/>
            </p:cNvSpPr>
            <p:nvPr/>
          </p:nvSpPr>
          <p:spPr bwMode="auto">
            <a:xfrm>
              <a:off x="3952" y="2697"/>
              <a:ext cx="386" cy="468"/>
            </a:xfrm>
            <a:custGeom>
              <a:avLst/>
              <a:gdLst>
                <a:gd name="T0" fmla="*/ 553 w 2786"/>
                <a:gd name="T1" fmla="*/ 2992 h 3375"/>
                <a:gd name="T2" fmla="*/ 772 w 2786"/>
                <a:gd name="T3" fmla="*/ 3069 h 3375"/>
                <a:gd name="T4" fmla="*/ 1003 w 2786"/>
                <a:gd name="T5" fmla="*/ 3112 h 3375"/>
                <a:gd name="T6" fmla="*/ 1237 w 2786"/>
                <a:gd name="T7" fmla="*/ 3118 h 3375"/>
                <a:gd name="T8" fmla="*/ 1461 w 2786"/>
                <a:gd name="T9" fmla="*/ 3089 h 3375"/>
                <a:gd name="T10" fmla="*/ 1674 w 2786"/>
                <a:gd name="T11" fmla="*/ 3029 h 3375"/>
                <a:gd name="T12" fmla="*/ 1872 w 2786"/>
                <a:gd name="T13" fmla="*/ 2939 h 3375"/>
                <a:gd name="T14" fmla="*/ 2112 w 2786"/>
                <a:gd name="T15" fmla="*/ 2777 h 3375"/>
                <a:gd name="T16" fmla="*/ 2400 w 2786"/>
                <a:gd name="T17" fmla="*/ 2459 h 3375"/>
                <a:gd name="T18" fmla="*/ 2506 w 2786"/>
                <a:gd name="T19" fmla="*/ 2273 h 3375"/>
                <a:gd name="T20" fmla="*/ 2586 w 2786"/>
                <a:gd name="T21" fmla="*/ 2069 h 3375"/>
                <a:gd name="T22" fmla="*/ 2636 w 2786"/>
                <a:gd name="T23" fmla="*/ 1852 h 3375"/>
                <a:gd name="T24" fmla="*/ 2653 w 2786"/>
                <a:gd name="T25" fmla="*/ 1625 h 3375"/>
                <a:gd name="T26" fmla="*/ 2635 w 2786"/>
                <a:gd name="T27" fmla="*/ 1397 h 3375"/>
                <a:gd name="T28" fmla="*/ 2585 w 2786"/>
                <a:gd name="T29" fmla="*/ 1181 h 3375"/>
                <a:gd name="T30" fmla="*/ 2505 w 2786"/>
                <a:gd name="T31" fmla="*/ 977 h 3375"/>
                <a:gd name="T32" fmla="*/ 2397 w 2786"/>
                <a:gd name="T33" fmla="*/ 791 h 3375"/>
                <a:gd name="T34" fmla="*/ 2106 w 2786"/>
                <a:gd name="T35" fmla="*/ 472 h 3375"/>
                <a:gd name="T36" fmla="*/ 1869 w 2786"/>
                <a:gd name="T37" fmla="*/ 312 h 3375"/>
                <a:gd name="T38" fmla="*/ 1671 w 2786"/>
                <a:gd name="T39" fmla="*/ 223 h 3375"/>
                <a:gd name="T40" fmla="*/ 1458 w 2786"/>
                <a:gd name="T41" fmla="*/ 163 h 3375"/>
                <a:gd name="T42" fmla="*/ 1234 w 2786"/>
                <a:gd name="T43" fmla="*/ 135 h 3375"/>
                <a:gd name="T44" fmla="*/ 1023 w 2786"/>
                <a:gd name="T45" fmla="*/ 139 h 3375"/>
                <a:gd name="T46" fmla="*/ 826 w 2786"/>
                <a:gd name="T47" fmla="*/ 171 h 3375"/>
                <a:gd name="T48" fmla="*/ 513 w 2786"/>
                <a:gd name="T49" fmla="*/ 280 h 3375"/>
                <a:gd name="T50" fmla="*/ 179 w 2786"/>
                <a:gd name="T51" fmla="*/ 499 h 3375"/>
                <a:gd name="T52" fmla="*/ 211 w 2786"/>
                <a:gd name="T53" fmla="*/ 304 h 3375"/>
                <a:gd name="T54" fmla="*/ 593 w 2786"/>
                <a:gd name="T55" fmla="*/ 101 h 3375"/>
                <a:gd name="T56" fmla="*/ 870 w 2786"/>
                <a:gd name="T57" fmla="*/ 26 h 3375"/>
                <a:gd name="T58" fmla="*/ 1087 w 2786"/>
                <a:gd name="T59" fmla="*/ 1 h 3375"/>
                <a:gd name="T60" fmla="*/ 1326 w 2786"/>
                <a:gd name="T61" fmla="*/ 8 h 3375"/>
                <a:gd name="T62" fmla="*/ 1567 w 2786"/>
                <a:gd name="T63" fmla="*/ 51 h 3375"/>
                <a:gd name="T64" fmla="*/ 1794 w 2786"/>
                <a:gd name="T65" fmla="*/ 128 h 3375"/>
                <a:gd name="T66" fmla="*/ 2004 w 2786"/>
                <a:gd name="T67" fmla="*/ 236 h 3375"/>
                <a:gd name="T68" fmla="*/ 2311 w 2786"/>
                <a:gd name="T69" fmla="*/ 478 h 3375"/>
                <a:gd name="T70" fmla="*/ 2551 w 2786"/>
                <a:gd name="T71" fmla="*/ 784 h 3375"/>
                <a:gd name="T72" fmla="*/ 2659 w 2786"/>
                <a:gd name="T73" fmla="*/ 995 h 3375"/>
                <a:gd name="T74" fmla="*/ 2735 w 2786"/>
                <a:gd name="T75" fmla="*/ 1221 h 3375"/>
                <a:gd name="T76" fmla="*/ 2778 w 2786"/>
                <a:gd name="T77" fmla="*/ 1462 h 3375"/>
                <a:gd name="T78" fmla="*/ 2784 w 2786"/>
                <a:gd name="T79" fmla="*/ 1712 h 3375"/>
                <a:gd name="T80" fmla="*/ 2753 w 2786"/>
                <a:gd name="T81" fmla="*/ 1956 h 3375"/>
                <a:gd name="T82" fmla="*/ 2687 w 2786"/>
                <a:gd name="T83" fmla="*/ 2187 h 3375"/>
                <a:gd name="T84" fmla="*/ 2589 w 2786"/>
                <a:gd name="T85" fmla="*/ 2404 h 3375"/>
                <a:gd name="T86" fmla="*/ 2412 w 2786"/>
                <a:gd name="T87" fmla="*/ 2664 h 3375"/>
                <a:gd name="T88" fmla="*/ 2067 w 2786"/>
                <a:gd name="T89" fmla="*/ 2976 h 3375"/>
                <a:gd name="T90" fmla="*/ 1863 w 2786"/>
                <a:gd name="T91" fmla="*/ 3093 h 3375"/>
                <a:gd name="T92" fmla="*/ 1641 w 2786"/>
                <a:gd name="T93" fmla="*/ 3181 h 3375"/>
                <a:gd name="T94" fmla="*/ 1404 w 2786"/>
                <a:gd name="T95" fmla="*/ 3235 h 3375"/>
                <a:gd name="T96" fmla="*/ 1157 w 2786"/>
                <a:gd name="T97" fmla="*/ 3253 h 3375"/>
                <a:gd name="T98" fmla="*/ 901 w 2786"/>
                <a:gd name="T99" fmla="*/ 3233 h 3375"/>
                <a:gd name="T100" fmla="*/ 653 w 2786"/>
                <a:gd name="T101" fmla="*/ 3173 h 3375"/>
                <a:gd name="T102" fmla="*/ 420 w 2786"/>
                <a:gd name="T103" fmla="*/ 3076 h 3375"/>
                <a:gd name="T104" fmla="*/ 452 w 2786"/>
                <a:gd name="T105" fmla="*/ 2942 h 3375"/>
                <a:gd name="T106" fmla="*/ 0 w 2786"/>
                <a:gd name="T107" fmla="*/ 2672 h 3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786" h="3375">
                  <a:moveTo>
                    <a:pt x="452" y="2942"/>
                  </a:moveTo>
                  <a:lnTo>
                    <a:pt x="483" y="2959"/>
                  </a:lnTo>
                  <a:lnTo>
                    <a:pt x="553" y="2992"/>
                  </a:lnTo>
                  <a:lnTo>
                    <a:pt x="625" y="3021"/>
                  </a:lnTo>
                  <a:lnTo>
                    <a:pt x="698" y="3047"/>
                  </a:lnTo>
                  <a:lnTo>
                    <a:pt x="772" y="3069"/>
                  </a:lnTo>
                  <a:lnTo>
                    <a:pt x="848" y="3087"/>
                  </a:lnTo>
                  <a:lnTo>
                    <a:pt x="925" y="3101"/>
                  </a:lnTo>
                  <a:lnTo>
                    <a:pt x="1003" y="3112"/>
                  </a:lnTo>
                  <a:lnTo>
                    <a:pt x="1081" y="3118"/>
                  </a:lnTo>
                  <a:lnTo>
                    <a:pt x="1160" y="3120"/>
                  </a:lnTo>
                  <a:lnTo>
                    <a:pt x="1237" y="3118"/>
                  </a:lnTo>
                  <a:lnTo>
                    <a:pt x="1313" y="3112"/>
                  </a:lnTo>
                  <a:lnTo>
                    <a:pt x="1387" y="3102"/>
                  </a:lnTo>
                  <a:lnTo>
                    <a:pt x="1461" y="3089"/>
                  </a:lnTo>
                  <a:lnTo>
                    <a:pt x="1533" y="3073"/>
                  </a:lnTo>
                  <a:lnTo>
                    <a:pt x="1604" y="3052"/>
                  </a:lnTo>
                  <a:lnTo>
                    <a:pt x="1674" y="3029"/>
                  </a:lnTo>
                  <a:lnTo>
                    <a:pt x="1742" y="3002"/>
                  </a:lnTo>
                  <a:lnTo>
                    <a:pt x="1807" y="2972"/>
                  </a:lnTo>
                  <a:lnTo>
                    <a:pt x="1872" y="2939"/>
                  </a:lnTo>
                  <a:lnTo>
                    <a:pt x="1935" y="2903"/>
                  </a:lnTo>
                  <a:lnTo>
                    <a:pt x="1995" y="2864"/>
                  </a:lnTo>
                  <a:lnTo>
                    <a:pt x="2112" y="2777"/>
                  </a:lnTo>
                  <a:lnTo>
                    <a:pt x="2217" y="2680"/>
                  </a:lnTo>
                  <a:lnTo>
                    <a:pt x="2314" y="2574"/>
                  </a:lnTo>
                  <a:lnTo>
                    <a:pt x="2400" y="2459"/>
                  </a:lnTo>
                  <a:lnTo>
                    <a:pt x="2437" y="2400"/>
                  </a:lnTo>
                  <a:lnTo>
                    <a:pt x="2473" y="2337"/>
                  </a:lnTo>
                  <a:lnTo>
                    <a:pt x="2506" y="2273"/>
                  </a:lnTo>
                  <a:lnTo>
                    <a:pt x="2536" y="2206"/>
                  </a:lnTo>
                  <a:lnTo>
                    <a:pt x="2563" y="2139"/>
                  </a:lnTo>
                  <a:lnTo>
                    <a:pt x="2586" y="2069"/>
                  </a:lnTo>
                  <a:lnTo>
                    <a:pt x="2606" y="1998"/>
                  </a:lnTo>
                  <a:lnTo>
                    <a:pt x="2623" y="1926"/>
                  </a:lnTo>
                  <a:lnTo>
                    <a:pt x="2636" y="1852"/>
                  </a:lnTo>
                  <a:lnTo>
                    <a:pt x="2645" y="1777"/>
                  </a:lnTo>
                  <a:lnTo>
                    <a:pt x="2651" y="1702"/>
                  </a:lnTo>
                  <a:lnTo>
                    <a:pt x="2653" y="1625"/>
                  </a:lnTo>
                  <a:lnTo>
                    <a:pt x="2651" y="1548"/>
                  </a:lnTo>
                  <a:lnTo>
                    <a:pt x="2645" y="1472"/>
                  </a:lnTo>
                  <a:lnTo>
                    <a:pt x="2635" y="1397"/>
                  </a:lnTo>
                  <a:lnTo>
                    <a:pt x="2622" y="1323"/>
                  </a:lnTo>
                  <a:lnTo>
                    <a:pt x="2606" y="1252"/>
                  </a:lnTo>
                  <a:lnTo>
                    <a:pt x="2585" y="1181"/>
                  </a:lnTo>
                  <a:lnTo>
                    <a:pt x="2562" y="1111"/>
                  </a:lnTo>
                  <a:lnTo>
                    <a:pt x="2535" y="1044"/>
                  </a:lnTo>
                  <a:lnTo>
                    <a:pt x="2505" y="977"/>
                  </a:lnTo>
                  <a:lnTo>
                    <a:pt x="2472" y="913"/>
                  </a:lnTo>
                  <a:lnTo>
                    <a:pt x="2436" y="851"/>
                  </a:lnTo>
                  <a:lnTo>
                    <a:pt x="2397" y="791"/>
                  </a:lnTo>
                  <a:lnTo>
                    <a:pt x="2310" y="674"/>
                  </a:lnTo>
                  <a:lnTo>
                    <a:pt x="2213" y="568"/>
                  </a:lnTo>
                  <a:lnTo>
                    <a:pt x="2106" y="472"/>
                  </a:lnTo>
                  <a:lnTo>
                    <a:pt x="1991" y="386"/>
                  </a:lnTo>
                  <a:lnTo>
                    <a:pt x="1932" y="349"/>
                  </a:lnTo>
                  <a:lnTo>
                    <a:pt x="1869" y="312"/>
                  </a:lnTo>
                  <a:lnTo>
                    <a:pt x="1805" y="280"/>
                  </a:lnTo>
                  <a:lnTo>
                    <a:pt x="1738" y="250"/>
                  </a:lnTo>
                  <a:lnTo>
                    <a:pt x="1671" y="223"/>
                  </a:lnTo>
                  <a:lnTo>
                    <a:pt x="1601" y="200"/>
                  </a:lnTo>
                  <a:lnTo>
                    <a:pt x="1530" y="180"/>
                  </a:lnTo>
                  <a:lnTo>
                    <a:pt x="1458" y="163"/>
                  </a:lnTo>
                  <a:lnTo>
                    <a:pt x="1384" y="150"/>
                  </a:lnTo>
                  <a:lnTo>
                    <a:pt x="1309" y="141"/>
                  </a:lnTo>
                  <a:lnTo>
                    <a:pt x="1234" y="135"/>
                  </a:lnTo>
                  <a:lnTo>
                    <a:pt x="1157" y="133"/>
                  </a:lnTo>
                  <a:lnTo>
                    <a:pt x="1090" y="135"/>
                  </a:lnTo>
                  <a:lnTo>
                    <a:pt x="1023" y="139"/>
                  </a:lnTo>
                  <a:lnTo>
                    <a:pt x="957" y="147"/>
                  </a:lnTo>
                  <a:lnTo>
                    <a:pt x="891" y="157"/>
                  </a:lnTo>
                  <a:lnTo>
                    <a:pt x="826" y="171"/>
                  </a:lnTo>
                  <a:lnTo>
                    <a:pt x="761" y="187"/>
                  </a:lnTo>
                  <a:lnTo>
                    <a:pt x="634" y="228"/>
                  </a:lnTo>
                  <a:lnTo>
                    <a:pt x="513" y="280"/>
                  </a:lnTo>
                  <a:lnTo>
                    <a:pt x="395" y="343"/>
                  </a:lnTo>
                  <a:lnTo>
                    <a:pt x="284" y="416"/>
                  </a:lnTo>
                  <a:lnTo>
                    <a:pt x="179" y="499"/>
                  </a:lnTo>
                  <a:cubicBezTo>
                    <a:pt x="150" y="522"/>
                    <a:pt x="108" y="517"/>
                    <a:pt x="85" y="488"/>
                  </a:cubicBezTo>
                  <a:cubicBezTo>
                    <a:pt x="62" y="459"/>
                    <a:pt x="67" y="417"/>
                    <a:pt x="96" y="394"/>
                  </a:cubicBezTo>
                  <a:lnTo>
                    <a:pt x="211" y="304"/>
                  </a:lnTo>
                  <a:lnTo>
                    <a:pt x="333" y="225"/>
                  </a:lnTo>
                  <a:lnTo>
                    <a:pt x="460" y="157"/>
                  </a:lnTo>
                  <a:lnTo>
                    <a:pt x="593" y="101"/>
                  </a:lnTo>
                  <a:lnTo>
                    <a:pt x="730" y="57"/>
                  </a:lnTo>
                  <a:lnTo>
                    <a:pt x="799" y="40"/>
                  </a:lnTo>
                  <a:lnTo>
                    <a:pt x="870" y="26"/>
                  </a:lnTo>
                  <a:lnTo>
                    <a:pt x="942" y="14"/>
                  </a:lnTo>
                  <a:lnTo>
                    <a:pt x="1014" y="6"/>
                  </a:lnTo>
                  <a:lnTo>
                    <a:pt x="1087" y="1"/>
                  </a:lnTo>
                  <a:lnTo>
                    <a:pt x="1160" y="0"/>
                  </a:lnTo>
                  <a:lnTo>
                    <a:pt x="1244" y="2"/>
                  </a:lnTo>
                  <a:lnTo>
                    <a:pt x="1326" y="8"/>
                  </a:lnTo>
                  <a:lnTo>
                    <a:pt x="1407" y="19"/>
                  </a:lnTo>
                  <a:lnTo>
                    <a:pt x="1488" y="33"/>
                  </a:lnTo>
                  <a:lnTo>
                    <a:pt x="1567" y="51"/>
                  </a:lnTo>
                  <a:lnTo>
                    <a:pt x="1644" y="73"/>
                  </a:lnTo>
                  <a:lnTo>
                    <a:pt x="1719" y="99"/>
                  </a:lnTo>
                  <a:lnTo>
                    <a:pt x="1794" y="128"/>
                  </a:lnTo>
                  <a:lnTo>
                    <a:pt x="1865" y="161"/>
                  </a:lnTo>
                  <a:lnTo>
                    <a:pt x="1936" y="197"/>
                  </a:lnTo>
                  <a:lnTo>
                    <a:pt x="2004" y="236"/>
                  </a:lnTo>
                  <a:lnTo>
                    <a:pt x="2071" y="279"/>
                  </a:lnTo>
                  <a:lnTo>
                    <a:pt x="2196" y="373"/>
                  </a:lnTo>
                  <a:lnTo>
                    <a:pt x="2311" y="478"/>
                  </a:lnTo>
                  <a:lnTo>
                    <a:pt x="2416" y="594"/>
                  </a:lnTo>
                  <a:lnTo>
                    <a:pt x="2509" y="718"/>
                  </a:lnTo>
                  <a:lnTo>
                    <a:pt x="2551" y="784"/>
                  </a:lnTo>
                  <a:lnTo>
                    <a:pt x="2590" y="852"/>
                  </a:lnTo>
                  <a:lnTo>
                    <a:pt x="2626" y="922"/>
                  </a:lnTo>
                  <a:lnTo>
                    <a:pt x="2659" y="995"/>
                  </a:lnTo>
                  <a:lnTo>
                    <a:pt x="2688" y="1069"/>
                  </a:lnTo>
                  <a:lnTo>
                    <a:pt x="2714" y="1144"/>
                  </a:lnTo>
                  <a:lnTo>
                    <a:pt x="2735" y="1221"/>
                  </a:lnTo>
                  <a:lnTo>
                    <a:pt x="2754" y="1300"/>
                  </a:lnTo>
                  <a:lnTo>
                    <a:pt x="2768" y="1380"/>
                  </a:lnTo>
                  <a:lnTo>
                    <a:pt x="2778" y="1462"/>
                  </a:lnTo>
                  <a:lnTo>
                    <a:pt x="2784" y="1544"/>
                  </a:lnTo>
                  <a:lnTo>
                    <a:pt x="2786" y="1628"/>
                  </a:lnTo>
                  <a:lnTo>
                    <a:pt x="2784" y="1712"/>
                  </a:lnTo>
                  <a:lnTo>
                    <a:pt x="2778" y="1794"/>
                  </a:lnTo>
                  <a:lnTo>
                    <a:pt x="2767" y="1875"/>
                  </a:lnTo>
                  <a:lnTo>
                    <a:pt x="2753" y="1956"/>
                  </a:lnTo>
                  <a:lnTo>
                    <a:pt x="2735" y="2035"/>
                  </a:lnTo>
                  <a:lnTo>
                    <a:pt x="2713" y="2112"/>
                  </a:lnTo>
                  <a:lnTo>
                    <a:pt x="2687" y="2187"/>
                  </a:lnTo>
                  <a:lnTo>
                    <a:pt x="2658" y="2262"/>
                  </a:lnTo>
                  <a:lnTo>
                    <a:pt x="2625" y="2333"/>
                  </a:lnTo>
                  <a:lnTo>
                    <a:pt x="2589" y="2404"/>
                  </a:lnTo>
                  <a:lnTo>
                    <a:pt x="2550" y="2471"/>
                  </a:lnTo>
                  <a:lnTo>
                    <a:pt x="2506" y="2539"/>
                  </a:lnTo>
                  <a:lnTo>
                    <a:pt x="2412" y="2664"/>
                  </a:lnTo>
                  <a:lnTo>
                    <a:pt x="2307" y="2779"/>
                  </a:lnTo>
                  <a:lnTo>
                    <a:pt x="2191" y="2884"/>
                  </a:lnTo>
                  <a:lnTo>
                    <a:pt x="2067" y="2976"/>
                  </a:lnTo>
                  <a:lnTo>
                    <a:pt x="2001" y="3019"/>
                  </a:lnTo>
                  <a:lnTo>
                    <a:pt x="1932" y="3058"/>
                  </a:lnTo>
                  <a:lnTo>
                    <a:pt x="1863" y="3093"/>
                  </a:lnTo>
                  <a:lnTo>
                    <a:pt x="1790" y="3126"/>
                  </a:lnTo>
                  <a:lnTo>
                    <a:pt x="1716" y="3155"/>
                  </a:lnTo>
                  <a:lnTo>
                    <a:pt x="1641" y="3181"/>
                  </a:lnTo>
                  <a:lnTo>
                    <a:pt x="1564" y="3202"/>
                  </a:lnTo>
                  <a:lnTo>
                    <a:pt x="1484" y="3221"/>
                  </a:lnTo>
                  <a:lnTo>
                    <a:pt x="1404" y="3235"/>
                  </a:lnTo>
                  <a:lnTo>
                    <a:pt x="1323" y="3245"/>
                  </a:lnTo>
                  <a:lnTo>
                    <a:pt x="1241" y="3251"/>
                  </a:lnTo>
                  <a:lnTo>
                    <a:pt x="1157" y="3253"/>
                  </a:lnTo>
                  <a:lnTo>
                    <a:pt x="1071" y="3251"/>
                  </a:lnTo>
                  <a:lnTo>
                    <a:pt x="985" y="3244"/>
                  </a:lnTo>
                  <a:lnTo>
                    <a:pt x="901" y="3233"/>
                  </a:lnTo>
                  <a:lnTo>
                    <a:pt x="817" y="3217"/>
                  </a:lnTo>
                  <a:lnTo>
                    <a:pt x="735" y="3197"/>
                  </a:lnTo>
                  <a:lnTo>
                    <a:pt x="653" y="3173"/>
                  </a:lnTo>
                  <a:lnTo>
                    <a:pt x="574" y="3145"/>
                  </a:lnTo>
                  <a:lnTo>
                    <a:pt x="496" y="3113"/>
                  </a:lnTo>
                  <a:lnTo>
                    <a:pt x="420" y="3076"/>
                  </a:lnTo>
                  <a:lnTo>
                    <a:pt x="389" y="3059"/>
                  </a:lnTo>
                  <a:cubicBezTo>
                    <a:pt x="356" y="3042"/>
                    <a:pt x="344" y="3002"/>
                    <a:pt x="362" y="2969"/>
                  </a:cubicBezTo>
                  <a:cubicBezTo>
                    <a:pt x="379" y="2937"/>
                    <a:pt x="420" y="2925"/>
                    <a:pt x="452" y="2942"/>
                  </a:cubicBezTo>
                  <a:close/>
                  <a:moveTo>
                    <a:pt x="420" y="3001"/>
                  </a:moveTo>
                  <a:lnTo>
                    <a:pt x="466" y="3375"/>
                  </a:lnTo>
                  <a:lnTo>
                    <a:pt x="0" y="2672"/>
                  </a:lnTo>
                  <a:lnTo>
                    <a:pt x="795" y="2955"/>
                  </a:lnTo>
                  <a:lnTo>
                    <a:pt x="420" y="3001"/>
                  </a:lnTo>
                  <a:close/>
                </a:path>
              </a:pathLst>
            </a:custGeom>
            <a:solidFill>
              <a:srgbClr val="000000"/>
            </a:solidFill>
            <a:ln w="1" cap="flat">
              <a:solidFill>
                <a:srgbClr val="000000"/>
              </a:solidFill>
              <a:prstDash val="solid"/>
              <a:bevel/>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1275" name="Freeform 43"/>
            <p:cNvSpPr>
              <a:spLocks noEditPoints="1"/>
            </p:cNvSpPr>
            <p:nvPr/>
          </p:nvSpPr>
          <p:spPr bwMode="auto">
            <a:xfrm>
              <a:off x="2168" y="2958"/>
              <a:ext cx="1172" cy="74"/>
            </a:xfrm>
            <a:custGeom>
              <a:avLst/>
              <a:gdLst>
                <a:gd name="T0" fmla="*/ 534 w 8467"/>
                <a:gd name="T1" fmla="*/ 200 h 533"/>
                <a:gd name="T2" fmla="*/ 8400 w 8467"/>
                <a:gd name="T3" fmla="*/ 200 h 533"/>
                <a:gd name="T4" fmla="*/ 8467 w 8467"/>
                <a:gd name="T5" fmla="*/ 266 h 533"/>
                <a:gd name="T6" fmla="*/ 8400 w 8467"/>
                <a:gd name="T7" fmla="*/ 333 h 533"/>
                <a:gd name="T8" fmla="*/ 534 w 8467"/>
                <a:gd name="T9" fmla="*/ 333 h 533"/>
                <a:gd name="T10" fmla="*/ 467 w 8467"/>
                <a:gd name="T11" fmla="*/ 266 h 533"/>
                <a:gd name="T12" fmla="*/ 534 w 8467"/>
                <a:gd name="T13" fmla="*/ 200 h 533"/>
                <a:gd name="T14" fmla="*/ 534 w 8467"/>
                <a:gd name="T15" fmla="*/ 266 h 533"/>
                <a:gd name="T16" fmla="*/ 800 w 8467"/>
                <a:gd name="T17" fmla="*/ 533 h 533"/>
                <a:gd name="T18" fmla="*/ 0 w 8467"/>
                <a:gd name="T19" fmla="*/ 266 h 533"/>
                <a:gd name="T20" fmla="*/ 800 w 8467"/>
                <a:gd name="T21" fmla="*/ 0 h 533"/>
                <a:gd name="T22" fmla="*/ 534 w 8467"/>
                <a:gd name="T23" fmla="*/ 266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467" h="533">
                  <a:moveTo>
                    <a:pt x="534" y="200"/>
                  </a:moveTo>
                  <a:lnTo>
                    <a:pt x="8400" y="200"/>
                  </a:lnTo>
                  <a:cubicBezTo>
                    <a:pt x="8437" y="200"/>
                    <a:pt x="8467" y="230"/>
                    <a:pt x="8467" y="266"/>
                  </a:cubicBezTo>
                  <a:cubicBezTo>
                    <a:pt x="8467" y="303"/>
                    <a:pt x="8437" y="333"/>
                    <a:pt x="8400" y="333"/>
                  </a:cubicBezTo>
                  <a:lnTo>
                    <a:pt x="534" y="333"/>
                  </a:lnTo>
                  <a:cubicBezTo>
                    <a:pt x="497" y="333"/>
                    <a:pt x="467" y="303"/>
                    <a:pt x="467" y="266"/>
                  </a:cubicBezTo>
                  <a:cubicBezTo>
                    <a:pt x="467" y="230"/>
                    <a:pt x="497" y="200"/>
                    <a:pt x="534" y="200"/>
                  </a:cubicBezTo>
                  <a:close/>
                  <a:moveTo>
                    <a:pt x="534" y="266"/>
                  </a:moveTo>
                  <a:lnTo>
                    <a:pt x="800" y="533"/>
                  </a:lnTo>
                  <a:lnTo>
                    <a:pt x="0" y="266"/>
                  </a:lnTo>
                  <a:lnTo>
                    <a:pt x="800" y="0"/>
                  </a:lnTo>
                  <a:lnTo>
                    <a:pt x="534" y="266"/>
                  </a:lnTo>
                  <a:close/>
                </a:path>
              </a:pathLst>
            </a:custGeom>
            <a:solidFill>
              <a:srgbClr val="000000"/>
            </a:solidFill>
            <a:ln w="1" cap="flat">
              <a:solidFill>
                <a:srgbClr val="000000"/>
              </a:solidFill>
              <a:prstDash val="solid"/>
              <a:bevel/>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1276" name="Freeform 44"/>
            <p:cNvSpPr>
              <a:spLocks noEditPoints="1"/>
            </p:cNvSpPr>
            <p:nvPr/>
          </p:nvSpPr>
          <p:spPr bwMode="auto">
            <a:xfrm>
              <a:off x="2159" y="2814"/>
              <a:ext cx="1172" cy="74"/>
            </a:xfrm>
            <a:custGeom>
              <a:avLst/>
              <a:gdLst>
                <a:gd name="T0" fmla="*/ 66 w 8466"/>
                <a:gd name="T1" fmla="*/ 200 h 533"/>
                <a:gd name="T2" fmla="*/ 7933 w 8466"/>
                <a:gd name="T3" fmla="*/ 200 h 533"/>
                <a:gd name="T4" fmla="*/ 8000 w 8466"/>
                <a:gd name="T5" fmla="*/ 266 h 533"/>
                <a:gd name="T6" fmla="*/ 7933 w 8466"/>
                <a:gd name="T7" fmla="*/ 333 h 533"/>
                <a:gd name="T8" fmla="*/ 66 w 8466"/>
                <a:gd name="T9" fmla="*/ 333 h 533"/>
                <a:gd name="T10" fmla="*/ 0 w 8466"/>
                <a:gd name="T11" fmla="*/ 266 h 533"/>
                <a:gd name="T12" fmla="*/ 66 w 8466"/>
                <a:gd name="T13" fmla="*/ 200 h 533"/>
                <a:gd name="T14" fmla="*/ 7933 w 8466"/>
                <a:gd name="T15" fmla="*/ 266 h 533"/>
                <a:gd name="T16" fmla="*/ 7666 w 8466"/>
                <a:gd name="T17" fmla="*/ 0 h 533"/>
                <a:gd name="T18" fmla="*/ 8466 w 8466"/>
                <a:gd name="T19" fmla="*/ 266 h 533"/>
                <a:gd name="T20" fmla="*/ 7666 w 8466"/>
                <a:gd name="T21" fmla="*/ 533 h 533"/>
                <a:gd name="T22" fmla="*/ 7933 w 8466"/>
                <a:gd name="T23" fmla="*/ 266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466" h="533">
                  <a:moveTo>
                    <a:pt x="66" y="200"/>
                  </a:moveTo>
                  <a:lnTo>
                    <a:pt x="7933" y="200"/>
                  </a:lnTo>
                  <a:cubicBezTo>
                    <a:pt x="7970" y="200"/>
                    <a:pt x="8000" y="230"/>
                    <a:pt x="8000" y="266"/>
                  </a:cubicBezTo>
                  <a:cubicBezTo>
                    <a:pt x="8000" y="303"/>
                    <a:pt x="7970" y="333"/>
                    <a:pt x="7933" y="333"/>
                  </a:cubicBezTo>
                  <a:lnTo>
                    <a:pt x="66" y="333"/>
                  </a:lnTo>
                  <a:cubicBezTo>
                    <a:pt x="30" y="333"/>
                    <a:pt x="0" y="303"/>
                    <a:pt x="0" y="266"/>
                  </a:cubicBezTo>
                  <a:cubicBezTo>
                    <a:pt x="0" y="230"/>
                    <a:pt x="30" y="200"/>
                    <a:pt x="66" y="200"/>
                  </a:cubicBezTo>
                  <a:close/>
                  <a:moveTo>
                    <a:pt x="7933" y="266"/>
                  </a:moveTo>
                  <a:lnTo>
                    <a:pt x="7666" y="0"/>
                  </a:lnTo>
                  <a:lnTo>
                    <a:pt x="8466" y="266"/>
                  </a:lnTo>
                  <a:lnTo>
                    <a:pt x="7666" y="533"/>
                  </a:lnTo>
                  <a:lnTo>
                    <a:pt x="7933" y="266"/>
                  </a:lnTo>
                  <a:close/>
                </a:path>
              </a:pathLst>
            </a:custGeom>
            <a:solidFill>
              <a:srgbClr val="000000"/>
            </a:solidFill>
            <a:ln w="1" cap="flat">
              <a:solidFill>
                <a:srgbClr val="000000"/>
              </a:solidFill>
              <a:prstDash val="solid"/>
              <a:bevel/>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1277" name="Rectangle 45"/>
            <p:cNvSpPr>
              <a:spLocks noChangeArrowheads="1"/>
            </p:cNvSpPr>
            <p:nvPr/>
          </p:nvSpPr>
          <p:spPr bwMode="auto">
            <a:xfrm>
              <a:off x="2620" y="2644"/>
              <a:ext cx="3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100" b="0" i="0" u="none" strike="noStrike" cap="none" normalizeH="0" baseline="0">
                  <a:ln>
                    <a:noFill/>
                  </a:ln>
                  <a:solidFill>
                    <a:srgbClr val="000000"/>
                  </a:solidFill>
                  <a:effectLst/>
                  <a:latin typeface="宋体" pitchFamily="2" charset="-122"/>
                  <a:ea typeface="宋体" pitchFamily="2" charset="-122"/>
                  <a:cs typeface="宋体" pitchFamily="2" charset="-122"/>
                </a:rPr>
                <a:t>不成功</a:t>
              </a:r>
              <a:endParaRPr kumimoji="0" 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1278" name="Rectangle 46"/>
            <p:cNvSpPr>
              <a:spLocks noChangeArrowheads="1"/>
            </p:cNvSpPr>
            <p:nvPr/>
          </p:nvSpPr>
          <p:spPr bwMode="auto">
            <a:xfrm>
              <a:off x="3119" y="2639"/>
              <a:ext cx="1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1279" name="Rectangle 47"/>
            <p:cNvSpPr>
              <a:spLocks noChangeArrowheads="1"/>
            </p:cNvSpPr>
            <p:nvPr/>
          </p:nvSpPr>
          <p:spPr bwMode="auto">
            <a:xfrm>
              <a:off x="2667" y="3020"/>
              <a:ext cx="25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100" b="0" i="0" u="none" strike="noStrike" cap="none" normalizeH="0" baseline="0">
                  <a:ln>
                    <a:noFill/>
                  </a:ln>
                  <a:solidFill>
                    <a:srgbClr val="000000"/>
                  </a:solidFill>
                  <a:effectLst/>
                  <a:latin typeface="宋体" pitchFamily="2" charset="-122"/>
                  <a:ea typeface="宋体" pitchFamily="2" charset="-122"/>
                  <a:cs typeface="宋体" pitchFamily="2" charset="-122"/>
                </a:rPr>
                <a:t>成功</a:t>
              </a:r>
              <a:endParaRPr kumimoji="0" 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1280" name="Rectangle 48"/>
            <p:cNvSpPr>
              <a:spLocks noChangeArrowheads="1"/>
            </p:cNvSpPr>
            <p:nvPr/>
          </p:nvSpPr>
          <p:spPr bwMode="auto">
            <a:xfrm>
              <a:off x="2999" y="3015"/>
              <a:ext cx="1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1281" name="Rectangle 49"/>
            <p:cNvSpPr>
              <a:spLocks noChangeArrowheads="1"/>
            </p:cNvSpPr>
            <p:nvPr/>
          </p:nvSpPr>
          <p:spPr bwMode="auto">
            <a:xfrm>
              <a:off x="4495" y="2911"/>
              <a:ext cx="3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100" b="0" i="0" u="none" strike="noStrike" cap="none" normalizeH="0" baseline="0">
                  <a:ln>
                    <a:noFill/>
                  </a:ln>
                  <a:solidFill>
                    <a:srgbClr val="000000"/>
                  </a:solidFill>
                  <a:effectLst/>
                  <a:latin typeface="宋体" pitchFamily="2" charset="-122"/>
                  <a:ea typeface="宋体" pitchFamily="2" charset="-122"/>
                  <a:cs typeface="宋体" pitchFamily="2" charset="-122"/>
                </a:rPr>
                <a:t>不成功</a:t>
              </a:r>
              <a:endParaRPr kumimoji="0" 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1282" name="Rectangle 50"/>
            <p:cNvSpPr>
              <a:spLocks noChangeArrowheads="1"/>
            </p:cNvSpPr>
            <p:nvPr/>
          </p:nvSpPr>
          <p:spPr bwMode="auto">
            <a:xfrm>
              <a:off x="4994" y="2906"/>
              <a:ext cx="1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1283" name="Rectangle 51"/>
            <p:cNvSpPr>
              <a:spLocks noChangeArrowheads="1"/>
            </p:cNvSpPr>
            <p:nvPr/>
          </p:nvSpPr>
          <p:spPr bwMode="auto">
            <a:xfrm>
              <a:off x="1882" y="2190"/>
              <a:ext cx="25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100" b="0" i="0" u="none" strike="noStrike" cap="none" normalizeH="0" baseline="0" dirty="0">
                  <a:ln>
                    <a:noFill/>
                  </a:ln>
                  <a:solidFill>
                    <a:srgbClr val="000000"/>
                  </a:solidFill>
                  <a:effectLst/>
                  <a:latin typeface="宋体" pitchFamily="2" charset="-122"/>
                  <a:ea typeface="宋体" pitchFamily="2" charset="-122"/>
                  <a:cs typeface="宋体" pitchFamily="2" charset="-122"/>
                </a:rPr>
                <a:t>成功</a:t>
              </a:r>
              <a:endParaRPr kumimoji="0" lang="zh-CN" sz="18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1284" name="Rectangle 52"/>
            <p:cNvSpPr>
              <a:spLocks noChangeArrowheads="1"/>
            </p:cNvSpPr>
            <p:nvPr/>
          </p:nvSpPr>
          <p:spPr bwMode="auto">
            <a:xfrm>
              <a:off x="2334" y="2185"/>
              <a:ext cx="1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000000"/>
                  </a:solidFill>
                  <a:effectLst/>
                  <a:latin typeface="Times New Roman" pitchFamily="18"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cxnSp>
        <p:nvCxnSpPr>
          <p:cNvPr id="11288" name="直接箭头连接符 11287"/>
          <p:cNvCxnSpPr/>
          <p:nvPr/>
        </p:nvCxnSpPr>
        <p:spPr>
          <a:xfrm>
            <a:off x="5796136" y="3060652"/>
            <a:ext cx="0" cy="1008112"/>
          </a:xfrm>
          <a:prstGeom prst="straightConnector1">
            <a:avLst/>
          </a:prstGeom>
          <a:ln w="19050" cmpd="sng">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H="1" flipV="1">
            <a:off x="2906442" y="3097735"/>
            <a:ext cx="851" cy="936104"/>
          </a:xfrm>
          <a:prstGeom prst="straightConnector1">
            <a:avLst/>
          </a:prstGeom>
          <a:ln w="19050" cmpd="sng">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日期占位符 31">
            <a:extLst>
              <a:ext uri="{FF2B5EF4-FFF2-40B4-BE49-F238E27FC236}">
                <a16:creationId xmlns:a16="http://schemas.microsoft.com/office/drawing/2014/main" id="{159AF86E-557F-93DD-9628-09441B014A22}"/>
              </a:ext>
            </a:extLst>
          </p:cNvPr>
          <p:cNvSpPr>
            <a:spLocks noGrp="1"/>
          </p:cNvSpPr>
          <p:nvPr>
            <p:ph type="dt" sz="half" idx="10"/>
          </p:nvPr>
        </p:nvSpPr>
        <p:spPr/>
        <p:txBody>
          <a:bodyPr/>
          <a:lstStyle/>
          <a:p>
            <a:pPr>
              <a:defRPr/>
            </a:pPr>
            <a:fld id="{0C464909-5E2E-4B66-AAAD-982F0161D194}" type="datetime1">
              <a:rPr lang="zh-CN" altLang="en-US" smtClean="0"/>
              <a:t>2025/10/28</a:t>
            </a:fld>
            <a:endParaRPr lang="en-US" altLang="zh-CN"/>
          </a:p>
        </p:txBody>
      </p:sp>
      <p:sp>
        <p:nvSpPr>
          <p:cNvPr id="33" name="页脚占位符 32">
            <a:extLst>
              <a:ext uri="{FF2B5EF4-FFF2-40B4-BE49-F238E27FC236}">
                <a16:creationId xmlns:a16="http://schemas.microsoft.com/office/drawing/2014/main" id="{5A63DA42-BD0A-E6EB-9C52-432864736DC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34" name="灯片编号占位符 33">
            <a:extLst>
              <a:ext uri="{FF2B5EF4-FFF2-40B4-BE49-F238E27FC236}">
                <a16:creationId xmlns:a16="http://schemas.microsoft.com/office/drawing/2014/main" id="{45DB62BC-6B2A-BBA2-7AD4-4CF313C84483}"/>
              </a:ext>
            </a:extLst>
          </p:cNvPr>
          <p:cNvSpPr>
            <a:spLocks noGrp="1"/>
          </p:cNvSpPr>
          <p:nvPr>
            <p:ph type="sldNum" sz="quarter" idx="12"/>
          </p:nvPr>
        </p:nvSpPr>
        <p:spPr/>
        <p:txBody>
          <a:bodyPr/>
          <a:lstStyle/>
          <a:p>
            <a:pPr>
              <a:defRPr/>
            </a:pPr>
            <a:fld id="{A5AE633C-541A-4E3F-A22A-3C4C63E8EF5F}" type="slidenum">
              <a:rPr lang="zh-CN" altLang="en-US" smtClean="0"/>
              <a:t>10</a:t>
            </a:fld>
            <a:endParaRPr lang="en-US" altLang="zh-CN"/>
          </a:p>
        </p:txBody>
      </p:sp>
    </p:spTree>
    <p:extLst>
      <p:ext uri="{BB962C8B-B14F-4D97-AF65-F5344CB8AC3E}">
        <p14:creationId xmlns:p14="http://schemas.microsoft.com/office/powerpoint/2010/main" val="3789670764"/>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Arc 25"/>
          <p:cNvSpPr>
            <a:spLocks/>
          </p:cNvSpPr>
          <p:nvPr/>
        </p:nvSpPr>
        <p:spPr bwMode="hidden">
          <a:xfrm>
            <a:off x="1606550" y="1981200"/>
            <a:ext cx="1822450" cy="823913"/>
          </a:xfrm>
          <a:custGeom>
            <a:avLst/>
            <a:gdLst>
              <a:gd name="T0" fmla="*/ 2147483647 w 43200"/>
              <a:gd name="T1" fmla="*/ 2147483647 h 23303"/>
              <a:gd name="T2" fmla="*/ 2147483647 w 43200"/>
              <a:gd name="T3" fmla="*/ 2147483647 h 23303"/>
              <a:gd name="T4" fmla="*/ 2147483647 w 43200"/>
              <a:gd name="T5" fmla="*/ 2147483647 h 23303"/>
              <a:gd name="T6" fmla="*/ 0 60000 65536"/>
              <a:gd name="T7" fmla="*/ 0 60000 65536"/>
              <a:gd name="T8" fmla="*/ 0 60000 65536"/>
            </a:gdLst>
            <a:ahLst/>
            <a:cxnLst>
              <a:cxn ang="T6">
                <a:pos x="T0" y="T1"/>
              </a:cxn>
              <a:cxn ang="T7">
                <a:pos x="T2" y="T3"/>
              </a:cxn>
              <a:cxn ang="T8">
                <a:pos x="T4" y="T5"/>
              </a:cxn>
            </a:cxnLst>
            <a:rect l="0" t="0" r="r" b="b"/>
            <a:pathLst>
              <a:path w="43200" h="23303" fill="none" extrusionOk="0">
                <a:moveTo>
                  <a:pt x="44" y="22982"/>
                </a:moveTo>
                <a:cubicBezTo>
                  <a:pt x="14" y="22522"/>
                  <a:pt x="0" y="22061"/>
                  <a:pt x="0" y="21600"/>
                </a:cubicBezTo>
                <a:cubicBezTo>
                  <a:pt x="0" y="9670"/>
                  <a:pt x="9670" y="0"/>
                  <a:pt x="21600" y="0"/>
                </a:cubicBezTo>
                <a:cubicBezTo>
                  <a:pt x="33529" y="0"/>
                  <a:pt x="43200" y="9670"/>
                  <a:pt x="43200" y="21600"/>
                </a:cubicBezTo>
                <a:cubicBezTo>
                  <a:pt x="43200" y="22168"/>
                  <a:pt x="43177" y="22736"/>
                  <a:pt x="43132" y="23302"/>
                </a:cubicBezTo>
              </a:path>
              <a:path w="43200" h="23303" stroke="0" extrusionOk="0">
                <a:moveTo>
                  <a:pt x="44" y="22982"/>
                </a:moveTo>
                <a:cubicBezTo>
                  <a:pt x="14" y="22522"/>
                  <a:pt x="0" y="22061"/>
                  <a:pt x="0" y="21600"/>
                </a:cubicBezTo>
                <a:cubicBezTo>
                  <a:pt x="0" y="9670"/>
                  <a:pt x="9670" y="0"/>
                  <a:pt x="21600" y="0"/>
                </a:cubicBezTo>
                <a:cubicBezTo>
                  <a:pt x="33529" y="0"/>
                  <a:pt x="43200" y="9670"/>
                  <a:pt x="43200" y="21600"/>
                </a:cubicBezTo>
                <a:cubicBezTo>
                  <a:pt x="43200" y="22168"/>
                  <a:pt x="43177" y="22736"/>
                  <a:pt x="43132" y="23302"/>
                </a:cubicBezTo>
                <a:lnTo>
                  <a:pt x="21600" y="21600"/>
                </a:lnTo>
                <a:lnTo>
                  <a:pt x="44" y="22982"/>
                </a:lnTo>
                <a:close/>
              </a:path>
            </a:pathLst>
          </a:custGeom>
          <a:noFill/>
          <a:ln w="38100">
            <a:solidFill>
              <a:schemeClr val="tx1"/>
            </a:solidFill>
            <a:prstDash val="dash"/>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7" name="Rectangle 30"/>
          <p:cNvSpPr>
            <a:spLocks noGrp="1" noChangeArrowheads="1"/>
          </p:cNvSpPr>
          <p:nvPr>
            <p:ph type="title" idx="4294967295"/>
          </p:nvPr>
        </p:nvSpPr>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2</a:t>
            </a:r>
            <a:r>
              <a:rPr lang="zh-CN" altLang="en-US" sz="3600" b="1" dirty="0">
                <a:latin typeface="Times New Roman" panose="02020603050405020304" pitchFamily="18" charset="0"/>
                <a:cs typeface="Times New Roman" panose="02020603050405020304" pitchFamily="18" charset="0"/>
              </a:rPr>
              <a:t>位</a:t>
            </a:r>
            <a:r>
              <a:rPr lang="en-US" altLang="zh-CN" sz="3600" b="1" dirty="0">
                <a:latin typeface="Times New Roman" panose="02020603050405020304" pitchFamily="18" charset="0"/>
                <a:cs typeface="Times New Roman" panose="02020603050405020304" pitchFamily="18" charset="0"/>
              </a:rPr>
              <a:t>BPB</a:t>
            </a:r>
            <a:r>
              <a:rPr lang="zh-CN" altLang="en-US" sz="3600" b="1" dirty="0">
                <a:latin typeface="Times New Roman" panose="02020603050405020304" pitchFamily="18" charset="0"/>
                <a:cs typeface="Times New Roman" panose="02020603050405020304" pitchFamily="18" charset="0"/>
              </a:rPr>
              <a:t>另一种状态转换图</a:t>
            </a:r>
          </a:p>
        </p:txBody>
      </p:sp>
      <p:sp>
        <p:nvSpPr>
          <p:cNvPr id="12292" name="Oval 3"/>
          <p:cNvSpPr>
            <a:spLocks noChangeArrowheads="1"/>
          </p:cNvSpPr>
          <p:nvPr/>
        </p:nvSpPr>
        <p:spPr bwMode="hidden">
          <a:xfrm>
            <a:off x="1219200" y="2667000"/>
            <a:ext cx="2590800" cy="10668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400"/>
              <a:t>  预测成功</a:t>
            </a:r>
            <a:endParaRPr lang="en-US" altLang="zh-CN" sz="2400"/>
          </a:p>
        </p:txBody>
      </p:sp>
      <p:sp>
        <p:nvSpPr>
          <p:cNvPr id="12293" name="Oval 4"/>
          <p:cNvSpPr>
            <a:spLocks noChangeArrowheads="1"/>
          </p:cNvSpPr>
          <p:nvPr/>
        </p:nvSpPr>
        <p:spPr bwMode="hidden">
          <a:xfrm>
            <a:off x="1219200" y="4295775"/>
            <a:ext cx="2590800" cy="1066800"/>
          </a:xfrm>
          <a:prstGeom prst="ellipse">
            <a:avLst/>
          </a:prstGeom>
          <a:solidFill>
            <a:schemeClr val="accent2"/>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400"/>
              <a:t> 预测不成功</a:t>
            </a:r>
            <a:endParaRPr lang="en-US" altLang="zh-CN" sz="2400"/>
          </a:p>
        </p:txBody>
      </p:sp>
      <p:sp>
        <p:nvSpPr>
          <p:cNvPr id="12294" name="Oval 5"/>
          <p:cNvSpPr>
            <a:spLocks noChangeArrowheads="1"/>
          </p:cNvSpPr>
          <p:nvPr/>
        </p:nvSpPr>
        <p:spPr bwMode="hidden">
          <a:xfrm>
            <a:off x="5410200" y="4295775"/>
            <a:ext cx="2590800" cy="1066800"/>
          </a:xfrm>
          <a:prstGeom prst="ellipse">
            <a:avLst/>
          </a:prstGeom>
          <a:solidFill>
            <a:schemeClr val="accent2"/>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400"/>
              <a:t> 预测不成功</a:t>
            </a:r>
            <a:endParaRPr lang="en-US" altLang="zh-CN" sz="2400"/>
          </a:p>
        </p:txBody>
      </p:sp>
      <p:sp>
        <p:nvSpPr>
          <p:cNvPr id="12295" name="Oval 6"/>
          <p:cNvSpPr>
            <a:spLocks noChangeArrowheads="1"/>
          </p:cNvSpPr>
          <p:nvPr/>
        </p:nvSpPr>
        <p:spPr bwMode="hidden">
          <a:xfrm>
            <a:off x="5410200" y="2667000"/>
            <a:ext cx="2590800" cy="10668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400"/>
              <a:t>   预测成功</a:t>
            </a:r>
            <a:endParaRPr lang="en-US" altLang="zh-CN" sz="2400"/>
          </a:p>
        </p:txBody>
      </p:sp>
      <p:sp>
        <p:nvSpPr>
          <p:cNvPr id="12296" name="Line 7"/>
          <p:cNvSpPr>
            <a:spLocks noChangeShapeType="1"/>
          </p:cNvSpPr>
          <p:nvPr/>
        </p:nvSpPr>
        <p:spPr bwMode="hidden">
          <a:xfrm>
            <a:off x="3733800" y="2971800"/>
            <a:ext cx="1752600" cy="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7" name="Line 9"/>
          <p:cNvSpPr>
            <a:spLocks noChangeShapeType="1"/>
          </p:cNvSpPr>
          <p:nvPr/>
        </p:nvSpPr>
        <p:spPr bwMode="hidden">
          <a:xfrm>
            <a:off x="3733800" y="4600575"/>
            <a:ext cx="1752600" cy="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8" name="Line 10"/>
          <p:cNvSpPr>
            <a:spLocks noChangeShapeType="1"/>
          </p:cNvSpPr>
          <p:nvPr/>
        </p:nvSpPr>
        <p:spPr bwMode="hidden">
          <a:xfrm flipH="1">
            <a:off x="3733800" y="3429000"/>
            <a:ext cx="1752600" cy="0"/>
          </a:xfrm>
          <a:prstGeom prst="line">
            <a:avLst/>
          </a:prstGeom>
          <a:noFill/>
          <a:ln w="3810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9" name="Line 12"/>
          <p:cNvSpPr>
            <a:spLocks noChangeShapeType="1"/>
          </p:cNvSpPr>
          <p:nvPr/>
        </p:nvSpPr>
        <p:spPr bwMode="hidden">
          <a:xfrm flipH="1">
            <a:off x="3733800" y="5057775"/>
            <a:ext cx="1752600" cy="0"/>
          </a:xfrm>
          <a:prstGeom prst="line">
            <a:avLst/>
          </a:prstGeom>
          <a:noFill/>
          <a:ln w="3810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0" name="Text Box 13"/>
          <p:cNvSpPr txBox="1">
            <a:spLocks noChangeArrowheads="1"/>
          </p:cNvSpPr>
          <p:nvPr/>
        </p:nvSpPr>
        <p:spPr bwMode="hidden">
          <a:xfrm>
            <a:off x="4160838" y="3429000"/>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2400">
                <a:latin typeface="Verdana" pitchFamily="34" charset="0"/>
              </a:rPr>
              <a:t>成功</a:t>
            </a:r>
            <a:endParaRPr lang="en-US" altLang="zh-CN" sz="2400">
              <a:latin typeface="Verdana" pitchFamily="34" charset="0"/>
            </a:endParaRPr>
          </a:p>
        </p:txBody>
      </p:sp>
      <p:sp>
        <p:nvSpPr>
          <p:cNvPr id="12301" name="Text Box 15"/>
          <p:cNvSpPr txBox="1">
            <a:spLocks noChangeArrowheads="1"/>
          </p:cNvSpPr>
          <p:nvPr/>
        </p:nvSpPr>
        <p:spPr bwMode="hidden">
          <a:xfrm>
            <a:off x="4160838" y="5057775"/>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2400">
                <a:latin typeface="Verdana" pitchFamily="34" charset="0"/>
              </a:rPr>
              <a:t>成功</a:t>
            </a:r>
            <a:endParaRPr lang="en-US" altLang="zh-CN" sz="2400">
              <a:latin typeface="Verdana" pitchFamily="34" charset="0"/>
            </a:endParaRPr>
          </a:p>
        </p:txBody>
      </p:sp>
      <p:sp>
        <p:nvSpPr>
          <p:cNvPr id="12302" name="Text Box 16"/>
          <p:cNvSpPr txBox="1">
            <a:spLocks noChangeArrowheads="1"/>
          </p:cNvSpPr>
          <p:nvPr/>
        </p:nvSpPr>
        <p:spPr bwMode="hidden">
          <a:xfrm>
            <a:off x="3886200" y="2514600"/>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2400">
                <a:latin typeface="Verdana" pitchFamily="34" charset="0"/>
              </a:rPr>
              <a:t>不成功</a:t>
            </a:r>
            <a:endParaRPr lang="en-US" altLang="zh-CN" sz="2400">
              <a:latin typeface="Verdana" pitchFamily="34" charset="0"/>
            </a:endParaRPr>
          </a:p>
        </p:txBody>
      </p:sp>
      <p:sp>
        <p:nvSpPr>
          <p:cNvPr id="12303" name="Line 8"/>
          <p:cNvSpPr>
            <a:spLocks noChangeShapeType="1"/>
          </p:cNvSpPr>
          <p:nvPr/>
        </p:nvSpPr>
        <p:spPr bwMode="hidden">
          <a:xfrm>
            <a:off x="6705600" y="3749675"/>
            <a:ext cx="0" cy="54610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4" name="Line 11"/>
          <p:cNvSpPr>
            <a:spLocks noChangeShapeType="1"/>
          </p:cNvSpPr>
          <p:nvPr/>
        </p:nvSpPr>
        <p:spPr bwMode="hidden">
          <a:xfrm flipV="1">
            <a:off x="2514600" y="3749675"/>
            <a:ext cx="0" cy="546100"/>
          </a:xfrm>
          <a:prstGeom prst="line">
            <a:avLst/>
          </a:prstGeom>
          <a:noFill/>
          <a:ln w="3810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5" name="Text Box 14"/>
          <p:cNvSpPr txBox="1">
            <a:spLocks noChangeArrowheads="1"/>
          </p:cNvSpPr>
          <p:nvPr/>
        </p:nvSpPr>
        <p:spPr bwMode="hidden">
          <a:xfrm>
            <a:off x="1570038" y="3733800"/>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2400">
                <a:latin typeface="Verdana" pitchFamily="34" charset="0"/>
              </a:rPr>
              <a:t>成功</a:t>
            </a:r>
            <a:endParaRPr lang="en-US" altLang="zh-CN" sz="2400">
              <a:latin typeface="Verdana" pitchFamily="34" charset="0"/>
            </a:endParaRPr>
          </a:p>
        </p:txBody>
      </p:sp>
      <p:sp>
        <p:nvSpPr>
          <p:cNvPr id="12306" name="Text Box 17"/>
          <p:cNvSpPr txBox="1">
            <a:spLocks noChangeArrowheads="1"/>
          </p:cNvSpPr>
          <p:nvPr/>
        </p:nvSpPr>
        <p:spPr bwMode="hidden">
          <a:xfrm>
            <a:off x="6777038" y="3733800"/>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2400">
                <a:latin typeface="Verdana" pitchFamily="34" charset="0"/>
              </a:rPr>
              <a:t>不成功</a:t>
            </a:r>
            <a:endParaRPr lang="en-US" altLang="zh-CN" sz="2400">
              <a:latin typeface="Verdana" pitchFamily="34" charset="0"/>
            </a:endParaRPr>
          </a:p>
        </p:txBody>
      </p:sp>
      <p:sp>
        <p:nvSpPr>
          <p:cNvPr id="12307" name="Text Box 18"/>
          <p:cNvSpPr txBox="1">
            <a:spLocks noChangeArrowheads="1"/>
          </p:cNvSpPr>
          <p:nvPr/>
        </p:nvSpPr>
        <p:spPr bwMode="hidden">
          <a:xfrm>
            <a:off x="3946525" y="4143375"/>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2400">
                <a:latin typeface="Verdana" pitchFamily="34" charset="0"/>
              </a:rPr>
              <a:t>不成功</a:t>
            </a:r>
            <a:endParaRPr lang="en-US" altLang="zh-CN" sz="2400">
              <a:latin typeface="Verdana" pitchFamily="34" charset="0"/>
            </a:endParaRPr>
          </a:p>
        </p:txBody>
      </p:sp>
      <p:sp>
        <p:nvSpPr>
          <p:cNvPr id="12308" name="Arc 22"/>
          <p:cNvSpPr>
            <a:spLocks/>
          </p:cNvSpPr>
          <p:nvPr/>
        </p:nvSpPr>
        <p:spPr bwMode="hidden">
          <a:xfrm flipV="1">
            <a:off x="5797550" y="5195888"/>
            <a:ext cx="1822450" cy="823912"/>
          </a:xfrm>
          <a:custGeom>
            <a:avLst/>
            <a:gdLst>
              <a:gd name="T0" fmla="*/ 2147483647 w 43200"/>
              <a:gd name="T1" fmla="*/ 2147483647 h 23303"/>
              <a:gd name="T2" fmla="*/ 2147483647 w 43200"/>
              <a:gd name="T3" fmla="*/ 2147483647 h 23303"/>
              <a:gd name="T4" fmla="*/ 2147483647 w 43200"/>
              <a:gd name="T5" fmla="*/ 2147483647 h 23303"/>
              <a:gd name="T6" fmla="*/ 0 60000 65536"/>
              <a:gd name="T7" fmla="*/ 0 60000 65536"/>
              <a:gd name="T8" fmla="*/ 0 60000 65536"/>
            </a:gdLst>
            <a:ahLst/>
            <a:cxnLst>
              <a:cxn ang="T6">
                <a:pos x="T0" y="T1"/>
              </a:cxn>
              <a:cxn ang="T7">
                <a:pos x="T2" y="T3"/>
              </a:cxn>
              <a:cxn ang="T8">
                <a:pos x="T4" y="T5"/>
              </a:cxn>
            </a:cxnLst>
            <a:rect l="0" t="0" r="r" b="b"/>
            <a:pathLst>
              <a:path w="43200" h="23303" fill="none" extrusionOk="0">
                <a:moveTo>
                  <a:pt x="44" y="22982"/>
                </a:moveTo>
                <a:cubicBezTo>
                  <a:pt x="14" y="22522"/>
                  <a:pt x="0" y="22061"/>
                  <a:pt x="0" y="21600"/>
                </a:cubicBezTo>
                <a:cubicBezTo>
                  <a:pt x="0" y="9670"/>
                  <a:pt x="9670" y="0"/>
                  <a:pt x="21600" y="0"/>
                </a:cubicBezTo>
                <a:cubicBezTo>
                  <a:pt x="33529" y="0"/>
                  <a:pt x="43200" y="9670"/>
                  <a:pt x="43200" y="21600"/>
                </a:cubicBezTo>
                <a:cubicBezTo>
                  <a:pt x="43200" y="22168"/>
                  <a:pt x="43177" y="22736"/>
                  <a:pt x="43132" y="23302"/>
                </a:cubicBezTo>
              </a:path>
              <a:path w="43200" h="23303" stroke="0" extrusionOk="0">
                <a:moveTo>
                  <a:pt x="44" y="22982"/>
                </a:moveTo>
                <a:cubicBezTo>
                  <a:pt x="14" y="22522"/>
                  <a:pt x="0" y="22061"/>
                  <a:pt x="0" y="21600"/>
                </a:cubicBezTo>
                <a:cubicBezTo>
                  <a:pt x="0" y="9670"/>
                  <a:pt x="9670" y="0"/>
                  <a:pt x="21600" y="0"/>
                </a:cubicBezTo>
                <a:cubicBezTo>
                  <a:pt x="33529" y="0"/>
                  <a:pt x="43200" y="9670"/>
                  <a:pt x="43200" y="21600"/>
                </a:cubicBezTo>
                <a:cubicBezTo>
                  <a:pt x="43200" y="22168"/>
                  <a:pt x="43177" y="22736"/>
                  <a:pt x="43132" y="23302"/>
                </a:cubicBezTo>
                <a:lnTo>
                  <a:pt x="21600" y="21600"/>
                </a:lnTo>
                <a:lnTo>
                  <a:pt x="44" y="22982"/>
                </a:lnTo>
                <a:close/>
              </a:path>
            </a:pathLst>
          </a:custGeom>
          <a:noFill/>
          <a:ln w="38100">
            <a:solidFill>
              <a:schemeClr val="tx1"/>
            </a:solidFill>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9" name="Text Box 24"/>
          <p:cNvSpPr txBox="1">
            <a:spLocks noChangeArrowheads="1"/>
          </p:cNvSpPr>
          <p:nvPr/>
        </p:nvSpPr>
        <p:spPr bwMode="hidden">
          <a:xfrm>
            <a:off x="6200775" y="5362575"/>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2400">
                <a:latin typeface="Verdana" pitchFamily="34" charset="0"/>
              </a:rPr>
              <a:t>不成功</a:t>
            </a:r>
            <a:endParaRPr lang="en-US" altLang="zh-CN" sz="2400">
              <a:latin typeface="Verdana" pitchFamily="34" charset="0"/>
            </a:endParaRPr>
          </a:p>
        </p:txBody>
      </p:sp>
      <p:sp>
        <p:nvSpPr>
          <p:cNvPr id="12310" name="Text Box 26"/>
          <p:cNvSpPr txBox="1">
            <a:spLocks noChangeArrowheads="1"/>
          </p:cNvSpPr>
          <p:nvPr/>
        </p:nvSpPr>
        <p:spPr bwMode="hidden">
          <a:xfrm>
            <a:off x="2041525" y="2209800"/>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2400">
                <a:latin typeface="Verdana" pitchFamily="34" charset="0"/>
              </a:rPr>
              <a:t>成功</a:t>
            </a:r>
            <a:endParaRPr lang="en-US" altLang="zh-CN" sz="2400">
              <a:latin typeface="Verdana" pitchFamily="34" charset="0"/>
            </a:endParaRPr>
          </a:p>
        </p:txBody>
      </p:sp>
      <p:sp>
        <p:nvSpPr>
          <p:cNvPr id="2" name="日期占位符 1">
            <a:extLst>
              <a:ext uri="{FF2B5EF4-FFF2-40B4-BE49-F238E27FC236}">
                <a16:creationId xmlns:a16="http://schemas.microsoft.com/office/drawing/2014/main" id="{D89BDFFC-D898-586E-D1AA-2D08C61F28DC}"/>
              </a:ext>
            </a:extLst>
          </p:cNvPr>
          <p:cNvSpPr>
            <a:spLocks noGrp="1"/>
          </p:cNvSpPr>
          <p:nvPr>
            <p:ph type="dt" sz="half" idx="10"/>
          </p:nvPr>
        </p:nvSpPr>
        <p:spPr/>
        <p:txBody>
          <a:bodyPr/>
          <a:lstStyle/>
          <a:p>
            <a:pPr>
              <a:defRPr/>
            </a:pPr>
            <a:fld id="{3F3F3FE0-5858-4869-A589-535E77A20226}"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5195AF5E-01FE-EDA2-C5C8-B9C80118ECBB}"/>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6C6DBC92-8770-6CBE-037E-8B1D80E7CAB4}"/>
              </a:ext>
            </a:extLst>
          </p:cNvPr>
          <p:cNvSpPr>
            <a:spLocks noGrp="1"/>
          </p:cNvSpPr>
          <p:nvPr>
            <p:ph type="sldNum" sz="quarter" idx="12"/>
          </p:nvPr>
        </p:nvSpPr>
        <p:spPr/>
        <p:txBody>
          <a:bodyPr/>
          <a:lstStyle/>
          <a:p>
            <a:pPr>
              <a:defRPr/>
            </a:pPr>
            <a:fld id="{A5AE633C-541A-4E3F-A22A-3C4C63E8EF5F}" type="slidenum">
              <a:rPr lang="zh-CN" altLang="en-US" smtClean="0"/>
              <a:t>11</a:t>
            </a:fld>
            <a:endParaRPr lang="en-US" altLang="zh-CN"/>
          </a:p>
        </p:txBody>
      </p:sp>
    </p:spTree>
    <p:extLst>
      <p:ext uri="{BB962C8B-B14F-4D97-AF65-F5344CB8AC3E}">
        <p14:creationId xmlns:p14="http://schemas.microsoft.com/office/powerpoint/2010/main" val="349558366"/>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
          <p:cNvSpPr>
            <a:spLocks noGrp="1" noChangeArrowheads="1"/>
          </p:cNvSpPr>
          <p:nvPr>
            <p:ph type="title" idx="4294967295"/>
          </p:nvPr>
        </p:nvSpPr>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4096</a:t>
            </a:r>
            <a:r>
              <a:rPr lang="zh-CN" altLang="en-US" sz="3600" b="1" dirty="0">
                <a:latin typeface="Times New Roman" panose="02020603050405020304" pitchFamily="18" charset="0"/>
                <a:cs typeface="Times New Roman" panose="02020603050405020304" pitchFamily="18" charset="0"/>
              </a:rPr>
              <a:t>单元</a:t>
            </a:r>
            <a:r>
              <a:rPr lang="en-US" altLang="zh-CN" sz="3600" b="1" dirty="0">
                <a:latin typeface="Times New Roman" panose="02020603050405020304" pitchFamily="18" charset="0"/>
                <a:cs typeface="Times New Roman" panose="02020603050405020304" pitchFamily="18" charset="0"/>
              </a:rPr>
              <a:t>2</a:t>
            </a:r>
            <a:r>
              <a:rPr lang="zh-CN" altLang="en-US" sz="3600" b="1" dirty="0">
                <a:latin typeface="Times New Roman" panose="02020603050405020304" pitchFamily="18" charset="0"/>
                <a:cs typeface="Times New Roman" panose="02020603050405020304" pitchFamily="18" charset="0"/>
              </a:rPr>
              <a:t>位</a:t>
            </a:r>
            <a:r>
              <a:rPr lang="en-US" altLang="zh-CN" sz="3600" b="1" dirty="0">
                <a:latin typeface="Times New Roman" panose="02020603050405020304" pitchFamily="18" charset="0"/>
                <a:cs typeface="Times New Roman" panose="02020603050405020304" pitchFamily="18" charset="0"/>
              </a:rPr>
              <a:t>BPB</a:t>
            </a:r>
            <a:r>
              <a:rPr lang="zh-CN" altLang="en-US" sz="3600" b="1" dirty="0">
                <a:latin typeface="Times New Roman" panose="02020603050405020304" pitchFamily="18" charset="0"/>
                <a:cs typeface="Times New Roman" panose="02020603050405020304" pitchFamily="18" charset="0"/>
              </a:rPr>
              <a:t>的预测错误率</a:t>
            </a:r>
          </a:p>
        </p:txBody>
      </p:sp>
      <p:sp>
        <p:nvSpPr>
          <p:cNvPr id="12291" name="Rectangle 11"/>
          <p:cNvSpPr>
            <a:spLocks noGrp="1" noChangeArrowheads="1"/>
          </p:cNvSpPr>
          <p:nvPr>
            <p:ph type="body" idx="4294967295"/>
          </p:nvPr>
        </p:nvSpPr>
        <p:spPr/>
        <p:txBody>
          <a:bodyPr/>
          <a:lstStyle/>
          <a:p>
            <a:pPr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测试程序为</a:t>
            </a:r>
            <a:r>
              <a:rPr lang="en-US" altLang="zh-CN" sz="2400" b="1" dirty="0">
                <a:latin typeface="Times New Roman" panose="02020603050405020304" pitchFamily="18" charset="0"/>
                <a:ea typeface="+mj-ea"/>
                <a:cs typeface="Times New Roman" panose="02020603050405020304" pitchFamily="18" charset="0"/>
              </a:rPr>
              <a:t>SPEC89</a:t>
            </a:r>
            <a:endParaRPr lang="zh-CN" altLang="en-US" sz="2400" b="1" dirty="0">
              <a:latin typeface="Times New Roman" panose="02020603050405020304" pitchFamily="18" charset="0"/>
              <a:ea typeface="+mj-ea"/>
              <a:cs typeface="Times New Roman" panose="02020603050405020304" pitchFamily="18" charset="0"/>
            </a:endParaRPr>
          </a:p>
          <a:p>
            <a:pPr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整数测试程序</a:t>
            </a:r>
            <a:r>
              <a:rPr lang="en-US" altLang="zh-CN" sz="2400" b="1" dirty="0">
                <a:latin typeface="Times New Roman" panose="02020603050405020304" pitchFamily="18" charset="0"/>
                <a:ea typeface="+mj-ea"/>
                <a:cs typeface="Times New Roman" panose="02020603050405020304" pitchFamily="18" charset="0"/>
              </a:rPr>
              <a:t>: </a:t>
            </a:r>
            <a:r>
              <a:rPr lang="zh-CN" altLang="en-US" sz="2400" b="1" dirty="0">
                <a:latin typeface="Times New Roman" panose="02020603050405020304" pitchFamily="18" charset="0"/>
                <a:ea typeface="+mj-ea"/>
                <a:cs typeface="Times New Roman" panose="02020603050405020304" pitchFamily="18" charset="0"/>
              </a:rPr>
              <a:t>平均</a:t>
            </a:r>
            <a:r>
              <a:rPr lang="en-US" altLang="zh-CN" sz="2400" b="1" dirty="0">
                <a:latin typeface="Times New Roman" panose="02020603050405020304" pitchFamily="18" charset="0"/>
                <a:ea typeface="+mj-ea"/>
                <a:cs typeface="Times New Roman" panose="02020603050405020304" pitchFamily="18" charset="0"/>
              </a:rPr>
              <a:t> 11%</a:t>
            </a:r>
          </a:p>
          <a:p>
            <a:pPr lvl="1" eaLnBrk="1" hangingPunct="1">
              <a:lnSpc>
                <a:spcPct val="150000"/>
              </a:lnSpc>
              <a:buFont typeface="Arial" charset="0"/>
              <a:buChar char="–"/>
              <a:defRPr/>
            </a:pPr>
            <a:r>
              <a:rPr lang="en-US" altLang="zh-CN" sz="2400" b="1" dirty="0" err="1">
                <a:latin typeface="Times New Roman" panose="02020603050405020304" pitchFamily="18" charset="0"/>
                <a:ea typeface="+mj-ea"/>
                <a:cs typeface="Times New Roman" panose="02020603050405020304" pitchFamily="18" charset="0"/>
              </a:rPr>
              <a:t>gcc</a:t>
            </a:r>
            <a:r>
              <a:rPr lang="en-US" altLang="zh-CN" sz="2400" b="1" dirty="0">
                <a:latin typeface="Times New Roman" panose="02020603050405020304" pitchFamily="18" charset="0"/>
                <a:ea typeface="+mj-ea"/>
                <a:cs typeface="Times New Roman" panose="02020603050405020304" pitchFamily="18" charset="0"/>
              </a:rPr>
              <a:t>, espresso, </a:t>
            </a:r>
            <a:r>
              <a:rPr lang="en-US" altLang="zh-CN" sz="2400" b="1" dirty="0" err="1">
                <a:latin typeface="Times New Roman" panose="02020603050405020304" pitchFamily="18" charset="0"/>
                <a:ea typeface="+mj-ea"/>
                <a:cs typeface="Times New Roman" panose="02020603050405020304" pitchFamily="18" charset="0"/>
              </a:rPr>
              <a:t>eqntott</a:t>
            </a:r>
            <a:r>
              <a:rPr lang="en-US" altLang="zh-CN" sz="2400" b="1" dirty="0">
                <a:latin typeface="Times New Roman" panose="02020603050405020304" pitchFamily="18" charset="0"/>
                <a:ea typeface="+mj-ea"/>
                <a:cs typeface="Times New Roman" panose="02020603050405020304" pitchFamily="18" charset="0"/>
              </a:rPr>
              <a:t>, li</a:t>
            </a:r>
          </a:p>
          <a:p>
            <a:pPr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浮点测试程序</a:t>
            </a:r>
            <a:r>
              <a:rPr lang="en-US" altLang="zh-CN" sz="2400" b="1" dirty="0">
                <a:latin typeface="Times New Roman" panose="02020603050405020304" pitchFamily="18" charset="0"/>
                <a:ea typeface="+mj-ea"/>
                <a:cs typeface="Times New Roman" panose="02020603050405020304" pitchFamily="18" charset="0"/>
              </a:rPr>
              <a:t>: </a:t>
            </a:r>
            <a:r>
              <a:rPr lang="zh-CN" altLang="en-US" sz="2400" b="1" dirty="0">
                <a:latin typeface="Times New Roman" panose="02020603050405020304" pitchFamily="18" charset="0"/>
                <a:ea typeface="+mj-ea"/>
                <a:cs typeface="Times New Roman" panose="02020603050405020304" pitchFamily="18" charset="0"/>
              </a:rPr>
              <a:t>平均</a:t>
            </a:r>
            <a:r>
              <a:rPr lang="en-US" altLang="zh-CN" sz="2400" b="1" dirty="0">
                <a:latin typeface="Times New Roman" panose="02020603050405020304" pitchFamily="18" charset="0"/>
                <a:ea typeface="+mj-ea"/>
                <a:cs typeface="Times New Roman" panose="02020603050405020304" pitchFamily="18" charset="0"/>
              </a:rPr>
              <a:t> 4%</a:t>
            </a:r>
          </a:p>
          <a:p>
            <a:pPr lvl="1" eaLnBrk="1" hangingPunct="1">
              <a:lnSpc>
                <a:spcPct val="150000"/>
              </a:lnSpc>
              <a:buFont typeface="Arial" charset="0"/>
              <a:buChar char="–"/>
              <a:defRPr/>
            </a:pPr>
            <a:r>
              <a:rPr lang="en-US" altLang="zh-CN" sz="2400" b="1" dirty="0">
                <a:latin typeface="Times New Roman" panose="02020603050405020304" pitchFamily="18" charset="0"/>
                <a:ea typeface="+mj-ea"/>
                <a:cs typeface="Times New Roman" panose="02020603050405020304" pitchFamily="18" charset="0"/>
              </a:rPr>
              <a:t>nasa7, matrix300, </a:t>
            </a:r>
            <a:r>
              <a:rPr lang="en-US" altLang="zh-CN" sz="2400" b="1" dirty="0" err="1">
                <a:latin typeface="Times New Roman" panose="02020603050405020304" pitchFamily="18" charset="0"/>
                <a:ea typeface="+mj-ea"/>
                <a:cs typeface="Times New Roman" panose="02020603050405020304" pitchFamily="18" charset="0"/>
              </a:rPr>
              <a:t>tomcatv</a:t>
            </a:r>
            <a:endParaRPr lang="en-US" altLang="zh-CN" sz="2400" b="1" dirty="0">
              <a:latin typeface="Times New Roman" panose="02020603050405020304" pitchFamily="18" charset="0"/>
              <a:ea typeface="+mj-ea"/>
              <a:cs typeface="Times New Roman" panose="02020603050405020304" pitchFamily="18" charset="0"/>
            </a:endParaRPr>
          </a:p>
          <a:p>
            <a:pPr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为什么</a:t>
            </a:r>
            <a:r>
              <a:rPr lang="en-US" altLang="zh-CN" sz="2400" b="1" dirty="0">
                <a:latin typeface="Times New Roman" panose="02020603050405020304" pitchFamily="18" charset="0"/>
                <a:ea typeface="+mj-ea"/>
                <a:cs typeface="Times New Roman" panose="02020603050405020304" pitchFamily="18" charset="0"/>
              </a:rPr>
              <a:t>?</a:t>
            </a:r>
          </a:p>
          <a:p>
            <a:pPr eaLnBrk="1" hangingPunct="1">
              <a:lnSpc>
                <a:spcPct val="150000"/>
              </a:lnSpc>
              <a:buFont typeface="Arial" charset="0"/>
              <a:buChar char="•"/>
              <a:defRPr/>
            </a:pPr>
            <a:endParaRPr lang="en-US" altLang="zh-CN" sz="2400" b="1" dirty="0">
              <a:latin typeface="Times New Roman" panose="02020603050405020304" pitchFamily="18" charset="0"/>
              <a:ea typeface="+mj-ea"/>
              <a:cs typeface="Times New Roman" panose="02020603050405020304" pitchFamily="18" charset="0"/>
            </a:endParaRPr>
          </a:p>
        </p:txBody>
      </p:sp>
      <p:sp>
        <p:nvSpPr>
          <p:cNvPr id="2" name="日期占位符 1">
            <a:extLst>
              <a:ext uri="{FF2B5EF4-FFF2-40B4-BE49-F238E27FC236}">
                <a16:creationId xmlns:a16="http://schemas.microsoft.com/office/drawing/2014/main" id="{CB0BC15C-6946-EDD0-6D33-49261D536A40}"/>
              </a:ext>
            </a:extLst>
          </p:cNvPr>
          <p:cNvSpPr>
            <a:spLocks noGrp="1"/>
          </p:cNvSpPr>
          <p:nvPr>
            <p:ph type="dt" sz="half" idx="10"/>
          </p:nvPr>
        </p:nvSpPr>
        <p:spPr/>
        <p:txBody>
          <a:bodyPr/>
          <a:lstStyle/>
          <a:p>
            <a:pPr>
              <a:defRPr/>
            </a:pPr>
            <a:fld id="{75E8637D-2D76-4895-8D76-65A49C391F86}"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A070ACAC-FD66-4B2C-1BEF-0FE1E4660AAF}"/>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626284ED-FB54-5EC8-5A6D-FFB07D2D6E82}"/>
              </a:ext>
            </a:extLst>
          </p:cNvPr>
          <p:cNvSpPr>
            <a:spLocks noGrp="1"/>
          </p:cNvSpPr>
          <p:nvPr>
            <p:ph type="sldNum" sz="quarter" idx="12"/>
          </p:nvPr>
        </p:nvSpPr>
        <p:spPr/>
        <p:txBody>
          <a:bodyPr/>
          <a:lstStyle/>
          <a:p>
            <a:pPr>
              <a:defRPr/>
            </a:pPr>
            <a:fld id="{A5AE633C-541A-4E3F-A22A-3C4C63E8EF5F}" type="slidenum">
              <a:rPr lang="zh-CN" altLang="en-US" smtClean="0"/>
              <a:t>12</a:t>
            </a:fld>
            <a:endParaRPr lang="en-US" altLang="zh-CN"/>
          </a:p>
        </p:txBody>
      </p:sp>
    </p:spTree>
    <p:extLst>
      <p:ext uri="{BB962C8B-B14F-4D97-AF65-F5344CB8AC3E}">
        <p14:creationId xmlns:p14="http://schemas.microsoft.com/office/powerpoint/2010/main" val="133189074"/>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8"/>
          <p:cNvSpPr>
            <a:spLocks noGrp="1" noChangeArrowheads="1"/>
          </p:cNvSpPr>
          <p:nvPr>
            <p:ph type="title" idx="4294967295"/>
          </p:nvPr>
        </p:nvSpPr>
        <p:spPr>
          <a:xfrm>
            <a:off x="457200" y="188640"/>
            <a:ext cx="8229600" cy="1143000"/>
          </a:xfrm>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4096</a:t>
            </a:r>
            <a:r>
              <a:rPr lang="zh-CN" altLang="en-US" sz="3600" b="1" dirty="0">
                <a:latin typeface="Times New Roman" panose="02020603050405020304" pitchFamily="18" charset="0"/>
                <a:cs typeface="Times New Roman" panose="02020603050405020304" pitchFamily="18" charset="0"/>
              </a:rPr>
              <a:t>单元</a:t>
            </a:r>
            <a:r>
              <a:rPr lang="en-US" altLang="zh-CN" sz="3600" b="1" dirty="0">
                <a:latin typeface="Times New Roman" panose="02020603050405020304" pitchFamily="18" charset="0"/>
                <a:cs typeface="Times New Roman" panose="02020603050405020304" pitchFamily="18" charset="0"/>
              </a:rPr>
              <a:t>2</a:t>
            </a:r>
            <a:r>
              <a:rPr lang="zh-CN" altLang="en-US" sz="3600" b="1" dirty="0">
                <a:latin typeface="Times New Roman" panose="02020603050405020304" pitchFamily="18" charset="0"/>
                <a:cs typeface="Times New Roman" panose="02020603050405020304" pitchFamily="18" charset="0"/>
              </a:rPr>
              <a:t>位</a:t>
            </a:r>
            <a:r>
              <a:rPr lang="en-US" altLang="zh-CN" sz="3600" b="1" dirty="0">
                <a:latin typeface="Times New Roman" panose="02020603050405020304" pitchFamily="18" charset="0"/>
                <a:cs typeface="Times New Roman" panose="02020603050405020304" pitchFamily="18" charset="0"/>
              </a:rPr>
              <a:t>BPB: </a:t>
            </a:r>
            <a:r>
              <a:rPr lang="zh-CN" altLang="en-US" sz="3600" b="1" dirty="0">
                <a:latin typeface="Times New Roman" panose="02020603050405020304" pitchFamily="18" charset="0"/>
                <a:cs typeface="Times New Roman" panose="02020603050405020304" pitchFamily="18" charset="0"/>
              </a:rPr>
              <a:t>预测错误率</a:t>
            </a:r>
          </a:p>
        </p:txBody>
      </p:sp>
      <p:graphicFrame>
        <p:nvGraphicFramePr>
          <p:cNvPr id="14339" name="Object 9"/>
          <p:cNvGraphicFramePr>
            <a:graphicFrameLocks noGrp="1" noChangeAspect="1"/>
          </p:cNvGraphicFramePr>
          <p:nvPr>
            <p:ph idx="4294967295"/>
            <p:extLst>
              <p:ext uri="{D42A27DB-BD31-4B8C-83A1-F6EECF244321}">
                <p14:modId xmlns:p14="http://schemas.microsoft.com/office/powerpoint/2010/main" val="2745023416"/>
              </p:ext>
            </p:extLst>
          </p:nvPr>
        </p:nvGraphicFramePr>
        <p:xfrm>
          <a:off x="827584" y="1700808"/>
          <a:ext cx="13237018" cy="7826994"/>
        </p:xfrm>
        <a:graphic>
          <a:graphicData uri="http://schemas.openxmlformats.org/presentationml/2006/ole">
            <mc:AlternateContent xmlns:mc="http://schemas.openxmlformats.org/markup-compatibility/2006">
              <mc:Choice xmlns:v="urn:schemas-microsoft-com:vml" Requires="v">
                <p:oleObj name="Chart" r:id="rId2" imgW="17525596" imgH="10363200" progId="MSGraph.Chart.8">
                  <p:embed followColorScheme="full"/>
                </p:oleObj>
              </mc:Choice>
              <mc:Fallback>
                <p:oleObj name="Chart" r:id="rId2" imgW="17525596" imgH="10363200" progId="MSGraph.Chart.8">
                  <p:embed followColorScheme="full"/>
                  <p:pic>
                    <p:nvPicPr>
                      <p:cNvPr id="14339" name="Object 9"/>
                      <p:cNvPicPr>
                        <a:picLocks noChangeAspect="1" noChangeArrowheads="1"/>
                      </p:cNvPicPr>
                      <p:nvPr/>
                    </p:nvPicPr>
                    <p:blipFill>
                      <a:blip r:embed="rId3"/>
                      <a:srcRect/>
                      <a:stretch>
                        <a:fillRect/>
                      </a:stretch>
                    </p:blipFill>
                    <p:spPr bwMode="auto">
                      <a:xfrm>
                        <a:off x="827584" y="1700808"/>
                        <a:ext cx="13237018" cy="7826994"/>
                      </a:xfrm>
                      <a:prstGeom prst="rect">
                        <a:avLst/>
                      </a:prstGeom>
                      <a:noFill/>
                      <a:ln>
                        <a:noFill/>
                      </a:ln>
                    </p:spPr>
                  </p:pic>
                </p:oleObj>
              </mc:Fallback>
            </mc:AlternateContent>
          </a:graphicData>
        </a:graphic>
      </p:graphicFrame>
      <p:sp>
        <p:nvSpPr>
          <p:cNvPr id="2" name="日期占位符 1">
            <a:extLst>
              <a:ext uri="{FF2B5EF4-FFF2-40B4-BE49-F238E27FC236}">
                <a16:creationId xmlns:a16="http://schemas.microsoft.com/office/drawing/2014/main" id="{2532B7F9-EB44-699F-0346-645EBB1062A3}"/>
              </a:ext>
            </a:extLst>
          </p:cNvPr>
          <p:cNvSpPr>
            <a:spLocks noGrp="1"/>
          </p:cNvSpPr>
          <p:nvPr>
            <p:ph type="dt" sz="half" idx="10"/>
          </p:nvPr>
        </p:nvSpPr>
        <p:spPr/>
        <p:txBody>
          <a:bodyPr/>
          <a:lstStyle/>
          <a:p>
            <a:pPr>
              <a:defRPr/>
            </a:pPr>
            <a:fld id="{43A82D47-CDA0-462A-A916-58297B68EF21}"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C17C6BCB-9BFF-BDF8-DC29-A2FD67C67B7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DF3BC2B9-0DA2-685E-2F60-68A550718480}"/>
              </a:ext>
            </a:extLst>
          </p:cNvPr>
          <p:cNvSpPr>
            <a:spLocks noGrp="1"/>
          </p:cNvSpPr>
          <p:nvPr>
            <p:ph type="sldNum" sz="quarter" idx="12"/>
          </p:nvPr>
        </p:nvSpPr>
        <p:spPr/>
        <p:txBody>
          <a:bodyPr/>
          <a:lstStyle/>
          <a:p>
            <a:pPr>
              <a:defRPr/>
            </a:pPr>
            <a:fld id="{A5AE633C-541A-4E3F-A22A-3C4C63E8EF5F}" type="slidenum">
              <a:rPr lang="zh-CN" altLang="en-US" smtClean="0"/>
              <a:t>13</a:t>
            </a:fld>
            <a:endParaRPr lang="en-US" altLang="zh-CN"/>
          </a:p>
        </p:txBody>
      </p:sp>
    </p:spTree>
    <p:extLst>
      <p:ext uri="{BB962C8B-B14F-4D97-AF65-F5344CB8AC3E}">
        <p14:creationId xmlns:p14="http://schemas.microsoft.com/office/powerpoint/2010/main" val="4192125890"/>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8"/>
          <p:cNvSpPr>
            <a:spLocks noGrp="1" noChangeArrowheads="1"/>
          </p:cNvSpPr>
          <p:nvPr>
            <p:ph type="title" idx="4294967295"/>
          </p:nvPr>
        </p:nvSpPr>
        <p:spPr>
          <a:xfrm>
            <a:off x="457200" y="44450"/>
            <a:ext cx="8229600" cy="1143000"/>
          </a:xfrm>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2</a:t>
            </a:r>
            <a:r>
              <a:rPr lang="zh-CN" altLang="en-US" sz="3600" b="1" dirty="0">
                <a:latin typeface="Times New Roman" panose="02020603050405020304" pitchFamily="18" charset="0"/>
                <a:cs typeface="Times New Roman" panose="02020603050405020304" pitchFamily="18" charset="0"/>
              </a:rPr>
              <a:t>位</a:t>
            </a:r>
            <a:r>
              <a:rPr lang="en-US" altLang="zh-CN" sz="3600" b="1" dirty="0">
                <a:latin typeface="Times New Roman" panose="02020603050405020304" pitchFamily="18" charset="0"/>
                <a:cs typeface="Times New Roman" panose="02020603050405020304" pitchFamily="18" charset="0"/>
              </a:rPr>
              <a:t>BPB: </a:t>
            </a:r>
            <a:r>
              <a:rPr lang="zh-CN" altLang="en-US" sz="3600" b="1" dirty="0">
                <a:latin typeface="Times New Roman" panose="02020603050405020304" pitchFamily="18" charset="0"/>
                <a:cs typeface="Times New Roman" panose="02020603050405020304" pitchFamily="18" charset="0"/>
              </a:rPr>
              <a:t>4</a:t>
            </a:r>
            <a:r>
              <a:rPr lang="en-US" altLang="zh-CN" sz="3600" b="1" dirty="0">
                <a:latin typeface="Times New Roman" panose="02020603050405020304" pitchFamily="18" charset="0"/>
                <a:cs typeface="Times New Roman" panose="02020603050405020304" pitchFamily="18" charset="0"/>
              </a:rPr>
              <a:t>K vs. </a:t>
            </a:r>
            <a:r>
              <a:rPr lang="zh-CN" altLang="en-US" sz="3600" b="1" dirty="0">
                <a:latin typeface="Times New Roman" panose="02020603050405020304" pitchFamily="18" charset="0"/>
                <a:cs typeface="Times New Roman" panose="02020603050405020304" pitchFamily="18" charset="0"/>
              </a:rPr>
              <a:t>无穷多</a:t>
            </a:r>
          </a:p>
        </p:txBody>
      </p:sp>
      <p:graphicFrame>
        <p:nvGraphicFramePr>
          <p:cNvPr id="16387" name="Object 9"/>
          <p:cNvGraphicFramePr>
            <a:graphicFrameLocks noGrp="1" noChangeAspect="1"/>
          </p:cNvGraphicFramePr>
          <p:nvPr>
            <p:ph idx="4294967295"/>
            <p:extLst>
              <p:ext uri="{D42A27DB-BD31-4B8C-83A1-F6EECF244321}">
                <p14:modId xmlns:p14="http://schemas.microsoft.com/office/powerpoint/2010/main" val="4219830737"/>
              </p:ext>
            </p:extLst>
          </p:nvPr>
        </p:nvGraphicFramePr>
        <p:xfrm>
          <a:off x="683568" y="1484784"/>
          <a:ext cx="14558735" cy="8608863"/>
        </p:xfrm>
        <a:graphic>
          <a:graphicData uri="http://schemas.openxmlformats.org/presentationml/2006/ole">
            <mc:AlternateContent xmlns:mc="http://schemas.openxmlformats.org/markup-compatibility/2006">
              <mc:Choice xmlns:v="urn:schemas-microsoft-com:vml" Requires="v">
                <p:oleObj name="Chart" r:id="rId2" imgW="17525596" imgH="10363200" progId="MSGraph.Chart.8">
                  <p:embed followColorScheme="full"/>
                </p:oleObj>
              </mc:Choice>
              <mc:Fallback>
                <p:oleObj name="Chart" r:id="rId2" imgW="17525596" imgH="10363200" progId="MSGraph.Chart.8">
                  <p:embed followColorScheme="full"/>
                  <p:pic>
                    <p:nvPicPr>
                      <p:cNvPr id="16387" name="Object 9"/>
                      <p:cNvPicPr>
                        <a:picLocks noChangeAspect="1" noChangeArrowheads="1"/>
                      </p:cNvPicPr>
                      <p:nvPr/>
                    </p:nvPicPr>
                    <p:blipFill>
                      <a:blip r:embed="rId3"/>
                      <a:srcRect/>
                      <a:stretch>
                        <a:fillRect/>
                      </a:stretch>
                    </p:blipFill>
                    <p:spPr bwMode="auto">
                      <a:xfrm>
                        <a:off x="683568" y="1484784"/>
                        <a:ext cx="14558735" cy="8608863"/>
                      </a:xfrm>
                      <a:prstGeom prst="rect">
                        <a:avLst/>
                      </a:prstGeom>
                      <a:noFill/>
                      <a:ln>
                        <a:noFill/>
                      </a:ln>
                    </p:spPr>
                  </p:pic>
                </p:oleObj>
              </mc:Fallback>
            </mc:AlternateContent>
          </a:graphicData>
        </a:graphic>
      </p:graphicFrame>
      <p:sp>
        <p:nvSpPr>
          <p:cNvPr id="2" name="日期占位符 1">
            <a:extLst>
              <a:ext uri="{FF2B5EF4-FFF2-40B4-BE49-F238E27FC236}">
                <a16:creationId xmlns:a16="http://schemas.microsoft.com/office/drawing/2014/main" id="{C2619220-2E58-B6E7-401B-1537D214B66E}"/>
              </a:ext>
            </a:extLst>
          </p:cNvPr>
          <p:cNvSpPr>
            <a:spLocks noGrp="1"/>
          </p:cNvSpPr>
          <p:nvPr>
            <p:ph type="dt" sz="half" idx="10"/>
          </p:nvPr>
        </p:nvSpPr>
        <p:spPr/>
        <p:txBody>
          <a:bodyPr/>
          <a:lstStyle/>
          <a:p>
            <a:pPr>
              <a:defRPr/>
            </a:pPr>
            <a:fld id="{38A0E359-3561-4D1B-B01A-2CA389774B69}"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EE298D09-9CED-20E3-ADC1-70CFE6E9D9A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9162882A-BA4C-F7F2-7381-5C7D9D089678}"/>
              </a:ext>
            </a:extLst>
          </p:cNvPr>
          <p:cNvSpPr>
            <a:spLocks noGrp="1"/>
          </p:cNvSpPr>
          <p:nvPr>
            <p:ph type="sldNum" sz="quarter" idx="12"/>
          </p:nvPr>
        </p:nvSpPr>
        <p:spPr/>
        <p:txBody>
          <a:bodyPr/>
          <a:lstStyle/>
          <a:p>
            <a:pPr>
              <a:defRPr/>
            </a:pPr>
            <a:fld id="{A5AE633C-541A-4E3F-A22A-3C4C63E8EF5F}" type="slidenum">
              <a:rPr lang="zh-CN" altLang="en-US" smtClean="0"/>
              <a:t>14</a:t>
            </a:fld>
            <a:endParaRPr lang="en-US" altLang="zh-CN"/>
          </a:p>
        </p:txBody>
      </p:sp>
    </p:spTree>
    <p:extLst>
      <p:ext uri="{BB962C8B-B14F-4D97-AF65-F5344CB8AC3E}">
        <p14:creationId xmlns:p14="http://schemas.microsoft.com/office/powerpoint/2010/main" val="2138035119"/>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2"/>
          <p:cNvSpPr>
            <a:spLocks noGrp="1" noChangeArrowheads="1"/>
          </p:cNvSpPr>
          <p:nvPr>
            <p:ph type="title" idx="4294967295"/>
          </p:nvPr>
        </p:nvSpPr>
        <p:spPr>
          <a:xfrm>
            <a:off x="457200" y="116632"/>
            <a:ext cx="8229600" cy="1143000"/>
          </a:xfrm>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BPB</a:t>
            </a:r>
            <a:r>
              <a:rPr lang="zh-CN" altLang="en-US" sz="3600" b="1" dirty="0">
                <a:latin typeface="Times New Roman" panose="02020603050405020304" pitchFamily="18" charset="0"/>
                <a:cs typeface="Times New Roman" panose="02020603050405020304" pitchFamily="18" charset="0"/>
              </a:rPr>
              <a:t>实现</a:t>
            </a:r>
          </a:p>
        </p:txBody>
      </p:sp>
      <p:sp>
        <p:nvSpPr>
          <p:cNvPr id="136205" name="Rectangle 13"/>
          <p:cNvSpPr>
            <a:spLocks noGrp="1" noChangeArrowheads="1"/>
          </p:cNvSpPr>
          <p:nvPr>
            <p:ph type="body" idx="4294967295"/>
          </p:nvPr>
        </p:nvSpPr>
        <p:spPr>
          <a:xfrm>
            <a:off x="457200" y="1268760"/>
            <a:ext cx="8229600" cy="4853136"/>
          </a:xfrm>
        </p:spPr>
        <p:txBody>
          <a:bodyPr rtlCol="0">
            <a:normAutofit fontScale="92500" lnSpcReduction="10000"/>
          </a:bodyPr>
          <a:lstStyle/>
          <a:p>
            <a:pPr eaLnBrk="1" fontAlgn="auto" hangingPunct="1">
              <a:lnSpc>
                <a:spcPct val="150000"/>
              </a:lnSpc>
              <a:spcAft>
                <a:spcPts val="0"/>
              </a:spcAft>
              <a:buFont typeface="Arial" pitchFamily="34" charset="0"/>
              <a:buChar char="•"/>
              <a:defRPr/>
            </a:pPr>
            <a:r>
              <a:rPr lang="en-US" altLang="zh-CN" sz="2400" b="1" dirty="0">
                <a:latin typeface="Times New Roman" panose="02020603050405020304" pitchFamily="18" charset="0"/>
                <a:ea typeface="+mj-ea"/>
                <a:cs typeface="Times New Roman" panose="02020603050405020304" pitchFamily="18" charset="0"/>
              </a:rPr>
              <a:t>BPB</a:t>
            </a:r>
            <a:r>
              <a:rPr lang="zh-CN" altLang="en-US" sz="2400" b="1" dirty="0">
                <a:latin typeface="Times New Roman" panose="02020603050405020304" pitchFamily="18" charset="0"/>
                <a:ea typeface="+mj-ea"/>
                <a:cs typeface="Times New Roman" panose="02020603050405020304" pitchFamily="18" charset="0"/>
              </a:rPr>
              <a:t>的实现方案</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lnSpc>
                <a:spcPct val="150000"/>
              </a:lnSpc>
              <a:spcAft>
                <a:spcPts val="0"/>
              </a:spcAft>
              <a:buFont typeface="Arial" pitchFamily="34" charset="0"/>
              <a:buChar char="–"/>
              <a:defRPr/>
            </a:pPr>
            <a:r>
              <a:rPr lang="zh-CN" altLang="en-US" sz="2400" b="1" dirty="0">
                <a:latin typeface="Times New Roman" panose="02020603050405020304" pitchFamily="18" charset="0"/>
                <a:ea typeface="+mj-ea"/>
                <a:cs typeface="Times New Roman" panose="02020603050405020304" pitchFamily="18" charset="0"/>
              </a:rPr>
              <a:t>实现一个小而特殊的</a:t>
            </a:r>
            <a:r>
              <a:rPr lang="en-US" altLang="zh-CN" sz="2400" b="1" dirty="0">
                <a:latin typeface="Times New Roman" panose="02020603050405020304" pitchFamily="18" charset="0"/>
                <a:ea typeface="+mj-ea"/>
                <a:cs typeface="Times New Roman" panose="02020603050405020304" pitchFamily="18" charset="0"/>
              </a:rPr>
              <a:t> “cache”</a:t>
            </a:r>
            <a:r>
              <a:rPr lang="zh-CN" altLang="en-US" sz="2400" b="1" dirty="0">
                <a:latin typeface="Times New Roman" panose="02020603050405020304" pitchFamily="18" charset="0"/>
                <a:ea typeface="+mj-ea"/>
                <a:cs typeface="Times New Roman" panose="02020603050405020304" pitchFamily="18" charset="0"/>
              </a:rPr>
              <a:t>，利用指令地址进行索引，在</a:t>
            </a:r>
            <a:r>
              <a:rPr lang="en-US" altLang="zh-CN" sz="2400" b="1" dirty="0">
                <a:latin typeface="Times New Roman" panose="02020603050405020304" pitchFamily="18" charset="0"/>
                <a:ea typeface="+mj-ea"/>
                <a:cs typeface="Times New Roman" panose="02020603050405020304" pitchFamily="18" charset="0"/>
              </a:rPr>
              <a:t>IF</a:t>
            </a:r>
            <a:r>
              <a:rPr lang="zh-CN" altLang="en-US" sz="2400" b="1" dirty="0">
                <a:latin typeface="Times New Roman" panose="02020603050405020304" pitchFamily="18" charset="0"/>
                <a:ea typeface="+mj-ea"/>
                <a:cs typeface="Times New Roman" panose="02020603050405020304" pitchFamily="18" charset="0"/>
              </a:rPr>
              <a:t>流水段访问。</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lnSpc>
                <a:spcPct val="150000"/>
              </a:lnSpc>
              <a:spcAft>
                <a:spcPts val="0"/>
              </a:spcAft>
              <a:buFont typeface="Arial" pitchFamily="34" charset="0"/>
              <a:buChar char="–"/>
              <a:defRPr/>
            </a:pPr>
            <a:r>
              <a:rPr lang="zh-CN" altLang="en-US" sz="2400" b="1" dirty="0">
                <a:latin typeface="Times New Roman" panose="02020603050405020304" pitchFamily="18" charset="0"/>
                <a:ea typeface="+mj-ea"/>
                <a:cs typeface="Times New Roman" panose="02020603050405020304" pitchFamily="18" charset="0"/>
              </a:rPr>
              <a:t>或者，为指令</a:t>
            </a:r>
            <a:r>
              <a:rPr lang="en-US" altLang="zh-CN" sz="2400" b="1" dirty="0">
                <a:latin typeface="Times New Roman" panose="02020603050405020304" pitchFamily="18" charset="0"/>
                <a:ea typeface="+mj-ea"/>
                <a:cs typeface="Times New Roman" panose="02020603050405020304" pitchFamily="18" charset="0"/>
              </a:rPr>
              <a:t>cache</a:t>
            </a:r>
            <a:r>
              <a:rPr lang="zh-CN" altLang="en-US" sz="2400" b="1" dirty="0">
                <a:latin typeface="Times New Roman" panose="02020603050405020304" pitchFamily="18" charset="0"/>
                <a:ea typeface="+mj-ea"/>
                <a:cs typeface="Times New Roman" panose="02020603050405020304" pitchFamily="18" charset="0"/>
              </a:rPr>
              <a:t>中每一块增加附加位，与指令一起取出</a:t>
            </a:r>
          </a:p>
          <a:p>
            <a:pPr eaLnBrk="1" fontAlgn="auto" hangingPunct="1">
              <a:lnSpc>
                <a:spcPct val="150000"/>
              </a:lnSpc>
              <a:spcAft>
                <a:spcPts val="0"/>
              </a:spcAft>
              <a:buFont typeface="Arial" pitchFamily="34" charset="0"/>
              <a:buChar char="•"/>
              <a:defRPr/>
            </a:pPr>
            <a:r>
              <a:rPr lang="zh-CN" altLang="en-US" sz="2400" b="1" dirty="0">
                <a:latin typeface="Times New Roman" panose="02020603050405020304" pitchFamily="18" charset="0"/>
                <a:ea typeface="+mj-ea"/>
                <a:cs typeface="Times New Roman" panose="02020603050405020304" pitchFamily="18" charset="0"/>
              </a:rPr>
              <a:t>若一个指令在</a:t>
            </a:r>
            <a:r>
              <a:rPr lang="en-US" altLang="zh-CN" sz="2400" b="1" dirty="0">
                <a:latin typeface="Times New Roman" panose="02020603050405020304" pitchFamily="18" charset="0"/>
                <a:ea typeface="+mj-ea"/>
                <a:cs typeface="Times New Roman" panose="02020603050405020304" pitchFamily="18" charset="0"/>
              </a:rPr>
              <a:t>ID</a:t>
            </a:r>
            <a:r>
              <a:rPr lang="zh-CN" altLang="en-US" sz="2400" b="1" dirty="0">
                <a:latin typeface="Times New Roman" panose="02020603050405020304" pitchFamily="18" charset="0"/>
                <a:ea typeface="+mj-ea"/>
                <a:cs typeface="Times New Roman" panose="02020603050405020304" pitchFamily="18" charset="0"/>
              </a:rPr>
              <a:t>段被译码为分支指令，且对应的</a:t>
            </a:r>
            <a:r>
              <a:rPr lang="en-US" altLang="zh-CN" sz="2400" b="1" dirty="0">
                <a:latin typeface="Times New Roman" panose="02020603050405020304" pitchFamily="18" charset="0"/>
                <a:ea typeface="+mj-ea"/>
                <a:cs typeface="Times New Roman" panose="02020603050405020304" pitchFamily="18" charset="0"/>
              </a:rPr>
              <a:t>BPB</a:t>
            </a:r>
            <a:r>
              <a:rPr lang="zh-CN" altLang="en-US" sz="2400" b="1" dirty="0">
                <a:latin typeface="Times New Roman" panose="02020603050405020304" pitchFamily="18" charset="0"/>
                <a:ea typeface="+mj-ea"/>
                <a:cs typeface="Times New Roman" panose="02020603050405020304" pitchFamily="18" charset="0"/>
              </a:rPr>
              <a:t>标志位预测其成功，则</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lnSpc>
                <a:spcPct val="150000"/>
              </a:lnSpc>
              <a:spcAft>
                <a:spcPts val="0"/>
              </a:spcAft>
              <a:buFont typeface="Arial" pitchFamily="34" charset="0"/>
              <a:buChar char="–"/>
              <a:defRPr/>
            </a:pPr>
            <a:r>
              <a:rPr lang="zh-CN" altLang="en-US" sz="2400" b="1" dirty="0">
                <a:latin typeface="Times New Roman" panose="02020603050405020304" pitchFamily="18" charset="0"/>
                <a:ea typeface="+mj-ea"/>
                <a:cs typeface="Times New Roman" panose="02020603050405020304" pitchFamily="18" charset="0"/>
              </a:rPr>
              <a:t>一旦</a:t>
            </a:r>
            <a:r>
              <a:rPr lang="en-US" altLang="zh-CN" sz="2400" b="1" dirty="0">
                <a:latin typeface="Times New Roman" panose="02020603050405020304" pitchFamily="18" charset="0"/>
                <a:ea typeface="+mj-ea"/>
                <a:cs typeface="Times New Roman" panose="02020603050405020304" pitchFamily="18" charset="0"/>
              </a:rPr>
              <a:t>PC</a:t>
            </a:r>
            <a:r>
              <a:rPr lang="zh-CN" altLang="en-US" sz="2400" b="1" dirty="0">
                <a:latin typeface="Times New Roman" panose="02020603050405020304" pitchFamily="18" charset="0"/>
                <a:ea typeface="+mj-ea"/>
                <a:cs typeface="Times New Roman" panose="02020603050405020304" pitchFamily="18" charset="0"/>
              </a:rPr>
              <a:t>已知，立刻从分支目标位置开始取指</a:t>
            </a:r>
            <a:endParaRPr lang="en-US" altLang="zh-CN" sz="2400" b="1" dirty="0">
              <a:latin typeface="Times New Roman" panose="02020603050405020304" pitchFamily="18" charset="0"/>
              <a:ea typeface="+mj-ea"/>
              <a:cs typeface="Times New Roman" panose="02020603050405020304" pitchFamily="18" charset="0"/>
            </a:endParaRPr>
          </a:p>
          <a:p>
            <a:pPr marL="342000" lvl="1" indent="-342000" eaLnBrk="1" fontAlgn="auto" hangingPunct="1">
              <a:lnSpc>
                <a:spcPct val="150000"/>
              </a:lnSpc>
              <a:spcAft>
                <a:spcPts val="0"/>
              </a:spcAft>
              <a:buFont typeface="Arial" panose="020B0604020202020204" pitchFamily="34" charset="0"/>
              <a:buChar char="•"/>
              <a:defRPr/>
            </a:pPr>
            <a:r>
              <a:rPr lang="zh-CN" altLang="en-US" sz="2400" b="1" dirty="0">
                <a:latin typeface="Times New Roman" panose="02020603050405020304" pitchFamily="18" charset="0"/>
                <a:cs typeface="Times New Roman" panose="02020603050405020304" pitchFamily="18" charset="0"/>
              </a:rPr>
              <a:t>对于改进</a:t>
            </a:r>
            <a:r>
              <a:rPr lang="en-US" altLang="zh-CN" sz="2400" b="1" dirty="0">
                <a:latin typeface="Times New Roman" panose="02020603050405020304" pitchFamily="18" charset="0"/>
                <a:cs typeface="Times New Roman" panose="02020603050405020304" pitchFamily="18" charset="0"/>
              </a:rPr>
              <a:t>MIPS</a:t>
            </a:r>
            <a:r>
              <a:rPr lang="zh-CN" altLang="en-US" sz="2400" b="1" dirty="0">
                <a:latin typeface="Times New Roman" panose="02020603050405020304" pitchFamily="18" charset="0"/>
                <a:cs typeface="Times New Roman" panose="02020603050405020304" pitchFamily="18" charset="0"/>
              </a:rPr>
              <a:t>，分支判断和计算分支目标地址都在</a:t>
            </a:r>
            <a:r>
              <a:rPr lang="en-US" altLang="zh-CN" sz="2400" b="1" dirty="0">
                <a:latin typeface="Times New Roman" panose="02020603050405020304" pitchFamily="18" charset="0"/>
                <a:cs typeface="Times New Roman" panose="02020603050405020304" pitchFamily="18" charset="0"/>
              </a:rPr>
              <a:t>ID</a:t>
            </a:r>
            <a:r>
              <a:rPr lang="zh-CN" altLang="en-US" sz="2400" b="1" dirty="0">
                <a:latin typeface="Times New Roman" panose="02020603050405020304" pitchFamily="18" charset="0"/>
                <a:cs typeface="Times New Roman" panose="02020603050405020304" pitchFamily="18" charset="0"/>
              </a:rPr>
              <a:t>段完成，</a:t>
            </a:r>
            <a:r>
              <a:rPr lang="en-US" altLang="zh-CN" sz="2400" b="1" dirty="0">
                <a:latin typeface="Times New Roman" panose="02020603050405020304" pitchFamily="18" charset="0"/>
                <a:cs typeface="Times New Roman" panose="02020603050405020304" pitchFamily="18" charset="0"/>
              </a:rPr>
              <a:t>BPB</a:t>
            </a:r>
            <a:r>
              <a:rPr lang="zh-CN" altLang="en-US" sz="2400" b="1" dirty="0">
                <a:latin typeface="Times New Roman" panose="02020603050405020304" pitchFamily="18" charset="0"/>
                <a:cs typeface="Times New Roman" panose="02020603050405020304" pitchFamily="18" charset="0"/>
              </a:rPr>
              <a:t>无效果</a:t>
            </a:r>
            <a:endParaRPr lang="en-US" altLang="zh-CN" sz="2400" b="1" dirty="0">
              <a:latin typeface="Times New Roman" panose="02020603050405020304" pitchFamily="18" charset="0"/>
              <a:cs typeface="Times New Roman" panose="02020603050405020304" pitchFamily="18" charset="0"/>
            </a:endParaRPr>
          </a:p>
          <a:p>
            <a:pPr marL="457200" lvl="1" indent="0" eaLnBrk="1" fontAlgn="auto" hangingPunct="1">
              <a:spcAft>
                <a:spcPts val="0"/>
              </a:spcAft>
              <a:buNone/>
              <a:defRPr/>
            </a:pP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spcAft>
                <a:spcPts val="0"/>
              </a:spcAft>
              <a:buFont typeface="Arial" pitchFamily="34" charset="0"/>
              <a:buChar char="–"/>
              <a:defRPr/>
            </a:pPr>
            <a:endParaRPr lang="en-US" altLang="zh-CN" sz="2400" b="1" dirty="0">
              <a:latin typeface="Times New Roman" panose="02020603050405020304" pitchFamily="18" charset="0"/>
              <a:ea typeface="+mj-ea"/>
              <a:cs typeface="Times New Roman" panose="02020603050405020304" pitchFamily="18" charset="0"/>
            </a:endParaRPr>
          </a:p>
        </p:txBody>
      </p:sp>
      <p:sp>
        <p:nvSpPr>
          <p:cNvPr id="2" name="日期占位符 1">
            <a:extLst>
              <a:ext uri="{FF2B5EF4-FFF2-40B4-BE49-F238E27FC236}">
                <a16:creationId xmlns:a16="http://schemas.microsoft.com/office/drawing/2014/main" id="{CAE7E7C2-90FF-86F1-C21C-D6B49806AE8A}"/>
              </a:ext>
            </a:extLst>
          </p:cNvPr>
          <p:cNvSpPr>
            <a:spLocks noGrp="1"/>
          </p:cNvSpPr>
          <p:nvPr>
            <p:ph type="dt" sz="half" idx="10"/>
          </p:nvPr>
        </p:nvSpPr>
        <p:spPr/>
        <p:txBody>
          <a:bodyPr/>
          <a:lstStyle/>
          <a:p>
            <a:pPr>
              <a:defRPr/>
            </a:pPr>
            <a:fld id="{175E9074-B7F0-4712-8851-DA332CEEB35B}"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08534300-79B8-8232-7904-CE9D8EC68E91}"/>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10009D65-3F5D-BF55-AB4B-848629EFBA41}"/>
              </a:ext>
            </a:extLst>
          </p:cNvPr>
          <p:cNvSpPr>
            <a:spLocks noGrp="1"/>
          </p:cNvSpPr>
          <p:nvPr>
            <p:ph type="sldNum" sz="quarter" idx="12"/>
          </p:nvPr>
        </p:nvSpPr>
        <p:spPr/>
        <p:txBody>
          <a:bodyPr/>
          <a:lstStyle/>
          <a:p>
            <a:pPr>
              <a:defRPr/>
            </a:pPr>
            <a:fld id="{A5AE633C-541A-4E3F-A22A-3C4C63E8EF5F}" type="slidenum">
              <a:rPr lang="zh-CN" altLang="en-US" smtClean="0"/>
              <a:t>15</a:t>
            </a:fld>
            <a:endParaRPr lang="en-US" altLang="zh-CN"/>
          </a:p>
        </p:txBody>
      </p:sp>
    </p:spTree>
    <p:extLst>
      <p:ext uri="{BB962C8B-B14F-4D97-AF65-F5344CB8AC3E}">
        <p14:creationId xmlns:p14="http://schemas.microsoft.com/office/powerpoint/2010/main" val="1751160744"/>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a:xfrm>
            <a:off x="468313" y="414338"/>
            <a:ext cx="8229600" cy="1143000"/>
          </a:xfrm>
        </p:spPr>
        <p:txBody>
          <a:bodyPr rtlCol="0">
            <a:normAutofit/>
          </a:bodyPr>
          <a:lstStyle/>
          <a:p>
            <a:pPr eaLnBrk="1" fontAlgn="auto" hangingPunct="1">
              <a:spcAft>
                <a:spcPts val="0"/>
              </a:spcAft>
              <a:defRPr/>
            </a:pPr>
            <a:r>
              <a:rPr lang="en-US" altLang="zh-CN" sz="4000" b="1" dirty="0">
                <a:latin typeface="Times New Roman" panose="02020603050405020304" pitchFamily="18" charset="0"/>
                <a:cs typeface="Times New Roman" panose="02020603050405020304" pitchFamily="18" charset="0"/>
              </a:rPr>
              <a:t>4.3  </a:t>
            </a:r>
            <a:r>
              <a:rPr lang="zh-CN" altLang="en-US" sz="4000" b="1" dirty="0">
                <a:latin typeface="Times New Roman" panose="02020603050405020304" pitchFamily="18" charset="0"/>
                <a:cs typeface="Times New Roman" panose="02020603050405020304" pitchFamily="18" charset="0"/>
              </a:rPr>
              <a:t>控制相关的动态解决技术</a:t>
            </a:r>
          </a:p>
        </p:txBody>
      </p:sp>
      <p:sp>
        <p:nvSpPr>
          <p:cNvPr id="5123" name="Rectangle 2"/>
          <p:cNvSpPr>
            <a:spLocks noGrp="1" noChangeArrowheads="1"/>
          </p:cNvSpPr>
          <p:nvPr>
            <p:ph idx="1"/>
          </p:nvPr>
        </p:nvSpPr>
        <p:spPr>
          <a:xfrm>
            <a:off x="755650" y="2060575"/>
            <a:ext cx="7064375" cy="3313113"/>
          </a:xfrm>
        </p:spPr>
        <p:txBody>
          <a:bodyPr/>
          <a:lstStyle/>
          <a:p>
            <a:pPr marL="0" indent="0" eaLnBrk="1" hangingPunct="1">
              <a:spcBef>
                <a:spcPct val="50000"/>
              </a:spcBef>
              <a:buFont typeface="Arial" pitchFamily="34" charset="0"/>
              <a:buNone/>
            </a:pPr>
            <a:r>
              <a:rPr lang="en-US" altLang="zh-CN" sz="2800" b="1" dirty="0">
                <a:latin typeface="Times New Roman" pitchFamily="18" charset="0"/>
              </a:rPr>
              <a:t>4.3.1  </a:t>
            </a:r>
            <a:r>
              <a:rPr lang="zh-CN" altLang="en-US" sz="2800" b="1" dirty="0">
                <a:latin typeface="Times New Roman" pitchFamily="18" charset="0"/>
              </a:rPr>
              <a:t>分支预测缓冲</a:t>
            </a:r>
            <a:endParaRPr lang="en-US" altLang="zh-CN" sz="2800" b="1" dirty="0">
              <a:latin typeface="Times New Roman" pitchFamily="18" charset="0"/>
            </a:endParaRPr>
          </a:p>
          <a:p>
            <a:pPr marL="0" indent="0" eaLnBrk="1" hangingPunct="1">
              <a:spcBef>
                <a:spcPct val="50000"/>
              </a:spcBef>
              <a:buFont typeface="Arial" pitchFamily="34" charset="0"/>
              <a:buNone/>
            </a:pPr>
            <a:endParaRPr lang="zh-CN" altLang="en-US" sz="2800" b="1" dirty="0">
              <a:latin typeface="Times New Roman" pitchFamily="18" charset="0"/>
            </a:endParaRPr>
          </a:p>
          <a:p>
            <a:pPr marL="0" indent="0" eaLnBrk="1" hangingPunct="1">
              <a:spcBef>
                <a:spcPct val="50000"/>
              </a:spcBef>
              <a:buFont typeface="Arial" pitchFamily="34" charset="0"/>
              <a:buNone/>
            </a:pPr>
            <a:r>
              <a:rPr lang="en-US" altLang="zh-CN" sz="2800" b="1" u="sng" dirty="0">
                <a:latin typeface="Times New Roman" pitchFamily="18" charset="0"/>
              </a:rPr>
              <a:t>4.3.2  </a:t>
            </a:r>
            <a:r>
              <a:rPr lang="zh-CN" altLang="en-US" sz="2800" b="1" u="sng" dirty="0">
                <a:latin typeface="Times New Roman" pitchFamily="18" charset="0"/>
              </a:rPr>
              <a:t>分支目标缓冲</a:t>
            </a:r>
            <a:endParaRPr lang="en-US" altLang="zh-CN" sz="2800" b="1" u="sng" dirty="0">
              <a:latin typeface="Times New Roman" pitchFamily="18" charset="0"/>
            </a:endParaRPr>
          </a:p>
          <a:p>
            <a:pPr marL="0" indent="0" eaLnBrk="1" hangingPunct="1">
              <a:spcBef>
                <a:spcPct val="50000"/>
              </a:spcBef>
              <a:buFont typeface="Arial" pitchFamily="34" charset="0"/>
              <a:buNone/>
            </a:pPr>
            <a:endParaRPr lang="en-US" altLang="zh-CN" sz="2800" b="1" dirty="0">
              <a:latin typeface="Times New Roman" pitchFamily="18" charset="0"/>
            </a:endParaRPr>
          </a:p>
          <a:p>
            <a:pPr marL="0" indent="0" eaLnBrk="1" hangingPunct="1">
              <a:spcBef>
                <a:spcPct val="50000"/>
              </a:spcBef>
              <a:buFont typeface="Arial" pitchFamily="34" charset="0"/>
              <a:buNone/>
            </a:pPr>
            <a:r>
              <a:rPr lang="en-US" altLang="zh-CN" sz="2800" b="1" dirty="0">
                <a:latin typeface="Times New Roman" pitchFamily="18" charset="0"/>
              </a:rPr>
              <a:t>4.3.3 </a:t>
            </a:r>
            <a:r>
              <a:rPr lang="zh-CN" altLang="en-US" sz="2800" b="1" dirty="0">
                <a:latin typeface="Times New Roman" pitchFamily="18" charset="0"/>
              </a:rPr>
              <a:t>基于硬件的前瞻执行</a:t>
            </a:r>
            <a:endParaRPr lang="en-US" altLang="zh-CN" sz="2800" b="1" dirty="0">
              <a:latin typeface="Times New Roman" pitchFamily="18" charset="0"/>
            </a:endParaRPr>
          </a:p>
          <a:p>
            <a:pPr marL="0" indent="0" eaLnBrk="1" hangingPunct="1">
              <a:spcBef>
                <a:spcPct val="50000"/>
              </a:spcBef>
              <a:buFont typeface="Arial" pitchFamily="34" charset="0"/>
              <a:buNone/>
            </a:pPr>
            <a:endParaRPr lang="en-US" altLang="zh-CN" sz="2800" b="1" dirty="0">
              <a:latin typeface="Times New Roman" pitchFamily="18" charset="0"/>
            </a:endParaRPr>
          </a:p>
          <a:p>
            <a:pPr marL="0" indent="0" eaLnBrk="1" hangingPunct="1">
              <a:spcBef>
                <a:spcPct val="50000"/>
              </a:spcBef>
              <a:buFont typeface="Arial" pitchFamily="34" charset="0"/>
              <a:buNone/>
            </a:pPr>
            <a:endParaRPr lang="en-US" altLang="zh-CN" b="1" dirty="0">
              <a:latin typeface="Times New Roman" pitchFamily="18" charset="0"/>
            </a:endParaRPr>
          </a:p>
        </p:txBody>
      </p:sp>
      <p:sp>
        <p:nvSpPr>
          <p:cNvPr id="2" name="日期占位符 1">
            <a:extLst>
              <a:ext uri="{FF2B5EF4-FFF2-40B4-BE49-F238E27FC236}">
                <a16:creationId xmlns:a16="http://schemas.microsoft.com/office/drawing/2014/main" id="{8169ADF5-299E-693A-8D6F-B3B29BE67AEB}"/>
              </a:ext>
            </a:extLst>
          </p:cNvPr>
          <p:cNvSpPr>
            <a:spLocks noGrp="1"/>
          </p:cNvSpPr>
          <p:nvPr>
            <p:ph type="dt" sz="half" idx="10"/>
          </p:nvPr>
        </p:nvSpPr>
        <p:spPr/>
        <p:txBody>
          <a:bodyPr/>
          <a:lstStyle/>
          <a:p>
            <a:pPr>
              <a:defRPr/>
            </a:pPr>
            <a:fld id="{DF566D3F-14BA-4045-93D8-A2354F0F936A}"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1AF480B9-EFC4-8C4E-16FF-265805590D4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3FD9E86-FF65-23F0-2B1C-BBF0B8AC022D}"/>
              </a:ext>
            </a:extLst>
          </p:cNvPr>
          <p:cNvSpPr>
            <a:spLocks noGrp="1"/>
          </p:cNvSpPr>
          <p:nvPr>
            <p:ph type="sldNum" sz="quarter" idx="12"/>
          </p:nvPr>
        </p:nvSpPr>
        <p:spPr/>
        <p:txBody>
          <a:bodyPr/>
          <a:lstStyle/>
          <a:p>
            <a:pPr>
              <a:defRPr/>
            </a:pPr>
            <a:fld id="{8BCAC33D-D29A-48B3-BCD6-381D3D720D26}" type="slidenum">
              <a:rPr lang="zh-CN" altLang="en-US" smtClean="0"/>
              <a:t>16</a:t>
            </a:fld>
            <a:endParaRPr lang="en-US" altLang="zh-CN"/>
          </a:p>
        </p:txBody>
      </p:sp>
    </p:spTree>
    <p:extLst>
      <p:ext uri="{BB962C8B-B14F-4D97-AF65-F5344CB8AC3E}">
        <p14:creationId xmlns:p14="http://schemas.microsoft.com/office/powerpoint/2010/main" val="2462432739"/>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2"/>
          <p:cNvSpPr>
            <a:spLocks noGrp="1" noChangeArrowheads="1"/>
          </p:cNvSpPr>
          <p:nvPr>
            <p:ph type="title" idx="4294967295"/>
          </p:nvPr>
        </p:nvSpPr>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4.3.2 </a:t>
            </a:r>
            <a:r>
              <a:rPr lang="zh-CN" altLang="en-US" sz="3600" b="1" dirty="0">
                <a:latin typeface="Times New Roman" panose="02020603050405020304" pitchFamily="18" charset="0"/>
                <a:cs typeface="Times New Roman" panose="02020603050405020304" pitchFamily="18" charset="0"/>
              </a:rPr>
              <a:t>分支目标缓冲</a:t>
            </a:r>
            <a:r>
              <a:rPr lang="en-US" altLang="zh-CN" sz="3600" b="1" dirty="0">
                <a:latin typeface="Times New Roman" panose="02020603050405020304" pitchFamily="18" charset="0"/>
                <a:cs typeface="Times New Roman" panose="02020603050405020304" pitchFamily="18" charset="0"/>
              </a:rPr>
              <a:t>(BTB) </a:t>
            </a:r>
            <a:endParaRPr lang="zh-CN" altLang="en-US" sz="3600" b="1" dirty="0">
              <a:latin typeface="Times New Roman" panose="02020603050405020304" pitchFamily="18" charset="0"/>
              <a:cs typeface="Times New Roman" panose="02020603050405020304" pitchFamily="18" charset="0"/>
            </a:endParaRPr>
          </a:p>
        </p:txBody>
      </p:sp>
      <p:sp>
        <p:nvSpPr>
          <p:cNvPr id="17411" name="Rectangle 13"/>
          <p:cNvSpPr>
            <a:spLocks noGrp="1" noChangeArrowheads="1"/>
          </p:cNvSpPr>
          <p:nvPr>
            <p:ph type="body" idx="4294967295"/>
          </p:nvPr>
        </p:nvSpPr>
        <p:spPr/>
        <p:txBody>
          <a:bodyPr/>
          <a:lstStyle/>
          <a:p>
            <a:pPr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另一个动态分支预测方法：分支目标缓冲</a:t>
            </a:r>
          </a:p>
          <a:p>
            <a:pPr lvl="1" eaLnBrk="1" hangingPunct="1">
              <a:lnSpc>
                <a:spcPct val="150000"/>
              </a:lnSpc>
              <a:buFont typeface="Arial" charset="0"/>
              <a:buChar char="–"/>
              <a:defRPr/>
            </a:pPr>
            <a:r>
              <a:rPr lang="en-US" altLang="zh-CN" sz="2400" b="1" dirty="0">
                <a:latin typeface="Times New Roman" panose="02020603050405020304" pitchFamily="18" charset="0"/>
                <a:ea typeface="+mj-ea"/>
                <a:cs typeface="Times New Roman" panose="02020603050405020304" pitchFamily="18" charset="0"/>
              </a:rPr>
              <a:t>Branch Target Buffer, BTB</a:t>
            </a:r>
          </a:p>
          <a:p>
            <a:pPr lvl="1"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为了减小或消除流水线的分支开销，我们需要在</a:t>
            </a:r>
            <a:r>
              <a:rPr lang="en-US" altLang="zh-CN" sz="2400" b="1" dirty="0">
                <a:latin typeface="Times New Roman" panose="02020603050405020304" pitchFamily="18" charset="0"/>
                <a:ea typeface="+mj-ea"/>
                <a:cs typeface="Times New Roman" panose="02020603050405020304" pitchFamily="18" charset="0"/>
              </a:rPr>
              <a:t>IF</a:t>
            </a:r>
            <a:r>
              <a:rPr lang="zh-CN" altLang="en-US" sz="2400" b="1" dirty="0">
                <a:latin typeface="Times New Roman" panose="02020603050405020304" pitchFamily="18" charset="0"/>
                <a:ea typeface="+mj-ea"/>
                <a:cs typeface="Times New Roman" panose="02020603050405020304" pitchFamily="18" charset="0"/>
              </a:rPr>
              <a:t>段结束前知道从哪个地址开始取下一条指令</a:t>
            </a:r>
          </a:p>
          <a:p>
            <a:pPr lvl="1"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换句话说，我们在</a:t>
            </a:r>
            <a:r>
              <a:rPr lang="en-US" altLang="zh-CN" sz="2400" b="1" dirty="0">
                <a:latin typeface="Times New Roman" panose="02020603050405020304" pitchFamily="18" charset="0"/>
                <a:ea typeface="+mj-ea"/>
                <a:cs typeface="Times New Roman" panose="02020603050405020304" pitchFamily="18" charset="0"/>
              </a:rPr>
              <a:t>IF</a:t>
            </a:r>
            <a:r>
              <a:rPr lang="zh-CN" altLang="en-US" sz="2400" b="1" dirty="0">
                <a:latin typeface="Times New Roman" panose="02020603050405020304" pitchFamily="18" charset="0"/>
                <a:ea typeface="+mj-ea"/>
                <a:cs typeface="Times New Roman" panose="02020603050405020304" pitchFamily="18" charset="0"/>
              </a:rPr>
              <a:t>段就需要知道这条未译码的指令是否为分支指令，并且如果它是分支指令，要尽快知道</a:t>
            </a:r>
            <a:r>
              <a:rPr lang="en-US" altLang="zh-CN" sz="2400" b="1" dirty="0">
                <a:latin typeface="Times New Roman" panose="02020603050405020304" pitchFamily="18" charset="0"/>
                <a:ea typeface="+mj-ea"/>
                <a:cs typeface="Times New Roman" panose="02020603050405020304" pitchFamily="18" charset="0"/>
              </a:rPr>
              <a:t>NPC</a:t>
            </a:r>
            <a:r>
              <a:rPr lang="zh-CN" altLang="en-US" sz="2400" b="1" dirty="0">
                <a:latin typeface="Times New Roman" panose="02020603050405020304" pitchFamily="18" charset="0"/>
                <a:ea typeface="+mj-ea"/>
                <a:cs typeface="Times New Roman" panose="02020603050405020304" pitchFamily="18" charset="0"/>
              </a:rPr>
              <a:t>值应当为多少</a:t>
            </a:r>
          </a:p>
        </p:txBody>
      </p:sp>
      <p:sp>
        <p:nvSpPr>
          <p:cNvPr id="2" name="日期占位符 1">
            <a:extLst>
              <a:ext uri="{FF2B5EF4-FFF2-40B4-BE49-F238E27FC236}">
                <a16:creationId xmlns:a16="http://schemas.microsoft.com/office/drawing/2014/main" id="{6BBE3BAB-0BEC-82E5-EB89-B1577AD5E717}"/>
              </a:ext>
            </a:extLst>
          </p:cNvPr>
          <p:cNvSpPr>
            <a:spLocks noGrp="1"/>
          </p:cNvSpPr>
          <p:nvPr>
            <p:ph type="dt" sz="half" idx="10"/>
          </p:nvPr>
        </p:nvSpPr>
        <p:spPr/>
        <p:txBody>
          <a:bodyPr/>
          <a:lstStyle/>
          <a:p>
            <a:pPr>
              <a:defRPr/>
            </a:pPr>
            <a:fld id="{03B3D6FB-3A27-4894-97F6-B118FEA7CF72}"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A91A7722-A642-7257-A82A-D149E1EDD364}"/>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73B082E0-E3CF-4045-E5A5-3D577BA429F7}"/>
              </a:ext>
            </a:extLst>
          </p:cNvPr>
          <p:cNvSpPr>
            <a:spLocks noGrp="1"/>
          </p:cNvSpPr>
          <p:nvPr>
            <p:ph type="sldNum" sz="quarter" idx="12"/>
          </p:nvPr>
        </p:nvSpPr>
        <p:spPr/>
        <p:txBody>
          <a:bodyPr/>
          <a:lstStyle/>
          <a:p>
            <a:pPr>
              <a:defRPr/>
            </a:pPr>
            <a:fld id="{A5AE633C-541A-4E3F-A22A-3C4C63E8EF5F}" type="slidenum">
              <a:rPr lang="zh-CN" altLang="en-US" smtClean="0"/>
              <a:t>17</a:t>
            </a:fld>
            <a:endParaRPr lang="en-US" altLang="zh-CN"/>
          </a:p>
        </p:txBody>
      </p:sp>
    </p:spTree>
    <p:extLst>
      <p:ext uri="{BB962C8B-B14F-4D97-AF65-F5344CB8AC3E}">
        <p14:creationId xmlns:p14="http://schemas.microsoft.com/office/powerpoint/2010/main" val="3036319181"/>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p:cNvSpPr>
            <a:spLocks noGrp="1" noChangeArrowheads="1"/>
          </p:cNvSpPr>
          <p:nvPr>
            <p:ph type="title" idx="4294967295"/>
          </p:nvPr>
        </p:nvSpPr>
        <p:spPr>
          <a:xfrm>
            <a:off x="457200" y="116632"/>
            <a:ext cx="8229600" cy="1143000"/>
          </a:xfrm>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BTB</a:t>
            </a:r>
            <a:r>
              <a:rPr lang="zh-CN" altLang="en-US" sz="3600" b="1" dirty="0">
                <a:latin typeface="Times New Roman" panose="02020603050405020304" pitchFamily="18" charset="0"/>
                <a:cs typeface="Times New Roman" panose="02020603050405020304" pitchFamily="18" charset="0"/>
              </a:rPr>
              <a:t>实现</a:t>
            </a:r>
          </a:p>
        </p:txBody>
      </p:sp>
      <p:sp>
        <p:nvSpPr>
          <p:cNvPr id="142346" name="Rectangle 10"/>
          <p:cNvSpPr>
            <a:spLocks noGrp="1" noChangeArrowheads="1"/>
          </p:cNvSpPr>
          <p:nvPr>
            <p:ph type="body" idx="4294967295"/>
          </p:nvPr>
        </p:nvSpPr>
        <p:spPr>
          <a:xfrm>
            <a:off x="457200" y="1259632"/>
            <a:ext cx="8229600" cy="5337720"/>
          </a:xfrm>
        </p:spPr>
        <p:txBody>
          <a:bodyPr rtlCol="0">
            <a:normAutofit lnSpcReduction="10000"/>
          </a:bodyPr>
          <a:lstStyle/>
          <a:p>
            <a:pPr eaLnBrk="1" fontAlgn="auto" hangingPunct="1">
              <a:lnSpc>
                <a:spcPct val="15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分支目标缓存</a:t>
            </a:r>
            <a:r>
              <a:rPr lang="en-US" altLang="zh-CN" sz="2400" b="1" dirty="0">
                <a:latin typeface="Times New Roman" panose="02020603050405020304" pitchFamily="18" charset="0"/>
                <a:ea typeface="+mj-ea"/>
                <a:cs typeface="Times New Roman" panose="02020603050405020304" pitchFamily="18" charset="0"/>
              </a:rPr>
              <a:t>BTB</a:t>
            </a:r>
            <a:r>
              <a:rPr lang="zh-CN" altLang="en-US" sz="2400" b="1" dirty="0">
                <a:latin typeface="Times New Roman" panose="02020603050405020304" pitchFamily="18" charset="0"/>
                <a:ea typeface="+mj-ea"/>
                <a:cs typeface="Times New Roman" panose="02020603050405020304" pitchFamily="18" charset="0"/>
              </a:rPr>
              <a:t>每个单元应该包括</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lnSpc>
                <a:spcPct val="15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分支指令的地址</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lnSpc>
                <a:spcPct val="15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分支目标的地址</a:t>
            </a:r>
            <a:endParaRPr lang="en-US" altLang="zh-CN" sz="2400" b="1" dirty="0">
              <a:latin typeface="Times New Roman" panose="02020603050405020304" pitchFamily="18" charset="0"/>
              <a:ea typeface="+mj-ea"/>
              <a:cs typeface="Times New Roman" panose="02020603050405020304" pitchFamily="18" charset="0"/>
            </a:endParaRPr>
          </a:p>
          <a:p>
            <a:pPr lvl="1" eaLnBrk="1" fontAlgn="auto" hangingPunct="1">
              <a:lnSpc>
                <a:spcPct val="15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分支预测标识</a:t>
            </a:r>
          </a:p>
          <a:p>
            <a:pPr eaLnBrk="1" fontAlgn="auto" hangingPunct="1">
              <a:lnSpc>
                <a:spcPct val="15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取指阶段，所有指令地址都与</a:t>
            </a:r>
            <a:r>
              <a:rPr lang="en-US" altLang="zh-CN" sz="2400" b="1" dirty="0">
                <a:latin typeface="Times New Roman" panose="02020603050405020304" pitchFamily="18" charset="0"/>
                <a:ea typeface="+mj-ea"/>
                <a:cs typeface="Times New Roman" panose="02020603050405020304" pitchFamily="18" charset="0"/>
              </a:rPr>
              <a:t>BTB</a:t>
            </a:r>
            <a:r>
              <a:rPr lang="zh-CN" altLang="en-US" sz="2400" b="1" dirty="0">
                <a:latin typeface="Times New Roman" panose="02020603050405020304" pitchFamily="18" charset="0"/>
                <a:ea typeface="+mj-ea"/>
                <a:cs typeface="Times New Roman" panose="02020603050405020304" pitchFamily="18" charset="0"/>
              </a:rPr>
              <a:t>中保存的分支指令的地址做比较，一旦相同，就认为本指令是分支指令，并且分支成功</a:t>
            </a:r>
            <a:endParaRPr lang="en-US" altLang="zh-CN" sz="2400" b="1" dirty="0">
              <a:latin typeface="Times New Roman" panose="02020603050405020304" pitchFamily="18" charset="0"/>
              <a:ea typeface="+mj-ea"/>
              <a:cs typeface="Times New Roman" panose="02020603050405020304" pitchFamily="18" charset="0"/>
            </a:endParaRPr>
          </a:p>
          <a:p>
            <a:pPr eaLnBrk="1" fontAlgn="auto" hangingPunct="1">
              <a:lnSpc>
                <a:spcPct val="15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它的目标地址就是保存在缓冲区中的分支目标地址</a:t>
            </a:r>
          </a:p>
          <a:p>
            <a:pPr lvl="1" eaLnBrk="1" fontAlgn="auto" hangingPunct="1">
              <a:lnSpc>
                <a:spcPct val="150000"/>
              </a:lnSpc>
              <a:spcAft>
                <a:spcPts val="0"/>
              </a:spcAft>
              <a:defRPr/>
            </a:pPr>
            <a:r>
              <a:rPr lang="zh-CN" altLang="en-US" sz="2400" b="1" dirty="0">
                <a:latin typeface="Times New Roman" panose="02020603050405020304" pitchFamily="18" charset="0"/>
                <a:ea typeface="+mj-ea"/>
                <a:cs typeface="Times New Roman" panose="02020603050405020304" pitchFamily="18" charset="0"/>
              </a:rPr>
              <a:t>取出后直接送入</a:t>
            </a:r>
            <a:r>
              <a:rPr lang="en-US" altLang="zh-CN" sz="2400" b="1" dirty="0">
                <a:latin typeface="Times New Roman" panose="02020603050405020304" pitchFamily="18" charset="0"/>
                <a:ea typeface="+mj-ea"/>
                <a:cs typeface="Times New Roman" panose="02020603050405020304" pitchFamily="18" charset="0"/>
              </a:rPr>
              <a:t>NPC</a:t>
            </a:r>
            <a:endParaRPr lang="zh-CN" altLang="en-US" sz="2400" b="1" dirty="0">
              <a:latin typeface="Times New Roman" panose="02020603050405020304" pitchFamily="18" charset="0"/>
              <a:ea typeface="+mj-ea"/>
              <a:cs typeface="Times New Roman" panose="02020603050405020304" pitchFamily="18" charset="0"/>
            </a:endParaRPr>
          </a:p>
        </p:txBody>
      </p:sp>
      <p:sp>
        <p:nvSpPr>
          <p:cNvPr id="2" name="日期占位符 1">
            <a:extLst>
              <a:ext uri="{FF2B5EF4-FFF2-40B4-BE49-F238E27FC236}">
                <a16:creationId xmlns:a16="http://schemas.microsoft.com/office/drawing/2014/main" id="{3CCAD206-AA5D-63B0-C26F-BB07480A0F53}"/>
              </a:ext>
            </a:extLst>
          </p:cNvPr>
          <p:cNvSpPr>
            <a:spLocks noGrp="1"/>
          </p:cNvSpPr>
          <p:nvPr>
            <p:ph type="dt" sz="half" idx="10"/>
          </p:nvPr>
        </p:nvSpPr>
        <p:spPr/>
        <p:txBody>
          <a:bodyPr/>
          <a:lstStyle/>
          <a:p>
            <a:pPr>
              <a:defRPr/>
            </a:pPr>
            <a:fld id="{F82E1238-1B6E-4FF5-8C7D-FF8D7DCB2592}"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01B255F4-CCB8-0AC1-6AAC-8B6984AB4F82}"/>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BA3FE790-87A9-9A32-7365-8DE259B7B1F1}"/>
              </a:ext>
            </a:extLst>
          </p:cNvPr>
          <p:cNvSpPr>
            <a:spLocks noGrp="1"/>
          </p:cNvSpPr>
          <p:nvPr>
            <p:ph type="sldNum" sz="quarter" idx="12"/>
          </p:nvPr>
        </p:nvSpPr>
        <p:spPr/>
        <p:txBody>
          <a:bodyPr/>
          <a:lstStyle/>
          <a:p>
            <a:pPr>
              <a:defRPr/>
            </a:pPr>
            <a:fld id="{A5AE633C-541A-4E3F-A22A-3C4C63E8EF5F}" type="slidenum">
              <a:rPr lang="zh-CN" altLang="en-US" smtClean="0"/>
              <a:t>18</a:t>
            </a:fld>
            <a:endParaRPr lang="en-US" altLang="zh-CN"/>
          </a:p>
        </p:txBody>
      </p:sp>
    </p:spTree>
    <p:extLst>
      <p:ext uri="{BB962C8B-B14F-4D97-AF65-F5344CB8AC3E}">
        <p14:creationId xmlns:p14="http://schemas.microsoft.com/office/powerpoint/2010/main" val="1746325199"/>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idx="4294967295"/>
          </p:nvPr>
        </p:nvSpPr>
        <p:spPr>
          <a:xfrm>
            <a:off x="457200" y="44624"/>
            <a:ext cx="8229600" cy="1143000"/>
          </a:xfrm>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BTB </a:t>
            </a:r>
            <a:r>
              <a:rPr lang="zh-CN" altLang="en-US" sz="3600" b="1" dirty="0">
                <a:latin typeface="Times New Roman" panose="02020603050405020304" pitchFamily="18" charset="0"/>
                <a:cs typeface="Times New Roman" panose="02020603050405020304" pitchFamily="18" charset="0"/>
              </a:rPr>
              <a:t>结构</a:t>
            </a:r>
          </a:p>
        </p:txBody>
      </p:sp>
      <p:graphicFrame>
        <p:nvGraphicFramePr>
          <p:cNvPr id="20483" name="对象 4"/>
          <p:cNvGraphicFramePr>
            <a:graphicFrameLocks noChangeAspect="1"/>
          </p:cNvGraphicFramePr>
          <p:nvPr/>
        </p:nvGraphicFramePr>
        <p:xfrm>
          <a:off x="557213" y="1241425"/>
          <a:ext cx="8239125" cy="4975225"/>
        </p:xfrm>
        <a:graphic>
          <a:graphicData uri="http://schemas.openxmlformats.org/presentationml/2006/ole">
            <mc:AlternateContent xmlns:mc="http://schemas.openxmlformats.org/markup-compatibility/2006">
              <mc:Choice xmlns:v="urn:schemas-microsoft-com:vml" Requires="v">
                <p:oleObj name="Picture" r:id="rId2" imgW="4648320" imgH="2781360" progId="Word.Picture.8">
                  <p:embed/>
                </p:oleObj>
              </mc:Choice>
              <mc:Fallback>
                <p:oleObj name="Picture" r:id="rId2" imgW="4648320" imgH="2781360" progId="Word.Picture.8">
                  <p:embed/>
                  <p:pic>
                    <p:nvPicPr>
                      <p:cNvPr id="20483" name="对象 4"/>
                      <p:cNvPicPr>
                        <a:picLocks noChangeAspect="1" noChangeArrowheads="1"/>
                      </p:cNvPicPr>
                      <p:nvPr/>
                    </p:nvPicPr>
                    <p:blipFill>
                      <a:blip r:embed="rId3"/>
                      <a:srcRect/>
                      <a:stretch>
                        <a:fillRect/>
                      </a:stretch>
                    </p:blipFill>
                    <p:spPr bwMode="auto">
                      <a:xfrm>
                        <a:off x="557213" y="1241425"/>
                        <a:ext cx="8239125" cy="497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日期占位符 1">
            <a:extLst>
              <a:ext uri="{FF2B5EF4-FFF2-40B4-BE49-F238E27FC236}">
                <a16:creationId xmlns:a16="http://schemas.microsoft.com/office/drawing/2014/main" id="{99FFFF5B-DCA1-833D-83E4-70019654690D}"/>
              </a:ext>
            </a:extLst>
          </p:cNvPr>
          <p:cNvSpPr>
            <a:spLocks noGrp="1"/>
          </p:cNvSpPr>
          <p:nvPr>
            <p:ph type="dt" sz="half" idx="10"/>
          </p:nvPr>
        </p:nvSpPr>
        <p:spPr/>
        <p:txBody>
          <a:bodyPr/>
          <a:lstStyle/>
          <a:p>
            <a:pPr>
              <a:defRPr/>
            </a:pPr>
            <a:fld id="{57BE635D-2B30-46FE-9629-02572501C0CA}"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F91ECEF9-1A09-5656-A214-E5F85B83875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E9E2FED8-AF4A-CF9D-9CC2-3280C9E1BAF0}"/>
              </a:ext>
            </a:extLst>
          </p:cNvPr>
          <p:cNvSpPr>
            <a:spLocks noGrp="1"/>
          </p:cNvSpPr>
          <p:nvPr>
            <p:ph type="sldNum" sz="quarter" idx="12"/>
          </p:nvPr>
        </p:nvSpPr>
        <p:spPr/>
        <p:txBody>
          <a:bodyPr/>
          <a:lstStyle/>
          <a:p>
            <a:pPr>
              <a:defRPr/>
            </a:pPr>
            <a:fld id="{A5AE633C-541A-4E3F-A22A-3C4C63E8EF5F}" type="slidenum">
              <a:rPr lang="zh-CN" altLang="en-US" smtClean="0"/>
              <a:t>19</a:t>
            </a:fld>
            <a:endParaRPr lang="en-US" altLang="zh-CN"/>
          </a:p>
        </p:txBody>
      </p:sp>
    </p:spTree>
    <p:extLst>
      <p:ext uri="{BB962C8B-B14F-4D97-AF65-F5344CB8AC3E}">
        <p14:creationId xmlns:p14="http://schemas.microsoft.com/office/powerpoint/2010/main" val="1307353609"/>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idx="4294967295"/>
          </p:nvPr>
        </p:nvSpPr>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BTB </a:t>
            </a:r>
            <a:r>
              <a:rPr lang="zh-CN" altLang="en-US" sz="3600" b="1" dirty="0">
                <a:latin typeface="Times New Roman" panose="02020603050405020304" pitchFamily="18" charset="0"/>
                <a:cs typeface="Times New Roman" panose="02020603050405020304" pitchFamily="18" charset="0"/>
              </a:rPr>
              <a:t>执行过程</a:t>
            </a:r>
          </a:p>
        </p:txBody>
      </p:sp>
      <p:graphicFrame>
        <p:nvGraphicFramePr>
          <p:cNvPr id="21507" name="对象 3"/>
          <p:cNvGraphicFramePr>
            <a:graphicFrameLocks noChangeAspect="1"/>
          </p:cNvGraphicFramePr>
          <p:nvPr/>
        </p:nvGraphicFramePr>
        <p:xfrm>
          <a:off x="1020763" y="1552575"/>
          <a:ext cx="7037387" cy="4456113"/>
        </p:xfrm>
        <a:graphic>
          <a:graphicData uri="http://schemas.openxmlformats.org/presentationml/2006/ole">
            <mc:AlternateContent xmlns:mc="http://schemas.openxmlformats.org/markup-compatibility/2006">
              <mc:Choice xmlns:v="urn:schemas-microsoft-com:vml" Requires="v">
                <p:oleObj name="Picture" r:id="rId2" imgW="4629240" imgH="2905200" progId="Word.Picture.8">
                  <p:embed/>
                </p:oleObj>
              </mc:Choice>
              <mc:Fallback>
                <p:oleObj name="Picture" r:id="rId2" imgW="4629240" imgH="2905200" progId="Word.Picture.8">
                  <p:embed/>
                  <p:pic>
                    <p:nvPicPr>
                      <p:cNvPr id="21507" name="对象 3"/>
                      <p:cNvPicPr>
                        <a:picLocks noChangeAspect="1" noChangeArrowheads="1"/>
                      </p:cNvPicPr>
                      <p:nvPr/>
                    </p:nvPicPr>
                    <p:blipFill>
                      <a:blip r:embed="rId3"/>
                      <a:srcRect/>
                      <a:stretch>
                        <a:fillRect/>
                      </a:stretch>
                    </p:blipFill>
                    <p:spPr bwMode="auto">
                      <a:xfrm>
                        <a:off x="1020763" y="1552575"/>
                        <a:ext cx="7037387" cy="445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日期占位符 1">
            <a:extLst>
              <a:ext uri="{FF2B5EF4-FFF2-40B4-BE49-F238E27FC236}">
                <a16:creationId xmlns:a16="http://schemas.microsoft.com/office/drawing/2014/main" id="{FDF26507-A2B6-A65A-CE44-3FF0D712065C}"/>
              </a:ext>
            </a:extLst>
          </p:cNvPr>
          <p:cNvSpPr>
            <a:spLocks noGrp="1"/>
          </p:cNvSpPr>
          <p:nvPr>
            <p:ph type="dt" sz="half" idx="10"/>
          </p:nvPr>
        </p:nvSpPr>
        <p:spPr/>
        <p:txBody>
          <a:bodyPr/>
          <a:lstStyle/>
          <a:p>
            <a:pPr>
              <a:defRPr/>
            </a:pPr>
            <a:fld id="{E0AD28C9-D652-4268-A796-896A75DDF841}"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C10A8E73-F211-22BE-5B81-161DFDF8B063}"/>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5089BB08-EADF-BFD0-87D1-D84512C0225C}"/>
              </a:ext>
            </a:extLst>
          </p:cNvPr>
          <p:cNvSpPr>
            <a:spLocks noGrp="1"/>
          </p:cNvSpPr>
          <p:nvPr>
            <p:ph type="sldNum" sz="quarter" idx="12"/>
          </p:nvPr>
        </p:nvSpPr>
        <p:spPr/>
        <p:txBody>
          <a:bodyPr/>
          <a:lstStyle/>
          <a:p>
            <a:pPr>
              <a:defRPr/>
            </a:pPr>
            <a:fld id="{A5AE633C-541A-4E3F-A22A-3C4C63E8EF5F}" type="slidenum">
              <a:rPr lang="zh-CN" altLang="en-US" smtClean="0"/>
              <a:t>20</a:t>
            </a:fld>
            <a:endParaRPr lang="en-US" altLang="zh-CN"/>
          </a:p>
        </p:txBody>
      </p:sp>
    </p:spTree>
    <p:extLst>
      <p:ext uri="{BB962C8B-B14F-4D97-AF65-F5344CB8AC3E}">
        <p14:creationId xmlns:p14="http://schemas.microsoft.com/office/powerpoint/2010/main" val="3735103190"/>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44" name="Rectangle 12"/>
          <p:cNvSpPr>
            <a:spLocks noGrp="1" noChangeArrowheads="1"/>
          </p:cNvSpPr>
          <p:nvPr>
            <p:ph type="body" idx="4294967295"/>
          </p:nvPr>
        </p:nvSpPr>
        <p:spPr>
          <a:xfrm>
            <a:off x="323528" y="2564904"/>
            <a:ext cx="8003232" cy="4093915"/>
          </a:xfrm>
        </p:spPr>
        <p:txBody>
          <a:bodyPr rtlCol="0">
            <a:normAutofit lnSpcReduction="10000"/>
          </a:bodyPr>
          <a:lstStyle/>
          <a:p>
            <a:pPr marL="194400" lvl="2" indent="0" eaLnBrk="1" fontAlgn="auto" hangingPunct="1">
              <a:spcAft>
                <a:spcPts val="0"/>
              </a:spcAft>
              <a:buNone/>
              <a:defRPr/>
            </a:pPr>
            <a:r>
              <a:rPr lang="zh-CN" altLang="en-US" sz="2000" b="1" dirty="0">
                <a:latin typeface="Times New Roman" panose="02020603050405020304" pitchFamily="18" charset="0"/>
                <a:ea typeface="+mj-ea"/>
                <a:cs typeface="Times New Roman" panose="02020603050405020304" pitchFamily="18" charset="0"/>
              </a:rPr>
              <a:t>按上表计算分支转移总的延迟，根据下面假设，计算分支目标缓冲的性能。</a:t>
            </a:r>
            <a:endParaRPr lang="en-US" altLang="zh-CN" sz="2000" b="1" dirty="0">
              <a:latin typeface="Times New Roman" panose="02020603050405020304" pitchFamily="18" charset="0"/>
              <a:ea typeface="+mj-ea"/>
              <a:cs typeface="Times New Roman" panose="02020603050405020304" pitchFamily="18" charset="0"/>
            </a:endParaRPr>
          </a:p>
          <a:p>
            <a:pPr marL="194400" lvl="2" indent="0" eaLnBrk="1" fontAlgn="auto" hangingPunct="1">
              <a:spcAft>
                <a:spcPts val="0"/>
              </a:spcAft>
              <a:buNone/>
              <a:defRPr/>
            </a:pPr>
            <a:r>
              <a:rPr lang="zh-CN" altLang="en-US" sz="2000" b="1" dirty="0">
                <a:latin typeface="Times New Roman" panose="02020603050405020304" pitchFamily="18" charset="0"/>
                <a:ea typeface="+mj-ea"/>
                <a:cs typeface="Times New Roman" panose="02020603050405020304" pitchFamily="18" charset="0"/>
              </a:rPr>
              <a:t>（</a:t>
            </a:r>
            <a:r>
              <a:rPr lang="en-US" altLang="zh-CN" sz="2000" b="1" dirty="0">
                <a:latin typeface="Times New Roman" panose="02020603050405020304" pitchFamily="18" charset="0"/>
                <a:ea typeface="+mj-ea"/>
                <a:cs typeface="Times New Roman" panose="02020603050405020304" pitchFamily="18" charset="0"/>
              </a:rPr>
              <a:t>1</a:t>
            </a:r>
            <a:r>
              <a:rPr lang="zh-CN" altLang="en-US" sz="2000" b="1" dirty="0">
                <a:latin typeface="Times New Roman" panose="02020603050405020304" pitchFamily="18" charset="0"/>
                <a:ea typeface="+mj-ea"/>
                <a:cs typeface="Times New Roman" panose="02020603050405020304" pitchFamily="18" charset="0"/>
              </a:rPr>
              <a:t>）对于</a:t>
            </a:r>
            <a:r>
              <a:rPr lang="en-US" altLang="zh-CN" sz="2000" b="1" dirty="0">
                <a:latin typeface="Times New Roman" panose="02020603050405020304" pitchFamily="18" charset="0"/>
                <a:ea typeface="+mj-ea"/>
                <a:cs typeface="Times New Roman" panose="02020603050405020304" pitchFamily="18" charset="0"/>
              </a:rPr>
              <a:t>BTB</a:t>
            </a:r>
            <a:r>
              <a:rPr lang="zh-CN" altLang="en-US" sz="2000" b="1" dirty="0">
                <a:latin typeface="Times New Roman" panose="02020603050405020304" pitchFamily="18" charset="0"/>
                <a:ea typeface="+mj-ea"/>
                <a:cs typeface="Times New Roman" panose="02020603050405020304" pitchFamily="18" charset="0"/>
              </a:rPr>
              <a:t>中的指令，预测准确率</a:t>
            </a:r>
            <a:r>
              <a:rPr lang="en-US" altLang="zh-CN" sz="2000" b="1" dirty="0">
                <a:latin typeface="Times New Roman" panose="02020603050405020304" pitchFamily="18" charset="0"/>
                <a:ea typeface="+mj-ea"/>
                <a:cs typeface="Times New Roman" panose="02020603050405020304" pitchFamily="18" charset="0"/>
              </a:rPr>
              <a:t>90%</a:t>
            </a:r>
          </a:p>
          <a:p>
            <a:pPr marL="194400" lvl="2" indent="0" eaLnBrk="1" fontAlgn="auto" hangingPunct="1">
              <a:spcAft>
                <a:spcPts val="0"/>
              </a:spcAft>
              <a:buNone/>
              <a:defRPr/>
            </a:pPr>
            <a:r>
              <a:rPr lang="zh-CN" altLang="en-US" sz="2000" b="1" dirty="0">
                <a:latin typeface="Times New Roman" panose="02020603050405020304" pitchFamily="18" charset="0"/>
                <a:ea typeface="+mj-ea"/>
                <a:cs typeface="Times New Roman" panose="02020603050405020304" pitchFamily="18" charset="0"/>
              </a:rPr>
              <a:t>（</a:t>
            </a:r>
            <a:r>
              <a:rPr lang="en-US" altLang="zh-CN" sz="2000" b="1" dirty="0">
                <a:latin typeface="Times New Roman" panose="02020603050405020304" pitchFamily="18" charset="0"/>
                <a:ea typeface="+mj-ea"/>
                <a:cs typeface="Times New Roman" panose="02020603050405020304" pitchFamily="18" charset="0"/>
              </a:rPr>
              <a:t>2</a:t>
            </a:r>
            <a:r>
              <a:rPr lang="zh-CN" altLang="en-US" sz="2000" b="1" dirty="0">
                <a:latin typeface="Times New Roman" panose="02020603050405020304" pitchFamily="18" charset="0"/>
                <a:ea typeface="+mj-ea"/>
                <a:cs typeface="Times New Roman" panose="02020603050405020304" pitchFamily="18" charset="0"/>
              </a:rPr>
              <a:t>）缓冲区命中率</a:t>
            </a:r>
            <a:r>
              <a:rPr lang="en-US" altLang="zh-CN" sz="2000" b="1" dirty="0">
                <a:latin typeface="Times New Roman" panose="02020603050405020304" pitchFamily="18" charset="0"/>
                <a:ea typeface="+mj-ea"/>
                <a:cs typeface="Times New Roman" panose="02020603050405020304" pitchFamily="18" charset="0"/>
              </a:rPr>
              <a:t>90%</a:t>
            </a:r>
          </a:p>
          <a:p>
            <a:pPr marL="194400" lvl="2" indent="0" eaLnBrk="1" fontAlgn="auto" hangingPunct="1">
              <a:spcAft>
                <a:spcPts val="0"/>
              </a:spcAft>
              <a:buNone/>
              <a:defRPr/>
            </a:pPr>
            <a:r>
              <a:rPr lang="zh-CN" altLang="en-US" sz="2000" b="1" dirty="0">
                <a:latin typeface="Times New Roman" panose="02020603050405020304" pitchFamily="18" charset="0"/>
                <a:ea typeface="+mj-ea"/>
                <a:cs typeface="Times New Roman" panose="02020603050405020304" pitchFamily="18" charset="0"/>
              </a:rPr>
              <a:t>（</a:t>
            </a:r>
            <a:r>
              <a:rPr lang="en-US" altLang="zh-CN" sz="2000" b="1" dirty="0">
                <a:latin typeface="Times New Roman" panose="02020603050405020304" pitchFamily="18" charset="0"/>
                <a:ea typeface="+mj-ea"/>
                <a:cs typeface="Times New Roman" panose="02020603050405020304" pitchFamily="18" charset="0"/>
              </a:rPr>
              <a:t>3</a:t>
            </a:r>
            <a:r>
              <a:rPr lang="zh-CN" altLang="en-US" sz="2000" b="1" dirty="0">
                <a:latin typeface="Times New Roman" panose="02020603050405020304" pitchFamily="18" charset="0"/>
                <a:ea typeface="+mj-ea"/>
                <a:cs typeface="Times New Roman" panose="02020603050405020304" pitchFamily="18" charset="0"/>
              </a:rPr>
              <a:t>）不在</a:t>
            </a:r>
            <a:r>
              <a:rPr lang="en-US" altLang="zh-CN" sz="2000" b="1" dirty="0">
                <a:latin typeface="Times New Roman" panose="02020603050405020304" pitchFamily="18" charset="0"/>
                <a:ea typeface="+mj-ea"/>
                <a:cs typeface="Times New Roman" panose="02020603050405020304" pitchFamily="18" charset="0"/>
              </a:rPr>
              <a:t>BTB</a:t>
            </a:r>
            <a:r>
              <a:rPr lang="zh-CN" altLang="en-US" sz="2000" b="1" dirty="0">
                <a:latin typeface="Times New Roman" panose="02020603050405020304" pitchFamily="18" charset="0"/>
                <a:ea typeface="+mj-ea"/>
                <a:cs typeface="Times New Roman" panose="02020603050405020304" pitchFamily="18" charset="0"/>
              </a:rPr>
              <a:t>中的分支转移成功的比例为</a:t>
            </a:r>
            <a:r>
              <a:rPr lang="en-US" altLang="zh-CN" sz="2000" b="1" dirty="0">
                <a:latin typeface="Times New Roman" panose="02020603050405020304" pitchFamily="18" charset="0"/>
                <a:ea typeface="+mj-ea"/>
                <a:cs typeface="Times New Roman" panose="02020603050405020304" pitchFamily="18" charset="0"/>
              </a:rPr>
              <a:t>60%</a:t>
            </a:r>
          </a:p>
          <a:p>
            <a:pPr marL="194400" lvl="2" indent="0" eaLnBrk="1" fontAlgn="auto" hangingPunct="1">
              <a:spcAft>
                <a:spcPts val="0"/>
              </a:spcAft>
              <a:buNone/>
              <a:defRPr/>
            </a:pPr>
            <a:r>
              <a:rPr lang="zh-CN" altLang="en-US" sz="2000" b="1" dirty="0">
                <a:latin typeface="Times New Roman" panose="02020603050405020304" pitchFamily="18" charset="0"/>
                <a:ea typeface="+mj-ea"/>
                <a:cs typeface="Times New Roman" panose="02020603050405020304" pitchFamily="18" charset="0"/>
              </a:rPr>
              <a:t>解：在</a:t>
            </a:r>
            <a:r>
              <a:rPr lang="en-US" altLang="zh-CN" sz="2000" b="1" dirty="0">
                <a:latin typeface="Times New Roman" panose="02020603050405020304" pitchFamily="18" charset="0"/>
                <a:ea typeface="+mj-ea"/>
                <a:cs typeface="Times New Roman" panose="02020603050405020304" pitchFamily="18" charset="0"/>
              </a:rPr>
              <a:t>BTB</a:t>
            </a:r>
            <a:r>
              <a:rPr lang="zh-CN" altLang="en-US" sz="2000" b="1" dirty="0">
                <a:latin typeface="Times New Roman" panose="02020603050405020304" pitchFamily="18" charset="0"/>
                <a:ea typeface="+mj-ea"/>
                <a:cs typeface="Times New Roman" panose="02020603050405020304" pitchFamily="18" charset="0"/>
              </a:rPr>
              <a:t>中，预测成功且实际成功，延迟为 </a:t>
            </a:r>
            <a:r>
              <a:rPr lang="en-US" altLang="zh-CN" sz="2000" b="1" dirty="0">
                <a:latin typeface="Times New Roman" panose="02020603050405020304" pitchFamily="18" charset="0"/>
                <a:ea typeface="+mj-ea"/>
                <a:cs typeface="Times New Roman" panose="02020603050405020304" pitchFamily="18" charset="0"/>
              </a:rPr>
              <a:t>0</a:t>
            </a:r>
            <a:r>
              <a:rPr lang="zh-CN" altLang="en-US" sz="2000" b="1" dirty="0">
                <a:latin typeface="Times New Roman" panose="02020603050405020304" pitchFamily="18" charset="0"/>
                <a:ea typeface="+mj-ea"/>
                <a:cs typeface="Times New Roman" panose="02020603050405020304" pitchFamily="18" charset="0"/>
              </a:rPr>
              <a:t>；</a:t>
            </a:r>
            <a:endParaRPr lang="en-US" altLang="zh-CN" sz="2000" b="1" dirty="0">
              <a:latin typeface="Times New Roman" panose="02020603050405020304" pitchFamily="18" charset="0"/>
              <a:ea typeface="+mj-ea"/>
              <a:cs typeface="Times New Roman" panose="02020603050405020304" pitchFamily="18" charset="0"/>
            </a:endParaRPr>
          </a:p>
          <a:p>
            <a:pPr marL="194400" lvl="2" indent="0" eaLnBrk="1" fontAlgn="auto" hangingPunct="1">
              <a:spcAft>
                <a:spcPts val="0"/>
              </a:spcAft>
              <a:buNone/>
              <a:defRPr/>
            </a:pPr>
            <a:r>
              <a:rPr lang="en-US" altLang="zh-CN" sz="2000" b="1" dirty="0">
                <a:latin typeface="Times New Roman" panose="02020603050405020304" pitchFamily="18" charset="0"/>
                <a:ea typeface="+mj-ea"/>
                <a:cs typeface="Times New Roman" panose="02020603050405020304" pitchFamily="18" charset="0"/>
              </a:rPr>
              <a:t>        </a:t>
            </a:r>
            <a:r>
              <a:rPr lang="zh-CN" altLang="en-US" sz="2000" b="1" dirty="0">
                <a:latin typeface="Times New Roman" panose="02020603050405020304" pitchFamily="18" charset="0"/>
                <a:ea typeface="+mj-ea"/>
                <a:cs typeface="Times New Roman" panose="02020603050405020304" pitchFamily="18" charset="0"/>
              </a:rPr>
              <a:t>在</a:t>
            </a:r>
            <a:r>
              <a:rPr lang="en-US" altLang="zh-CN" sz="2000" b="1" dirty="0">
                <a:latin typeface="Times New Roman" panose="02020603050405020304" pitchFamily="18" charset="0"/>
                <a:ea typeface="+mj-ea"/>
                <a:cs typeface="Times New Roman" panose="02020603050405020304" pitchFamily="18" charset="0"/>
              </a:rPr>
              <a:t>BTB</a:t>
            </a:r>
            <a:r>
              <a:rPr lang="zh-CN" altLang="en-US" sz="2000" b="1" dirty="0">
                <a:latin typeface="Times New Roman" panose="02020603050405020304" pitchFamily="18" charset="0"/>
                <a:ea typeface="+mj-ea"/>
                <a:cs typeface="Times New Roman" panose="02020603050405020304" pitchFamily="18" charset="0"/>
              </a:rPr>
              <a:t>中，预测成功，实际不成功，延迟为：</a:t>
            </a:r>
            <a:endParaRPr lang="en-US" altLang="zh-CN" sz="2000" b="1" dirty="0">
              <a:latin typeface="Times New Roman" panose="02020603050405020304" pitchFamily="18" charset="0"/>
              <a:ea typeface="+mj-ea"/>
              <a:cs typeface="Times New Roman" panose="02020603050405020304" pitchFamily="18" charset="0"/>
            </a:endParaRPr>
          </a:p>
          <a:p>
            <a:pPr marL="194400" lvl="2" indent="0" eaLnBrk="1" fontAlgn="auto" hangingPunct="1">
              <a:spcAft>
                <a:spcPts val="0"/>
              </a:spcAft>
              <a:buNone/>
              <a:defRPr/>
            </a:pPr>
            <a:r>
              <a:rPr lang="en-US" altLang="zh-CN" sz="2000" b="1" dirty="0">
                <a:latin typeface="Times New Roman" panose="02020603050405020304" pitchFamily="18" charset="0"/>
                <a:ea typeface="+mj-ea"/>
                <a:cs typeface="Times New Roman" panose="02020603050405020304" pitchFamily="18" charset="0"/>
              </a:rPr>
              <a:t>             90%×10%</a:t>
            </a:r>
            <a:r>
              <a:rPr lang="en-US" altLang="zh-CN" sz="2000" b="1" dirty="0">
                <a:latin typeface="Times New Roman" panose="02020603050405020304" pitchFamily="18" charset="0"/>
                <a:cs typeface="Times New Roman" panose="02020603050405020304" pitchFamily="18" charset="0"/>
              </a:rPr>
              <a:t>×2=0.18 </a:t>
            </a:r>
            <a:r>
              <a:rPr lang="zh-CN" altLang="en-US" sz="2000" b="1" dirty="0">
                <a:latin typeface="Times New Roman" panose="02020603050405020304" pitchFamily="18" charset="0"/>
                <a:cs typeface="Times New Roman" panose="02020603050405020304" pitchFamily="18" charset="0"/>
              </a:rPr>
              <a:t>时钟周期</a:t>
            </a:r>
            <a:endParaRPr lang="en-US" altLang="zh-CN" sz="2000" b="1" dirty="0">
              <a:latin typeface="Times New Roman" panose="02020603050405020304" pitchFamily="18" charset="0"/>
              <a:cs typeface="Times New Roman" panose="02020603050405020304" pitchFamily="18" charset="0"/>
            </a:endParaRPr>
          </a:p>
          <a:p>
            <a:pPr marL="194400" lvl="2" indent="0" eaLnBrk="1" fontAlgn="auto" hangingPunct="1">
              <a:spcAft>
                <a:spcPts val="0"/>
              </a:spcAft>
              <a:buNone/>
              <a:defRPr/>
            </a:pPr>
            <a:r>
              <a:rPr lang="en-US" altLang="zh-CN" sz="2000" b="1" dirty="0">
                <a:latin typeface="Times New Roman" panose="02020603050405020304" pitchFamily="18" charset="0"/>
                <a:ea typeface="+mj-ea"/>
                <a:cs typeface="Times New Roman" panose="02020603050405020304" pitchFamily="18" charset="0"/>
              </a:rPr>
              <a:t>        </a:t>
            </a:r>
            <a:r>
              <a:rPr lang="zh-CN" altLang="en-US" sz="2000" b="1" dirty="0">
                <a:latin typeface="Times New Roman" panose="02020603050405020304" pitchFamily="18" charset="0"/>
                <a:ea typeface="+mj-ea"/>
                <a:cs typeface="Times New Roman" panose="02020603050405020304" pitchFamily="18" charset="0"/>
              </a:rPr>
              <a:t>不在</a:t>
            </a:r>
            <a:r>
              <a:rPr lang="en-US" altLang="zh-CN" sz="2000" b="1" dirty="0">
                <a:latin typeface="Times New Roman" panose="02020603050405020304" pitchFamily="18" charset="0"/>
                <a:ea typeface="+mj-ea"/>
                <a:cs typeface="Times New Roman" panose="02020603050405020304" pitchFamily="18" charset="0"/>
              </a:rPr>
              <a:t>BTB</a:t>
            </a:r>
            <a:r>
              <a:rPr lang="zh-CN" altLang="en-US" sz="2000" b="1" dirty="0">
                <a:latin typeface="Times New Roman" panose="02020603050405020304" pitchFamily="18" charset="0"/>
                <a:ea typeface="+mj-ea"/>
                <a:cs typeface="Times New Roman" panose="02020603050405020304" pitchFamily="18" charset="0"/>
              </a:rPr>
              <a:t>中，实际成功，延迟为：</a:t>
            </a:r>
            <a:endParaRPr lang="en-US" altLang="zh-CN" sz="2000" b="1" dirty="0">
              <a:latin typeface="Times New Roman" panose="02020603050405020304" pitchFamily="18" charset="0"/>
              <a:ea typeface="+mj-ea"/>
              <a:cs typeface="Times New Roman" panose="02020603050405020304" pitchFamily="18" charset="0"/>
            </a:endParaRPr>
          </a:p>
          <a:p>
            <a:pPr marL="194400" lvl="2" indent="0" eaLnBrk="1" fontAlgn="auto" hangingPunct="1">
              <a:spcAft>
                <a:spcPts val="0"/>
              </a:spcAft>
              <a:buNone/>
              <a:defRPr/>
            </a:pPr>
            <a:r>
              <a:rPr lang="en-US" altLang="zh-CN" sz="2000" b="1" dirty="0">
                <a:latin typeface="Times New Roman" panose="02020603050405020304" pitchFamily="18" charset="0"/>
                <a:ea typeface="+mj-ea"/>
                <a:cs typeface="Times New Roman" panose="02020603050405020304" pitchFamily="18" charset="0"/>
              </a:rPr>
              <a:t>             10%</a:t>
            </a:r>
            <a:r>
              <a:rPr lang="en-US" altLang="zh-CN" sz="2000" b="1" dirty="0">
                <a:latin typeface="Times New Roman" panose="02020603050405020304" pitchFamily="18" charset="0"/>
                <a:cs typeface="Times New Roman" panose="02020603050405020304" pitchFamily="18" charset="0"/>
              </a:rPr>
              <a:t>×60%×2=0.12 </a:t>
            </a:r>
            <a:r>
              <a:rPr lang="zh-CN" altLang="en-US" sz="2000" b="1" dirty="0">
                <a:latin typeface="Times New Roman" panose="02020603050405020304" pitchFamily="18" charset="0"/>
                <a:cs typeface="Times New Roman" panose="02020603050405020304" pitchFamily="18" charset="0"/>
              </a:rPr>
              <a:t>时钟周期</a:t>
            </a:r>
            <a:endParaRPr lang="en-US" altLang="zh-CN" sz="2000" b="1" dirty="0">
              <a:latin typeface="Times New Roman" panose="02020603050405020304" pitchFamily="18" charset="0"/>
              <a:cs typeface="Times New Roman" panose="02020603050405020304" pitchFamily="18" charset="0"/>
            </a:endParaRPr>
          </a:p>
          <a:p>
            <a:pPr marL="194400" lvl="2" indent="0" eaLnBrk="1" fontAlgn="auto" hangingPunct="1">
              <a:spcAft>
                <a:spcPts val="0"/>
              </a:spcAft>
              <a:buNone/>
              <a:defRPr/>
            </a:pPr>
            <a:r>
              <a:rPr lang="en-US" altLang="zh-CN" sz="2000" b="1"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不在</a:t>
            </a:r>
            <a:r>
              <a:rPr lang="en-US" altLang="zh-CN" sz="2000" b="1" dirty="0">
                <a:latin typeface="Times New Roman" panose="02020603050405020304" pitchFamily="18" charset="0"/>
                <a:cs typeface="Times New Roman" panose="02020603050405020304" pitchFamily="18" charset="0"/>
              </a:rPr>
              <a:t>BTB</a:t>
            </a:r>
            <a:r>
              <a:rPr lang="zh-CN" altLang="en-US" sz="2000" b="1" dirty="0">
                <a:latin typeface="Times New Roman" panose="02020603050405020304" pitchFamily="18" charset="0"/>
                <a:cs typeface="Times New Roman" panose="02020603050405020304" pitchFamily="18" charset="0"/>
              </a:rPr>
              <a:t>中，实际不成功，延迟为 </a:t>
            </a:r>
            <a:r>
              <a:rPr lang="en-US" altLang="zh-CN" sz="2000" b="1" dirty="0">
                <a:latin typeface="Times New Roman" panose="02020603050405020304" pitchFamily="18" charset="0"/>
                <a:cs typeface="Times New Roman" panose="02020603050405020304" pitchFamily="18" charset="0"/>
              </a:rPr>
              <a:t>0</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194400" lvl="2" indent="0" eaLnBrk="1" fontAlgn="auto" hangingPunct="1">
              <a:spcAft>
                <a:spcPts val="0"/>
              </a:spcAft>
              <a:buNone/>
              <a:defRPr/>
            </a:pPr>
            <a:r>
              <a:rPr lang="zh-CN" altLang="en-US" sz="2000" b="1" dirty="0">
                <a:latin typeface="Times New Roman" panose="02020603050405020304" pitchFamily="18" charset="0"/>
                <a:cs typeface="Times New Roman" panose="02020603050405020304" pitchFamily="18" charset="0"/>
              </a:rPr>
              <a:t>综上，该分支目标缓冲产生总的时间延迟为</a:t>
            </a:r>
            <a:r>
              <a:rPr lang="en-US" altLang="zh-CN" sz="2000" b="1" dirty="0">
                <a:latin typeface="Times New Roman" panose="02020603050405020304" pitchFamily="18" charset="0"/>
                <a:cs typeface="Times New Roman" panose="02020603050405020304" pitchFamily="18" charset="0"/>
              </a:rPr>
              <a:t>0.30 </a:t>
            </a:r>
            <a:r>
              <a:rPr lang="zh-CN" altLang="en-US" sz="2000" b="1" dirty="0">
                <a:latin typeface="Times New Roman" panose="02020603050405020304" pitchFamily="18" charset="0"/>
                <a:cs typeface="Times New Roman" panose="02020603050405020304" pitchFamily="18" charset="0"/>
              </a:rPr>
              <a:t>时钟周期</a:t>
            </a:r>
            <a:endParaRPr lang="en-US" altLang="zh-CN" sz="2000" b="1" dirty="0">
              <a:latin typeface="Times New Roman" panose="02020603050405020304" pitchFamily="18" charset="0"/>
              <a:cs typeface="Times New Roman" panose="02020603050405020304" pitchFamily="18" charset="0"/>
            </a:endParaRPr>
          </a:p>
          <a:p>
            <a:pPr marL="194400" lvl="2" indent="0" eaLnBrk="1" fontAlgn="auto" hangingPunct="1">
              <a:spcAft>
                <a:spcPts val="0"/>
              </a:spcAft>
              <a:buNone/>
              <a:defRPr/>
            </a:pPr>
            <a:endParaRPr lang="en-US" altLang="zh-CN" sz="2000" b="1" dirty="0">
              <a:latin typeface="Times New Roman" panose="02020603050405020304" pitchFamily="18" charset="0"/>
              <a:ea typeface="+mj-ea"/>
              <a:cs typeface="Times New Roman" panose="02020603050405020304" pitchFamily="18" charset="0"/>
            </a:endParaRPr>
          </a:p>
        </p:txBody>
      </p:sp>
      <p:graphicFrame>
        <p:nvGraphicFramePr>
          <p:cNvPr id="3" name="表格 2"/>
          <p:cNvGraphicFramePr>
            <a:graphicFrameLocks noGrp="1"/>
          </p:cNvGraphicFramePr>
          <p:nvPr/>
        </p:nvGraphicFramePr>
        <p:xfrm>
          <a:off x="611560" y="571768"/>
          <a:ext cx="7632848" cy="1818640"/>
        </p:xfrm>
        <a:graphic>
          <a:graphicData uri="http://schemas.openxmlformats.org/drawingml/2006/table">
            <a:tbl>
              <a:tblPr firstRow="1" bandRow="1">
                <a:tableStyleId>{5C22544A-7EE6-4342-B048-85BDC9FD1C3A}</a:tableStyleId>
              </a:tblPr>
              <a:tblGrid>
                <a:gridCol w="2232248">
                  <a:extLst>
                    <a:ext uri="{9D8B030D-6E8A-4147-A177-3AD203B41FA5}">
                      <a16:colId xmlns:a16="http://schemas.microsoft.com/office/drawing/2014/main" val="20000"/>
                    </a:ext>
                  </a:extLst>
                </a:gridCol>
                <a:gridCol w="1584176">
                  <a:extLst>
                    <a:ext uri="{9D8B030D-6E8A-4147-A177-3AD203B41FA5}">
                      <a16:colId xmlns:a16="http://schemas.microsoft.com/office/drawing/2014/main" val="20001"/>
                    </a:ext>
                  </a:extLst>
                </a:gridCol>
                <a:gridCol w="1908212">
                  <a:extLst>
                    <a:ext uri="{9D8B030D-6E8A-4147-A177-3AD203B41FA5}">
                      <a16:colId xmlns:a16="http://schemas.microsoft.com/office/drawing/2014/main" val="20002"/>
                    </a:ext>
                  </a:extLst>
                </a:gridCol>
                <a:gridCol w="1908212">
                  <a:extLst>
                    <a:ext uri="{9D8B030D-6E8A-4147-A177-3AD203B41FA5}">
                      <a16:colId xmlns:a16="http://schemas.microsoft.com/office/drawing/2014/main" val="20003"/>
                    </a:ext>
                  </a:extLst>
                </a:gridCol>
              </a:tblGrid>
              <a:tr h="325986">
                <a:tc>
                  <a:txBody>
                    <a:bodyPr/>
                    <a:lstStyle/>
                    <a:p>
                      <a:pPr algn="ctr"/>
                      <a:r>
                        <a:rPr lang="zh-CN" altLang="en-US" sz="1600" b="1" dirty="0">
                          <a:latin typeface="+mn-ea"/>
                          <a:ea typeface="+mn-ea"/>
                        </a:rPr>
                        <a:t>指令是否在</a:t>
                      </a:r>
                      <a:r>
                        <a:rPr lang="en-US" altLang="zh-CN" sz="1600" b="1" dirty="0">
                          <a:latin typeface="+mn-ea"/>
                          <a:ea typeface="+mn-ea"/>
                        </a:rPr>
                        <a:t>BTB</a:t>
                      </a:r>
                      <a:r>
                        <a:rPr lang="zh-CN" altLang="en-US" sz="1600" b="1" dirty="0">
                          <a:latin typeface="+mn-ea"/>
                          <a:ea typeface="+mn-ea"/>
                        </a:rPr>
                        <a:t>中</a:t>
                      </a:r>
                    </a:p>
                  </a:txBody>
                  <a:tcPr/>
                </a:tc>
                <a:tc>
                  <a:txBody>
                    <a:bodyPr/>
                    <a:lstStyle/>
                    <a:p>
                      <a:pPr algn="ctr"/>
                      <a:r>
                        <a:rPr lang="zh-CN" altLang="en-US" sz="1600" b="1" dirty="0">
                          <a:latin typeface="+mn-ea"/>
                          <a:ea typeface="+mn-ea"/>
                        </a:rPr>
                        <a:t>预测成功</a:t>
                      </a:r>
                    </a:p>
                  </a:txBody>
                  <a:tcPr/>
                </a:tc>
                <a:tc>
                  <a:txBody>
                    <a:bodyPr/>
                    <a:lstStyle/>
                    <a:p>
                      <a:pPr algn="ctr"/>
                      <a:r>
                        <a:rPr lang="zh-CN" altLang="en-US" sz="1600" b="1" dirty="0">
                          <a:latin typeface="+mn-ea"/>
                          <a:ea typeface="+mn-ea"/>
                        </a:rPr>
                        <a:t>实际的动作</a:t>
                      </a:r>
                    </a:p>
                  </a:txBody>
                  <a:tcPr/>
                </a:tc>
                <a:tc>
                  <a:txBody>
                    <a:bodyPr/>
                    <a:lstStyle/>
                    <a:p>
                      <a:pPr algn="ctr"/>
                      <a:r>
                        <a:rPr lang="zh-CN" altLang="en-US" sz="1600" b="1" dirty="0">
                          <a:latin typeface="+mn-ea"/>
                          <a:ea typeface="+mn-ea"/>
                        </a:rPr>
                        <a:t>延迟周期</a:t>
                      </a:r>
                    </a:p>
                  </a:txBody>
                  <a:tcPr/>
                </a:tc>
                <a:extLst>
                  <a:ext uri="{0D108BD9-81ED-4DB2-BD59-A6C34878D82A}">
                    <a16:rowId xmlns:a16="http://schemas.microsoft.com/office/drawing/2014/main" val="10000"/>
                  </a:ext>
                </a:extLst>
              </a:tr>
              <a:tr h="370840">
                <a:tc>
                  <a:txBody>
                    <a:bodyPr/>
                    <a:lstStyle/>
                    <a:p>
                      <a:pPr algn="ctr"/>
                      <a:r>
                        <a:rPr lang="zh-CN" altLang="en-US" sz="1600" b="1" dirty="0">
                          <a:latin typeface="+mn-ea"/>
                          <a:ea typeface="+mn-ea"/>
                        </a:rPr>
                        <a:t>是</a:t>
                      </a:r>
                      <a:endParaRPr lang="en-US" altLang="zh-CN" sz="1600" b="1" dirty="0">
                        <a:latin typeface="+mn-ea"/>
                        <a:ea typeface="+mn-ea"/>
                      </a:endParaRPr>
                    </a:p>
                  </a:txBody>
                  <a:tcPr/>
                </a:tc>
                <a:tc>
                  <a:txBody>
                    <a:bodyPr/>
                    <a:lstStyle/>
                    <a:p>
                      <a:pPr algn="ctr"/>
                      <a:r>
                        <a:rPr lang="zh-CN" altLang="en-US" sz="1600" b="1" dirty="0">
                          <a:latin typeface="+mn-ea"/>
                          <a:ea typeface="+mn-ea"/>
                        </a:rPr>
                        <a:t>成功</a:t>
                      </a:r>
                    </a:p>
                  </a:txBody>
                  <a:tcPr/>
                </a:tc>
                <a:tc>
                  <a:txBody>
                    <a:bodyPr/>
                    <a:lstStyle/>
                    <a:p>
                      <a:pPr algn="ctr"/>
                      <a:r>
                        <a:rPr lang="zh-CN" altLang="en-US" sz="1600" b="1" dirty="0">
                          <a:latin typeface="+mn-ea"/>
                          <a:ea typeface="+mn-ea"/>
                        </a:rPr>
                        <a:t>成功</a:t>
                      </a:r>
                    </a:p>
                  </a:txBody>
                  <a:tcPr/>
                </a:tc>
                <a:tc>
                  <a:txBody>
                    <a:bodyPr/>
                    <a:lstStyle/>
                    <a:p>
                      <a:pPr algn="ctr"/>
                      <a:r>
                        <a:rPr lang="en-US" altLang="zh-CN" sz="1600" b="1" dirty="0">
                          <a:latin typeface="+mn-ea"/>
                          <a:ea typeface="+mn-ea"/>
                        </a:rPr>
                        <a:t>0</a:t>
                      </a:r>
                      <a:endParaRPr lang="zh-CN" altLang="en-US" sz="1600" b="1" dirty="0">
                        <a:latin typeface="+mn-ea"/>
                        <a:ea typeface="+mn-ea"/>
                      </a:endParaRPr>
                    </a:p>
                  </a:txBody>
                  <a:tcPr/>
                </a:tc>
                <a:extLst>
                  <a:ext uri="{0D108BD9-81ED-4DB2-BD59-A6C34878D82A}">
                    <a16:rowId xmlns:a16="http://schemas.microsoft.com/office/drawing/2014/main" val="10001"/>
                  </a:ext>
                </a:extLst>
              </a:tr>
              <a:tr h="370840">
                <a:tc>
                  <a:txBody>
                    <a:bodyPr/>
                    <a:lstStyle/>
                    <a:p>
                      <a:pPr algn="ctr"/>
                      <a:r>
                        <a:rPr lang="zh-CN" altLang="en-US" sz="1600" b="1" dirty="0">
                          <a:latin typeface="+mn-ea"/>
                          <a:ea typeface="+mn-ea"/>
                        </a:rPr>
                        <a:t>是</a:t>
                      </a:r>
                    </a:p>
                  </a:txBody>
                  <a:tcPr/>
                </a:tc>
                <a:tc>
                  <a:txBody>
                    <a:bodyPr/>
                    <a:lstStyle/>
                    <a:p>
                      <a:pPr algn="ctr"/>
                      <a:r>
                        <a:rPr lang="zh-CN" altLang="en-US" sz="1600" b="1" dirty="0">
                          <a:latin typeface="+mn-ea"/>
                          <a:ea typeface="+mn-ea"/>
                        </a:rPr>
                        <a:t>成功</a:t>
                      </a:r>
                    </a:p>
                  </a:txBody>
                  <a:tcPr/>
                </a:tc>
                <a:tc>
                  <a:txBody>
                    <a:bodyPr/>
                    <a:lstStyle/>
                    <a:p>
                      <a:pPr algn="ctr"/>
                      <a:r>
                        <a:rPr lang="zh-CN" altLang="en-US" sz="1600" b="1" dirty="0">
                          <a:latin typeface="+mn-ea"/>
                          <a:ea typeface="+mn-ea"/>
                        </a:rPr>
                        <a:t>不成功</a:t>
                      </a:r>
                    </a:p>
                  </a:txBody>
                  <a:tcPr/>
                </a:tc>
                <a:tc>
                  <a:txBody>
                    <a:bodyPr/>
                    <a:lstStyle/>
                    <a:p>
                      <a:pPr algn="ctr"/>
                      <a:r>
                        <a:rPr lang="en-US" altLang="zh-CN" sz="1600" b="1" dirty="0">
                          <a:latin typeface="+mn-ea"/>
                          <a:ea typeface="+mn-ea"/>
                        </a:rPr>
                        <a:t>2</a:t>
                      </a:r>
                      <a:endParaRPr lang="zh-CN" altLang="en-US" sz="1600" b="1" dirty="0">
                        <a:latin typeface="+mn-ea"/>
                        <a:ea typeface="+mn-ea"/>
                      </a:endParaRPr>
                    </a:p>
                  </a:txBody>
                  <a:tcPr/>
                </a:tc>
                <a:extLst>
                  <a:ext uri="{0D108BD9-81ED-4DB2-BD59-A6C34878D82A}">
                    <a16:rowId xmlns:a16="http://schemas.microsoft.com/office/drawing/2014/main" val="10002"/>
                  </a:ext>
                </a:extLst>
              </a:tr>
              <a:tr h="370840">
                <a:tc>
                  <a:txBody>
                    <a:bodyPr/>
                    <a:lstStyle/>
                    <a:p>
                      <a:pPr algn="ctr"/>
                      <a:r>
                        <a:rPr lang="zh-CN" altLang="en-US" sz="1600" b="1" dirty="0">
                          <a:latin typeface="+mn-ea"/>
                          <a:ea typeface="+mn-ea"/>
                        </a:rPr>
                        <a:t>不是</a:t>
                      </a:r>
                    </a:p>
                  </a:txBody>
                  <a:tcPr/>
                </a:tc>
                <a:tc>
                  <a:txBody>
                    <a:bodyPr/>
                    <a:lstStyle/>
                    <a:p>
                      <a:pPr algn="ctr"/>
                      <a:endParaRPr lang="zh-CN" altLang="en-US" sz="1600" b="1" dirty="0">
                        <a:latin typeface="+mn-ea"/>
                        <a:ea typeface="+mn-ea"/>
                      </a:endParaRPr>
                    </a:p>
                  </a:txBody>
                  <a:tcPr/>
                </a:tc>
                <a:tc>
                  <a:txBody>
                    <a:bodyPr/>
                    <a:lstStyle/>
                    <a:p>
                      <a:pPr algn="ctr"/>
                      <a:r>
                        <a:rPr lang="zh-CN" altLang="en-US" sz="1600" b="1" dirty="0">
                          <a:latin typeface="+mn-ea"/>
                          <a:ea typeface="+mn-ea"/>
                        </a:rPr>
                        <a:t>成功</a:t>
                      </a:r>
                    </a:p>
                  </a:txBody>
                  <a:tcPr/>
                </a:tc>
                <a:tc>
                  <a:txBody>
                    <a:bodyPr/>
                    <a:lstStyle/>
                    <a:p>
                      <a:pPr algn="ctr"/>
                      <a:r>
                        <a:rPr lang="en-US" altLang="zh-CN" sz="1600" b="1" dirty="0">
                          <a:latin typeface="+mn-ea"/>
                          <a:ea typeface="+mn-ea"/>
                        </a:rPr>
                        <a:t>2</a:t>
                      </a:r>
                      <a:endParaRPr lang="zh-CN" altLang="en-US" sz="1600" b="1" dirty="0">
                        <a:latin typeface="+mn-ea"/>
                        <a:ea typeface="+mn-ea"/>
                      </a:endParaRPr>
                    </a:p>
                  </a:txBody>
                  <a:tcPr/>
                </a:tc>
                <a:extLst>
                  <a:ext uri="{0D108BD9-81ED-4DB2-BD59-A6C34878D82A}">
                    <a16:rowId xmlns:a16="http://schemas.microsoft.com/office/drawing/2014/main" val="10003"/>
                  </a:ext>
                </a:extLst>
              </a:tr>
              <a:tr h="370840">
                <a:tc>
                  <a:txBody>
                    <a:bodyPr/>
                    <a:lstStyle/>
                    <a:p>
                      <a:pPr algn="ctr"/>
                      <a:r>
                        <a:rPr lang="zh-CN" altLang="en-US" sz="1600" b="1" dirty="0">
                          <a:latin typeface="+mn-ea"/>
                          <a:ea typeface="+mn-ea"/>
                        </a:rPr>
                        <a:t>不是</a:t>
                      </a:r>
                    </a:p>
                  </a:txBody>
                  <a:tcPr/>
                </a:tc>
                <a:tc>
                  <a:txBody>
                    <a:bodyPr/>
                    <a:lstStyle/>
                    <a:p>
                      <a:pPr algn="ctr"/>
                      <a:endParaRPr lang="zh-CN" altLang="en-US" sz="1600" b="1" dirty="0">
                        <a:latin typeface="+mn-ea"/>
                        <a:ea typeface="+mn-ea"/>
                      </a:endParaRPr>
                    </a:p>
                  </a:txBody>
                  <a:tcPr/>
                </a:tc>
                <a:tc>
                  <a:txBody>
                    <a:bodyPr/>
                    <a:lstStyle/>
                    <a:p>
                      <a:pPr algn="ctr"/>
                      <a:r>
                        <a:rPr lang="zh-CN" altLang="en-US" sz="1600" b="1" dirty="0">
                          <a:latin typeface="+mn-ea"/>
                          <a:ea typeface="+mn-ea"/>
                        </a:rPr>
                        <a:t>不成功</a:t>
                      </a:r>
                    </a:p>
                  </a:txBody>
                  <a:tcPr/>
                </a:tc>
                <a:tc>
                  <a:txBody>
                    <a:bodyPr/>
                    <a:lstStyle/>
                    <a:p>
                      <a:pPr algn="ctr"/>
                      <a:r>
                        <a:rPr lang="en-US" altLang="zh-CN" sz="1600" b="1" dirty="0">
                          <a:latin typeface="+mn-ea"/>
                          <a:ea typeface="+mn-ea"/>
                        </a:rPr>
                        <a:t>0</a:t>
                      </a:r>
                      <a:endParaRPr lang="zh-CN" altLang="en-US" sz="1600" b="1" dirty="0">
                        <a:latin typeface="+mn-ea"/>
                        <a:ea typeface="+mn-ea"/>
                      </a:endParaRPr>
                    </a:p>
                  </a:txBody>
                  <a:tcPr/>
                </a:tc>
                <a:extLst>
                  <a:ext uri="{0D108BD9-81ED-4DB2-BD59-A6C34878D82A}">
                    <a16:rowId xmlns:a16="http://schemas.microsoft.com/office/drawing/2014/main" val="10004"/>
                  </a:ext>
                </a:extLst>
              </a:tr>
            </a:tbl>
          </a:graphicData>
        </a:graphic>
      </p:graphicFrame>
      <p:sp>
        <p:nvSpPr>
          <p:cNvPr id="2" name="TextBox 1"/>
          <p:cNvSpPr txBox="1"/>
          <p:nvPr/>
        </p:nvSpPr>
        <p:spPr>
          <a:xfrm>
            <a:off x="1979712" y="116632"/>
            <a:ext cx="4828566" cy="400110"/>
          </a:xfrm>
          <a:prstGeom prst="rect">
            <a:avLst/>
          </a:prstGeom>
          <a:noFill/>
        </p:spPr>
        <p:txBody>
          <a:bodyPr wrap="none" rtlCol="0">
            <a:spAutoFit/>
          </a:bodyPr>
          <a:lstStyle/>
          <a:p>
            <a:r>
              <a:rPr lang="zh-CN" altLang="en-US" sz="2000" dirty="0"/>
              <a:t>采用</a:t>
            </a:r>
            <a:r>
              <a:rPr lang="en-US" altLang="zh-CN" sz="2000" dirty="0">
                <a:latin typeface="Times New Roman" panose="02020603050405020304" pitchFamily="18" charset="0"/>
                <a:cs typeface="Times New Roman" panose="02020603050405020304" pitchFamily="18" charset="0"/>
              </a:rPr>
              <a:t>BTB</a:t>
            </a:r>
            <a:r>
              <a:rPr lang="zh-CN" altLang="en-US" sz="2000" dirty="0"/>
              <a:t>技术时指令在各种情况下的延迟</a:t>
            </a:r>
          </a:p>
        </p:txBody>
      </p:sp>
      <p:sp>
        <p:nvSpPr>
          <p:cNvPr id="4" name="日期占位符 3">
            <a:extLst>
              <a:ext uri="{FF2B5EF4-FFF2-40B4-BE49-F238E27FC236}">
                <a16:creationId xmlns:a16="http://schemas.microsoft.com/office/drawing/2014/main" id="{A1F7B017-B46F-431D-B01B-823D541D7DC5}"/>
              </a:ext>
            </a:extLst>
          </p:cNvPr>
          <p:cNvSpPr>
            <a:spLocks noGrp="1"/>
          </p:cNvSpPr>
          <p:nvPr>
            <p:ph type="dt" sz="half" idx="10"/>
          </p:nvPr>
        </p:nvSpPr>
        <p:spPr/>
        <p:txBody>
          <a:bodyPr/>
          <a:lstStyle/>
          <a:p>
            <a:pPr>
              <a:defRPr/>
            </a:pPr>
            <a:fld id="{58853522-9CDE-49EF-B964-311CFA7AB447}" type="datetime1">
              <a:rPr lang="zh-CN" altLang="en-US" smtClean="0"/>
              <a:t>2025/10/28</a:t>
            </a:fld>
            <a:endParaRPr lang="en-US" altLang="zh-CN"/>
          </a:p>
        </p:txBody>
      </p:sp>
      <p:sp>
        <p:nvSpPr>
          <p:cNvPr id="5" name="页脚占位符 4">
            <a:extLst>
              <a:ext uri="{FF2B5EF4-FFF2-40B4-BE49-F238E27FC236}">
                <a16:creationId xmlns:a16="http://schemas.microsoft.com/office/drawing/2014/main" id="{01A666D9-9067-7580-8B8E-8748C8C31101}"/>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6" name="灯片编号占位符 5">
            <a:extLst>
              <a:ext uri="{FF2B5EF4-FFF2-40B4-BE49-F238E27FC236}">
                <a16:creationId xmlns:a16="http://schemas.microsoft.com/office/drawing/2014/main" id="{892106BA-6447-EF53-0F25-9D5E3F652BAE}"/>
              </a:ext>
            </a:extLst>
          </p:cNvPr>
          <p:cNvSpPr>
            <a:spLocks noGrp="1"/>
          </p:cNvSpPr>
          <p:nvPr>
            <p:ph type="sldNum" sz="quarter" idx="12"/>
          </p:nvPr>
        </p:nvSpPr>
        <p:spPr/>
        <p:txBody>
          <a:bodyPr/>
          <a:lstStyle/>
          <a:p>
            <a:pPr>
              <a:defRPr/>
            </a:pPr>
            <a:fld id="{A5AE633C-541A-4E3F-A22A-3C4C63E8EF5F}" type="slidenum">
              <a:rPr lang="zh-CN" altLang="en-US" smtClean="0"/>
              <a:t>21</a:t>
            </a:fld>
            <a:endParaRPr lang="en-US" altLang="zh-CN"/>
          </a:p>
        </p:txBody>
      </p:sp>
    </p:spTree>
    <p:extLst>
      <p:ext uri="{BB962C8B-B14F-4D97-AF65-F5344CB8AC3E}">
        <p14:creationId xmlns:p14="http://schemas.microsoft.com/office/powerpoint/2010/main" val="4028813503"/>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a:spLocks noGrp="1" noChangeArrowheads="1"/>
          </p:cNvSpPr>
          <p:nvPr>
            <p:ph type="title" idx="4294967295"/>
          </p:nvPr>
        </p:nvSpPr>
        <p:spPr>
          <a:xfrm>
            <a:off x="395288" y="188913"/>
            <a:ext cx="8229600" cy="1143000"/>
          </a:xfrm>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BTB</a:t>
            </a:r>
            <a:r>
              <a:rPr lang="zh-CN" altLang="en-US" sz="3600" b="1" dirty="0">
                <a:latin typeface="Times New Roman" panose="02020603050405020304" pitchFamily="18" charset="0"/>
                <a:cs typeface="Times New Roman" panose="02020603050405020304" pitchFamily="18" charset="0"/>
              </a:rPr>
              <a:t>的改进</a:t>
            </a:r>
          </a:p>
        </p:txBody>
      </p:sp>
      <p:sp>
        <p:nvSpPr>
          <p:cNvPr id="146444" name="Rectangle 12"/>
          <p:cNvSpPr>
            <a:spLocks noGrp="1" noChangeArrowheads="1"/>
          </p:cNvSpPr>
          <p:nvPr>
            <p:ph type="body" idx="4294967295"/>
          </p:nvPr>
        </p:nvSpPr>
        <p:spPr>
          <a:xfrm>
            <a:off x="457200" y="1600200"/>
            <a:ext cx="8003232" cy="4525963"/>
          </a:xfrm>
        </p:spPr>
        <p:txBody>
          <a:bodyPr rtlCol="0">
            <a:normAutofit/>
          </a:bodyPr>
          <a:lstStyle/>
          <a:p>
            <a:pPr eaLnBrk="1" fontAlgn="auto" hangingPunct="1">
              <a:lnSpc>
                <a:spcPct val="150000"/>
              </a:lnSpc>
              <a:spcAft>
                <a:spcPts val="0"/>
              </a:spcAft>
              <a:defRPr/>
            </a:pPr>
            <a:r>
              <a:rPr lang="zh-CN" altLang="en-US" sz="2400" b="1" dirty="0">
                <a:latin typeface="+mj-ea"/>
                <a:ea typeface="+mj-ea"/>
              </a:rPr>
              <a:t>分支预测技术受限于预测精度，以及预测失效后产生的开销</a:t>
            </a:r>
            <a:endParaRPr lang="en-US" altLang="zh-CN" sz="2400" b="1" dirty="0">
              <a:latin typeface="+mj-ea"/>
              <a:ea typeface="+mj-ea"/>
            </a:endParaRPr>
          </a:p>
          <a:p>
            <a:pPr eaLnBrk="1" fontAlgn="auto" hangingPunct="1">
              <a:lnSpc>
                <a:spcPct val="150000"/>
              </a:lnSpc>
              <a:spcAft>
                <a:spcPts val="0"/>
              </a:spcAft>
              <a:defRPr/>
            </a:pPr>
            <a:r>
              <a:rPr lang="zh-CN" altLang="en-US" sz="2400" b="1" dirty="0">
                <a:latin typeface="+mj-ea"/>
                <a:ea typeface="+mj-ea"/>
              </a:rPr>
              <a:t>根据不同程序特点以及缓冲区的大小，典型的</a:t>
            </a:r>
            <a:r>
              <a:rPr lang="en-US" altLang="zh-CN" sz="2400" b="1" dirty="0">
                <a:latin typeface="+mj-ea"/>
                <a:ea typeface="+mj-ea"/>
              </a:rPr>
              <a:t>BTB</a:t>
            </a:r>
            <a:r>
              <a:rPr lang="zh-CN" altLang="en-US" sz="2400" b="1" dirty="0">
                <a:latin typeface="+mj-ea"/>
                <a:ea typeface="+mj-ea"/>
              </a:rPr>
              <a:t>可以实现</a:t>
            </a:r>
            <a:r>
              <a:rPr lang="en-US" altLang="zh-CN" sz="2400" b="1" dirty="0">
                <a:latin typeface="+mj-ea"/>
                <a:ea typeface="+mj-ea"/>
              </a:rPr>
              <a:t>80%</a:t>
            </a:r>
            <a:r>
              <a:rPr lang="zh-CN" altLang="en-US" sz="2400" b="1" dirty="0">
                <a:latin typeface="+mj-ea"/>
                <a:ea typeface="+mj-ea"/>
              </a:rPr>
              <a:t>到</a:t>
            </a:r>
            <a:r>
              <a:rPr lang="en-US" altLang="zh-CN" sz="2400" b="1" dirty="0">
                <a:latin typeface="+mj-ea"/>
                <a:ea typeface="+mj-ea"/>
              </a:rPr>
              <a:t>95%</a:t>
            </a:r>
            <a:r>
              <a:rPr lang="zh-CN" altLang="en-US" sz="2400" b="1" dirty="0">
                <a:latin typeface="+mj-ea"/>
                <a:ea typeface="+mj-ea"/>
              </a:rPr>
              <a:t>的预测精度</a:t>
            </a:r>
          </a:p>
          <a:p>
            <a:pPr eaLnBrk="1" fontAlgn="auto" hangingPunct="1">
              <a:lnSpc>
                <a:spcPct val="150000"/>
              </a:lnSpc>
              <a:spcAft>
                <a:spcPts val="0"/>
              </a:spcAft>
              <a:defRPr/>
            </a:pPr>
            <a:r>
              <a:rPr lang="zh-CN" altLang="en-US" sz="2400" b="1" dirty="0">
                <a:latin typeface="+mj-ea"/>
                <a:ea typeface="+mj-ea"/>
              </a:rPr>
              <a:t>降低失效开销技术：在一个时钟周期内同时取出不同分支路径的指令</a:t>
            </a:r>
            <a:endParaRPr lang="en-US" altLang="zh-CN" sz="2400" b="1" dirty="0">
              <a:latin typeface="+mj-ea"/>
              <a:ea typeface="+mj-ea"/>
            </a:endParaRPr>
          </a:p>
          <a:p>
            <a:pPr lvl="1" eaLnBrk="1" fontAlgn="auto" hangingPunct="1">
              <a:lnSpc>
                <a:spcPct val="150000"/>
              </a:lnSpc>
              <a:spcAft>
                <a:spcPts val="0"/>
              </a:spcAft>
              <a:defRPr/>
            </a:pPr>
            <a:r>
              <a:rPr lang="zh-CN" altLang="en-US" sz="2400" b="1" dirty="0">
                <a:latin typeface="+mj-ea"/>
                <a:ea typeface="+mj-ea"/>
              </a:rPr>
              <a:t>会引入其他开销，比如存储系统的端口加倍</a:t>
            </a:r>
            <a:endParaRPr lang="en-US" altLang="zh-CN" sz="2400" b="1" dirty="0">
              <a:latin typeface="+mj-ea"/>
              <a:ea typeface="+mj-ea"/>
            </a:endParaRPr>
          </a:p>
        </p:txBody>
      </p:sp>
      <p:sp>
        <p:nvSpPr>
          <p:cNvPr id="2" name="日期占位符 1">
            <a:extLst>
              <a:ext uri="{FF2B5EF4-FFF2-40B4-BE49-F238E27FC236}">
                <a16:creationId xmlns:a16="http://schemas.microsoft.com/office/drawing/2014/main" id="{FB9C1070-87DB-084D-3C3D-A386FC02CBFE}"/>
              </a:ext>
            </a:extLst>
          </p:cNvPr>
          <p:cNvSpPr>
            <a:spLocks noGrp="1"/>
          </p:cNvSpPr>
          <p:nvPr>
            <p:ph type="dt" sz="half" idx="10"/>
          </p:nvPr>
        </p:nvSpPr>
        <p:spPr/>
        <p:txBody>
          <a:bodyPr/>
          <a:lstStyle/>
          <a:p>
            <a:pPr>
              <a:defRPr/>
            </a:pPr>
            <a:fld id="{D7B7D8B0-0081-47D3-AFAB-60E6EC1AD294}"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7D5A30BC-0AE5-08AF-96F1-89BDDA6A1A4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5D75D45E-CD09-2095-8AAE-CEF93C724A43}"/>
              </a:ext>
            </a:extLst>
          </p:cNvPr>
          <p:cNvSpPr>
            <a:spLocks noGrp="1"/>
          </p:cNvSpPr>
          <p:nvPr>
            <p:ph type="sldNum" sz="quarter" idx="12"/>
          </p:nvPr>
        </p:nvSpPr>
        <p:spPr/>
        <p:txBody>
          <a:bodyPr/>
          <a:lstStyle/>
          <a:p>
            <a:pPr>
              <a:defRPr/>
            </a:pPr>
            <a:fld id="{A5AE633C-541A-4E3F-A22A-3C4C63E8EF5F}" type="slidenum">
              <a:rPr lang="zh-CN" altLang="en-US" smtClean="0"/>
              <a:t>22</a:t>
            </a:fld>
            <a:endParaRPr lang="en-US" altLang="zh-CN"/>
          </a:p>
        </p:txBody>
      </p:sp>
    </p:spTree>
    <p:extLst>
      <p:ext uri="{BB962C8B-B14F-4D97-AF65-F5344CB8AC3E}">
        <p14:creationId xmlns:p14="http://schemas.microsoft.com/office/powerpoint/2010/main" val="3111169049"/>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1"/>
          <p:cNvSpPr>
            <a:spLocks noGrp="1" noChangeArrowheads="1"/>
          </p:cNvSpPr>
          <p:nvPr>
            <p:ph type="title" idx="4294967295"/>
          </p:nvPr>
        </p:nvSpPr>
        <p:spPr/>
        <p:txBody>
          <a:bodyPr/>
          <a:lstStyle/>
          <a:p>
            <a:pPr eaLnBrk="1" hangingPunct="1">
              <a:defRPr/>
            </a:pPr>
            <a:r>
              <a:rPr lang="zh-CN" altLang="en-US" sz="3600" b="1" dirty="0">
                <a:latin typeface="+mj-ea"/>
              </a:rPr>
              <a:t>分支预测局限性总结</a:t>
            </a:r>
          </a:p>
        </p:txBody>
      </p:sp>
      <p:sp>
        <p:nvSpPr>
          <p:cNvPr id="22531" name="Rectangle 12"/>
          <p:cNvSpPr>
            <a:spLocks noGrp="1" noChangeArrowheads="1"/>
          </p:cNvSpPr>
          <p:nvPr>
            <p:ph type="body" idx="4294967295"/>
          </p:nvPr>
        </p:nvSpPr>
        <p:spPr/>
        <p:txBody>
          <a:bodyPr/>
          <a:lstStyle/>
          <a:p>
            <a:pPr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预测准确性：</a:t>
            </a:r>
            <a:r>
              <a:rPr lang="en-US" altLang="zh-CN" sz="2400" b="1" dirty="0">
                <a:latin typeface="Times New Roman" panose="02020603050405020304" pitchFamily="18" charset="0"/>
                <a:ea typeface="+mj-ea"/>
                <a:cs typeface="Times New Roman" panose="02020603050405020304" pitchFamily="18" charset="0"/>
              </a:rPr>
              <a:t>80%-90%</a:t>
            </a:r>
          </a:p>
          <a:p>
            <a:pPr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预测性能依赖于</a:t>
            </a:r>
            <a:endParaRPr lang="en-US" altLang="zh-CN" sz="2400" b="1" dirty="0">
              <a:latin typeface="Times New Roman" panose="02020603050405020304" pitchFamily="18" charset="0"/>
              <a:ea typeface="+mj-ea"/>
              <a:cs typeface="Times New Roman" panose="02020603050405020304" pitchFamily="18" charset="0"/>
            </a:endParaRPr>
          </a:p>
          <a:p>
            <a:pPr lvl="1"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程序类型</a:t>
            </a:r>
            <a:endParaRPr lang="en-US" altLang="zh-CN" sz="2400" b="1" dirty="0">
              <a:latin typeface="Times New Roman" panose="02020603050405020304" pitchFamily="18" charset="0"/>
              <a:ea typeface="+mj-ea"/>
              <a:cs typeface="Times New Roman" panose="02020603050405020304" pitchFamily="18" charset="0"/>
            </a:endParaRPr>
          </a:p>
          <a:p>
            <a:pPr lvl="1"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缓冲区大小</a:t>
            </a:r>
            <a:endParaRPr lang="en-US" altLang="zh-CN" sz="2400" b="1" dirty="0">
              <a:latin typeface="Times New Roman" panose="02020603050405020304" pitchFamily="18" charset="0"/>
              <a:ea typeface="+mj-ea"/>
              <a:cs typeface="Times New Roman" panose="02020603050405020304" pitchFamily="18" charset="0"/>
            </a:endParaRPr>
          </a:p>
          <a:p>
            <a:pPr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预测失效开销的优化</a:t>
            </a:r>
            <a:endParaRPr lang="en-US" altLang="zh-CN" sz="2400" b="1" dirty="0">
              <a:latin typeface="Times New Roman" panose="02020603050405020304" pitchFamily="18" charset="0"/>
              <a:ea typeface="+mj-ea"/>
              <a:cs typeface="Times New Roman" panose="02020603050405020304" pitchFamily="18" charset="0"/>
            </a:endParaRPr>
          </a:p>
          <a:p>
            <a:pPr lvl="1" eaLnBrk="1" hangingPunct="1">
              <a:lnSpc>
                <a:spcPct val="15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预取不同分支路径指令</a:t>
            </a:r>
            <a:endParaRPr lang="en-US" altLang="zh-CN" sz="2400" b="1" dirty="0">
              <a:latin typeface="Times New Roman" panose="02020603050405020304" pitchFamily="18" charset="0"/>
              <a:ea typeface="+mj-ea"/>
              <a:cs typeface="Times New Roman" panose="02020603050405020304" pitchFamily="18" charset="0"/>
            </a:endParaRPr>
          </a:p>
          <a:p>
            <a:pPr lvl="2" eaLnBrk="1" hangingPunct="1">
              <a:lnSpc>
                <a:spcPct val="150000"/>
              </a:lnSpc>
              <a:buFont typeface="Arial" charset="0"/>
              <a:buChar char="•"/>
              <a:defRPr/>
            </a:pPr>
            <a:r>
              <a:rPr lang="zh-CN" altLang="en-US" b="1" dirty="0">
                <a:latin typeface="Times New Roman" panose="02020603050405020304" pitchFamily="18" charset="0"/>
                <a:ea typeface="+mj-ea"/>
                <a:cs typeface="Times New Roman" panose="02020603050405020304" pitchFamily="18" charset="0"/>
              </a:rPr>
              <a:t>存储端口数目加倍，交叉存取缓冲</a:t>
            </a:r>
            <a:endParaRPr lang="en-US" altLang="zh-CN" b="1" dirty="0">
              <a:latin typeface="Times New Roman" panose="02020603050405020304" pitchFamily="18" charset="0"/>
              <a:ea typeface="+mj-ea"/>
              <a:cs typeface="Times New Roman" panose="02020603050405020304" pitchFamily="18" charset="0"/>
            </a:endParaRPr>
          </a:p>
          <a:p>
            <a:pPr marL="457200" lvl="1" indent="0" eaLnBrk="1" hangingPunct="1">
              <a:buNone/>
              <a:defRPr/>
            </a:pPr>
            <a:endParaRPr lang="en-US" altLang="zh-CN" sz="2400" b="1" dirty="0">
              <a:latin typeface="Times New Roman" panose="02020603050405020304" pitchFamily="18" charset="0"/>
              <a:ea typeface="+mj-ea"/>
              <a:cs typeface="Times New Roman" panose="02020603050405020304" pitchFamily="18" charset="0"/>
            </a:endParaRPr>
          </a:p>
        </p:txBody>
      </p:sp>
      <p:sp>
        <p:nvSpPr>
          <p:cNvPr id="2" name="日期占位符 1">
            <a:extLst>
              <a:ext uri="{FF2B5EF4-FFF2-40B4-BE49-F238E27FC236}">
                <a16:creationId xmlns:a16="http://schemas.microsoft.com/office/drawing/2014/main" id="{058BDB2B-5DDB-0C6D-B679-AB224F104D19}"/>
              </a:ext>
            </a:extLst>
          </p:cNvPr>
          <p:cNvSpPr>
            <a:spLocks noGrp="1"/>
          </p:cNvSpPr>
          <p:nvPr>
            <p:ph type="dt" sz="half" idx="10"/>
          </p:nvPr>
        </p:nvSpPr>
        <p:spPr/>
        <p:txBody>
          <a:bodyPr/>
          <a:lstStyle/>
          <a:p>
            <a:pPr>
              <a:defRPr/>
            </a:pPr>
            <a:fld id="{2B01E728-F687-4B76-A5B2-A232BC65D676}"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B63C733E-BD7F-C151-052D-AEC54C81B4B3}"/>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08FEE08D-8AA9-DCE9-9A7E-4C3597E58358}"/>
              </a:ext>
            </a:extLst>
          </p:cNvPr>
          <p:cNvSpPr>
            <a:spLocks noGrp="1"/>
          </p:cNvSpPr>
          <p:nvPr>
            <p:ph type="sldNum" sz="quarter" idx="12"/>
          </p:nvPr>
        </p:nvSpPr>
        <p:spPr/>
        <p:txBody>
          <a:bodyPr/>
          <a:lstStyle/>
          <a:p>
            <a:pPr>
              <a:defRPr/>
            </a:pPr>
            <a:fld id="{A5AE633C-541A-4E3F-A22A-3C4C63E8EF5F}" type="slidenum">
              <a:rPr lang="zh-CN" altLang="en-US" smtClean="0"/>
              <a:t>23</a:t>
            </a:fld>
            <a:endParaRPr lang="en-US" altLang="zh-CN"/>
          </a:p>
        </p:txBody>
      </p:sp>
    </p:spTree>
    <p:extLst>
      <p:ext uri="{BB962C8B-B14F-4D97-AF65-F5344CB8AC3E}">
        <p14:creationId xmlns:p14="http://schemas.microsoft.com/office/powerpoint/2010/main" val="4170576722"/>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a:xfrm>
            <a:off x="468313" y="414338"/>
            <a:ext cx="8229600" cy="1143000"/>
          </a:xfrm>
        </p:spPr>
        <p:txBody>
          <a:bodyPr rtlCol="0">
            <a:normAutofit/>
          </a:bodyPr>
          <a:lstStyle/>
          <a:p>
            <a:pPr eaLnBrk="1" fontAlgn="auto" hangingPunct="1">
              <a:spcAft>
                <a:spcPts val="0"/>
              </a:spcAft>
              <a:defRPr/>
            </a:pPr>
            <a:r>
              <a:rPr lang="en-US" altLang="zh-CN" sz="4000" b="1" dirty="0">
                <a:latin typeface="Times New Roman" panose="02020603050405020304" pitchFamily="18" charset="0"/>
                <a:cs typeface="Times New Roman" panose="02020603050405020304" pitchFamily="18" charset="0"/>
              </a:rPr>
              <a:t>7.3  </a:t>
            </a:r>
            <a:r>
              <a:rPr lang="zh-CN" altLang="en-US" sz="4000" b="1" dirty="0">
                <a:latin typeface="Times New Roman" panose="02020603050405020304" pitchFamily="18" charset="0"/>
                <a:cs typeface="Times New Roman" panose="02020603050405020304" pitchFamily="18" charset="0"/>
              </a:rPr>
              <a:t>控制相关的动态解决技术</a:t>
            </a:r>
          </a:p>
        </p:txBody>
      </p:sp>
      <p:sp>
        <p:nvSpPr>
          <p:cNvPr id="5123" name="Rectangle 2"/>
          <p:cNvSpPr>
            <a:spLocks noGrp="1" noChangeArrowheads="1"/>
          </p:cNvSpPr>
          <p:nvPr>
            <p:ph idx="1"/>
          </p:nvPr>
        </p:nvSpPr>
        <p:spPr>
          <a:xfrm>
            <a:off x="755650" y="2060575"/>
            <a:ext cx="7064375" cy="3313113"/>
          </a:xfrm>
        </p:spPr>
        <p:txBody>
          <a:bodyPr/>
          <a:lstStyle/>
          <a:p>
            <a:pPr marL="0" indent="0" eaLnBrk="1" hangingPunct="1">
              <a:spcBef>
                <a:spcPct val="50000"/>
              </a:spcBef>
              <a:buFont typeface="Arial" pitchFamily="34" charset="0"/>
              <a:buNone/>
            </a:pPr>
            <a:r>
              <a:rPr lang="en-US" altLang="zh-CN" sz="2800" b="1" dirty="0">
                <a:latin typeface="Times New Roman" pitchFamily="18" charset="0"/>
              </a:rPr>
              <a:t>7.3.1  </a:t>
            </a:r>
            <a:r>
              <a:rPr lang="zh-CN" altLang="en-US" sz="2800" b="1" dirty="0">
                <a:latin typeface="Times New Roman" pitchFamily="18" charset="0"/>
              </a:rPr>
              <a:t>分支预测缓冲</a:t>
            </a:r>
            <a:endParaRPr lang="en-US" altLang="zh-CN" sz="2800" b="1" dirty="0">
              <a:latin typeface="Times New Roman" pitchFamily="18" charset="0"/>
            </a:endParaRPr>
          </a:p>
          <a:p>
            <a:pPr marL="0" indent="0" eaLnBrk="1" hangingPunct="1">
              <a:spcBef>
                <a:spcPct val="50000"/>
              </a:spcBef>
              <a:buFont typeface="Arial" pitchFamily="34" charset="0"/>
              <a:buNone/>
            </a:pPr>
            <a:endParaRPr lang="zh-CN" altLang="en-US" sz="2800" b="1" dirty="0">
              <a:latin typeface="Times New Roman" pitchFamily="18" charset="0"/>
            </a:endParaRPr>
          </a:p>
          <a:p>
            <a:pPr marL="0" indent="0" eaLnBrk="1" hangingPunct="1">
              <a:spcBef>
                <a:spcPct val="50000"/>
              </a:spcBef>
              <a:buFont typeface="Arial" pitchFamily="34" charset="0"/>
              <a:buNone/>
            </a:pPr>
            <a:r>
              <a:rPr lang="en-US" altLang="zh-CN" sz="2800" b="1" dirty="0">
                <a:latin typeface="Times New Roman" pitchFamily="18" charset="0"/>
              </a:rPr>
              <a:t>7.3.2  </a:t>
            </a:r>
            <a:r>
              <a:rPr lang="zh-CN" altLang="en-US" sz="2800" b="1" dirty="0">
                <a:latin typeface="Times New Roman" pitchFamily="18" charset="0"/>
              </a:rPr>
              <a:t>分支目标缓冲</a:t>
            </a:r>
            <a:endParaRPr lang="en-US" altLang="zh-CN" sz="2800" b="1" dirty="0">
              <a:latin typeface="Times New Roman" pitchFamily="18" charset="0"/>
            </a:endParaRPr>
          </a:p>
          <a:p>
            <a:pPr marL="0" indent="0" eaLnBrk="1" hangingPunct="1">
              <a:spcBef>
                <a:spcPct val="50000"/>
              </a:spcBef>
              <a:buFont typeface="Arial" pitchFamily="34" charset="0"/>
              <a:buNone/>
            </a:pPr>
            <a:endParaRPr lang="en-US" altLang="zh-CN" sz="2800" b="1" dirty="0">
              <a:latin typeface="Times New Roman" pitchFamily="18" charset="0"/>
            </a:endParaRPr>
          </a:p>
          <a:p>
            <a:pPr marL="0" indent="0" eaLnBrk="1" hangingPunct="1">
              <a:spcBef>
                <a:spcPct val="50000"/>
              </a:spcBef>
              <a:buFont typeface="Arial" pitchFamily="34" charset="0"/>
              <a:buNone/>
            </a:pPr>
            <a:r>
              <a:rPr lang="en-US" altLang="zh-CN" sz="2800" b="1" u="sng" dirty="0">
                <a:latin typeface="Times New Roman" pitchFamily="18" charset="0"/>
              </a:rPr>
              <a:t>7.3.3 </a:t>
            </a:r>
            <a:r>
              <a:rPr lang="zh-CN" altLang="en-US" sz="2800" b="1" u="sng" dirty="0">
                <a:latin typeface="Times New Roman" pitchFamily="18" charset="0"/>
              </a:rPr>
              <a:t>基于硬件的前瞻执行</a:t>
            </a:r>
            <a:endParaRPr lang="en-US" altLang="zh-CN" sz="2800" b="1" u="sng" dirty="0">
              <a:latin typeface="Times New Roman" pitchFamily="18" charset="0"/>
            </a:endParaRPr>
          </a:p>
          <a:p>
            <a:pPr marL="0" indent="0" eaLnBrk="1" hangingPunct="1">
              <a:spcBef>
                <a:spcPct val="50000"/>
              </a:spcBef>
              <a:buFont typeface="Arial" pitchFamily="34" charset="0"/>
              <a:buNone/>
            </a:pPr>
            <a:endParaRPr lang="en-US" altLang="zh-CN" sz="2800" b="1" dirty="0">
              <a:latin typeface="Times New Roman" pitchFamily="18" charset="0"/>
            </a:endParaRPr>
          </a:p>
          <a:p>
            <a:pPr marL="0" indent="0" eaLnBrk="1" hangingPunct="1">
              <a:spcBef>
                <a:spcPct val="50000"/>
              </a:spcBef>
              <a:buFont typeface="Arial" pitchFamily="34" charset="0"/>
              <a:buNone/>
            </a:pPr>
            <a:endParaRPr lang="en-US" altLang="zh-CN" b="1" dirty="0">
              <a:latin typeface="Times New Roman" pitchFamily="18" charset="0"/>
            </a:endParaRPr>
          </a:p>
        </p:txBody>
      </p:sp>
      <p:sp>
        <p:nvSpPr>
          <p:cNvPr id="2" name="日期占位符 1">
            <a:extLst>
              <a:ext uri="{FF2B5EF4-FFF2-40B4-BE49-F238E27FC236}">
                <a16:creationId xmlns:a16="http://schemas.microsoft.com/office/drawing/2014/main" id="{2589E6F6-CAA7-45EC-56D3-D50CC9750D9E}"/>
              </a:ext>
            </a:extLst>
          </p:cNvPr>
          <p:cNvSpPr>
            <a:spLocks noGrp="1"/>
          </p:cNvSpPr>
          <p:nvPr>
            <p:ph type="dt" sz="half" idx="10"/>
          </p:nvPr>
        </p:nvSpPr>
        <p:spPr/>
        <p:txBody>
          <a:bodyPr/>
          <a:lstStyle/>
          <a:p>
            <a:pPr>
              <a:defRPr/>
            </a:pPr>
            <a:fld id="{4EBECC3F-859E-4965-87AF-1E4A4F09C4E2}"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87DD5BF5-0548-714C-CA9D-5980D42B1867}"/>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7AE153BB-974F-9ACC-F855-E4CE9A9BAA26}"/>
              </a:ext>
            </a:extLst>
          </p:cNvPr>
          <p:cNvSpPr>
            <a:spLocks noGrp="1"/>
          </p:cNvSpPr>
          <p:nvPr>
            <p:ph type="sldNum" sz="quarter" idx="12"/>
          </p:nvPr>
        </p:nvSpPr>
        <p:spPr/>
        <p:txBody>
          <a:bodyPr/>
          <a:lstStyle/>
          <a:p>
            <a:pPr>
              <a:defRPr/>
            </a:pPr>
            <a:fld id="{8BCAC33D-D29A-48B3-BCD6-381D3D720D26}" type="slidenum">
              <a:rPr lang="zh-CN" altLang="en-US" smtClean="0"/>
              <a:t>24</a:t>
            </a:fld>
            <a:endParaRPr lang="en-US" altLang="zh-CN"/>
          </a:p>
        </p:txBody>
      </p:sp>
    </p:spTree>
    <p:extLst>
      <p:ext uri="{BB962C8B-B14F-4D97-AF65-F5344CB8AC3E}">
        <p14:creationId xmlns:p14="http://schemas.microsoft.com/office/powerpoint/2010/main" val="2781203848"/>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3" descr="Rectangle: Click to edit Master text styles&#10;Second level&#10;Third level&#10;Fourth level&#10;Fifth level"/>
          <p:cNvSpPr>
            <a:spLocks noGrp="1" noChangeArrowheads="1"/>
          </p:cNvSpPr>
          <p:nvPr>
            <p:ph idx="1"/>
          </p:nvPr>
        </p:nvSpPr>
        <p:spPr>
          <a:xfrm>
            <a:off x="611560" y="1628800"/>
            <a:ext cx="7920880" cy="4559300"/>
          </a:xfrm>
        </p:spPr>
        <p:txBody>
          <a:bodyPr/>
          <a:lstStyle/>
          <a:p>
            <a:pPr marL="457200" indent="-457200" eaLnBrk="1" hangingPunct="1">
              <a:lnSpc>
                <a:spcPct val="120000"/>
              </a:lnSpc>
              <a:buFont typeface="Wingdings" pitchFamily="2" charset="2"/>
              <a:buNone/>
            </a:pPr>
            <a:r>
              <a:rPr lang="zh-CN" altLang="en-US" sz="2400" b="1" dirty="0">
                <a:solidFill>
                  <a:srgbClr val="D60093"/>
                </a:solidFill>
                <a:latin typeface="Times New Roman" panose="02020603050405020304" pitchFamily="18" charset="0"/>
                <a:cs typeface="Times New Roman" panose="02020603050405020304" pitchFamily="18" charset="0"/>
              </a:rPr>
              <a:t>前瞻执行</a:t>
            </a:r>
            <a:r>
              <a:rPr lang="zh-CN" altLang="en-US" sz="2400" b="1" dirty="0">
                <a:solidFill>
                  <a:srgbClr val="9933FF"/>
                </a:solidFill>
                <a:latin typeface="Times New Roman" panose="02020603050405020304" pitchFamily="18" charset="0"/>
                <a:cs typeface="Times New Roman" panose="02020603050405020304" pitchFamily="18" charset="0"/>
              </a:rPr>
              <a:t>（</a:t>
            </a:r>
            <a:r>
              <a:rPr lang="en-US" altLang="zh-CN" sz="2400" b="1" dirty="0">
                <a:solidFill>
                  <a:srgbClr val="9933FF"/>
                </a:solidFill>
                <a:latin typeface="Times New Roman" panose="02020603050405020304" pitchFamily="18" charset="0"/>
                <a:cs typeface="Times New Roman" panose="02020603050405020304" pitchFamily="18" charset="0"/>
              </a:rPr>
              <a:t>Speculation</a:t>
            </a:r>
            <a:r>
              <a:rPr lang="zh-CN" altLang="en-US" sz="2400" b="1" dirty="0">
                <a:solidFill>
                  <a:srgbClr val="9933FF"/>
                </a:solidFill>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的基本思想：</a:t>
            </a:r>
            <a:endParaRPr lang="en-US" altLang="zh-CN" sz="2400" b="1" dirty="0">
              <a:latin typeface="Times New Roman" panose="02020603050405020304" pitchFamily="18" charset="0"/>
              <a:cs typeface="Times New Roman" panose="02020603050405020304" pitchFamily="18" charset="0"/>
            </a:endParaRPr>
          </a:p>
          <a:p>
            <a:pPr marL="800100" eaLnBrk="1" hangingPunct="1">
              <a:lnSpc>
                <a:spcPct val="120000"/>
              </a:lnSpc>
            </a:pPr>
            <a:r>
              <a:rPr lang="zh-CN" altLang="en-US" sz="2400" b="1" dirty="0">
                <a:latin typeface="Times New Roman" panose="02020603050405020304" pitchFamily="18" charset="0"/>
                <a:cs typeface="Times New Roman" panose="02020603050405020304" pitchFamily="18" charset="0"/>
              </a:rPr>
              <a:t>对分支指令的结果进行猜测，并假设这个猜测总是对的，然后按这个猜测结果继续取、流出和执行后续的指令。</a:t>
            </a:r>
            <a:endParaRPr lang="en-US" altLang="zh-CN" sz="2400" b="1" dirty="0">
              <a:latin typeface="Times New Roman" panose="02020603050405020304" pitchFamily="18" charset="0"/>
              <a:cs typeface="Times New Roman" panose="02020603050405020304" pitchFamily="18" charset="0"/>
            </a:endParaRPr>
          </a:p>
          <a:p>
            <a:pPr marL="800100" eaLnBrk="1" hangingPunct="1">
              <a:lnSpc>
                <a:spcPct val="120000"/>
              </a:lnSpc>
            </a:pPr>
            <a:r>
              <a:rPr lang="zh-CN" altLang="en-US" sz="2400" b="1" dirty="0">
                <a:latin typeface="Times New Roman" panose="02020603050405020304" pitchFamily="18" charset="0"/>
                <a:cs typeface="Times New Roman" panose="02020603050405020304" pitchFamily="18" charset="0"/>
              </a:rPr>
              <a:t>执行指令的结果不是写回到寄存器或存储器，而是写入一个称为</a:t>
            </a:r>
            <a:r>
              <a:rPr lang="zh-CN" altLang="en-US" sz="2400" b="1" dirty="0">
                <a:solidFill>
                  <a:srgbClr val="D60093"/>
                </a:solidFill>
                <a:latin typeface="Times New Roman" panose="02020603050405020304" pitchFamily="18" charset="0"/>
                <a:cs typeface="Times New Roman" panose="02020603050405020304" pitchFamily="18" charset="0"/>
              </a:rPr>
              <a:t>再定序缓冲器</a:t>
            </a:r>
            <a:r>
              <a:rPr lang="en-US" altLang="zh-CN" sz="2400" b="1" dirty="0">
                <a:solidFill>
                  <a:srgbClr val="D60093"/>
                </a:solidFill>
                <a:latin typeface="Times New Roman" panose="02020603050405020304" pitchFamily="18" charset="0"/>
                <a:cs typeface="Times New Roman" panose="02020603050405020304" pitchFamily="18" charset="0"/>
              </a:rPr>
              <a:t>ROB</a:t>
            </a:r>
            <a:r>
              <a:rPr lang="zh-CN" altLang="en-US" sz="2400" b="1" dirty="0">
                <a:solidFill>
                  <a:srgbClr val="9933FF"/>
                </a:solidFill>
                <a:latin typeface="Times New Roman" panose="02020603050405020304" pitchFamily="18" charset="0"/>
                <a:cs typeface="Times New Roman" panose="02020603050405020304" pitchFamily="18" charset="0"/>
              </a:rPr>
              <a:t>（</a:t>
            </a:r>
            <a:r>
              <a:rPr lang="en-US" altLang="zh-CN" sz="2400" b="1" dirty="0" err="1">
                <a:solidFill>
                  <a:srgbClr val="9933FF"/>
                </a:solidFill>
                <a:latin typeface="Times New Roman" panose="02020603050405020304" pitchFamily="18" charset="0"/>
                <a:cs typeface="Times New Roman" panose="02020603050405020304" pitchFamily="18" charset="0"/>
              </a:rPr>
              <a:t>ReOrder</a:t>
            </a:r>
            <a:r>
              <a:rPr lang="en-US" altLang="zh-CN" sz="2400" b="1" dirty="0">
                <a:solidFill>
                  <a:srgbClr val="9933FF"/>
                </a:solidFill>
                <a:latin typeface="Times New Roman" panose="02020603050405020304" pitchFamily="18" charset="0"/>
                <a:cs typeface="Times New Roman" panose="02020603050405020304" pitchFamily="18" charset="0"/>
              </a:rPr>
              <a:t> Buffer</a:t>
            </a:r>
            <a:r>
              <a:rPr lang="zh-CN" altLang="en-US" sz="2400" b="1" dirty="0">
                <a:solidFill>
                  <a:srgbClr val="9933FF"/>
                </a:solidFill>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中 。等到相应的指令得到</a:t>
            </a:r>
            <a:r>
              <a:rPr lang="zh-CN" altLang="en-US" sz="2400" b="1" dirty="0">
                <a:solidFill>
                  <a:srgbClr val="D60093"/>
                </a:solidFill>
                <a:latin typeface="Times New Roman" panose="02020603050405020304" pitchFamily="18" charset="0"/>
                <a:cs typeface="Times New Roman" panose="02020603050405020304" pitchFamily="18" charset="0"/>
              </a:rPr>
              <a:t>“确认”</a:t>
            </a:r>
            <a:r>
              <a:rPr lang="zh-CN" altLang="en-US" sz="2400" b="1" dirty="0">
                <a:solidFill>
                  <a:srgbClr val="9933FF"/>
                </a:solidFill>
                <a:latin typeface="Times New Roman" panose="02020603050405020304" pitchFamily="18" charset="0"/>
                <a:cs typeface="Times New Roman" panose="02020603050405020304" pitchFamily="18" charset="0"/>
              </a:rPr>
              <a:t>（</a:t>
            </a:r>
            <a:r>
              <a:rPr lang="en-US" altLang="zh-CN" sz="2400" b="1" dirty="0">
                <a:solidFill>
                  <a:srgbClr val="9933FF"/>
                </a:solidFill>
                <a:latin typeface="Times New Roman" panose="02020603050405020304" pitchFamily="18" charset="0"/>
                <a:cs typeface="Times New Roman" panose="02020603050405020304" pitchFamily="18" charset="0"/>
              </a:rPr>
              <a:t>commit</a:t>
            </a:r>
            <a:r>
              <a:rPr lang="zh-CN" altLang="en-US" sz="2400" b="1" dirty="0">
                <a:solidFill>
                  <a:srgbClr val="9933FF"/>
                </a:solidFill>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（即确实是应该执行的）之后，才将结果写入寄存器或存储器。 </a:t>
            </a:r>
          </a:p>
        </p:txBody>
      </p:sp>
      <p:sp>
        <p:nvSpPr>
          <p:cNvPr id="5" name="标题 3"/>
          <p:cNvSpPr>
            <a:spLocks noGrp="1" noChangeArrowheads="1"/>
          </p:cNvSpPr>
          <p:nvPr>
            <p:ph type="title"/>
          </p:nvPr>
        </p:nvSpPr>
        <p:spPr>
          <a:xfrm>
            <a:off x="457200" y="274638"/>
            <a:ext cx="8229600" cy="1143000"/>
          </a:xfrm>
        </p:spPr>
        <p:txBody>
          <a:bodyPr/>
          <a:lstStyle/>
          <a:p>
            <a:r>
              <a:rPr lang="en-US" altLang="zh-CN" sz="3600" b="1" dirty="0">
                <a:latin typeface="Times New Roman" panose="02020603050405020304" pitchFamily="18" charset="0"/>
                <a:ea typeface="+mn-ea"/>
                <a:cs typeface="Times New Roman" panose="02020603050405020304" pitchFamily="18" charset="0"/>
              </a:rPr>
              <a:t>7.3.3 </a:t>
            </a:r>
            <a:r>
              <a:rPr lang="zh-CN" altLang="en-US" sz="3600" b="1" dirty="0">
                <a:latin typeface="Times New Roman" panose="02020603050405020304" pitchFamily="18" charset="0"/>
                <a:ea typeface="+mn-ea"/>
                <a:cs typeface="Times New Roman" panose="02020603050405020304" pitchFamily="18" charset="0"/>
              </a:rPr>
              <a:t>基于硬件的前瞻执行</a:t>
            </a:r>
            <a:endParaRPr lang="zh-CN" altLang="en-US" sz="3600" dirty="0">
              <a:latin typeface="Times New Roman" panose="02020603050405020304" pitchFamily="18" charset="0"/>
              <a:ea typeface="+mn-ea"/>
              <a:cs typeface="Times New Roman" panose="02020603050405020304" pitchFamily="18" charset="0"/>
            </a:endParaRPr>
          </a:p>
        </p:txBody>
      </p:sp>
      <p:sp>
        <p:nvSpPr>
          <p:cNvPr id="2" name="日期占位符 1">
            <a:extLst>
              <a:ext uri="{FF2B5EF4-FFF2-40B4-BE49-F238E27FC236}">
                <a16:creationId xmlns:a16="http://schemas.microsoft.com/office/drawing/2014/main" id="{1F30D8A9-D848-A8A0-5459-0ED583D6E73C}"/>
              </a:ext>
            </a:extLst>
          </p:cNvPr>
          <p:cNvSpPr>
            <a:spLocks noGrp="1"/>
          </p:cNvSpPr>
          <p:nvPr>
            <p:ph type="dt" sz="half" idx="10"/>
          </p:nvPr>
        </p:nvSpPr>
        <p:spPr/>
        <p:txBody>
          <a:bodyPr/>
          <a:lstStyle/>
          <a:p>
            <a:pPr>
              <a:defRPr/>
            </a:pPr>
            <a:fld id="{60B039F8-180D-412B-A534-787414DA034C}"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6DC8B8C2-BB0B-BBBE-446D-A9A755DD8FF9}"/>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27B964F2-D159-20DB-C649-DAD95BAAF0D6}"/>
              </a:ext>
            </a:extLst>
          </p:cNvPr>
          <p:cNvSpPr>
            <a:spLocks noGrp="1"/>
          </p:cNvSpPr>
          <p:nvPr>
            <p:ph type="sldNum" sz="quarter" idx="12"/>
          </p:nvPr>
        </p:nvSpPr>
        <p:spPr/>
        <p:txBody>
          <a:bodyPr/>
          <a:lstStyle/>
          <a:p>
            <a:pPr>
              <a:defRPr/>
            </a:pPr>
            <a:fld id="{8BCAC33D-D29A-48B3-BCD6-381D3D720D26}" type="slidenum">
              <a:rPr lang="zh-CN" altLang="en-US" smtClean="0"/>
              <a:t>25</a:t>
            </a:fld>
            <a:endParaRPr lang="en-US" altLang="zh-CN"/>
          </a:p>
        </p:txBody>
      </p:sp>
    </p:spTree>
    <p:extLst>
      <p:ext uri="{BB962C8B-B14F-4D97-AF65-F5344CB8AC3E}">
        <p14:creationId xmlns:p14="http://schemas.microsoft.com/office/powerpoint/2010/main" val="3955249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3" descr="Rectangle: Click to edit Master text styles&#10;Second level&#10;Third level&#10;Fourth level&#10;Fifth level"/>
          <p:cNvSpPr>
            <a:spLocks noGrp="1" noChangeArrowheads="1"/>
          </p:cNvSpPr>
          <p:nvPr>
            <p:ph idx="1"/>
          </p:nvPr>
        </p:nvSpPr>
        <p:spPr>
          <a:xfrm>
            <a:off x="642938" y="708248"/>
            <a:ext cx="7772400" cy="5457056"/>
          </a:xfrm>
        </p:spPr>
        <p:txBody>
          <a:bodyPr/>
          <a:lstStyle/>
          <a:p>
            <a:pPr marL="457200" indent="-457200" eaLnBrk="1" hangingPunct="1"/>
            <a:r>
              <a:rPr lang="zh-CN" altLang="en-US" sz="2400" b="1" dirty="0">
                <a:latin typeface="Times New Roman" panose="02020603050405020304" pitchFamily="18" charset="0"/>
                <a:cs typeface="Times New Roman" panose="02020603050405020304" pitchFamily="18" charset="0"/>
              </a:rPr>
              <a:t>基于硬件的前瞻执行结合了</a:t>
            </a:r>
            <a:r>
              <a:rPr lang="en-US" altLang="zh-CN" sz="2400" b="1" dirty="0">
                <a:solidFill>
                  <a:srgbClr val="D60093"/>
                </a:solidFill>
                <a:latin typeface="Times New Roman" panose="02020603050405020304" pitchFamily="18" charset="0"/>
                <a:cs typeface="Times New Roman" panose="02020603050405020304" pitchFamily="18" charset="0"/>
              </a:rPr>
              <a:t>3</a:t>
            </a:r>
            <a:r>
              <a:rPr lang="zh-CN" altLang="en-US" sz="2400" b="1" dirty="0">
                <a:solidFill>
                  <a:srgbClr val="D60093"/>
                </a:solidFill>
                <a:latin typeface="Times New Roman" panose="02020603050405020304" pitchFamily="18" charset="0"/>
                <a:cs typeface="Times New Roman" panose="02020603050405020304" pitchFamily="18" charset="0"/>
              </a:rPr>
              <a:t>种思想：</a:t>
            </a:r>
          </a:p>
          <a:p>
            <a:pPr marL="1085850" lvl="1" indent="-457200" eaLnBrk="1" hangingPunct="1">
              <a:buFont typeface="Wingdings" panose="05000000000000000000" pitchFamily="2" charset="2"/>
              <a:buChar char="ü"/>
            </a:pPr>
            <a:r>
              <a:rPr lang="zh-CN" altLang="en-US" sz="2400" b="1" dirty="0">
                <a:latin typeface="Times New Roman" panose="02020603050405020304" pitchFamily="18" charset="0"/>
                <a:cs typeface="Times New Roman" panose="02020603050405020304" pitchFamily="18" charset="0"/>
              </a:rPr>
              <a:t>采用动态分支预测来选择后续执行的指令。</a:t>
            </a:r>
          </a:p>
          <a:p>
            <a:pPr marL="1085850" lvl="1" indent="-457200" eaLnBrk="1" hangingPunct="1">
              <a:buFont typeface="Wingdings" panose="05000000000000000000" pitchFamily="2" charset="2"/>
              <a:buChar char="ü"/>
            </a:pPr>
            <a:r>
              <a:rPr lang="zh-CN" altLang="en-US" sz="2400" b="1" dirty="0">
                <a:latin typeface="Times New Roman" panose="02020603050405020304" pitchFamily="18" charset="0"/>
                <a:cs typeface="Times New Roman" panose="02020603050405020304" pitchFamily="18" charset="0"/>
              </a:rPr>
              <a:t>在控制相关的结果尚未出来之前，前瞻地执行后续指令。</a:t>
            </a:r>
          </a:p>
          <a:p>
            <a:pPr marL="1085850" lvl="1" indent="-457200" eaLnBrk="1" hangingPunct="1">
              <a:buFont typeface="Wingdings" panose="05000000000000000000" pitchFamily="2" charset="2"/>
              <a:buChar char="ü"/>
            </a:pPr>
            <a:r>
              <a:rPr lang="zh-CN" altLang="en-US" sz="2400" b="1" dirty="0">
                <a:latin typeface="Times New Roman" panose="02020603050405020304" pitchFamily="18" charset="0"/>
                <a:cs typeface="Times New Roman" panose="02020603050405020304" pitchFamily="18" charset="0"/>
              </a:rPr>
              <a:t>对基本块采用动态调度。</a:t>
            </a:r>
            <a:endParaRPr lang="en-US" altLang="zh-CN" sz="2400" b="1" dirty="0">
              <a:latin typeface="Times New Roman" panose="02020603050405020304" pitchFamily="18" charset="0"/>
              <a:cs typeface="Times New Roman" panose="02020603050405020304" pitchFamily="18" charset="0"/>
            </a:endParaRPr>
          </a:p>
          <a:p>
            <a:pPr marL="1085850" lvl="1" indent="-457200" eaLnBrk="1" hangingPunct="1">
              <a:buFont typeface="Wingdings" panose="05000000000000000000" pitchFamily="2" charset="2"/>
              <a:buChar char="ü"/>
            </a:pPr>
            <a:endParaRPr lang="zh-CN" altLang="en-US" sz="2400" b="1" dirty="0">
              <a:latin typeface="Times New Roman" panose="02020603050405020304" pitchFamily="18" charset="0"/>
              <a:cs typeface="Times New Roman" panose="02020603050405020304" pitchFamily="18" charset="0"/>
            </a:endParaRPr>
          </a:p>
          <a:p>
            <a:pPr marL="457200" indent="-457200" eaLnBrk="1" hangingPunct="1"/>
            <a:r>
              <a:rPr lang="zh-CN" altLang="en-US" sz="2400" b="1" dirty="0">
                <a:latin typeface="Times New Roman" panose="02020603050405020304" pitchFamily="18" charset="0"/>
                <a:cs typeface="Times New Roman" panose="02020603050405020304" pitchFamily="18" charset="0"/>
              </a:rPr>
              <a:t>对</a:t>
            </a:r>
            <a:r>
              <a:rPr lang="en-US" altLang="zh-CN" sz="2400" b="1" dirty="0" err="1">
                <a:latin typeface="Times New Roman" panose="02020603050405020304" pitchFamily="18" charset="0"/>
                <a:cs typeface="Times New Roman" panose="02020603050405020304" pitchFamily="18" charset="0"/>
              </a:rPr>
              <a:t>Tomasulo</a:t>
            </a:r>
            <a:r>
              <a:rPr lang="zh-CN" altLang="en-US" sz="2400" b="1" dirty="0">
                <a:latin typeface="Times New Roman" panose="02020603050405020304" pitchFamily="18" charset="0"/>
                <a:cs typeface="Times New Roman" panose="02020603050405020304" pitchFamily="18" charset="0"/>
              </a:rPr>
              <a:t>算法加以扩充，就可以支持前瞻执行。</a:t>
            </a:r>
          </a:p>
          <a:p>
            <a:pPr marL="1070100" lvl="1" indent="-342900" eaLnBrk="1" hangingPunct="1">
              <a:buFont typeface="Wingdings" panose="05000000000000000000" pitchFamily="2" charset="2"/>
              <a:buChar char="ü"/>
            </a:pPr>
            <a:r>
              <a:rPr lang="zh-CN" altLang="en-US" sz="2400" b="1" dirty="0">
                <a:latin typeface="Times New Roman" panose="02020603050405020304" pitchFamily="18" charset="0"/>
                <a:cs typeface="Times New Roman" panose="02020603050405020304" pitchFamily="18" charset="0"/>
              </a:rPr>
              <a:t>把</a:t>
            </a:r>
            <a:r>
              <a:rPr lang="en-US" altLang="zh-CN" sz="2400" b="1" dirty="0" err="1">
                <a:latin typeface="Times New Roman" panose="02020603050405020304" pitchFamily="18" charset="0"/>
                <a:cs typeface="Times New Roman" panose="02020603050405020304" pitchFamily="18" charset="0"/>
              </a:rPr>
              <a:t>Tomasulo</a:t>
            </a:r>
            <a:r>
              <a:rPr lang="zh-CN" altLang="en-US" sz="2400" b="1" dirty="0">
                <a:latin typeface="Times New Roman" panose="02020603050405020304" pitchFamily="18" charset="0"/>
                <a:cs typeface="Times New Roman" panose="02020603050405020304" pitchFamily="18" charset="0"/>
              </a:rPr>
              <a:t>算法的写结果和指令完成加以区分，分成两个不同的段：</a:t>
            </a:r>
          </a:p>
          <a:p>
            <a:pPr lvl="2" indent="0" eaLnBrk="1" hangingPunct="1">
              <a:buFont typeface="Wingdings" pitchFamily="2" charset="2"/>
              <a:buNone/>
            </a:pPr>
            <a:r>
              <a:rPr lang="zh-CN" altLang="en-US" b="1" dirty="0">
                <a:latin typeface="Times New Roman" panose="02020603050405020304" pitchFamily="18" charset="0"/>
                <a:cs typeface="Times New Roman" panose="02020603050405020304" pitchFamily="18" charset="0"/>
              </a:rPr>
              <a:t>     </a:t>
            </a:r>
            <a:r>
              <a:rPr lang="zh-CN" altLang="en-US" b="1" dirty="0">
                <a:solidFill>
                  <a:srgbClr val="CC3399"/>
                </a:solidFill>
                <a:latin typeface="Times New Roman" panose="02020603050405020304" pitchFamily="18" charset="0"/>
                <a:cs typeface="Times New Roman" panose="02020603050405020304" pitchFamily="18" charset="0"/>
              </a:rPr>
              <a:t>写结果</a:t>
            </a:r>
            <a:r>
              <a:rPr lang="zh-CN" altLang="en-US" b="1" dirty="0">
                <a:latin typeface="Times New Roman" panose="02020603050405020304" pitchFamily="18" charset="0"/>
                <a:cs typeface="Times New Roman" panose="02020603050405020304" pitchFamily="18" charset="0"/>
              </a:rPr>
              <a:t>，</a:t>
            </a:r>
            <a:r>
              <a:rPr lang="zh-CN" altLang="en-US" b="1" dirty="0">
                <a:solidFill>
                  <a:srgbClr val="CC3399"/>
                </a:solidFill>
                <a:latin typeface="Times New Roman" panose="02020603050405020304" pitchFamily="18" charset="0"/>
                <a:cs typeface="Times New Roman" panose="02020603050405020304" pitchFamily="18" charset="0"/>
              </a:rPr>
              <a:t>指令确认</a:t>
            </a:r>
            <a:r>
              <a:rPr lang="zh-CN" altLang="en-US" b="1" dirty="0">
                <a:latin typeface="Times New Roman" panose="02020603050405020304" pitchFamily="18" charset="0"/>
                <a:cs typeface="Times New Roman" panose="02020603050405020304" pitchFamily="18" charset="0"/>
              </a:rPr>
              <a:t> </a:t>
            </a:r>
            <a:endParaRPr lang="en-US" altLang="zh-CN" b="1" dirty="0">
              <a:latin typeface="Times New Roman" panose="02020603050405020304" pitchFamily="18" charset="0"/>
              <a:cs typeface="Times New Roman" panose="02020603050405020304" pitchFamily="18" charset="0"/>
            </a:endParaRPr>
          </a:p>
          <a:p>
            <a:pPr lvl="2" indent="0" eaLnBrk="1" hangingPunct="1">
              <a:buFont typeface="Wingdings" pitchFamily="2" charset="2"/>
              <a:buNone/>
            </a:pPr>
            <a:endParaRPr lang="en-US" altLang="zh-CN" b="1" dirty="0">
              <a:latin typeface="Times New Roman" panose="02020603050405020304" pitchFamily="18" charset="0"/>
              <a:cs typeface="Times New Roman" panose="02020603050405020304" pitchFamily="18" charset="0"/>
            </a:endParaRPr>
          </a:p>
          <a:p>
            <a:pPr marL="342900" lvl="2" indent="-342900" eaLnBrk="1" hangingPunct="1"/>
            <a:r>
              <a:rPr lang="zh-CN" altLang="en-US" b="1" dirty="0">
                <a:latin typeface="Times New Roman" panose="02020603050405020304" pitchFamily="18" charset="0"/>
                <a:cs typeface="Times New Roman" panose="02020603050405020304" pitchFamily="18" charset="0"/>
              </a:rPr>
              <a:t> 允许指令</a:t>
            </a:r>
            <a:r>
              <a:rPr lang="zh-CN" altLang="en-US" b="1" dirty="0">
                <a:solidFill>
                  <a:srgbClr val="FF0000"/>
                </a:solidFill>
                <a:latin typeface="Times New Roman" panose="02020603050405020304" pitchFamily="18" charset="0"/>
                <a:cs typeface="Times New Roman" panose="02020603050405020304" pitchFamily="18" charset="0"/>
              </a:rPr>
              <a:t>乱序执行</a:t>
            </a:r>
            <a:r>
              <a:rPr lang="zh-CN" altLang="en-US" b="1" dirty="0">
                <a:latin typeface="Times New Roman" panose="02020603050405020304" pitchFamily="18" charset="0"/>
                <a:cs typeface="Times New Roman" panose="02020603050405020304" pitchFamily="18" charset="0"/>
              </a:rPr>
              <a:t>，但必须</a:t>
            </a:r>
            <a:r>
              <a:rPr lang="zh-CN" altLang="en-US" b="1" dirty="0">
                <a:solidFill>
                  <a:srgbClr val="FF0000"/>
                </a:solidFill>
                <a:latin typeface="Times New Roman" panose="02020603050405020304" pitchFamily="18" charset="0"/>
                <a:cs typeface="Times New Roman" panose="02020603050405020304" pitchFamily="18" charset="0"/>
              </a:rPr>
              <a:t>顺序确认</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1CDE97DD-9AC5-0036-C98C-D9E35FE33372}"/>
              </a:ext>
            </a:extLst>
          </p:cNvPr>
          <p:cNvSpPr>
            <a:spLocks noGrp="1"/>
          </p:cNvSpPr>
          <p:nvPr>
            <p:ph type="dt" sz="half" idx="10"/>
          </p:nvPr>
        </p:nvSpPr>
        <p:spPr/>
        <p:txBody>
          <a:bodyPr/>
          <a:lstStyle/>
          <a:p>
            <a:pPr>
              <a:defRPr/>
            </a:pPr>
            <a:fld id="{A8E91B3D-E47B-4108-8A37-3C3133F0F1D4}"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8D9598EE-8208-D437-31E8-B4788C731149}"/>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AEB3DEB-B010-5900-D2EB-7CE99EF07C4B}"/>
              </a:ext>
            </a:extLst>
          </p:cNvPr>
          <p:cNvSpPr>
            <a:spLocks noGrp="1"/>
          </p:cNvSpPr>
          <p:nvPr>
            <p:ph type="sldNum" sz="quarter" idx="12"/>
          </p:nvPr>
        </p:nvSpPr>
        <p:spPr/>
        <p:txBody>
          <a:bodyPr/>
          <a:lstStyle/>
          <a:p>
            <a:pPr>
              <a:defRPr/>
            </a:pPr>
            <a:fld id="{8BCAC33D-D29A-48B3-BCD6-381D3D720D26}" type="slidenum">
              <a:rPr lang="zh-CN" altLang="en-US" smtClean="0"/>
              <a:t>26</a:t>
            </a:fld>
            <a:endParaRPr lang="en-US" altLang="zh-CN"/>
          </a:p>
        </p:txBody>
      </p:sp>
    </p:spTree>
    <p:extLst>
      <p:ext uri="{BB962C8B-B14F-4D97-AF65-F5344CB8AC3E}">
        <p14:creationId xmlns:p14="http://schemas.microsoft.com/office/powerpoint/2010/main" val="5367629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3" descr="Rectangle: Click to edit Master text styles&#10;Second level&#10;Third level&#10;Fourth level&#10;Fifth level">
            <a:extLst>
              <a:ext uri="{FF2B5EF4-FFF2-40B4-BE49-F238E27FC236}">
                <a16:creationId xmlns:a16="http://schemas.microsoft.com/office/drawing/2014/main" id="{F23B54D6-93E3-4847-A506-27311205CFBB}"/>
              </a:ext>
            </a:extLst>
          </p:cNvPr>
          <p:cNvSpPr>
            <a:spLocks noGrp="1" noChangeArrowheads="1"/>
          </p:cNvSpPr>
          <p:nvPr>
            <p:ph type="body" idx="1"/>
          </p:nvPr>
        </p:nvSpPr>
        <p:spPr>
          <a:xfrm>
            <a:off x="179512" y="476672"/>
            <a:ext cx="8568952" cy="5976664"/>
          </a:xfrm>
        </p:spPr>
        <p:txBody>
          <a:bodyPr/>
          <a:lstStyle/>
          <a:p>
            <a:pPr marL="727200" lvl="1" indent="-457200" eaLnBrk="1" hangingPunct="1">
              <a:lnSpc>
                <a:spcPct val="110000"/>
              </a:lnSpc>
            </a:pPr>
            <a:r>
              <a:rPr lang="zh-CN" altLang="en-US" sz="2400" b="1" dirty="0">
                <a:latin typeface="Times New Roman" panose="02020603050405020304" pitchFamily="18" charset="0"/>
                <a:cs typeface="Times New Roman" panose="02020603050405020304" pitchFamily="18" charset="0"/>
              </a:rPr>
              <a:t>写结果段</a:t>
            </a:r>
          </a:p>
          <a:p>
            <a:pPr marL="784800" lvl="2" eaLnBrk="1" hangingPunct="1">
              <a:lnSpc>
                <a:spcPct val="110000"/>
              </a:lnSpc>
            </a:pPr>
            <a:r>
              <a:rPr lang="zh-CN" altLang="en-US" b="1" dirty="0">
                <a:latin typeface="Times New Roman" panose="02020603050405020304" pitchFamily="18" charset="0"/>
                <a:cs typeface="Times New Roman" panose="02020603050405020304" pitchFamily="18" charset="0"/>
              </a:rPr>
              <a:t>把前瞻执行的</a:t>
            </a:r>
            <a:r>
              <a:rPr lang="zh-CN" altLang="en-US" b="1" dirty="0">
                <a:solidFill>
                  <a:srgbClr val="C00000"/>
                </a:solidFill>
                <a:latin typeface="Times New Roman" panose="02020603050405020304" pitchFamily="18" charset="0"/>
                <a:cs typeface="Times New Roman" panose="02020603050405020304" pitchFamily="18" charset="0"/>
              </a:rPr>
              <a:t>结果写到</a:t>
            </a:r>
            <a:r>
              <a:rPr lang="en-US" altLang="zh-CN" b="1" dirty="0">
                <a:solidFill>
                  <a:srgbClr val="C00000"/>
                </a:solidFill>
                <a:latin typeface="Times New Roman" panose="02020603050405020304" pitchFamily="18" charset="0"/>
                <a:cs typeface="Times New Roman" panose="02020603050405020304" pitchFamily="18" charset="0"/>
              </a:rPr>
              <a:t>ROB</a:t>
            </a:r>
            <a:r>
              <a:rPr lang="zh-CN" altLang="en-US" b="1" dirty="0">
                <a:latin typeface="Times New Roman" panose="02020603050405020304" pitchFamily="18" charset="0"/>
                <a:cs typeface="Times New Roman" panose="02020603050405020304" pitchFamily="18" charset="0"/>
              </a:rPr>
              <a:t>中；</a:t>
            </a:r>
          </a:p>
          <a:p>
            <a:pPr marL="784800" lvl="2" eaLnBrk="1" hangingPunct="1">
              <a:lnSpc>
                <a:spcPct val="110000"/>
              </a:lnSpc>
            </a:pPr>
            <a:r>
              <a:rPr lang="zh-CN" altLang="en-US" b="1" dirty="0">
                <a:latin typeface="Times New Roman" panose="02020603050405020304" pitchFamily="18" charset="0"/>
                <a:cs typeface="Times New Roman" panose="02020603050405020304" pitchFamily="18" charset="0"/>
              </a:rPr>
              <a:t>通过</a:t>
            </a:r>
            <a:r>
              <a:rPr lang="en-US" altLang="zh-CN" b="1" dirty="0">
                <a:latin typeface="Times New Roman" panose="02020603050405020304" pitchFamily="18" charset="0"/>
                <a:cs typeface="Times New Roman" panose="02020603050405020304" pitchFamily="18" charset="0"/>
              </a:rPr>
              <a:t>CDB</a:t>
            </a:r>
            <a:r>
              <a:rPr lang="zh-CN" altLang="en-US" b="1" dirty="0">
                <a:latin typeface="Times New Roman" panose="02020603050405020304" pitchFamily="18" charset="0"/>
                <a:cs typeface="Times New Roman" panose="02020603050405020304" pitchFamily="18" charset="0"/>
              </a:rPr>
              <a:t>在指令之间传送结果，供需要用到这些结果的指令使用。</a:t>
            </a:r>
            <a:endParaRPr lang="en-US" altLang="zh-CN" b="1" dirty="0">
              <a:latin typeface="Times New Roman" panose="02020603050405020304" pitchFamily="18" charset="0"/>
              <a:cs typeface="Times New Roman" panose="02020603050405020304" pitchFamily="18" charset="0"/>
            </a:endParaRPr>
          </a:p>
          <a:p>
            <a:pPr marL="914400" lvl="2" indent="0" eaLnBrk="1" hangingPunct="1">
              <a:lnSpc>
                <a:spcPct val="110000"/>
              </a:lnSpc>
              <a:buNone/>
            </a:pPr>
            <a:endParaRPr lang="zh-CN" altLang="en-US" b="1" dirty="0">
              <a:latin typeface="Times New Roman" panose="02020603050405020304" pitchFamily="18" charset="0"/>
              <a:cs typeface="Times New Roman" panose="02020603050405020304" pitchFamily="18" charset="0"/>
            </a:endParaRPr>
          </a:p>
          <a:p>
            <a:pPr marL="727200" lvl="1" indent="-457200" eaLnBrk="1" hangingPunct="1">
              <a:lnSpc>
                <a:spcPct val="110000"/>
              </a:lnSpc>
            </a:pPr>
            <a:r>
              <a:rPr lang="zh-CN" altLang="en-US" sz="2400" b="1" dirty="0">
                <a:latin typeface="Times New Roman" panose="02020603050405020304" pitchFamily="18" charset="0"/>
                <a:cs typeface="Times New Roman" panose="02020603050405020304" pitchFamily="18" charset="0"/>
              </a:rPr>
              <a:t>指令确认段 </a:t>
            </a:r>
          </a:p>
          <a:p>
            <a:pPr marL="784800" lvl="2" eaLnBrk="1" hangingPunct="1">
              <a:lnSpc>
                <a:spcPct val="110000"/>
              </a:lnSpc>
              <a:buFont typeface="Wingdings" panose="05000000000000000000" pitchFamily="2" charset="2"/>
              <a:buNone/>
            </a:pPr>
            <a:r>
              <a:rPr lang="zh-CN" altLang="en-US" b="1" dirty="0">
                <a:latin typeface="Times New Roman" panose="02020603050405020304" pitchFamily="18" charset="0"/>
                <a:cs typeface="Times New Roman" panose="02020603050405020304" pitchFamily="18" charset="0"/>
              </a:rPr>
              <a:t>   在分支指令的结果出来后，对相应指令的前瞻执行给予确认。</a:t>
            </a:r>
          </a:p>
          <a:p>
            <a:pPr marL="784800" lvl="2" eaLnBrk="1" hangingPunct="1">
              <a:lnSpc>
                <a:spcPct val="110000"/>
              </a:lnSpc>
            </a:pPr>
            <a:r>
              <a:rPr lang="zh-CN" altLang="en-US" b="1" dirty="0">
                <a:latin typeface="Times New Roman" panose="02020603050405020304" pitchFamily="18" charset="0"/>
                <a:cs typeface="Times New Roman" panose="02020603050405020304" pitchFamily="18" charset="0"/>
              </a:rPr>
              <a:t>如果前面所做的猜测是对的，把在</a:t>
            </a:r>
            <a:r>
              <a:rPr lang="en-US" altLang="zh-CN" b="1" dirty="0">
                <a:latin typeface="Times New Roman" panose="02020603050405020304" pitchFamily="18" charset="0"/>
                <a:cs typeface="Times New Roman" panose="02020603050405020304" pitchFamily="18" charset="0"/>
              </a:rPr>
              <a:t>ROB</a:t>
            </a:r>
            <a:r>
              <a:rPr lang="zh-CN" altLang="en-US" b="1" dirty="0">
                <a:latin typeface="Times New Roman" panose="02020603050405020304" pitchFamily="18" charset="0"/>
                <a:cs typeface="Times New Roman" panose="02020603050405020304" pitchFamily="18" charset="0"/>
              </a:rPr>
              <a:t>中的结果写到寄存器或存储器。</a:t>
            </a:r>
          </a:p>
          <a:p>
            <a:pPr marL="784800" lvl="2" eaLnBrk="1" hangingPunct="1">
              <a:lnSpc>
                <a:spcPct val="110000"/>
              </a:lnSpc>
            </a:pPr>
            <a:r>
              <a:rPr lang="zh-CN" altLang="en-US" b="1" dirty="0">
                <a:latin typeface="Times New Roman" panose="02020603050405020304" pitchFamily="18" charset="0"/>
                <a:cs typeface="Times New Roman" panose="02020603050405020304" pitchFamily="18" charset="0"/>
              </a:rPr>
              <a:t>如果发现前面对分支结果的猜测是错误的，那就不予以确认，刷新</a:t>
            </a:r>
            <a:r>
              <a:rPr lang="en-US" altLang="zh-CN" b="1" dirty="0">
                <a:latin typeface="Times New Roman" panose="02020603050405020304" pitchFamily="18" charset="0"/>
                <a:cs typeface="Times New Roman" panose="02020603050405020304" pitchFamily="18" charset="0"/>
              </a:rPr>
              <a:t>ROB</a:t>
            </a:r>
            <a:r>
              <a:rPr lang="zh-CN" altLang="en-US" b="1" dirty="0">
                <a:latin typeface="Times New Roman" panose="02020603050405020304" pitchFamily="18" charset="0"/>
                <a:cs typeface="Times New Roman" panose="02020603050405020304" pitchFamily="18" charset="0"/>
              </a:rPr>
              <a:t>，并从那条分支指令的另一条路径开始重新执行。  </a:t>
            </a:r>
          </a:p>
        </p:txBody>
      </p:sp>
      <p:sp>
        <p:nvSpPr>
          <p:cNvPr id="2" name="日期占位符 1">
            <a:extLst>
              <a:ext uri="{FF2B5EF4-FFF2-40B4-BE49-F238E27FC236}">
                <a16:creationId xmlns:a16="http://schemas.microsoft.com/office/drawing/2014/main" id="{C8B5A0D8-79B9-7670-06E9-CAA163A12FB9}"/>
              </a:ext>
            </a:extLst>
          </p:cNvPr>
          <p:cNvSpPr>
            <a:spLocks noGrp="1"/>
          </p:cNvSpPr>
          <p:nvPr>
            <p:ph type="dt" sz="half" idx="10"/>
          </p:nvPr>
        </p:nvSpPr>
        <p:spPr/>
        <p:txBody>
          <a:bodyPr/>
          <a:lstStyle/>
          <a:p>
            <a:pPr>
              <a:defRPr/>
            </a:pPr>
            <a:fld id="{15D53DA9-79E0-454A-9CC7-DB4D29E83146}"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1DCF66D6-6484-B442-EC42-2D812B5A5039}"/>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60D0F0E8-E7DE-2EB2-9576-8F2ED159ABD5}"/>
              </a:ext>
            </a:extLst>
          </p:cNvPr>
          <p:cNvSpPr>
            <a:spLocks noGrp="1"/>
          </p:cNvSpPr>
          <p:nvPr>
            <p:ph type="sldNum" sz="quarter" idx="12"/>
          </p:nvPr>
        </p:nvSpPr>
        <p:spPr/>
        <p:txBody>
          <a:bodyPr/>
          <a:lstStyle/>
          <a:p>
            <a:pPr>
              <a:defRPr/>
            </a:pPr>
            <a:fld id="{8BCAC33D-D29A-48B3-BCD6-381D3D720D26}" type="slidenum">
              <a:rPr lang="zh-CN" altLang="en-US" smtClean="0"/>
              <a:t>27</a:t>
            </a:fld>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6914" name="Object 4" descr="Rectangle: Click to edit Master text styles&#10;Second level&#10;Third level&#10;Fourth level&#10;Fifth level"/>
          <p:cNvGraphicFramePr>
            <a:graphicFrameLocks noGrp="1" noChangeAspect="1"/>
          </p:cNvGraphicFramePr>
          <p:nvPr>
            <p:ph/>
          </p:nvPr>
        </p:nvGraphicFramePr>
        <p:xfrm>
          <a:off x="869950" y="260350"/>
          <a:ext cx="7345363" cy="6138863"/>
        </p:xfrm>
        <a:graphic>
          <a:graphicData uri="http://schemas.openxmlformats.org/presentationml/2006/ole">
            <mc:AlternateContent xmlns:mc="http://schemas.openxmlformats.org/markup-compatibility/2006">
              <mc:Choice xmlns:v="urn:schemas-microsoft-com:vml" Requires="v">
                <p:oleObj r:id="rId3" imgW="4915949" imgH="4118994" progId="Word.Picture.8">
                  <p:embed/>
                </p:oleObj>
              </mc:Choice>
              <mc:Fallback>
                <p:oleObj r:id="rId3" imgW="4915949" imgH="4118994"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 y="260350"/>
                        <a:ext cx="7345363" cy="613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日期占位符 1">
            <a:extLst>
              <a:ext uri="{FF2B5EF4-FFF2-40B4-BE49-F238E27FC236}">
                <a16:creationId xmlns:a16="http://schemas.microsoft.com/office/drawing/2014/main" id="{052A0780-1CD8-47DE-3FA0-A5BA6E7D078B}"/>
              </a:ext>
            </a:extLst>
          </p:cNvPr>
          <p:cNvSpPr>
            <a:spLocks noGrp="1"/>
          </p:cNvSpPr>
          <p:nvPr>
            <p:ph type="dt" sz="half" idx="10"/>
          </p:nvPr>
        </p:nvSpPr>
        <p:spPr/>
        <p:txBody>
          <a:bodyPr/>
          <a:lstStyle/>
          <a:p>
            <a:pPr>
              <a:defRPr/>
            </a:pPr>
            <a:fld id="{A28D6D2F-9F7B-4F30-A615-893B81309C54}"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8F9547C9-7E39-1637-09BF-248D9C718C97}"/>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FA3BE7E7-447F-E7DE-E96C-6348E8EB17FB}"/>
              </a:ext>
            </a:extLst>
          </p:cNvPr>
          <p:cNvSpPr>
            <a:spLocks noGrp="1"/>
          </p:cNvSpPr>
          <p:nvPr>
            <p:ph type="sldNum" sz="quarter" idx="12"/>
          </p:nvPr>
        </p:nvSpPr>
        <p:spPr/>
        <p:txBody>
          <a:bodyPr/>
          <a:lstStyle/>
          <a:p>
            <a:pPr>
              <a:defRPr/>
            </a:pPr>
            <a:fld id="{0D31C944-F470-43DB-AA6A-FA332AA1ED5F}" type="slidenum">
              <a:rPr lang="en-US" altLang="zh-CN" smtClean="0"/>
              <a:pPr>
                <a:defRPr/>
              </a:pPr>
              <a:t>28</a:t>
            </a:fld>
            <a:endParaRPr lang="en-US" altLang="zh-CN"/>
          </a:p>
        </p:txBody>
      </p:sp>
    </p:spTree>
    <p:extLst>
      <p:ext uri="{BB962C8B-B14F-4D97-AF65-F5344CB8AC3E}">
        <p14:creationId xmlns:p14="http://schemas.microsoft.com/office/powerpoint/2010/main" val="2977351511"/>
      </p:ext>
    </p:extLst>
  </p:cSld>
  <p:clrMapOvr>
    <a:masterClrMapping/>
  </p:clrMapOvr>
  <p:transition>
    <p:pull dir="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3" descr="Rectangle: Click to edit Master text styles&#10;Second level&#10;Third level&#10;Fourth level&#10;Fifth level"/>
          <p:cNvSpPr>
            <a:spLocks noGrp="1" noChangeArrowheads="1"/>
          </p:cNvSpPr>
          <p:nvPr>
            <p:ph idx="1"/>
          </p:nvPr>
        </p:nvSpPr>
        <p:spPr>
          <a:xfrm>
            <a:off x="323528" y="692696"/>
            <a:ext cx="8568952" cy="5424488"/>
          </a:xfrm>
        </p:spPr>
        <p:txBody>
          <a:bodyPr/>
          <a:lstStyle/>
          <a:p>
            <a:pPr marL="367200" lvl="1" indent="-457200" eaLnBrk="1" hangingPunct="1"/>
            <a:r>
              <a:rPr lang="en-US" altLang="zh-CN" sz="2400" b="1" dirty="0">
                <a:solidFill>
                  <a:srgbClr val="9933FF"/>
                </a:solidFill>
                <a:latin typeface="Times New Roman" panose="02020603050405020304" pitchFamily="18" charset="0"/>
                <a:cs typeface="Times New Roman" panose="02020603050405020304" pitchFamily="18" charset="0"/>
              </a:rPr>
              <a:t>ROB</a:t>
            </a:r>
            <a:r>
              <a:rPr lang="zh-CN" altLang="en-US" sz="2400" b="1" dirty="0">
                <a:latin typeface="Times New Roman" panose="02020603050405020304" pitchFamily="18" charset="0"/>
                <a:cs typeface="Times New Roman" panose="02020603050405020304" pitchFamily="18" charset="0"/>
              </a:rPr>
              <a:t>中的每一项由以下</a:t>
            </a:r>
            <a:r>
              <a:rPr lang="en-US" altLang="zh-CN" sz="2400" b="1" dirty="0">
                <a:solidFill>
                  <a:srgbClr val="9933FF"/>
                </a:solidFill>
                <a:latin typeface="Times New Roman" panose="02020603050405020304" pitchFamily="18" charset="0"/>
                <a:cs typeface="Times New Roman" panose="02020603050405020304" pitchFamily="18" charset="0"/>
              </a:rPr>
              <a:t>4</a:t>
            </a:r>
            <a:r>
              <a:rPr lang="zh-CN" altLang="en-US" sz="2400" b="1" dirty="0">
                <a:latin typeface="Times New Roman" panose="02020603050405020304" pitchFamily="18" charset="0"/>
                <a:cs typeface="Times New Roman" panose="02020603050405020304" pitchFamily="18" charset="0"/>
              </a:rPr>
              <a:t>个字段组成：</a:t>
            </a:r>
            <a:endParaRPr lang="en-US" altLang="zh-CN" sz="2400" b="1" dirty="0">
              <a:latin typeface="Times New Roman" panose="02020603050405020304" pitchFamily="18" charset="0"/>
              <a:cs typeface="Times New Roman" panose="02020603050405020304" pitchFamily="18" charset="0"/>
            </a:endParaRPr>
          </a:p>
          <a:p>
            <a:pPr marL="784800" lvl="2" eaLnBrk="1" hangingPunct="1">
              <a:spcBef>
                <a:spcPts val="276"/>
              </a:spcBef>
            </a:pPr>
            <a:r>
              <a:rPr lang="zh-CN" altLang="en-US" b="1" dirty="0">
                <a:solidFill>
                  <a:srgbClr val="FF0000"/>
                </a:solidFill>
                <a:latin typeface="Times New Roman" panose="02020603050405020304" pitchFamily="18" charset="0"/>
                <a:cs typeface="Times New Roman" panose="02020603050405020304" pitchFamily="18" charset="0"/>
              </a:rPr>
              <a:t>指令类型（</a:t>
            </a:r>
            <a:r>
              <a:rPr lang="en-US" altLang="zh-CN" b="1" dirty="0">
                <a:solidFill>
                  <a:srgbClr val="FF0000"/>
                </a:solidFill>
                <a:latin typeface="Times New Roman" panose="02020603050405020304" pitchFamily="18" charset="0"/>
                <a:cs typeface="Times New Roman" panose="02020603050405020304" pitchFamily="18" charset="0"/>
              </a:rPr>
              <a:t>instruction</a:t>
            </a:r>
            <a:r>
              <a:rPr lang="zh-CN" altLang="en-US" b="1" dirty="0">
                <a:solidFill>
                  <a:srgbClr val="FF0000"/>
                </a:solidFill>
                <a:latin typeface="Times New Roman" panose="02020603050405020304" pitchFamily="18" charset="0"/>
                <a:cs typeface="Times New Roman" panose="02020603050405020304" pitchFamily="18" charset="0"/>
              </a:rPr>
              <a:t>）</a:t>
            </a:r>
          </a:p>
          <a:p>
            <a:pPr marL="784800" lvl="2" eaLnBrk="1" hangingPunct="1">
              <a:spcBef>
                <a:spcPts val="276"/>
              </a:spcBef>
              <a:buFont typeface="Wingdings" pitchFamily="2" charset="2"/>
              <a:buNone/>
            </a:pPr>
            <a:r>
              <a:rPr lang="zh-CN" altLang="en-US" b="1" dirty="0">
                <a:latin typeface="Times New Roman" panose="02020603050405020304" pitchFamily="18" charset="0"/>
                <a:cs typeface="Times New Roman" panose="02020603050405020304" pitchFamily="18" charset="0"/>
              </a:rPr>
              <a:t>   指出该指令是分支指令、</a:t>
            </a:r>
            <a:r>
              <a:rPr lang="en-US" altLang="zh-CN" b="1" dirty="0">
                <a:solidFill>
                  <a:srgbClr val="9933FF"/>
                </a:solidFill>
                <a:latin typeface="Times New Roman" panose="02020603050405020304" pitchFamily="18" charset="0"/>
                <a:cs typeface="Times New Roman" panose="02020603050405020304" pitchFamily="18" charset="0"/>
              </a:rPr>
              <a:t>store</a:t>
            </a:r>
            <a:r>
              <a:rPr lang="zh-CN" altLang="en-US" b="1" dirty="0">
                <a:latin typeface="Times New Roman" panose="02020603050405020304" pitchFamily="18" charset="0"/>
                <a:cs typeface="Times New Roman" panose="02020603050405020304" pitchFamily="18" charset="0"/>
              </a:rPr>
              <a:t>指令或寄存器操作指令。</a:t>
            </a:r>
          </a:p>
          <a:p>
            <a:pPr marL="784800" lvl="2" indent="-230400" eaLnBrk="1" hangingPunct="1">
              <a:spcBef>
                <a:spcPts val="276"/>
              </a:spcBef>
            </a:pPr>
            <a:r>
              <a:rPr lang="zh-CN" altLang="en-US" b="1" dirty="0">
                <a:solidFill>
                  <a:srgbClr val="FF0000"/>
                </a:solidFill>
                <a:latin typeface="Times New Roman" panose="02020603050405020304" pitchFamily="18" charset="0"/>
                <a:cs typeface="Times New Roman" panose="02020603050405020304" pitchFamily="18" charset="0"/>
              </a:rPr>
              <a:t>状态（</a:t>
            </a:r>
            <a:r>
              <a:rPr lang="en-US" altLang="zh-CN" b="1" dirty="0">
                <a:solidFill>
                  <a:srgbClr val="FF0000"/>
                </a:solidFill>
                <a:latin typeface="Times New Roman" panose="02020603050405020304" pitchFamily="18" charset="0"/>
                <a:cs typeface="Times New Roman" panose="02020603050405020304" pitchFamily="18" charset="0"/>
              </a:rPr>
              <a:t>state</a:t>
            </a:r>
            <a:r>
              <a:rPr lang="zh-CN" altLang="en-US" b="1" dirty="0">
                <a:solidFill>
                  <a:srgbClr val="FF0000"/>
                </a:solidFill>
                <a:latin typeface="Times New Roman" panose="02020603050405020304" pitchFamily="18" charset="0"/>
                <a:cs typeface="Times New Roman" panose="02020603050405020304" pitchFamily="18" charset="0"/>
              </a:rPr>
              <a:t>）</a:t>
            </a:r>
            <a:endParaRPr lang="en-US" altLang="zh-CN" b="1" dirty="0">
              <a:solidFill>
                <a:srgbClr val="FF0000"/>
              </a:solidFill>
              <a:latin typeface="Times New Roman" panose="02020603050405020304" pitchFamily="18" charset="0"/>
              <a:cs typeface="Times New Roman" panose="02020603050405020304" pitchFamily="18" charset="0"/>
            </a:endParaRPr>
          </a:p>
          <a:p>
            <a:pPr marL="441900" lvl="2" indent="0" eaLnBrk="1" hangingPunct="1">
              <a:spcBef>
                <a:spcPts val="276"/>
              </a:spcBef>
              <a:buNone/>
            </a:pPr>
            <a:r>
              <a:rPr lang="en-US" altLang="zh-CN" b="1" dirty="0">
                <a:solidFill>
                  <a:srgbClr val="FF0000"/>
                </a:solidFill>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指出指令是否已经完成执行并且数据已就绪。</a:t>
            </a:r>
            <a:endParaRPr lang="en-US" altLang="zh-CN" b="1" dirty="0">
              <a:latin typeface="Times New Roman" panose="02020603050405020304" pitchFamily="18" charset="0"/>
              <a:cs typeface="Times New Roman" panose="02020603050405020304" pitchFamily="18" charset="0"/>
            </a:endParaRPr>
          </a:p>
          <a:p>
            <a:pPr marL="784800" lvl="2" eaLnBrk="1" hangingPunct="1">
              <a:spcBef>
                <a:spcPts val="276"/>
              </a:spcBef>
            </a:pPr>
            <a:r>
              <a:rPr lang="zh-CN" altLang="en-US" b="1" dirty="0">
                <a:solidFill>
                  <a:srgbClr val="FF0000"/>
                </a:solidFill>
                <a:latin typeface="Times New Roman" panose="02020603050405020304" pitchFamily="18" charset="0"/>
                <a:cs typeface="Times New Roman" panose="02020603050405020304" pitchFamily="18" charset="0"/>
              </a:rPr>
              <a:t>目标地址（</a:t>
            </a:r>
            <a:r>
              <a:rPr lang="en-US" altLang="zh-CN" b="1" dirty="0">
                <a:solidFill>
                  <a:srgbClr val="FF0000"/>
                </a:solidFill>
                <a:latin typeface="Times New Roman" panose="02020603050405020304" pitchFamily="18" charset="0"/>
                <a:cs typeface="Times New Roman" panose="02020603050405020304" pitchFamily="18" charset="0"/>
              </a:rPr>
              <a:t>destination</a:t>
            </a:r>
            <a:r>
              <a:rPr lang="zh-CN" altLang="en-US" b="1" dirty="0">
                <a:solidFill>
                  <a:srgbClr val="FF0000"/>
                </a:solidFill>
                <a:latin typeface="Times New Roman" panose="02020603050405020304" pitchFamily="18" charset="0"/>
                <a:cs typeface="Times New Roman" panose="02020603050405020304" pitchFamily="18" charset="0"/>
              </a:rPr>
              <a:t>）</a:t>
            </a:r>
          </a:p>
          <a:p>
            <a:pPr marL="784800" lvl="2" eaLnBrk="1" hangingPunct="1">
              <a:spcBef>
                <a:spcPts val="276"/>
              </a:spcBef>
              <a:buFont typeface="Wingdings" pitchFamily="2" charset="2"/>
              <a:buNone/>
            </a:pPr>
            <a:r>
              <a:rPr lang="zh-CN" altLang="en-US" b="1" dirty="0">
                <a:latin typeface="Times New Roman" panose="02020603050405020304" pitchFamily="18" charset="0"/>
                <a:cs typeface="Times New Roman" panose="02020603050405020304" pitchFamily="18" charset="0"/>
              </a:rPr>
              <a:t>   给出指令执行结果应写入的目标寄存器号（</a:t>
            </a:r>
            <a:r>
              <a:rPr lang="en-US" altLang="zh-CN" b="1" dirty="0">
                <a:solidFill>
                  <a:srgbClr val="9933FF"/>
                </a:solidFill>
                <a:latin typeface="Times New Roman" panose="02020603050405020304" pitchFamily="18" charset="0"/>
                <a:cs typeface="Times New Roman" panose="02020603050405020304" pitchFamily="18" charset="0"/>
              </a:rPr>
              <a:t>load</a:t>
            </a:r>
            <a:r>
              <a:rPr lang="zh-CN" altLang="en-US" b="1" dirty="0">
                <a:latin typeface="Times New Roman" panose="02020603050405020304" pitchFamily="18" charset="0"/>
                <a:cs typeface="Times New Roman" panose="02020603050405020304" pitchFamily="18" charset="0"/>
              </a:rPr>
              <a:t>和</a:t>
            </a:r>
            <a:r>
              <a:rPr lang="en-US" altLang="zh-CN" b="1" dirty="0">
                <a:solidFill>
                  <a:srgbClr val="9933FF"/>
                </a:solidFill>
                <a:latin typeface="Times New Roman" panose="02020603050405020304" pitchFamily="18" charset="0"/>
                <a:cs typeface="Times New Roman" panose="02020603050405020304" pitchFamily="18" charset="0"/>
              </a:rPr>
              <a:t>ALU</a:t>
            </a:r>
            <a:r>
              <a:rPr lang="zh-CN" altLang="en-US" b="1" dirty="0">
                <a:latin typeface="Times New Roman" panose="02020603050405020304" pitchFamily="18" charset="0"/>
                <a:cs typeface="Times New Roman" panose="02020603050405020304" pitchFamily="18" charset="0"/>
              </a:rPr>
              <a:t>指令）或存储器单元的地址（</a:t>
            </a:r>
            <a:r>
              <a:rPr lang="en-US" altLang="zh-CN" b="1" dirty="0">
                <a:solidFill>
                  <a:srgbClr val="9933FF"/>
                </a:solidFill>
                <a:latin typeface="Times New Roman" panose="02020603050405020304" pitchFamily="18" charset="0"/>
                <a:cs typeface="Times New Roman" panose="02020603050405020304" pitchFamily="18" charset="0"/>
              </a:rPr>
              <a:t>store</a:t>
            </a:r>
            <a:r>
              <a:rPr lang="zh-CN" altLang="en-US" b="1" dirty="0">
                <a:latin typeface="Times New Roman" panose="02020603050405020304" pitchFamily="18" charset="0"/>
                <a:cs typeface="Times New Roman" panose="02020603050405020304" pitchFamily="18" charset="0"/>
              </a:rPr>
              <a:t>指令）。</a:t>
            </a:r>
          </a:p>
          <a:p>
            <a:pPr marL="784800" lvl="2" eaLnBrk="1" hangingPunct="1">
              <a:spcBef>
                <a:spcPts val="276"/>
              </a:spcBef>
            </a:pPr>
            <a:r>
              <a:rPr lang="zh-CN" altLang="en-US" b="1" dirty="0">
                <a:solidFill>
                  <a:srgbClr val="FF0000"/>
                </a:solidFill>
                <a:latin typeface="Times New Roman" panose="02020603050405020304" pitchFamily="18" charset="0"/>
                <a:cs typeface="Times New Roman" panose="02020603050405020304" pitchFamily="18" charset="0"/>
              </a:rPr>
              <a:t>数据值（</a:t>
            </a:r>
            <a:r>
              <a:rPr lang="en-US" altLang="zh-CN" b="1" dirty="0">
                <a:solidFill>
                  <a:srgbClr val="FF0000"/>
                </a:solidFill>
                <a:latin typeface="Times New Roman" panose="02020603050405020304" pitchFamily="18" charset="0"/>
                <a:cs typeface="Times New Roman" panose="02020603050405020304" pitchFamily="18" charset="0"/>
              </a:rPr>
              <a:t>value</a:t>
            </a:r>
            <a:r>
              <a:rPr lang="zh-CN" altLang="en-US" b="1" dirty="0">
                <a:solidFill>
                  <a:srgbClr val="FF0000"/>
                </a:solidFill>
                <a:latin typeface="Times New Roman" panose="02020603050405020304" pitchFamily="18" charset="0"/>
                <a:cs typeface="Times New Roman" panose="02020603050405020304" pitchFamily="18" charset="0"/>
              </a:rPr>
              <a:t>）</a:t>
            </a:r>
          </a:p>
          <a:p>
            <a:pPr marL="784800" lvl="2" eaLnBrk="1" hangingPunct="1">
              <a:spcBef>
                <a:spcPts val="276"/>
              </a:spcBef>
              <a:buFont typeface="Wingdings" pitchFamily="2" charset="2"/>
              <a:buNone/>
            </a:pPr>
            <a:r>
              <a:rPr lang="zh-CN" altLang="en-US" b="1" dirty="0">
                <a:latin typeface="Times New Roman" panose="02020603050405020304" pitchFamily="18" charset="0"/>
                <a:cs typeface="Times New Roman" panose="02020603050405020304" pitchFamily="18" charset="0"/>
              </a:rPr>
              <a:t>   用来保存指令前瞻执行的结果，直到指令得到确认。</a:t>
            </a:r>
            <a:endParaRPr lang="en-US" altLang="zh-CN" b="1" dirty="0">
              <a:latin typeface="Times New Roman" panose="02020603050405020304" pitchFamily="18" charset="0"/>
              <a:cs typeface="Times New Roman" panose="02020603050405020304" pitchFamily="18" charset="0"/>
            </a:endParaRPr>
          </a:p>
          <a:p>
            <a:pPr marL="441900" lvl="2" indent="0" eaLnBrk="1" hangingPunct="1">
              <a:spcBef>
                <a:spcPts val="276"/>
              </a:spcBef>
              <a:buNone/>
            </a:pPr>
            <a:endParaRPr lang="en-US" altLang="zh-CN" sz="2400" b="1" dirty="0">
              <a:latin typeface="Times New Roman" panose="02020603050405020304" pitchFamily="18" charset="0"/>
              <a:cs typeface="Times New Roman" panose="02020603050405020304" pitchFamily="18" charset="0"/>
            </a:endParaRPr>
          </a:p>
          <a:p>
            <a:pPr marL="367200" lvl="1" indent="-457200" eaLnBrk="1" hangingPunct="1"/>
            <a:r>
              <a:rPr lang="zh-CN" altLang="en-US" sz="2400" b="1" dirty="0">
                <a:latin typeface="Times New Roman" panose="02020603050405020304" pitchFamily="18" charset="0"/>
                <a:cs typeface="Times New Roman" panose="02020603050405020304" pitchFamily="18" charset="0"/>
              </a:rPr>
              <a:t>保留站</a:t>
            </a:r>
            <a:r>
              <a:rPr lang="en-US" altLang="zh-CN" sz="2400" b="1" dirty="0">
                <a:latin typeface="Times New Roman" panose="02020603050405020304" pitchFamily="18" charset="0"/>
                <a:cs typeface="Times New Roman" panose="02020603050405020304" pitchFamily="18" charset="0"/>
              </a:rPr>
              <a:t>RS</a:t>
            </a:r>
            <a:r>
              <a:rPr lang="zh-CN" altLang="en-US" sz="2400" b="1" dirty="0">
                <a:latin typeface="Times New Roman" panose="02020603050405020304" pitchFamily="18" charset="0"/>
                <a:cs typeface="Times New Roman" panose="02020603050405020304" pitchFamily="18" charset="0"/>
              </a:rPr>
              <a:t>中增加的域</a:t>
            </a:r>
            <a:endParaRPr lang="en-US" altLang="zh-CN" sz="2400" b="1" dirty="0">
              <a:latin typeface="Times New Roman" panose="02020603050405020304" pitchFamily="18" charset="0"/>
              <a:cs typeface="Times New Roman" panose="02020603050405020304" pitchFamily="18" charset="0"/>
            </a:endParaRPr>
          </a:p>
          <a:p>
            <a:pPr marL="784800" lvl="1" indent="-230400" eaLnBrk="1" hangingPunct="1">
              <a:buFont typeface="Arial" panose="020B0604020202020204" pitchFamily="34" charset="0"/>
              <a:buChar char="•"/>
            </a:pPr>
            <a:r>
              <a:rPr lang="zh-CN" altLang="en-US" sz="2400" b="1" dirty="0">
                <a:solidFill>
                  <a:srgbClr val="FF0000"/>
                </a:solidFill>
                <a:latin typeface="Times New Roman" panose="02020603050405020304" pitchFamily="18" charset="0"/>
                <a:cs typeface="Times New Roman" panose="02020603050405020304" pitchFamily="18" charset="0"/>
              </a:rPr>
              <a:t>目标地址（</a:t>
            </a:r>
            <a:r>
              <a:rPr lang="en-US" altLang="zh-CN" sz="2400" b="1" dirty="0">
                <a:solidFill>
                  <a:srgbClr val="FF0000"/>
                </a:solidFill>
                <a:latin typeface="Times New Roman" panose="02020603050405020304" pitchFamily="18" charset="0"/>
                <a:cs typeface="Times New Roman" panose="02020603050405020304" pitchFamily="18" charset="0"/>
              </a:rPr>
              <a:t>destination</a:t>
            </a:r>
            <a:r>
              <a:rPr lang="zh-CN" altLang="en-US" sz="2400" b="1" dirty="0">
                <a:solidFill>
                  <a:srgbClr val="FF0000"/>
                </a:solidFill>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对应的</a:t>
            </a:r>
            <a:r>
              <a:rPr lang="en-US" altLang="zh-CN" sz="2400" b="1" dirty="0">
                <a:latin typeface="Times New Roman" panose="02020603050405020304" pitchFamily="18" charset="0"/>
                <a:cs typeface="Times New Roman" panose="02020603050405020304" pitchFamily="18" charset="0"/>
              </a:rPr>
              <a:t>ROB</a:t>
            </a:r>
            <a:r>
              <a:rPr lang="zh-CN" altLang="en-US" sz="2400" b="1" dirty="0">
                <a:latin typeface="Times New Roman" panose="02020603050405020304" pitchFamily="18" charset="0"/>
                <a:cs typeface="Times New Roman" panose="02020603050405020304" pitchFamily="18" charset="0"/>
              </a:rPr>
              <a:t>编号</a:t>
            </a:r>
            <a:endParaRPr lang="en-US" altLang="zh-CN" sz="2400" b="1" dirty="0">
              <a:latin typeface="Times New Roman" panose="02020603050405020304" pitchFamily="18" charset="0"/>
              <a:cs typeface="Times New Roman" panose="02020603050405020304" pitchFamily="18" charset="0"/>
            </a:endParaRPr>
          </a:p>
          <a:p>
            <a:pPr marL="0" lvl="1" indent="0" eaLnBrk="1" hangingPunct="1">
              <a:buNone/>
            </a:pPr>
            <a:endParaRPr lang="zh-CN" altLang="en-US" sz="2400" b="1" dirty="0">
              <a:latin typeface="Times New Roman" panose="02020603050405020304" pitchFamily="18" charset="0"/>
              <a:cs typeface="Times New Roman" panose="02020603050405020304" pitchFamily="18" charset="0"/>
            </a:endParaRPr>
          </a:p>
          <a:p>
            <a:pPr marL="556200" lvl="2" indent="0" eaLnBrk="1" hangingPunct="1">
              <a:spcBef>
                <a:spcPts val="276"/>
              </a:spcBef>
              <a:buNone/>
            </a:pPr>
            <a:r>
              <a:rPr lang="en-US" altLang="zh-CN" b="1" dirty="0">
                <a:latin typeface="Times New Roman" panose="02020603050405020304" pitchFamily="18" charset="0"/>
                <a:cs typeface="Times New Roman" panose="02020603050405020304" pitchFamily="18" charset="0"/>
              </a:rPr>
              <a:t>    </a:t>
            </a:r>
            <a:endParaRPr lang="zh-CN" altLang="en-US" b="1" dirty="0">
              <a:latin typeface="Times New Roman" panose="02020603050405020304" pitchFamily="18" charset="0"/>
              <a:cs typeface="Times New Roman" panose="02020603050405020304" pitchFamily="18" charset="0"/>
            </a:endParaRPr>
          </a:p>
          <a:p>
            <a:pPr marL="784800" lvl="2" eaLnBrk="1" hangingPunct="1">
              <a:spcBef>
                <a:spcPts val="276"/>
              </a:spcBef>
              <a:buFont typeface="Wingdings" pitchFamily="2" charset="2"/>
              <a:buNone/>
            </a:pPr>
            <a:endParaRPr lang="en-US" altLang="zh-CN" b="1" dirty="0">
              <a:latin typeface="Times New Roman" panose="02020603050405020304" pitchFamily="18" charset="0"/>
              <a:cs typeface="Times New Roman" panose="02020603050405020304" pitchFamily="18" charset="0"/>
            </a:endParaRPr>
          </a:p>
          <a:p>
            <a:pPr lvl="2" eaLnBrk="1" hangingPunct="1">
              <a:buFont typeface="Wingdings" pitchFamily="2" charset="2"/>
              <a:buNone/>
            </a:pPr>
            <a:endParaRPr lang="zh-CN" altLang="en-US" b="1" dirty="0">
              <a:solidFill>
                <a:srgbClr val="FF0000"/>
              </a:solidFill>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07BEFBFC-122E-6CE9-8882-ACD546A62AFC}"/>
              </a:ext>
            </a:extLst>
          </p:cNvPr>
          <p:cNvSpPr>
            <a:spLocks noGrp="1"/>
          </p:cNvSpPr>
          <p:nvPr>
            <p:ph type="dt" sz="half" idx="10"/>
          </p:nvPr>
        </p:nvSpPr>
        <p:spPr/>
        <p:txBody>
          <a:bodyPr/>
          <a:lstStyle/>
          <a:p>
            <a:pPr>
              <a:defRPr/>
            </a:pPr>
            <a:fld id="{A2CD11D6-67D0-4CE0-9131-FD2AB812FB63}"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543A508A-2691-BE4F-A124-8788E11FABE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D5C24E97-7092-1158-A607-6369E1DBBAB2}"/>
              </a:ext>
            </a:extLst>
          </p:cNvPr>
          <p:cNvSpPr>
            <a:spLocks noGrp="1"/>
          </p:cNvSpPr>
          <p:nvPr>
            <p:ph type="sldNum" sz="quarter" idx="12"/>
          </p:nvPr>
        </p:nvSpPr>
        <p:spPr/>
        <p:txBody>
          <a:bodyPr/>
          <a:lstStyle/>
          <a:p>
            <a:pPr>
              <a:defRPr/>
            </a:pPr>
            <a:fld id="{8BCAC33D-D29A-48B3-BCD6-381D3D720D26}" type="slidenum">
              <a:rPr lang="zh-CN" altLang="en-US" smtClean="0"/>
              <a:t>29</a:t>
            </a:fld>
            <a:endParaRPr lang="en-US" altLang="zh-CN"/>
          </a:p>
        </p:txBody>
      </p:sp>
    </p:spTree>
    <p:extLst>
      <p:ext uri="{BB962C8B-B14F-4D97-AF65-F5344CB8AC3E}">
        <p14:creationId xmlns:p14="http://schemas.microsoft.com/office/powerpoint/2010/main" val="31670653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AD5D8B17-2531-48B4-9C17-D1912592850E}"/>
              </a:ext>
            </a:extLst>
          </p:cNvPr>
          <p:cNvSpPr txBox="1">
            <a:spLocks/>
          </p:cNvSpPr>
          <p:nvPr/>
        </p:nvSpPr>
        <p:spPr>
          <a:xfrm>
            <a:off x="431800" y="169962"/>
            <a:ext cx="8280400" cy="66675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kumimoji="0" lang="zh-CN" altLang="en-US" sz="3600" b="1" dirty="0">
                <a:latin typeface="Times New Roman" panose="02020603050405020304" pitchFamily="18" charset="0"/>
                <a:cs typeface="Times New Roman" panose="02020603050405020304" pitchFamily="18" charset="0"/>
              </a:rPr>
              <a:t>前瞻</a:t>
            </a:r>
            <a:r>
              <a:rPr kumimoji="0" lang="zh-CN" altLang="en-US" sz="3600" dirty="0">
                <a:latin typeface="Times New Roman" panose="02020603050405020304" pitchFamily="18" charset="0"/>
                <a:cs typeface="Times New Roman" panose="02020603050405020304" pitchFamily="18" charset="0"/>
              </a:rPr>
              <a:t>实例：</a:t>
            </a:r>
            <a:r>
              <a:rPr kumimoji="0" lang="en-US" altLang="zh-CN" sz="3600" dirty="0">
                <a:latin typeface="Times New Roman" panose="02020603050405020304" pitchFamily="18" charset="0"/>
                <a:cs typeface="Times New Roman" panose="02020603050405020304" pitchFamily="18" charset="0"/>
              </a:rPr>
              <a:t>Cycle 0</a:t>
            </a:r>
            <a:endParaRPr kumimoji="0" lang="zh-CN" altLang="en-US" sz="3600" b="0"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F6DA40D6-8BD6-4E76-B23B-62862A8D8E0D}"/>
              </a:ext>
            </a:extLst>
          </p:cNvPr>
          <p:cNvPicPr>
            <a:picLocks noChangeAspect="1"/>
          </p:cNvPicPr>
          <p:nvPr/>
        </p:nvPicPr>
        <p:blipFill>
          <a:blip r:embed="rId3"/>
          <a:stretch>
            <a:fillRect/>
          </a:stretch>
        </p:blipFill>
        <p:spPr>
          <a:xfrm>
            <a:off x="248830" y="808796"/>
            <a:ext cx="8787666" cy="5788556"/>
          </a:xfrm>
          <a:prstGeom prst="rect">
            <a:avLst/>
          </a:prstGeom>
        </p:spPr>
      </p:pic>
      <p:sp>
        <p:nvSpPr>
          <p:cNvPr id="2" name="日期占位符 1">
            <a:extLst>
              <a:ext uri="{FF2B5EF4-FFF2-40B4-BE49-F238E27FC236}">
                <a16:creationId xmlns:a16="http://schemas.microsoft.com/office/drawing/2014/main" id="{CBAFB5E0-12CC-CDE6-29A1-4E545244A1A1}"/>
              </a:ext>
            </a:extLst>
          </p:cNvPr>
          <p:cNvSpPr>
            <a:spLocks noGrp="1"/>
          </p:cNvSpPr>
          <p:nvPr>
            <p:ph type="dt" sz="half" idx="10"/>
          </p:nvPr>
        </p:nvSpPr>
        <p:spPr/>
        <p:txBody>
          <a:bodyPr/>
          <a:lstStyle/>
          <a:p>
            <a:pPr>
              <a:defRPr/>
            </a:pPr>
            <a:fld id="{567938E9-9149-4C5A-B9C2-717F4B5D0DE1}"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040FE681-227F-1696-FF67-21DCE8E16FD2}"/>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3E63C8F5-EFE1-2631-48F7-E1005105458E}"/>
              </a:ext>
            </a:extLst>
          </p:cNvPr>
          <p:cNvSpPr>
            <a:spLocks noGrp="1"/>
          </p:cNvSpPr>
          <p:nvPr>
            <p:ph type="sldNum" sz="quarter" idx="12"/>
          </p:nvPr>
        </p:nvSpPr>
        <p:spPr/>
        <p:txBody>
          <a:bodyPr/>
          <a:lstStyle/>
          <a:p>
            <a:pPr>
              <a:defRPr/>
            </a:pPr>
            <a:fld id="{65B7EA61-351E-4105-9AD9-76D38C6E9934}" type="slidenum">
              <a:rPr lang="zh-CN" altLang="en-US" smtClean="0"/>
              <a:t>30</a:t>
            </a:fld>
            <a:endParaRPr lang="en-US" altLang="zh-CN"/>
          </a:p>
        </p:txBody>
      </p:sp>
    </p:spTree>
    <p:extLst>
      <p:ext uri="{BB962C8B-B14F-4D97-AF65-F5344CB8AC3E}">
        <p14:creationId xmlns:p14="http://schemas.microsoft.com/office/powerpoint/2010/main" val="17185880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Text Box 2"/>
          <p:cNvSpPr txBox="1">
            <a:spLocks noChangeArrowheads="1"/>
          </p:cNvSpPr>
          <p:nvPr/>
        </p:nvSpPr>
        <p:spPr bwMode="auto">
          <a:xfrm>
            <a:off x="327025" y="1150938"/>
            <a:ext cx="8558213" cy="5219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360" tIns="44280" rIns="90360" bIns="44280"/>
          <a:lstStyle>
            <a:lvl1pPr marL="228600" indent="-227013">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Calibri" pitchFamily="34" charset="0"/>
                <a:ea typeface="宋体" pitchFamily="2" charset="-122"/>
              </a:defRPr>
            </a:lvl1pPr>
            <a:lvl2pPr marL="685800" indent="-22860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Calibri" pitchFamily="34" charset="0"/>
                <a:ea typeface="宋体" pitchFamily="2" charset="-122"/>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Calibri" pitchFamily="34" charset="0"/>
                <a:ea typeface="宋体" pitchFamily="2" charset="-122"/>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Calibri" pitchFamily="34" charset="0"/>
                <a:ea typeface="宋体" pitchFamily="2" charset="-122"/>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Calibri" pitchFamily="34" charset="0"/>
                <a:ea typeface="宋体" pitchFamily="2" charset="-122"/>
              </a:defRPr>
            </a:lvl5pPr>
            <a:lvl6pPr marL="2514600" indent="-228600" defTabSz="449263" eaLnBrk="0" fontAlgn="base" hangingPunct="0">
              <a:spcBef>
                <a:spcPct val="0"/>
              </a:spcBef>
              <a:spcAft>
                <a:spcPct val="0"/>
              </a:spcAft>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Calibri" pitchFamily="34" charset="0"/>
                <a:ea typeface="宋体" pitchFamily="2" charset="-122"/>
              </a:defRPr>
            </a:lvl6pPr>
            <a:lvl7pPr marL="2971800" indent="-228600" defTabSz="449263" eaLnBrk="0" fontAlgn="base" hangingPunct="0">
              <a:spcBef>
                <a:spcPct val="0"/>
              </a:spcBef>
              <a:spcAft>
                <a:spcPct val="0"/>
              </a:spcAft>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Calibri" pitchFamily="34" charset="0"/>
                <a:ea typeface="宋体" pitchFamily="2" charset="-122"/>
              </a:defRPr>
            </a:lvl7pPr>
            <a:lvl8pPr marL="3429000" indent="-228600" defTabSz="449263" eaLnBrk="0" fontAlgn="base" hangingPunct="0">
              <a:spcBef>
                <a:spcPct val="0"/>
              </a:spcBef>
              <a:spcAft>
                <a:spcPct val="0"/>
              </a:spcAft>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Calibri" pitchFamily="34" charset="0"/>
                <a:ea typeface="宋体" pitchFamily="2" charset="-122"/>
              </a:defRPr>
            </a:lvl8pPr>
            <a:lvl9pPr marL="3886200" indent="-228600" defTabSz="449263" eaLnBrk="0" fontAlgn="base" hangingPunct="0">
              <a:spcBef>
                <a:spcPct val="0"/>
              </a:spcBef>
              <a:spcAft>
                <a:spcPct val="0"/>
              </a:spcAft>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Calibri" pitchFamily="34" charset="0"/>
                <a:ea typeface="宋体" pitchFamily="2" charset="-122"/>
              </a:defRPr>
            </a:lvl9pPr>
          </a:lstStyle>
          <a:p>
            <a:pPr eaLnBrk="1" hangingPunct="1">
              <a:spcBef>
                <a:spcPts val="1000"/>
              </a:spcBef>
              <a:buSzPct val="100000"/>
            </a:pPr>
            <a:endParaRPr lang="en-US" altLang="zh-CN" sz="2000">
              <a:solidFill>
                <a:srgbClr val="000000"/>
              </a:solidFill>
            </a:endParaRPr>
          </a:p>
        </p:txBody>
      </p:sp>
      <p:sp>
        <p:nvSpPr>
          <p:cNvPr id="338950" name="标题 1"/>
          <p:cNvSpPr>
            <a:spLocks noGrp="1"/>
          </p:cNvSpPr>
          <p:nvPr>
            <p:ph type="title"/>
          </p:nvPr>
        </p:nvSpPr>
        <p:spPr>
          <a:xfrm>
            <a:off x="468313" y="332656"/>
            <a:ext cx="8280400" cy="666750"/>
          </a:xfrm>
        </p:spPr>
        <p:txBody>
          <a:bodyPr/>
          <a:lstStyle/>
          <a:p>
            <a:r>
              <a:rPr lang="zh-CN" altLang="zh-CN" sz="3600" b="1" dirty="0">
                <a:latin typeface="Times New Roman" panose="02020603050405020304" pitchFamily="18" charset="0"/>
                <a:cs typeface="Times New Roman" panose="02020603050405020304" pitchFamily="18" charset="0"/>
              </a:rPr>
              <a:t>支持</a:t>
            </a:r>
            <a:r>
              <a:rPr lang="zh-CN" altLang="en-US" sz="3600" b="1" dirty="0">
                <a:latin typeface="Times New Roman" panose="02020603050405020304" pitchFamily="18" charset="0"/>
                <a:cs typeface="Times New Roman" panose="02020603050405020304" pitchFamily="18" charset="0"/>
              </a:rPr>
              <a:t>前瞻</a:t>
            </a:r>
            <a:r>
              <a:rPr lang="zh-CN" altLang="zh-CN" sz="3600" b="1" dirty="0">
                <a:latin typeface="Times New Roman" panose="02020603050405020304" pitchFamily="18" charset="0"/>
                <a:cs typeface="Times New Roman" panose="02020603050405020304" pitchFamily="18" charset="0"/>
              </a:rPr>
              <a:t>执行的</a:t>
            </a:r>
            <a:r>
              <a:rPr lang="en-US" altLang="zh-CN" sz="3600" b="1" dirty="0">
                <a:latin typeface="Times New Roman" panose="02020603050405020304" pitchFamily="18" charset="0"/>
                <a:cs typeface="Times New Roman" panose="02020603050405020304" pitchFamily="18" charset="0"/>
              </a:rPr>
              <a:t> </a:t>
            </a:r>
            <a:r>
              <a:rPr lang="en-US" altLang="zh-CN" sz="3600" b="1" dirty="0" err="1">
                <a:latin typeface="Times New Roman" panose="02020603050405020304" pitchFamily="18" charset="0"/>
                <a:cs typeface="Times New Roman" panose="02020603050405020304" pitchFamily="18" charset="0"/>
              </a:rPr>
              <a:t>Tomasulo</a:t>
            </a:r>
            <a:r>
              <a:rPr lang="en-US" altLang="zh-CN" sz="3600" b="1" dirty="0">
                <a:latin typeface="Times New Roman" panose="02020603050405020304" pitchFamily="18" charset="0"/>
                <a:cs typeface="Times New Roman" panose="02020603050405020304" pitchFamily="18" charset="0"/>
              </a:rPr>
              <a:t> </a:t>
            </a:r>
            <a:r>
              <a:rPr lang="zh-CN" altLang="zh-CN" sz="3600" b="1" dirty="0">
                <a:latin typeface="Times New Roman" panose="02020603050405020304" pitchFamily="18" charset="0"/>
                <a:cs typeface="Times New Roman" panose="02020603050405020304" pitchFamily="18" charset="0"/>
              </a:rPr>
              <a:t>算法的四阶段</a:t>
            </a:r>
            <a:endParaRPr lang="zh-CN" altLang="en-US" sz="3600"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363538" y="1215579"/>
            <a:ext cx="8281987" cy="5453781"/>
          </a:xfrm>
        </p:spPr>
        <p:txBody>
          <a:bodyPr/>
          <a:lstStyle/>
          <a:p>
            <a:pPr marL="0" indent="0" eaLnBrk="1" hangingPunct="1">
              <a:buFont typeface="Arial" panose="020B0604020202020204" pitchFamily="34" charset="0"/>
              <a:buNone/>
              <a:defRPr/>
            </a:pPr>
            <a:r>
              <a:rPr lang="zh-CN" altLang="zh-CN" sz="2400" b="1" dirty="0">
                <a:solidFill>
                  <a:srgbClr val="5B9BD5"/>
                </a:solidFill>
              </a:rPr>
              <a:t>1. </a:t>
            </a:r>
            <a:r>
              <a:rPr lang="en-US" altLang="zh-CN" sz="2400" b="1" dirty="0">
                <a:solidFill>
                  <a:srgbClr val="5B9BD5"/>
                </a:solidFill>
              </a:rPr>
              <a:t>Issue</a:t>
            </a:r>
            <a:r>
              <a:rPr lang="en-US" altLang="zh-CN" sz="2400" b="1" dirty="0"/>
              <a:t>—get instruction from FP Op Queue</a:t>
            </a:r>
          </a:p>
          <a:p>
            <a:pPr lvl="1" eaLnBrk="1" hangingPunct="1">
              <a:spcBef>
                <a:spcPts val="413"/>
              </a:spcBef>
              <a:buFont typeface="Arial" panose="020B0604020202020204" pitchFamily="34" charset="0"/>
              <a:buChar char="•"/>
              <a:defRPr/>
            </a:pPr>
            <a:r>
              <a:rPr lang="zh-CN" altLang="zh-CN" sz="2000" b="1" dirty="0"/>
              <a:t>如果</a:t>
            </a:r>
            <a:r>
              <a:rPr lang="en-US" altLang="zh-CN" sz="2000" b="1" dirty="0"/>
              <a:t>RS</a:t>
            </a:r>
            <a:r>
              <a:rPr lang="zh-CN" altLang="zh-CN" sz="2000" b="1" dirty="0"/>
              <a:t>和</a:t>
            </a:r>
            <a:r>
              <a:rPr lang="en-US" altLang="zh-CN" sz="2000" b="1" dirty="0"/>
              <a:t>ROB</a:t>
            </a:r>
            <a:r>
              <a:rPr lang="zh-CN" altLang="zh-CN" sz="2000" b="1" dirty="0"/>
              <a:t>有空闲单元就发射指令。如果寄存器或</a:t>
            </a:r>
            <a:r>
              <a:rPr lang="en-US" altLang="zh-CN" sz="2000" b="1" dirty="0"/>
              <a:t>ROB</a:t>
            </a:r>
            <a:r>
              <a:rPr lang="zh-CN" altLang="zh-CN" sz="2000" b="1" dirty="0"/>
              <a:t>中源操作数可用，就将其发送到</a:t>
            </a:r>
            <a:r>
              <a:rPr lang="en-US" altLang="zh-CN" sz="2000" b="1" dirty="0"/>
              <a:t>RS</a:t>
            </a:r>
            <a:r>
              <a:rPr lang="zh-CN" altLang="zh-CN" sz="2000" b="1" dirty="0"/>
              <a:t>，目的地址的</a:t>
            </a:r>
            <a:r>
              <a:rPr lang="en-US" altLang="zh-CN" sz="2000" b="1" dirty="0">
                <a:solidFill>
                  <a:srgbClr val="FF0000"/>
                </a:solidFill>
              </a:rPr>
              <a:t>ROB</a:t>
            </a:r>
            <a:r>
              <a:rPr lang="zh-CN" altLang="zh-CN" sz="2000" b="1" dirty="0">
                <a:solidFill>
                  <a:srgbClr val="FF0000"/>
                </a:solidFill>
              </a:rPr>
              <a:t>编号</a:t>
            </a:r>
            <a:r>
              <a:rPr lang="zh-CN" altLang="zh-CN" sz="2000" b="1" dirty="0"/>
              <a:t>也发送给</a:t>
            </a:r>
            <a:r>
              <a:rPr lang="en-US" altLang="zh-CN" sz="2000" b="1" dirty="0"/>
              <a:t>RS </a:t>
            </a:r>
          </a:p>
          <a:p>
            <a:pPr marL="0" indent="0" eaLnBrk="1" hangingPunct="1">
              <a:buFont typeface="Arial" panose="020B0604020202020204" pitchFamily="34" charset="0"/>
              <a:buNone/>
              <a:defRPr/>
            </a:pPr>
            <a:r>
              <a:rPr lang="en-US" altLang="zh-CN" sz="2400" b="1" dirty="0">
                <a:solidFill>
                  <a:srgbClr val="5B9BD5"/>
                </a:solidFill>
              </a:rPr>
              <a:t>2. Execution</a:t>
            </a:r>
            <a:r>
              <a:rPr lang="en-US" altLang="zh-CN" sz="2400" b="1" dirty="0"/>
              <a:t>—operate on operands (EX)</a:t>
            </a:r>
          </a:p>
          <a:p>
            <a:pPr lvl="1" eaLnBrk="1" hangingPunct="1">
              <a:buFont typeface="Arial" panose="020B0604020202020204" pitchFamily="34" charset="0"/>
              <a:buChar char="•"/>
              <a:defRPr/>
            </a:pPr>
            <a:r>
              <a:rPr lang="zh-CN" altLang="zh-CN" sz="2000" b="1" dirty="0"/>
              <a:t>当操作数就绪后，开始执行。如果没有就绪，监测</a:t>
            </a:r>
            <a:r>
              <a:rPr lang="en-US" altLang="zh-CN" sz="2000" b="1" dirty="0"/>
              <a:t>CDB，</a:t>
            </a:r>
            <a:r>
              <a:rPr lang="zh-CN" altLang="zh-CN" sz="2000" b="1" dirty="0"/>
              <a:t>检查</a:t>
            </a:r>
            <a:r>
              <a:rPr lang="en-US" altLang="zh-CN" sz="2000" b="1" dirty="0"/>
              <a:t>RAW</a:t>
            </a:r>
            <a:r>
              <a:rPr lang="zh-CN" altLang="zh-CN" sz="2000" b="1" dirty="0"/>
              <a:t>相关</a:t>
            </a:r>
          </a:p>
          <a:p>
            <a:pPr marL="0" indent="0" eaLnBrk="1" hangingPunct="1">
              <a:buFont typeface="Arial" panose="020B0604020202020204" pitchFamily="34" charset="0"/>
              <a:buNone/>
              <a:defRPr/>
            </a:pPr>
            <a:r>
              <a:rPr lang="en-US" altLang="zh-CN" sz="2400" b="1" dirty="0">
                <a:solidFill>
                  <a:srgbClr val="5B9BD5"/>
                </a:solidFill>
              </a:rPr>
              <a:t>3. Write result</a:t>
            </a:r>
            <a:r>
              <a:rPr lang="en-US" altLang="zh-CN" sz="2400" b="1" dirty="0"/>
              <a:t>—finish execution (WR)</a:t>
            </a:r>
          </a:p>
          <a:p>
            <a:pPr lvl="1" eaLnBrk="1" hangingPunct="1">
              <a:buFont typeface="Arial" panose="020B0604020202020204" pitchFamily="34" charset="0"/>
              <a:buChar char="•"/>
              <a:defRPr/>
            </a:pPr>
            <a:r>
              <a:rPr lang="zh-CN" altLang="zh-CN" sz="2000" b="1" dirty="0"/>
              <a:t>将运算结果通过</a:t>
            </a:r>
            <a:r>
              <a:rPr lang="en-US" altLang="zh-CN" sz="2000" b="1" dirty="0"/>
              <a:t>CDB</a:t>
            </a:r>
            <a:r>
              <a:rPr lang="zh-CN" altLang="zh-CN" sz="2000" b="1" dirty="0"/>
              <a:t>传送给所有等待结果的</a:t>
            </a:r>
            <a:r>
              <a:rPr lang="en-US" altLang="zh-CN" sz="2000" b="1" dirty="0"/>
              <a:t>FU</a:t>
            </a:r>
            <a:r>
              <a:rPr lang="zh-CN" altLang="zh-CN" sz="2000" b="1" dirty="0"/>
              <a:t>以及</a:t>
            </a:r>
            <a:r>
              <a:rPr lang="en-US" altLang="zh-CN" sz="2000" b="1" dirty="0"/>
              <a:t>ROB</a:t>
            </a:r>
            <a:r>
              <a:rPr lang="zh-CN" altLang="zh-CN" sz="2000" b="1" dirty="0"/>
              <a:t>单元，标识</a:t>
            </a:r>
            <a:r>
              <a:rPr lang="en-US" altLang="zh-CN" sz="2000" b="1" dirty="0"/>
              <a:t>RS</a:t>
            </a:r>
            <a:r>
              <a:rPr lang="zh-CN" altLang="zh-CN" sz="2000" b="1" dirty="0"/>
              <a:t>可用</a:t>
            </a:r>
          </a:p>
          <a:p>
            <a:pPr marL="0" indent="0" eaLnBrk="1" hangingPunct="1">
              <a:buFont typeface="Arial" panose="020B0604020202020204" pitchFamily="34" charset="0"/>
              <a:buNone/>
              <a:defRPr/>
            </a:pPr>
            <a:r>
              <a:rPr lang="en-US" altLang="zh-CN" sz="2400" b="1" dirty="0">
                <a:solidFill>
                  <a:srgbClr val="5B9BD5"/>
                </a:solidFill>
              </a:rPr>
              <a:t>4. Commit</a:t>
            </a:r>
            <a:r>
              <a:rPr lang="en-US" altLang="zh-CN" sz="2400" b="1" dirty="0"/>
              <a:t>—update</a:t>
            </a:r>
            <a:r>
              <a:rPr lang="en-US" altLang="zh-CN" sz="2400" b="1" dirty="0">
                <a:solidFill>
                  <a:srgbClr val="5B9BD5"/>
                </a:solidFill>
              </a:rPr>
              <a:t> </a:t>
            </a:r>
            <a:r>
              <a:rPr lang="en-US" altLang="zh-CN" sz="2400" b="1" dirty="0"/>
              <a:t>register with reorder result</a:t>
            </a:r>
          </a:p>
          <a:p>
            <a:pPr lvl="1" eaLnBrk="1" hangingPunct="1">
              <a:buFont typeface="Arial" panose="020B0604020202020204" pitchFamily="34" charset="0"/>
              <a:buChar char="•"/>
              <a:defRPr/>
            </a:pPr>
            <a:r>
              <a:rPr lang="en-US" altLang="zh-CN" sz="2000" b="1" dirty="0"/>
              <a:t>ROB</a:t>
            </a:r>
            <a:r>
              <a:rPr lang="zh-CN" altLang="en-US" sz="2000" b="1" dirty="0"/>
              <a:t>采用环形机制，</a:t>
            </a:r>
            <a:r>
              <a:rPr lang="zh-CN" altLang="zh-CN" sz="2000" b="1" dirty="0"/>
              <a:t>按</a:t>
            </a:r>
            <a:r>
              <a:rPr lang="en-US" altLang="zh-CN" sz="2000" b="1" dirty="0"/>
              <a:t>ROB</a:t>
            </a:r>
            <a:r>
              <a:rPr lang="zh-CN" altLang="zh-CN" sz="2000" b="1" dirty="0"/>
              <a:t>中顺序，如果结果已有，就</a:t>
            </a:r>
            <a:r>
              <a:rPr lang="zh-CN" altLang="zh-CN" sz="2000" b="1" dirty="0">
                <a:solidFill>
                  <a:srgbClr val="FF0000"/>
                </a:solidFill>
              </a:rPr>
              <a:t>更新寄存器（或存储器）</a:t>
            </a:r>
            <a:r>
              <a:rPr lang="zh-CN" altLang="zh-CN" sz="2000" b="1" dirty="0"/>
              <a:t>，并将该指令从</a:t>
            </a:r>
            <a:r>
              <a:rPr lang="en-US" altLang="zh-CN" sz="2000" b="1" dirty="0"/>
              <a:t>ROB</a:t>
            </a:r>
            <a:r>
              <a:rPr lang="zh-CN" altLang="zh-CN" sz="2000" b="1" dirty="0"/>
              <a:t>表中删除</a:t>
            </a:r>
          </a:p>
          <a:p>
            <a:pPr lvl="1" eaLnBrk="1" hangingPunct="1">
              <a:buFont typeface="Arial" panose="020B0604020202020204" pitchFamily="34" charset="0"/>
              <a:buChar char="•"/>
              <a:defRPr/>
            </a:pPr>
            <a:r>
              <a:rPr lang="zh-CN" altLang="zh-CN" sz="2000" b="1" dirty="0"/>
              <a:t>预测失败或有中断时，</a:t>
            </a:r>
            <a:r>
              <a:rPr lang="zh-CN" altLang="en-US" sz="2000" b="1" dirty="0"/>
              <a:t>清空</a:t>
            </a:r>
            <a:r>
              <a:rPr lang="en-US" altLang="zh-CN" sz="2000" b="1" dirty="0"/>
              <a:t>ROB</a:t>
            </a:r>
            <a:r>
              <a:rPr lang="zh-CN" altLang="en-US" sz="2000" b="1" dirty="0"/>
              <a:t>，从新的指令地址开始执行</a:t>
            </a:r>
            <a:endParaRPr lang="en-US" altLang="zh-CN" sz="2000" b="1" dirty="0"/>
          </a:p>
        </p:txBody>
      </p:sp>
      <p:sp>
        <p:nvSpPr>
          <p:cNvPr id="2" name="日期占位符 1">
            <a:extLst>
              <a:ext uri="{FF2B5EF4-FFF2-40B4-BE49-F238E27FC236}">
                <a16:creationId xmlns:a16="http://schemas.microsoft.com/office/drawing/2014/main" id="{AD5E99B4-4FE2-88AC-56C3-8AEA6417C4BB}"/>
              </a:ext>
            </a:extLst>
          </p:cNvPr>
          <p:cNvSpPr>
            <a:spLocks noGrp="1"/>
          </p:cNvSpPr>
          <p:nvPr>
            <p:ph type="dt" sz="half" idx="10"/>
          </p:nvPr>
        </p:nvSpPr>
        <p:spPr/>
        <p:txBody>
          <a:bodyPr/>
          <a:lstStyle/>
          <a:p>
            <a:pPr>
              <a:defRPr/>
            </a:pPr>
            <a:fld id="{C0BA54E7-A7EC-4203-8821-C48050A69193}"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8714F19A-77FE-AE4E-A75D-92462A432C34}"/>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C4F272F1-F86A-0D9F-71C7-3E101EA05BDF}"/>
              </a:ext>
            </a:extLst>
          </p:cNvPr>
          <p:cNvSpPr>
            <a:spLocks noGrp="1"/>
          </p:cNvSpPr>
          <p:nvPr>
            <p:ph type="sldNum" sz="quarter" idx="12"/>
          </p:nvPr>
        </p:nvSpPr>
        <p:spPr/>
        <p:txBody>
          <a:bodyPr/>
          <a:lstStyle/>
          <a:p>
            <a:pPr>
              <a:defRPr/>
            </a:pPr>
            <a:fld id="{8BCAC33D-D29A-48B3-BCD6-381D3D720D26}" type="slidenum">
              <a:rPr lang="zh-CN" altLang="en-US" smtClean="0"/>
              <a:t>31</a:t>
            </a:fld>
            <a:endParaRPr lang="en-US" altLang="zh-CN"/>
          </a:p>
        </p:txBody>
      </p:sp>
    </p:spTree>
    <p:extLst>
      <p:ext uri="{BB962C8B-B14F-4D97-AF65-F5344CB8AC3E}">
        <p14:creationId xmlns:p14="http://schemas.microsoft.com/office/powerpoint/2010/main" val="1614697666"/>
      </p:ext>
    </p:extLst>
  </p:cSld>
  <p:clrMapOvr>
    <a:masterClrMapping/>
  </p:clrMapOvr>
  <p:transition>
    <p:wip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3" descr="Rectangle: Click to edit Master text styles&#10;Second level&#10;Third level&#10;Fourth level&#10;Fifth level"/>
          <p:cNvSpPr>
            <a:spLocks noGrp="1" noChangeArrowheads="1"/>
          </p:cNvSpPr>
          <p:nvPr>
            <p:ph idx="1"/>
          </p:nvPr>
        </p:nvSpPr>
        <p:spPr>
          <a:xfrm>
            <a:off x="323528" y="764704"/>
            <a:ext cx="8134672" cy="4953000"/>
          </a:xfrm>
        </p:spPr>
        <p:txBody>
          <a:bodyPr/>
          <a:lstStyle/>
          <a:p>
            <a:pPr marL="457200" indent="0" eaLnBrk="1" hangingPunct="1">
              <a:lnSpc>
                <a:spcPct val="140000"/>
              </a:lnSpc>
              <a:buFont typeface="Wingdings" pitchFamily="2" charset="2"/>
              <a:buNone/>
            </a:pPr>
            <a:r>
              <a:rPr lang="zh-CN" altLang="en-US" sz="2400" b="1" dirty="0">
                <a:solidFill>
                  <a:srgbClr val="000000"/>
                </a:solidFill>
                <a:latin typeface="Times New Roman" panose="02020603050405020304" pitchFamily="18" charset="0"/>
                <a:ea typeface="宋体" pitchFamily="2" charset="-122"/>
                <a:cs typeface="Times New Roman" panose="02020603050405020304" pitchFamily="18" charset="0"/>
              </a:rPr>
              <a:t>假设执行阶段的周期数为：取数</a:t>
            </a:r>
            <a:r>
              <a:rPr lang="en-US" altLang="zh-CN" sz="2400" b="1" dirty="0">
                <a:solidFill>
                  <a:srgbClr val="9933FF"/>
                </a:solidFill>
                <a:latin typeface="Times New Roman" panose="02020603050405020304" pitchFamily="18" charset="0"/>
                <a:ea typeface="宋体" pitchFamily="2" charset="-122"/>
                <a:cs typeface="Times New Roman" panose="02020603050405020304" pitchFamily="18" charset="0"/>
              </a:rPr>
              <a:t>1</a:t>
            </a:r>
            <a:r>
              <a:rPr lang="zh-CN" altLang="en-US" sz="2400" b="1" dirty="0">
                <a:solidFill>
                  <a:srgbClr val="000000"/>
                </a:solidFill>
                <a:latin typeface="Times New Roman" panose="02020603050405020304" pitchFamily="18" charset="0"/>
                <a:ea typeface="宋体" pitchFamily="2" charset="-122"/>
                <a:cs typeface="Times New Roman" panose="02020603050405020304" pitchFamily="18" charset="0"/>
              </a:rPr>
              <a:t>个时钟周期，加减法</a:t>
            </a:r>
            <a:r>
              <a:rPr lang="en-US" altLang="zh-CN" sz="2400" b="1" dirty="0">
                <a:solidFill>
                  <a:srgbClr val="9933FF"/>
                </a:solidFill>
                <a:latin typeface="Times New Roman" panose="02020603050405020304" pitchFamily="18" charset="0"/>
                <a:ea typeface="宋体" pitchFamily="2" charset="-122"/>
                <a:cs typeface="Times New Roman" panose="02020603050405020304" pitchFamily="18" charset="0"/>
              </a:rPr>
              <a:t>2</a:t>
            </a:r>
            <a:r>
              <a:rPr lang="zh-CN" altLang="en-US" sz="2400" b="1" dirty="0">
                <a:solidFill>
                  <a:srgbClr val="000000"/>
                </a:solidFill>
                <a:latin typeface="Times New Roman" panose="02020603050405020304" pitchFamily="18" charset="0"/>
                <a:ea typeface="宋体" pitchFamily="2" charset="-122"/>
                <a:cs typeface="Times New Roman" panose="02020603050405020304" pitchFamily="18" charset="0"/>
              </a:rPr>
              <a:t>个时钟周期，乘法</a:t>
            </a:r>
            <a:r>
              <a:rPr lang="en-US" altLang="zh-CN" sz="2400" b="1" dirty="0">
                <a:solidFill>
                  <a:srgbClr val="9933FF"/>
                </a:solidFill>
                <a:latin typeface="Times New Roman" panose="02020603050405020304" pitchFamily="18" charset="0"/>
                <a:ea typeface="宋体" pitchFamily="2" charset="-122"/>
                <a:cs typeface="Times New Roman" panose="02020603050405020304" pitchFamily="18" charset="0"/>
              </a:rPr>
              <a:t>9</a:t>
            </a:r>
            <a:r>
              <a:rPr lang="zh-CN" altLang="en-US" sz="2400" b="1" dirty="0">
                <a:solidFill>
                  <a:srgbClr val="000000"/>
                </a:solidFill>
                <a:latin typeface="Times New Roman" panose="02020603050405020304" pitchFamily="18" charset="0"/>
                <a:ea typeface="宋体" pitchFamily="2" charset="-122"/>
                <a:cs typeface="Times New Roman" panose="02020603050405020304" pitchFamily="18" charset="0"/>
              </a:rPr>
              <a:t>个时钟周期，除法</a:t>
            </a:r>
            <a:r>
              <a:rPr lang="en-US" altLang="zh-CN" sz="2400" b="1" dirty="0">
                <a:solidFill>
                  <a:srgbClr val="9933FF"/>
                </a:solidFill>
                <a:latin typeface="Times New Roman" panose="02020603050405020304" pitchFamily="18" charset="0"/>
                <a:ea typeface="宋体" pitchFamily="2" charset="-122"/>
                <a:cs typeface="Times New Roman" panose="02020603050405020304" pitchFamily="18" charset="0"/>
              </a:rPr>
              <a:t>40</a:t>
            </a:r>
            <a:r>
              <a:rPr lang="zh-CN" altLang="en-US" sz="2400" b="1" dirty="0">
                <a:solidFill>
                  <a:srgbClr val="000000"/>
                </a:solidFill>
                <a:latin typeface="Times New Roman" panose="02020603050405020304" pitchFamily="18" charset="0"/>
                <a:ea typeface="宋体" pitchFamily="2" charset="-122"/>
                <a:cs typeface="Times New Roman" panose="02020603050405020304" pitchFamily="18" charset="0"/>
              </a:rPr>
              <a:t>个时钟周期。</a:t>
            </a:r>
            <a:endParaRPr lang="zh-CN" altLang="pt-BR" sz="2400" b="1" dirty="0">
              <a:solidFill>
                <a:srgbClr val="000000"/>
              </a:solidFill>
              <a:latin typeface="Times New Roman" panose="02020603050405020304" pitchFamily="18" charset="0"/>
              <a:ea typeface="宋体" pitchFamily="2" charset="-122"/>
              <a:cs typeface="Times New Roman" panose="02020603050405020304" pitchFamily="18" charset="0"/>
            </a:endParaRPr>
          </a:p>
          <a:p>
            <a:pPr marL="457200" indent="-457200" eaLnBrk="1" hangingPunct="1">
              <a:buFont typeface="Wingdings" pitchFamily="2" charset="2"/>
              <a:buNone/>
            </a:pPr>
            <a:r>
              <a:rPr lang="pt-BR" altLang="zh-CN" sz="2400" b="1" dirty="0">
                <a:solidFill>
                  <a:schemeClr val="tx1"/>
                </a:solidFill>
                <a:latin typeface="Times New Roman" panose="02020603050405020304" pitchFamily="18" charset="0"/>
                <a:ea typeface="宋体" pitchFamily="2" charset="-122"/>
                <a:cs typeface="Times New Roman" panose="02020603050405020304" pitchFamily="18" charset="0"/>
              </a:rPr>
              <a:t>                 LD	              F6, 34</a:t>
            </a:r>
            <a:r>
              <a:rPr lang="en-US" altLang="zh-CN" sz="24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pt-BR" altLang="zh-CN" sz="2400" b="1" dirty="0">
                <a:solidFill>
                  <a:schemeClr val="tx1"/>
                </a:solidFill>
                <a:latin typeface="Times New Roman" panose="02020603050405020304" pitchFamily="18" charset="0"/>
                <a:ea typeface="宋体" pitchFamily="2" charset="-122"/>
                <a:cs typeface="Times New Roman" panose="02020603050405020304" pitchFamily="18" charset="0"/>
              </a:rPr>
              <a:t>R2</a:t>
            </a:r>
            <a:r>
              <a:rPr lang="en-US" altLang="zh-CN" sz="2400" b="1" dirty="0">
                <a:latin typeface="Times New Roman" panose="02020603050405020304" pitchFamily="18" charset="0"/>
                <a:ea typeface="宋体" pitchFamily="2" charset="-122"/>
                <a:cs typeface="Times New Roman" panose="02020603050405020304" pitchFamily="18" charset="0"/>
              </a:rPr>
              <a:t>)</a:t>
            </a:r>
            <a:endParaRPr lang="zh-CN" altLang="pt-BR" sz="2400" b="1" dirty="0">
              <a:solidFill>
                <a:schemeClr val="tx1"/>
              </a:solidFill>
              <a:latin typeface="Times New Roman" panose="02020603050405020304" pitchFamily="18" charset="0"/>
              <a:ea typeface="宋体" pitchFamily="2" charset="-122"/>
              <a:cs typeface="Times New Roman" panose="02020603050405020304" pitchFamily="18" charset="0"/>
            </a:endParaRPr>
          </a:p>
          <a:p>
            <a:pPr marL="457200" indent="-457200" eaLnBrk="1" hangingPunct="1">
              <a:buFont typeface="Wingdings" pitchFamily="2" charset="2"/>
              <a:buNone/>
            </a:pPr>
            <a:r>
              <a:rPr lang="pt-BR" altLang="zh-CN" sz="2400" b="1" dirty="0">
                <a:solidFill>
                  <a:schemeClr val="tx1"/>
                </a:solidFill>
                <a:latin typeface="Times New Roman" panose="02020603050405020304" pitchFamily="18" charset="0"/>
                <a:ea typeface="宋体" pitchFamily="2" charset="-122"/>
                <a:cs typeface="Times New Roman" panose="02020603050405020304" pitchFamily="18" charset="0"/>
              </a:rPr>
              <a:t>                 LD	              F2, 45</a:t>
            </a:r>
            <a:r>
              <a:rPr lang="en-US" altLang="zh-CN" sz="2400" b="1" dirty="0">
                <a:latin typeface="Times New Roman" panose="02020603050405020304" pitchFamily="18" charset="0"/>
                <a:ea typeface="宋体" pitchFamily="2" charset="-122"/>
                <a:cs typeface="Times New Roman" panose="02020603050405020304" pitchFamily="18" charset="0"/>
              </a:rPr>
              <a:t>(</a:t>
            </a:r>
            <a:r>
              <a:rPr lang="pt-BR" altLang="zh-CN" sz="2400" b="1" dirty="0">
                <a:solidFill>
                  <a:schemeClr val="tx1"/>
                </a:solidFill>
                <a:latin typeface="Times New Roman" panose="02020603050405020304" pitchFamily="18" charset="0"/>
                <a:ea typeface="宋体" pitchFamily="2" charset="-122"/>
                <a:cs typeface="Times New Roman" panose="02020603050405020304" pitchFamily="18" charset="0"/>
              </a:rPr>
              <a:t>R3</a:t>
            </a:r>
            <a:r>
              <a:rPr lang="en-US" altLang="zh-CN" sz="2400" b="1" dirty="0">
                <a:latin typeface="Times New Roman" panose="02020603050405020304" pitchFamily="18" charset="0"/>
                <a:ea typeface="宋体" pitchFamily="2" charset="-122"/>
                <a:cs typeface="Times New Roman" panose="02020603050405020304" pitchFamily="18" charset="0"/>
              </a:rPr>
              <a:t>)</a:t>
            </a:r>
            <a:endParaRPr lang="zh-CN" altLang="pt-BR" sz="2400" b="1" dirty="0">
              <a:solidFill>
                <a:schemeClr val="tx1"/>
              </a:solidFill>
              <a:latin typeface="Times New Roman" panose="02020603050405020304" pitchFamily="18" charset="0"/>
              <a:ea typeface="宋体" pitchFamily="2" charset="-122"/>
              <a:cs typeface="Times New Roman" panose="02020603050405020304" pitchFamily="18" charset="0"/>
            </a:endParaRPr>
          </a:p>
          <a:p>
            <a:pPr marL="457200" indent="-457200" eaLnBrk="1" hangingPunct="1">
              <a:buFont typeface="Wingdings" pitchFamily="2" charset="2"/>
              <a:buNone/>
            </a:pPr>
            <a:r>
              <a:rPr lang="pt-BR" altLang="zh-CN" sz="2400" b="1" dirty="0">
                <a:solidFill>
                  <a:schemeClr val="tx1"/>
                </a:solidFill>
                <a:latin typeface="Times New Roman" panose="02020603050405020304" pitchFamily="18" charset="0"/>
                <a:ea typeface="宋体" pitchFamily="2" charset="-122"/>
                <a:cs typeface="Times New Roman" panose="02020603050405020304" pitchFamily="18" charset="0"/>
              </a:rPr>
              <a:t>                 MULTD	  F0, F2, F4</a:t>
            </a:r>
            <a:endParaRPr lang="en-US" altLang="zh-CN" sz="2400" b="1" dirty="0">
              <a:solidFill>
                <a:schemeClr val="tx1"/>
              </a:solidFill>
              <a:latin typeface="Times New Roman" panose="02020603050405020304" pitchFamily="18" charset="0"/>
              <a:ea typeface="宋体" pitchFamily="2" charset="-122"/>
              <a:cs typeface="Times New Roman" panose="02020603050405020304" pitchFamily="18" charset="0"/>
            </a:endParaRPr>
          </a:p>
          <a:p>
            <a:pPr marL="457200" indent="-457200" eaLnBrk="1" hangingPunct="1">
              <a:buFont typeface="Wingdings" pitchFamily="2" charset="2"/>
              <a:buNone/>
            </a:pPr>
            <a:r>
              <a:rPr lang="en-US" altLang="zh-CN" sz="2400" b="1" dirty="0">
                <a:solidFill>
                  <a:schemeClr val="tx1"/>
                </a:solidFill>
                <a:latin typeface="Times New Roman" panose="02020603050405020304" pitchFamily="18" charset="0"/>
                <a:ea typeface="宋体" pitchFamily="2" charset="-122"/>
                <a:cs typeface="Times New Roman" panose="02020603050405020304" pitchFamily="18" charset="0"/>
              </a:rPr>
              <a:t>                 SUBD  	  F8, F6, F2</a:t>
            </a:r>
          </a:p>
          <a:p>
            <a:pPr marL="457200" indent="-457200" eaLnBrk="1" hangingPunct="1">
              <a:buFont typeface="Wingdings" pitchFamily="2" charset="2"/>
              <a:buNone/>
            </a:pPr>
            <a:r>
              <a:rPr lang="en-US" altLang="zh-CN" sz="2400" b="1" dirty="0">
                <a:solidFill>
                  <a:schemeClr val="tx1"/>
                </a:solidFill>
                <a:latin typeface="Times New Roman" panose="02020603050405020304" pitchFamily="18" charset="0"/>
                <a:ea typeface="宋体" pitchFamily="2" charset="-122"/>
                <a:cs typeface="Times New Roman" panose="02020603050405020304" pitchFamily="18" charset="0"/>
              </a:rPr>
              <a:t>                 DIVD  	  F10, F0, F6</a:t>
            </a:r>
          </a:p>
          <a:p>
            <a:pPr marL="457200" indent="-457200" eaLnBrk="1" hangingPunct="1">
              <a:buFont typeface="Wingdings" pitchFamily="2" charset="2"/>
              <a:buNone/>
            </a:pPr>
            <a:r>
              <a:rPr lang="en-US" altLang="zh-CN" sz="2400" b="1" dirty="0">
                <a:solidFill>
                  <a:schemeClr val="tx1"/>
                </a:solidFill>
                <a:latin typeface="Times New Roman" panose="02020603050405020304" pitchFamily="18" charset="0"/>
                <a:ea typeface="宋体" pitchFamily="2" charset="-122"/>
                <a:cs typeface="Times New Roman" panose="02020603050405020304" pitchFamily="18" charset="0"/>
              </a:rPr>
              <a:t>                 ADDD	  F6, F8, F2</a:t>
            </a:r>
          </a:p>
        </p:txBody>
      </p:sp>
      <p:sp>
        <p:nvSpPr>
          <p:cNvPr id="2" name="日期占位符 1">
            <a:extLst>
              <a:ext uri="{FF2B5EF4-FFF2-40B4-BE49-F238E27FC236}">
                <a16:creationId xmlns:a16="http://schemas.microsoft.com/office/drawing/2014/main" id="{19F22865-350E-B459-51D5-6A3E9F75B7A8}"/>
              </a:ext>
            </a:extLst>
          </p:cNvPr>
          <p:cNvSpPr>
            <a:spLocks noGrp="1"/>
          </p:cNvSpPr>
          <p:nvPr>
            <p:ph type="dt" sz="half" idx="10"/>
          </p:nvPr>
        </p:nvSpPr>
        <p:spPr/>
        <p:txBody>
          <a:bodyPr/>
          <a:lstStyle/>
          <a:p>
            <a:pPr>
              <a:defRPr/>
            </a:pPr>
            <a:fld id="{3ED770C2-4234-433B-9817-EDCBB946C473}"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8D579462-D936-BFD4-47BE-151C916F8CA6}"/>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D1FA33C5-5DB6-4680-87EF-5691C88096E4}"/>
              </a:ext>
            </a:extLst>
          </p:cNvPr>
          <p:cNvSpPr>
            <a:spLocks noGrp="1"/>
          </p:cNvSpPr>
          <p:nvPr>
            <p:ph type="sldNum" sz="quarter" idx="12"/>
          </p:nvPr>
        </p:nvSpPr>
        <p:spPr/>
        <p:txBody>
          <a:bodyPr/>
          <a:lstStyle/>
          <a:p>
            <a:pPr>
              <a:defRPr/>
            </a:pPr>
            <a:fld id="{8BCAC33D-D29A-48B3-BCD6-381D3D720D26}" type="slidenum">
              <a:rPr lang="zh-CN" altLang="en-US" smtClean="0"/>
              <a:t>32</a:t>
            </a:fld>
            <a:endParaRPr lang="en-US" altLang="zh-CN"/>
          </a:p>
        </p:txBody>
      </p:sp>
    </p:spTree>
    <p:extLst>
      <p:ext uri="{BB962C8B-B14F-4D97-AF65-F5344CB8AC3E}">
        <p14:creationId xmlns:p14="http://schemas.microsoft.com/office/powerpoint/2010/main" val="42737844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AF09E5EA-C0C7-48AE-9EF6-25CBA90104B2}"/>
              </a:ext>
            </a:extLst>
          </p:cNvPr>
          <p:cNvSpPr txBox="1">
            <a:spLocks/>
          </p:cNvSpPr>
          <p:nvPr/>
        </p:nvSpPr>
        <p:spPr>
          <a:xfrm>
            <a:off x="431800" y="169962"/>
            <a:ext cx="8280400" cy="66675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kumimoji="0" lang="zh-CN" altLang="en-US" sz="3600" b="1" dirty="0">
                <a:latin typeface="Times New Roman" panose="02020603050405020304" pitchFamily="18" charset="0"/>
                <a:cs typeface="Times New Roman" panose="02020603050405020304" pitchFamily="18" charset="0"/>
              </a:rPr>
              <a:t>前瞻</a:t>
            </a:r>
            <a:r>
              <a:rPr kumimoji="0" lang="zh-CN" altLang="en-US" sz="3600" dirty="0">
                <a:latin typeface="Times New Roman" panose="02020603050405020304" pitchFamily="18" charset="0"/>
                <a:cs typeface="Times New Roman" panose="02020603050405020304" pitchFamily="18" charset="0"/>
              </a:rPr>
              <a:t>实例：</a:t>
            </a:r>
            <a:r>
              <a:rPr kumimoji="0" lang="en-US" altLang="zh-CN" sz="3600" dirty="0">
                <a:latin typeface="Times New Roman" panose="02020603050405020304" pitchFamily="18" charset="0"/>
                <a:cs typeface="Times New Roman" panose="02020603050405020304" pitchFamily="18" charset="0"/>
              </a:rPr>
              <a:t>Cycle 1</a:t>
            </a:r>
            <a:endParaRPr kumimoji="0" lang="zh-CN" altLang="en-US" sz="3600" b="0"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2084BB33-4E1A-4621-BB87-FF0EF0786E9C}"/>
              </a:ext>
            </a:extLst>
          </p:cNvPr>
          <p:cNvPicPr>
            <a:picLocks noChangeAspect="1"/>
          </p:cNvPicPr>
          <p:nvPr/>
        </p:nvPicPr>
        <p:blipFill>
          <a:blip r:embed="rId3"/>
          <a:stretch>
            <a:fillRect/>
          </a:stretch>
        </p:blipFill>
        <p:spPr>
          <a:xfrm>
            <a:off x="125055" y="825272"/>
            <a:ext cx="9018945" cy="5987681"/>
          </a:xfrm>
          <a:prstGeom prst="rect">
            <a:avLst/>
          </a:prstGeom>
        </p:spPr>
      </p:pic>
      <p:sp>
        <p:nvSpPr>
          <p:cNvPr id="2" name="日期占位符 1">
            <a:extLst>
              <a:ext uri="{FF2B5EF4-FFF2-40B4-BE49-F238E27FC236}">
                <a16:creationId xmlns:a16="http://schemas.microsoft.com/office/drawing/2014/main" id="{D597F723-E556-7602-74FF-36F7B5D29388}"/>
              </a:ext>
            </a:extLst>
          </p:cNvPr>
          <p:cNvSpPr>
            <a:spLocks noGrp="1"/>
          </p:cNvSpPr>
          <p:nvPr>
            <p:ph type="dt" sz="half" idx="10"/>
          </p:nvPr>
        </p:nvSpPr>
        <p:spPr/>
        <p:txBody>
          <a:bodyPr/>
          <a:lstStyle/>
          <a:p>
            <a:pPr>
              <a:defRPr/>
            </a:pPr>
            <a:fld id="{CA18A0F9-6D2A-4485-85EA-B55297A4FD11}"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34713D89-FC21-69BF-03A6-DA19A93E280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41E70290-DE74-8B81-BAB8-EAD6F1B26722}"/>
              </a:ext>
            </a:extLst>
          </p:cNvPr>
          <p:cNvSpPr>
            <a:spLocks noGrp="1"/>
          </p:cNvSpPr>
          <p:nvPr>
            <p:ph type="sldNum" sz="quarter" idx="12"/>
          </p:nvPr>
        </p:nvSpPr>
        <p:spPr/>
        <p:txBody>
          <a:bodyPr/>
          <a:lstStyle/>
          <a:p>
            <a:pPr>
              <a:defRPr/>
            </a:pPr>
            <a:fld id="{65B7EA61-351E-4105-9AD9-76D38C6E9934}" type="slidenum">
              <a:rPr lang="zh-CN" altLang="en-US" smtClean="0"/>
              <a:t>33</a:t>
            </a:fld>
            <a:endParaRPr lang="en-US" altLang="zh-CN"/>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Text Box 1">
            <a:extLst>
              <a:ext uri="{FF2B5EF4-FFF2-40B4-BE49-F238E27FC236}">
                <a16:creationId xmlns:a16="http://schemas.microsoft.com/office/drawing/2014/main" id="{6B668F11-891D-440A-BEE8-59974889605C}"/>
              </a:ext>
            </a:extLst>
          </p:cNvPr>
          <p:cNvSpPr txBox="1">
            <a:spLocks noChangeArrowheads="1"/>
          </p:cNvSpPr>
          <p:nvPr/>
        </p:nvSpPr>
        <p:spPr bwMode="auto">
          <a:xfrm>
            <a:off x="628650" y="365125"/>
            <a:ext cx="7886700" cy="1325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9" name="标题 1">
            <a:extLst>
              <a:ext uri="{FF2B5EF4-FFF2-40B4-BE49-F238E27FC236}">
                <a16:creationId xmlns:a16="http://schemas.microsoft.com/office/drawing/2014/main" id="{93D65EB5-3237-41AC-8540-9D8C3BC40398}"/>
              </a:ext>
            </a:extLst>
          </p:cNvPr>
          <p:cNvSpPr txBox="1">
            <a:spLocks/>
          </p:cNvSpPr>
          <p:nvPr/>
        </p:nvSpPr>
        <p:spPr>
          <a:xfrm>
            <a:off x="431800" y="169962"/>
            <a:ext cx="8280400" cy="66675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kumimoji="0" lang="zh-CN" altLang="en-US" sz="3600" b="1" dirty="0">
                <a:latin typeface="Times New Roman" panose="02020603050405020304" pitchFamily="18" charset="0"/>
                <a:cs typeface="Times New Roman" panose="02020603050405020304" pitchFamily="18" charset="0"/>
              </a:rPr>
              <a:t>前瞻</a:t>
            </a:r>
            <a:r>
              <a:rPr kumimoji="0" lang="zh-CN" altLang="en-US" sz="3600" dirty="0">
                <a:latin typeface="Times New Roman" panose="02020603050405020304" pitchFamily="18" charset="0"/>
                <a:cs typeface="Times New Roman" panose="02020603050405020304" pitchFamily="18" charset="0"/>
              </a:rPr>
              <a:t>实例：</a:t>
            </a:r>
            <a:r>
              <a:rPr kumimoji="0" lang="en-US" altLang="zh-CN" sz="3600" dirty="0">
                <a:latin typeface="Times New Roman" panose="02020603050405020304" pitchFamily="18" charset="0"/>
                <a:cs typeface="Times New Roman" panose="02020603050405020304" pitchFamily="18" charset="0"/>
              </a:rPr>
              <a:t>Cycle 2</a:t>
            </a:r>
            <a:endParaRPr kumimoji="0" lang="zh-CN" altLang="en-US" sz="3600" b="0"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ADC10596-A35B-4049-B4C5-194D5001AAB3}"/>
              </a:ext>
            </a:extLst>
          </p:cNvPr>
          <p:cNvPicPr>
            <a:picLocks noChangeAspect="1"/>
          </p:cNvPicPr>
          <p:nvPr/>
        </p:nvPicPr>
        <p:blipFill>
          <a:blip r:embed="rId3"/>
          <a:stretch>
            <a:fillRect/>
          </a:stretch>
        </p:blipFill>
        <p:spPr>
          <a:xfrm>
            <a:off x="415230" y="843111"/>
            <a:ext cx="8477250" cy="5610225"/>
          </a:xfrm>
          <a:prstGeom prst="rect">
            <a:avLst/>
          </a:prstGeom>
        </p:spPr>
      </p:pic>
      <p:sp>
        <p:nvSpPr>
          <p:cNvPr id="2" name="日期占位符 1">
            <a:extLst>
              <a:ext uri="{FF2B5EF4-FFF2-40B4-BE49-F238E27FC236}">
                <a16:creationId xmlns:a16="http://schemas.microsoft.com/office/drawing/2014/main" id="{218DB07E-17DE-D3AA-A24D-7AD33E66979B}"/>
              </a:ext>
            </a:extLst>
          </p:cNvPr>
          <p:cNvSpPr>
            <a:spLocks noGrp="1"/>
          </p:cNvSpPr>
          <p:nvPr>
            <p:ph type="dt" sz="half" idx="10"/>
          </p:nvPr>
        </p:nvSpPr>
        <p:spPr/>
        <p:txBody>
          <a:bodyPr/>
          <a:lstStyle/>
          <a:p>
            <a:pPr>
              <a:defRPr/>
            </a:pPr>
            <a:fld id="{BBEC21BF-5E45-47DA-B6DF-0F20BDA3964F}"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760F5B03-58AB-2584-D5F1-00388F14FE59}"/>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48751CD2-7AB0-E66D-5C10-DFC6CBF50A2D}"/>
              </a:ext>
            </a:extLst>
          </p:cNvPr>
          <p:cNvSpPr>
            <a:spLocks noGrp="1"/>
          </p:cNvSpPr>
          <p:nvPr>
            <p:ph type="sldNum" sz="quarter" idx="12"/>
          </p:nvPr>
        </p:nvSpPr>
        <p:spPr/>
        <p:txBody>
          <a:bodyPr/>
          <a:lstStyle/>
          <a:p>
            <a:pPr>
              <a:defRPr/>
            </a:pPr>
            <a:fld id="{65B7EA61-351E-4105-9AD9-76D38C6E9934}" type="slidenum">
              <a:rPr lang="zh-CN" altLang="en-US" smtClean="0"/>
              <a:t>34</a:t>
            </a:fld>
            <a:endParaRPr lang="en-US" altLang="zh-CN"/>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Text Box 1">
            <a:extLst>
              <a:ext uri="{FF2B5EF4-FFF2-40B4-BE49-F238E27FC236}">
                <a16:creationId xmlns:a16="http://schemas.microsoft.com/office/drawing/2014/main" id="{D5D660F0-3B30-4F65-BAE6-37DE5A849611}"/>
              </a:ext>
            </a:extLst>
          </p:cNvPr>
          <p:cNvSpPr txBox="1">
            <a:spLocks noChangeArrowheads="1"/>
          </p:cNvSpPr>
          <p:nvPr/>
        </p:nvSpPr>
        <p:spPr bwMode="auto">
          <a:xfrm>
            <a:off x="628650" y="365125"/>
            <a:ext cx="7886700" cy="1325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8" name="标题 1">
            <a:extLst>
              <a:ext uri="{FF2B5EF4-FFF2-40B4-BE49-F238E27FC236}">
                <a16:creationId xmlns:a16="http://schemas.microsoft.com/office/drawing/2014/main" id="{D25B054E-1F32-4543-9C26-3805E085EFC9}"/>
              </a:ext>
            </a:extLst>
          </p:cNvPr>
          <p:cNvSpPr txBox="1">
            <a:spLocks/>
          </p:cNvSpPr>
          <p:nvPr/>
        </p:nvSpPr>
        <p:spPr>
          <a:xfrm>
            <a:off x="431800" y="169962"/>
            <a:ext cx="8280400" cy="66675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kumimoji="0" lang="zh-CN" altLang="en-US" sz="3600" b="1" dirty="0">
                <a:latin typeface="Times New Roman" panose="02020603050405020304" pitchFamily="18" charset="0"/>
                <a:cs typeface="Times New Roman" panose="02020603050405020304" pitchFamily="18" charset="0"/>
              </a:rPr>
              <a:t>前瞻</a:t>
            </a:r>
            <a:r>
              <a:rPr kumimoji="0" lang="zh-CN" altLang="en-US" sz="3600" dirty="0">
                <a:latin typeface="Times New Roman" panose="02020603050405020304" pitchFamily="18" charset="0"/>
                <a:cs typeface="Times New Roman" panose="02020603050405020304" pitchFamily="18" charset="0"/>
              </a:rPr>
              <a:t>实例：</a:t>
            </a:r>
            <a:r>
              <a:rPr kumimoji="0" lang="en-US" altLang="zh-CN" sz="3600" dirty="0">
                <a:latin typeface="Times New Roman" panose="02020603050405020304" pitchFamily="18" charset="0"/>
                <a:cs typeface="Times New Roman" panose="02020603050405020304" pitchFamily="18" charset="0"/>
              </a:rPr>
              <a:t>Cycle 3</a:t>
            </a:r>
            <a:endParaRPr kumimoji="0" lang="zh-CN" altLang="en-US" sz="3600" b="0"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070FB746-BC30-491A-B77F-F6CBF9C5F973}"/>
              </a:ext>
            </a:extLst>
          </p:cNvPr>
          <p:cNvPicPr>
            <a:picLocks noChangeAspect="1"/>
          </p:cNvPicPr>
          <p:nvPr/>
        </p:nvPicPr>
        <p:blipFill>
          <a:blip r:embed="rId3"/>
          <a:stretch>
            <a:fillRect/>
          </a:stretch>
        </p:blipFill>
        <p:spPr>
          <a:xfrm>
            <a:off x="487238" y="843111"/>
            <a:ext cx="8477250" cy="5610225"/>
          </a:xfrm>
          <a:prstGeom prst="rect">
            <a:avLst/>
          </a:prstGeom>
        </p:spPr>
      </p:pic>
      <p:sp>
        <p:nvSpPr>
          <p:cNvPr id="2" name="日期占位符 1">
            <a:extLst>
              <a:ext uri="{FF2B5EF4-FFF2-40B4-BE49-F238E27FC236}">
                <a16:creationId xmlns:a16="http://schemas.microsoft.com/office/drawing/2014/main" id="{AEF9BDBE-EDE8-672E-C19D-26F91D43296E}"/>
              </a:ext>
            </a:extLst>
          </p:cNvPr>
          <p:cNvSpPr>
            <a:spLocks noGrp="1"/>
          </p:cNvSpPr>
          <p:nvPr>
            <p:ph type="dt" sz="half" idx="10"/>
          </p:nvPr>
        </p:nvSpPr>
        <p:spPr/>
        <p:txBody>
          <a:bodyPr/>
          <a:lstStyle/>
          <a:p>
            <a:pPr>
              <a:defRPr/>
            </a:pPr>
            <a:fld id="{FBEC35B9-0403-41FC-9D7A-44958DE1CDE6}"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C517BEE1-FFB5-034F-60C6-00D4BB889DCF}"/>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B549CAEF-457F-C017-6F0C-6216DD84F9FD}"/>
              </a:ext>
            </a:extLst>
          </p:cNvPr>
          <p:cNvSpPr>
            <a:spLocks noGrp="1"/>
          </p:cNvSpPr>
          <p:nvPr>
            <p:ph type="sldNum" sz="quarter" idx="12"/>
          </p:nvPr>
        </p:nvSpPr>
        <p:spPr/>
        <p:txBody>
          <a:bodyPr/>
          <a:lstStyle/>
          <a:p>
            <a:pPr>
              <a:defRPr/>
            </a:pPr>
            <a:fld id="{65B7EA61-351E-4105-9AD9-76D38C6E9934}" type="slidenum">
              <a:rPr lang="zh-CN" altLang="en-US" smtClean="0"/>
              <a:t>35</a:t>
            </a:fld>
            <a:endParaRPr lang="en-US" altLang="zh-CN"/>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C2F3BBD5-1FB2-4194-BB5A-C61E58C69474}"/>
              </a:ext>
            </a:extLst>
          </p:cNvPr>
          <p:cNvSpPr txBox="1">
            <a:spLocks/>
          </p:cNvSpPr>
          <p:nvPr/>
        </p:nvSpPr>
        <p:spPr>
          <a:xfrm>
            <a:off x="431800" y="169962"/>
            <a:ext cx="8280400" cy="66675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kumimoji="0" lang="zh-CN" altLang="en-US" sz="3600" b="1" dirty="0">
                <a:latin typeface="Times New Roman" panose="02020603050405020304" pitchFamily="18" charset="0"/>
                <a:cs typeface="Times New Roman" panose="02020603050405020304" pitchFamily="18" charset="0"/>
              </a:rPr>
              <a:t>前瞻</a:t>
            </a:r>
            <a:r>
              <a:rPr kumimoji="0" lang="zh-CN" altLang="en-US" sz="3600" dirty="0">
                <a:latin typeface="Times New Roman" panose="02020603050405020304" pitchFamily="18" charset="0"/>
                <a:cs typeface="Times New Roman" panose="02020603050405020304" pitchFamily="18" charset="0"/>
              </a:rPr>
              <a:t>实例：</a:t>
            </a:r>
            <a:r>
              <a:rPr kumimoji="0" lang="en-US" altLang="zh-CN" sz="3600" dirty="0">
                <a:latin typeface="Times New Roman" panose="02020603050405020304" pitchFamily="18" charset="0"/>
                <a:cs typeface="Times New Roman" panose="02020603050405020304" pitchFamily="18" charset="0"/>
              </a:rPr>
              <a:t>Cycle 4</a:t>
            </a:r>
            <a:endParaRPr kumimoji="0" lang="zh-CN" altLang="en-US" sz="3600" b="0"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91D6A0EB-9DDB-474C-A7B3-8846A5DE1EA7}"/>
              </a:ext>
            </a:extLst>
          </p:cNvPr>
          <p:cNvPicPr>
            <a:picLocks noChangeAspect="1"/>
          </p:cNvPicPr>
          <p:nvPr/>
        </p:nvPicPr>
        <p:blipFill>
          <a:blip r:embed="rId3"/>
          <a:stretch>
            <a:fillRect/>
          </a:stretch>
        </p:blipFill>
        <p:spPr>
          <a:xfrm>
            <a:off x="544056" y="1035486"/>
            <a:ext cx="8572500" cy="5667375"/>
          </a:xfrm>
          <a:prstGeom prst="rect">
            <a:avLst/>
          </a:prstGeom>
        </p:spPr>
      </p:pic>
      <p:cxnSp>
        <p:nvCxnSpPr>
          <p:cNvPr id="4" name="直接箭头连接符 3">
            <a:extLst>
              <a:ext uri="{FF2B5EF4-FFF2-40B4-BE49-F238E27FC236}">
                <a16:creationId xmlns:a16="http://schemas.microsoft.com/office/drawing/2014/main" id="{9ACA2B7F-D153-4F58-9D7B-6BD00DF9EBA7}"/>
              </a:ext>
            </a:extLst>
          </p:cNvPr>
          <p:cNvCxnSpPr>
            <a:cxnSpLocks/>
          </p:cNvCxnSpPr>
          <p:nvPr/>
        </p:nvCxnSpPr>
        <p:spPr>
          <a:xfrm flipH="1" flipV="1">
            <a:off x="4932040" y="1556792"/>
            <a:ext cx="1224136" cy="19442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52EE8A3A-F70F-4271-8EE3-66DB5B3289BE}"/>
              </a:ext>
            </a:extLst>
          </p:cNvPr>
          <p:cNvCxnSpPr>
            <a:cxnSpLocks/>
          </p:cNvCxnSpPr>
          <p:nvPr/>
        </p:nvCxnSpPr>
        <p:spPr>
          <a:xfrm flipH="1" flipV="1">
            <a:off x="3707904" y="2348880"/>
            <a:ext cx="2448272" cy="1152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日期占位符 1">
            <a:extLst>
              <a:ext uri="{FF2B5EF4-FFF2-40B4-BE49-F238E27FC236}">
                <a16:creationId xmlns:a16="http://schemas.microsoft.com/office/drawing/2014/main" id="{4F9D94A9-EF6D-9861-4984-90BE127B9428}"/>
              </a:ext>
            </a:extLst>
          </p:cNvPr>
          <p:cNvSpPr>
            <a:spLocks noGrp="1"/>
          </p:cNvSpPr>
          <p:nvPr>
            <p:ph type="dt" sz="half" idx="10"/>
          </p:nvPr>
        </p:nvSpPr>
        <p:spPr/>
        <p:txBody>
          <a:bodyPr/>
          <a:lstStyle/>
          <a:p>
            <a:pPr>
              <a:defRPr/>
            </a:pPr>
            <a:fld id="{D217C742-ED06-4F7B-9E7A-AC653CA2D91A}" type="datetime1">
              <a:rPr lang="zh-CN" altLang="en-US" smtClean="0"/>
              <a:t>2025/10/28</a:t>
            </a:fld>
            <a:endParaRPr lang="en-US" altLang="zh-CN"/>
          </a:p>
        </p:txBody>
      </p:sp>
      <p:sp>
        <p:nvSpPr>
          <p:cNvPr id="5" name="页脚占位符 4">
            <a:extLst>
              <a:ext uri="{FF2B5EF4-FFF2-40B4-BE49-F238E27FC236}">
                <a16:creationId xmlns:a16="http://schemas.microsoft.com/office/drawing/2014/main" id="{40C3683D-DF8F-63CB-AD07-7B4B2F7165B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6" name="灯片编号占位符 5">
            <a:extLst>
              <a:ext uri="{FF2B5EF4-FFF2-40B4-BE49-F238E27FC236}">
                <a16:creationId xmlns:a16="http://schemas.microsoft.com/office/drawing/2014/main" id="{6C7686EE-53B1-8311-350B-90E1AED0F541}"/>
              </a:ext>
            </a:extLst>
          </p:cNvPr>
          <p:cNvSpPr>
            <a:spLocks noGrp="1"/>
          </p:cNvSpPr>
          <p:nvPr>
            <p:ph type="sldNum" sz="quarter" idx="12"/>
          </p:nvPr>
        </p:nvSpPr>
        <p:spPr/>
        <p:txBody>
          <a:bodyPr/>
          <a:lstStyle/>
          <a:p>
            <a:pPr>
              <a:defRPr/>
            </a:pPr>
            <a:fld id="{65B7EA61-351E-4105-9AD9-76D38C6E9934}" type="slidenum">
              <a:rPr lang="zh-CN" altLang="en-US" smtClean="0"/>
              <a:t>36</a:t>
            </a:fld>
            <a:endParaRPr lang="en-US" altLang="zh-CN"/>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5C09672C-0F10-423E-A19B-765F5B33A9CA}"/>
              </a:ext>
            </a:extLst>
          </p:cNvPr>
          <p:cNvSpPr txBox="1">
            <a:spLocks/>
          </p:cNvSpPr>
          <p:nvPr/>
        </p:nvSpPr>
        <p:spPr>
          <a:xfrm>
            <a:off x="431800" y="169962"/>
            <a:ext cx="8280400" cy="66675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kumimoji="0" lang="zh-CN" altLang="en-US" sz="3600" b="1" dirty="0">
                <a:latin typeface="Times New Roman" panose="02020603050405020304" pitchFamily="18" charset="0"/>
                <a:cs typeface="Times New Roman" panose="02020603050405020304" pitchFamily="18" charset="0"/>
              </a:rPr>
              <a:t>前瞻</a:t>
            </a:r>
            <a:r>
              <a:rPr kumimoji="0" lang="zh-CN" altLang="en-US" sz="3600" dirty="0">
                <a:latin typeface="Times New Roman" panose="02020603050405020304" pitchFamily="18" charset="0"/>
                <a:cs typeface="Times New Roman" panose="02020603050405020304" pitchFamily="18" charset="0"/>
              </a:rPr>
              <a:t>实例：</a:t>
            </a:r>
            <a:r>
              <a:rPr kumimoji="0" lang="en-US" altLang="zh-CN" sz="3600" dirty="0">
                <a:latin typeface="Times New Roman" panose="02020603050405020304" pitchFamily="18" charset="0"/>
                <a:cs typeface="Times New Roman" panose="02020603050405020304" pitchFamily="18" charset="0"/>
              </a:rPr>
              <a:t>Cycle 5</a:t>
            </a:r>
            <a:endParaRPr kumimoji="0" lang="zh-CN" altLang="en-US" sz="3600" b="0"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8791BFC5-1214-4797-942D-A7CA71A00A67}"/>
              </a:ext>
            </a:extLst>
          </p:cNvPr>
          <p:cNvPicPr>
            <a:picLocks noChangeAspect="1"/>
          </p:cNvPicPr>
          <p:nvPr/>
        </p:nvPicPr>
        <p:blipFill>
          <a:blip r:embed="rId3"/>
          <a:stretch>
            <a:fillRect/>
          </a:stretch>
        </p:blipFill>
        <p:spPr>
          <a:xfrm>
            <a:off x="400928" y="908720"/>
            <a:ext cx="8572500" cy="5667375"/>
          </a:xfrm>
          <a:prstGeom prst="rect">
            <a:avLst/>
          </a:prstGeom>
        </p:spPr>
      </p:pic>
      <p:sp>
        <p:nvSpPr>
          <p:cNvPr id="2" name="日期占位符 1">
            <a:extLst>
              <a:ext uri="{FF2B5EF4-FFF2-40B4-BE49-F238E27FC236}">
                <a16:creationId xmlns:a16="http://schemas.microsoft.com/office/drawing/2014/main" id="{9E129883-C18C-9DD5-B674-9D1C089E9623}"/>
              </a:ext>
            </a:extLst>
          </p:cNvPr>
          <p:cNvSpPr>
            <a:spLocks noGrp="1"/>
          </p:cNvSpPr>
          <p:nvPr>
            <p:ph type="dt" sz="half" idx="10"/>
          </p:nvPr>
        </p:nvSpPr>
        <p:spPr/>
        <p:txBody>
          <a:bodyPr/>
          <a:lstStyle/>
          <a:p>
            <a:pPr>
              <a:defRPr/>
            </a:pPr>
            <a:fld id="{332EE63F-598A-4011-8608-BF5A58B90A72}"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A50F4CEF-FE06-51A9-4015-70C6E15881F3}"/>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92723310-AB8A-F973-B39B-B60FBAC7BAC4}"/>
              </a:ext>
            </a:extLst>
          </p:cNvPr>
          <p:cNvSpPr>
            <a:spLocks noGrp="1"/>
          </p:cNvSpPr>
          <p:nvPr>
            <p:ph type="sldNum" sz="quarter" idx="12"/>
          </p:nvPr>
        </p:nvSpPr>
        <p:spPr/>
        <p:txBody>
          <a:bodyPr/>
          <a:lstStyle/>
          <a:p>
            <a:pPr>
              <a:defRPr/>
            </a:pPr>
            <a:fld id="{65B7EA61-351E-4105-9AD9-76D38C6E9934}" type="slidenum">
              <a:rPr lang="zh-CN" altLang="en-US" smtClean="0"/>
              <a:t>37</a:t>
            </a:fld>
            <a:endParaRPr lang="en-US" altLang="zh-CN"/>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Text Box 1">
            <a:extLst>
              <a:ext uri="{FF2B5EF4-FFF2-40B4-BE49-F238E27FC236}">
                <a16:creationId xmlns:a16="http://schemas.microsoft.com/office/drawing/2014/main" id="{7F3182BA-3962-444A-B030-9AF85626703B}"/>
              </a:ext>
            </a:extLst>
          </p:cNvPr>
          <p:cNvSpPr txBox="1">
            <a:spLocks noChangeArrowheads="1"/>
          </p:cNvSpPr>
          <p:nvPr/>
        </p:nvSpPr>
        <p:spPr bwMode="auto">
          <a:xfrm>
            <a:off x="628650" y="365125"/>
            <a:ext cx="7886700" cy="1325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7" name="标题 1">
            <a:extLst>
              <a:ext uri="{FF2B5EF4-FFF2-40B4-BE49-F238E27FC236}">
                <a16:creationId xmlns:a16="http://schemas.microsoft.com/office/drawing/2014/main" id="{4314D2F4-DC10-4695-B31E-CEBFFC531A4C}"/>
              </a:ext>
            </a:extLst>
          </p:cNvPr>
          <p:cNvSpPr txBox="1">
            <a:spLocks/>
          </p:cNvSpPr>
          <p:nvPr/>
        </p:nvSpPr>
        <p:spPr>
          <a:xfrm>
            <a:off x="431800" y="169962"/>
            <a:ext cx="8280400" cy="66675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kumimoji="0" lang="zh-CN" altLang="en-US" sz="3600" b="1" dirty="0">
                <a:latin typeface="Times New Roman" panose="02020603050405020304" pitchFamily="18" charset="0"/>
                <a:cs typeface="Times New Roman" panose="02020603050405020304" pitchFamily="18" charset="0"/>
              </a:rPr>
              <a:t>前瞻</a:t>
            </a:r>
            <a:r>
              <a:rPr kumimoji="0" lang="zh-CN" altLang="en-US" sz="3600" dirty="0">
                <a:latin typeface="Times New Roman" panose="02020603050405020304" pitchFamily="18" charset="0"/>
                <a:cs typeface="Times New Roman" panose="02020603050405020304" pitchFamily="18" charset="0"/>
              </a:rPr>
              <a:t>实例：</a:t>
            </a:r>
            <a:r>
              <a:rPr kumimoji="0" lang="en-US" altLang="zh-CN" sz="3600" dirty="0">
                <a:latin typeface="Times New Roman" panose="02020603050405020304" pitchFamily="18" charset="0"/>
                <a:cs typeface="Times New Roman" panose="02020603050405020304" pitchFamily="18" charset="0"/>
              </a:rPr>
              <a:t>Cycle 6</a:t>
            </a:r>
            <a:endParaRPr kumimoji="0" lang="zh-CN" altLang="en-US" sz="3600" b="0"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32DE8B51-66E5-4757-994E-465DD326741E}"/>
              </a:ext>
            </a:extLst>
          </p:cNvPr>
          <p:cNvPicPr>
            <a:picLocks noChangeAspect="1"/>
          </p:cNvPicPr>
          <p:nvPr/>
        </p:nvPicPr>
        <p:blipFill>
          <a:blip r:embed="rId3"/>
          <a:stretch>
            <a:fillRect/>
          </a:stretch>
        </p:blipFill>
        <p:spPr>
          <a:xfrm>
            <a:off x="185627" y="836712"/>
            <a:ext cx="8772746" cy="5851550"/>
          </a:xfrm>
          <a:prstGeom prst="rect">
            <a:avLst/>
          </a:prstGeom>
        </p:spPr>
      </p:pic>
      <p:sp>
        <p:nvSpPr>
          <p:cNvPr id="2" name="日期占位符 1">
            <a:extLst>
              <a:ext uri="{FF2B5EF4-FFF2-40B4-BE49-F238E27FC236}">
                <a16:creationId xmlns:a16="http://schemas.microsoft.com/office/drawing/2014/main" id="{1CE40FC1-C9E1-F5D3-99BF-D4CA9BFED713}"/>
              </a:ext>
            </a:extLst>
          </p:cNvPr>
          <p:cNvSpPr>
            <a:spLocks noGrp="1"/>
          </p:cNvSpPr>
          <p:nvPr>
            <p:ph type="dt" sz="half" idx="10"/>
          </p:nvPr>
        </p:nvSpPr>
        <p:spPr/>
        <p:txBody>
          <a:bodyPr/>
          <a:lstStyle/>
          <a:p>
            <a:pPr>
              <a:defRPr/>
            </a:pPr>
            <a:fld id="{A6CB8435-00E6-4167-88AE-7BE7FBD1CD98}"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65EBE3D7-6EDF-A4B8-287D-6D6115A29A42}"/>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4E249448-0BD9-8355-4D9C-B93C7CB6F88A}"/>
              </a:ext>
            </a:extLst>
          </p:cNvPr>
          <p:cNvSpPr>
            <a:spLocks noGrp="1"/>
          </p:cNvSpPr>
          <p:nvPr>
            <p:ph type="sldNum" sz="quarter" idx="12"/>
          </p:nvPr>
        </p:nvSpPr>
        <p:spPr/>
        <p:txBody>
          <a:bodyPr/>
          <a:lstStyle/>
          <a:p>
            <a:pPr>
              <a:defRPr/>
            </a:pPr>
            <a:fld id="{65B7EA61-351E-4105-9AD9-76D38C6E9934}" type="slidenum">
              <a:rPr lang="zh-CN" altLang="en-US" smtClean="0"/>
              <a:t>38</a:t>
            </a:fld>
            <a:endParaRPr lang="en-US" altLang="zh-CN"/>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Text Box 1">
            <a:extLst>
              <a:ext uri="{FF2B5EF4-FFF2-40B4-BE49-F238E27FC236}">
                <a16:creationId xmlns:a16="http://schemas.microsoft.com/office/drawing/2014/main" id="{613CF594-6C11-4D24-BB7E-34A6FF59C0A8}"/>
              </a:ext>
            </a:extLst>
          </p:cNvPr>
          <p:cNvSpPr txBox="1">
            <a:spLocks noChangeArrowheads="1"/>
          </p:cNvSpPr>
          <p:nvPr/>
        </p:nvSpPr>
        <p:spPr bwMode="auto">
          <a:xfrm>
            <a:off x="628650" y="365125"/>
            <a:ext cx="7886700" cy="1325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7" name="标题 1">
            <a:extLst>
              <a:ext uri="{FF2B5EF4-FFF2-40B4-BE49-F238E27FC236}">
                <a16:creationId xmlns:a16="http://schemas.microsoft.com/office/drawing/2014/main" id="{0326ED07-4A48-41FA-B29D-3CB44E30480D}"/>
              </a:ext>
            </a:extLst>
          </p:cNvPr>
          <p:cNvSpPr txBox="1">
            <a:spLocks/>
          </p:cNvSpPr>
          <p:nvPr/>
        </p:nvSpPr>
        <p:spPr>
          <a:xfrm>
            <a:off x="431800" y="169962"/>
            <a:ext cx="8280400" cy="66675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kumimoji="0" lang="zh-CN" altLang="en-US" sz="3600" b="1" dirty="0">
                <a:latin typeface="Times New Roman" panose="02020603050405020304" pitchFamily="18" charset="0"/>
                <a:cs typeface="Times New Roman" panose="02020603050405020304" pitchFamily="18" charset="0"/>
              </a:rPr>
              <a:t>前瞻</a:t>
            </a:r>
            <a:r>
              <a:rPr kumimoji="0" lang="zh-CN" altLang="en-US" sz="3600" dirty="0">
                <a:latin typeface="Times New Roman" panose="02020603050405020304" pitchFamily="18" charset="0"/>
                <a:cs typeface="Times New Roman" panose="02020603050405020304" pitchFamily="18" charset="0"/>
              </a:rPr>
              <a:t>实例：</a:t>
            </a:r>
            <a:r>
              <a:rPr kumimoji="0" lang="en-US" altLang="zh-CN" sz="3600" dirty="0">
                <a:latin typeface="Times New Roman" panose="02020603050405020304" pitchFamily="18" charset="0"/>
                <a:cs typeface="Times New Roman" panose="02020603050405020304" pitchFamily="18" charset="0"/>
              </a:rPr>
              <a:t>Cycle 7</a:t>
            </a:r>
            <a:endParaRPr kumimoji="0" lang="zh-CN" altLang="en-US" sz="3600" b="0"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7AC72B27-CCA1-41B7-9BEF-A98B0E2C21F1}"/>
              </a:ext>
            </a:extLst>
          </p:cNvPr>
          <p:cNvPicPr>
            <a:picLocks noChangeAspect="1"/>
          </p:cNvPicPr>
          <p:nvPr/>
        </p:nvPicPr>
        <p:blipFill>
          <a:blip r:embed="rId3"/>
          <a:stretch>
            <a:fillRect/>
          </a:stretch>
        </p:blipFill>
        <p:spPr>
          <a:xfrm>
            <a:off x="195707" y="836712"/>
            <a:ext cx="8752586" cy="5728800"/>
          </a:xfrm>
          <a:prstGeom prst="rect">
            <a:avLst/>
          </a:prstGeom>
        </p:spPr>
      </p:pic>
      <p:cxnSp>
        <p:nvCxnSpPr>
          <p:cNvPr id="5" name="直接箭头连接符 4">
            <a:extLst>
              <a:ext uri="{FF2B5EF4-FFF2-40B4-BE49-F238E27FC236}">
                <a16:creationId xmlns:a16="http://schemas.microsoft.com/office/drawing/2014/main" id="{E4DC2356-AC04-4DBF-B54D-D1B3737F3D74}"/>
              </a:ext>
            </a:extLst>
          </p:cNvPr>
          <p:cNvCxnSpPr>
            <a:cxnSpLocks/>
          </p:cNvCxnSpPr>
          <p:nvPr/>
        </p:nvCxnSpPr>
        <p:spPr>
          <a:xfrm flipH="1" flipV="1">
            <a:off x="2699792" y="1512620"/>
            <a:ext cx="3168352" cy="2348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日期占位符 1">
            <a:extLst>
              <a:ext uri="{FF2B5EF4-FFF2-40B4-BE49-F238E27FC236}">
                <a16:creationId xmlns:a16="http://schemas.microsoft.com/office/drawing/2014/main" id="{9C5345E5-17DB-CD72-2FA2-D35C152A5753}"/>
              </a:ext>
            </a:extLst>
          </p:cNvPr>
          <p:cNvSpPr>
            <a:spLocks noGrp="1"/>
          </p:cNvSpPr>
          <p:nvPr>
            <p:ph type="dt" sz="half" idx="10"/>
          </p:nvPr>
        </p:nvSpPr>
        <p:spPr/>
        <p:txBody>
          <a:bodyPr/>
          <a:lstStyle/>
          <a:p>
            <a:pPr>
              <a:defRPr/>
            </a:pPr>
            <a:fld id="{B0A3F986-D9DB-4EB2-8CF4-2108FEE5A58F}"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154B8181-D31B-51EA-830B-C388E03218E1}"/>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6" name="灯片编号占位符 5">
            <a:extLst>
              <a:ext uri="{FF2B5EF4-FFF2-40B4-BE49-F238E27FC236}">
                <a16:creationId xmlns:a16="http://schemas.microsoft.com/office/drawing/2014/main" id="{4EEE76AA-D9C5-9921-DC46-034F011BD9AE}"/>
              </a:ext>
            </a:extLst>
          </p:cNvPr>
          <p:cNvSpPr>
            <a:spLocks noGrp="1"/>
          </p:cNvSpPr>
          <p:nvPr>
            <p:ph type="sldNum" sz="quarter" idx="12"/>
          </p:nvPr>
        </p:nvSpPr>
        <p:spPr/>
        <p:txBody>
          <a:bodyPr/>
          <a:lstStyle/>
          <a:p>
            <a:pPr>
              <a:defRPr/>
            </a:pPr>
            <a:fld id="{65B7EA61-351E-4105-9AD9-76D38C6E9934}" type="slidenum">
              <a:rPr lang="zh-CN" altLang="en-US" smtClean="0"/>
              <a:t>39</a:t>
            </a:fld>
            <a:endParaRPr lang="en-US" altLang="zh-CN"/>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Text Box 1">
            <a:extLst>
              <a:ext uri="{FF2B5EF4-FFF2-40B4-BE49-F238E27FC236}">
                <a16:creationId xmlns:a16="http://schemas.microsoft.com/office/drawing/2014/main" id="{871B6495-9406-445C-885F-96AFF666EB0C}"/>
              </a:ext>
            </a:extLst>
          </p:cNvPr>
          <p:cNvSpPr txBox="1">
            <a:spLocks noChangeArrowheads="1"/>
          </p:cNvSpPr>
          <p:nvPr/>
        </p:nvSpPr>
        <p:spPr bwMode="auto">
          <a:xfrm>
            <a:off x="628650" y="365125"/>
            <a:ext cx="7886700" cy="1325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7" name="标题 1">
            <a:extLst>
              <a:ext uri="{FF2B5EF4-FFF2-40B4-BE49-F238E27FC236}">
                <a16:creationId xmlns:a16="http://schemas.microsoft.com/office/drawing/2014/main" id="{15B3D52C-29A0-420B-A106-151025885BFC}"/>
              </a:ext>
            </a:extLst>
          </p:cNvPr>
          <p:cNvSpPr txBox="1">
            <a:spLocks/>
          </p:cNvSpPr>
          <p:nvPr/>
        </p:nvSpPr>
        <p:spPr>
          <a:xfrm>
            <a:off x="431800" y="169962"/>
            <a:ext cx="8280400" cy="66675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kumimoji="0" lang="zh-CN" altLang="en-US" sz="3600" b="1" dirty="0">
                <a:latin typeface="Times New Roman" panose="02020603050405020304" pitchFamily="18" charset="0"/>
                <a:cs typeface="Times New Roman" panose="02020603050405020304" pitchFamily="18" charset="0"/>
              </a:rPr>
              <a:t>前瞻</a:t>
            </a:r>
            <a:r>
              <a:rPr kumimoji="0" lang="zh-CN" altLang="en-US" sz="3600" dirty="0">
                <a:latin typeface="Times New Roman" panose="02020603050405020304" pitchFamily="18" charset="0"/>
                <a:cs typeface="Times New Roman" panose="02020603050405020304" pitchFamily="18" charset="0"/>
              </a:rPr>
              <a:t>实例：</a:t>
            </a:r>
            <a:r>
              <a:rPr kumimoji="0" lang="en-US" altLang="zh-CN" sz="3600" dirty="0">
                <a:latin typeface="Times New Roman" panose="02020603050405020304" pitchFamily="18" charset="0"/>
                <a:cs typeface="Times New Roman" panose="02020603050405020304" pitchFamily="18" charset="0"/>
              </a:rPr>
              <a:t>Cycle 8</a:t>
            </a:r>
            <a:endParaRPr kumimoji="0" lang="zh-CN" altLang="en-US" sz="3600" b="0"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48DFE825-AB57-4C37-98F2-504BC57807A9}"/>
              </a:ext>
            </a:extLst>
          </p:cNvPr>
          <p:cNvPicPr>
            <a:picLocks noChangeAspect="1"/>
          </p:cNvPicPr>
          <p:nvPr/>
        </p:nvPicPr>
        <p:blipFill>
          <a:blip r:embed="rId3"/>
          <a:stretch>
            <a:fillRect/>
          </a:stretch>
        </p:blipFill>
        <p:spPr>
          <a:xfrm>
            <a:off x="286969" y="876069"/>
            <a:ext cx="8835327" cy="5819951"/>
          </a:xfrm>
          <a:prstGeom prst="rect">
            <a:avLst/>
          </a:prstGeom>
        </p:spPr>
      </p:pic>
      <p:sp>
        <p:nvSpPr>
          <p:cNvPr id="2" name="日期占位符 1">
            <a:extLst>
              <a:ext uri="{FF2B5EF4-FFF2-40B4-BE49-F238E27FC236}">
                <a16:creationId xmlns:a16="http://schemas.microsoft.com/office/drawing/2014/main" id="{41782A07-6333-1C56-68EA-000D5EBFE8E3}"/>
              </a:ext>
            </a:extLst>
          </p:cNvPr>
          <p:cNvSpPr>
            <a:spLocks noGrp="1"/>
          </p:cNvSpPr>
          <p:nvPr>
            <p:ph type="dt" sz="half" idx="10"/>
          </p:nvPr>
        </p:nvSpPr>
        <p:spPr/>
        <p:txBody>
          <a:bodyPr/>
          <a:lstStyle/>
          <a:p>
            <a:pPr>
              <a:defRPr/>
            </a:pPr>
            <a:fld id="{E604376B-A319-420B-A63C-7980EDBB841F}"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3F4018DB-23BD-A7F6-B4BA-3FB4863B5FFF}"/>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E4FB4C6C-7338-A35E-FFBE-837CF37490E5}"/>
              </a:ext>
            </a:extLst>
          </p:cNvPr>
          <p:cNvSpPr>
            <a:spLocks noGrp="1"/>
          </p:cNvSpPr>
          <p:nvPr>
            <p:ph type="sldNum" sz="quarter" idx="12"/>
          </p:nvPr>
        </p:nvSpPr>
        <p:spPr/>
        <p:txBody>
          <a:bodyPr/>
          <a:lstStyle/>
          <a:p>
            <a:pPr>
              <a:defRPr/>
            </a:pPr>
            <a:fld id="{65B7EA61-351E-4105-9AD9-76D38C6E9934}" type="slidenum">
              <a:rPr lang="zh-CN" altLang="en-US" smtClean="0"/>
              <a:t>40</a:t>
            </a:fld>
            <a:endParaRPr lang="en-US" altLang="zh-CN"/>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Text Box 1">
            <a:extLst>
              <a:ext uri="{FF2B5EF4-FFF2-40B4-BE49-F238E27FC236}">
                <a16:creationId xmlns:a16="http://schemas.microsoft.com/office/drawing/2014/main" id="{B98BBC97-18C9-4B5F-91C0-D22771D94B6E}"/>
              </a:ext>
            </a:extLst>
          </p:cNvPr>
          <p:cNvSpPr txBox="1">
            <a:spLocks noChangeArrowheads="1"/>
          </p:cNvSpPr>
          <p:nvPr/>
        </p:nvSpPr>
        <p:spPr bwMode="auto">
          <a:xfrm>
            <a:off x="628650" y="365125"/>
            <a:ext cx="7886700" cy="1325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7" name="标题 1">
            <a:extLst>
              <a:ext uri="{FF2B5EF4-FFF2-40B4-BE49-F238E27FC236}">
                <a16:creationId xmlns:a16="http://schemas.microsoft.com/office/drawing/2014/main" id="{B42F28AE-6E93-46B0-9376-32C0851A0B5D}"/>
              </a:ext>
            </a:extLst>
          </p:cNvPr>
          <p:cNvSpPr txBox="1">
            <a:spLocks/>
          </p:cNvSpPr>
          <p:nvPr/>
        </p:nvSpPr>
        <p:spPr>
          <a:xfrm>
            <a:off x="431800" y="169962"/>
            <a:ext cx="8280400" cy="66675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kumimoji="0" lang="zh-CN" altLang="en-US" sz="3600" b="1" dirty="0">
                <a:latin typeface="Times New Roman" panose="02020603050405020304" pitchFamily="18" charset="0"/>
                <a:cs typeface="Times New Roman" panose="02020603050405020304" pitchFamily="18" charset="0"/>
              </a:rPr>
              <a:t>前瞻</a:t>
            </a:r>
            <a:r>
              <a:rPr kumimoji="0" lang="zh-CN" altLang="en-US" sz="3600" dirty="0">
                <a:latin typeface="Times New Roman" panose="02020603050405020304" pitchFamily="18" charset="0"/>
                <a:cs typeface="Times New Roman" panose="02020603050405020304" pitchFamily="18" charset="0"/>
              </a:rPr>
              <a:t>实例：</a:t>
            </a:r>
            <a:r>
              <a:rPr kumimoji="0" lang="en-US" altLang="zh-CN" sz="3600" dirty="0">
                <a:latin typeface="Times New Roman" panose="02020603050405020304" pitchFamily="18" charset="0"/>
                <a:cs typeface="Times New Roman" panose="02020603050405020304" pitchFamily="18" charset="0"/>
              </a:rPr>
              <a:t>Cycle 9</a:t>
            </a:r>
            <a:endParaRPr kumimoji="0" lang="zh-CN" altLang="en-US" sz="3600" b="0"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CCFEE713-46CB-4A09-8B74-73030092BF86}"/>
              </a:ext>
            </a:extLst>
          </p:cNvPr>
          <p:cNvPicPr>
            <a:picLocks noChangeAspect="1"/>
          </p:cNvPicPr>
          <p:nvPr/>
        </p:nvPicPr>
        <p:blipFill>
          <a:blip r:embed="rId3"/>
          <a:stretch>
            <a:fillRect/>
          </a:stretch>
        </p:blipFill>
        <p:spPr>
          <a:xfrm>
            <a:off x="458078" y="946968"/>
            <a:ext cx="8487673" cy="5578376"/>
          </a:xfrm>
          <a:prstGeom prst="rect">
            <a:avLst/>
          </a:prstGeom>
        </p:spPr>
      </p:pic>
      <p:sp>
        <p:nvSpPr>
          <p:cNvPr id="2" name="日期占位符 1">
            <a:extLst>
              <a:ext uri="{FF2B5EF4-FFF2-40B4-BE49-F238E27FC236}">
                <a16:creationId xmlns:a16="http://schemas.microsoft.com/office/drawing/2014/main" id="{B012054E-8519-9914-BF08-9DEA28409DC2}"/>
              </a:ext>
            </a:extLst>
          </p:cNvPr>
          <p:cNvSpPr>
            <a:spLocks noGrp="1"/>
          </p:cNvSpPr>
          <p:nvPr>
            <p:ph type="dt" sz="half" idx="10"/>
          </p:nvPr>
        </p:nvSpPr>
        <p:spPr/>
        <p:txBody>
          <a:bodyPr/>
          <a:lstStyle/>
          <a:p>
            <a:pPr>
              <a:defRPr/>
            </a:pPr>
            <a:fld id="{0D05A744-1BEE-4D2E-A0EB-57067A03E4E5}"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27854CA2-D221-2EA0-032B-F083B82F062F}"/>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7DA5D62B-04E9-E137-C1B7-BDAAA22188DD}"/>
              </a:ext>
            </a:extLst>
          </p:cNvPr>
          <p:cNvSpPr>
            <a:spLocks noGrp="1"/>
          </p:cNvSpPr>
          <p:nvPr>
            <p:ph type="sldNum" sz="quarter" idx="12"/>
          </p:nvPr>
        </p:nvSpPr>
        <p:spPr/>
        <p:txBody>
          <a:bodyPr/>
          <a:lstStyle/>
          <a:p>
            <a:pPr>
              <a:defRPr/>
            </a:pPr>
            <a:fld id="{65B7EA61-351E-4105-9AD9-76D38C6E9934}" type="slidenum">
              <a:rPr lang="zh-CN" altLang="en-US" smtClean="0"/>
              <a:t>41</a:t>
            </a:fld>
            <a:endParaRPr lang="en-US" altLang="zh-CN"/>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9D5D5EB5-720B-4F9E-B4AB-9CF57AEE40A3}"/>
              </a:ext>
            </a:extLst>
          </p:cNvPr>
          <p:cNvSpPr txBox="1">
            <a:spLocks/>
          </p:cNvSpPr>
          <p:nvPr/>
        </p:nvSpPr>
        <p:spPr>
          <a:xfrm>
            <a:off x="431800" y="169962"/>
            <a:ext cx="8280400" cy="66675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kumimoji="0" lang="zh-CN" altLang="en-US" sz="3600" b="1" dirty="0">
                <a:latin typeface="Times New Roman" panose="02020603050405020304" pitchFamily="18" charset="0"/>
                <a:cs typeface="Times New Roman" panose="02020603050405020304" pitchFamily="18" charset="0"/>
              </a:rPr>
              <a:t>前瞻</a:t>
            </a:r>
            <a:r>
              <a:rPr kumimoji="0" lang="zh-CN" altLang="en-US" sz="3600" dirty="0">
                <a:latin typeface="Times New Roman" panose="02020603050405020304" pitchFamily="18" charset="0"/>
                <a:cs typeface="Times New Roman" panose="02020603050405020304" pitchFamily="18" charset="0"/>
              </a:rPr>
              <a:t>实例：</a:t>
            </a:r>
            <a:r>
              <a:rPr kumimoji="0" lang="en-US" altLang="zh-CN" sz="3600" dirty="0">
                <a:latin typeface="Times New Roman" panose="02020603050405020304" pitchFamily="18" charset="0"/>
                <a:cs typeface="Times New Roman" panose="02020603050405020304" pitchFamily="18" charset="0"/>
              </a:rPr>
              <a:t>Cycle 10</a:t>
            </a:r>
            <a:endParaRPr kumimoji="0" lang="zh-CN" altLang="en-US" sz="3600" b="0"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5609ACC2-8DE9-40A1-8C43-C58F797FBF68}"/>
              </a:ext>
            </a:extLst>
          </p:cNvPr>
          <p:cNvPicPr>
            <a:picLocks noChangeAspect="1"/>
          </p:cNvPicPr>
          <p:nvPr/>
        </p:nvPicPr>
        <p:blipFill>
          <a:blip r:embed="rId3"/>
          <a:stretch>
            <a:fillRect/>
          </a:stretch>
        </p:blipFill>
        <p:spPr>
          <a:xfrm>
            <a:off x="190200" y="836712"/>
            <a:ext cx="8763599" cy="5720936"/>
          </a:xfrm>
          <a:prstGeom prst="rect">
            <a:avLst/>
          </a:prstGeom>
        </p:spPr>
      </p:pic>
      <p:sp>
        <p:nvSpPr>
          <p:cNvPr id="3" name="日期占位符 2">
            <a:extLst>
              <a:ext uri="{FF2B5EF4-FFF2-40B4-BE49-F238E27FC236}">
                <a16:creationId xmlns:a16="http://schemas.microsoft.com/office/drawing/2014/main" id="{A88EB0A8-0F86-851F-EAFC-9A4064A83CDE}"/>
              </a:ext>
            </a:extLst>
          </p:cNvPr>
          <p:cNvSpPr>
            <a:spLocks noGrp="1"/>
          </p:cNvSpPr>
          <p:nvPr>
            <p:ph type="dt" sz="half" idx="10"/>
          </p:nvPr>
        </p:nvSpPr>
        <p:spPr/>
        <p:txBody>
          <a:bodyPr/>
          <a:lstStyle/>
          <a:p>
            <a:pPr>
              <a:defRPr/>
            </a:pPr>
            <a:fld id="{63E0C15E-5389-4E65-BC48-6565E36FF823}"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7E097FA6-19F6-2463-D241-A4DC0AB1C817}"/>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678BF3CE-42B0-6C0B-D817-08244C98F4EF}"/>
              </a:ext>
            </a:extLst>
          </p:cNvPr>
          <p:cNvSpPr>
            <a:spLocks noGrp="1"/>
          </p:cNvSpPr>
          <p:nvPr>
            <p:ph type="sldNum" sz="quarter" idx="12"/>
          </p:nvPr>
        </p:nvSpPr>
        <p:spPr/>
        <p:txBody>
          <a:bodyPr/>
          <a:lstStyle/>
          <a:p>
            <a:pPr>
              <a:defRPr/>
            </a:pPr>
            <a:fld id="{65B7EA61-351E-4105-9AD9-76D38C6E9934}" type="slidenum">
              <a:rPr lang="zh-CN" altLang="en-US" smtClean="0"/>
              <a:t>42</a:t>
            </a:fld>
            <a:endParaRPr lang="en-US" altLang="zh-CN"/>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E18FD2A4-52D6-4B28-B4F9-B4B3CDC56A14}"/>
              </a:ext>
            </a:extLst>
          </p:cNvPr>
          <p:cNvSpPr txBox="1">
            <a:spLocks/>
          </p:cNvSpPr>
          <p:nvPr/>
        </p:nvSpPr>
        <p:spPr>
          <a:xfrm>
            <a:off x="431800" y="169962"/>
            <a:ext cx="8280400" cy="66675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kumimoji="0" lang="zh-CN" altLang="en-US" sz="3600" b="1" dirty="0">
                <a:latin typeface="Times New Roman" panose="02020603050405020304" pitchFamily="18" charset="0"/>
                <a:cs typeface="Times New Roman" panose="02020603050405020304" pitchFamily="18" charset="0"/>
              </a:rPr>
              <a:t>前瞻</a:t>
            </a:r>
            <a:r>
              <a:rPr kumimoji="0" lang="zh-CN" altLang="en-US" sz="3600" dirty="0">
                <a:latin typeface="Times New Roman" panose="02020603050405020304" pitchFamily="18" charset="0"/>
                <a:cs typeface="Times New Roman" panose="02020603050405020304" pitchFamily="18" charset="0"/>
              </a:rPr>
              <a:t>实例：</a:t>
            </a:r>
            <a:r>
              <a:rPr kumimoji="0" lang="en-US" altLang="zh-CN" sz="3600" dirty="0">
                <a:latin typeface="Times New Roman" panose="02020603050405020304" pitchFamily="18" charset="0"/>
                <a:cs typeface="Times New Roman" panose="02020603050405020304" pitchFamily="18" charset="0"/>
              </a:rPr>
              <a:t>Cycle 11</a:t>
            </a:r>
            <a:endParaRPr kumimoji="0" lang="zh-CN" altLang="en-US" sz="3600" b="0"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E7080D30-90E9-4F7A-9BC6-5896C9397638}"/>
              </a:ext>
            </a:extLst>
          </p:cNvPr>
          <p:cNvPicPr>
            <a:picLocks noChangeAspect="1"/>
          </p:cNvPicPr>
          <p:nvPr/>
        </p:nvPicPr>
        <p:blipFill>
          <a:blip r:embed="rId3"/>
          <a:stretch>
            <a:fillRect/>
          </a:stretch>
        </p:blipFill>
        <p:spPr>
          <a:xfrm>
            <a:off x="298443" y="887154"/>
            <a:ext cx="8826125" cy="5813450"/>
          </a:xfrm>
          <a:prstGeom prst="rect">
            <a:avLst/>
          </a:prstGeom>
        </p:spPr>
      </p:pic>
      <p:sp>
        <p:nvSpPr>
          <p:cNvPr id="2" name="日期占位符 1">
            <a:extLst>
              <a:ext uri="{FF2B5EF4-FFF2-40B4-BE49-F238E27FC236}">
                <a16:creationId xmlns:a16="http://schemas.microsoft.com/office/drawing/2014/main" id="{A8305A40-DD4E-144C-0DD6-A2089850FC15}"/>
              </a:ext>
            </a:extLst>
          </p:cNvPr>
          <p:cNvSpPr>
            <a:spLocks noGrp="1"/>
          </p:cNvSpPr>
          <p:nvPr>
            <p:ph type="dt" sz="half" idx="10"/>
          </p:nvPr>
        </p:nvSpPr>
        <p:spPr/>
        <p:txBody>
          <a:bodyPr/>
          <a:lstStyle/>
          <a:p>
            <a:pPr>
              <a:defRPr/>
            </a:pPr>
            <a:fld id="{618B4397-B258-425D-9F0C-F1A273DC1C6F}"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C9FA8B6D-90E9-F99C-1828-178F35D61D3B}"/>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457DE544-5EA1-5FCF-D3AC-1B350B5E89BA}"/>
              </a:ext>
            </a:extLst>
          </p:cNvPr>
          <p:cNvSpPr>
            <a:spLocks noGrp="1"/>
          </p:cNvSpPr>
          <p:nvPr>
            <p:ph type="sldNum" sz="quarter" idx="12"/>
          </p:nvPr>
        </p:nvSpPr>
        <p:spPr/>
        <p:txBody>
          <a:bodyPr/>
          <a:lstStyle/>
          <a:p>
            <a:pPr>
              <a:defRPr/>
            </a:pPr>
            <a:fld id="{65B7EA61-351E-4105-9AD9-76D38C6E9934}" type="slidenum">
              <a:rPr lang="zh-CN" altLang="en-US" smtClean="0"/>
              <a:t>43</a:t>
            </a:fld>
            <a:endParaRPr lang="en-US" altLang="zh-CN"/>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Text Box 1">
            <a:extLst>
              <a:ext uri="{FF2B5EF4-FFF2-40B4-BE49-F238E27FC236}">
                <a16:creationId xmlns:a16="http://schemas.microsoft.com/office/drawing/2014/main" id="{BB882288-F40B-494D-ADAB-CBFD765CB5EC}"/>
              </a:ext>
            </a:extLst>
          </p:cNvPr>
          <p:cNvSpPr txBox="1">
            <a:spLocks noChangeArrowheads="1"/>
          </p:cNvSpPr>
          <p:nvPr/>
        </p:nvSpPr>
        <p:spPr bwMode="auto">
          <a:xfrm>
            <a:off x="628650" y="365125"/>
            <a:ext cx="7886700" cy="1325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7" name="标题 1">
            <a:extLst>
              <a:ext uri="{FF2B5EF4-FFF2-40B4-BE49-F238E27FC236}">
                <a16:creationId xmlns:a16="http://schemas.microsoft.com/office/drawing/2014/main" id="{117CAF0F-8CED-4D65-9281-64A9AE9D6679}"/>
              </a:ext>
            </a:extLst>
          </p:cNvPr>
          <p:cNvSpPr txBox="1">
            <a:spLocks/>
          </p:cNvSpPr>
          <p:nvPr/>
        </p:nvSpPr>
        <p:spPr>
          <a:xfrm>
            <a:off x="431800" y="169962"/>
            <a:ext cx="8280400" cy="66675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kumimoji="0" lang="zh-CN" altLang="en-US" sz="3600" b="1" dirty="0">
                <a:latin typeface="Times New Roman" panose="02020603050405020304" pitchFamily="18" charset="0"/>
                <a:cs typeface="Times New Roman" panose="02020603050405020304" pitchFamily="18" charset="0"/>
              </a:rPr>
              <a:t>前瞻</a:t>
            </a:r>
            <a:r>
              <a:rPr kumimoji="0" lang="zh-CN" altLang="en-US" sz="3600" dirty="0">
                <a:latin typeface="Times New Roman" panose="02020603050405020304" pitchFamily="18" charset="0"/>
                <a:cs typeface="Times New Roman" panose="02020603050405020304" pitchFamily="18" charset="0"/>
              </a:rPr>
              <a:t>实例：</a:t>
            </a:r>
            <a:r>
              <a:rPr kumimoji="0" lang="en-US" altLang="zh-CN" sz="3600" dirty="0">
                <a:latin typeface="Times New Roman" panose="02020603050405020304" pitchFamily="18" charset="0"/>
                <a:cs typeface="Times New Roman" panose="02020603050405020304" pitchFamily="18" charset="0"/>
              </a:rPr>
              <a:t>Cycle 12</a:t>
            </a:r>
            <a:endParaRPr kumimoji="0" lang="zh-CN" altLang="en-US" sz="3600" b="0"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4C881B4F-AC7C-49F5-9E38-DB03D3749B15}"/>
              </a:ext>
            </a:extLst>
          </p:cNvPr>
          <p:cNvPicPr>
            <a:picLocks noChangeAspect="1"/>
          </p:cNvPicPr>
          <p:nvPr/>
        </p:nvPicPr>
        <p:blipFill>
          <a:blip r:embed="rId3"/>
          <a:stretch>
            <a:fillRect/>
          </a:stretch>
        </p:blipFill>
        <p:spPr>
          <a:xfrm>
            <a:off x="431800" y="1004421"/>
            <a:ext cx="8604302" cy="5625545"/>
          </a:xfrm>
          <a:prstGeom prst="rect">
            <a:avLst/>
          </a:prstGeom>
        </p:spPr>
      </p:pic>
      <p:sp>
        <p:nvSpPr>
          <p:cNvPr id="3" name="日期占位符 2">
            <a:extLst>
              <a:ext uri="{FF2B5EF4-FFF2-40B4-BE49-F238E27FC236}">
                <a16:creationId xmlns:a16="http://schemas.microsoft.com/office/drawing/2014/main" id="{5B3D3087-7D02-4D67-35A3-253FDC3D92BB}"/>
              </a:ext>
            </a:extLst>
          </p:cNvPr>
          <p:cNvSpPr>
            <a:spLocks noGrp="1"/>
          </p:cNvSpPr>
          <p:nvPr>
            <p:ph type="dt" sz="half" idx="10"/>
          </p:nvPr>
        </p:nvSpPr>
        <p:spPr/>
        <p:txBody>
          <a:bodyPr/>
          <a:lstStyle/>
          <a:p>
            <a:pPr>
              <a:defRPr/>
            </a:pPr>
            <a:fld id="{7E0F54E7-0384-4F87-96F2-0972F473B5AA}"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65B03CA2-7E64-5BC3-5359-DD1E508D7DFB}"/>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57453E52-3C79-7CDC-3754-40D0B4E3A189}"/>
              </a:ext>
            </a:extLst>
          </p:cNvPr>
          <p:cNvSpPr>
            <a:spLocks noGrp="1"/>
          </p:cNvSpPr>
          <p:nvPr>
            <p:ph type="sldNum" sz="quarter" idx="12"/>
          </p:nvPr>
        </p:nvSpPr>
        <p:spPr/>
        <p:txBody>
          <a:bodyPr/>
          <a:lstStyle/>
          <a:p>
            <a:pPr>
              <a:defRPr/>
            </a:pPr>
            <a:fld id="{65B7EA61-351E-4105-9AD9-76D38C6E9934}" type="slidenum">
              <a:rPr lang="zh-CN" altLang="en-US" smtClean="0"/>
              <a:t>44</a:t>
            </a:fld>
            <a:endParaRPr lang="en-US" altLang="zh-CN"/>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Text Box 1">
            <a:extLst>
              <a:ext uri="{FF2B5EF4-FFF2-40B4-BE49-F238E27FC236}">
                <a16:creationId xmlns:a16="http://schemas.microsoft.com/office/drawing/2014/main" id="{D0E0D4D9-B8DD-4716-B716-31365338A052}"/>
              </a:ext>
            </a:extLst>
          </p:cNvPr>
          <p:cNvSpPr txBox="1">
            <a:spLocks noChangeArrowheads="1"/>
          </p:cNvSpPr>
          <p:nvPr/>
        </p:nvSpPr>
        <p:spPr bwMode="auto">
          <a:xfrm>
            <a:off x="628650" y="365125"/>
            <a:ext cx="7886700" cy="1325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7" name="标题 1">
            <a:extLst>
              <a:ext uri="{FF2B5EF4-FFF2-40B4-BE49-F238E27FC236}">
                <a16:creationId xmlns:a16="http://schemas.microsoft.com/office/drawing/2014/main" id="{5C6AFA3B-F9E6-47A8-83B2-0B0CF27E406C}"/>
              </a:ext>
            </a:extLst>
          </p:cNvPr>
          <p:cNvSpPr txBox="1">
            <a:spLocks/>
          </p:cNvSpPr>
          <p:nvPr/>
        </p:nvSpPr>
        <p:spPr>
          <a:xfrm>
            <a:off x="431800" y="169962"/>
            <a:ext cx="8280400" cy="66675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kumimoji="0" lang="zh-CN" altLang="en-US" sz="3600" b="1" dirty="0">
                <a:latin typeface="Times New Roman" panose="02020603050405020304" pitchFamily="18" charset="0"/>
                <a:cs typeface="Times New Roman" panose="02020603050405020304" pitchFamily="18" charset="0"/>
              </a:rPr>
              <a:t>前瞻</a:t>
            </a:r>
            <a:r>
              <a:rPr kumimoji="0" lang="zh-CN" altLang="en-US" sz="3600" dirty="0">
                <a:latin typeface="Times New Roman" panose="02020603050405020304" pitchFamily="18" charset="0"/>
                <a:cs typeface="Times New Roman" panose="02020603050405020304" pitchFamily="18" charset="0"/>
              </a:rPr>
              <a:t>实例：</a:t>
            </a:r>
            <a:r>
              <a:rPr kumimoji="0" lang="en-US" altLang="zh-CN" sz="3600" dirty="0">
                <a:latin typeface="Times New Roman" panose="02020603050405020304" pitchFamily="18" charset="0"/>
                <a:cs typeface="Times New Roman" panose="02020603050405020304" pitchFamily="18" charset="0"/>
              </a:rPr>
              <a:t>Cycle 13</a:t>
            </a:r>
            <a:endParaRPr kumimoji="0" lang="zh-CN" altLang="en-US" sz="3600" b="0"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D66427CB-01D3-434B-83D5-A59A4244EB79}"/>
              </a:ext>
            </a:extLst>
          </p:cNvPr>
          <p:cNvPicPr>
            <a:picLocks noChangeAspect="1"/>
          </p:cNvPicPr>
          <p:nvPr/>
        </p:nvPicPr>
        <p:blipFill>
          <a:blip r:embed="rId3"/>
          <a:stretch>
            <a:fillRect/>
          </a:stretch>
        </p:blipFill>
        <p:spPr>
          <a:xfrm>
            <a:off x="431800" y="832966"/>
            <a:ext cx="8620338" cy="5659909"/>
          </a:xfrm>
          <a:prstGeom prst="rect">
            <a:avLst/>
          </a:prstGeom>
        </p:spPr>
      </p:pic>
      <p:cxnSp>
        <p:nvCxnSpPr>
          <p:cNvPr id="5" name="直接箭头连接符 4">
            <a:extLst>
              <a:ext uri="{FF2B5EF4-FFF2-40B4-BE49-F238E27FC236}">
                <a16:creationId xmlns:a16="http://schemas.microsoft.com/office/drawing/2014/main" id="{E6DCC5E8-B08A-44DD-8C49-8D9FF11DE3D3}"/>
              </a:ext>
            </a:extLst>
          </p:cNvPr>
          <p:cNvCxnSpPr>
            <a:cxnSpLocks/>
          </p:cNvCxnSpPr>
          <p:nvPr/>
        </p:nvCxnSpPr>
        <p:spPr>
          <a:xfrm flipH="1" flipV="1">
            <a:off x="3131840" y="2348880"/>
            <a:ext cx="2880320" cy="1296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日期占位符 2">
            <a:extLst>
              <a:ext uri="{FF2B5EF4-FFF2-40B4-BE49-F238E27FC236}">
                <a16:creationId xmlns:a16="http://schemas.microsoft.com/office/drawing/2014/main" id="{4610D118-6698-E53F-F29D-EE07E7BB76BE}"/>
              </a:ext>
            </a:extLst>
          </p:cNvPr>
          <p:cNvSpPr>
            <a:spLocks noGrp="1"/>
          </p:cNvSpPr>
          <p:nvPr>
            <p:ph type="dt" sz="half" idx="10"/>
          </p:nvPr>
        </p:nvSpPr>
        <p:spPr/>
        <p:txBody>
          <a:bodyPr/>
          <a:lstStyle/>
          <a:p>
            <a:pPr>
              <a:defRPr/>
            </a:pPr>
            <a:fld id="{D8B822DC-9131-42FD-AA89-FB8437032E25}"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D1F36B84-9B93-845A-1CD7-447345F315D4}"/>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6" name="灯片编号占位符 5">
            <a:extLst>
              <a:ext uri="{FF2B5EF4-FFF2-40B4-BE49-F238E27FC236}">
                <a16:creationId xmlns:a16="http://schemas.microsoft.com/office/drawing/2014/main" id="{D8C13E39-AAEA-6E84-7652-B284E284EB55}"/>
              </a:ext>
            </a:extLst>
          </p:cNvPr>
          <p:cNvSpPr>
            <a:spLocks noGrp="1"/>
          </p:cNvSpPr>
          <p:nvPr>
            <p:ph type="sldNum" sz="quarter" idx="12"/>
          </p:nvPr>
        </p:nvSpPr>
        <p:spPr/>
        <p:txBody>
          <a:bodyPr/>
          <a:lstStyle/>
          <a:p>
            <a:pPr>
              <a:defRPr/>
            </a:pPr>
            <a:fld id="{65B7EA61-351E-4105-9AD9-76D38C6E9934}" type="slidenum">
              <a:rPr lang="zh-CN" altLang="en-US" smtClean="0"/>
              <a:t>45</a:t>
            </a:fld>
            <a:endParaRPr lang="en-US" altLang="zh-CN"/>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68A98F66-F675-4D57-A4E8-FEA421CA5FBB}"/>
              </a:ext>
            </a:extLst>
          </p:cNvPr>
          <p:cNvSpPr txBox="1">
            <a:spLocks/>
          </p:cNvSpPr>
          <p:nvPr/>
        </p:nvSpPr>
        <p:spPr>
          <a:xfrm>
            <a:off x="431800" y="169962"/>
            <a:ext cx="8280400" cy="66675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kumimoji="0" lang="zh-CN" altLang="en-US" sz="3600" b="1" dirty="0">
                <a:latin typeface="Times New Roman" panose="02020603050405020304" pitchFamily="18" charset="0"/>
                <a:cs typeface="Times New Roman" panose="02020603050405020304" pitchFamily="18" charset="0"/>
              </a:rPr>
              <a:t>前瞻</a:t>
            </a:r>
            <a:r>
              <a:rPr kumimoji="0" lang="zh-CN" altLang="en-US" sz="3600" dirty="0">
                <a:latin typeface="Times New Roman" panose="02020603050405020304" pitchFamily="18" charset="0"/>
                <a:cs typeface="Times New Roman" panose="02020603050405020304" pitchFamily="18" charset="0"/>
              </a:rPr>
              <a:t>实例：</a:t>
            </a:r>
            <a:r>
              <a:rPr kumimoji="0" lang="en-US" altLang="zh-CN" sz="3600" dirty="0">
                <a:latin typeface="Times New Roman" panose="02020603050405020304" pitchFamily="18" charset="0"/>
                <a:cs typeface="Times New Roman" panose="02020603050405020304" pitchFamily="18" charset="0"/>
              </a:rPr>
              <a:t>Cycle 14</a:t>
            </a:r>
            <a:endParaRPr kumimoji="0" lang="zh-CN" altLang="en-US" sz="3600" b="0"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C6AA605D-2216-4805-8895-DC1FD77098A7}"/>
              </a:ext>
            </a:extLst>
          </p:cNvPr>
          <p:cNvPicPr>
            <a:picLocks noChangeAspect="1"/>
          </p:cNvPicPr>
          <p:nvPr/>
        </p:nvPicPr>
        <p:blipFill>
          <a:blip r:embed="rId3"/>
          <a:stretch>
            <a:fillRect/>
          </a:stretch>
        </p:blipFill>
        <p:spPr>
          <a:xfrm>
            <a:off x="323528" y="937071"/>
            <a:ext cx="8721846" cy="5750967"/>
          </a:xfrm>
          <a:prstGeom prst="rect">
            <a:avLst/>
          </a:prstGeom>
        </p:spPr>
      </p:pic>
      <p:sp>
        <p:nvSpPr>
          <p:cNvPr id="3" name="日期占位符 2">
            <a:extLst>
              <a:ext uri="{FF2B5EF4-FFF2-40B4-BE49-F238E27FC236}">
                <a16:creationId xmlns:a16="http://schemas.microsoft.com/office/drawing/2014/main" id="{D777BA28-3BC8-1D30-756C-0E3A9EF65E01}"/>
              </a:ext>
            </a:extLst>
          </p:cNvPr>
          <p:cNvSpPr>
            <a:spLocks noGrp="1"/>
          </p:cNvSpPr>
          <p:nvPr>
            <p:ph type="dt" sz="half" idx="10"/>
          </p:nvPr>
        </p:nvSpPr>
        <p:spPr/>
        <p:txBody>
          <a:bodyPr/>
          <a:lstStyle/>
          <a:p>
            <a:pPr>
              <a:defRPr/>
            </a:pPr>
            <a:fld id="{77F8EBAE-BC38-45BD-82AF-3A4F19205B3C}"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57E344AE-4500-E2F7-4122-A073BA19C806}"/>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91247DE2-BB36-8724-9258-9319815CEFBB}"/>
              </a:ext>
            </a:extLst>
          </p:cNvPr>
          <p:cNvSpPr>
            <a:spLocks noGrp="1"/>
          </p:cNvSpPr>
          <p:nvPr>
            <p:ph type="sldNum" sz="quarter" idx="12"/>
          </p:nvPr>
        </p:nvSpPr>
        <p:spPr/>
        <p:txBody>
          <a:bodyPr/>
          <a:lstStyle/>
          <a:p>
            <a:pPr>
              <a:defRPr/>
            </a:pPr>
            <a:fld id="{65B7EA61-351E-4105-9AD9-76D38C6E9934}" type="slidenum">
              <a:rPr lang="zh-CN" altLang="en-US" smtClean="0"/>
              <a:t>46</a:t>
            </a:fld>
            <a:endParaRPr lang="en-US" altLang="zh-CN"/>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Text Box 1">
            <a:extLst>
              <a:ext uri="{FF2B5EF4-FFF2-40B4-BE49-F238E27FC236}">
                <a16:creationId xmlns:a16="http://schemas.microsoft.com/office/drawing/2014/main" id="{AC00721C-1BEA-4941-A0C6-E76DB9AE6AF0}"/>
              </a:ext>
            </a:extLst>
          </p:cNvPr>
          <p:cNvSpPr txBox="1">
            <a:spLocks noChangeArrowheads="1"/>
          </p:cNvSpPr>
          <p:nvPr/>
        </p:nvSpPr>
        <p:spPr bwMode="auto">
          <a:xfrm>
            <a:off x="628650" y="365125"/>
            <a:ext cx="7886700" cy="1325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7" name="标题 1">
            <a:extLst>
              <a:ext uri="{FF2B5EF4-FFF2-40B4-BE49-F238E27FC236}">
                <a16:creationId xmlns:a16="http://schemas.microsoft.com/office/drawing/2014/main" id="{A05ADF70-B599-45A2-9D6C-F0D0547F5D0E}"/>
              </a:ext>
            </a:extLst>
          </p:cNvPr>
          <p:cNvSpPr txBox="1">
            <a:spLocks/>
          </p:cNvSpPr>
          <p:nvPr/>
        </p:nvSpPr>
        <p:spPr>
          <a:xfrm>
            <a:off x="431800" y="169962"/>
            <a:ext cx="8280400" cy="66675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kumimoji="0" lang="zh-CN" altLang="en-US" sz="3600" b="1" dirty="0">
                <a:latin typeface="Times New Roman" panose="02020603050405020304" pitchFamily="18" charset="0"/>
                <a:cs typeface="Times New Roman" panose="02020603050405020304" pitchFamily="18" charset="0"/>
              </a:rPr>
              <a:t>前瞻</a:t>
            </a:r>
            <a:r>
              <a:rPr kumimoji="0" lang="zh-CN" altLang="en-US" sz="3600" dirty="0">
                <a:latin typeface="Times New Roman" panose="02020603050405020304" pitchFamily="18" charset="0"/>
                <a:cs typeface="Times New Roman" panose="02020603050405020304" pitchFamily="18" charset="0"/>
              </a:rPr>
              <a:t>实例：</a:t>
            </a:r>
            <a:r>
              <a:rPr kumimoji="0" lang="en-US" altLang="zh-CN" sz="3600" dirty="0">
                <a:latin typeface="Times New Roman" panose="02020603050405020304" pitchFamily="18" charset="0"/>
                <a:cs typeface="Times New Roman" panose="02020603050405020304" pitchFamily="18" charset="0"/>
              </a:rPr>
              <a:t>Cycle 15</a:t>
            </a:r>
            <a:endParaRPr kumimoji="0" lang="zh-CN" altLang="en-US" sz="3600" b="0"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D12C412B-C6D4-4AD6-9475-D2270D9BB99F}"/>
              </a:ext>
            </a:extLst>
          </p:cNvPr>
          <p:cNvPicPr>
            <a:picLocks noChangeAspect="1"/>
          </p:cNvPicPr>
          <p:nvPr/>
        </p:nvPicPr>
        <p:blipFill>
          <a:blip r:embed="rId3"/>
          <a:stretch>
            <a:fillRect/>
          </a:stretch>
        </p:blipFill>
        <p:spPr>
          <a:xfrm>
            <a:off x="455806" y="985891"/>
            <a:ext cx="8410306" cy="5464076"/>
          </a:xfrm>
          <a:prstGeom prst="rect">
            <a:avLst/>
          </a:prstGeom>
        </p:spPr>
      </p:pic>
      <p:sp>
        <p:nvSpPr>
          <p:cNvPr id="3" name="日期占位符 2">
            <a:extLst>
              <a:ext uri="{FF2B5EF4-FFF2-40B4-BE49-F238E27FC236}">
                <a16:creationId xmlns:a16="http://schemas.microsoft.com/office/drawing/2014/main" id="{C40D4D95-DD41-EF1A-1670-B853BB4A1BE1}"/>
              </a:ext>
            </a:extLst>
          </p:cNvPr>
          <p:cNvSpPr>
            <a:spLocks noGrp="1"/>
          </p:cNvSpPr>
          <p:nvPr>
            <p:ph type="dt" sz="half" idx="10"/>
          </p:nvPr>
        </p:nvSpPr>
        <p:spPr/>
        <p:txBody>
          <a:bodyPr/>
          <a:lstStyle/>
          <a:p>
            <a:pPr>
              <a:defRPr/>
            </a:pPr>
            <a:fld id="{4E7A7D5C-0C61-491E-898C-40751D7B62BB}"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A352A9A8-208A-AC93-EE7D-E275ED0858D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56D72A08-BC0B-0162-EFF5-32149A204C07}"/>
              </a:ext>
            </a:extLst>
          </p:cNvPr>
          <p:cNvSpPr>
            <a:spLocks noGrp="1"/>
          </p:cNvSpPr>
          <p:nvPr>
            <p:ph type="sldNum" sz="quarter" idx="12"/>
          </p:nvPr>
        </p:nvSpPr>
        <p:spPr/>
        <p:txBody>
          <a:bodyPr/>
          <a:lstStyle/>
          <a:p>
            <a:pPr>
              <a:defRPr/>
            </a:pPr>
            <a:fld id="{65B7EA61-351E-4105-9AD9-76D38C6E9934}" type="slidenum">
              <a:rPr lang="zh-CN" altLang="en-US" smtClean="0"/>
              <a:t>47</a:t>
            </a:fld>
            <a:endParaRPr lang="en-US" altLang="zh-CN"/>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A197FAA3-0640-43BE-8B53-5CC623D18C5E}"/>
              </a:ext>
            </a:extLst>
          </p:cNvPr>
          <p:cNvSpPr txBox="1">
            <a:spLocks/>
          </p:cNvSpPr>
          <p:nvPr/>
        </p:nvSpPr>
        <p:spPr>
          <a:xfrm>
            <a:off x="431800" y="169962"/>
            <a:ext cx="8280400" cy="66675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kumimoji="0" lang="zh-CN" altLang="en-US" sz="3600" b="1" dirty="0">
                <a:latin typeface="Times New Roman" panose="02020603050405020304" pitchFamily="18" charset="0"/>
                <a:cs typeface="Times New Roman" panose="02020603050405020304" pitchFamily="18" charset="0"/>
              </a:rPr>
              <a:t>前瞻</a:t>
            </a:r>
            <a:r>
              <a:rPr kumimoji="0" lang="zh-CN" altLang="en-US" sz="3600" dirty="0">
                <a:latin typeface="Times New Roman" panose="02020603050405020304" pitchFamily="18" charset="0"/>
                <a:cs typeface="Times New Roman" panose="02020603050405020304" pitchFamily="18" charset="0"/>
              </a:rPr>
              <a:t>实例：</a:t>
            </a:r>
            <a:r>
              <a:rPr kumimoji="0" lang="en-US" altLang="zh-CN" sz="3600" dirty="0">
                <a:latin typeface="Times New Roman" panose="02020603050405020304" pitchFamily="18" charset="0"/>
                <a:cs typeface="Times New Roman" panose="02020603050405020304" pitchFamily="18" charset="0"/>
              </a:rPr>
              <a:t>Cycle 16</a:t>
            </a:r>
            <a:endParaRPr kumimoji="0" lang="zh-CN" altLang="en-US" sz="3600" b="0"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7D1BC596-1A41-4C38-9A65-50532C356305}"/>
              </a:ext>
            </a:extLst>
          </p:cNvPr>
          <p:cNvPicPr>
            <a:picLocks noChangeAspect="1"/>
          </p:cNvPicPr>
          <p:nvPr/>
        </p:nvPicPr>
        <p:blipFill>
          <a:blip r:embed="rId3"/>
          <a:stretch>
            <a:fillRect/>
          </a:stretch>
        </p:blipFill>
        <p:spPr>
          <a:xfrm>
            <a:off x="337920" y="866418"/>
            <a:ext cx="8776354" cy="5711883"/>
          </a:xfrm>
          <a:prstGeom prst="rect">
            <a:avLst/>
          </a:prstGeom>
        </p:spPr>
      </p:pic>
      <p:sp>
        <p:nvSpPr>
          <p:cNvPr id="3" name="日期占位符 2">
            <a:extLst>
              <a:ext uri="{FF2B5EF4-FFF2-40B4-BE49-F238E27FC236}">
                <a16:creationId xmlns:a16="http://schemas.microsoft.com/office/drawing/2014/main" id="{16182335-7E4D-F8EF-8D3C-07DFFE3D5ED1}"/>
              </a:ext>
            </a:extLst>
          </p:cNvPr>
          <p:cNvSpPr>
            <a:spLocks noGrp="1"/>
          </p:cNvSpPr>
          <p:nvPr>
            <p:ph type="dt" sz="half" idx="10"/>
          </p:nvPr>
        </p:nvSpPr>
        <p:spPr/>
        <p:txBody>
          <a:bodyPr/>
          <a:lstStyle/>
          <a:p>
            <a:pPr>
              <a:defRPr/>
            </a:pPr>
            <a:fld id="{E7077549-7857-4E2D-B1E9-728B6A311B9B}"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4794BDEA-651C-1B47-2E40-9176053D0E69}"/>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450EEFAC-23A5-E4BD-1880-0D3D3A7438D4}"/>
              </a:ext>
            </a:extLst>
          </p:cNvPr>
          <p:cNvSpPr>
            <a:spLocks noGrp="1"/>
          </p:cNvSpPr>
          <p:nvPr>
            <p:ph type="sldNum" sz="quarter" idx="12"/>
          </p:nvPr>
        </p:nvSpPr>
        <p:spPr/>
        <p:txBody>
          <a:bodyPr/>
          <a:lstStyle/>
          <a:p>
            <a:pPr>
              <a:defRPr/>
            </a:pPr>
            <a:fld id="{65B7EA61-351E-4105-9AD9-76D38C6E9934}" type="slidenum">
              <a:rPr lang="zh-CN" altLang="en-US" smtClean="0"/>
              <a:t>48</a:t>
            </a:fld>
            <a:endParaRPr lang="en-US" altLang="zh-CN"/>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Text Box 1">
            <a:extLst>
              <a:ext uri="{FF2B5EF4-FFF2-40B4-BE49-F238E27FC236}">
                <a16:creationId xmlns:a16="http://schemas.microsoft.com/office/drawing/2014/main" id="{A58D5B99-0C4A-42E9-8029-FA5D45D9169F}"/>
              </a:ext>
            </a:extLst>
          </p:cNvPr>
          <p:cNvSpPr txBox="1">
            <a:spLocks noChangeArrowheads="1"/>
          </p:cNvSpPr>
          <p:nvPr/>
        </p:nvSpPr>
        <p:spPr bwMode="auto">
          <a:xfrm>
            <a:off x="628650" y="365125"/>
            <a:ext cx="7886700" cy="1325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pic>
        <p:nvPicPr>
          <p:cNvPr id="2" name="图片 1">
            <a:extLst>
              <a:ext uri="{FF2B5EF4-FFF2-40B4-BE49-F238E27FC236}">
                <a16:creationId xmlns:a16="http://schemas.microsoft.com/office/drawing/2014/main" id="{5CC754ED-768E-4D52-BC80-0475E9093B26}"/>
              </a:ext>
            </a:extLst>
          </p:cNvPr>
          <p:cNvPicPr>
            <a:picLocks noChangeAspect="1"/>
          </p:cNvPicPr>
          <p:nvPr/>
        </p:nvPicPr>
        <p:blipFill>
          <a:blip r:embed="rId3"/>
          <a:stretch>
            <a:fillRect/>
          </a:stretch>
        </p:blipFill>
        <p:spPr>
          <a:xfrm>
            <a:off x="523498" y="692696"/>
            <a:ext cx="8001000" cy="3952875"/>
          </a:xfrm>
          <a:prstGeom prst="rect">
            <a:avLst/>
          </a:prstGeom>
        </p:spPr>
      </p:pic>
      <p:sp>
        <p:nvSpPr>
          <p:cNvPr id="3" name="文本框 2">
            <a:extLst>
              <a:ext uri="{FF2B5EF4-FFF2-40B4-BE49-F238E27FC236}">
                <a16:creationId xmlns:a16="http://schemas.microsoft.com/office/drawing/2014/main" id="{138D6F18-1690-4253-8416-35BCDEE68DC3}"/>
              </a:ext>
            </a:extLst>
          </p:cNvPr>
          <p:cNvSpPr txBox="1"/>
          <p:nvPr/>
        </p:nvSpPr>
        <p:spPr>
          <a:xfrm>
            <a:off x="1527801" y="4949116"/>
            <a:ext cx="6088398" cy="954107"/>
          </a:xfrm>
          <a:prstGeom prst="rect">
            <a:avLst/>
          </a:prstGeom>
          <a:noFill/>
        </p:spPr>
        <p:txBody>
          <a:bodyPr wrap="none" rtlCol="0">
            <a:spAutoFit/>
          </a:bodyPr>
          <a:lstStyle/>
          <a:p>
            <a:pPr marL="457200" indent="-45720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In-order Issue/Commit</a:t>
            </a:r>
          </a:p>
          <a:p>
            <a:pPr marL="457200" indent="-45720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Out-of-Order Execution/Writeback</a:t>
            </a:r>
            <a:endParaRPr lang="zh-CN" altLang="en-US" sz="2800" dirty="0">
              <a:latin typeface="Times New Roman" panose="02020603050405020304" pitchFamily="18" charset="0"/>
              <a:cs typeface="Times New Roman" panose="02020603050405020304" pitchFamily="18" charset="0"/>
            </a:endParaRPr>
          </a:p>
        </p:txBody>
      </p:sp>
      <p:sp>
        <p:nvSpPr>
          <p:cNvPr id="4" name="日期占位符 3">
            <a:extLst>
              <a:ext uri="{FF2B5EF4-FFF2-40B4-BE49-F238E27FC236}">
                <a16:creationId xmlns:a16="http://schemas.microsoft.com/office/drawing/2014/main" id="{7CC81F16-A490-D9A8-F095-0761E056DFF2}"/>
              </a:ext>
            </a:extLst>
          </p:cNvPr>
          <p:cNvSpPr>
            <a:spLocks noGrp="1"/>
          </p:cNvSpPr>
          <p:nvPr>
            <p:ph type="dt" sz="half" idx="10"/>
          </p:nvPr>
        </p:nvSpPr>
        <p:spPr/>
        <p:txBody>
          <a:bodyPr/>
          <a:lstStyle/>
          <a:p>
            <a:pPr>
              <a:defRPr/>
            </a:pPr>
            <a:fld id="{91D80E5A-3E73-4C41-AF36-27FB543C944E}" type="datetime1">
              <a:rPr lang="zh-CN" altLang="en-US" smtClean="0"/>
              <a:t>2025/10/28</a:t>
            </a:fld>
            <a:endParaRPr lang="en-US" altLang="zh-CN"/>
          </a:p>
        </p:txBody>
      </p:sp>
      <p:sp>
        <p:nvSpPr>
          <p:cNvPr id="5" name="页脚占位符 4">
            <a:extLst>
              <a:ext uri="{FF2B5EF4-FFF2-40B4-BE49-F238E27FC236}">
                <a16:creationId xmlns:a16="http://schemas.microsoft.com/office/drawing/2014/main" id="{12A0041B-7296-073D-CA0B-F7DD9E61B81E}"/>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6" name="灯片编号占位符 5">
            <a:extLst>
              <a:ext uri="{FF2B5EF4-FFF2-40B4-BE49-F238E27FC236}">
                <a16:creationId xmlns:a16="http://schemas.microsoft.com/office/drawing/2014/main" id="{9731F98F-545F-9D90-32DF-1CE3314101D7}"/>
              </a:ext>
            </a:extLst>
          </p:cNvPr>
          <p:cNvSpPr>
            <a:spLocks noGrp="1"/>
          </p:cNvSpPr>
          <p:nvPr>
            <p:ph type="sldNum" sz="quarter" idx="12"/>
          </p:nvPr>
        </p:nvSpPr>
        <p:spPr/>
        <p:txBody>
          <a:bodyPr/>
          <a:lstStyle/>
          <a:p>
            <a:pPr>
              <a:defRPr/>
            </a:pPr>
            <a:fld id="{65B7EA61-351E-4105-9AD9-76D38C6E9934}" type="slidenum">
              <a:rPr lang="zh-CN" altLang="en-US" smtClean="0"/>
              <a:t>49</a:t>
            </a:fld>
            <a:endParaRPr lang="en-US" altLang="zh-CN"/>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E126A8B3-9353-4432-A9F6-B0D22599140C}"/>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2123728" y="1412776"/>
            <a:ext cx="5222966" cy="4968552"/>
          </a:xfrm>
        </p:spPr>
      </p:pic>
      <p:sp>
        <p:nvSpPr>
          <p:cNvPr id="7" name="标题 1">
            <a:extLst>
              <a:ext uri="{FF2B5EF4-FFF2-40B4-BE49-F238E27FC236}">
                <a16:creationId xmlns:a16="http://schemas.microsoft.com/office/drawing/2014/main" id="{DCD5BB58-2AE9-41CC-889C-8FD4A39DCECD}"/>
              </a:ext>
            </a:extLst>
          </p:cNvPr>
          <p:cNvSpPr>
            <a:spLocks noGrp="1"/>
          </p:cNvSpPr>
          <p:nvPr>
            <p:ph type="title"/>
          </p:nvPr>
        </p:nvSpPr>
        <p:spPr>
          <a:xfrm>
            <a:off x="468313" y="332656"/>
            <a:ext cx="8280400" cy="666750"/>
          </a:xfrm>
        </p:spPr>
        <p:txBody>
          <a:bodyPr/>
          <a:lstStyle/>
          <a:p>
            <a:r>
              <a:rPr lang="zh-CN" altLang="en-US" sz="3600" b="1" dirty="0">
                <a:latin typeface="Times New Roman" panose="02020603050405020304" pitchFamily="18" charset="0"/>
                <a:cs typeface="Times New Roman" panose="02020603050405020304" pitchFamily="18" charset="0"/>
              </a:rPr>
              <a:t>前瞻</a:t>
            </a:r>
            <a:r>
              <a:rPr lang="zh-CN" altLang="zh-CN" sz="3600" b="1" dirty="0">
                <a:latin typeface="Times New Roman" panose="02020603050405020304" pitchFamily="18" charset="0"/>
                <a:cs typeface="Times New Roman" panose="02020603050405020304" pitchFamily="18" charset="0"/>
              </a:rPr>
              <a:t>执行的</a:t>
            </a:r>
            <a:r>
              <a:rPr lang="zh-CN" altLang="en-US" sz="3600" b="1" dirty="0">
                <a:latin typeface="Times New Roman" panose="02020603050405020304" pitchFamily="18" charset="0"/>
                <a:cs typeface="Times New Roman" panose="02020603050405020304" pitchFamily="18" charset="0"/>
              </a:rPr>
              <a:t>流程</a:t>
            </a:r>
            <a:endParaRPr lang="zh-CN" altLang="en-US" sz="3600" dirty="0">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AC55B353-37D5-F9AA-AB2A-5E8519811EDC}"/>
              </a:ext>
            </a:extLst>
          </p:cNvPr>
          <p:cNvSpPr>
            <a:spLocks noGrp="1"/>
          </p:cNvSpPr>
          <p:nvPr>
            <p:ph type="dt" sz="half" idx="10"/>
          </p:nvPr>
        </p:nvSpPr>
        <p:spPr/>
        <p:txBody>
          <a:bodyPr/>
          <a:lstStyle/>
          <a:p>
            <a:pPr>
              <a:defRPr/>
            </a:pPr>
            <a:fld id="{87E0F3A5-FB99-4BCE-B883-F805C32E2BAE}"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982034A1-71AD-DCCA-8861-64979D19A6E4}"/>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5625D9B-3755-FCB0-F21A-3067F323F226}"/>
              </a:ext>
            </a:extLst>
          </p:cNvPr>
          <p:cNvSpPr>
            <a:spLocks noGrp="1"/>
          </p:cNvSpPr>
          <p:nvPr>
            <p:ph type="sldNum" sz="quarter" idx="12"/>
          </p:nvPr>
        </p:nvSpPr>
        <p:spPr/>
        <p:txBody>
          <a:bodyPr/>
          <a:lstStyle/>
          <a:p>
            <a:pPr>
              <a:defRPr/>
            </a:pPr>
            <a:fld id="{B3CCC3E9-608E-4023-AA79-77ECC6312F57}" type="slidenum">
              <a:rPr lang="zh-CN" altLang="en-US" smtClean="0"/>
              <a:t>50</a:t>
            </a:fld>
            <a:endParaRPr lang="en-US" altLang="zh-CN"/>
          </a:p>
        </p:txBody>
      </p:sp>
    </p:spTree>
    <p:extLst>
      <p:ext uri="{BB962C8B-B14F-4D97-AF65-F5344CB8AC3E}">
        <p14:creationId xmlns:p14="http://schemas.microsoft.com/office/powerpoint/2010/main" val="42600954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3504987-0143-4347-BBFA-884610BADBD8}"/>
              </a:ext>
            </a:extLst>
          </p:cNvPr>
          <p:cNvPicPr>
            <a:picLocks noChangeAspect="1"/>
          </p:cNvPicPr>
          <p:nvPr/>
        </p:nvPicPr>
        <p:blipFill>
          <a:blip r:embed="rId3"/>
          <a:stretch>
            <a:fillRect/>
          </a:stretch>
        </p:blipFill>
        <p:spPr>
          <a:xfrm>
            <a:off x="254545" y="764704"/>
            <a:ext cx="8634910" cy="5741442"/>
          </a:xfrm>
          <a:prstGeom prst="rect">
            <a:avLst/>
          </a:prstGeom>
        </p:spPr>
      </p:pic>
      <p:sp>
        <p:nvSpPr>
          <p:cNvPr id="6" name="标题 1">
            <a:extLst>
              <a:ext uri="{FF2B5EF4-FFF2-40B4-BE49-F238E27FC236}">
                <a16:creationId xmlns:a16="http://schemas.microsoft.com/office/drawing/2014/main" id="{4C4D25AE-D67A-4E6E-8881-0D8AB8BA5382}"/>
              </a:ext>
            </a:extLst>
          </p:cNvPr>
          <p:cNvSpPr>
            <a:spLocks noGrp="1"/>
          </p:cNvSpPr>
          <p:nvPr>
            <p:ph type="title"/>
          </p:nvPr>
        </p:nvSpPr>
        <p:spPr>
          <a:xfrm>
            <a:off x="431800" y="164058"/>
            <a:ext cx="8280400" cy="666750"/>
          </a:xfrm>
        </p:spPr>
        <p:txBody>
          <a:bodyPr/>
          <a:lstStyle/>
          <a:p>
            <a:r>
              <a:rPr lang="zh-CN" altLang="en-US" sz="3600" b="1" dirty="0">
                <a:latin typeface="Times New Roman" panose="02020603050405020304" pitchFamily="18" charset="0"/>
                <a:cs typeface="Times New Roman" panose="02020603050405020304" pitchFamily="18" charset="0"/>
              </a:rPr>
              <a:t>前瞻</a:t>
            </a:r>
            <a:r>
              <a:rPr lang="zh-CN" altLang="zh-CN" sz="3600" b="1" dirty="0">
                <a:latin typeface="Times New Roman" panose="02020603050405020304" pitchFamily="18" charset="0"/>
                <a:cs typeface="Times New Roman" panose="02020603050405020304" pitchFamily="18" charset="0"/>
              </a:rPr>
              <a:t>执行的</a:t>
            </a:r>
            <a:r>
              <a:rPr lang="zh-CN" altLang="en-US" sz="3600" b="1" dirty="0">
                <a:latin typeface="Times New Roman" panose="02020603050405020304" pitchFamily="18" charset="0"/>
                <a:cs typeface="Times New Roman" panose="02020603050405020304" pitchFamily="18" charset="0"/>
              </a:rPr>
              <a:t>循环展开</a:t>
            </a:r>
            <a:endParaRPr lang="zh-CN" altLang="en-US" sz="3600" dirty="0">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ED3E0EEA-F16C-E9FF-E1BE-FCA1ADF24D1A}"/>
              </a:ext>
            </a:extLst>
          </p:cNvPr>
          <p:cNvSpPr>
            <a:spLocks noGrp="1"/>
          </p:cNvSpPr>
          <p:nvPr>
            <p:ph type="dt" sz="half" idx="10"/>
          </p:nvPr>
        </p:nvSpPr>
        <p:spPr/>
        <p:txBody>
          <a:bodyPr/>
          <a:lstStyle/>
          <a:p>
            <a:pPr>
              <a:defRPr/>
            </a:pPr>
            <a:fld id="{08AE8129-15F2-4259-949D-62C1F0E76696}"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B5DA5C2A-AAEA-5C5D-D2B0-25D7DDC3C27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130F9E9D-51AB-7286-B23F-F0B4E9122DEA}"/>
              </a:ext>
            </a:extLst>
          </p:cNvPr>
          <p:cNvSpPr>
            <a:spLocks noGrp="1"/>
          </p:cNvSpPr>
          <p:nvPr>
            <p:ph type="sldNum" sz="quarter" idx="12"/>
          </p:nvPr>
        </p:nvSpPr>
        <p:spPr/>
        <p:txBody>
          <a:bodyPr/>
          <a:lstStyle/>
          <a:p>
            <a:pPr>
              <a:defRPr/>
            </a:pPr>
            <a:fld id="{B3CCC3E9-608E-4023-AA79-77ECC6312F57}" type="slidenum">
              <a:rPr lang="zh-CN" altLang="en-US" smtClean="0"/>
              <a:t>51</a:t>
            </a:fld>
            <a:endParaRPr lang="en-US" altLang="zh-CN"/>
          </a:p>
        </p:txBody>
      </p:sp>
    </p:spTree>
    <p:extLst>
      <p:ext uri="{BB962C8B-B14F-4D97-AF65-F5344CB8AC3E}">
        <p14:creationId xmlns:p14="http://schemas.microsoft.com/office/powerpoint/2010/main" val="34918159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459849" y="1412776"/>
            <a:ext cx="8280400" cy="482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zh-CN" sz="2400" dirty="0">
                <a:latin typeface="Times New Roman" panose="02020603050405020304" pitchFamily="18" charset="0"/>
                <a:cs typeface="Times New Roman" panose="02020603050405020304" pitchFamily="18" charset="0"/>
              </a:rPr>
              <a:t>实际系统的实现非常相似</a:t>
            </a:r>
          </a:p>
          <a:p>
            <a:pPr lvl="1"/>
            <a:r>
              <a:rPr lang="en-US" altLang="zh-CN" sz="2400" dirty="0">
                <a:latin typeface="Times New Roman" panose="02020603050405020304" pitchFamily="18" charset="0"/>
                <a:cs typeface="Times New Roman" panose="02020603050405020304" pitchFamily="18" charset="0"/>
              </a:rPr>
              <a:t>Pentium P6, PowerPC, MIPS</a:t>
            </a:r>
            <a:r>
              <a:rPr lang="zh-CN" altLang="en-US" sz="2400" dirty="0">
                <a:latin typeface="Times New Roman" panose="02020603050405020304" pitchFamily="18" charset="0"/>
                <a:cs typeface="Times New Roman" panose="02020603050405020304" pitchFamily="18" charset="0"/>
              </a:rPr>
              <a:t>多种型号</a:t>
            </a:r>
            <a:r>
              <a:rPr lang="zh-CN" altLang="zh-CN" sz="2400" dirty="0">
                <a:latin typeface="Times New Roman" panose="02020603050405020304" pitchFamily="18" charset="0"/>
                <a:cs typeface="Times New Roman" panose="02020603050405020304" pitchFamily="18" charset="0"/>
              </a:rPr>
              <a:t>等</a:t>
            </a:r>
          </a:p>
          <a:p>
            <a:r>
              <a:rPr lang="zh-CN" altLang="zh-CN" sz="2400" dirty="0">
                <a:latin typeface="Times New Roman" panose="02020603050405020304" pitchFamily="18" charset="0"/>
                <a:cs typeface="Times New Roman" panose="02020603050405020304" pitchFamily="18" charset="0"/>
              </a:rPr>
              <a:t>不足之处：</a:t>
            </a:r>
            <a:r>
              <a:rPr lang="zh-CN" altLang="en-US" sz="2400" dirty="0">
                <a:latin typeface="Times New Roman" panose="02020603050405020304" pitchFamily="18" charset="0"/>
                <a:cs typeface="Times New Roman" panose="02020603050405020304" pitchFamily="18" charset="0"/>
              </a:rPr>
              <a:t>硬件非常复杂</a:t>
            </a:r>
            <a:endParaRPr lang="zh-CN" altLang="zh-CN" sz="2400" dirty="0">
              <a:latin typeface="Times New Roman" panose="02020603050405020304" pitchFamily="18" charset="0"/>
              <a:cs typeface="Times New Roman" panose="02020603050405020304" pitchFamily="18" charset="0"/>
            </a:endParaRPr>
          </a:p>
          <a:p>
            <a:pPr lvl="1"/>
            <a:r>
              <a:rPr lang="en-US" altLang="zh-CN" sz="2400" dirty="0">
                <a:latin typeface="Times New Roman" panose="02020603050405020304" pitchFamily="18" charset="0"/>
                <a:cs typeface="Times New Roman" panose="02020603050405020304" pitchFamily="18" charset="0"/>
              </a:rPr>
              <a:t>Too many value copy  operations</a:t>
            </a:r>
          </a:p>
          <a:p>
            <a:pPr lvl="2"/>
            <a:r>
              <a:rPr lang="en-US" altLang="zh-CN" dirty="0">
                <a:latin typeface="Times New Roman" panose="02020603050405020304" pitchFamily="18" charset="0"/>
                <a:cs typeface="Times New Roman" panose="02020603050405020304" pitchFamily="18" charset="0"/>
              </a:rPr>
              <a:t>Register File →</a:t>
            </a:r>
            <a:r>
              <a:rPr lang="en-US" altLang="zh-CN" dirty="0" err="1">
                <a:latin typeface="Times New Roman" panose="02020603050405020304" pitchFamily="18" charset="0"/>
                <a:cs typeface="Times New Roman" panose="02020603050405020304" pitchFamily="18" charset="0"/>
              </a:rPr>
              <a:t>RS→ROB→Register</a:t>
            </a:r>
            <a:r>
              <a:rPr lang="en-US" altLang="zh-CN" dirty="0">
                <a:latin typeface="Times New Roman" panose="02020603050405020304" pitchFamily="18" charset="0"/>
                <a:cs typeface="Times New Roman" panose="02020603050405020304" pitchFamily="18" charset="0"/>
              </a:rPr>
              <a:t> File</a:t>
            </a:r>
          </a:p>
          <a:p>
            <a:pPr lvl="1"/>
            <a:r>
              <a:rPr lang="en-US" altLang="zh-CN" sz="2400" dirty="0">
                <a:latin typeface="Times New Roman" panose="02020603050405020304" pitchFamily="18" charset="0"/>
                <a:cs typeface="Times New Roman" panose="02020603050405020304" pitchFamily="18" charset="0"/>
              </a:rPr>
              <a:t>Too many </a:t>
            </a:r>
            <a:r>
              <a:rPr lang="en-US" altLang="zh-CN" sz="2400" dirty="0" err="1">
                <a:latin typeface="Times New Roman" panose="02020603050405020304" pitchFamily="18" charset="0"/>
                <a:cs typeface="Times New Roman" panose="02020603050405020304" pitchFamily="18" charset="0"/>
              </a:rPr>
              <a:t>muxes</a:t>
            </a:r>
            <a:r>
              <a:rPr lang="en-US" altLang="zh-CN" sz="2400" dirty="0">
                <a:latin typeface="Times New Roman" panose="02020603050405020304" pitchFamily="18" charset="0"/>
                <a:cs typeface="Times New Roman" panose="02020603050405020304" pitchFamily="18" charset="0"/>
              </a:rPr>
              <a:t>/buses (CDB)</a:t>
            </a:r>
          </a:p>
          <a:p>
            <a:pPr lvl="2"/>
            <a:r>
              <a:rPr lang="en-US" altLang="zh-CN" dirty="0">
                <a:latin typeface="Times New Roman" panose="02020603050405020304" pitchFamily="18" charset="0"/>
                <a:cs typeface="Times New Roman" panose="02020603050405020304" pitchFamily="18" charset="0"/>
              </a:rPr>
              <a:t>Values are from everywhere to everywhere else!</a:t>
            </a:r>
          </a:p>
          <a:p>
            <a:pPr lvl="1"/>
            <a:r>
              <a:rPr lang="en-US" altLang="zh-CN" sz="2400" dirty="0">
                <a:latin typeface="Times New Roman" panose="02020603050405020304" pitchFamily="18" charset="0"/>
                <a:cs typeface="Times New Roman" panose="02020603050405020304" pitchFamily="18" charset="0"/>
              </a:rPr>
              <a:t>Reservation Stations mix values(data) and tags (control)</a:t>
            </a:r>
          </a:p>
          <a:p>
            <a:pPr lvl="2"/>
            <a:r>
              <a:rPr lang="en-US" altLang="zh-CN" dirty="0">
                <a:latin typeface="Times New Roman" panose="02020603050405020304" pitchFamily="18" charset="0"/>
                <a:cs typeface="Times New Roman" panose="02020603050405020304" pitchFamily="18" charset="0"/>
              </a:rPr>
              <a:t>Slow down max clock frequency </a:t>
            </a:r>
          </a:p>
          <a:p>
            <a:endParaRPr lang="en-US" altLang="zh-CN" sz="2400" dirty="0">
              <a:latin typeface="Times New Roman" panose="02020603050405020304" pitchFamily="18" charset="0"/>
              <a:cs typeface="Times New Roman" panose="02020603050405020304" pitchFamily="18" charset="0"/>
            </a:endParaRPr>
          </a:p>
        </p:txBody>
      </p:sp>
      <p:sp>
        <p:nvSpPr>
          <p:cNvPr id="8" name="标题 1"/>
          <p:cNvSpPr>
            <a:spLocks noGrp="1"/>
          </p:cNvSpPr>
          <p:nvPr>
            <p:ph type="title"/>
          </p:nvPr>
        </p:nvSpPr>
        <p:spPr>
          <a:xfrm>
            <a:off x="468313" y="332656"/>
            <a:ext cx="8280400" cy="666750"/>
          </a:xfrm>
        </p:spPr>
        <p:txBody>
          <a:bodyPr/>
          <a:lstStyle/>
          <a:p>
            <a:r>
              <a:rPr lang="zh-CN" altLang="zh-CN" sz="3600" b="1" dirty="0">
                <a:latin typeface="Times New Roman" panose="02020603050405020304" pitchFamily="18" charset="0"/>
                <a:cs typeface="Times New Roman" panose="02020603050405020304" pitchFamily="18" charset="0"/>
              </a:rPr>
              <a:t>支持</a:t>
            </a:r>
            <a:r>
              <a:rPr lang="zh-CN" altLang="en-US" sz="3600" b="1" dirty="0">
                <a:latin typeface="Times New Roman" panose="02020603050405020304" pitchFamily="18" charset="0"/>
                <a:cs typeface="Times New Roman" panose="02020603050405020304" pitchFamily="18" charset="0"/>
              </a:rPr>
              <a:t>前瞻</a:t>
            </a:r>
            <a:r>
              <a:rPr lang="zh-CN" altLang="zh-CN" sz="3600" b="1" dirty="0">
                <a:latin typeface="Times New Roman" panose="02020603050405020304" pitchFamily="18" charset="0"/>
                <a:cs typeface="Times New Roman" panose="02020603050405020304" pitchFamily="18" charset="0"/>
              </a:rPr>
              <a:t>执行的</a:t>
            </a:r>
            <a:r>
              <a:rPr lang="en-US" altLang="zh-CN" sz="3600" b="1" dirty="0">
                <a:latin typeface="Times New Roman" panose="02020603050405020304" pitchFamily="18" charset="0"/>
                <a:cs typeface="Times New Roman" panose="02020603050405020304" pitchFamily="18" charset="0"/>
              </a:rPr>
              <a:t> </a:t>
            </a:r>
            <a:r>
              <a:rPr lang="en-US" altLang="zh-CN" sz="3600" b="1" dirty="0" err="1">
                <a:latin typeface="Times New Roman" panose="02020603050405020304" pitchFamily="18" charset="0"/>
                <a:cs typeface="Times New Roman" panose="02020603050405020304" pitchFamily="18" charset="0"/>
              </a:rPr>
              <a:t>Tomasulo</a:t>
            </a:r>
            <a:r>
              <a:rPr lang="en-US" altLang="zh-CN" sz="3600" b="1" dirty="0">
                <a:latin typeface="Times New Roman" panose="02020603050405020304" pitchFamily="18" charset="0"/>
                <a:cs typeface="Times New Roman" panose="02020603050405020304" pitchFamily="18" charset="0"/>
              </a:rPr>
              <a:t> </a:t>
            </a:r>
            <a:r>
              <a:rPr lang="zh-CN" altLang="zh-CN" sz="3600" b="1" dirty="0">
                <a:latin typeface="Times New Roman" panose="02020603050405020304" pitchFamily="18" charset="0"/>
                <a:cs typeface="Times New Roman" panose="02020603050405020304" pitchFamily="18" charset="0"/>
              </a:rPr>
              <a:t>算法的</a:t>
            </a:r>
            <a:r>
              <a:rPr lang="zh-CN" altLang="en-US" sz="3600" b="1" dirty="0">
                <a:latin typeface="Times New Roman" panose="02020603050405020304" pitchFamily="18" charset="0"/>
                <a:cs typeface="Times New Roman" panose="02020603050405020304" pitchFamily="18" charset="0"/>
              </a:rPr>
              <a:t>总结</a:t>
            </a:r>
            <a:endParaRPr lang="zh-CN" altLang="en-US" sz="3600" dirty="0">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47207A63-4236-A77C-528A-5D43E0BC095F}"/>
              </a:ext>
            </a:extLst>
          </p:cNvPr>
          <p:cNvSpPr>
            <a:spLocks noGrp="1"/>
          </p:cNvSpPr>
          <p:nvPr>
            <p:ph type="dt" sz="half" idx="10"/>
          </p:nvPr>
        </p:nvSpPr>
        <p:spPr/>
        <p:txBody>
          <a:bodyPr/>
          <a:lstStyle/>
          <a:p>
            <a:pPr>
              <a:defRPr/>
            </a:pPr>
            <a:fld id="{3EB2A983-5230-481C-86BB-949555E4DF1F}"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35FEC679-989A-29E0-4FE8-1052DBE3F5F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99D79898-DDEF-F130-6388-2AD5FB6D47BB}"/>
              </a:ext>
            </a:extLst>
          </p:cNvPr>
          <p:cNvSpPr>
            <a:spLocks noGrp="1"/>
          </p:cNvSpPr>
          <p:nvPr>
            <p:ph type="sldNum" sz="quarter" idx="12"/>
          </p:nvPr>
        </p:nvSpPr>
        <p:spPr/>
        <p:txBody>
          <a:bodyPr/>
          <a:lstStyle/>
          <a:p>
            <a:pPr>
              <a:defRPr/>
            </a:pPr>
            <a:fld id="{8BCAC33D-D29A-48B3-BCD6-381D3D720D26}" type="slidenum">
              <a:rPr lang="zh-CN" altLang="en-US" smtClean="0"/>
              <a:t>52</a:t>
            </a:fld>
            <a:endParaRPr lang="en-US" altLang="zh-CN"/>
          </a:p>
        </p:txBody>
      </p:sp>
    </p:spTree>
    <p:extLst>
      <p:ext uri="{BB962C8B-B14F-4D97-AF65-F5344CB8AC3E}">
        <p14:creationId xmlns:p14="http://schemas.microsoft.com/office/powerpoint/2010/main" val="1070181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a:xfrm>
            <a:off x="468313" y="414338"/>
            <a:ext cx="8229600" cy="1143000"/>
          </a:xfrm>
        </p:spPr>
        <p:txBody>
          <a:bodyPr rtlCol="0">
            <a:normAutofit/>
          </a:bodyPr>
          <a:lstStyle/>
          <a:p>
            <a:pPr eaLnBrk="1" fontAlgn="auto" hangingPunct="1">
              <a:spcAft>
                <a:spcPts val="0"/>
              </a:spcAft>
              <a:defRPr/>
            </a:pPr>
            <a:r>
              <a:rPr lang="en-US" altLang="zh-CN" sz="4000" b="1" dirty="0">
                <a:latin typeface="Times New Roman" panose="02020603050405020304" pitchFamily="18" charset="0"/>
                <a:cs typeface="Times New Roman" panose="02020603050405020304" pitchFamily="18" charset="0"/>
              </a:rPr>
              <a:t>4.4  </a:t>
            </a:r>
            <a:r>
              <a:rPr lang="zh-CN" altLang="en-US" sz="4000" b="1" dirty="0">
                <a:latin typeface="Times New Roman" panose="02020603050405020304" pitchFamily="18" charset="0"/>
                <a:cs typeface="Times New Roman" panose="02020603050405020304" pitchFamily="18" charset="0"/>
              </a:rPr>
              <a:t>多指令流出技术</a:t>
            </a:r>
          </a:p>
        </p:txBody>
      </p:sp>
      <p:sp>
        <p:nvSpPr>
          <p:cNvPr id="24579" name="Rectangle 2"/>
          <p:cNvSpPr>
            <a:spLocks noGrp="1" noChangeArrowheads="1"/>
          </p:cNvSpPr>
          <p:nvPr>
            <p:ph idx="1"/>
          </p:nvPr>
        </p:nvSpPr>
        <p:spPr>
          <a:xfrm>
            <a:off x="827088" y="1773238"/>
            <a:ext cx="7064375" cy="3313112"/>
          </a:xfrm>
        </p:spPr>
        <p:txBody>
          <a:bodyPr/>
          <a:lstStyle/>
          <a:p>
            <a:pPr marL="0" indent="0" eaLnBrk="1" hangingPunct="1">
              <a:spcBef>
                <a:spcPct val="50000"/>
              </a:spcBef>
              <a:buFont typeface="Arial" pitchFamily="34" charset="0"/>
              <a:buNone/>
            </a:pPr>
            <a:r>
              <a:rPr lang="en-US" altLang="zh-CN" sz="2800" b="1" dirty="0">
                <a:latin typeface="Times New Roman" pitchFamily="18" charset="0"/>
              </a:rPr>
              <a:t>4.4.1  </a:t>
            </a:r>
            <a:r>
              <a:rPr lang="zh-CN" altLang="en-US" sz="2800" b="1" dirty="0">
                <a:latin typeface="Times New Roman" pitchFamily="18" charset="0"/>
              </a:rPr>
              <a:t>静态超标量技术</a:t>
            </a:r>
            <a:endParaRPr lang="en-US" altLang="zh-CN" sz="2800" b="1" dirty="0">
              <a:latin typeface="Times New Roman" pitchFamily="18" charset="0"/>
            </a:endParaRPr>
          </a:p>
          <a:p>
            <a:pPr marL="0" indent="0" eaLnBrk="1" hangingPunct="1">
              <a:spcBef>
                <a:spcPct val="50000"/>
              </a:spcBef>
              <a:buFont typeface="Arial" pitchFamily="34" charset="0"/>
              <a:buNone/>
            </a:pPr>
            <a:endParaRPr lang="en-US" altLang="zh-CN" sz="2800" b="1" dirty="0">
              <a:latin typeface="Times New Roman" pitchFamily="18" charset="0"/>
            </a:endParaRPr>
          </a:p>
          <a:p>
            <a:pPr marL="0" indent="0" eaLnBrk="1" hangingPunct="1">
              <a:spcBef>
                <a:spcPct val="50000"/>
              </a:spcBef>
              <a:buFont typeface="Arial" pitchFamily="34" charset="0"/>
              <a:buNone/>
            </a:pPr>
            <a:r>
              <a:rPr lang="en-US" altLang="zh-CN" sz="2800" b="1" dirty="0">
                <a:latin typeface="Times New Roman" pitchFamily="18" charset="0"/>
              </a:rPr>
              <a:t>4.4.2  </a:t>
            </a:r>
            <a:r>
              <a:rPr lang="zh-CN" altLang="en-US" sz="2800" b="1" dirty="0">
                <a:latin typeface="Times New Roman" pitchFamily="18" charset="0"/>
              </a:rPr>
              <a:t>动态多指令流出技术</a:t>
            </a:r>
            <a:endParaRPr lang="en-US" altLang="zh-CN" sz="2800" b="1" dirty="0">
              <a:latin typeface="Times New Roman" pitchFamily="18" charset="0"/>
            </a:endParaRPr>
          </a:p>
          <a:p>
            <a:pPr marL="0" indent="0" eaLnBrk="1" hangingPunct="1">
              <a:spcBef>
                <a:spcPct val="50000"/>
              </a:spcBef>
              <a:buFont typeface="Arial" pitchFamily="34" charset="0"/>
              <a:buNone/>
            </a:pPr>
            <a:endParaRPr lang="en-US" altLang="zh-CN" sz="2800" b="1" dirty="0">
              <a:latin typeface="Times New Roman" pitchFamily="18" charset="0"/>
            </a:endParaRPr>
          </a:p>
          <a:p>
            <a:pPr marL="0" indent="0" eaLnBrk="1" hangingPunct="1">
              <a:spcBef>
                <a:spcPct val="50000"/>
              </a:spcBef>
              <a:buFont typeface="Arial" pitchFamily="34" charset="0"/>
              <a:buNone/>
            </a:pPr>
            <a:r>
              <a:rPr lang="en-US" altLang="zh-CN" sz="2800" b="1" dirty="0">
                <a:latin typeface="Times New Roman" pitchFamily="18" charset="0"/>
              </a:rPr>
              <a:t>4.4.3  </a:t>
            </a:r>
            <a:r>
              <a:rPr lang="zh-CN" altLang="en-US" sz="2800" b="1" dirty="0">
                <a:latin typeface="Times New Roman" pitchFamily="18" charset="0"/>
              </a:rPr>
              <a:t>超长指令字技术</a:t>
            </a:r>
            <a:endParaRPr lang="en-US" altLang="zh-CN" sz="2800" b="1" dirty="0">
              <a:latin typeface="Times New Roman" pitchFamily="18" charset="0"/>
            </a:endParaRPr>
          </a:p>
          <a:p>
            <a:pPr marL="0" indent="0" eaLnBrk="1" hangingPunct="1">
              <a:spcBef>
                <a:spcPct val="50000"/>
              </a:spcBef>
              <a:buFont typeface="Arial" pitchFamily="34" charset="0"/>
              <a:buNone/>
            </a:pPr>
            <a:endParaRPr lang="en-US" altLang="zh-CN" b="1" dirty="0">
              <a:latin typeface="Times New Roman" pitchFamily="18" charset="0"/>
            </a:endParaRPr>
          </a:p>
        </p:txBody>
      </p:sp>
      <p:sp>
        <p:nvSpPr>
          <p:cNvPr id="2" name="日期占位符 1">
            <a:extLst>
              <a:ext uri="{FF2B5EF4-FFF2-40B4-BE49-F238E27FC236}">
                <a16:creationId xmlns:a16="http://schemas.microsoft.com/office/drawing/2014/main" id="{EEEA6EC2-F07D-1CE1-3B94-62FF75FEBDFA}"/>
              </a:ext>
            </a:extLst>
          </p:cNvPr>
          <p:cNvSpPr>
            <a:spLocks noGrp="1"/>
          </p:cNvSpPr>
          <p:nvPr>
            <p:ph type="dt" sz="half" idx="10"/>
          </p:nvPr>
        </p:nvSpPr>
        <p:spPr/>
        <p:txBody>
          <a:bodyPr/>
          <a:lstStyle/>
          <a:p>
            <a:pPr>
              <a:defRPr/>
            </a:pPr>
            <a:fld id="{E801FB15-381E-419B-A4EC-2A6D004385D7}"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4E9EC304-E9B4-D512-DC26-004A08BF871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E5F752C-0EBD-8140-2C64-000612E6260C}"/>
              </a:ext>
            </a:extLst>
          </p:cNvPr>
          <p:cNvSpPr>
            <a:spLocks noGrp="1"/>
          </p:cNvSpPr>
          <p:nvPr>
            <p:ph type="sldNum" sz="quarter" idx="12"/>
          </p:nvPr>
        </p:nvSpPr>
        <p:spPr/>
        <p:txBody>
          <a:bodyPr/>
          <a:lstStyle/>
          <a:p>
            <a:pPr>
              <a:defRPr/>
            </a:pPr>
            <a:fld id="{8BCAC33D-D29A-48B3-BCD6-381D3D720D26}" type="slidenum">
              <a:rPr lang="zh-CN" altLang="en-US" smtClean="0"/>
              <a:t>53</a:t>
            </a:fld>
            <a:endParaRPr lang="en-US" altLang="zh-CN"/>
          </a:p>
        </p:txBody>
      </p:sp>
    </p:spTree>
    <p:extLst>
      <p:ext uri="{BB962C8B-B14F-4D97-AF65-F5344CB8AC3E}">
        <p14:creationId xmlns:p14="http://schemas.microsoft.com/office/powerpoint/2010/main" val="1304003339"/>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6194" name="Object 4" descr="Rectangle: Click to edit Master text styles&#10;Second level&#10;Third level&#10;Fourth level&#10;Fifth level"/>
          <p:cNvGraphicFramePr>
            <a:graphicFrameLocks noGrp="1" noChangeAspect="1"/>
          </p:cNvGraphicFramePr>
          <p:nvPr>
            <p:ph/>
          </p:nvPr>
        </p:nvGraphicFramePr>
        <p:xfrm>
          <a:off x="142875" y="1243013"/>
          <a:ext cx="8893175" cy="4130675"/>
        </p:xfrm>
        <a:graphic>
          <a:graphicData uri="http://schemas.openxmlformats.org/presentationml/2006/ole">
            <mc:AlternateContent xmlns:mc="http://schemas.openxmlformats.org/markup-compatibility/2006">
              <mc:Choice xmlns:v="urn:schemas-microsoft-com:vml" Requires="v">
                <p:oleObj r:id="rId2" imgW="5341378" imgH="2486741" progId="Word.Picture.8">
                  <p:embed/>
                </p:oleObj>
              </mc:Choice>
              <mc:Fallback>
                <p:oleObj r:id="rId2" imgW="5341378" imgH="2486741" progId="Word.Picture.8">
                  <p:embed/>
                  <p:pic>
                    <p:nvPicPr>
                      <p:cNvPr id="136194" name="Object 4" descr="Rectangle: Click to edit Master text styles&#10;Second level&#10;Third level&#10;Fourth level&#10;Fifth lev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 y="1243013"/>
                        <a:ext cx="8893175" cy="413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6195" name="Text Box 6"/>
          <p:cNvSpPr txBox="1">
            <a:spLocks noChangeArrowheads="1"/>
          </p:cNvSpPr>
          <p:nvPr/>
        </p:nvSpPr>
        <p:spPr bwMode="auto">
          <a:xfrm>
            <a:off x="2195513" y="5445125"/>
            <a:ext cx="4968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itchFamily="34" charset="0"/>
                <a:ea typeface="黑体" pitchFamily="49" charset="-122"/>
              </a:defRPr>
            </a:lvl1pPr>
            <a:lvl2pPr marL="742950" indent="-285750">
              <a:defRPr sz="2400">
                <a:solidFill>
                  <a:schemeClr val="tx1"/>
                </a:solidFill>
                <a:latin typeface="Tahoma" pitchFamily="34" charset="0"/>
                <a:ea typeface="黑体" pitchFamily="49" charset="-122"/>
              </a:defRPr>
            </a:lvl2pPr>
            <a:lvl3pPr marL="1143000" indent="-228600">
              <a:defRPr sz="2400">
                <a:solidFill>
                  <a:schemeClr val="tx1"/>
                </a:solidFill>
                <a:latin typeface="Tahoma" pitchFamily="34" charset="0"/>
                <a:ea typeface="黑体" pitchFamily="49" charset="-122"/>
              </a:defRPr>
            </a:lvl3pPr>
            <a:lvl4pPr marL="1600200" indent="-228600">
              <a:defRPr sz="2400">
                <a:solidFill>
                  <a:schemeClr val="tx1"/>
                </a:solidFill>
                <a:latin typeface="Tahoma" pitchFamily="34" charset="0"/>
                <a:ea typeface="黑体" pitchFamily="49" charset="-122"/>
              </a:defRPr>
            </a:lvl4pPr>
            <a:lvl5pPr marL="2057400" indent="-228600">
              <a:defRPr sz="2400">
                <a:solidFill>
                  <a:schemeClr val="tx1"/>
                </a:solidFill>
                <a:latin typeface="Tahoma" pitchFamily="34" charset="0"/>
                <a:ea typeface="黑体" pitchFamily="49" charset="-122"/>
              </a:defRPr>
            </a:lvl5pPr>
            <a:lvl6pPr marL="2514600" indent="-228600" eaLnBrk="0" fontAlgn="base" hangingPunct="0">
              <a:spcBef>
                <a:spcPct val="0"/>
              </a:spcBef>
              <a:spcAft>
                <a:spcPct val="0"/>
              </a:spcAft>
              <a:defRPr sz="2400">
                <a:solidFill>
                  <a:schemeClr val="tx1"/>
                </a:solidFill>
                <a:latin typeface="Tahoma" pitchFamily="34" charset="0"/>
                <a:ea typeface="黑体" pitchFamily="49" charset="-122"/>
              </a:defRPr>
            </a:lvl6pPr>
            <a:lvl7pPr marL="2971800" indent="-228600" eaLnBrk="0" fontAlgn="base" hangingPunct="0">
              <a:spcBef>
                <a:spcPct val="0"/>
              </a:spcBef>
              <a:spcAft>
                <a:spcPct val="0"/>
              </a:spcAft>
              <a:defRPr sz="2400">
                <a:solidFill>
                  <a:schemeClr val="tx1"/>
                </a:solidFill>
                <a:latin typeface="Tahoma" pitchFamily="34" charset="0"/>
                <a:ea typeface="黑体" pitchFamily="49" charset="-122"/>
              </a:defRPr>
            </a:lvl7pPr>
            <a:lvl8pPr marL="3429000" indent="-228600" eaLnBrk="0" fontAlgn="base" hangingPunct="0">
              <a:spcBef>
                <a:spcPct val="0"/>
              </a:spcBef>
              <a:spcAft>
                <a:spcPct val="0"/>
              </a:spcAft>
              <a:defRPr sz="2400">
                <a:solidFill>
                  <a:schemeClr val="tx1"/>
                </a:solidFill>
                <a:latin typeface="Tahoma" pitchFamily="34" charset="0"/>
                <a:ea typeface="黑体" pitchFamily="49" charset="-122"/>
              </a:defRPr>
            </a:lvl8pPr>
            <a:lvl9pPr marL="3886200" indent="-228600" eaLnBrk="0" fontAlgn="base" hangingPunct="0">
              <a:spcBef>
                <a:spcPct val="0"/>
              </a:spcBef>
              <a:spcAft>
                <a:spcPct val="0"/>
              </a:spcAft>
              <a:defRPr sz="2400">
                <a:solidFill>
                  <a:schemeClr val="tx1"/>
                </a:solidFill>
                <a:latin typeface="Tahoma" pitchFamily="34" charset="0"/>
                <a:ea typeface="黑体" pitchFamily="49" charset="-122"/>
              </a:defRPr>
            </a:lvl9pPr>
          </a:lstStyle>
          <a:p>
            <a:pPr eaLnBrk="1" hangingPunct="1">
              <a:spcBef>
                <a:spcPct val="50000"/>
              </a:spcBef>
              <a:buFont typeface="Wingdings" pitchFamily="2" charset="2"/>
              <a:buNone/>
            </a:pPr>
            <a:r>
              <a:rPr lang="zh-CN" altLang="en-US" sz="2000" b="1">
                <a:ea typeface="宋体" pitchFamily="2" charset="-122"/>
              </a:rPr>
              <a:t>单流出和多流出处理机执行指令的时空图</a:t>
            </a:r>
            <a:r>
              <a:rPr lang="zh-CN" altLang="en-US"/>
              <a:t> </a:t>
            </a:r>
          </a:p>
        </p:txBody>
      </p:sp>
      <p:sp>
        <p:nvSpPr>
          <p:cNvPr id="2" name="日期占位符 1">
            <a:extLst>
              <a:ext uri="{FF2B5EF4-FFF2-40B4-BE49-F238E27FC236}">
                <a16:creationId xmlns:a16="http://schemas.microsoft.com/office/drawing/2014/main" id="{AD9DD864-CA3F-E91E-182D-8F5D92F91A64}"/>
              </a:ext>
            </a:extLst>
          </p:cNvPr>
          <p:cNvSpPr>
            <a:spLocks noGrp="1"/>
          </p:cNvSpPr>
          <p:nvPr>
            <p:ph type="dt" sz="half" idx="10"/>
          </p:nvPr>
        </p:nvSpPr>
        <p:spPr/>
        <p:txBody>
          <a:bodyPr/>
          <a:lstStyle/>
          <a:p>
            <a:pPr>
              <a:defRPr/>
            </a:pPr>
            <a:fld id="{7E044B43-AFE4-4060-AC76-CF24EF90F80E}"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A59E5D60-F22C-162C-B64E-CDF2F53E9EE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D515B2A1-184B-336D-3C5E-0AF3D7971450}"/>
              </a:ext>
            </a:extLst>
          </p:cNvPr>
          <p:cNvSpPr>
            <a:spLocks noGrp="1"/>
          </p:cNvSpPr>
          <p:nvPr>
            <p:ph type="sldNum" sz="quarter" idx="12"/>
          </p:nvPr>
        </p:nvSpPr>
        <p:spPr/>
        <p:txBody>
          <a:bodyPr/>
          <a:lstStyle/>
          <a:p>
            <a:pPr>
              <a:defRPr/>
            </a:pPr>
            <a:fld id="{0D31C944-F470-43DB-AA6A-FA332AA1ED5F}" type="slidenum">
              <a:rPr lang="en-US" altLang="zh-CN" smtClean="0"/>
              <a:pPr>
                <a:defRPr/>
              </a:pPr>
              <a:t>54</a:t>
            </a:fld>
            <a:endParaRPr lang="en-US" altLang="zh-CN"/>
          </a:p>
        </p:txBody>
      </p:sp>
    </p:spTree>
    <p:extLst>
      <p:ext uri="{BB962C8B-B14F-4D97-AF65-F5344CB8AC3E}">
        <p14:creationId xmlns:p14="http://schemas.microsoft.com/office/powerpoint/2010/main" val="4215463186"/>
      </p:ext>
    </p:extLst>
  </p:cSld>
  <p:clrMapOvr>
    <a:masterClrMapping/>
  </p:clrMapOvr>
  <p:transition>
    <p:pull dir="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6"/>
          <p:cNvSpPr>
            <a:spLocks noGrp="1" noChangeArrowheads="1"/>
          </p:cNvSpPr>
          <p:nvPr>
            <p:ph type="title" idx="4294967295"/>
          </p:nvPr>
        </p:nvSpPr>
        <p:spPr/>
        <p:txBody>
          <a:bodyPr/>
          <a:lstStyle/>
          <a:p>
            <a:pPr eaLnBrk="1" hangingPunct="1"/>
            <a:r>
              <a:rPr lang="en-US" altLang="zh-CN" sz="3600" b="1" dirty="0">
                <a:latin typeface="Times New Roman" panose="02020603050405020304" pitchFamily="18" charset="0"/>
                <a:ea typeface="+mn-ea"/>
                <a:cs typeface="Times New Roman" panose="02020603050405020304" pitchFamily="18" charset="0"/>
              </a:rPr>
              <a:t>4.4 </a:t>
            </a:r>
            <a:r>
              <a:rPr lang="zh-CN" altLang="en-US" sz="3600" b="1" dirty="0">
                <a:latin typeface="Times New Roman" panose="02020603050405020304" pitchFamily="18" charset="0"/>
                <a:ea typeface="+mn-ea"/>
                <a:cs typeface="Times New Roman" panose="02020603050405020304" pitchFamily="18" charset="0"/>
              </a:rPr>
              <a:t>多指令流出技术</a:t>
            </a:r>
          </a:p>
        </p:txBody>
      </p:sp>
      <p:sp>
        <p:nvSpPr>
          <p:cNvPr id="25603" name="Rectangle 7"/>
          <p:cNvSpPr>
            <a:spLocks noGrp="1" noChangeArrowheads="1"/>
          </p:cNvSpPr>
          <p:nvPr>
            <p:ph type="body" idx="4294967295"/>
          </p:nvPr>
        </p:nvSpPr>
        <p:spPr>
          <a:xfrm>
            <a:off x="395536" y="1417638"/>
            <a:ext cx="8229600" cy="4525963"/>
          </a:xfrm>
        </p:spPr>
        <p:txBody>
          <a:bodyPr/>
          <a:lstStyle/>
          <a:p>
            <a:pPr eaLnBrk="1" hangingPunct="1">
              <a:lnSpc>
                <a:spcPct val="120000"/>
              </a:lnSpc>
            </a:pPr>
            <a:r>
              <a:rPr lang="zh-CN" altLang="en-US" sz="2400" b="1" dirty="0">
                <a:latin typeface="Times New Roman" panose="02020603050405020304" pitchFamily="18" charset="0"/>
                <a:cs typeface="Times New Roman" panose="02020603050405020304" pitchFamily="18" charset="0"/>
              </a:rPr>
              <a:t>多指令流出处理器</a:t>
            </a:r>
          </a:p>
          <a:p>
            <a:pPr lvl="1" eaLnBrk="1" hangingPunct="1">
              <a:lnSpc>
                <a:spcPct val="120000"/>
              </a:lnSpc>
            </a:pPr>
            <a:r>
              <a:rPr lang="zh-CN" altLang="en-US" sz="2400" b="1" dirty="0">
                <a:latin typeface="Times New Roman" panose="02020603050405020304" pitchFamily="18" charset="0"/>
                <a:cs typeface="Times New Roman" panose="02020603050405020304" pitchFamily="18" charset="0"/>
              </a:rPr>
              <a:t>实现一个时钟周期内流出多条指令时</a:t>
            </a:r>
          </a:p>
          <a:p>
            <a:pPr lvl="1" eaLnBrk="1" hangingPunct="1">
              <a:lnSpc>
                <a:spcPct val="120000"/>
              </a:lnSpc>
            </a:pPr>
            <a:r>
              <a:rPr lang="zh-CN" altLang="en-US" sz="2400" b="1" dirty="0">
                <a:latin typeface="Times New Roman" panose="02020603050405020304" pitchFamily="18" charset="0"/>
                <a:cs typeface="Times New Roman" panose="02020603050405020304" pitchFamily="18" charset="0"/>
              </a:rPr>
              <a:t>达到</a:t>
            </a:r>
            <a:r>
              <a:rPr lang="en-US" altLang="zh-CN" sz="2400" b="1" dirty="0">
                <a:latin typeface="Times New Roman" panose="02020603050405020304" pitchFamily="18" charset="0"/>
                <a:cs typeface="Times New Roman" panose="02020603050405020304" pitchFamily="18" charset="0"/>
              </a:rPr>
              <a:t>CPI</a:t>
            </a:r>
            <a:r>
              <a:rPr lang="zh-CN" altLang="en-US" sz="2400" b="1" dirty="0">
                <a:latin typeface="Times New Roman" panose="02020603050405020304" pitchFamily="18" charset="0"/>
                <a:cs typeface="Times New Roman" panose="02020603050405020304" pitchFamily="18" charset="0"/>
              </a:rPr>
              <a:t>小于</a:t>
            </a:r>
            <a:r>
              <a:rPr lang="en-US" altLang="zh-CN" sz="2400" b="1" dirty="0">
                <a:latin typeface="Times New Roman" panose="02020603050405020304" pitchFamily="18" charset="0"/>
                <a:cs typeface="Times New Roman" panose="02020603050405020304" pitchFamily="18" charset="0"/>
              </a:rPr>
              <a:t>1</a:t>
            </a:r>
          </a:p>
          <a:p>
            <a:pPr eaLnBrk="1" hangingPunct="1">
              <a:lnSpc>
                <a:spcPct val="120000"/>
              </a:lnSpc>
            </a:pPr>
            <a:r>
              <a:rPr lang="zh-CN" altLang="en-US" sz="2400" b="1" dirty="0">
                <a:latin typeface="Times New Roman" panose="02020603050405020304" pitchFamily="18" charset="0"/>
                <a:cs typeface="Times New Roman" panose="02020603050405020304" pitchFamily="18" charset="0"/>
              </a:rPr>
              <a:t>多流出处理器</a:t>
            </a: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种基本结构</a:t>
            </a:r>
            <a:r>
              <a:rPr lang="en-US" altLang="zh-CN" sz="2400" b="1" dirty="0">
                <a:latin typeface="Times New Roman" panose="02020603050405020304" pitchFamily="18" charset="0"/>
                <a:cs typeface="Times New Roman" panose="02020603050405020304" pitchFamily="18" charset="0"/>
              </a:rPr>
              <a:t>	</a:t>
            </a:r>
          </a:p>
          <a:p>
            <a:pPr lvl="1" eaLnBrk="1" hangingPunct="1">
              <a:lnSpc>
                <a:spcPct val="120000"/>
              </a:lnSpc>
            </a:pPr>
            <a:r>
              <a:rPr lang="zh-CN" altLang="en-US" sz="2400" b="1" dirty="0">
                <a:latin typeface="Times New Roman" panose="02020603050405020304" pitchFamily="18" charset="0"/>
                <a:cs typeface="Times New Roman" panose="02020603050405020304" pitchFamily="18" charset="0"/>
              </a:rPr>
              <a:t>超标量（</a:t>
            </a:r>
            <a:r>
              <a:rPr lang="en-US" altLang="zh-CN" sz="2400" b="1" dirty="0">
                <a:latin typeface="Times New Roman" panose="02020603050405020304" pitchFamily="18" charset="0"/>
                <a:cs typeface="Times New Roman" panose="02020603050405020304" pitchFamily="18" charset="0"/>
              </a:rPr>
              <a:t>Superscalar</a:t>
            </a:r>
            <a:r>
              <a:rPr lang="zh-CN" altLang="en-US" sz="2400" b="1" dirty="0">
                <a:latin typeface="Times New Roman" panose="02020603050405020304" pitchFamily="18" charset="0"/>
                <a:cs typeface="Times New Roman" panose="02020603050405020304" pitchFamily="18" charset="0"/>
              </a:rPr>
              <a:t>）</a:t>
            </a:r>
          </a:p>
          <a:p>
            <a:pPr lvl="2" eaLnBrk="1" hangingPunct="1">
              <a:lnSpc>
                <a:spcPct val="120000"/>
              </a:lnSpc>
            </a:pPr>
            <a:r>
              <a:rPr lang="zh-CN" altLang="en-US" b="1" dirty="0">
                <a:latin typeface="Times New Roman" panose="02020603050405020304" pitchFamily="18" charset="0"/>
                <a:cs typeface="Times New Roman" panose="02020603050405020304" pitchFamily="18" charset="0"/>
              </a:rPr>
              <a:t>超标量每个时钟周期流出的指令数不定</a:t>
            </a:r>
          </a:p>
          <a:p>
            <a:pPr lvl="2" eaLnBrk="1" hangingPunct="1">
              <a:lnSpc>
                <a:spcPct val="120000"/>
              </a:lnSpc>
            </a:pPr>
            <a:r>
              <a:rPr lang="zh-CN" altLang="en-US" b="1" dirty="0">
                <a:latin typeface="Times New Roman" panose="02020603050405020304" pitchFamily="18" charset="0"/>
                <a:cs typeface="Times New Roman" panose="02020603050405020304" pitchFamily="18" charset="0"/>
              </a:rPr>
              <a:t>可以编译器静态调度，也可以硬件动态调度</a:t>
            </a:r>
            <a:endParaRPr lang="en-US" altLang="zh-CN" b="1" dirty="0">
              <a:latin typeface="Times New Roman" panose="02020603050405020304" pitchFamily="18" charset="0"/>
              <a:cs typeface="Times New Roman" panose="02020603050405020304" pitchFamily="18" charset="0"/>
            </a:endParaRPr>
          </a:p>
          <a:p>
            <a:pPr lvl="1" eaLnBrk="1" hangingPunct="1">
              <a:lnSpc>
                <a:spcPct val="120000"/>
              </a:lnSpc>
            </a:pPr>
            <a:r>
              <a:rPr lang="zh-CN" altLang="en-US" sz="2400" b="1" dirty="0">
                <a:latin typeface="Times New Roman" panose="02020603050405020304" pitchFamily="18" charset="0"/>
                <a:cs typeface="Times New Roman" panose="02020603050405020304" pitchFamily="18" charset="0"/>
              </a:rPr>
              <a:t>超长指令字（ </a:t>
            </a:r>
            <a:r>
              <a:rPr lang="en-US" altLang="zh-CN" sz="2400" b="1" dirty="0">
                <a:latin typeface="Times New Roman" panose="02020603050405020304" pitchFamily="18" charset="0"/>
                <a:cs typeface="Times New Roman" panose="02020603050405020304" pitchFamily="18" charset="0"/>
              </a:rPr>
              <a:t>VLIW</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Very long Instruction Word</a:t>
            </a:r>
            <a:r>
              <a:rPr lang="zh-CN" altLang="en-US" sz="2400" b="1" dirty="0">
                <a:latin typeface="Times New Roman" panose="02020603050405020304" pitchFamily="18" charset="0"/>
                <a:cs typeface="Times New Roman" panose="02020603050405020304" pitchFamily="18" charset="0"/>
              </a:rPr>
              <a:t>）</a:t>
            </a:r>
          </a:p>
          <a:p>
            <a:pPr lvl="2" eaLnBrk="1" hangingPunct="1">
              <a:lnSpc>
                <a:spcPct val="120000"/>
              </a:lnSpc>
            </a:pPr>
            <a:r>
              <a:rPr lang="zh-CN" altLang="en-US" b="1" dirty="0">
                <a:latin typeface="Times New Roman" panose="02020603050405020304" pitchFamily="18" charset="0"/>
                <a:cs typeface="Times New Roman" panose="02020603050405020304" pitchFamily="18" charset="0"/>
              </a:rPr>
              <a:t>每个时钟周期流出的指令数是固定的，只能通过编译静态调度</a:t>
            </a:r>
            <a:endParaRPr lang="en-US" altLang="zh-CN" b="1" dirty="0">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BFEF5727-E56E-3D1B-5D7B-C533D1EF11D8}"/>
              </a:ext>
            </a:extLst>
          </p:cNvPr>
          <p:cNvSpPr>
            <a:spLocks noGrp="1"/>
          </p:cNvSpPr>
          <p:nvPr>
            <p:ph type="dt" sz="half" idx="10"/>
          </p:nvPr>
        </p:nvSpPr>
        <p:spPr/>
        <p:txBody>
          <a:bodyPr/>
          <a:lstStyle/>
          <a:p>
            <a:pPr>
              <a:defRPr/>
            </a:pPr>
            <a:fld id="{E1A44EC5-E327-40F8-BB5F-A70C3B114F86}"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A33BA039-70A5-DC98-51A9-597E1818A9B3}"/>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F07AA965-DB1D-CC97-643E-5CE778E46334}"/>
              </a:ext>
            </a:extLst>
          </p:cNvPr>
          <p:cNvSpPr>
            <a:spLocks noGrp="1"/>
          </p:cNvSpPr>
          <p:nvPr>
            <p:ph type="sldNum" sz="quarter" idx="12"/>
          </p:nvPr>
        </p:nvSpPr>
        <p:spPr/>
        <p:txBody>
          <a:bodyPr/>
          <a:lstStyle/>
          <a:p>
            <a:pPr>
              <a:defRPr/>
            </a:pPr>
            <a:fld id="{A5AE633C-541A-4E3F-A22A-3C4C63E8EF5F}" type="slidenum">
              <a:rPr lang="zh-CN" altLang="en-US" smtClean="0"/>
              <a:t>55</a:t>
            </a:fld>
            <a:endParaRPr lang="en-US" altLang="zh-CN"/>
          </a:p>
        </p:txBody>
      </p:sp>
    </p:spTree>
    <p:extLst>
      <p:ext uri="{BB962C8B-B14F-4D97-AF65-F5344CB8AC3E}">
        <p14:creationId xmlns:p14="http://schemas.microsoft.com/office/powerpoint/2010/main" val="988254304"/>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7633" name="表格占位符 197632"/>
          <p:cNvGraphicFramePr>
            <a:graphicFrameLocks noGrp="1"/>
          </p:cNvGraphicFramePr>
          <p:nvPr>
            <p:ph type="tbl" idx="1"/>
          </p:nvPr>
        </p:nvGraphicFramePr>
        <p:xfrm>
          <a:off x="468313" y="425450"/>
          <a:ext cx="8280400" cy="5834064"/>
        </p:xfrm>
        <a:graphic>
          <a:graphicData uri="http://schemas.openxmlformats.org/drawingml/2006/table">
            <a:tbl>
              <a:tblPr/>
              <a:tblGrid>
                <a:gridCol w="1223962">
                  <a:extLst>
                    <a:ext uri="{9D8B030D-6E8A-4147-A177-3AD203B41FA5}">
                      <a16:colId xmlns:a16="http://schemas.microsoft.com/office/drawing/2014/main" val="20000"/>
                    </a:ext>
                  </a:extLst>
                </a:gridCol>
                <a:gridCol w="1008063">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1008063">
                  <a:extLst>
                    <a:ext uri="{9D8B030D-6E8A-4147-A177-3AD203B41FA5}">
                      <a16:colId xmlns:a16="http://schemas.microsoft.com/office/drawing/2014/main" val="20003"/>
                    </a:ext>
                  </a:extLst>
                </a:gridCol>
                <a:gridCol w="1800225">
                  <a:extLst>
                    <a:ext uri="{9D8B030D-6E8A-4147-A177-3AD203B41FA5}">
                      <a16:colId xmlns:a16="http://schemas.microsoft.com/office/drawing/2014/main" val="20004"/>
                    </a:ext>
                  </a:extLst>
                </a:gridCol>
                <a:gridCol w="2232025">
                  <a:extLst>
                    <a:ext uri="{9D8B030D-6E8A-4147-A177-3AD203B41FA5}">
                      <a16:colId xmlns:a16="http://schemas.microsoft.com/office/drawing/2014/main" val="20005"/>
                    </a:ext>
                  </a:extLst>
                </a:gridCol>
              </a:tblGrid>
              <a:tr h="703263">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dirty="0">
                          <a:ln>
                            <a:noFill/>
                          </a:ln>
                          <a:solidFill>
                            <a:srgbClr val="E24C05"/>
                          </a:solidFill>
                          <a:effectLst/>
                          <a:latin typeface="宋体" pitchFamily="2" charset="-122"/>
                          <a:ea typeface="宋体" pitchFamily="2" charset="-122"/>
                        </a:rPr>
                        <a:t>技 术 </a:t>
                      </a:r>
                    </a:p>
                  </a:txBody>
                  <a:tcPr marT="45779" marB="4577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rgbClr val="E24C05"/>
                          </a:solidFill>
                          <a:effectLst/>
                          <a:latin typeface="宋体" pitchFamily="2" charset="-122"/>
                          <a:ea typeface="宋体" pitchFamily="2" charset="-122"/>
                        </a:rPr>
                        <a:t>流出</a:t>
                      </a:r>
                    </a:p>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rgbClr val="E24C05"/>
                          </a:solidFill>
                          <a:effectLst/>
                          <a:latin typeface="宋体" pitchFamily="2" charset="-122"/>
                          <a:ea typeface="宋体" pitchFamily="2" charset="-122"/>
                        </a:rPr>
                        <a:t>结构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rgbClr val="E24C05"/>
                          </a:solidFill>
                          <a:effectLst/>
                          <a:latin typeface="宋体" pitchFamily="2" charset="-122"/>
                          <a:ea typeface="宋体" pitchFamily="2" charset="-122"/>
                        </a:rPr>
                        <a:t>冲突</a:t>
                      </a:r>
                    </a:p>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rgbClr val="E24C05"/>
                          </a:solidFill>
                          <a:effectLst/>
                          <a:latin typeface="宋体" pitchFamily="2" charset="-122"/>
                          <a:ea typeface="宋体" pitchFamily="2" charset="-122"/>
                        </a:rPr>
                        <a:t>检测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rgbClr val="E24C05"/>
                          </a:solidFill>
                          <a:effectLst/>
                          <a:latin typeface="宋体" pitchFamily="2" charset="-122"/>
                          <a:ea typeface="宋体" pitchFamily="2" charset="-122"/>
                        </a:rPr>
                        <a:t>调 度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rgbClr val="E24C05"/>
                          </a:solidFill>
                          <a:effectLst/>
                          <a:latin typeface="宋体" pitchFamily="2" charset="-122"/>
                          <a:ea typeface="宋体" pitchFamily="2" charset="-122"/>
                        </a:rPr>
                        <a:t>主要特点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rgbClr val="E24C05"/>
                          </a:solidFill>
                          <a:effectLst/>
                          <a:latin typeface="宋体" pitchFamily="2" charset="-122"/>
                          <a:ea typeface="宋体" pitchFamily="2" charset="-122"/>
                        </a:rPr>
                        <a:t>处理机实例 </a:t>
                      </a:r>
                    </a:p>
                  </a:txBody>
                  <a:tcPr marT="45779" marB="4577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63588">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rgbClr val="008000"/>
                          </a:solidFill>
                          <a:effectLst/>
                          <a:latin typeface="宋体" pitchFamily="2" charset="-122"/>
                          <a:ea typeface="宋体" pitchFamily="2" charset="-122"/>
                        </a:rPr>
                        <a:t>超标量</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rgbClr val="008000"/>
                          </a:solidFill>
                          <a:effectLst/>
                          <a:latin typeface="宋体" pitchFamily="2" charset="-122"/>
                          <a:ea typeface="宋体" pitchFamily="2" charset="-122"/>
                        </a:rPr>
                        <a:t>（静态） </a:t>
                      </a:r>
                    </a:p>
                  </a:txBody>
                  <a:tcPr marT="45779" marB="4577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动态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硬件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静态</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按序执行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黑体" pitchFamily="49" charset="-122"/>
                        </a:rPr>
                        <a:t>Sun UltraSPARCⅡ/Ⅲ </a:t>
                      </a:r>
                    </a:p>
                  </a:txBody>
                  <a:tcPr marT="45779" marB="4577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63588">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rgbClr val="008000"/>
                          </a:solidFill>
                          <a:effectLst/>
                          <a:latin typeface="宋体" pitchFamily="2" charset="-122"/>
                          <a:ea typeface="宋体" pitchFamily="2" charset="-122"/>
                        </a:rPr>
                        <a:t>超标量</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rgbClr val="008000"/>
                          </a:solidFill>
                          <a:effectLst/>
                          <a:latin typeface="宋体" pitchFamily="2" charset="-122"/>
                          <a:ea typeface="宋体" pitchFamily="2" charset="-122"/>
                        </a:rPr>
                        <a:t>（动态） </a:t>
                      </a:r>
                    </a:p>
                  </a:txBody>
                  <a:tcPr marT="45779" marB="4577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动态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硬件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动态</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部分乱序执行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黑体" pitchFamily="49" charset="-122"/>
                        </a:rPr>
                        <a:t>IBM Power2 </a:t>
                      </a:r>
                    </a:p>
                  </a:txBody>
                  <a:tcPr marT="45779" marB="4577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62137">
                <a:tc>
                  <a:txBody>
                    <a:bodyPr/>
                    <a:lstStyle/>
                    <a:p>
                      <a:pPr marL="0" marR="0" lvl="0" indent="0" algn="ctr" defTabSz="914400" rtl="0" eaLnBrk="1" fontAlgn="base" latinLnBrk="0" hangingPunct="1">
                        <a:lnSpc>
                          <a:spcPct val="33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rgbClr val="008000"/>
                          </a:solidFill>
                          <a:effectLst/>
                          <a:latin typeface="宋体" pitchFamily="2" charset="-122"/>
                          <a:ea typeface="宋体" pitchFamily="2" charset="-122"/>
                        </a:rPr>
                        <a:t>超标量</a:t>
                      </a:r>
                    </a:p>
                    <a:p>
                      <a:pPr marL="0" marR="0" lvl="0" indent="0" algn="ctr" defTabSz="914400" rtl="0" eaLnBrk="1" fontAlgn="base" latinLnBrk="0" hangingPunct="1">
                        <a:lnSpc>
                          <a:spcPct val="6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rgbClr val="008000"/>
                          </a:solidFill>
                          <a:effectLst/>
                          <a:latin typeface="宋体" pitchFamily="2" charset="-122"/>
                          <a:ea typeface="宋体" pitchFamily="2" charset="-122"/>
                        </a:rPr>
                        <a:t>（前瞻） </a:t>
                      </a:r>
                    </a:p>
                  </a:txBody>
                  <a:tcPr marT="45779" marB="4577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en-US" altLang="zh-CN" sz="2000" b="1" i="0" u="none" strike="noStrike" cap="none" normalizeH="0" baseline="0">
                        <a:ln>
                          <a:noFill/>
                        </a:ln>
                        <a:solidFill>
                          <a:schemeClr val="tx1"/>
                        </a:solidFill>
                        <a:effectLst/>
                        <a:latin typeface="宋体" pitchFamily="2" charset="-122"/>
                        <a:ea typeface="宋体" pitchFamily="2" charset="-122"/>
                      </a:endParaRPr>
                    </a:p>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en-US" altLang="zh-CN" sz="2000" b="1" i="0" u="none" strike="noStrike" cap="none" normalizeH="0" baseline="0">
                        <a:ln>
                          <a:noFill/>
                        </a:ln>
                        <a:solidFill>
                          <a:schemeClr val="tx1"/>
                        </a:solidFill>
                        <a:effectLst/>
                        <a:latin typeface="宋体" pitchFamily="2" charset="-122"/>
                        <a:ea typeface="宋体" pitchFamily="2" charset="-122"/>
                      </a:endParaRPr>
                    </a:p>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动态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en-US" altLang="zh-CN" sz="2000" b="1" i="0" u="none" strike="noStrike" cap="none" normalizeH="0" baseline="0">
                        <a:ln>
                          <a:noFill/>
                        </a:ln>
                        <a:solidFill>
                          <a:schemeClr val="tx1"/>
                        </a:solidFill>
                        <a:effectLst/>
                        <a:latin typeface="宋体" pitchFamily="2" charset="-122"/>
                        <a:ea typeface="宋体" pitchFamily="2" charset="-122"/>
                      </a:endParaRPr>
                    </a:p>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en-US" altLang="zh-CN" sz="2000" b="1" i="0" u="none" strike="noStrike" cap="none" normalizeH="0" baseline="0">
                        <a:ln>
                          <a:noFill/>
                        </a:ln>
                        <a:solidFill>
                          <a:schemeClr val="tx1"/>
                        </a:solidFill>
                        <a:effectLst/>
                        <a:latin typeface="宋体" pitchFamily="2" charset="-122"/>
                        <a:ea typeface="宋体" pitchFamily="2" charset="-122"/>
                      </a:endParaRPr>
                    </a:p>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硬件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en-US" altLang="zh-CN" sz="2000" b="1" i="0" u="none" strike="noStrike" cap="none" normalizeH="0" baseline="0">
                        <a:ln>
                          <a:noFill/>
                        </a:ln>
                        <a:solidFill>
                          <a:schemeClr val="tx1"/>
                        </a:solidFill>
                        <a:effectLst/>
                        <a:latin typeface="宋体" pitchFamily="2" charset="-122"/>
                        <a:ea typeface="宋体" pitchFamily="2" charset="-122"/>
                      </a:endParaRPr>
                    </a:p>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带有前瞻的动</a:t>
                      </a:r>
                    </a:p>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态调度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en-US" altLang="zh-CN" sz="2000" b="1" i="0" u="none" strike="noStrike" cap="none" normalizeH="0" baseline="0">
                        <a:ln>
                          <a:noFill/>
                        </a:ln>
                        <a:solidFill>
                          <a:schemeClr val="tx1"/>
                        </a:solidFill>
                        <a:effectLst/>
                        <a:latin typeface="宋体" pitchFamily="2" charset="-122"/>
                        <a:ea typeface="宋体" pitchFamily="2" charset="-122"/>
                      </a:endParaRPr>
                    </a:p>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带有前瞻的</a:t>
                      </a:r>
                    </a:p>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乱序执行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黑体" pitchFamily="49" charset="-122"/>
                        </a:rPr>
                        <a:t>Pentium Ⅲ/4</a:t>
                      </a:r>
                      <a:r>
                        <a:rPr kumimoji="0" lang="zh-CN" altLang="en-US" sz="2000" b="0" i="0" u="none" strike="noStrike" cap="none" normalizeH="0" baseline="0">
                          <a:ln>
                            <a:noFill/>
                          </a:ln>
                          <a:solidFill>
                            <a:schemeClr val="tx1"/>
                          </a:solidFill>
                          <a:effectLst/>
                          <a:latin typeface="Tahoma" pitchFamily="34" charset="0"/>
                          <a:ea typeface="黑体" pitchFamily="49" charset="-122"/>
                        </a:rPr>
                        <a:t>，</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黑体" pitchFamily="49" charset="-122"/>
                        </a:rPr>
                        <a:t>MIPS R10K</a:t>
                      </a:r>
                      <a:r>
                        <a:rPr kumimoji="0" lang="zh-CN" altLang="en-US" sz="2000" b="0" i="0" u="none" strike="noStrike" cap="none" normalizeH="0" baseline="0">
                          <a:ln>
                            <a:noFill/>
                          </a:ln>
                          <a:solidFill>
                            <a:schemeClr val="tx1"/>
                          </a:solidFill>
                          <a:effectLst/>
                          <a:latin typeface="Tahoma" pitchFamily="34" charset="0"/>
                          <a:ea typeface="黑体" pitchFamily="49" charset="-122"/>
                        </a:rPr>
                        <a:t>，</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黑体" pitchFamily="49" charset="-122"/>
                        </a:rPr>
                        <a:t>Alpha 21264</a:t>
                      </a:r>
                      <a:r>
                        <a:rPr kumimoji="0" lang="zh-CN" altLang="en-US" sz="2000" b="0" i="0" u="none" strike="noStrike" cap="none" normalizeH="0" baseline="0">
                          <a:ln>
                            <a:noFill/>
                          </a:ln>
                          <a:solidFill>
                            <a:schemeClr val="tx1"/>
                          </a:solidFill>
                          <a:effectLst/>
                          <a:latin typeface="Tahoma" pitchFamily="34" charset="0"/>
                          <a:ea typeface="黑体" pitchFamily="49" charset="-122"/>
                        </a:rPr>
                        <a:t>， </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黑体" pitchFamily="49" charset="-122"/>
                        </a:rPr>
                        <a:t>HP PA 8500</a:t>
                      </a:r>
                      <a:r>
                        <a:rPr kumimoji="0" lang="zh-CN" altLang="en-US" sz="2000" b="0" i="0" u="none" strike="noStrike" cap="none" normalizeH="0" baseline="0">
                          <a:ln>
                            <a:noFill/>
                          </a:ln>
                          <a:solidFill>
                            <a:schemeClr val="tx1"/>
                          </a:solidFill>
                          <a:effectLst/>
                          <a:latin typeface="Tahoma" pitchFamily="34" charset="0"/>
                          <a:ea typeface="黑体" pitchFamily="49" charset="-122"/>
                        </a:rPr>
                        <a:t>，</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黑体" pitchFamily="49" charset="-122"/>
                        </a:rPr>
                        <a:t>IBM RS64Ⅲ </a:t>
                      </a:r>
                    </a:p>
                  </a:txBody>
                  <a:tcPr marT="45779" marB="4577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65175">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2000" b="0" i="0" u="none" strike="noStrike" cap="none" normalizeH="0" baseline="0">
                          <a:ln>
                            <a:noFill/>
                          </a:ln>
                          <a:solidFill>
                            <a:srgbClr val="008000"/>
                          </a:solidFill>
                          <a:effectLst/>
                          <a:latin typeface="Tahoma" pitchFamily="34" charset="0"/>
                          <a:ea typeface="黑体" pitchFamily="49" charset="-122"/>
                        </a:rPr>
                        <a:t>VLIW</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2000" b="0" i="0" u="none" strike="noStrike" cap="none" normalizeH="0" baseline="0">
                          <a:ln>
                            <a:noFill/>
                          </a:ln>
                          <a:solidFill>
                            <a:srgbClr val="008000"/>
                          </a:solidFill>
                          <a:effectLst/>
                          <a:latin typeface="Tahoma" pitchFamily="34" charset="0"/>
                          <a:ea typeface="黑体" pitchFamily="49" charset="-122"/>
                        </a:rPr>
                        <a:t>/LIW </a:t>
                      </a:r>
                    </a:p>
                  </a:txBody>
                  <a:tcPr marT="45779" marB="4577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静态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软件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静态</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流出包指令之间没有冲突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黑体" pitchFamily="49" charset="-122"/>
                        </a:rPr>
                        <a:t>Trimedia</a:t>
                      </a:r>
                      <a:r>
                        <a:rPr kumimoji="0" lang="zh-CN" altLang="en-US" sz="2000" b="0" i="0" u="none" strike="noStrike" cap="none" normalizeH="0" baseline="0">
                          <a:ln>
                            <a:noFill/>
                          </a:ln>
                          <a:solidFill>
                            <a:schemeClr val="tx1"/>
                          </a:solidFill>
                          <a:effectLst/>
                          <a:latin typeface="Tahoma" pitchFamily="34" charset="0"/>
                          <a:ea typeface="黑体" pitchFamily="49" charset="-122"/>
                        </a:rPr>
                        <a:t>，</a:t>
                      </a:r>
                      <a:r>
                        <a:rPr kumimoji="0" lang="en-US" altLang="zh-CN" sz="2000" b="0" i="0" u="none" strike="noStrike" cap="none" normalizeH="0" baseline="0">
                          <a:ln>
                            <a:noFill/>
                          </a:ln>
                          <a:solidFill>
                            <a:schemeClr val="tx1"/>
                          </a:solidFill>
                          <a:effectLst/>
                          <a:latin typeface="Tahoma" pitchFamily="34" charset="0"/>
                          <a:ea typeface="黑体" pitchFamily="49" charset="-122"/>
                        </a:rPr>
                        <a:t>i860 </a:t>
                      </a:r>
                    </a:p>
                  </a:txBody>
                  <a:tcPr marT="45779" marB="4577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976313">
                <a:tc>
                  <a:txBody>
                    <a:bodyPr/>
                    <a:lstStyle/>
                    <a:p>
                      <a:pPr marL="0" marR="0" lvl="0" indent="0" algn="ctr" defTabSz="914400" rtl="0" eaLnBrk="1" fontAlgn="base" latinLnBrk="0" hangingPunct="1">
                        <a:lnSpc>
                          <a:spcPct val="230000"/>
                        </a:lnSpc>
                        <a:spcBef>
                          <a:spcPct val="20000"/>
                        </a:spcBef>
                        <a:spcAft>
                          <a:spcPct val="0"/>
                        </a:spcAft>
                        <a:buClr>
                          <a:schemeClr val="tx1"/>
                        </a:buClr>
                        <a:buSzTx/>
                        <a:buFont typeface="Wingdings" pitchFamily="2" charset="2"/>
                        <a:buNone/>
                        <a:tabLst/>
                      </a:pPr>
                      <a:r>
                        <a:rPr kumimoji="0" lang="en-US" altLang="zh-CN" sz="2000" b="0" i="0" u="none" strike="noStrike" cap="none" normalizeH="0" baseline="0" dirty="0">
                          <a:ln>
                            <a:noFill/>
                          </a:ln>
                          <a:solidFill>
                            <a:srgbClr val="008000"/>
                          </a:solidFill>
                          <a:effectLst/>
                          <a:latin typeface="Tahoma" pitchFamily="34" charset="0"/>
                          <a:ea typeface="黑体" pitchFamily="49" charset="-122"/>
                        </a:rPr>
                        <a:t>EPIC </a:t>
                      </a:r>
                    </a:p>
                  </a:txBody>
                  <a:tcPr marT="45779" marB="4577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6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主要是</a:t>
                      </a:r>
                    </a:p>
                    <a:p>
                      <a:pPr marL="0" marR="0" lvl="0" indent="0" algn="ctr" defTabSz="914400" rtl="0" eaLnBrk="1" fontAlgn="base" latinLnBrk="0" hangingPunct="1">
                        <a:lnSpc>
                          <a:spcPct val="8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静态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6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主要是</a:t>
                      </a:r>
                    </a:p>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软件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6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主要是</a:t>
                      </a:r>
                    </a:p>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静态</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相关性被编译</a:t>
                      </a:r>
                    </a:p>
                    <a:p>
                      <a:pPr marL="0" marR="0" lvl="0" indent="0" algn="l"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器显式地标记出来 </a:t>
                      </a:r>
                    </a:p>
                  </a:txBody>
                  <a:tcPr marT="45779" marB="457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210000"/>
                        </a:lnSpc>
                        <a:spcBef>
                          <a:spcPct val="20000"/>
                        </a:spcBef>
                        <a:spcAft>
                          <a:spcPct val="0"/>
                        </a:spcAft>
                        <a:buClr>
                          <a:schemeClr val="tx1"/>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黑体" pitchFamily="49" charset="-122"/>
                        </a:rPr>
                        <a:t>Itanium (IA64) </a:t>
                      </a:r>
                    </a:p>
                  </a:txBody>
                  <a:tcPr marT="45779" marB="4577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34415882"/>
      </p:ext>
    </p:extLst>
  </p:cSld>
  <p:clrMapOvr>
    <a:masterClrMapping/>
  </p:clrMapOvr>
  <p:transition>
    <p:pull dir="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a:xfrm>
            <a:off x="468313" y="414338"/>
            <a:ext cx="8229600" cy="1143000"/>
          </a:xfrm>
        </p:spPr>
        <p:txBody>
          <a:bodyPr rtlCol="0">
            <a:normAutofit/>
          </a:bodyPr>
          <a:lstStyle/>
          <a:p>
            <a:pPr eaLnBrk="1" fontAlgn="auto" hangingPunct="1">
              <a:spcAft>
                <a:spcPts val="0"/>
              </a:spcAft>
              <a:defRPr/>
            </a:pPr>
            <a:r>
              <a:rPr lang="en-US" altLang="zh-CN" sz="4000" b="1" dirty="0">
                <a:latin typeface="Times New Roman" panose="02020603050405020304" pitchFamily="18" charset="0"/>
                <a:cs typeface="Times New Roman" panose="02020603050405020304" pitchFamily="18" charset="0"/>
              </a:rPr>
              <a:t>4.4  </a:t>
            </a:r>
            <a:r>
              <a:rPr lang="zh-CN" altLang="en-US" sz="4000" b="1" dirty="0">
                <a:latin typeface="Times New Roman" panose="02020603050405020304" pitchFamily="18" charset="0"/>
                <a:cs typeface="Times New Roman" panose="02020603050405020304" pitchFamily="18" charset="0"/>
              </a:rPr>
              <a:t>多指令流出技术</a:t>
            </a:r>
          </a:p>
        </p:txBody>
      </p:sp>
      <p:sp>
        <p:nvSpPr>
          <p:cNvPr id="24579" name="Rectangle 2"/>
          <p:cNvSpPr>
            <a:spLocks noGrp="1" noChangeArrowheads="1"/>
          </p:cNvSpPr>
          <p:nvPr>
            <p:ph idx="1"/>
          </p:nvPr>
        </p:nvSpPr>
        <p:spPr>
          <a:xfrm>
            <a:off x="827088" y="1773238"/>
            <a:ext cx="7064375" cy="3313112"/>
          </a:xfrm>
        </p:spPr>
        <p:txBody>
          <a:bodyPr/>
          <a:lstStyle/>
          <a:p>
            <a:pPr marL="0" indent="0" eaLnBrk="1" hangingPunct="1">
              <a:spcBef>
                <a:spcPct val="50000"/>
              </a:spcBef>
              <a:buFont typeface="Arial" pitchFamily="34" charset="0"/>
              <a:buNone/>
            </a:pPr>
            <a:r>
              <a:rPr lang="en-US" altLang="zh-CN" sz="2800" b="1" u="sng" dirty="0">
                <a:latin typeface="Times New Roman" pitchFamily="18" charset="0"/>
              </a:rPr>
              <a:t>4.4.1  </a:t>
            </a:r>
            <a:r>
              <a:rPr lang="zh-CN" altLang="en-US" sz="2800" b="1" u="sng" dirty="0">
                <a:latin typeface="Times New Roman" pitchFamily="18" charset="0"/>
              </a:rPr>
              <a:t>静态超标量技术</a:t>
            </a:r>
            <a:endParaRPr lang="en-US" altLang="zh-CN" sz="2800" b="1" u="sng" dirty="0">
              <a:latin typeface="Times New Roman" pitchFamily="18" charset="0"/>
            </a:endParaRPr>
          </a:p>
          <a:p>
            <a:pPr marL="0" indent="0" eaLnBrk="1" hangingPunct="1">
              <a:spcBef>
                <a:spcPct val="50000"/>
              </a:spcBef>
              <a:buFont typeface="Arial" pitchFamily="34" charset="0"/>
              <a:buNone/>
            </a:pPr>
            <a:endParaRPr lang="en-US" altLang="zh-CN" sz="2800" b="1" dirty="0">
              <a:latin typeface="Times New Roman" pitchFamily="18" charset="0"/>
            </a:endParaRPr>
          </a:p>
          <a:p>
            <a:pPr marL="0" indent="0" eaLnBrk="1" hangingPunct="1">
              <a:spcBef>
                <a:spcPct val="50000"/>
              </a:spcBef>
              <a:buFont typeface="Arial" pitchFamily="34" charset="0"/>
              <a:buNone/>
            </a:pPr>
            <a:r>
              <a:rPr lang="en-US" altLang="zh-CN" sz="2800" b="1" dirty="0">
                <a:latin typeface="Times New Roman" pitchFamily="18" charset="0"/>
              </a:rPr>
              <a:t>4.4.2  </a:t>
            </a:r>
            <a:r>
              <a:rPr lang="zh-CN" altLang="en-US" sz="2800" b="1" dirty="0">
                <a:latin typeface="Times New Roman" pitchFamily="18" charset="0"/>
              </a:rPr>
              <a:t>动态多指令流出技术</a:t>
            </a:r>
            <a:endParaRPr lang="en-US" altLang="zh-CN" sz="2800" b="1" dirty="0">
              <a:latin typeface="Times New Roman" pitchFamily="18" charset="0"/>
            </a:endParaRPr>
          </a:p>
          <a:p>
            <a:pPr marL="0" indent="0" eaLnBrk="1" hangingPunct="1">
              <a:spcBef>
                <a:spcPct val="50000"/>
              </a:spcBef>
              <a:buFont typeface="Arial" pitchFamily="34" charset="0"/>
              <a:buNone/>
            </a:pPr>
            <a:endParaRPr lang="en-US" altLang="zh-CN" sz="2800" b="1" dirty="0">
              <a:latin typeface="Times New Roman" pitchFamily="18" charset="0"/>
            </a:endParaRPr>
          </a:p>
          <a:p>
            <a:pPr marL="0" indent="0" eaLnBrk="1" hangingPunct="1">
              <a:spcBef>
                <a:spcPct val="50000"/>
              </a:spcBef>
              <a:buFont typeface="Arial" pitchFamily="34" charset="0"/>
              <a:buNone/>
            </a:pPr>
            <a:r>
              <a:rPr lang="en-US" altLang="zh-CN" sz="2800" b="1" dirty="0">
                <a:latin typeface="Times New Roman" pitchFamily="18" charset="0"/>
              </a:rPr>
              <a:t>4.4.3  </a:t>
            </a:r>
            <a:r>
              <a:rPr lang="zh-CN" altLang="en-US" sz="2800" b="1" dirty="0">
                <a:latin typeface="Times New Roman" pitchFamily="18" charset="0"/>
              </a:rPr>
              <a:t>超长指令字技术</a:t>
            </a:r>
            <a:endParaRPr lang="en-US" altLang="zh-CN" sz="2800" b="1" dirty="0">
              <a:latin typeface="Times New Roman" pitchFamily="18" charset="0"/>
            </a:endParaRPr>
          </a:p>
          <a:p>
            <a:pPr marL="0" indent="0" eaLnBrk="1" hangingPunct="1">
              <a:spcBef>
                <a:spcPct val="50000"/>
              </a:spcBef>
              <a:buFont typeface="Arial" pitchFamily="34" charset="0"/>
              <a:buNone/>
            </a:pPr>
            <a:endParaRPr lang="en-US" altLang="zh-CN" b="1" dirty="0">
              <a:latin typeface="Times New Roman" pitchFamily="18" charset="0"/>
            </a:endParaRPr>
          </a:p>
        </p:txBody>
      </p:sp>
      <p:sp>
        <p:nvSpPr>
          <p:cNvPr id="2" name="日期占位符 1">
            <a:extLst>
              <a:ext uri="{FF2B5EF4-FFF2-40B4-BE49-F238E27FC236}">
                <a16:creationId xmlns:a16="http://schemas.microsoft.com/office/drawing/2014/main" id="{D4BC0C38-C885-9440-2292-F9E50BC41F44}"/>
              </a:ext>
            </a:extLst>
          </p:cNvPr>
          <p:cNvSpPr>
            <a:spLocks noGrp="1"/>
          </p:cNvSpPr>
          <p:nvPr>
            <p:ph type="dt" sz="half" idx="10"/>
          </p:nvPr>
        </p:nvSpPr>
        <p:spPr/>
        <p:txBody>
          <a:bodyPr/>
          <a:lstStyle/>
          <a:p>
            <a:pPr>
              <a:defRPr/>
            </a:pPr>
            <a:fld id="{63F9AFFB-0652-4F81-B088-0B61C6B73A66}"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C9C8B919-1895-66D1-4122-AECF8AA220E3}"/>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B192C25D-07FD-BCE2-6564-4CCE084F2F16}"/>
              </a:ext>
            </a:extLst>
          </p:cNvPr>
          <p:cNvSpPr>
            <a:spLocks noGrp="1"/>
          </p:cNvSpPr>
          <p:nvPr>
            <p:ph type="sldNum" sz="quarter" idx="12"/>
          </p:nvPr>
        </p:nvSpPr>
        <p:spPr/>
        <p:txBody>
          <a:bodyPr/>
          <a:lstStyle/>
          <a:p>
            <a:pPr>
              <a:defRPr/>
            </a:pPr>
            <a:fld id="{8BCAC33D-D29A-48B3-BCD6-381D3D720D26}" type="slidenum">
              <a:rPr lang="zh-CN" altLang="en-US" smtClean="0"/>
              <a:t>57</a:t>
            </a:fld>
            <a:endParaRPr lang="en-US" altLang="zh-CN"/>
          </a:p>
        </p:txBody>
      </p:sp>
    </p:spTree>
    <p:extLst>
      <p:ext uri="{BB962C8B-B14F-4D97-AF65-F5344CB8AC3E}">
        <p14:creationId xmlns:p14="http://schemas.microsoft.com/office/powerpoint/2010/main" val="654240377"/>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8"/>
          <p:cNvSpPr>
            <a:spLocks noGrp="1" noChangeArrowheads="1"/>
          </p:cNvSpPr>
          <p:nvPr>
            <p:ph type="title" idx="4294967295"/>
          </p:nvPr>
        </p:nvSpPr>
        <p:spPr/>
        <p:txBody>
          <a:bodyPr/>
          <a:lstStyle/>
          <a:p>
            <a:pPr eaLnBrk="1" hangingPunct="1"/>
            <a:r>
              <a:rPr lang="en-US" altLang="zh-CN" sz="3600" b="1" dirty="0">
                <a:latin typeface="Times New Roman" panose="02020603050405020304" pitchFamily="18" charset="0"/>
                <a:ea typeface="+mn-ea"/>
                <a:cs typeface="Times New Roman" panose="02020603050405020304" pitchFamily="18" charset="0"/>
              </a:rPr>
              <a:t> </a:t>
            </a:r>
            <a:r>
              <a:rPr lang="zh-CN" altLang="en-US" sz="3600" b="1" dirty="0">
                <a:latin typeface="Times New Roman" panose="02020603050405020304" pitchFamily="18" charset="0"/>
                <a:ea typeface="+mn-ea"/>
                <a:cs typeface="Times New Roman" panose="02020603050405020304" pitchFamily="18" charset="0"/>
              </a:rPr>
              <a:t>超标量技术</a:t>
            </a:r>
          </a:p>
        </p:txBody>
      </p:sp>
      <p:sp>
        <p:nvSpPr>
          <p:cNvPr id="26627" name="Rectangle 9"/>
          <p:cNvSpPr>
            <a:spLocks noGrp="1" noChangeArrowheads="1"/>
          </p:cNvSpPr>
          <p:nvPr>
            <p:ph type="body" idx="4294967295"/>
          </p:nvPr>
        </p:nvSpPr>
        <p:spPr>
          <a:xfrm>
            <a:off x="457200" y="1412776"/>
            <a:ext cx="8229600" cy="4525963"/>
          </a:xfrm>
        </p:spPr>
        <p:txBody>
          <a:bodyPr/>
          <a:lstStyle/>
          <a:p>
            <a:pPr eaLnBrk="1" hangingPunct="1"/>
            <a:r>
              <a:rPr lang="zh-CN" altLang="en-US" sz="2400" b="1" dirty="0">
                <a:latin typeface="Times New Roman" panose="02020603050405020304" pitchFamily="18" charset="0"/>
                <a:cs typeface="Times New Roman" panose="02020603050405020304" pitchFamily="18" charset="0"/>
              </a:rPr>
              <a:t>超标量处理机的原型来自于</a:t>
            </a:r>
            <a:r>
              <a:rPr lang="en-US" altLang="zh-CN" sz="2400" b="1" dirty="0">
                <a:latin typeface="Times New Roman" panose="02020603050405020304" pitchFamily="18" charset="0"/>
                <a:cs typeface="Times New Roman" panose="02020603050405020304" pitchFamily="18" charset="0"/>
              </a:rPr>
              <a:t>IBM</a:t>
            </a:r>
            <a:r>
              <a:rPr lang="zh-CN" altLang="en-US" sz="2400" b="1" dirty="0">
                <a:latin typeface="Times New Roman" panose="02020603050405020304" pitchFamily="18" charset="0"/>
                <a:cs typeface="Times New Roman" panose="02020603050405020304" pitchFamily="18" charset="0"/>
              </a:rPr>
              <a:t>实验室的“</a:t>
            </a:r>
            <a:r>
              <a:rPr lang="en-US" altLang="zh-CN" sz="2400" b="1" dirty="0">
                <a:latin typeface="Times New Roman" panose="02020603050405020304" pitchFamily="18" charset="0"/>
                <a:cs typeface="Times New Roman" panose="02020603050405020304" pitchFamily="18" charset="0"/>
              </a:rPr>
              <a:t>America</a:t>
            </a:r>
            <a:r>
              <a:rPr lang="zh-CN" altLang="en-US" sz="2400" b="1" dirty="0">
                <a:latin typeface="Times New Roman" panose="02020603050405020304" pitchFamily="18" charset="0"/>
                <a:cs typeface="Times New Roman" panose="02020603050405020304" pitchFamily="18" charset="0"/>
              </a:rPr>
              <a:t>”处理器（</a:t>
            </a:r>
            <a:r>
              <a:rPr lang="en-US" altLang="zh-CN" sz="2400" b="1" dirty="0">
                <a:latin typeface="Times New Roman" panose="02020603050405020304" pitchFamily="18" charset="0"/>
                <a:cs typeface="Times New Roman" panose="02020603050405020304" pitchFamily="18" charset="0"/>
              </a:rPr>
              <a:t>John </a:t>
            </a:r>
            <a:r>
              <a:rPr lang="en-US" altLang="zh-CN" sz="2400" b="1" dirty="0" err="1">
                <a:latin typeface="Times New Roman" panose="02020603050405020304" pitchFamily="18" charset="0"/>
                <a:cs typeface="Times New Roman" panose="02020603050405020304" pitchFamily="18" charset="0"/>
              </a:rPr>
              <a:t>Cocke</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1" eaLnBrk="1" hangingPunct="1"/>
            <a:r>
              <a:rPr lang="en-US" altLang="zh-CN" sz="2400" b="1" dirty="0">
                <a:latin typeface="Times New Roman" panose="02020603050405020304" pitchFamily="18" charset="0"/>
                <a:cs typeface="Times New Roman" panose="02020603050405020304" pitchFamily="18" charset="0"/>
              </a:rPr>
              <a:t>RS/6000</a:t>
            </a:r>
            <a:r>
              <a:rPr lang="zh-CN" altLang="en-US" sz="2400" b="1" dirty="0">
                <a:latin typeface="Times New Roman" panose="02020603050405020304" pitchFamily="18" charset="0"/>
                <a:cs typeface="Times New Roman" panose="02020603050405020304" pitchFamily="18" charset="0"/>
              </a:rPr>
              <a:t>第一个采用超标量技术</a:t>
            </a:r>
            <a:endParaRPr lang="en-US" altLang="zh-CN" sz="2400" b="1" dirty="0">
              <a:latin typeface="Times New Roman" panose="02020603050405020304" pitchFamily="18" charset="0"/>
              <a:cs typeface="Times New Roman" panose="02020603050405020304" pitchFamily="18" charset="0"/>
            </a:endParaRPr>
          </a:p>
          <a:p>
            <a:pPr lvl="1" eaLnBrk="1" hangingPunct="1"/>
            <a:r>
              <a:rPr lang="zh-CN" altLang="en-US" sz="2400" b="1" dirty="0">
                <a:latin typeface="Times New Roman" panose="02020603050405020304" pitchFamily="18" charset="0"/>
                <a:cs typeface="Times New Roman" panose="02020603050405020304" pitchFamily="18" charset="0"/>
              </a:rPr>
              <a:t>现在，几乎所有高性能处理器</a:t>
            </a:r>
            <a:endParaRPr lang="en-US" altLang="zh-CN" sz="2400" b="1" dirty="0">
              <a:latin typeface="Times New Roman" panose="02020603050405020304" pitchFamily="18" charset="0"/>
              <a:cs typeface="Times New Roman" panose="02020603050405020304" pitchFamily="18" charset="0"/>
            </a:endParaRPr>
          </a:p>
          <a:p>
            <a:pPr marL="457200" lvl="1" indent="0" eaLnBrk="1" hangingPunct="1">
              <a:buNone/>
            </a:pP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都是用该技术</a:t>
            </a:r>
            <a:endParaRPr lang="en-US" altLang="zh-CN" sz="2400" b="1" dirty="0">
              <a:latin typeface="Times New Roman" panose="02020603050405020304" pitchFamily="18" charset="0"/>
              <a:cs typeface="Times New Roman" panose="02020603050405020304" pitchFamily="18" charset="0"/>
            </a:endParaRPr>
          </a:p>
          <a:p>
            <a:pPr lvl="1" eaLnBrk="1" hangingPunct="1"/>
            <a:endParaRPr lang="en-US" altLang="zh-CN" sz="2400" b="1" dirty="0">
              <a:latin typeface="Times New Roman" panose="02020603050405020304" pitchFamily="18" charset="0"/>
              <a:cs typeface="Times New Roman" panose="02020603050405020304" pitchFamily="18" charset="0"/>
            </a:endParaRPr>
          </a:p>
          <a:p>
            <a:pPr eaLnBrk="1" hangingPunct="1"/>
            <a:r>
              <a:rPr lang="zh-CN" altLang="en-US" sz="2400" b="1" dirty="0">
                <a:latin typeface="Times New Roman" panose="02020603050405020304" pitchFamily="18" charset="0"/>
                <a:cs typeface="Times New Roman" panose="02020603050405020304" pitchFamily="18" charset="0"/>
              </a:rPr>
              <a:t>超标量处理机的硬件支持每个时钟周期发出</a:t>
            </a:r>
            <a:r>
              <a:rPr lang="en-US" altLang="zh-CN" sz="2400" b="1" dirty="0">
                <a:latin typeface="Times New Roman" panose="02020603050405020304" pitchFamily="18" charset="0"/>
                <a:cs typeface="Times New Roman" panose="02020603050405020304" pitchFamily="18" charset="0"/>
              </a:rPr>
              <a:t>1-8</a:t>
            </a:r>
            <a:r>
              <a:rPr lang="zh-CN" altLang="en-US" sz="2400" b="1" dirty="0">
                <a:latin typeface="Times New Roman" panose="02020603050405020304" pitchFamily="18" charset="0"/>
                <a:cs typeface="Times New Roman" panose="02020603050405020304" pitchFamily="18" charset="0"/>
              </a:rPr>
              <a:t>条不存在相关的指令</a:t>
            </a:r>
          </a:p>
          <a:p>
            <a:pPr lvl="1" eaLnBrk="1" hangingPunct="1"/>
            <a:r>
              <a:rPr lang="zh-CN" altLang="en-US" sz="2400" b="1" dirty="0">
                <a:latin typeface="Times New Roman" panose="02020603050405020304" pitchFamily="18" charset="0"/>
                <a:cs typeface="Times New Roman" panose="02020603050405020304" pitchFamily="18" charset="0"/>
              </a:rPr>
              <a:t>如果指令流中的指令相关或不满足限制条件，则只能流出这条指令前面的指令，因此超标量处理器流出的指令数是不定的</a:t>
            </a:r>
          </a:p>
          <a:p>
            <a:pPr marL="0" indent="0" eaLnBrk="1" hangingPunct="1">
              <a:buNone/>
            </a:pPr>
            <a:endParaRPr lang="en-US" altLang="zh-CN" sz="2400" b="1" dirty="0">
              <a:latin typeface="Times New Roman" panose="02020603050405020304" pitchFamily="18" charset="0"/>
              <a:cs typeface="Times New Roman" panose="02020603050405020304" pitchFamily="18" charset="0"/>
            </a:endParaRPr>
          </a:p>
        </p:txBody>
      </p:sp>
      <p:pic>
        <p:nvPicPr>
          <p:cNvPr id="86018" name="Picture 2" descr="C:\Users\think\Desktop\c9fcc3cec3fdfc03fcc188fdd43f8794a4c2263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0192" y="1844824"/>
            <a:ext cx="1656184" cy="1944216"/>
          </a:xfrm>
          <a:prstGeom prst="rect">
            <a:avLst/>
          </a:prstGeom>
          <a:noFill/>
          <a:extLst>
            <a:ext uri="{909E8E84-426E-40DD-AFC4-6F175D3DCCD1}">
              <a14:hiddenFill xmlns:a14="http://schemas.microsoft.com/office/drawing/2010/main">
                <a:solidFill>
                  <a:srgbClr val="FFFFFF"/>
                </a:solidFill>
              </a14:hiddenFill>
            </a:ext>
          </a:extLst>
        </p:spPr>
      </p:pic>
      <p:sp>
        <p:nvSpPr>
          <p:cNvPr id="2" name="日期占位符 1">
            <a:extLst>
              <a:ext uri="{FF2B5EF4-FFF2-40B4-BE49-F238E27FC236}">
                <a16:creationId xmlns:a16="http://schemas.microsoft.com/office/drawing/2014/main" id="{96860AA0-BB9D-B6B2-951A-48BEDE249424}"/>
              </a:ext>
            </a:extLst>
          </p:cNvPr>
          <p:cNvSpPr>
            <a:spLocks noGrp="1"/>
          </p:cNvSpPr>
          <p:nvPr>
            <p:ph type="dt" sz="half" idx="10"/>
          </p:nvPr>
        </p:nvSpPr>
        <p:spPr/>
        <p:txBody>
          <a:bodyPr/>
          <a:lstStyle/>
          <a:p>
            <a:pPr>
              <a:defRPr/>
            </a:pPr>
            <a:fld id="{7A742213-C8D7-47F6-98D5-672DE1AF2ECC}"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FDDA1EF7-CCFE-AFC9-75F0-4000592A11A9}"/>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67EC614B-AECC-4D38-CA5A-CC59249819F3}"/>
              </a:ext>
            </a:extLst>
          </p:cNvPr>
          <p:cNvSpPr>
            <a:spLocks noGrp="1"/>
          </p:cNvSpPr>
          <p:nvPr>
            <p:ph type="sldNum" sz="quarter" idx="12"/>
          </p:nvPr>
        </p:nvSpPr>
        <p:spPr/>
        <p:txBody>
          <a:bodyPr/>
          <a:lstStyle/>
          <a:p>
            <a:pPr>
              <a:defRPr/>
            </a:pPr>
            <a:fld id="{A5AE633C-541A-4E3F-A22A-3C4C63E8EF5F}" type="slidenum">
              <a:rPr lang="zh-CN" altLang="en-US" smtClean="0"/>
              <a:t>58</a:t>
            </a:fld>
            <a:endParaRPr lang="en-US" altLang="zh-CN"/>
          </a:p>
        </p:txBody>
      </p:sp>
    </p:spTree>
    <p:extLst>
      <p:ext uri="{BB962C8B-B14F-4D97-AF65-F5344CB8AC3E}">
        <p14:creationId xmlns:p14="http://schemas.microsoft.com/office/powerpoint/2010/main" val="3990681539"/>
      </p:ext>
    </p:extLst>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Grp="1" noChangeArrowheads="1"/>
          </p:cNvSpPr>
          <p:nvPr>
            <p:ph type="title" idx="4294967295"/>
          </p:nvPr>
        </p:nvSpPr>
        <p:spPr/>
        <p:txBody>
          <a:bodyPr/>
          <a:lstStyle/>
          <a:p>
            <a:pPr eaLnBrk="1" hangingPunct="1"/>
            <a:r>
              <a:rPr lang="en-US" altLang="zh-CN" sz="3600" b="1" dirty="0">
                <a:latin typeface="Times New Roman" panose="02020603050405020304" pitchFamily="18" charset="0"/>
                <a:cs typeface="Times New Roman" panose="02020603050405020304" pitchFamily="18" charset="0"/>
              </a:rPr>
              <a:t>4.4.1 </a:t>
            </a:r>
            <a:r>
              <a:rPr lang="zh-CN" altLang="en-US" sz="3600" b="1" dirty="0">
                <a:latin typeface="Times New Roman" panose="02020603050405020304" pitchFamily="18" charset="0"/>
                <a:cs typeface="Times New Roman" panose="02020603050405020304" pitchFamily="18" charset="0"/>
              </a:rPr>
              <a:t>静态超标量技术</a:t>
            </a:r>
            <a:endParaRPr lang="zh-CN" altLang="en-US" sz="3600" b="1" dirty="0">
              <a:latin typeface="+mn-ea"/>
              <a:ea typeface="+mn-ea"/>
            </a:endParaRPr>
          </a:p>
        </p:txBody>
      </p:sp>
      <p:sp>
        <p:nvSpPr>
          <p:cNvPr id="27651" name="Rectangle 5"/>
          <p:cNvSpPr>
            <a:spLocks noGrp="1" noChangeArrowheads="1"/>
          </p:cNvSpPr>
          <p:nvPr>
            <p:ph type="body" idx="4294967295"/>
          </p:nvPr>
        </p:nvSpPr>
        <p:spPr/>
        <p:txBody>
          <a:bodyPr/>
          <a:lstStyle/>
          <a:p>
            <a:pPr eaLnBrk="1" hangingPunct="1">
              <a:lnSpc>
                <a:spcPct val="150000"/>
              </a:lnSpc>
            </a:pPr>
            <a:r>
              <a:rPr lang="zh-CN" altLang="en-US" sz="2400" b="1" dirty="0">
                <a:latin typeface="Times New Roman" panose="02020603050405020304" pitchFamily="18" charset="0"/>
                <a:cs typeface="Times New Roman" panose="02020603050405020304" pitchFamily="18" charset="0"/>
              </a:rPr>
              <a:t>假设有这样一个简单的超标量处理器，每个时钟周期它可以流出两条指令</a:t>
            </a:r>
            <a:endParaRPr lang="en-US" altLang="zh-CN" sz="2400" b="1" dirty="0">
              <a:latin typeface="Times New Roman" panose="02020603050405020304" pitchFamily="18" charset="0"/>
              <a:cs typeface="Times New Roman" panose="02020603050405020304" pitchFamily="18" charset="0"/>
            </a:endParaRPr>
          </a:p>
          <a:p>
            <a:pPr lvl="1" eaLnBrk="1" hangingPunct="1">
              <a:lnSpc>
                <a:spcPct val="150000"/>
              </a:lnSpc>
            </a:pPr>
            <a:r>
              <a:rPr lang="zh-CN" altLang="en-US" sz="2400" b="1" dirty="0">
                <a:latin typeface="Times New Roman" panose="02020603050405020304" pitchFamily="18" charset="0"/>
                <a:cs typeface="Times New Roman" panose="02020603050405020304" pitchFamily="18" charset="0"/>
              </a:rPr>
              <a:t>一条指令可以是取指令、存指令、分支指令或整数运算操作</a:t>
            </a:r>
            <a:endParaRPr lang="en-US" altLang="zh-CN" sz="2400" b="1" dirty="0">
              <a:latin typeface="Times New Roman" panose="02020603050405020304" pitchFamily="18" charset="0"/>
              <a:cs typeface="Times New Roman" panose="02020603050405020304" pitchFamily="18" charset="0"/>
            </a:endParaRPr>
          </a:p>
          <a:p>
            <a:pPr lvl="1" eaLnBrk="1" hangingPunct="1">
              <a:lnSpc>
                <a:spcPct val="150000"/>
              </a:lnSpc>
            </a:pPr>
            <a:r>
              <a:rPr lang="zh-CN" altLang="en-US" sz="2400" b="1" dirty="0">
                <a:latin typeface="Times New Roman" panose="02020603050405020304" pitchFamily="18" charset="0"/>
                <a:cs typeface="Times New Roman" panose="02020603050405020304" pitchFamily="18" charset="0"/>
              </a:rPr>
              <a:t>另一条指令可以是任意的浮点操作</a:t>
            </a:r>
            <a:endParaRPr lang="en-US" altLang="zh-CN" sz="2400" b="1" dirty="0">
              <a:latin typeface="Times New Roman" panose="02020603050405020304" pitchFamily="18" charset="0"/>
              <a:cs typeface="Times New Roman" panose="02020603050405020304" pitchFamily="18" charset="0"/>
            </a:endParaRPr>
          </a:p>
          <a:p>
            <a:pPr lvl="1" eaLnBrk="1" hangingPunct="1">
              <a:lnSpc>
                <a:spcPct val="150000"/>
              </a:lnSpc>
            </a:pPr>
            <a:r>
              <a:rPr lang="zh-CN" altLang="en-US" sz="2400" b="1" dirty="0">
                <a:latin typeface="Times New Roman" panose="02020603050405020304" pitchFamily="18" charset="0"/>
                <a:cs typeface="Times New Roman" panose="02020603050405020304" pitchFamily="18" charset="0"/>
              </a:rPr>
              <a:t>这种配置与</a:t>
            </a:r>
            <a:r>
              <a:rPr lang="en-US" altLang="zh-CN" sz="2400" b="1" dirty="0">
                <a:latin typeface="Times New Roman" panose="02020603050405020304" pitchFamily="18" charset="0"/>
                <a:cs typeface="Times New Roman" panose="02020603050405020304" pitchFamily="18" charset="0"/>
              </a:rPr>
              <a:t>HP 7100</a:t>
            </a:r>
            <a:r>
              <a:rPr lang="zh-CN" altLang="en-US" sz="2400" b="1" dirty="0">
                <a:latin typeface="Times New Roman" panose="02020603050405020304" pitchFamily="18" charset="0"/>
                <a:cs typeface="Times New Roman" panose="02020603050405020304" pitchFamily="18" charset="0"/>
              </a:rPr>
              <a:t>结构类似</a:t>
            </a:r>
          </a:p>
        </p:txBody>
      </p:sp>
      <p:sp>
        <p:nvSpPr>
          <p:cNvPr id="2" name="日期占位符 1">
            <a:extLst>
              <a:ext uri="{FF2B5EF4-FFF2-40B4-BE49-F238E27FC236}">
                <a16:creationId xmlns:a16="http://schemas.microsoft.com/office/drawing/2014/main" id="{D5650FD3-F84B-7405-6A33-F21494288B96}"/>
              </a:ext>
            </a:extLst>
          </p:cNvPr>
          <p:cNvSpPr>
            <a:spLocks noGrp="1"/>
          </p:cNvSpPr>
          <p:nvPr>
            <p:ph type="dt" sz="half" idx="10"/>
          </p:nvPr>
        </p:nvSpPr>
        <p:spPr/>
        <p:txBody>
          <a:bodyPr/>
          <a:lstStyle/>
          <a:p>
            <a:pPr>
              <a:defRPr/>
            </a:pPr>
            <a:fld id="{8D6DE605-EC05-44A3-A7D4-A585FCF6685D}"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209D8C6E-7784-B25A-0DD8-E7B432CFA5F1}"/>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7A412D7F-9F14-201D-6D2D-A701D0ACB509}"/>
              </a:ext>
            </a:extLst>
          </p:cNvPr>
          <p:cNvSpPr>
            <a:spLocks noGrp="1"/>
          </p:cNvSpPr>
          <p:nvPr>
            <p:ph type="sldNum" sz="quarter" idx="12"/>
          </p:nvPr>
        </p:nvSpPr>
        <p:spPr/>
        <p:txBody>
          <a:bodyPr/>
          <a:lstStyle/>
          <a:p>
            <a:pPr>
              <a:defRPr/>
            </a:pPr>
            <a:fld id="{A5AE633C-541A-4E3F-A22A-3C4C63E8EF5F}" type="slidenum">
              <a:rPr lang="zh-CN" altLang="en-US" smtClean="0"/>
              <a:t>59</a:t>
            </a:fld>
            <a:endParaRPr lang="en-US" altLang="zh-CN"/>
          </a:p>
        </p:txBody>
      </p:sp>
    </p:spTree>
    <p:extLst>
      <p:ext uri="{BB962C8B-B14F-4D97-AF65-F5344CB8AC3E}">
        <p14:creationId xmlns:p14="http://schemas.microsoft.com/office/powerpoint/2010/main" val="2030709819"/>
      </p:ext>
    </p:extLst>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6"/>
          <p:cNvSpPr>
            <a:spLocks noGrp="1" noChangeArrowheads="1"/>
          </p:cNvSpPr>
          <p:nvPr>
            <p:ph type="title" idx="4294967295"/>
          </p:nvPr>
        </p:nvSpPr>
        <p:spPr>
          <a:xfrm>
            <a:off x="457200" y="116632"/>
            <a:ext cx="8229600" cy="1143000"/>
          </a:xfrm>
        </p:spPr>
        <p:txBody>
          <a:bodyPr/>
          <a:lstStyle/>
          <a:p>
            <a:pPr eaLnBrk="1" hangingPunct="1"/>
            <a:r>
              <a:rPr lang="zh-CN" altLang="en-US" sz="3600" b="1" dirty="0">
                <a:latin typeface="+mn-ea"/>
                <a:ea typeface="+mn-ea"/>
                <a:cs typeface="Times New Roman" panose="02020603050405020304" pitchFamily="18" charset="0"/>
              </a:rPr>
              <a:t>超标量处理机的理想执行情况</a:t>
            </a:r>
          </a:p>
        </p:txBody>
      </p:sp>
      <p:graphicFrame>
        <p:nvGraphicFramePr>
          <p:cNvPr id="28675" name="Object 7"/>
          <p:cNvGraphicFramePr>
            <a:graphicFrameLocks noGrp="1" noChangeAspect="1"/>
          </p:cNvGraphicFramePr>
          <p:nvPr>
            <p:ph idx="4294967295"/>
          </p:nvPr>
        </p:nvGraphicFramePr>
        <p:xfrm>
          <a:off x="463550" y="1412875"/>
          <a:ext cx="8205788" cy="5126038"/>
        </p:xfrm>
        <a:graphic>
          <a:graphicData uri="http://schemas.openxmlformats.org/presentationml/2006/ole">
            <mc:AlternateContent xmlns:mc="http://schemas.openxmlformats.org/markup-compatibility/2006">
              <mc:Choice xmlns:v="urn:schemas-microsoft-com:vml" Requires="v">
                <p:oleObj name="Document" r:id="rId2" imgW="8313238" imgH="5200922" progId="Word.Document.8">
                  <p:embed/>
                </p:oleObj>
              </mc:Choice>
              <mc:Fallback>
                <p:oleObj name="Document" r:id="rId2" imgW="8313238" imgH="5200922" progId="Word.Document.8">
                  <p:embed/>
                  <p:pic>
                    <p:nvPicPr>
                      <p:cNvPr id="28675" name="Object 7"/>
                      <p:cNvPicPr>
                        <a:picLocks noChangeAspect="1" noChangeArrowheads="1"/>
                      </p:cNvPicPr>
                      <p:nvPr/>
                    </p:nvPicPr>
                    <p:blipFill>
                      <a:blip r:embed="rId3"/>
                      <a:srcRect/>
                      <a:stretch>
                        <a:fillRect/>
                      </a:stretch>
                    </p:blipFill>
                    <p:spPr bwMode="auto">
                      <a:xfrm>
                        <a:off x="463550" y="1412875"/>
                        <a:ext cx="8205788" cy="512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日期占位符 1">
            <a:extLst>
              <a:ext uri="{FF2B5EF4-FFF2-40B4-BE49-F238E27FC236}">
                <a16:creationId xmlns:a16="http://schemas.microsoft.com/office/drawing/2014/main" id="{EF25FC75-DF80-734B-0538-197B6703520B}"/>
              </a:ext>
            </a:extLst>
          </p:cNvPr>
          <p:cNvSpPr>
            <a:spLocks noGrp="1"/>
          </p:cNvSpPr>
          <p:nvPr>
            <p:ph type="dt" sz="half" idx="10"/>
          </p:nvPr>
        </p:nvSpPr>
        <p:spPr/>
        <p:txBody>
          <a:bodyPr/>
          <a:lstStyle/>
          <a:p>
            <a:pPr>
              <a:defRPr/>
            </a:pPr>
            <a:fld id="{9C4C5FE2-4F4D-4CFB-97FF-48BFB949CE62}"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94633A77-034F-8D6A-80CB-A4AF8699DF2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07F76765-7A13-CCCF-0A22-D3239C859268}"/>
              </a:ext>
            </a:extLst>
          </p:cNvPr>
          <p:cNvSpPr>
            <a:spLocks noGrp="1"/>
          </p:cNvSpPr>
          <p:nvPr>
            <p:ph type="sldNum" sz="quarter" idx="12"/>
          </p:nvPr>
        </p:nvSpPr>
        <p:spPr/>
        <p:txBody>
          <a:bodyPr/>
          <a:lstStyle/>
          <a:p>
            <a:pPr>
              <a:defRPr/>
            </a:pPr>
            <a:fld id="{A5AE633C-541A-4E3F-A22A-3C4C63E8EF5F}" type="slidenum">
              <a:rPr lang="zh-CN" altLang="en-US" smtClean="0"/>
              <a:t>60</a:t>
            </a:fld>
            <a:endParaRPr lang="en-US" altLang="zh-CN"/>
          </a:p>
        </p:txBody>
      </p:sp>
    </p:spTree>
    <p:extLst>
      <p:ext uri="{BB962C8B-B14F-4D97-AF65-F5344CB8AC3E}">
        <p14:creationId xmlns:p14="http://schemas.microsoft.com/office/powerpoint/2010/main" val="1252481220"/>
      </p:ext>
    </p:extLst>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Grp="1" noChangeArrowheads="1"/>
          </p:cNvSpPr>
          <p:nvPr>
            <p:ph type="title" idx="4294967295"/>
          </p:nvPr>
        </p:nvSpPr>
        <p:spPr/>
        <p:txBody>
          <a:bodyPr/>
          <a:lstStyle/>
          <a:p>
            <a:pPr eaLnBrk="1" hangingPunct="1"/>
            <a:r>
              <a:rPr lang="zh-CN" altLang="en-US" sz="3600" b="1" dirty="0">
                <a:latin typeface="+mn-ea"/>
                <a:ea typeface="+mn-ea"/>
              </a:rPr>
              <a:t>超标量处理机的技术问题</a:t>
            </a:r>
          </a:p>
        </p:txBody>
      </p:sp>
      <p:sp>
        <p:nvSpPr>
          <p:cNvPr id="29699" name="Rectangle 5"/>
          <p:cNvSpPr>
            <a:spLocks noGrp="1" noChangeArrowheads="1"/>
          </p:cNvSpPr>
          <p:nvPr>
            <p:ph type="body" idx="4294967295"/>
          </p:nvPr>
        </p:nvSpPr>
        <p:spPr>
          <a:xfrm>
            <a:off x="457200" y="1397090"/>
            <a:ext cx="8229600" cy="5056246"/>
          </a:xfrm>
        </p:spPr>
        <p:txBody>
          <a:bodyPr/>
          <a:lstStyle/>
          <a:p>
            <a:pPr eaLnBrk="1" hangingPunct="1"/>
            <a:r>
              <a:rPr lang="zh-CN" altLang="en-US" sz="2400" b="1" dirty="0">
                <a:latin typeface="Times New Roman" panose="02020603050405020304" pitchFamily="18" charset="0"/>
                <a:cs typeface="Times New Roman" panose="02020603050405020304" pitchFamily="18" charset="0"/>
              </a:rPr>
              <a:t>每个时钟周期流出两条指令意味着同时取两条指令（</a:t>
            </a:r>
            <a:r>
              <a:rPr lang="en-US" altLang="zh-CN" sz="2400" b="1" dirty="0">
                <a:latin typeface="Times New Roman" panose="02020603050405020304" pitchFamily="18" charset="0"/>
                <a:cs typeface="Times New Roman" panose="02020603050405020304" pitchFamily="18" charset="0"/>
              </a:rPr>
              <a:t>64</a:t>
            </a:r>
            <a:r>
              <a:rPr lang="zh-CN" altLang="en-US" sz="2400" b="1" dirty="0">
                <a:latin typeface="Times New Roman" panose="02020603050405020304" pitchFamily="18" charset="0"/>
                <a:cs typeface="Times New Roman" panose="02020603050405020304" pitchFamily="18" charset="0"/>
              </a:rPr>
              <a:t>位），译码两条指令（</a:t>
            </a:r>
            <a:r>
              <a:rPr lang="en-US" altLang="zh-CN" sz="2400" b="1" dirty="0">
                <a:latin typeface="Times New Roman" panose="02020603050405020304" pitchFamily="18" charset="0"/>
                <a:cs typeface="Times New Roman" panose="02020603050405020304" pitchFamily="18" charset="0"/>
              </a:rPr>
              <a:t>64</a:t>
            </a:r>
            <a:r>
              <a:rPr lang="zh-CN" altLang="en-US" sz="2400" b="1" dirty="0">
                <a:latin typeface="Times New Roman" panose="02020603050405020304" pitchFamily="18" charset="0"/>
                <a:cs typeface="Times New Roman" panose="02020603050405020304" pitchFamily="18" charset="0"/>
              </a:rPr>
              <a:t>位）</a:t>
            </a:r>
            <a:endParaRPr lang="en-US" altLang="zh-CN" sz="2400" b="1" dirty="0">
              <a:latin typeface="Times New Roman" panose="02020603050405020304" pitchFamily="18" charset="0"/>
              <a:cs typeface="Times New Roman" panose="02020603050405020304" pitchFamily="18" charset="0"/>
            </a:endParaRPr>
          </a:p>
          <a:p>
            <a:pPr lvl="1" eaLnBrk="1" hangingPunct="1"/>
            <a:r>
              <a:rPr lang="zh-CN" altLang="en-US" sz="2400" b="1" dirty="0">
                <a:latin typeface="Times New Roman" panose="02020603050405020304" pitchFamily="18" charset="0"/>
                <a:cs typeface="Times New Roman" panose="02020603050405020304" pitchFamily="18" charset="0"/>
              </a:rPr>
              <a:t>假设：指令按要求组合成对，且与 </a:t>
            </a:r>
            <a:r>
              <a:rPr lang="en-US" altLang="zh-CN" sz="2400" b="1" dirty="0">
                <a:latin typeface="Times New Roman" panose="02020603050405020304" pitchFamily="18" charset="0"/>
                <a:cs typeface="Times New Roman" panose="02020603050405020304" pitchFamily="18" charset="0"/>
              </a:rPr>
              <a:t>64</a:t>
            </a:r>
            <a:r>
              <a:rPr lang="zh-CN" altLang="en-US" sz="2400" b="1" dirty="0">
                <a:latin typeface="Times New Roman" panose="02020603050405020304" pitchFamily="18" charset="0"/>
                <a:cs typeface="Times New Roman" panose="02020603050405020304" pitchFamily="18" charset="0"/>
              </a:rPr>
              <a:t>位边界对齐，整数指令顺序在前</a:t>
            </a:r>
            <a:endParaRPr lang="en-US" altLang="zh-CN" sz="2400" b="1" dirty="0">
              <a:latin typeface="Times New Roman" panose="02020603050405020304" pitchFamily="18" charset="0"/>
              <a:cs typeface="Times New Roman" panose="02020603050405020304" pitchFamily="18" charset="0"/>
            </a:endParaRPr>
          </a:p>
          <a:p>
            <a:pPr lvl="1" eaLnBrk="1" hangingPunct="1"/>
            <a:r>
              <a:rPr lang="zh-CN" altLang="en-US" sz="2400" b="1" dirty="0">
                <a:latin typeface="Times New Roman" panose="02020603050405020304" pitchFamily="18" charset="0"/>
                <a:cs typeface="Times New Roman" panose="02020603050405020304" pitchFamily="18" charset="0"/>
              </a:rPr>
              <a:t>需要使得浮点部件流水化或增加相关检测部件来减少结构相关</a:t>
            </a:r>
          </a:p>
          <a:p>
            <a:pPr eaLnBrk="1" hangingPunct="1"/>
            <a:r>
              <a:rPr lang="zh-CN" altLang="en-US" sz="2400" b="1" dirty="0">
                <a:latin typeface="Times New Roman" panose="02020603050405020304" pitchFamily="18" charset="0"/>
                <a:cs typeface="Times New Roman" panose="02020603050405020304" pitchFamily="18" charset="0"/>
              </a:rPr>
              <a:t>另一个限制超标量流水线性能发挥的障碍是</a:t>
            </a:r>
            <a:r>
              <a:rPr lang="zh-CN" altLang="en-US" sz="2400" b="1" dirty="0">
                <a:solidFill>
                  <a:srgbClr val="C00000"/>
                </a:solidFill>
                <a:latin typeface="Times New Roman" panose="02020603050405020304" pitchFamily="18" charset="0"/>
                <a:cs typeface="Times New Roman" panose="02020603050405020304" pitchFamily="18" charset="0"/>
              </a:rPr>
              <a:t>取操作</a:t>
            </a:r>
            <a:r>
              <a:rPr lang="zh-CN" altLang="en-US" sz="2400" b="1" dirty="0">
                <a:latin typeface="Times New Roman" panose="02020603050405020304" pitchFamily="18" charset="0"/>
                <a:cs typeface="Times New Roman" panose="02020603050405020304" pitchFamily="18" charset="0"/>
              </a:rPr>
              <a:t>和</a:t>
            </a:r>
            <a:r>
              <a:rPr lang="zh-CN" altLang="en-US" sz="2400" b="1" dirty="0">
                <a:solidFill>
                  <a:srgbClr val="C00000"/>
                </a:solidFill>
                <a:latin typeface="Times New Roman" panose="02020603050405020304" pitchFamily="18" charset="0"/>
                <a:cs typeface="Times New Roman" panose="02020603050405020304" pitchFamily="18" charset="0"/>
              </a:rPr>
              <a:t>分支操作</a:t>
            </a:r>
            <a:r>
              <a:rPr lang="zh-CN" altLang="en-US" sz="2400" b="1" dirty="0">
                <a:latin typeface="Times New Roman" panose="02020603050405020304" pitchFamily="18" charset="0"/>
                <a:cs typeface="Times New Roman" panose="02020603050405020304" pitchFamily="18" charset="0"/>
              </a:rPr>
              <a:t>的延迟</a:t>
            </a:r>
          </a:p>
          <a:p>
            <a:pPr lvl="1" eaLnBrk="1" hangingPunct="1"/>
            <a:r>
              <a:rPr lang="zh-CN" altLang="en-US" sz="2400" b="1" dirty="0">
                <a:solidFill>
                  <a:srgbClr val="C00000"/>
                </a:solidFill>
                <a:latin typeface="Times New Roman" panose="02020603050405020304" pitchFamily="18" charset="0"/>
                <a:cs typeface="Times New Roman" panose="02020603050405020304" pitchFamily="18" charset="0"/>
              </a:rPr>
              <a:t>取操作指令的结果不能在本周期和下一个周期使用</a:t>
            </a:r>
            <a:endParaRPr lang="en-US" altLang="zh-CN" sz="2400" b="1" dirty="0">
              <a:solidFill>
                <a:srgbClr val="C00000"/>
              </a:solidFill>
              <a:latin typeface="Times New Roman" panose="02020603050405020304" pitchFamily="18" charset="0"/>
              <a:cs typeface="Times New Roman" panose="02020603050405020304" pitchFamily="18" charset="0"/>
            </a:endParaRPr>
          </a:p>
          <a:p>
            <a:pPr lvl="1" eaLnBrk="1" hangingPunct="1"/>
            <a:r>
              <a:rPr lang="zh-CN" altLang="en-US" sz="2400" b="1" dirty="0">
                <a:latin typeface="Times New Roman" panose="02020603050405020304" pitchFamily="18" charset="0"/>
                <a:cs typeface="Times New Roman" panose="02020603050405020304" pitchFamily="18" charset="0"/>
              </a:rPr>
              <a:t>分支指令肯定是指令组合的第一条指令，影响配对指令和后续两条指令，分支延迟也变为</a:t>
            </a:r>
            <a:r>
              <a:rPr lang="en-US" altLang="zh-CN" sz="2400" b="1" dirty="0">
                <a:latin typeface="Times New Roman" panose="02020603050405020304" pitchFamily="18" charset="0"/>
                <a:cs typeface="Times New Roman" panose="02020603050405020304" pitchFamily="18" charset="0"/>
              </a:rPr>
              <a:t>3</a:t>
            </a:r>
            <a:r>
              <a:rPr lang="zh-CN" altLang="en-US" sz="2400" b="1" dirty="0">
                <a:latin typeface="Times New Roman" panose="02020603050405020304" pitchFamily="18" charset="0"/>
                <a:cs typeface="Times New Roman" panose="02020603050405020304" pitchFamily="18" charset="0"/>
              </a:rPr>
              <a:t>条指令</a:t>
            </a:r>
          </a:p>
        </p:txBody>
      </p:sp>
      <p:sp>
        <p:nvSpPr>
          <p:cNvPr id="2" name="日期占位符 1">
            <a:extLst>
              <a:ext uri="{FF2B5EF4-FFF2-40B4-BE49-F238E27FC236}">
                <a16:creationId xmlns:a16="http://schemas.microsoft.com/office/drawing/2014/main" id="{10C69CD4-9B27-115C-51E6-5AABF0AC9C72}"/>
              </a:ext>
            </a:extLst>
          </p:cNvPr>
          <p:cNvSpPr>
            <a:spLocks noGrp="1"/>
          </p:cNvSpPr>
          <p:nvPr>
            <p:ph type="dt" sz="half" idx="10"/>
          </p:nvPr>
        </p:nvSpPr>
        <p:spPr/>
        <p:txBody>
          <a:bodyPr/>
          <a:lstStyle/>
          <a:p>
            <a:pPr>
              <a:defRPr/>
            </a:pPr>
            <a:fld id="{E14B8B95-EFDB-444F-9333-F98556EC4D31}"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217B2E8E-93BF-9B07-C783-767659AA052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22B10BA8-52F8-D6FD-5537-E17B61437B94}"/>
              </a:ext>
            </a:extLst>
          </p:cNvPr>
          <p:cNvSpPr>
            <a:spLocks noGrp="1"/>
          </p:cNvSpPr>
          <p:nvPr>
            <p:ph type="sldNum" sz="quarter" idx="12"/>
          </p:nvPr>
        </p:nvSpPr>
        <p:spPr/>
        <p:txBody>
          <a:bodyPr/>
          <a:lstStyle/>
          <a:p>
            <a:pPr>
              <a:defRPr/>
            </a:pPr>
            <a:fld id="{A5AE633C-541A-4E3F-A22A-3C4C63E8EF5F}" type="slidenum">
              <a:rPr lang="zh-CN" altLang="en-US" smtClean="0"/>
              <a:t>61</a:t>
            </a:fld>
            <a:endParaRPr lang="en-US" altLang="zh-CN"/>
          </a:p>
        </p:txBody>
      </p:sp>
    </p:spTree>
    <p:extLst>
      <p:ext uri="{BB962C8B-B14F-4D97-AF65-F5344CB8AC3E}">
        <p14:creationId xmlns:p14="http://schemas.microsoft.com/office/powerpoint/2010/main" val="4173079080"/>
      </p:ext>
    </p:extLst>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idx="4294967295"/>
          </p:nvPr>
        </p:nvSpPr>
        <p:spPr/>
        <p:txBody>
          <a:bodyPr/>
          <a:lstStyle/>
          <a:p>
            <a:pPr eaLnBrk="1" hangingPunct="1"/>
            <a:r>
              <a:rPr lang="zh-CN" altLang="en-US" sz="3600" b="1" dirty="0">
                <a:latin typeface="+mn-ea"/>
                <a:ea typeface="+mn-ea"/>
              </a:rPr>
              <a:t>超标量：例子</a:t>
            </a:r>
          </a:p>
        </p:txBody>
      </p:sp>
      <p:sp>
        <p:nvSpPr>
          <p:cNvPr id="30723" name="内容占位符 2"/>
          <p:cNvSpPr>
            <a:spLocks noGrp="1"/>
          </p:cNvSpPr>
          <p:nvPr>
            <p:ph idx="4294967295"/>
          </p:nvPr>
        </p:nvSpPr>
        <p:spPr>
          <a:xfrm>
            <a:off x="467544" y="1556792"/>
            <a:ext cx="8229600" cy="4525963"/>
          </a:xfrm>
        </p:spPr>
        <p:txBody>
          <a:bodyPr/>
          <a:lstStyle/>
          <a:p>
            <a:pPr eaLnBrk="1" hangingPunct="1"/>
            <a:r>
              <a:rPr lang="zh-CN" altLang="en-US" sz="2400" b="1" dirty="0">
                <a:latin typeface="Times New Roman" panose="02020603050405020304" pitchFamily="18" charset="0"/>
                <a:cs typeface="Times New Roman" panose="02020603050405020304" pitchFamily="18" charset="0"/>
              </a:rPr>
              <a:t>为了能有效利用超标量处理器的可获得的并行度，需要采用更有效的编译技术、硬件调度技术和更复杂的指令译码技术</a:t>
            </a:r>
            <a:endParaRPr lang="en-US" altLang="zh-CN" sz="2400" b="1" dirty="0">
              <a:latin typeface="Times New Roman" panose="02020603050405020304" pitchFamily="18" charset="0"/>
              <a:cs typeface="Times New Roman" panose="02020603050405020304" pitchFamily="18" charset="0"/>
            </a:endParaRPr>
          </a:p>
          <a:p>
            <a:pPr lvl="1" eaLnBrk="1" hangingPunct="1"/>
            <a:r>
              <a:rPr lang="zh-CN" altLang="en-US" sz="2400" b="1" dirty="0">
                <a:latin typeface="Times New Roman" panose="02020603050405020304" pitchFamily="18" charset="0"/>
                <a:cs typeface="Times New Roman" panose="02020603050405020304" pitchFamily="18" charset="0"/>
              </a:rPr>
              <a:t>循环展开成</a:t>
            </a:r>
            <a:r>
              <a:rPr lang="en-US" altLang="zh-CN" sz="2400" b="1" dirty="0">
                <a:latin typeface="Times New Roman" panose="02020603050405020304" pitchFamily="18" charset="0"/>
                <a:cs typeface="Times New Roman" panose="02020603050405020304" pitchFamily="18" charset="0"/>
              </a:rPr>
              <a:t>5</a:t>
            </a:r>
            <a:r>
              <a:rPr lang="zh-CN" altLang="en-US" sz="2400" b="1" dirty="0">
                <a:latin typeface="Times New Roman" panose="02020603050405020304" pitchFamily="18" charset="0"/>
                <a:cs typeface="Times New Roman" panose="02020603050405020304" pitchFamily="18" charset="0"/>
              </a:rPr>
              <a:t>个副本</a:t>
            </a:r>
          </a:p>
          <a:p>
            <a:pPr eaLnBrk="1" hangingPunct="1"/>
            <a:r>
              <a:rPr lang="zh-CN" altLang="en-US" sz="2400" b="1" dirty="0">
                <a:latin typeface="Times New Roman" panose="02020603050405020304" pitchFamily="18" charset="0"/>
                <a:cs typeface="Times New Roman" panose="02020603050405020304" pitchFamily="18" charset="0"/>
              </a:rPr>
              <a:t>使用先前我们用到的代码作为例子</a:t>
            </a:r>
            <a:endParaRPr lang="en-US" altLang="zh-CN" sz="2400" b="1" dirty="0">
              <a:latin typeface="Times New Roman" panose="02020603050405020304" pitchFamily="18" charset="0"/>
              <a:cs typeface="Times New Roman" panose="02020603050405020304" pitchFamily="18" charset="0"/>
            </a:endParaRPr>
          </a:p>
          <a:p>
            <a:pPr eaLnBrk="1" hangingPunct="1">
              <a:buFont typeface="Wingdings" pitchFamily="2" charset="2"/>
              <a:buNone/>
            </a:pPr>
            <a:endParaRPr lang="en-US" altLang="zh-CN" sz="2400" b="1" dirty="0">
              <a:latin typeface="Times New Roman" panose="02020603050405020304" pitchFamily="18" charset="0"/>
              <a:cs typeface="Times New Roman" panose="02020603050405020304" pitchFamily="18" charset="0"/>
            </a:endParaRPr>
          </a:p>
          <a:p>
            <a:pPr eaLnBrk="1" hangingPunct="1">
              <a:lnSpc>
                <a:spcPct val="110000"/>
              </a:lnSpc>
              <a:buFontTx/>
              <a:buNone/>
            </a:pPr>
            <a:r>
              <a:rPr lang="en-US" altLang="zh-CN" sz="2400" b="1" dirty="0">
                <a:latin typeface="Times New Roman" panose="02020603050405020304" pitchFamily="18" charset="0"/>
                <a:cs typeface="Times New Roman" panose="02020603050405020304" pitchFamily="18" charset="0"/>
              </a:rPr>
              <a:t>LOOP</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LD 	    F0, 0(R1)    ;F0=</a:t>
            </a:r>
            <a:r>
              <a:rPr lang="zh-CN" altLang="en-US" sz="2400" b="1" dirty="0">
                <a:latin typeface="Times New Roman" panose="02020603050405020304" pitchFamily="18" charset="0"/>
                <a:cs typeface="Times New Roman" panose="02020603050405020304" pitchFamily="18" charset="0"/>
              </a:rPr>
              <a:t>数组元素</a:t>
            </a:r>
            <a:endParaRPr lang="en-US" altLang="zh-CN" sz="2400" b="1" dirty="0">
              <a:latin typeface="Times New Roman" panose="02020603050405020304" pitchFamily="18" charset="0"/>
              <a:cs typeface="Times New Roman" panose="02020603050405020304" pitchFamily="18" charset="0"/>
            </a:endParaRPr>
          </a:p>
          <a:p>
            <a:pPr eaLnBrk="1" hangingPunct="1">
              <a:lnSpc>
                <a:spcPct val="110000"/>
              </a:lnSpc>
              <a:buFontTx/>
              <a:buNone/>
            </a:pPr>
            <a:r>
              <a:rPr lang="en-US" altLang="zh-CN" sz="2400" b="1" dirty="0">
                <a:latin typeface="Times New Roman" panose="02020603050405020304" pitchFamily="18" charset="0"/>
                <a:cs typeface="Times New Roman" panose="02020603050405020304" pitchFamily="18" charset="0"/>
              </a:rPr>
              <a:t>		   ADDD  F4, F0, F2	;</a:t>
            </a:r>
            <a:r>
              <a:rPr lang="zh-CN" altLang="en-US" sz="2400" b="1" dirty="0">
                <a:latin typeface="Times New Roman" panose="02020603050405020304" pitchFamily="18" charset="0"/>
                <a:cs typeface="Times New Roman" panose="02020603050405020304" pitchFamily="18" charset="0"/>
              </a:rPr>
              <a:t>与</a:t>
            </a:r>
            <a:r>
              <a:rPr lang="en-US" altLang="zh-CN" sz="2400" b="1" dirty="0">
                <a:latin typeface="Times New Roman" panose="02020603050405020304" pitchFamily="18" charset="0"/>
                <a:cs typeface="Times New Roman" panose="02020603050405020304" pitchFamily="18" charset="0"/>
              </a:rPr>
              <a:t>F2</a:t>
            </a:r>
            <a:r>
              <a:rPr lang="zh-CN" altLang="en-US" sz="2400" b="1" dirty="0">
                <a:latin typeface="Times New Roman" panose="02020603050405020304" pitchFamily="18" charset="0"/>
                <a:cs typeface="Times New Roman" panose="02020603050405020304" pitchFamily="18" charset="0"/>
              </a:rPr>
              <a:t>寄存器中的标量相加</a:t>
            </a:r>
            <a:endParaRPr lang="en-US" altLang="zh-CN" sz="2400" b="1" dirty="0">
              <a:latin typeface="Times New Roman" panose="02020603050405020304" pitchFamily="18" charset="0"/>
              <a:cs typeface="Times New Roman" panose="02020603050405020304" pitchFamily="18" charset="0"/>
            </a:endParaRPr>
          </a:p>
          <a:p>
            <a:pPr eaLnBrk="1" hangingPunct="1">
              <a:lnSpc>
                <a:spcPct val="110000"/>
              </a:lnSpc>
              <a:buFontTx/>
              <a:buNone/>
            </a:pPr>
            <a:r>
              <a:rPr lang="en-US" altLang="zh-CN" sz="2400" b="1" dirty="0">
                <a:latin typeface="Times New Roman" panose="02020603050405020304" pitchFamily="18" charset="0"/>
                <a:cs typeface="Times New Roman" panose="02020603050405020304" pitchFamily="18" charset="0"/>
              </a:rPr>
              <a:t>		   SD	    0(RI), F4	;</a:t>
            </a:r>
            <a:r>
              <a:rPr lang="zh-CN" altLang="en-US" sz="2400" b="1" dirty="0">
                <a:latin typeface="Times New Roman" panose="02020603050405020304" pitchFamily="18" charset="0"/>
                <a:cs typeface="Times New Roman" panose="02020603050405020304" pitchFamily="18" charset="0"/>
              </a:rPr>
              <a:t>存结果</a:t>
            </a:r>
            <a:endParaRPr lang="en-US" altLang="zh-CN" sz="2400" b="1" dirty="0">
              <a:latin typeface="Times New Roman" panose="02020603050405020304" pitchFamily="18" charset="0"/>
              <a:cs typeface="Times New Roman" panose="02020603050405020304" pitchFamily="18" charset="0"/>
            </a:endParaRPr>
          </a:p>
          <a:p>
            <a:pPr eaLnBrk="1" hangingPunct="1">
              <a:lnSpc>
                <a:spcPct val="110000"/>
              </a:lnSpc>
              <a:buFontTx/>
              <a:buNone/>
            </a:pPr>
            <a:r>
              <a:rPr lang="en-US" altLang="zh-CN" sz="2400" b="1" dirty="0">
                <a:latin typeface="Times New Roman" panose="02020603050405020304" pitchFamily="18" charset="0"/>
                <a:cs typeface="Times New Roman" panose="02020603050405020304" pitchFamily="18" charset="0"/>
              </a:rPr>
              <a:t>		   SUBI    R1, R1, #8	;R1</a:t>
            </a:r>
            <a:r>
              <a:rPr lang="zh-CN" altLang="en-US" sz="2400" b="1" dirty="0">
                <a:latin typeface="Times New Roman" panose="02020603050405020304" pitchFamily="18" charset="0"/>
                <a:cs typeface="Times New Roman" panose="02020603050405020304" pitchFamily="18" charset="0"/>
              </a:rPr>
              <a:t>寄存器值减</a:t>
            </a:r>
            <a:r>
              <a:rPr lang="en-US" altLang="zh-CN" sz="2400" b="1" dirty="0">
                <a:latin typeface="Times New Roman" panose="02020603050405020304" pitchFamily="18" charset="0"/>
                <a:cs typeface="Times New Roman" panose="02020603050405020304" pitchFamily="18" charset="0"/>
              </a:rPr>
              <a:t>8</a:t>
            </a:r>
          </a:p>
          <a:p>
            <a:pPr eaLnBrk="1" hangingPunct="1">
              <a:lnSpc>
                <a:spcPct val="110000"/>
              </a:lnSpc>
              <a:buFontTx/>
              <a:buNone/>
            </a:pPr>
            <a:r>
              <a:rPr lang="en-US" altLang="zh-CN" sz="2400" b="1" dirty="0">
                <a:latin typeface="Times New Roman" panose="02020603050405020304" pitchFamily="18" charset="0"/>
                <a:cs typeface="Times New Roman" panose="02020603050405020304" pitchFamily="18" charset="0"/>
              </a:rPr>
              <a:t>		   BNEZ  R1, LOOP	;</a:t>
            </a:r>
            <a:r>
              <a:rPr lang="zh-CN" altLang="en-US" sz="2400" b="1" dirty="0">
                <a:latin typeface="Times New Roman" panose="02020603050405020304" pitchFamily="18" charset="0"/>
                <a:cs typeface="Times New Roman" panose="02020603050405020304" pitchFamily="18" charset="0"/>
              </a:rPr>
              <a:t>如果</a:t>
            </a:r>
            <a:r>
              <a:rPr lang="en-US" altLang="zh-CN" sz="2400" b="1" dirty="0">
                <a:latin typeface="Times New Roman" panose="02020603050405020304" pitchFamily="18" charset="0"/>
                <a:cs typeface="Times New Roman" panose="02020603050405020304" pitchFamily="18" charset="0"/>
              </a:rPr>
              <a:t>R1</a:t>
            </a:r>
            <a:r>
              <a:rPr lang="zh-CN" altLang="en-US" sz="2400" b="1" dirty="0">
                <a:latin typeface="Times New Roman" panose="02020603050405020304" pitchFamily="18" charset="0"/>
                <a:cs typeface="Times New Roman" panose="02020603050405020304" pitchFamily="18" charset="0"/>
              </a:rPr>
              <a:t>值不为</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，则跳转</a:t>
            </a:r>
          </a:p>
        </p:txBody>
      </p:sp>
      <p:sp>
        <p:nvSpPr>
          <p:cNvPr id="2" name="日期占位符 1">
            <a:extLst>
              <a:ext uri="{FF2B5EF4-FFF2-40B4-BE49-F238E27FC236}">
                <a16:creationId xmlns:a16="http://schemas.microsoft.com/office/drawing/2014/main" id="{978AFAC1-F864-5630-C045-A036E63EC88A}"/>
              </a:ext>
            </a:extLst>
          </p:cNvPr>
          <p:cNvSpPr>
            <a:spLocks noGrp="1"/>
          </p:cNvSpPr>
          <p:nvPr>
            <p:ph type="dt" sz="half" idx="10"/>
          </p:nvPr>
        </p:nvSpPr>
        <p:spPr/>
        <p:txBody>
          <a:bodyPr/>
          <a:lstStyle/>
          <a:p>
            <a:pPr>
              <a:defRPr/>
            </a:pPr>
            <a:fld id="{30D56DF0-53B9-4AE8-AFC8-5EF01209762D}"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656F8235-F8DE-AC7D-1B09-10A623C54CF8}"/>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43DFA5E5-9E4B-D627-7C60-589D5B2B4FC7}"/>
              </a:ext>
            </a:extLst>
          </p:cNvPr>
          <p:cNvSpPr>
            <a:spLocks noGrp="1"/>
          </p:cNvSpPr>
          <p:nvPr>
            <p:ph type="sldNum" sz="quarter" idx="12"/>
          </p:nvPr>
        </p:nvSpPr>
        <p:spPr/>
        <p:txBody>
          <a:bodyPr/>
          <a:lstStyle/>
          <a:p>
            <a:pPr>
              <a:defRPr/>
            </a:pPr>
            <a:fld id="{A5AE633C-541A-4E3F-A22A-3C4C63E8EF5F}" type="slidenum">
              <a:rPr lang="zh-CN" altLang="en-US" smtClean="0"/>
              <a:t>62</a:t>
            </a:fld>
            <a:endParaRPr lang="en-US" altLang="zh-CN"/>
          </a:p>
        </p:txBody>
      </p:sp>
    </p:spTree>
    <p:extLst>
      <p:ext uri="{BB962C8B-B14F-4D97-AF65-F5344CB8AC3E}">
        <p14:creationId xmlns:p14="http://schemas.microsoft.com/office/powerpoint/2010/main" val="3226561747"/>
      </p:ext>
    </p:extLst>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p:cNvSpPr>
            <a:spLocks noGrp="1" noChangeArrowheads="1"/>
          </p:cNvSpPr>
          <p:nvPr>
            <p:ph type="title" idx="4294967295"/>
          </p:nvPr>
        </p:nvSpPr>
        <p:spPr>
          <a:xfrm>
            <a:off x="457200" y="44450"/>
            <a:ext cx="8229600" cy="1143000"/>
          </a:xfrm>
        </p:spPr>
        <p:txBody>
          <a:bodyPr/>
          <a:lstStyle/>
          <a:p>
            <a:pPr eaLnBrk="1" hangingPunct="1"/>
            <a:r>
              <a:rPr lang="zh-CN" altLang="en-US" sz="3600" b="1" dirty="0">
                <a:latin typeface="+mn-ea"/>
                <a:ea typeface="+mn-ea"/>
              </a:rPr>
              <a:t>超标量：例子执行情况</a:t>
            </a:r>
          </a:p>
        </p:txBody>
      </p:sp>
      <p:sp>
        <p:nvSpPr>
          <p:cNvPr id="31747" name="Rectangle 6"/>
          <p:cNvSpPr>
            <a:spLocks noGrp="1" noChangeArrowheads="1"/>
          </p:cNvSpPr>
          <p:nvPr>
            <p:ph type="body" idx="4294967295"/>
          </p:nvPr>
        </p:nvSpPr>
        <p:spPr>
          <a:xfrm>
            <a:off x="468313" y="1196975"/>
            <a:ext cx="8229600" cy="4525963"/>
          </a:xfrm>
        </p:spPr>
        <p:txBody>
          <a:bodyPr/>
          <a:lstStyle/>
          <a:p>
            <a:pPr eaLnBrk="1" hangingPunct="1"/>
            <a:r>
              <a:rPr lang="zh-CN" altLang="en-US" sz="2400" dirty="0">
                <a:latin typeface="Verdana" pitchFamily="34" charset="0"/>
                <a:ea typeface="华文中宋" pitchFamily="2" charset="-122"/>
              </a:rPr>
              <a:t>在超标量流水线上对上述代码进行调度，以获取更多地指令机并行度</a:t>
            </a:r>
          </a:p>
        </p:txBody>
      </p:sp>
      <p:pic>
        <p:nvPicPr>
          <p:cNvPr id="2" name="图片 1">
            <a:extLst>
              <a:ext uri="{FF2B5EF4-FFF2-40B4-BE49-F238E27FC236}">
                <a16:creationId xmlns:a16="http://schemas.microsoft.com/office/drawing/2014/main" id="{4843FA36-4158-4FB8-A693-AF3D5AE91D9C}"/>
              </a:ext>
            </a:extLst>
          </p:cNvPr>
          <p:cNvPicPr>
            <a:picLocks noChangeAspect="1"/>
          </p:cNvPicPr>
          <p:nvPr/>
        </p:nvPicPr>
        <p:blipFill>
          <a:blip r:embed="rId3"/>
          <a:stretch>
            <a:fillRect/>
          </a:stretch>
        </p:blipFill>
        <p:spPr>
          <a:xfrm>
            <a:off x="442912" y="2060848"/>
            <a:ext cx="8258175" cy="4448175"/>
          </a:xfrm>
          <a:prstGeom prst="rect">
            <a:avLst/>
          </a:prstGeom>
        </p:spPr>
      </p:pic>
      <p:sp>
        <p:nvSpPr>
          <p:cNvPr id="3" name="日期占位符 2">
            <a:extLst>
              <a:ext uri="{FF2B5EF4-FFF2-40B4-BE49-F238E27FC236}">
                <a16:creationId xmlns:a16="http://schemas.microsoft.com/office/drawing/2014/main" id="{C300D824-4AEE-3A94-666D-3EEA46E3E27B}"/>
              </a:ext>
            </a:extLst>
          </p:cNvPr>
          <p:cNvSpPr>
            <a:spLocks noGrp="1"/>
          </p:cNvSpPr>
          <p:nvPr>
            <p:ph type="dt" sz="half" idx="10"/>
          </p:nvPr>
        </p:nvSpPr>
        <p:spPr/>
        <p:txBody>
          <a:bodyPr/>
          <a:lstStyle/>
          <a:p>
            <a:pPr>
              <a:defRPr/>
            </a:pPr>
            <a:fld id="{BF1C081E-3CEB-405C-9D92-E17C7DF29E4D}"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D39AE53C-E15B-6AC8-C7A0-45A783E30849}"/>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4C4C7E22-9220-0DB9-02AE-A14198B5744B}"/>
              </a:ext>
            </a:extLst>
          </p:cNvPr>
          <p:cNvSpPr>
            <a:spLocks noGrp="1"/>
          </p:cNvSpPr>
          <p:nvPr>
            <p:ph type="sldNum" sz="quarter" idx="12"/>
          </p:nvPr>
        </p:nvSpPr>
        <p:spPr/>
        <p:txBody>
          <a:bodyPr/>
          <a:lstStyle/>
          <a:p>
            <a:pPr>
              <a:defRPr/>
            </a:pPr>
            <a:fld id="{A5AE633C-541A-4E3F-A22A-3C4C63E8EF5F}" type="slidenum">
              <a:rPr lang="zh-CN" altLang="en-US" smtClean="0"/>
              <a:t>63</a:t>
            </a:fld>
            <a:endParaRPr lang="en-US" altLang="zh-CN"/>
          </a:p>
        </p:txBody>
      </p:sp>
    </p:spTree>
    <p:extLst>
      <p:ext uri="{BB962C8B-B14F-4D97-AF65-F5344CB8AC3E}">
        <p14:creationId xmlns:p14="http://schemas.microsoft.com/office/powerpoint/2010/main" val="4190090988"/>
      </p:ext>
    </p:extLst>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6"/>
          <p:cNvSpPr>
            <a:spLocks noGrp="1" noChangeArrowheads="1"/>
          </p:cNvSpPr>
          <p:nvPr>
            <p:ph type="title" idx="4294967295"/>
          </p:nvPr>
        </p:nvSpPr>
        <p:spPr/>
        <p:txBody>
          <a:bodyPr/>
          <a:lstStyle/>
          <a:p>
            <a:pPr eaLnBrk="1" hangingPunct="1"/>
            <a:r>
              <a:rPr lang="zh-CN" altLang="en-US" sz="3600" b="1" dirty="0">
                <a:latin typeface="+mn-ea"/>
                <a:ea typeface="+mn-ea"/>
                <a:cs typeface="Times New Roman" panose="02020603050405020304" pitchFamily="18" charset="0"/>
              </a:rPr>
              <a:t>超标量：例子结果分析</a:t>
            </a:r>
          </a:p>
        </p:txBody>
      </p:sp>
      <p:sp>
        <p:nvSpPr>
          <p:cNvPr id="32771" name="Rectangle 7"/>
          <p:cNvSpPr>
            <a:spLocks noGrp="1" noChangeArrowheads="1"/>
          </p:cNvSpPr>
          <p:nvPr>
            <p:ph type="body" idx="4294967295"/>
          </p:nvPr>
        </p:nvSpPr>
        <p:spPr>
          <a:xfrm>
            <a:off x="457200" y="1600200"/>
            <a:ext cx="7859216" cy="4525963"/>
          </a:xfrm>
        </p:spPr>
        <p:txBody>
          <a:bodyPr/>
          <a:lstStyle/>
          <a:p>
            <a:pPr eaLnBrk="1" hangingPunct="1"/>
            <a:r>
              <a:rPr lang="zh-CN" altLang="en-US" sz="2400" b="1" dirty="0">
                <a:latin typeface="Times New Roman" panose="02020603050405020304" pitchFamily="18" charset="0"/>
                <a:cs typeface="Times New Roman" panose="02020603050405020304" pitchFamily="18" charset="0"/>
              </a:rPr>
              <a:t>每次循环需</a:t>
            </a:r>
            <a:r>
              <a:rPr lang="en-US" altLang="zh-CN" sz="2400" b="1" dirty="0">
                <a:latin typeface="Times New Roman" panose="02020603050405020304" pitchFamily="18" charset="0"/>
                <a:cs typeface="Times New Roman" panose="02020603050405020304" pitchFamily="18" charset="0"/>
              </a:rPr>
              <a:t>12</a:t>
            </a:r>
            <a:r>
              <a:rPr lang="zh-CN" altLang="en-US" sz="2400" b="1" dirty="0">
                <a:latin typeface="Times New Roman" panose="02020603050405020304" pitchFamily="18" charset="0"/>
                <a:cs typeface="Times New Roman" panose="02020603050405020304" pitchFamily="18" charset="0"/>
              </a:rPr>
              <a:t>个时钟周期</a:t>
            </a:r>
          </a:p>
          <a:p>
            <a:pPr eaLnBrk="1" hangingPunct="1">
              <a:lnSpc>
                <a:spcPct val="120000"/>
              </a:lnSpc>
            </a:pPr>
            <a:r>
              <a:rPr lang="zh-CN" altLang="en-US" sz="2400" b="1" dirty="0">
                <a:latin typeface="Times New Roman" panose="02020603050405020304" pitchFamily="18" charset="0"/>
                <a:cs typeface="Times New Roman" panose="02020603050405020304" pitchFamily="18" charset="0"/>
              </a:rPr>
              <a:t>每个迭代时</a:t>
            </a:r>
            <a:r>
              <a:rPr lang="en-US" altLang="zh-CN" sz="2400" b="1" dirty="0">
                <a:latin typeface="Times New Roman" panose="02020603050405020304" pitchFamily="18" charset="0"/>
                <a:cs typeface="Times New Roman" panose="02020603050405020304" pitchFamily="18" charset="0"/>
              </a:rPr>
              <a:t>2.4</a:t>
            </a:r>
            <a:r>
              <a:rPr lang="zh-CN" altLang="en-US" sz="2400" b="1" dirty="0">
                <a:latin typeface="Times New Roman" panose="02020603050405020304" pitchFamily="18" charset="0"/>
                <a:cs typeface="Times New Roman" panose="02020603050405020304" pitchFamily="18" charset="0"/>
              </a:rPr>
              <a:t>个时钟周期</a:t>
            </a:r>
            <a:endParaRPr lang="en-US" altLang="zh-CN" sz="2400" b="1" dirty="0">
              <a:latin typeface="Times New Roman" panose="02020603050405020304" pitchFamily="18" charset="0"/>
              <a:cs typeface="Times New Roman" panose="02020603050405020304" pitchFamily="18" charset="0"/>
            </a:endParaRPr>
          </a:p>
          <a:p>
            <a:pPr lvl="1" eaLnBrk="1" hangingPunct="1"/>
            <a:r>
              <a:rPr lang="zh-CN" altLang="en-US" sz="2400" b="1" dirty="0">
                <a:latin typeface="Times New Roman" panose="02020603050405020304" pitchFamily="18" charset="0"/>
                <a:cs typeface="Times New Roman" panose="02020603050405020304" pitchFamily="18" charset="0"/>
              </a:rPr>
              <a:t>前面在普通的流水线上，通过循环展和调度，可以达到每个迭代为</a:t>
            </a:r>
            <a:r>
              <a:rPr lang="en-US" altLang="zh-CN" sz="2400" b="1" dirty="0">
                <a:latin typeface="Times New Roman" panose="02020603050405020304" pitchFamily="18" charset="0"/>
                <a:cs typeface="Times New Roman" panose="02020603050405020304" pitchFamily="18" charset="0"/>
              </a:rPr>
              <a:t>3.5</a:t>
            </a:r>
            <a:r>
              <a:rPr lang="zh-CN" altLang="en-US" sz="2400" b="1" dirty="0">
                <a:latin typeface="Times New Roman" panose="02020603050405020304" pitchFamily="18" charset="0"/>
                <a:cs typeface="Times New Roman" panose="02020603050405020304" pitchFamily="18" charset="0"/>
              </a:rPr>
              <a:t>个时钟周期</a:t>
            </a:r>
          </a:p>
          <a:p>
            <a:pPr lvl="1" eaLnBrk="1" hangingPunct="1"/>
            <a:endParaRPr lang="zh-CN" altLang="en-US" sz="2400" b="1" dirty="0">
              <a:latin typeface="Times New Roman" panose="02020603050405020304" pitchFamily="18" charset="0"/>
              <a:cs typeface="Times New Roman" panose="02020603050405020304" pitchFamily="18" charset="0"/>
            </a:endParaRPr>
          </a:p>
          <a:p>
            <a:pPr eaLnBrk="1" hangingPunct="1"/>
            <a:r>
              <a:rPr lang="zh-CN" altLang="en-US" sz="2400" b="1" dirty="0">
                <a:latin typeface="Times New Roman" panose="02020603050405020304" pitchFamily="18" charset="0"/>
                <a:cs typeface="Times New Roman" panose="02020603050405020304" pitchFamily="18" charset="0"/>
              </a:rPr>
              <a:t>超标量可以获得更好地性能，代价是硬件复杂性大幅度增加</a:t>
            </a:r>
          </a:p>
        </p:txBody>
      </p:sp>
      <p:sp>
        <p:nvSpPr>
          <p:cNvPr id="2" name="日期占位符 1">
            <a:extLst>
              <a:ext uri="{FF2B5EF4-FFF2-40B4-BE49-F238E27FC236}">
                <a16:creationId xmlns:a16="http://schemas.microsoft.com/office/drawing/2014/main" id="{BE65E5FD-773E-665C-67E2-ED7BDB0B6F4C}"/>
              </a:ext>
            </a:extLst>
          </p:cNvPr>
          <p:cNvSpPr>
            <a:spLocks noGrp="1"/>
          </p:cNvSpPr>
          <p:nvPr>
            <p:ph type="dt" sz="half" idx="10"/>
          </p:nvPr>
        </p:nvSpPr>
        <p:spPr/>
        <p:txBody>
          <a:bodyPr/>
          <a:lstStyle/>
          <a:p>
            <a:pPr>
              <a:defRPr/>
            </a:pPr>
            <a:fld id="{8CEB95D9-A95A-422D-BF9C-834CAEA88A84}"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ADB7A92F-272D-1882-1584-ACE53D327E6B}"/>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71C00FF3-15EB-47E2-EB82-F1BD82B219CE}"/>
              </a:ext>
            </a:extLst>
          </p:cNvPr>
          <p:cNvSpPr>
            <a:spLocks noGrp="1"/>
          </p:cNvSpPr>
          <p:nvPr>
            <p:ph type="sldNum" sz="quarter" idx="12"/>
          </p:nvPr>
        </p:nvSpPr>
        <p:spPr/>
        <p:txBody>
          <a:bodyPr/>
          <a:lstStyle/>
          <a:p>
            <a:pPr>
              <a:defRPr/>
            </a:pPr>
            <a:fld id="{A5AE633C-541A-4E3F-A22A-3C4C63E8EF5F}" type="slidenum">
              <a:rPr lang="zh-CN" altLang="en-US" smtClean="0"/>
              <a:t>64</a:t>
            </a:fld>
            <a:endParaRPr lang="en-US" altLang="zh-CN"/>
          </a:p>
        </p:txBody>
      </p:sp>
    </p:spTree>
    <p:extLst>
      <p:ext uri="{BB962C8B-B14F-4D97-AF65-F5344CB8AC3E}">
        <p14:creationId xmlns:p14="http://schemas.microsoft.com/office/powerpoint/2010/main" val="3728652456"/>
      </p:ext>
    </p:extLst>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a:xfrm>
            <a:off x="468313" y="414338"/>
            <a:ext cx="8229600" cy="1143000"/>
          </a:xfrm>
        </p:spPr>
        <p:txBody>
          <a:bodyPr rtlCol="0">
            <a:normAutofit/>
          </a:bodyPr>
          <a:lstStyle/>
          <a:p>
            <a:pPr eaLnBrk="1" fontAlgn="auto" hangingPunct="1">
              <a:spcAft>
                <a:spcPts val="0"/>
              </a:spcAft>
              <a:defRPr/>
            </a:pPr>
            <a:r>
              <a:rPr lang="en-US" altLang="zh-CN" sz="4000" b="1" dirty="0">
                <a:latin typeface="Times New Roman" panose="02020603050405020304" pitchFamily="18" charset="0"/>
                <a:cs typeface="Times New Roman" panose="02020603050405020304" pitchFamily="18" charset="0"/>
              </a:rPr>
              <a:t>4.4  </a:t>
            </a:r>
            <a:r>
              <a:rPr lang="zh-CN" altLang="en-US" sz="4000" b="1" dirty="0">
                <a:latin typeface="Times New Roman" panose="02020603050405020304" pitchFamily="18" charset="0"/>
                <a:cs typeface="Times New Roman" panose="02020603050405020304" pitchFamily="18" charset="0"/>
              </a:rPr>
              <a:t>多指令流出技术</a:t>
            </a:r>
          </a:p>
        </p:txBody>
      </p:sp>
      <p:sp>
        <p:nvSpPr>
          <p:cNvPr id="24579" name="Rectangle 2"/>
          <p:cNvSpPr>
            <a:spLocks noGrp="1" noChangeArrowheads="1"/>
          </p:cNvSpPr>
          <p:nvPr>
            <p:ph idx="1"/>
          </p:nvPr>
        </p:nvSpPr>
        <p:spPr>
          <a:xfrm>
            <a:off x="827088" y="1773238"/>
            <a:ext cx="7064375" cy="3313112"/>
          </a:xfrm>
        </p:spPr>
        <p:txBody>
          <a:bodyPr/>
          <a:lstStyle/>
          <a:p>
            <a:pPr marL="0" indent="0" eaLnBrk="1" hangingPunct="1">
              <a:spcBef>
                <a:spcPct val="50000"/>
              </a:spcBef>
              <a:buFont typeface="Arial" pitchFamily="34" charset="0"/>
              <a:buNone/>
            </a:pPr>
            <a:r>
              <a:rPr lang="en-US" altLang="zh-CN" sz="2800" b="1" dirty="0">
                <a:latin typeface="Times New Roman" pitchFamily="18" charset="0"/>
              </a:rPr>
              <a:t>4.4.1  </a:t>
            </a:r>
            <a:r>
              <a:rPr lang="zh-CN" altLang="en-US" sz="2800" b="1" dirty="0">
                <a:latin typeface="Times New Roman" pitchFamily="18" charset="0"/>
              </a:rPr>
              <a:t>静态超标量技术</a:t>
            </a:r>
            <a:endParaRPr lang="en-US" altLang="zh-CN" sz="2800" b="1" dirty="0">
              <a:latin typeface="Times New Roman" pitchFamily="18" charset="0"/>
            </a:endParaRPr>
          </a:p>
          <a:p>
            <a:pPr marL="0" indent="0" eaLnBrk="1" hangingPunct="1">
              <a:spcBef>
                <a:spcPct val="50000"/>
              </a:spcBef>
              <a:buFont typeface="Arial" pitchFamily="34" charset="0"/>
              <a:buNone/>
            </a:pPr>
            <a:endParaRPr lang="en-US" altLang="zh-CN" sz="2800" b="1" dirty="0">
              <a:latin typeface="Times New Roman" pitchFamily="18" charset="0"/>
            </a:endParaRPr>
          </a:p>
          <a:p>
            <a:pPr marL="0" indent="0" eaLnBrk="1" hangingPunct="1">
              <a:spcBef>
                <a:spcPct val="50000"/>
              </a:spcBef>
              <a:buFont typeface="Arial" pitchFamily="34" charset="0"/>
              <a:buNone/>
            </a:pPr>
            <a:r>
              <a:rPr lang="en-US" altLang="zh-CN" sz="2800" b="1" u="sng" dirty="0">
                <a:latin typeface="Times New Roman" pitchFamily="18" charset="0"/>
              </a:rPr>
              <a:t>4.4.2  </a:t>
            </a:r>
            <a:r>
              <a:rPr lang="zh-CN" altLang="en-US" sz="2800" b="1" u="sng" dirty="0">
                <a:latin typeface="Times New Roman" pitchFamily="18" charset="0"/>
              </a:rPr>
              <a:t>动态多指令流出技术</a:t>
            </a:r>
            <a:endParaRPr lang="en-US" altLang="zh-CN" sz="2800" b="1" u="sng" dirty="0">
              <a:latin typeface="Times New Roman" pitchFamily="18" charset="0"/>
            </a:endParaRPr>
          </a:p>
          <a:p>
            <a:pPr marL="0" indent="0" eaLnBrk="1" hangingPunct="1">
              <a:spcBef>
                <a:spcPct val="50000"/>
              </a:spcBef>
              <a:buFont typeface="Arial" pitchFamily="34" charset="0"/>
              <a:buNone/>
            </a:pPr>
            <a:endParaRPr lang="en-US" altLang="zh-CN" sz="2800" b="1" dirty="0">
              <a:latin typeface="Times New Roman" pitchFamily="18" charset="0"/>
            </a:endParaRPr>
          </a:p>
          <a:p>
            <a:pPr marL="0" indent="0" eaLnBrk="1" hangingPunct="1">
              <a:spcBef>
                <a:spcPct val="50000"/>
              </a:spcBef>
              <a:buFont typeface="Arial" pitchFamily="34" charset="0"/>
              <a:buNone/>
            </a:pPr>
            <a:r>
              <a:rPr lang="en-US" altLang="zh-CN" sz="2800" b="1" dirty="0">
                <a:latin typeface="Times New Roman" pitchFamily="18" charset="0"/>
              </a:rPr>
              <a:t>4.4.3  </a:t>
            </a:r>
            <a:r>
              <a:rPr lang="zh-CN" altLang="en-US" sz="2800" b="1" dirty="0">
                <a:latin typeface="Times New Roman" pitchFamily="18" charset="0"/>
              </a:rPr>
              <a:t>超长指令字技术</a:t>
            </a:r>
            <a:endParaRPr lang="en-US" altLang="zh-CN" sz="2800" b="1" dirty="0">
              <a:latin typeface="Times New Roman" pitchFamily="18" charset="0"/>
            </a:endParaRPr>
          </a:p>
          <a:p>
            <a:pPr marL="0" indent="0" eaLnBrk="1" hangingPunct="1">
              <a:spcBef>
                <a:spcPct val="50000"/>
              </a:spcBef>
              <a:buFont typeface="Arial" pitchFamily="34" charset="0"/>
              <a:buNone/>
            </a:pPr>
            <a:endParaRPr lang="en-US" altLang="zh-CN" b="1" dirty="0">
              <a:latin typeface="Times New Roman" pitchFamily="18" charset="0"/>
            </a:endParaRPr>
          </a:p>
        </p:txBody>
      </p:sp>
      <p:sp>
        <p:nvSpPr>
          <p:cNvPr id="2" name="日期占位符 1">
            <a:extLst>
              <a:ext uri="{FF2B5EF4-FFF2-40B4-BE49-F238E27FC236}">
                <a16:creationId xmlns:a16="http://schemas.microsoft.com/office/drawing/2014/main" id="{8E0EDC4C-11CE-7190-D773-D57DC938CEB5}"/>
              </a:ext>
            </a:extLst>
          </p:cNvPr>
          <p:cNvSpPr>
            <a:spLocks noGrp="1"/>
          </p:cNvSpPr>
          <p:nvPr>
            <p:ph type="dt" sz="half" idx="10"/>
          </p:nvPr>
        </p:nvSpPr>
        <p:spPr/>
        <p:txBody>
          <a:bodyPr/>
          <a:lstStyle/>
          <a:p>
            <a:pPr>
              <a:defRPr/>
            </a:pPr>
            <a:fld id="{0FF30DEE-7BAF-43F7-83F1-E77C1CE913C9}"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BA0F184F-A647-1B3D-BBAA-5E3A0AEA12AE}"/>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E0E5161-0B89-045E-F574-199F0AD33C25}"/>
              </a:ext>
            </a:extLst>
          </p:cNvPr>
          <p:cNvSpPr>
            <a:spLocks noGrp="1"/>
          </p:cNvSpPr>
          <p:nvPr>
            <p:ph type="sldNum" sz="quarter" idx="12"/>
          </p:nvPr>
        </p:nvSpPr>
        <p:spPr/>
        <p:txBody>
          <a:bodyPr/>
          <a:lstStyle/>
          <a:p>
            <a:pPr>
              <a:defRPr/>
            </a:pPr>
            <a:fld id="{8BCAC33D-D29A-48B3-BCD6-381D3D720D26}" type="slidenum">
              <a:rPr lang="zh-CN" altLang="en-US" smtClean="0"/>
              <a:t>65</a:t>
            </a:fld>
            <a:endParaRPr lang="en-US" altLang="zh-CN"/>
          </a:p>
        </p:txBody>
      </p:sp>
    </p:spTree>
    <p:extLst>
      <p:ext uri="{BB962C8B-B14F-4D97-AF65-F5344CB8AC3E}">
        <p14:creationId xmlns:p14="http://schemas.microsoft.com/office/powerpoint/2010/main" val="2614867705"/>
      </p:ext>
    </p:extLst>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Rectangle 2"/>
          <p:cNvSpPr>
            <a:spLocks noGrp="1" noChangeArrowheads="1"/>
          </p:cNvSpPr>
          <p:nvPr>
            <p:ph type="title"/>
          </p:nvPr>
        </p:nvSpPr>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4.4.2  </a:t>
            </a:r>
            <a:r>
              <a:rPr lang="zh-CN" altLang="en-US" sz="3600" b="1" dirty="0">
                <a:latin typeface="Times New Roman" panose="02020603050405020304" pitchFamily="18" charset="0"/>
                <a:cs typeface="Times New Roman" panose="02020603050405020304" pitchFamily="18" charset="0"/>
              </a:rPr>
              <a:t>动态多指令流出技术</a:t>
            </a:r>
          </a:p>
        </p:txBody>
      </p:sp>
      <p:sp>
        <p:nvSpPr>
          <p:cNvPr id="146435" name="Rectangle 3" descr="Rectangle: Click to edit Master text styles&#10;Second level&#10;Third level&#10;Fourth level&#10;Fifth level"/>
          <p:cNvSpPr>
            <a:spLocks noGrp="1" noChangeArrowheads="1"/>
          </p:cNvSpPr>
          <p:nvPr>
            <p:ph idx="1"/>
          </p:nvPr>
        </p:nvSpPr>
        <p:spPr>
          <a:xfrm>
            <a:off x="539750" y="1557338"/>
            <a:ext cx="7772400" cy="3889375"/>
          </a:xfrm>
        </p:spPr>
        <p:txBody>
          <a:bodyPr/>
          <a:lstStyle/>
          <a:p>
            <a:pPr marL="1085850" lvl="1" indent="-457200" eaLnBrk="1" hangingPunct="1">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扩展</a:t>
            </a:r>
            <a:r>
              <a:rPr lang="en-US" altLang="zh-CN" sz="2400" b="1" dirty="0" err="1">
                <a:latin typeface="Times New Roman" panose="02020603050405020304" pitchFamily="18" charset="0"/>
                <a:ea typeface="+mj-ea"/>
                <a:cs typeface="Times New Roman" panose="02020603050405020304" pitchFamily="18" charset="0"/>
              </a:rPr>
              <a:t>Tomasulo</a:t>
            </a:r>
            <a:r>
              <a:rPr lang="zh-CN" altLang="en-US" sz="2400" b="1" dirty="0">
                <a:latin typeface="Times New Roman" panose="02020603050405020304" pitchFamily="18" charset="0"/>
                <a:ea typeface="+mj-ea"/>
                <a:cs typeface="Times New Roman" panose="02020603050405020304" pitchFamily="18" charset="0"/>
              </a:rPr>
              <a:t>算法：</a:t>
            </a:r>
            <a:r>
              <a:rPr lang="zh-CN" altLang="en-US" sz="2400" b="1" dirty="0">
                <a:solidFill>
                  <a:srgbClr val="D60093"/>
                </a:solidFill>
                <a:latin typeface="Times New Roman" panose="02020603050405020304" pitchFamily="18" charset="0"/>
                <a:ea typeface="+mj-ea"/>
                <a:cs typeface="Times New Roman" panose="02020603050405020304" pitchFamily="18" charset="0"/>
              </a:rPr>
              <a:t>支持双流出超标量流水线</a:t>
            </a:r>
            <a:r>
              <a:rPr lang="zh-CN" altLang="en-US" sz="2400" b="1" dirty="0">
                <a:latin typeface="Times New Roman" panose="02020603050405020304" pitchFamily="18" charset="0"/>
                <a:ea typeface="+mj-ea"/>
                <a:cs typeface="Times New Roman" panose="02020603050405020304" pitchFamily="18" charset="0"/>
              </a:rPr>
              <a:t> </a:t>
            </a:r>
            <a:endParaRPr lang="zh-CN" altLang="en-US" sz="2400" b="1" dirty="0">
              <a:solidFill>
                <a:srgbClr val="D60093"/>
              </a:solidFill>
              <a:latin typeface="Times New Roman" panose="02020603050405020304" pitchFamily="18" charset="0"/>
              <a:ea typeface="+mj-ea"/>
              <a:cs typeface="Times New Roman" panose="02020603050405020304" pitchFamily="18" charset="0"/>
            </a:endParaRPr>
          </a:p>
          <a:p>
            <a:pPr lvl="2" eaLnBrk="1" hangingPunct="1">
              <a:buFont typeface="Arial" charset="0"/>
              <a:buChar char="•"/>
              <a:defRPr/>
            </a:pPr>
            <a:r>
              <a:rPr lang="zh-CN" altLang="en-US" b="1" dirty="0">
                <a:latin typeface="Times New Roman" panose="02020603050405020304" pitchFamily="18" charset="0"/>
                <a:ea typeface="+mj-ea"/>
                <a:cs typeface="Times New Roman" panose="02020603050405020304" pitchFamily="18" charset="0"/>
              </a:rPr>
              <a:t>每个时钟周期流出两条指令；</a:t>
            </a:r>
          </a:p>
          <a:p>
            <a:pPr lvl="2" eaLnBrk="1" hangingPunct="1">
              <a:buFont typeface="Arial" charset="0"/>
              <a:buChar char="•"/>
              <a:defRPr/>
            </a:pPr>
            <a:r>
              <a:rPr lang="zh-CN" altLang="en-US" b="1" dirty="0">
                <a:latin typeface="Times New Roman" panose="02020603050405020304" pitchFamily="18" charset="0"/>
                <a:ea typeface="+mj-ea"/>
                <a:cs typeface="Times New Roman" panose="02020603050405020304" pitchFamily="18" charset="0"/>
              </a:rPr>
              <a:t>一条是整数指令，另一条是浮点指令。</a:t>
            </a:r>
          </a:p>
          <a:p>
            <a:pPr marL="0" indent="0" eaLnBrk="1" hangingPunct="1">
              <a:buFont typeface="Arial" charset="0"/>
              <a:buNone/>
              <a:defRPr/>
            </a:pPr>
            <a:endParaRPr lang="en-US" altLang="zh-CN" sz="2400" b="1" dirty="0">
              <a:latin typeface="Times New Roman" panose="02020603050405020304" pitchFamily="18" charset="0"/>
              <a:ea typeface="+mj-ea"/>
              <a:cs typeface="Times New Roman" panose="02020603050405020304" pitchFamily="18" charset="0"/>
            </a:endParaRPr>
          </a:p>
          <a:p>
            <a:pPr marL="0" indent="0" eaLnBrk="1" hangingPunct="1">
              <a:buFont typeface="Arial" charset="0"/>
              <a:buNone/>
              <a:defRPr/>
            </a:pPr>
            <a:r>
              <a:rPr lang="zh-CN" altLang="en-US" sz="2400" b="1" dirty="0">
                <a:latin typeface="Times New Roman" panose="02020603050405020304" pitchFamily="18" charset="0"/>
                <a:ea typeface="+mj-ea"/>
                <a:cs typeface="Times New Roman" panose="02020603050405020304" pitchFamily="18" charset="0"/>
              </a:rPr>
              <a:t>采用一种比较简单的方法：</a:t>
            </a:r>
          </a:p>
          <a:p>
            <a:pPr marL="1085850" lvl="1" indent="-457200" eaLnBrk="1" hangingPunct="1">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指令按顺序流向保留站 </a:t>
            </a:r>
          </a:p>
          <a:p>
            <a:pPr marL="1085850" lvl="1" indent="-457200" eaLnBrk="1" hangingPunct="1">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将整数寄存器与浮点寄存器分开，只要不使用相同的寄存器，同时地流出一条浮点指令和一条整数指令到各自的保留站。</a:t>
            </a:r>
            <a:endParaRPr lang="en-US" altLang="zh-CN" sz="2400" b="1" dirty="0">
              <a:latin typeface="Times New Roman" panose="02020603050405020304" pitchFamily="18" charset="0"/>
              <a:ea typeface="+mj-ea"/>
              <a:cs typeface="Times New Roman" panose="02020603050405020304" pitchFamily="18" charset="0"/>
            </a:endParaRPr>
          </a:p>
        </p:txBody>
      </p:sp>
      <p:sp>
        <p:nvSpPr>
          <p:cNvPr id="2" name="日期占位符 1">
            <a:extLst>
              <a:ext uri="{FF2B5EF4-FFF2-40B4-BE49-F238E27FC236}">
                <a16:creationId xmlns:a16="http://schemas.microsoft.com/office/drawing/2014/main" id="{05998992-DF18-B909-759C-BFA30ABFF6AC}"/>
              </a:ext>
            </a:extLst>
          </p:cNvPr>
          <p:cNvSpPr>
            <a:spLocks noGrp="1"/>
          </p:cNvSpPr>
          <p:nvPr>
            <p:ph type="dt" sz="half" idx="10"/>
          </p:nvPr>
        </p:nvSpPr>
        <p:spPr/>
        <p:txBody>
          <a:bodyPr/>
          <a:lstStyle/>
          <a:p>
            <a:pPr>
              <a:defRPr/>
            </a:pPr>
            <a:fld id="{DBC071A4-3334-4208-A6DA-DBDA48AA01D0}"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1AD3436B-EF6B-CB0F-37DD-9EB7EC3FF1CB}"/>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DE831CA4-A1BF-F55B-D2D2-30F13C5138BE}"/>
              </a:ext>
            </a:extLst>
          </p:cNvPr>
          <p:cNvSpPr>
            <a:spLocks noGrp="1"/>
          </p:cNvSpPr>
          <p:nvPr>
            <p:ph type="sldNum" sz="quarter" idx="12"/>
          </p:nvPr>
        </p:nvSpPr>
        <p:spPr/>
        <p:txBody>
          <a:bodyPr/>
          <a:lstStyle/>
          <a:p>
            <a:pPr>
              <a:defRPr/>
            </a:pPr>
            <a:fld id="{8BCAC33D-D29A-48B3-BCD6-381D3D720D26}" type="slidenum">
              <a:rPr lang="zh-CN" altLang="en-US" smtClean="0"/>
              <a:t>66</a:t>
            </a:fld>
            <a:endParaRPr lang="en-US" altLang="zh-CN"/>
          </a:p>
        </p:txBody>
      </p:sp>
    </p:spTree>
    <p:extLst>
      <p:ext uri="{BB962C8B-B14F-4D97-AF65-F5344CB8AC3E}">
        <p14:creationId xmlns:p14="http://schemas.microsoft.com/office/powerpoint/2010/main" val="4212165594"/>
      </p:ext>
    </p:extLst>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descr="Rectangle: Click to edit Master text styles&#10;Second level&#10;Third level&#10;Fourth level&#10;Fifth level"/>
          <p:cNvSpPr>
            <a:spLocks noGrp="1" noChangeArrowheads="1"/>
          </p:cNvSpPr>
          <p:nvPr>
            <p:ph idx="1"/>
          </p:nvPr>
        </p:nvSpPr>
        <p:spPr>
          <a:xfrm>
            <a:off x="685800" y="1651000"/>
            <a:ext cx="7772400" cy="3578225"/>
          </a:xfrm>
        </p:spPr>
        <p:txBody>
          <a:bodyPr/>
          <a:lstStyle/>
          <a:p>
            <a:pPr marL="457200" indent="-457200" eaLnBrk="1" hangingPunct="1"/>
            <a:r>
              <a:rPr lang="zh-CN" altLang="en-US" sz="2400" b="1" dirty="0"/>
              <a:t>有两种不同的方法可以实现多流出 </a:t>
            </a:r>
          </a:p>
          <a:p>
            <a:pPr marL="1085850" lvl="1" indent="-457200" eaLnBrk="1" hangingPunct="1"/>
            <a:r>
              <a:rPr lang="zh-CN" altLang="en-US" sz="2400" b="1" dirty="0">
                <a:latin typeface="黑体" pitchFamily="49" charset="-122"/>
              </a:rPr>
              <a:t>在半个时钟周期里完成流出步骤，这样一个时钟周期就能处理两条指令。</a:t>
            </a:r>
          </a:p>
          <a:p>
            <a:pPr marL="1085850" lvl="1" indent="-457200" eaLnBrk="1" hangingPunct="1"/>
            <a:r>
              <a:rPr lang="zh-CN" altLang="en-US" sz="2400" b="1" dirty="0">
                <a:latin typeface="黑体" pitchFamily="49" charset="-122"/>
              </a:rPr>
              <a:t>对流出指令的组合进行限制，设置一次能处理两条指令的逻辑电路。</a:t>
            </a:r>
            <a:endParaRPr lang="en-US" altLang="zh-CN" sz="2400" b="1" dirty="0">
              <a:latin typeface="黑体" pitchFamily="49" charset="-122"/>
            </a:endParaRPr>
          </a:p>
          <a:p>
            <a:pPr marL="628650" lvl="1" indent="0" eaLnBrk="1" hangingPunct="1">
              <a:buNone/>
            </a:pPr>
            <a:endParaRPr lang="zh-CN" altLang="en-US" sz="2400" b="1" dirty="0">
              <a:latin typeface="黑体" pitchFamily="49" charset="-122"/>
            </a:endParaRPr>
          </a:p>
          <a:p>
            <a:pPr marL="727200" lvl="1" indent="-457200" eaLnBrk="1" hangingPunct="1">
              <a:buFont typeface="Wingdings" pitchFamily="2" charset="2"/>
              <a:buNone/>
            </a:pPr>
            <a:r>
              <a:rPr lang="zh-CN" altLang="en-US" sz="2400" b="1" dirty="0">
                <a:latin typeface="黑体" pitchFamily="49" charset="-122"/>
              </a:rPr>
              <a:t>    </a:t>
            </a:r>
            <a:r>
              <a:rPr lang="zh-CN" altLang="en-US" sz="2400" b="1" dirty="0">
                <a:solidFill>
                  <a:srgbClr val="E24C05"/>
                </a:solidFill>
                <a:latin typeface="宋体" pitchFamily="2" charset="-122"/>
              </a:rPr>
              <a:t>现代的流出</a:t>
            </a:r>
            <a:r>
              <a:rPr lang="en-US" altLang="zh-CN" sz="2400" b="1" dirty="0">
                <a:solidFill>
                  <a:srgbClr val="9933FF"/>
                </a:solidFill>
                <a:latin typeface="宋体" pitchFamily="2" charset="-122"/>
              </a:rPr>
              <a:t>4</a:t>
            </a:r>
            <a:r>
              <a:rPr lang="zh-CN" altLang="en-US" sz="2400" b="1" dirty="0">
                <a:solidFill>
                  <a:srgbClr val="E24C05"/>
                </a:solidFill>
                <a:latin typeface="宋体" pitchFamily="2" charset="-122"/>
              </a:rPr>
              <a:t>条或</a:t>
            </a:r>
            <a:r>
              <a:rPr lang="en-US" altLang="zh-CN" sz="2400" b="1" dirty="0">
                <a:solidFill>
                  <a:srgbClr val="9933FF"/>
                </a:solidFill>
                <a:latin typeface="宋体" pitchFamily="2" charset="-122"/>
              </a:rPr>
              <a:t>4</a:t>
            </a:r>
            <a:r>
              <a:rPr lang="zh-CN" altLang="en-US" sz="2400" b="1" dirty="0">
                <a:solidFill>
                  <a:srgbClr val="E24C05"/>
                </a:solidFill>
                <a:latin typeface="宋体" pitchFamily="2" charset="-122"/>
              </a:rPr>
              <a:t>条以上指令的超标量处理机经常是两种方法都采用，不仅采用流水而且还把流出电路加宽。  </a:t>
            </a:r>
          </a:p>
        </p:txBody>
      </p:sp>
      <p:sp>
        <p:nvSpPr>
          <p:cNvPr id="5" name="Rectangle 2"/>
          <p:cNvSpPr>
            <a:spLocks noGrp="1" noChangeArrowheads="1"/>
          </p:cNvSpPr>
          <p:nvPr>
            <p:ph type="title"/>
          </p:nvPr>
        </p:nvSpPr>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4.4.2 </a:t>
            </a:r>
            <a:r>
              <a:rPr lang="zh-CN" altLang="en-US" sz="3600" b="1" dirty="0">
                <a:latin typeface="Times New Roman" panose="02020603050405020304" pitchFamily="18" charset="0"/>
                <a:cs typeface="Times New Roman" panose="02020603050405020304" pitchFamily="18" charset="0"/>
              </a:rPr>
              <a:t>动态多指令流出技术</a:t>
            </a:r>
          </a:p>
        </p:txBody>
      </p:sp>
      <p:sp>
        <p:nvSpPr>
          <p:cNvPr id="2" name="日期占位符 1">
            <a:extLst>
              <a:ext uri="{FF2B5EF4-FFF2-40B4-BE49-F238E27FC236}">
                <a16:creationId xmlns:a16="http://schemas.microsoft.com/office/drawing/2014/main" id="{D2EB9949-B441-81A8-2481-97DEDBE90E71}"/>
              </a:ext>
            </a:extLst>
          </p:cNvPr>
          <p:cNvSpPr>
            <a:spLocks noGrp="1"/>
          </p:cNvSpPr>
          <p:nvPr>
            <p:ph type="dt" sz="half" idx="10"/>
          </p:nvPr>
        </p:nvSpPr>
        <p:spPr/>
        <p:txBody>
          <a:bodyPr/>
          <a:lstStyle/>
          <a:p>
            <a:pPr>
              <a:defRPr/>
            </a:pPr>
            <a:fld id="{3A4ABCBA-0932-4F45-89AE-DCC62989BC2B}"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A43BE3EA-72B3-ECF5-F7B1-A85DB382CAF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10839298-2820-3547-EBA1-9C17A1720AEB}"/>
              </a:ext>
            </a:extLst>
          </p:cNvPr>
          <p:cNvSpPr>
            <a:spLocks noGrp="1"/>
          </p:cNvSpPr>
          <p:nvPr>
            <p:ph type="sldNum" sz="quarter" idx="12"/>
          </p:nvPr>
        </p:nvSpPr>
        <p:spPr/>
        <p:txBody>
          <a:bodyPr/>
          <a:lstStyle/>
          <a:p>
            <a:pPr>
              <a:defRPr/>
            </a:pPr>
            <a:fld id="{8BCAC33D-D29A-48B3-BCD6-381D3D720D26}" type="slidenum">
              <a:rPr lang="zh-CN" altLang="en-US" smtClean="0"/>
              <a:t>67</a:t>
            </a:fld>
            <a:endParaRPr lang="en-US" altLang="zh-CN"/>
          </a:p>
        </p:txBody>
      </p:sp>
    </p:spTree>
    <p:extLst>
      <p:ext uri="{BB962C8B-B14F-4D97-AF65-F5344CB8AC3E}">
        <p14:creationId xmlns:p14="http://schemas.microsoft.com/office/powerpoint/2010/main" val="3816685002"/>
      </p:ext>
    </p:extLst>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descr="Rectangle: Click to edit Master text styles&#10;Second level&#10;Third level&#10;Fourth level&#10;Fifth level"/>
          <p:cNvSpPr>
            <a:spLocks noGrp="1" noChangeArrowheads="1"/>
          </p:cNvSpPr>
          <p:nvPr>
            <p:ph idx="1"/>
          </p:nvPr>
        </p:nvSpPr>
        <p:spPr>
          <a:xfrm>
            <a:off x="251520" y="404664"/>
            <a:ext cx="8640960" cy="5329262"/>
          </a:xfrm>
        </p:spPr>
        <p:txBody>
          <a:bodyPr/>
          <a:lstStyle/>
          <a:p>
            <a:pPr marL="0" indent="0" eaLnBrk="1" hangingPunct="1">
              <a:lnSpc>
                <a:spcPct val="110000"/>
              </a:lnSpc>
              <a:spcBef>
                <a:spcPts val="0"/>
              </a:spcBef>
              <a:buFont typeface="Wingdings" pitchFamily="2" charset="2"/>
              <a:buNone/>
              <a:tabLst>
                <a:tab pos="1428750" algn="l"/>
                <a:tab pos="2381250" algn="l"/>
                <a:tab pos="4575175" algn="l"/>
              </a:tabLst>
            </a:pPr>
            <a:r>
              <a:rPr lang="zh-CN" altLang="en-US" sz="2000" b="1" dirty="0">
                <a:solidFill>
                  <a:srgbClr val="000000"/>
                </a:solidFill>
                <a:latin typeface="Times New Roman" panose="02020603050405020304" pitchFamily="18" charset="0"/>
                <a:cs typeface="Times New Roman" panose="02020603050405020304" pitchFamily="18" charset="0"/>
              </a:rPr>
              <a:t>       对于采用了</a:t>
            </a:r>
            <a:r>
              <a:rPr lang="en-US" altLang="zh-CN" sz="2000" b="1" dirty="0" err="1">
                <a:solidFill>
                  <a:srgbClr val="000000"/>
                </a:solidFill>
                <a:latin typeface="Times New Roman" panose="02020603050405020304" pitchFamily="18" charset="0"/>
                <a:cs typeface="Times New Roman" panose="02020603050405020304" pitchFamily="18" charset="0"/>
              </a:rPr>
              <a:t>Tomasulo</a:t>
            </a:r>
            <a:r>
              <a:rPr lang="zh-CN" altLang="en-US" sz="2000" b="1" dirty="0">
                <a:solidFill>
                  <a:srgbClr val="000000"/>
                </a:solidFill>
                <a:latin typeface="Times New Roman" panose="02020603050405020304" pitchFamily="18" charset="0"/>
                <a:cs typeface="Times New Roman" panose="02020603050405020304" pitchFamily="18" charset="0"/>
              </a:rPr>
              <a:t>算法和多流出技术的</a:t>
            </a:r>
            <a:r>
              <a:rPr lang="en-US" altLang="zh-CN" sz="2000" b="1" dirty="0">
                <a:solidFill>
                  <a:srgbClr val="9933FF"/>
                </a:solidFill>
                <a:latin typeface="Times New Roman" panose="02020603050405020304" pitchFamily="18" charset="0"/>
                <a:cs typeface="Times New Roman" panose="02020603050405020304" pitchFamily="18" charset="0"/>
              </a:rPr>
              <a:t>MIPS</a:t>
            </a:r>
            <a:r>
              <a:rPr lang="zh-CN" altLang="en-US" sz="2000" b="1" dirty="0">
                <a:solidFill>
                  <a:srgbClr val="000000"/>
                </a:solidFill>
                <a:latin typeface="Times New Roman" panose="02020603050405020304" pitchFamily="18" charset="0"/>
                <a:cs typeface="Times New Roman" panose="02020603050405020304" pitchFamily="18" charset="0"/>
              </a:rPr>
              <a:t>流水线，考虑以下简单循环的执行，列表表示前面三遍循环的各指令流出、开始执行、访存、结果写到</a:t>
            </a:r>
            <a:r>
              <a:rPr lang="en-US" altLang="zh-CN" sz="2000" b="1" dirty="0">
                <a:solidFill>
                  <a:srgbClr val="000000"/>
                </a:solidFill>
                <a:latin typeface="Times New Roman" panose="02020603050405020304" pitchFamily="18" charset="0"/>
                <a:cs typeface="Times New Roman" panose="02020603050405020304" pitchFamily="18" charset="0"/>
              </a:rPr>
              <a:t>CDB</a:t>
            </a:r>
            <a:r>
              <a:rPr lang="zh-CN" altLang="en-US" sz="2000" b="1" dirty="0">
                <a:solidFill>
                  <a:srgbClr val="000000"/>
                </a:solidFill>
                <a:latin typeface="Times New Roman" panose="02020603050405020304" pitchFamily="18" charset="0"/>
                <a:cs typeface="Times New Roman" panose="02020603050405020304" pitchFamily="18" charset="0"/>
              </a:rPr>
              <a:t>的时间。</a:t>
            </a:r>
            <a:endParaRPr lang="en-US" altLang="zh-CN" sz="2000" b="1" dirty="0">
              <a:solidFill>
                <a:srgbClr val="000000"/>
              </a:solidFill>
              <a:latin typeface="Times New Roman" panose="02020603050405020304" pitchFamily="18" charset="0"/>
              <a:cs typeface="Times New Roman" panose="02020603050405020304" pitchFamily="18" charset="0"/>
            </a:endParaRPr>
          </a:p>
          <a:p>
            <a:pPr marL="0" indent="0" eaLnBrk="1" hangingPunct="1">
              <a:lnSpc>
                <a:spcPct val="110000"/>
              </a:lnSpc>
              <a:spcBef>
                <a:spcPts val="0"/>
              </a:spcBef>
              <a:buFont typeface="Wingdings" pitchFamily="2" charset="2"/>
              <a:buNone/>
              <a:tabLst>
                <a:tab pos="1428750" algn="l"/>
                <a:tab pos="2381250" algn="l"/>
                <a:tab pos="4575175" algn="l"/>
              </a:tabLst>
            </a:pPr>
            <a:endParaRPr lang="zh-CN" altLang="en-US" sz="2000" b="1" dirty="0">
              <a:solidFill>
                <a:srgbClr val="000000"/>
              </a:solidFill>
              <a:latin typeface="Times New Roman" panose="02020603050405020304" pitchFamily="18" charset="0"/>
              <a:cs typeface="Times New Roman" panose="02020603050405020304" pitchFamily="18" charset="0"/>
            </a:endParaRPr>
          </a:p>
          <a:p>
            <a:pPr eaLnBrk="1" hangingPunct="1">
              <a:lnSpc>
                <a:spcPct val="110000"/>
              </a:lnSpc>
              <a:spcBef>
                <a:spcPts val="0"/>
              </a:spcBef>
              <a:buFontTx/>
              <a:buNone/>
            </a:pPr>
            <a:r>
              <a:rPr lang="zh-CN" altLang="en-US" sz="2000" b="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LOOP</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LD 	 F0, 0(R1)	;F0=</a:t>
            </a:r>
            <a:r>
              <a:rPr lang="zh-CN" altLang="en-US" sz="2000" b="1" dirty="0">
                <a:latin typeface="Times New Roman" panose="02020603050405020304" pitchFamily="18" charset="0"/>
                <a:cs typeface="Times New Roman" panose="02020603050405020304" pitchFamily="18" charset="0"/>
              </a:rPr>
              <a:t>数组元素</a:t>
            </a:r>
            <a:r>
              <a:rPr lang="en-US" altLang="zh-CN" sz="2000" b="1" dirty="0">
                <a:latin typeface="Times New Roman" panose="02020603050405020304" pitchFamily="18" charset="0"/>
                <a:cs typeface="Times New Roman" panose="02020603050405020304" pitchFamily="18" charset="0"/>
              </a:rPr>
              <a:t>.</a:t>
            </a:r>
          </a:p>
          <a:p>
            <a:pPr eaLnBrk="1" hangingPunct="1">
              <a:lnSpc>
                <a:spcPct val="110000"/>
              </a:lnSpc>
              <a:spcBef>
                <a:spcPts val="0"/>
              </a:spcBef>
              <a:buFontTx/>
              <a:buNone/>
            </a:pPr>
            <a:r>
              <a:rPr lang="en-US" altLang="zh-CN" sz="2000" b="1" dirty="0">
                <a:latin typeface="Times New Roman" panose="02020603050405020304" pitchFamily="18" charset="0"/>
                <a:cs typeface="Times New Roman" panose="02020603050405020304" pitchFamily="18" charset="0"/>
              </a:rPr>
              <a:t>		          ADDD	 F4, F0, F2	;</a:t>
            </a:r>
            <a:r>
              <a:rPr lang="zh-CN" altLang="en-US" sz="2000" b="1" dirty="0">
                <a:latin typeface="Times New Roman" panose="02020603050405020304" pitchFamily="18" charset="0"/>
                <a:cs typeface="Times New Roman" panose="02020603050405020304" pitchFamily="18" charset="0"/>
              </a:rPr>
              <a:t>与</a:t>
            </a:r>
            <a:r>
              <a:rPr lang="en-US" altLang="zh-CN" sz="2000" b="1" dirty="0">
                <a:latin typeface="Times New Roman" panose="02020603050405020304" pitchFamily="18" charset="0"/>
                <a:cs typeface="Times New Roman" panose="02020603050405020304" pitchFamily="18" charset="0"/>
              </a:rPr>
              <a:t>F2</a:t>
            </a:r>
            <a:r>
              <a:rPr lang="zh-CN" altLang="en-US" sz="2000" b="1" dirty="0">
                <a:latin typeface="Times New Roman" panose="02020603050405020304" pitchFamily="18" charset="0"/>
                <a:cs typeface="Times New Roman" panose="02020603050405020304" pitchFamily="18" charset="0"/>
              </a:rPr>
              <a:t>寄存器中的标量相加</a:t>
            </a:r>
            <a:endParaRPr lang="en-US" altLang="zh-CN" sz="2000" b="1" dirty="0">
              <a:latin typeface="Times New Roman" panose="02020603050405020304" pitchFamily="18" charset="0"/>
              <a:cs typeface="Times New Roman" panose="02020603050405020304" pitchFamily="18" charset="0"/>
            </a:endParaRPr>
          </a:p>
          <a:p>
            <a:pPr eaLnBrk="1" hangingPunct="1">
              <a:lnSpc>
                <a:spcPct val="110000"/>
              </a:lnSpc>
              <a:spcBef>
                <a:spcPts val="0"/>
              </a:spcBef>
              <a:buFontTx/>
              <a:buNone/>
            </a:pPr>
            <a:r>
              <a:rPr lang="en-US" altLang="zh-CN" sz="2000" b="1" dirty="0">
                <a:latin typeface="Times New Roman" panose="02020603050405020304" pitchFamily="18" charset="0"/>
                <a:cs typeface="Times New Roman" panose="02020603050405020304" pitchFamily="18" charset="0"/>
              </a:rPr>
              <a:t>		          SD	 F4, 0(RI) 	;</a:t>
            </a:r>
            <a:r>
              <a:rPr lang="zh-CN" altLang="en-US" sz="2000" b="1" dirty="0">
                <a:latin typeface="Times New Roman" panose="02020603050405020304" pitchFamily="18" charset="0"/>
                <a:cs typeface="Times New Roman" panose="02020603050405020304" pitchFamily="18" charset="0"/>
              </a:rPr>
              <a:t>存结果</a:t>
            </a:r>
            <a:endParaRPr lang="en-US" altLang="zh-CN" sz="2000" b="1" dirty="0">
              <a:latin typeface="Times New Roman" panose="02020603050405020304" pitchFamily="18" charset="0"/>
              <a:cs typeface="Times New Roman" panose="02020603050405020304" pitchFamily="18" charset="0"/>
            </a:endParaRPr>
          </a:p>
          <a:p>
            <a:pPr eaLnBrk="1" hangingPunct="1">
              <a:lnSpc>
                <a:spcPct val="110000"/>
              </a:lnSpc>
              <a:spcBef>
                <a:spcPts val="0"/>
              </a:spcBef>
              <a:buFontTx/>
              <a:buNone/>
            </a:pPr>
            <a:r>
              <a:rPr lang="en-US" altLang="zh-CN" sz="2000" b="1" dirty="0">
                <a:latin typeface="Times New Roman" panose="02020603050405020304" pitchFamily="18" charset="0"/>
                <a:cs typeface="Times New Roman" panose="02020603050405020304" pitchFamily="18" charset="0"/>
              </a:rPr>
              <a:t>		          SUBI	 R1, R1, #8	;R1</a:t>
            </a:r>
            <a:r>
              <a:rPr lang="zh-CN" altLang="en-US" sz="2000" b="1" dirty="0">
                <a:latin typeface="Times New Roman" panose="02020603050405020304" pitchFamily="18" charset="0"/>
                <a:cs typeface="Times New Roman" panose="02020603050405020304" pitchFamily="18" charset="0"/>
              </a:rPr>
              <a:t>寄存器值减</a:t>
            </a:r>
            <a:r>
              <a:rPr lang="en-US" altLang="zh-CN" sz="2000" b="1" dirty="0">
                <a:latin typeface="Times New Roman" panose="02020603050405020304" pitchFamily="18" charset="0"/>
                <a:cs typeface="Times New Roman" panose="02020603050405020304" pitchFamily="18" charset="0"/>
              </a:rPr>
              <a:t>8</a:t>
            </a:r>
          </a:p>
          <a:p>
            <a:pPr eaLnBrk="1" hangingPunct="1">
              <a:lnSpc>
                <a:spcPct val="110000"/>
              </a:lnSpc>
              <a:spcBef>
                <a:spcPts val="0"/>
              </a:spcBef>
              <a:buFontTx/>
              <a:buNone/>
            </a:pPr>
            <a:r>
              <a:rPr lang="en-US" altLang="zh-CN" sz="2000" b="1" dirty="0">
                <a:latin typeface="Times New Roman" panose="02020603050405020304" pitchFamily="18" charset="0"/>
                <a:cs typeface="Times New Roman" panose="02020603050405020304" pitchFamily="18" charset="0"/>
              </a:rPr>
              <a:t>		          BNEZ         R1, LOOP	;</a:t>
            </a:r>
            <a:r>
              <a:rPr lang="zh-CN" altLang="en-US" sz="2000" b="1" dirty="0">
                <a:latin typeface="Times New Roman" panose="02020603050405020304" pitchFamily="18" charset="0"/>
                <a:cs typeface="Times New Roman" panose="02020603050405020304" pitchFamily="18" charset="0"/>
              </a:rPr>
              <a:t>如果</a:t>
            </a:r>
            <a:r>
              <a:rPr lang="en-US" altLang="zh-CN" sz="2000" b="1" dirty="0">
                <a:latin typeface="Times New Roman" panose="02020603050405020304" pitchFamily="18" charset="0"/>
                <a:cs typeface="Times New Roman" panose="02020603050405020304" pitchFamily="18" charset="0"/>
              </a:rPr>
              <a:t>R1</a:t>
            </a:r>
            <a:r>
              <a:rPr lang="zh-CN" altLang="en-US" sz="2000" b="1" dirty="0">
                <a:latin typeface="Times New Roman" panose="02020603050405020304" pitchFamily="18" charset="0"/>
                <a:cs typeface="Times New Roman" panose="02020603050405020304" pitchFamily="18" charset="0"/>
              </a:rPr>
              <a:t>值不为</a:t>
            </a:r>
            <a:r>
              <a:rPr lang="en-US" altLang="zh-CN" sz="2000" b="1" dirty="0">
                <a:latin typeface="Times New Roman" panose="02020603050405020304" pitchFamily="18" charset="0"/>
                <a:cs typeface="Times New Roman" panose="02020603050405020304" pitchFamily="18" charset="0"/>
              </a:rPr>
              <a:t>0</a:t>
            </a:r>
            <a:r>
              <a:rPr lang="zh-CN" altLang="en-US" sz="2000" b="1" dirty="0">
                <a:latin typeface="Times New Roman" panose="02020603050405020304" pitchFamily="18" charset="0"/>
                <a:cs typeface="Times New Roman" panose="02020603050405020304" pitchFamily="18" charset="0"/>
              </a:rPr>
              <a:t>，则跳转</a:t>
            </a:r>
            <a:endParaRPr lang="en-US" altLang="zh-CN" sz="2000" b="1" dirty="0">
              <a:latin typeface="Times New Roman" panose="02020603050405020304" pitchFamily="18" charset="0"/>
              <a:cs typeface="Times New Roman" panose="02020603050405020304" pitchFamily="18" charset="0"/>
            </a:endParaRPr>
          </a:p>
          <a:p>
            <a:pPr marL="0" indent="0" eaLnBrk="1" hangingPunct="1">
              <a:lnSpc>
                <a:spcPct val="110000"/>
              </a:lnSpc>
              <a:spcBef>
                <a:spcPts val="0"/>
              </a:spcBef>
              <a:buFontTx/>
              <a:buNone/>
            </a:pPr>
            <a:r>
              <a:rPr lang="en-US" altLang="zh-CN" sz="2000" b="1" dirty="0">
                <a:latin typeface="Times New Roman" panose="02020603050405020304" pitchFamily="18" charset="0"/>
                <a:cs typeface="Times New Roman" panose="02020603050405020304" pitchFamily="18" charset="0"/>
              </a:rPr>
              <a:t> </a:t>
            </a:r>
          </a:p>
          <a:p>
            <a:pPr marL="0" indent="0" eaLnBrk="1" hangingPunct="1">
              <a:lnSpc>
                <a:spcPct val="110000"/>
              </a:lnSpc>
              <a:spcBef>
                <a:spcPts val="0"/>
              </a:spcBef>
              <a:buFontTx/>
              <a:buNone/>
            </a:pP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2000" b="1" dirty="0">
                <a:latin typeface="Times New Roman" panose="02020603050405020304" pitchFamily="18" charset="0"/>
                <a:cs typeface="Times New Roman" panose="02020603050405020304" pitchFamily="18" charset="0"/>
                <a:sym typeface="Wingdings" panose="05000000000000000000" pitchFamily="2" charset="2"/>
              </a:rPr>
              <a:t>1</a:t>
            </a: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）无论是否相关，每个时钟周期流出</a:t>
            </a:r>
            <a:r>
              <a:rPr lang="zh-CN" altLang="en-US" sz="2000" b="1" dirty="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一条整数指令</a:t>
            </a: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和</a:t>
            </a:r>
            <a:r>
              <a:rPr lang="zh-CN" altLang="en-US" sz="2000" b="1" dirty="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一条浮点数指令</a:t>
            </a: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a:t>
            </a:r>
            <a:endParaRPr lang="en-US" altLang="zh-CN" sz="2000" b="1" dirty="0">
              <a:latin typeface="Times New Roman" panose="02020603050405020304" pitchFamily="18" charset="0"/>
              <a:cs typeface="Times New Roman" panose="02020603050405020304" pitchFamily="18" charset="0"/>
              <a:sym typeface="Wingdings" panose="05000000000000000000" pitchFamily="2" charset="2"/>
            </a:endParaRPr>
          </a:p>
          <a:p>
            <a:pPr marL="0" indent="0" eaLnBrk="1" hangingPunct="1">
              <a:lnSpc>
                <a:spcPct val="110000"/>
              </a:lnSpc>
              <a:spcBef>
                <a:spcPts val="0"/>
              </a:spcBef>
              <a:buFontTx/>
              <a:buNone/>
            </a:pP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2000" b="1" dirty="0">
                <a:latin typeface="Times New Roman" panose="02020603050405020304" pitchFamily="18" charset="0"/>
                <a:cs typeface="Times New Roman" panose="02020603050405020304" pitchFamily="18" charset="0"/>
                <a:sym typeface="Wingdings" panose="05000000000000000000" pitchFamily="2" charset="2"/>
              </a:rPr>
              <a:t>2</a:t>
            </a: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）有一个整数部件，用于</a:t>
            </a:r>
            <a:r>
              <a:rPr lang="zh-CN" altLang="en-US" sz="2000" b="1" dirty="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整数运算</a:t>
            </a: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和</a:t>
            </a:r>
            <a:r>
              <a:rPr lang="zh-CN" altLang="en-US" sz="2000" b="1" dirty="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地址计算</a:t>
            </a: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；有一个独立的浮点功能部件；</a:t>
            </a:r>
            <a:endParaRPr lang="en-US" altLang="zh-CN" sz="2000" b="1" dirty="0">
              <a:latin typeface="Times New Roman" panose="02020603050405020304" pitchFamily="18" charset="0"/>
              <a:cs typeface="Times New Roman" panose="02020603050405020304" pitchFamily="18" charset="0"/>
              <a:sym typeface="Wingdings" panose="05000000000000000000" pitchFamily="2" charset="2"/>
            </a:endParaRPr>
          </a:p>
          <a:p>
            <a:pPr marL="0" indent="0" eaLnBrk="1" hangingPunct="1">
              <a:lnSpc>
                <a:spcPct val="110000"/>
              </a:lnSpc>
              <a:spcBef>
                <a:spcPts val="0"/>
              </a:spcBef>
              <a:buFontTx/>
              <a:buNone/>
            </a:pP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2000" b="1" dirty="0">
                <a:latin typeface="Times New Roman" panose="02020603050405020304" pitchFamily="18" charset="0"/>
                <a:cs typeface="Times New Roman" panose="02020603050405020304" pitchFamily="18" charset="0"/>
                <a:sym typeface="Wingdings" panose="05000000000000000000" pitchFamily="2" charset="2"/>
              </a:rPr>
              <a:t>3</a:t>
            </a: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）指令</a:t>
            </a:r>
            <a:r>
              <a:rPr lang="zh-CN" altLang="en-US" sz="2000" b="1" dirty="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流出</a:t>
            </a: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和</a:t>
            </a:r>
            <a:r>
              <a:rPr lang="zh-CN" altLang="en-US" sz="2000" b="1" dirty="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写结果</a:t>
            </a: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各占用</a:t>
            </a:r>
            <a:r>
              <a:rPr lang="en-US" altLang="zh-CN" sz="2000" b="1" dirty="0">
                <a:latin typeface="Times New Roman" panose="02020603050405020304" pitchFamily="18" charset="0"/>
                <a:cs typeface="Times New Roman" panose="02020603050405020304" pitchFamily="18" charset="0"/>
                <a:sym typeface="Wingdings" panose="05000000000000000000" pitchFamily="2" charset="2"/>
              </a:rPr>
              <a:t>1</a:t>
            </a: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个时钟周期；</a:t>
            </a:r>
            <a:endParaRPr lang="en-US" altLang="zh-CN" sz="2000" b="1" dirty="0">
              <a:latin typeface="Times New Roman" panose="02020603050405020304" pitchFamily="18" charset="0"/>
              <a:cs typeface="Times New Roman" panose="02020603050405020304" pitchFamily="18" charset="0"/>
              <a:sym typeface="Wingdings" panose="05000000000000000000" pitchFamily="2" charset="2"/>
            </a:endParaRPr>
          </a:p>
          <a:p>
            <a:pPr marL="0" indent="0" eaLnBrk="1" hangingPunct="1">
              <a:lnSpc>
                <a:spcPct val="110000"/>
              </a:lnSpc>
              <a:spcBef>
                <a:spcPts val="0"/>
              </a:spcBef>
              <a:buFontTx/>
              <a:buNone/>
            </a:pP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2000" b="1" dirty="0">
                <a:latin typeface="Times New Roman" panose="02020603050405020304" pitchFamily="18" charset="0"/>
                <a:cs typeface="Times New Roman" panose="02020603050405020304" pitchFamily="18" charset="0"/>
                <a:sym typeface="Wingdings" panose="05000000000000000000" pitchFamily="2" charset="2"/>
              </a:rPr>
              <a:t>4</a:t>
            </a: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）有</a:t>
            </a:r>
            <a:r>
              <a:rPr lang="en-US" altLang="zh-CN" sz="2000" b="1" dirty="0">
                <a:latin typeface="Times New Roman" panose="02020603050405020304" pitchFamily="18" charset="0"/>
                <a:cs typeface="Times New Roman" panose="02020603050405020304" pitchFamily="18" charset="0"/>
                <a:sym typeface="Wingdings" panose="05000000000000000000" pitchFamily="2" charset="2"/>
              </a:rPr>
              <a:t>1</a:t>
            </a: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个具有独立分支预测能力的分支预测部件，</a:t>
            </a:r>
            <a:r>
              <a:rPr lang="zh-CN" altLang="en-US" sz="2000" b="1" dirty="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分支指令只能单独流出</a:t>
            </a: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，没有分支延迟；</a:t>
            </a:r>
            <a:endParaRPr lang="en-US" altLang="zh-CN" sz="2000" b="1" dirty="0">
              <a:latin typeface="Times New Roman" panose="02020603050405020304" pitchFamily="18" charset="0"/>
              <a:cs typeface="Times New Roman" panose="02020603050405020304" pitchFamily="18" charset="0"/>
              <a:sym typeface="Wingdings" panose="05000000000000000000" pitchFamily="2" charset="2"/>
            </a:endParaRPr>
          </a:p>
          <a:p>
            <a:pPr marL="0" indent="0" eaLnBrk="1" hangingPunct="1">
              <a:lnSpc>
                <a:spcPct val="110000"/>
              </a:lnSpc>
              <a:spcBef>
                <a:spcPts val="0"/>
              </a:spcBef>
              <a:buFontTx/>
              <a:buNone/>
            </a:pP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2000" b="1" dirty="0">
                <a:latin typeface="Times New Roman" panose="02020603050405020304" pitchFamily="18" charset="0"/>
                <a:cs typeface="Times New Roman" panose="02020603050405020304" pitchFamily="18" charset="0"/>
                <a:sym typeface="Wingdings" panose="05000000000000000000" pitchFamily="2" charset="2"/>
              </a:rPr>
              <a:t>5</a:t>
            </a: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）因为写结果占用</a:t>
            </a:r>
            <a:r>
              <a:rPr lang="en-US" altLang="zh-CN" sz="2000" b="1" dirty="0">
                <a:latin typeface="Times New Roman" panose="02020603050405020304" pitchFamily="18" charset="0"/>
                <a:cs typeface="Times New Roman" panose="02020603050405020304" pitchFamily="18" charset="0"/>
                <a:sym typeface="Wingdings" panose="05000000000000000000" pitchFamily="2" charset="2"/>
              </a:rPr>
              <a:t>1</a:t>
            </a: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个时钟周期，所以产生结果的延迟为：整数运算</a:t>
            </a:r>
            <a:r>
              <a:rPr lang="en-US" altLang="zh-CN" sz="2000" b="1" dirty="0">
                <a:latin typeface="Times New Roman" panose="02020603050405020304" pitchFamily="18" charset="0"/>
                <a:cs typeface="Times New Roman" panose="02020603050405020304" pitchFamily="18" charset="0"/>
                <a:sym typeface="Wingdings" panose="05000000000000000000" pitchFamily="2" charset="2"/>
              </a:rPr>
              <a:t>1</a:t>
            </a: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个周期，存储器取数操作</a:t>
            </a:r>
            <a:r>
              <a:rPr lang="en-US" altLang="zh-CN" sz="2000" b="1" dirty="0">
                <a:latin typeface="Times New Roman" panose="02020603050405020304" pitchFamily="18" charset="0"/>
                <a:cs typeface="Times New Roman" panose="02020603050405020304" pitchFamily="18" charset="0"/>
                <a:sym typeface="Wingdings" panose="05000000000000000000" pitchFamily="2" charset="2"/>
              </a:rPr>
              <a:t>2</a:t>
            </a: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个周期，浮点运算</a:t>
            </a:r>
            <a:r>
              <a:rPr lang="en-US" altLang="zh-CN" sz="2000" b="1" dirty="0">
                <a:latin typeface="Times New Roman" panose="02020603050405020304" pitchFamily="18" charset="0"/>
                <a:cs typeface="Times New Roman" panose="02020603050405020304" pitchFamily="18" charset="0"/>
                <a:sym typeface="Wingdings" panose="05000000000000000000" pitchFamily="2" charset="2"/>
              </a:rPr>
              <a:t>3</a:t>
            </a:r>
            <a:r>
              <a:rPr lang="zh-CN" altLang="en-US" sz="2000" b="1" dirty="0">
                <a:latin typeface="Times New Roman" panose="02020603050405020304" pitchFamily="18" charset="0"/>
                <a:cs typeface="Times New Roman" panose="02020603050405020304" pitchFamily="18" charset="0"/>
                <a:sym typeface="Wingdings" panose="05000000000000000000" pitchFamily="2" charset="2"/>
              </a:rPr>
              <a:t>个周期。</a:t>
            </a:r>
            <a:endParaRPr lang="en-US" altLang="zh-CN" sz="2000" b="1" dirty="0">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2" name="日期占位符 1">
            <a:extLst>
              <a:ext uri="{FF2B5EF4-FFF2-40B4-BE49-F238E27FC236}">
                <a16:creationId xmlns:a16="http://schemas.microsoft.com/office/drawing/2014/main" id="{7A17790C-6594-0574-90BE-A50635058139}"/>
              </a:ext>
            </a:extLst>
          </p:cNvPr>
          <p:cNvSpPr>
            <a:spLocks noGrp="1"/>
          </p:cNvSpPr>
          <p:nvPr>
            <p:ph type="dt" sz="half" idx="10"/>
          </p:nvPr>
        </p:nvSpPr>
        <p:spPr/>
        <p:txBody>
          <a:bodyPr/>
          <a:lstStyle/>
          <a:p>
            <a:pPr>
              <a:defRPr/>
            </a:pPr>
            <a:fld id="{01D21CF1-6B28-4E76-980E-41B9AF9B61DC}"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5D2970A5-C3AA-1772-A1DA-EB0DE4EC603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28A851EF-B700-01AB-070E-89A463B1D17C}"/>
              </a:ext>
            </a:extLst>
          </p:cNvPr>
          <p:cNvSpPr>
            <a:spLocks noGrp="1"/>
          </p:cNvSpPr>
          <p:nvPr>
            <p:ph type="sldNum" sz="quarter" idx="12"/>
          </p:nvPr>
        </p:nvSpPr>
        <p:spPr/>
        <p:txBody>
          <a:bodyPr/>
          <a:lstStyle/>
          <a:p>
            <a:pPr>
              <a:defRPr/>
            </a:pPr>
            <a:fld id="{8BCAC33D-D29A-48B3-BCD6-381D3D720D26}" type="slidenum">
              <a:rPr lang="zh-CN" altLang="en-US" smtClean="0"/>
              <a:t>68</a:t>
            </a:fld>
            <a:endParaRPr lang="en-US" altLang="zh-CN"/>
          </a:p>
        </p:txBody>
      </p:sp>
    </p:spTree>
    <p:extLst>
      <p:ext uri="{BB962C8B-B14F-4D97-AF65-F5344CB8AC3E}">
        <p14:creationId xmlns:p14="http://schemas.microsoft.com/office/powerpoint/2010/main" val="1203744085"/>
      </p:ext>
    </p:extLst>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0161" name="内容占位符 220160"/>
          <p:cNvGraphicFramePr>
            <a:graphicFrameLocks noGrp="1"/>
          </p:cNvGraphicFramePr>
          <p:nvPr>
            <p:ph/>
          </p:nvPr>
        </p:nvGraphicFramePr>
        <p:xfrm>
          <a:off x="251520" y="154841"/>
          <a:ext cx="8353425" cy="6548317"/>
        </p:xfrm>
        <a:graphic>
          <a:graphicData uri="http://schemas.openxmlformats.org/drawingml/2006/table">
            <a:tbl>
              <a:tblPr/>
              <a:tblGrid>
                <a:gridCol w="647700">
                  <a:extLst>
                    <a:ext uri="{9D8B030D-6E8A-4147-A177-3AD203B41FA5}">
                      <a16:colId xmlns:a16="http://schemas.microsoft.com/office/drawing/2014/main" val="20000"/>
                    </a:ext>
                  </a:extLst>
                </a:gridCol>
                <a:gridCol w="2449512">
                  <a:extLst>
                    <a:ext uri="{9D8B030D-6E8A-4147-A177-3AD203B41FA5}">
                      <a16:colId xmlns:a16="http://schemas.microsoft.com/office/drawing/2014/main" val="20001"/>
                    </a:ext>
                  </a:extLst>
                </a:gridCol>
                <a:gridCol w="774700">
                  <a:extLst>
                    <a:ext uri="{9D8B030D-6E8A-4147-A177-3AD203B41FA5}">
                      <a16:colId xmlns:a16="http://schemas.microsoft.com/office/drawing/2014/main" val="20002"/>
                    </a:ext>
                  </a:extLst>
                </a:gridCol>
                <a:gridCol w="812800">
                  <a:extLst>
                    <a:ext uri="{9D8B030D-6E8A-4147-A177-3AD203B41FA5}">
                      <a16:colId xmlns:a16="http://schemas.microsoft.com/office/drawing/2014/main" val="20003"/>
                    </a:ext>
                  </a:extLst>
                </a:gridCol>
                <a:gridCol w="7874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2119313">
                  <a:extLst>
                    <a:ext uri="{9D8B030D-6E8A-4147-A177-3AD203B41FA5}">
                      <a16:colId xmlns:a16="http://schemas.microsoft.com/office/drawing/2014/main" val="20006"/>
                    </a:ext>
                  </a:extLst>
                </a:gridCol>
              </a:tblGrid>
              <a:tr h="387350">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rgbClr val="E24C05"/>
                          </a:solidFill>
                          <a:effectLst/>
                          <a:latin typeface="Times New Roman" panose="02020603050405020304" pitchFamily="18" charset="0"/>
                          <a:ea typeface="宋体" pitchFamily="2" charset="-122"/>
                          <a:cs typeface="Times New Roman" panose="02020603050405020304" pitchFamily="18" charset="0"/>
                        </a:rPr>
                        <a:t>遍数 </a:t>
                      </a:r>
                    </a:p>
                  </a:txBody>
                  <a:tcPr marL="90000" marR="90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a:ln>
                            <a:noFill/>
                          </a:ln>
                          <a:solidFill>
                            <a:srgbClr val="E24C05"/>
                          </a:solidFill>
                          <a:effectLst/>
                          <a:latin typeface="Times New Roman" panose="02020603050405020304" pitchFamily="18" charset="0"/>
                          <a:ea typeface="宋体" pitchFamily="2" charset="-122"/>
                          <a:cs typeface="Times New Roman" panose="02020603050405020304" pitchFamily="18" charset="0"/>
                        </a:rPr>
                        <a:t>指    令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a:ln>
                            <a:noFill/>
                          </a:ln>
                          <a:solidFill>
                            <a:srgbClr val="E24C05"/>
                          </a:solidFill>
                          <a:effectLst/>
                          <a:latin typeface="Times New Roman" panose="02020603050405020304" pitchFamily="18" charset="0"/>
                          <a:ea typeface="宋体" pitchFamily="2" charset="-122"/>
                          <a:cs typeface="Times New Roman" panose="02020603050405020304" pitchFamily="18" charset="0"/>
                        </a:rPr>
                        <a:t>流出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a:ln>
                            <a:noFill/>
                          </a:ln>
                          <a:solidFill>
                            <a:srgbClr val="E24C05"/>
                          </a:solidFill>
                          <a:effectLst/>
                          <a:latin typeface="Times New Roman" panose="02020603050405020304" pitchFamily="18" charset="0"/>
                          <a:ea typeface="宋体" pitchFamily="2" charset="-122"/>
                          <a:cs typeface="Times New Roman" panose="02020603050405020304" pitchFamily="18" charset="0"/>
                        </a:rPr>
                        <a:t>执行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a:ln>
                            <a:noFill/>
                          </a:ln>
                          <a:solidFill>
                            <a:srgbClr val="E24C05"/>
                          </a:solidFill>
                          <a:effectLst/>
                          <a:latin typeface="Times New Roman" panose="02020603050405020304" pitchFamily="18" charset="0"/>
                          <a:ea typeface="宋体" pitchFamily="2" charset="-122"/>
                          <a:cs typeface="Times New Roman" panose="02020603050405020304" pitchFamily="18" charset="0"/>
                        </a:rPr>
                        <a:t>访存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a:ln>
                            <a:noFill/>
                          </a:ln>
                          <a:solidFill>
                            <a:srgbClr val="E24C05"/>
                          </a:solidFill>
                          <a:effectLst/>
                          <a:latin typeface="Times New Roman" panose="02020603050405020304" pitchFamily="18" charset="0"/>
                          <a:ea typeface="宋体" pitchFamily="2" charset="-122"/>
                          <a:cs typeface="Times New Roman" panose="02020603050405020304" pitchFamily="18" charset="0"/>
                        </a:rPr>
                        <a:t>写</a:t>
                      </a:r>
                      <a:r>
                        <a:rPr kumimoji="0" lang="en-US" altLang="zh-CN" sz="1800" b="1" i="0" u="none" strike="noStrike" cap="none" normalizeH="0" baseline="0">
                          <a:ln>
                            <a:noFill/>
                          </a:ln>
                          <a:solidFill>
                            <a:srgbClr val="E24C05"/>
                          </a:solidFill>
                          <a:effectLst/>
                          <a:latin typeface="Times New Roman" panose="02020603050405020304" pitchFamily="18" charset="0"/>
                          <a:ea typeface="宋体" pitchFamily="2" charset="-122"/>
                          <a:cs typeface="Times New Roman" panose="02020603050405020304" pitchFamily="18" charset="0"/>
                        </a:rPr>
                        <a:t>CDB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a:ln>
                            <a:noFill/>
                          </a:ln>
                          <a:solidFill>
                            <a:srgbClr val="E24C05"/>
                          </a:solidFill>
                          <a:effectLst/>
                          <a:latin typeface="Times New Roman" panose="02020603050405020304" pitchFamily="18" charset="0"/>
                          <a:ea typeface="宋体" pitchFamily="2" charset="-122"/>
                          <a:cs typeface="Times New Roman" panose="02020603050405020304" pitchFamily="18" charset="0"/>
                        </a:rPr>
                        <a:t>说明 </a:t>
                      </a:r>
                    </a:p>
                  </a:txBody>
                  <a:tcPr marL="90000" marR="90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3388">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rgbClr val="008000"/>
                          </a:solidFill>
                          <a:effectLst/>
                          <a:latin typeface="Times New Roman" panose="02020603050405020304" pitchFamily="18" charset="0"/>
                          <a:ea typeface="宋体" pitchFamily="2" charset="-122"/>
                          <a:cs typeface="Times New Roman" panose="02020603050405020304" pitchFamily="18" charset="0"/>
                        </a:rPr>
                        <a:t>1</a:t>
                      </a:r>
                    </a:p>
                  </a:txBody>
                  <a:tcPr marL="90000" marR="90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LD           F0,0(R1)</a:t>
                      </a:r>
                      <a:r>
                        <a:rPr kumimoji="0" lang="zh-CN" altLang="en-US"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流出第一条指令 </a:t>
                      </a:r>
                    </a:p>
                  </a:txBody>
                  <a:tcPr marL="90000" marR="90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7350">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rgbClr val="008000"/>
                          </a:solidFill>
                          <a:effectLst/>
                          <a:latin typeface="Times New Roman" panose="02020603050405020304" pitchFamily="18" charset="0"/>
                          <a:ea typeface="宋体" pitchFamily="2" charset="-122"/>
                          <a:cs typeface="Times New Roman" panose="02020603050405020304" pitchFamily="18" charset="0"/>
                        </a:rPr>
                        <a:t>1</a:t>
                      </a:r>
                    </a:p>
                  </a:txBody>
                  <a:tcPr marL="90000" marR="90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ADDD     F4,F0,F2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5</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8</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等待</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LD</a:t>
                      </a: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的结果 </a:t>
                      </a:r>
                    </a:p>
                  </a:txBody>
                  <a:tcPr marL="90000" marR="90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7350">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rgbClr val="008000"/>
                          </a:solidFill>
                          <a:effectLst/>
                          <a:latin typeface="Times New Roman" panose="02020603050405020304" pitchFamily="18" charset="0"/>
                          <a:ea typeface="宋体" pitchFamily="2" charset="-122"/>
                          <a:cs typeface="Times New Roman" panose="02020603050405020304" pitchFamily="18" charset="0"/>
                        </a:rPr>
                        <a:t>1</a:t>
                      </a:r>
                    </a:p>
                  </a:txBody>
                  <a:tcPr marL="90000" marR="90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SD            0(R1),F4</a:t>
                      </a:r>
                      <a:r>
                        <a:rPr kumimoji="0" lang="zh-CN" altLang="en-US"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9</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等待</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ADDD</a:t>
                      </a: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的结果 </a:t>
                      </a:r>
                    </a:p>
                  </a:txBody>
                  <a:tcPr marL="90000" marR="90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7350">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rgbClr val="008000"/>
                          </a:solidFill>
                          <a:effectLst/>
                          <a:latin typeface="Times New Roman" panose="02020603050405020304" pitchFamily="18" charset="0"/>
                          <a:ea typeface="宋体" pitchFamily="2" charset="-122"/>
                          <a:cs typeface="Times New Roman" panose="02020603050405020304" pitchFamily="18" charset="0"/>
                        </a:rPr>
                        <a:t>1</a:t>
                      </a:r>
                    </a:p>
                  </a:txBody>
                  <a:tcPr marL="90000" marR="90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SUBI        R1,R1,#-8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zh-CN"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5</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rgbClr val="FF0000"/>
                          </a:solidFill>
                          <a:effectLst/>
                          <a:latin typeface="Times New Roman" panose="02020603050405020304" pitchFamily="18" charset="0"/>
                          <a:ea typeface="宋体" pitchFamily="2" charset="-122"/>
                          <a:cs typeface="Times New Roman" panose="02020603050405020304" pitchFamily="18" charset="0"/>
                        </a:rPr>
                        <a:t>等待计算的</a:t>
                      </a:r>
                      <a:r>
                        <a:rPr kumimoji="0" lang="en-US" altLang="zh-CN" sz="1800" b="1" i="0" u="none" strike="noStrike" cap="none" normalizeH="0" baseline="0" dirty="0">
                          <a:ln>
                            <a:noFill/>
                          </a:ln>
                          <a:solidFill>
                            <a:srgbClr val="FF0000"/>
                          </a:solidFill>
                          <a:effectLst/>
                          <a:latin typeface="Times New Roman" panose="02020603050405020304" pitchFamily="18" charset="0"/>
                          <a:ea typeface="宋体" pitchFamily="2" charset="-122"/>
                          <a:cs typeface="Times New Roman" panose="02020603050405020304" pitchFamily="18" charset="0"/>
                        </a:rPr>
                        <a:t>ALU</a:t>
                      </a:r>
                    </a:p>
                  </a:txBody>
                  <a:tcPr marL="90000" marR="90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7350">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rgbClr val="008000"/>
                          </a:solidFill>
                          <a:effectLst/>
                          <a:latin typeface="Times New Roman" panose="02020603050405020304" pitchFamily="18" charset="0"/>
                          <a:ea typeface="宋体" pitchFamily="2" charset="-122"/>
                          <a:cs typeface="Times New Roman" panose="02020603050405020304" pitchFamily="18" charset="0"/>
                        </a:rPr>
                        <a:t>1</a:t>
                      </a:r>
                    </a:p>
                  </a:txBody>
                  <a:tcPr marL="90000" marR="90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BNEZ      R1,Loop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6</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zh-CN"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等待</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SUBI</a:t>
                      </a: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的结果 </a:t>
                      </a:r>
                    </a:p>
                  </a:txBody>
                  <a:tcPr marL="90000" marR="90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7350">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rgbClr val="008000"/>
                          </a:solidFill>
                          <a:effectLst/>
                          <a:latin typeface="Times New Roman" panose="02020603050405020304" pitchFamily="18" charset="0"/>
                          <a:ea typeface="宋体" pitchFamily="2" charset="-122"/>
                          <a:cs typeface="Times New Roman" panose="02020603050405020304" pitchFamily="18" charset="0"/>
                        </a:rPr>
                        <a:t>2</a:t>
                      </a:r>
                    </a:p>
                  </a:txBody>
                  <a:tcPr marL="90000" marR="90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LD           F0,0(R1)</a:t>
                      </a:r>
                      <a:r>
                        <a:rPr kumimoji="0" lang="zh-CN" altLang="en-US"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7</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8</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9</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rgbClr val="FF0000"/>
                          </a:solidFill>
                          <a:effectLst/>
                          <a:latin typeface="Times New Roman" panose="02020603050405020304" pitchFamily="18" charset="0"/>
                          <a:ea typeface="宋体" pitchFamily="2" charset="-122"/>
                          <a:cs typeface="Times New Roman" panose="02020603050405020304" pitchFamily="18" charset="0"/>
                        </a:rPr>
                        <a:t>等待</a:t>
                      </a:r>
                      <a:r>
                        <a:rPr kumimoji="0" lang="en-US" altLang="zh-CN" sz="1800" b="1" i="0" u="none" strike="noStrike" cap="none" normalizeH="0" baseline="0" dirty="0">
                          <a:ln>
                            <a:noFill/>
                          </a:ln>
                          <a:solidFill>
                            <a:srgbClr val="FF0000"/>
                          </a:solidFill>
                          <a:effectLst/>
                          <a:latin typeface="Times New Roman" panose="02020603050405020304" pitchFamily="18" charset="0"/>
                          <a:ea typeface="宋体" pitchFamily="2" charset="-122"/>
                          <a:cs typeface="Times New Roman" panose="02020603050405020304" pitchFamily="18" charset="0"/>
                        </a:rPr>
                        <a:t>BNEZ</a:t>
                      </a:r>
                      <a:r>
                        <a:rPr kumimoji="0" lang="zh-CN" altLang="en-US" sz="1800" b="1" i="0" u="none" strike="noStrike" cap="none" normalizeH="0" baseline="0" dirty="0">
                          <a:ln>
                            <a:noFill/>
                          </a:ln>
                          <a:solidFill>
                            <a:srgbClr val="FF0000"/>
                          </a:solidFill>
                          <a:effectLst/>
                          <a:latin typeface="Times New Roman" panose="02020603050405020304" pitchFamily="18" charset="0"/>
                          <a:ea typeface="宋体" pitchFamily="2" charset="-122"/>
                          <a:cs typeface="Times New Roman" panose="02020603050405020304" pitchFamily="18" charset="0"/>
                        </a:rPr>
                        <a:t>完成 </a:t>
                      </a:r>
                    </a:p>
                  </a:txBody>
                  <a:tcPr marL="90000" marR="90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2113">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rgbClr val="008000"/>
                          </a:solidFill>
                          <a:effectLst/>
                          <a:latin typeface="Times New Roman" panose="02020603050405020304" pitchFamily="18" charset="0"/>
                          <a:ea typeface="宋体" pitchFamily="2" charset="-122"/>
                          <a:cs typeface="Times New Roman" panose="02020603050405020304" pitchFamily="18" charset="0"/>
                        </a:rPr>
                        <a:t>2</a:t>
                      </a:r>
                    </a:p>
                  </a:txBody>
                  <a:tcPr marL="90000" marR="90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ADDD     F4,F0,F2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zh-CN"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13</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等待</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LD</a:t>
                      </a: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的结果 </a:t>
                      </a:r>
                    </a:p>
                  </a:txBody>
                  <a:tcPr marL="90000" marR="90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7350">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rgbClr val="008000"/>
                          </a:solidFill>
                          <a:effectLst/>
                          <a:latin typeface="Times New Roman" panose="02020603050405020304" pitchFamily="18" charset="0"/>
                          <a:ea typeface="宋体" pitchFamily="2" charset="-122"/>
                          <a:cs typeface="Times New Roman" panose="02020603050405020304" pitchFamily="18" charset="0"/>
                        </a:rPr>
                        <a:t>2</a:t>
                      </a:r>
                    </a:p>
                  </a:txBody>
                  <a:tcPr marL="90000" marR="90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SD           0(R1),F4</a:t>
                      </a:r>
                      <a:r>
                        <a:rPr kumimoji="0" lang="zh-CN" altLang="en-US"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5</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8</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14</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等待</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ADDD</a:t>
                      </a: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的结果 </a:t>
                      </a:r>
                    </a:p>
                  </a:txBody>
                  <a:tcPr marL="90000" marR="90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7350">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rgbClr val="008000"/>
                          </a:solidFill>
                          <a:effectLst/>
                          <a:latin typeface="Times New Roman" panose="02020603050405020304" pitchFamily="18" charset="0"/>
                          <a:ea typeface="宋体" pitchFamily="2" charset="-122"/>
                          <a:cs typeface="Times New Roman" panose="02020603050405020304" pitchFamily="18" charset="0"/>
                        </a:rPr>
                        <a:t>2</a:t>
                      </a:r>
                    </a:p>
                  </a:txBody>
                  <a:tcPr marL="90000" marR="90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SUBI       R1,R1,#-8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5</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9</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等待</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ALU </a:t>
                      </a:r>
                    </a:p>
                  </a:txBody>
                  <a:tcPr marL="90000" marR="90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87350">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rgbClr val="008000"/>
                          </a:solidFill>
                          <a:effectLst/>
                          <a:latin typeface="Times New Roman" panose="02020603050405020304" pitchFamily="18" charset="0"/>
                          <a:ea typeface="宋体" pitchFamily="2" charset="-122"/>
                          <a:cs typeface="Times New Roman" panose="02020603050405020304" pitchFamily="18" charset="0"/>
                        </a:rPr>
                        <a:t>2</a:t>
                      </a:r>
                    </a:p>
                  </a:txBody>
                  <a:tcPr marL="90000" marR="90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BNEZ     R1,Loop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6</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等待</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SUBI</a:t>
                      </a: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的结果 </a:t>
                      </a:r>
                    </a:p>
                  </a:txBody>
                  <a:tcPr marL="90000" marR="90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87350">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rgbClr val="008000"/>
                          </a:solidFill>
                          <a:effectLst/>
                          <a:latin typeface="Times New Roman" panose="02020603050405020304" pitchFamily="18" charset="0"/>
                          <a:ea typeface="宋体" pitchFamily="2" charset="-122"/>
                          <a:cs typeface="Times New Roman" panose="02020603050405020304" pitchFamily="18" charset="0"/>
                        </a:rPr>
                        <a:t>3</a:t>
                      </a:r>
                    </a:p>
                  </a:txBody>
                  <a:tcPr marL="90000" marR="90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LD          F0,0(R1)</a:t>
                      </a:r>
                      <a:r>
                        <a:rPr kumimoji="0" lang="zh-CN" altLang="en-US"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7</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12</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13</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14</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等待</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BNEZ</a:t>
                      </a: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完成 </a:t>
                      </a:r>
                    </a:p>
                  </a:txBody>
                  <a:tcPr marL="90000" marR="90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87350">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rgbClr val="008000"/>
                          </a:solidFill>
                          <a:effectLst/>
                          <a:latin typeface="Times New Roman" panose="02020603050405020304" pitchFamily="18" charset="0"/>
                          <a:ea typeface="宋体" pitchFamily="2" charset="-122"/>
                          <a:cs typeface="Times New Roman" panose="02020603050405020304" pitchFamily="18" charset="0"/>
                        </a:rPr>
                        <a:t>3</a:t>
                      </a:r>
                    </a:p>
                  </a:txBody>
                  <a:tcPr marL="90000" marR="90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ADDD    F4,F0,F2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7</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15</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18</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等待</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LD</a:t>
                      </a: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的结果 </a:t>
                      </a:r>
                    </a:p>
                  </a:txBody>
                  <a:tcPr marL="90000" marR="90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87350">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rgbClr val="008000"/>
                          </a:solidFill>
                          <a:effectLst/>
                          <a:latin typeface="Times New Roman" panose="02020603050405020304" pitchFamily="18" charset="0"/>
                          <a:ea typeface="宋体" pitchFamily="2" charset="-122"/>
                          <a:cs typeface="Times New Roman" panose="02020603050405020304" pitchFamily="18" charset="0"/>
                        </a:rPr>
                        <a:t>3</a:t>
                      </a:r>
                    </a:p>
                  </a:txBody>
                  <a:tcPr marL="90000" marR="90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SD          0(R1),F4</a:t>
                      </a:r>
                      <a:r>
                        <a:rPr kumimoji="0" lang="zh-CN" altLang="en-US"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8</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13</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19</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等待</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ADDD</a:t>
                      </a: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的结果 </a:t>
                      </a:r>
                    </a:p>
                  </a:txBody>
                  <a:tcPr marL="90000" marR="90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87350">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rgbClr val="008000"/>
                          </a:solidFill>
                          <a:effectLst/>
                          <a:latin typeface="Times New Roman" panose="02020603050405020304" pitchFamily="18" charset="0"/>
                          <a:ea typeface="宋体" pitchFamily="2" charset="-122"/>
                          <a:cs typeface="Times New Roman" panose="02020603050405020304" pitchFamily="18" charset="0"/>
                        </a:rPr>
                        <a:t>3</a:t>
                      </a:r>
                    </a:p>
                  </a:txBody>
                  <a:tcPr marL="90000" marR="90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SUBI      R1,R1,#-8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8</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14</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15</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等待</a:t>
                      </a: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ALU </a:t>
                      </a:r>
                    </a:p>
                  </a:txBody>
                  <a:tcPr marL="90000" marR="90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87350">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rgbClr val="008000"/>
                          </a:solidFill>
                          <a:effectLst/>
                          <a:latin typeface="Times New Roman" panose="02020603050405020304" pitchFamily="18" charset="0"/>
                          <a:ea typeface="宋体" pitchFamily="2" charset="-122"/>
                          <a:cs typeface="Times New Roman" panose="02020603050405020304" pitchFamily="18" charset="0"/>
                        </a:rPr>
                        <a:t>3</a:t>
                      </a:r>
                    </a:p>
                  </a:txBody>
                  <a:tcPr marL="90000" marR="90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2"/>
                          </a:solidFill>
                          <a:effectLst/>
                          <a:latin typeface="Times New Roman" panose="02020603050405020304" pitchFamily="18" charset="0"/>
                          <a:ea typeface="宋体" pitchFamily="2" charset="-122"/>
                          <a:cs typeface="Times New Roman" panose="02020603050405020304" pitchFamily="18" charset="0"/>
                        </a:rPr>
                        <a:t>BNEZ     R1,Loop  </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9</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16</a:t>
                      </a: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zh-CN"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90000" marR="90000" marT="28800" marB="28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等待</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SUBI</a:t>
                      </a: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的结果 </a:t>
                      </a:r>
                    </a:p>
                  </a:txBody>
                  <a:tcPr marL="90000" marR="90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3" name="AutoShape 3">
            <a:extLst>
              <a:ext uri="{FF2B5EF4-FFF2-40B4-BE49-F238E27FC236}">
                <a16:creationId xmlns:a16="http://schemas.microsoft.com/office/drawing/2014/main" id="{4CA4C04A-EEB9-4E78-A677-E82274A0EFC3}"/>
              </a:ext>
            </a:extLst>
          </p:cNvPr>
          <p:cNvSpPr>
            <a:spLocks noChangeArrowheads="1"/>
          </p:cNvSpPr>
          <p:nvPr/>
        </p:nvSpPr>
        <p:spPr bwMode="auto">
          <a:xfrm>
            <a:off x="4283968" y="1700808"/>
            <a:ext cx="504056" cy="648072"/>
          </a:xfrm>
          <a:prstGeom prst="roundRect">
            <a:avLst>
              <a:gd name="adj" fmla="val 16667"/>
            </a:avLst>
          </a:prstGeom>
          <a:noFill/>
          <a:ln w="57240" cap="sq">
            <a:solidFill>
              <a:srgbClr val="0563C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4" name="AutoShape 3">
            <a:extLst>
              <a:ext uri="{FF2B5EF4-FFF2-40B4-BE49-F238E27FC236}">
                <a16:creationId xmlns:a16="http://schemas.microsoft.com/office/drawing/2014/main" id="{4AE442CC-F66A-4A33-A166-7D9CBFBA7FEF}"/>
              </a:ext>
            </a:extLst>
          </p:cNvPr>
          <p:cNvSpPr>
            <a:spLocks noChangeArrowheads="1"/>
          </p:cNvSpPr>
          <p:nvPr/>
        </p:nvSpPr>
        <p:spPr bwMode="auto">
          <a:xfrm>
            <a:off x="4319972" y="2492896"/>
            <a:ext cx="504056" cy="648072"/>
          </a:xfrm>
          <a:prstGeom prst="roundRect">
            <a:avLst>
              <a:gd name="adj" fmla="val 16667"/>
            </a:avLst>
          </a:prstGeom>
          <a:noFill/>
          <a:ln w="57240" cap="sq">
            <a:solidFill>
              <a:srgbClr val="0563C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2" name="日期占位符 1">
            <a:extLst>
              <a:ext uri="{FF2B5EF4-FFF2-40B4-BE49-F238E27FC236}">
                <a16:creationId xmlns:a16="http://schemas.microsoft.com/office/drawing/2014/main" id="{1B7C64F5-CD7E-D63A-AFDB-10DA4ABCAC80}"/>
              </a:ext>
            </a:extLst>
          </p:cNvPr>
          <p:cNvSpPr>
            <a:spLocks noGrp="1"/>
          </p:cNvSpPr>
          <p:nvPr>
            <p:ph type="dt" sz="half" idx="10"/>
          </p:nvPr>
        </p:nvSpPr>
        <p:spPr/>
        <p:txBody>
          <a:bodyPr/>
          <a:lstStyle/>
          <a:p>
            <a:pPr>
              <a:defRPr/>
            </a:pPr>
            <a:fld id="{EFD101E6-FA37-43BE-BEC8-3E8BC29C810F}" type="datetime1">
              <a:rPr lang="zh-CN" altLang="en-US" smtClean="0"/>
              <a:t>2025/10/28</a:t>
            </a:fld>
            <a:endParaRPr lang="en-US" altLang="zh-CN"/>
          </a:p>
        </p:txBody>
      </p:sp>
      <p:sp>
        <p:nvSpPr>
          <p:cNvPr id="5" name="页脚占位符 4">
            <a:extLst>
              <a:ext uri="{FF2B5EF4-FFF2-40B4-BE49-F238E27FC236}">
                <a16:creationId xmlns:a16="http://schemas.microsoft.com/office/drawing/2014/main" id="{305DE3C9-8381-D84B-7B1B-A7F7E5E1306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6" name="灯片编号占位符 5">
            <a:extLst>
              <a:ext uri="{FF2B5EF4-FFF2-40B4-BE49-F238E27FC236}">
                <a16:creationId xmlns:a16="http://schemas.microsoft.com/office/drawing/2014/main" id="{5DFAB5C9-A936-E87C-FD69-E73521F8AB0E}"/>
              </a:ext>
            </a:extLst>
          </p:cNvPr>
          <p:cNvSpPr>
            <a:spLocks noGrp="1"/>
          </p:cNvSpPr>
          <p:nvPr>
            <p:ph type="sldNum" sz="quarter" idx="12"/>
          </p:nvPr>
        </p:nvSpPr>
        <p:spPr/>
        <p:txBody>
          <a:bodyPr/>
          <a:lstStyle/>
          <a:p>
            <a:pPr>
              <a:defRPr/>
            </a:pPr>
            <a:fld id="{0D31C944-F470-43DB-AA6A-FA332AA1ED5F}" type="slidenum">
              <a:rPr lang="en-US" altLang="zh-CN" smtClean="0"/>
              <a:pPr>
                <a:defRPr/>
              </a:pPr>
              <a:t>69</a:t>
            </a:fld>
            <a:endParaRPr lang="en-US" altLang="zh-CN"/>
          </a:p>
        </p:txBody>
      </p:sp>
    </p:spTree>
    <p:extLst>
      <p:ext uri="{BB962C8B-B14F-4D97-AF65-F5344CB8AC3E}">
        <p14:creationId xmlns:p14="http://schemas.microsoft.com/office/powerpoint/2010/main" val="4193321135"/>
      </p:ext>
    </p:extLst>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Rectangle 3" descr="Rectangle: Click to edit Master text styles&#10;Second level&#10;Third level&#10;Fourth level&#10;Fifth level"/>
          <p:cNvSpPr>
            <a:spLocks noGrp="1" noChangeArrowheads="1"/>
          </p:cNvSpPr>
          <p:nvPr>
            <p:ph idx="1"/>
          </p:nvPr>
        </p:nvSpPr>
        <p:spPr>
          <a:xfrm>
            <a:off x="323850" y="620713"/>
            <a:ext cx="8229600" cy="4525962"/>
          </a:xfrm>
        </p:spPr>
        <p:txBody>
          <a:bodyPr/>
          <a:lstStyle/>
          <a:p>
            <a:pPr marL="457200" indent="-457200" eaLnBrk="1" hangingPunct="1">
              <a:lnSpc>
                <a:spcPct val="110000"/>
              </a:lnSpc>
              <a:buFont typeface="Wingdings" pitchFamily="2" charset="2"/>
              <a:buNone/>
              <a:defRPr/>
            </a:pPr>
            <a:r>
              <a:rPr lang="zh-CN" altLang="en-US" sz="2400" b="1" dirty="0">
                <a:latin typeface="Times New Roman" panose="02020603050405020304" pitchFamily="18" charset="0"/>
                <a:ea typeface="+mj-ea"/>
                <a:cs typeface="Times New Roman" panose="02020603050405020304" pitchFamily="18" charset="0"/>
              </a:rPr>
              <a:t>可以看出：</a:t>
            </a:r>
          </a:p>
          <a:p>
            <a:pPr marL="1085850" lvl="1" indent="-457200" eaLnBrk="1" hangingPunct="1">
              <a:lnSpc>
                <a:spcPct val="11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每</a:t>
            </a:r>
            <a:r>
              <a:rPr lang="en-US" altLang="zh-CN" sz="2400" b="1" dirty="0">
                <a:solidFill>
                  <a:srgbClr val="9933FF"/>
                </a:solidFill>
                <a:latin typeface="Times New Roman" panose="02020603050405020304" pitchFamily="18" charset="0"/>
                <a:ea typeface="+mj-ea"/>
                <a:cs typeface="Times New Roman" panose="02020603050405020304" pitchFamily="18" charset="0"/>
              </a:rPr>
              <a:t>3</a:t>
            </a:r>
            <a:r>
              <a:rPr lang="zh-CN" altLang="en-US" sz="2400" b="1" dirty="0">
                <a:latin typeface="Times New Roman" panose="02020603050405020304" pitchFamily="18" charset="0"/>
                <a:ea typeface="+mj-ea"/>
                <a:cs typeface="Times New Roman" panose="02020603050405020304" pitchFamily="18" charset="0"/>
              </a:rPr>
              <a:t>个时钟周期就执行一个新循环迭代，每个循环</a:t>
            </a:r>
            <a:r>
              <a:rPr lang="en-US" altLang="zh-CN" sz="2400" b="1" dirty="0">
                <a:solidFill>
                  <a:srgbClr val="9933FF"/>
                </a:solidFill>
                <a:latin typeface="Times New Roman" panose="02020603050405020304" pitchFamily="18" charset="0"/>
                <a:ea typeface="+mj-ea"/>
                <a:cs typeface="Times New Roman" panose="02020603050405020304" pitchFamily="18" charset="0"/>
              </a:rPr>
              <a:t>5</a:t>
            </a:r>
            <a:r>
              <a:rPr lang="zh-CN" altLang="en-US" sz="2400" b="1" dirty="0">
                <a:latin typeface="Times New Roman" panose="02020603050405020304" pitchFamily="18" charset="0"/>
                <a:ea typeface="+mj-ea"/>
                <a:cs typeface="Times New Roman" panose="02020603050405020304" pitchFamily="18" charset="0"/>
              </a:rPr>
              <a:t>条指令。 </a:t>
            </a:r>
          </a:p>
          <a:p>
            <a:pPr lvl="2" eaLnBrk="1" hangingPunct="1">
              <a:lnSpc>
                <a:spcPct val="110000"/>
              </a:lnSpc>
              <a:buFont typeface="Wingdings" pitchFamily="2" charset="2"/>
              <a:buNone/>
              <a:defRPr/>
            </a:pPr>
            <a:r>
              <a:rPr lang="zh-CN" altLang="en-US" b="1" dirty="0">
                <a:latin typeface="Times New Roman" panose="02020603050405020304" pitchFamily="18" charset="0"/>
                <a:ea typeface="+mj-ea"/>
                <a:cs typeface="Times New Roman" panose="02020603050405020304" pitchFamily="18" charset="0"/>
              </a:rPr>
              <a:t>       </a:t>
            </a:r>
            <a:r>
              <a:rPr lang="en-US" altLang="zh-CN" b="1" dirty="0">
                <a:solidFill>
                  <a:srgbClr val="9933FF"/>
                </a:solidFill>
                <a:latin typeface="Times New Roman" panose="02020603050405020304" pitchFamily="18" charset="0"/>
                <a:ea typeface="+mj-ea"/>
                <a:cs typeface="Times New Roman" panose="02020603050405020304" pitchFamily="18" charset="0"/>
              </a:rPr>
              <a:t>IPC</a:t>
            </a:r>
            <a:r>
              <a:rPr lang="zh-CN" altLang="en-US" b="1" dirty="0">
                <a:solidFill>
                  <a:srgbClr val="9933FF"/>
                </a:solidFill>
                <a:latin typeface="Times New Roman" panose="02020603050405020304" pitchFamily="18" charset="0"/>
                <a:ea typeface="+mj-ea"/>
                <a:cs typeface="Times New Roman" panose="02020603050405020304" pitchFamily="18" charset="0"/>
              </a:rPr>
              <a:t>＝</a:t>
            </a:r>
            <a:r>
              <a:rPr lang="en-US" altLang="zh-CN" b="1" dirty="0">
                <a:solidFill>
                  <a:srgbClr val="9933FF"/>
                </a:solidFill>
                <a:latin typeface="Times New Roman" panose="02020603050405020304" pitchFamily="18" charset="0"/>
                <a:ea typeface="+mj-ea"/>
                <a:cs typeface="Times New Roman" panose="02020603050405020304" pitchFamily="18" charset="0"/>
              </a:rPr>
              <a:t>5/3</a:t>
            </a:r>
            <a:r>
              <a:rPr lang="zh-CN" altLang="en-US" b="1" dirty="0">
                <a:solidFill>
                  <a:srgbClr val="9933FF"/>
                </a:solidFill>
                <a:latin typeface="Times New Roman" panose="02020603050405020304" pitchFamily="18" charset="0"/>
                <a:ea typeface="+mj-ea"/>
                <a:cs typeface="Times New Roman" panose="02020603050405020304" pitchFamily="18" charset="0"/>
              </a:rPr>
              <a:t>＝</a:t>
            </a:r>
            <a:r>
              <a:rPr lang="en-US" altLang="zh-CN" b="1" dirty="0">
                <a:solidFill>
                  <a:srgbClr val="9933FF"/>
                </a:solidFill>
                <a:latin typeface="Times New Roman" panose="02020603050405020304" pitchFamily="18" charset="0"/>
                <a:ea typeface="+mj-ea"/>
                <a:cs typeface="Times New Roman" panose="02020603050405020304" pitchFamily="18" charset="0"/>
              </a:rPr>
              <a:t>1.67</a:t>
            </a:r>
            <a:r>
              <a:rPr lang="zh-CN" altLang="en-US" b="1" dirty="0">
                <a:latin typeface="Times New Roman" panose="02020603050405020304" pitchFamily="18" charset="0"/>
                <a:ea typeface="+mj-ea"/>
                <a:cs typeface="Times New Roman" panose="02020603050405020304" pitchFamily="18" charset="0"/>
              </a:rPr>
              <a:t>条</a:t>
            </a:r>
            <a:r>
              <a:rPr lang="en-US" altLang="zh-CN" b="1" dirty="0">
                <a:latin typeface="Times New Roman" panose="02020603050405020304" pitchFamily="18" charset="0"/>
                <a:ea typeface="+mj-ea"/>
                <a:cs typeface="Times New Roman" panose="02020603050405020304" pitchFamily="18" charset="0"/>
              </a:rPr>
              <a:t>/</a:t>
            </a:r>
            <a:r>
              <a:rPr lang="zh-CN" altLang="en-US" b="1" dirty="0">
                <a:latin typeface="Times New Roman" panose="02020603050405020304" pitchFamily="18" charset="0"/>
                <a:ea typeface="+mj-ea"/>
                <a:cs typeface="Times New Roman" panose="02020603050405020304" pitchFamily="18" charset="0"/>
              </a:rPr>
              <a:t>拍</a:t>
            </a:r>
          </a:p>
          <a:p>
            <a:pPr marL="1085850" lvl="1" indent="-457200" eaLnBrk="1" hangingPunct="1">
              <a:lnSpc>
                <a:spcPct val="11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虽然指令的流出率比较高，但是执行效率并不是很高。</a:t>
            </a:r>
          </a:p>
          <a:p>
            <a:pPr lvl="2" eaLnBrk="1" hangingPunct="1">
              <a:lnSpc>
                <a:spcPct val="110000"/>
              </a:lnSpc>
              <a:buFont typeface="Arial" charset="0"/>
              <a:buChar char="•"/>
              <a:defRPr/>
            </a:pPr>
            <a:r>
              <a:rPr lang="en-US" altLang="zh-CN" b="1" dirty="0">
                <a:solidFill>
                  <a:srgbClr val="9933FF"/>
                </a:solidFill>
                <a:latin typeface="Times New Roman" panose="02020603050405020304" pitchFamily="18" charset="0"/>
                <a:ea typeface="+mj-ea"/>
                <a:cs typeface="Times New Roman" panose="02020603050405020304" pitchFamily="18" charset="0"/>
              </a:rPr>
              <a:t>16</a:t>
            </a:r>
            <a:r>
              <a:rPr lang="zh-CN" altLang="en-US" b="1" dirty="0">
                <a:latin typeface="Times New Roman" panose="02020603050405020304" pitchFamily="18" charset="0"/>
                <a:ea typeface="+mj-ea"/>
                <a:cs typeface="Times New Roman" panose="02020603050405020304" pitchFamily="18" charset="0"/>
              </a:rPr>
              <a:t>拍共执行</a:t>
            </a:r>
            <a:r>
              <a:rPr lang="en-US" altLang="zh-CN" b="1" dirty="0">
                <a:solidFill>
                  <a:srgbClr val="9933FF"/>
                </a:solidFill>
                <a:latin typeface="Times New Roman" panose="02020603050405020304" pitchFamily="18" charset="0"/>
                <a:ea typeface="+mj-ea"/>
                <a:cs typeface="Times New Roman" panose="02020603050405020304" pitchFamily="18" charset="0"/>
              </a:rPr>
              <a:t>15</a:t>
            </a:r>
            <a:r>
              <a:rPr lang="zh-CN" altLang="en-US" b="1" dirty="0">
                <a:latin typeface="Times New Roman" panose="02020603050405020304" pitchFamily="18" charset="0"/>
                <a:ea typeface="+mj-ea"/>
                <a:cs typeface="Times New Roman" panose="02020603050405020304" pitchFamily="18" charset="0"/>
              </a:rPr>
              <a:t>条指令，</a:t>
            </a:r>
          </a:p>
          <a:p>
            <a:pPr lvl="2" eaLnBrk="1" hangingPunct="1">
              <a:lnSpc>
                <a:spcPct val="110000"/>
              </a:lnSpc>
              <a:buFont typeface="Arial" charset="0"/>
              <a:buChar char="•"/>
              <a:defRPr/>
            </a:pPr>
            <a:r>
              <a:rPr lang="zh-CN" altLang="en-US" b="1" dirty="0">
                <a:latin typeface="Times New Roman" panose="02020603050405020304" pitchFamily="18" charset="0"/>
                <a:ea typeface="+mj-ea"/>
                <a:cs typeface="Times New Roman" panose="02020603050405020304" pitchFamily="18" charset="0"/>
              </a:rPr>
              <a:t>平均指令执行速度为</a:t>
            </a:r>
            <a:r>
              <a:rPr lang="en-US" altLang="zh-CN" b="1" dirty="0">
                <a:solidFill>
                  <a:srgbClr val="9933FF"/>
                </a:solidFill>
                <a:latin typeface="Times New Roman" panose="02020603050405020304" pitchFamily="18" charset="0"/>
                <a:ea typeface="+mj-ea"/>
                <a:cs typeface="Times New Roman" panose="02020603050405020304" pitchFamily="18" charset="0"/>
              </a:rPr>
              <a:t>15/16</a:t>
            </a:r>
            <a:r>
              <a:rPr lang="zh-CN" altLang="en-US" b="1" dirty="0">
                <a:solidFill>
                  <a:srgbClr val="9933FF"/>
                </a:solidFill>
                <a:latin typeface="Times New Roman" panose="02020603050405020304" pitchFamily="18" charset="0"/>
                <a:ea typeface="+mj-ea"/>
                <a:cs typeface="Times New Roman" panose="02020603050405020304" pitchFamily="18" charset="0"/>
              </a:rPr>
              <a:t>＝</a:t>
            </a:r>
            <a:r>
              <a:rPr lang="en-US" altLang="zh-CN" b="1" dirty="0">
                <a:solidFill>
                  <a:srgbClr val="9933FF"/>
                </a:solidFill>
                <a:latin typeface="Times New Roman" panose="02020603050405020304" pitchFamily="18" charset="0"/>
                <a:ea typeface="+mj-ea"/>
                <a:cs typeface="Times New Roman" panose="02020603050405020304" pitchFamily="18" charset="0"/>
              </a:rPr>
              <a:t>0.94</a:t>
            </a:r>
            <a:r>
              <a:rPr lang="zh-CN" altLang="en-US" b="1" dirty="0">
                <a:latin typeface="Times New Roman" panose="02020603050405020304" pitchFamily="18" charset="0"/>
                <a:ea typeface="+mj-ea"/>
                <a:cs typeface="Times New Roman" panose="02020603050405020304" pitchFamily="18" charset="0"/>
              </a:rPr>
              <a:t>条</a:t>
            </a:r>
            <a:r>
              <a:rPr lang="en-US" altLang="zh-CN" b="1" dirty="0">
                <a:latin typeface="Times New Roman" panose="02020603050405020304" pitchFamily="18" charset="0"/>
                <a:ea typeface="+mj-ea"/>
                <a:cs typeface="Times New Roman" panose="02020603050405020304" pitchFamily="18" charset="0"/>
              </a:rPr>
              <a:t>/</a:t>
            </a:r>
            <a:r>
              <a:rPr lang="zh-CN" altLang="en-US" b="1" dirty="0">
                <a:latin typeface="Times New Roman" panose="02020603050405020304" pitchFamily="18" charset="0"/>
                <a:ea typeface="+mj-ea"/>
                <a:cs typeface="Times New Roman" panose="02020603050405020304" pitchFamily="18" charset="0"/>
              </a:rPr>
              <a:t>拍。</a:t>
            </a:r>
          </a:p>
          <a:p>
            <a:pPr marL="1085850" lvl="1" indent="-457200" eaLnBrk="1" hangingPunct="1">
              <a:lnSpc>
                <a:spcPct val="11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原因是浮点运算少，</a:t>
            </a:r>
            <a:r>
              <a:rPr lang="en-US" altLang="zh-CN" sz="2400" b="1" dirty="0">
                <a:latin typeface="Times New Roman" panose="02020603050405020304" pitchFamily="18" charset="0"/>
                <a:ea typeface="+mj-ea"/>
                <a:cs typeface="Times New Roman" panose="02020603050405020304" pitchFamily="18" charset="0"/>
              </a:rPr>
              <a:t>ALU</a:t>
            </a:r>
            <a:r>
              <a:rPr lang="zh-CN" altLang="en-US" sz="2400" b="1" dirty="0">
                <a:latin typeface="Times New Roman" panose="02020603050405020304" pitchFamily="18" charset="0"/>
                <a:ea typeface="+mj-ea"/>
                <a:cs typeface="Times New Roman" panose="02020603050405020304" pitchFamily="18" charset="0"/>
              </a:rPr>
              <a:t>部件成了瓶颈。</a:t>
            </a:r>
            <a:endParaRPr lang="en-US" altLang="zh-CN" sz="2400" b="1" dirty="0">
              <a:latin typeface="Times New Roman" panose="02020603050405020304" pitchFamily="18" charset="0"/>
              <a:ea typeface="+mj-ea"/>
              <a:cs typeface="Times New Roman" panose="02020603050405020304" pitchFamily="18" charset="0"/>
            </a:endParaRPr>
          </a:p>
          <a:p>
            <a:pPr marL="1085850" lvl="1" indent="-457200" eaLnBrk="1" hangingPunct="1">
              <a:lnSpc>
                <a:spcPct val="110000"/>
              </a:lnSpc>
              <a:buFont typeface="Arial" charset="0"/>
              <a:buChar char="–"/>
              <a:defRPr/>
            </a:pPr>
            <a:endParaRPr lang="zh-CN" altLang="en-US" sz="2400" b="1" dirty="0">
              <a:latin typeface="Times New Roman" panose="02020603050405020304" pitchFamily="18" charset="0"/>
              <a:ea typeface="+mj-ea"/>
              <a:cs typeface="Times New Roman" panose="02020603050405020304" pitchFamily="18" charset="0"/>
            </a:endParaRPr>
          </a:p>
          <a:p>
            <a:pPr marL="1085850" lvl="1" indent="-457200" eaLnBrk="1" hangingPunct="1">
              <a:lnSpc>
                <a:spcPct val="110000"/>
              </a:lnSpc>
              <a:buFont typeface="Wingdings" pitchFamily="2" charset="2"/>
              <a:buNone/>
              <a:defRPr/>
            </a:pPr>
            <a:r>
              <a:rPr lang="zh-CN" altLang="en-US" sz="2400" b="1" dirty="0">
                <a:solidFill>
                  <a:srgbClr val="D60093"/>
                </a:solidFill>
                <a:latin typeface="Times New Roman" panose="02020603050405020304" pitchFamily="18" charset="0"/>
                <a:ea typeface="+mj-ea"/>
                <a:cs typeface="Times New Roman" panose="02020603050405020304" pitchFamily="18" charset="0"/>
              </a:rPr>
              <a:t>   解决方法：</a:t>
            </a:r>
            <a:r>
              <a:rPr lang="zh-CN" altLang="en-US" sz="2400" b="1" dirty="0">
                <a:latin typeface="Times New Roman" panose="02020603050405020304" pitchFamily="18" charset="0"/>
                <a:ea typeface="+mj-ea"/>
                <a:cs typeface="Times New Roman" panose="02020603050405020304" pitchFamily="18" charset="0"/>
              </a:rPr>
              <a:t>增加一个加法器，把</a:t>
            </a:r>
            <a:r>
              <a:rPr lang="en-US" altLang="zh-CN" sz="2400" b="1" dirty="0">
                <a:latin typeface="Times New Roman" panose="02020603050405020304" pitchFamily="18" charset="0"/>
                <a:ea typeface="+mj-ea"/>
                <a:cs typeface="Times New Roman" panose="02020603050405020304" pitchFamily="18" charset="0"/>
              </a:rPr>
              <a:t>ALU</a:t>
            </a:r>
            <a:r>
              <a:rPr lang="zh-CN" altLang="en-US" sz="2400" b="1" dirty="0">
                <a:latin typeface="Times New Roman" panose="02020603050405020304" pitchFamily="18" charset="0"/>
                <a:ea typeface="+mj-ea"/>
                <a:cs typeface="Times New Roman" panose="02020603050405020304" pitchFamily="18" charset="0"/>
              </a:rPr>
              <a:t>功能和地址运算功能分开。 </a:t>
            </a:r>
          </a:p>
        </p:txBody>
      </p:sp>
      <p:sp>
        <p:nvSpPr>
          <p:cNvPr id="2" name="日期占位符 1">
            <a:extLst>
              <a:ext uri="{FF2B5EF4-FFF2-40B4-BE49-F238E27FC236}">
                <a16:creationId xmlns:a16="http://schemas.microsoft.com/office/drawing/2014/main" id="{E62A0D21-2B14-F1F6-4875-A4530A3EAF8A}"/>
              </a:ext>
            </a:extLst>
          </p:cNvPr>
          <p:cNvSpPr>
            <a:spLocks noGrp="1"/>
          </p:cNvSpPr>
          <p:nvPr>
            <p:ph type="dt" sz="half" idx="10"/>
          </p:nvPr>
        </p:nvSpPr>
        <p:spPr/>
        <p:txBody>
          <a:bodyPr/>
          <a:lstStyle/>
          <a:p>
            <a:pPr>
              <a:defRPr/>
            </a:pPr>
            <a:fld id="{8ECDE72D-E775-43F3-803D-6565F481EE6A}"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D68C2A5C-5526-9A71-A626-3F8613725CF0}"/>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DE47CAF7-C5E8-8C0E-0DC2-41D54767366F}"/>
              </a:ext>
            </a:extLst>
          </p:cNvPr>
          <p:cNvSpPr>
            <a:spLocks noGrp="1"/>
          </p:cNvSpPr>
          <p:nvPr>
            <p:ph type="sldNum" sz="quarter" idx="12"/>
          </p:nvPr>
        </p:nvSpPr>
        <p:spPr/>
        <p:txBody>
          <a:bodyPr/>
          <a:lstStyle/>
          <a:p>
            <a:pPr>
              <a:defRPr/>
            </a:pPr>
            <a:fld id="{8BCAC33D-D29A-48B3-BCD6-381D3D720D26}" type="slidenum">
              <a:rPr lang="zh-CN" altLang="en-US" smtClean="0"/>
              <a:t>70</a:t>
            </a:fld>
            <a:endParaRPr lang="en-US" altLang="zh-CN"/>
          </a:p>
        </p:txBody>
      </p:sp>
    </p:spTree>
    <p:extLst>
      <p:ext uri="{BB962C8B-B14F-4D97-AF65-F5344CB8AC3E}">
        <p14:creationId xmlns:p14="http://schemas.microsoft.com/office/powerpoint/2010/main" val="866650784"/>
      </p:ext>
    </p:extLst>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3" descr="Rectangle: Click to edit Master text styles&#10;Second level&#10;Third level&#10;Fourth level&#10;Fifth level"/>
          <p:cNvSpPr>
            <a:spLocks noGrp="1" noChangeArrowheads="1"/>
          </p:cNvSpPr>
          <p:nvPr>
            <p:ph idx="1"/>
          </p:nvPr>
        </p:nvSpPr>
        <p:spPr>
          <a:xfrm>
            <a:off x="611188" y="836613"/>
            <a:ext cx="7848600" cy="4514850"/>
          </a:xfrm>
        </p:spPr>
        <p:txBody>
          <a:bodyPr/>
          <a:lstStyle/>
          <a:p>
            <a:pPr marL="457200" indent="-457200" eaLnBrk="1" hangingPunct="1">
              <a:lnSpc>
                <a:spcPct val="12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上述双流出动态调度流水线的性能受限于以下</a:t>
            </a:r>
            <a:r>
              <a:rPr lang="en-US" altLang="zh-CN" sz="2400" b="1" dirty="0">
                <a:latin typeface="Times New Roman" panose="02020603050405020304" pitchFamily="18" charset="0"/>
                <a:ea typeface="+mj-ea"/>
                <a:cs typeface="Times New Roman" panose="02020603050405020304" pitchFamily="18" charset="0"/>
              </a:rPr>
              <a:t>3</a:t>
            </a:r>
            <a:r>
              <a:rPr lang="zh-CN" altLang="en-US" sz="2400" b="1" dirty="0">
                <a:latin typeface="Times New Roman" panose="02020603050405020304" pitchFamily="18" charset="0"/>
                <a:ea typeface="+mj-ea"/>
                <a:cs typeface="Times New Roman" panose="02020603050405020304" pitchFamily="18" charset="0"/>
              </a:rPr>
              <a:t>个因素：</a:t>
            </a:r>
          </a:p>
          <a:p>
            <a:pPr marL="1085850" lvl="1" indent="-457200" eaLnBrk="1" hangingPunct="1">
              <a:lnSpc>
                <a:spcPct val="12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整数部件和浮点部件的工作负载不平衡，没有充分发挥出浮点部件的作用。</a:t>
            </a:r>
          </a:p>
          <a:p>
            <a:pPr marL="1288800" lvl="2" indent="-338400" eaLnBrk="1" hangingPunct="1">
              <a:lnSpc>
                <a:spcPct val="120000"/>
              </a:lnSpc>
              <a:defRPr/>
            </a:pPr>
            <a:r>
              <a:rPr lang="zh-CN" altLang="en-US" b="1" dirty="0">
                <a:latin typeface="Times New Roman" panose="02020603050405020304" pitchFamily="18" charset="0"/>
                <a:ea typeface="+mj-ea"/>
                <a:cs typeface="Times New Roman" panose="02020603050405020304" pitchFamily="18" charset="0"/>
              </a:rPr>
              <a:t>应该设法减少循环中整数型指令的数量。</a:t>
            </a:r>
          </a:p>
          <a:p>
            <a:pPr marL="1085850" lvl="1" indent="-457200" eaLnBrk="1" hangingPunct="1">
              <a:lnSpc>
                <a:spcPct val="12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每个循环叠代中的控制开销太大。</a:t>
            </a:r>
          </a:p>
          <a:p>
            <a:pPr marL="1288800" lvl="2" indent="-338400" eaLnBrk="1" hangingPunct="1">
              <a:lnSpc>
                <a:spcPct val="120000"/>
              </a:lnSpc>
              <a:buFont typeface="Arial" charset="0"/>
              <a:buChar char="•"/>
              <a:defRPr/>
            </a:pPr>
            <a:r>
              <a:rPr lang="en-US" altLang="zh-CN" b="1" dirty="0">
                <a:solidFill>
                  <a:srgbClr val="9933FF"/>
                </a:solidFill>
                <a:latin typeface="Times New Roman" panose="02020603050405020304" pitchFamily="18" charset="0"/>
                <a:ea typeface="+mj-ea"/>
                <a:cs typeface="Times New Roman" panose="02020603050405020304" pitchFamily="18" charset="0"/>
              </a:rPr>
              <a:t>5</a:t>
            </a:r>
            <a:r>
              <a:rPr lang="zh-CN" altLang="en-US" b="1" dirty="0">
                <a:latin typeface="Times New Roman" panose="02020603050405020304" pitchFamily="18" charset="0"/>
                <a:ea typeface="+mj-ea"/>
                <a:cs typeface="Times New Roman" panose="02020603050405020304" pitchFamily="18" charset="0"/>
              </a:rPr>
              <a:t>条指令中有两条指令是辅助指令；</a:t>
            </a:r>
          </a:p>
          <a:p>
            <a:pPr marL="1288800" lvl="2" indent="-338400" eaLnBrk="1" hangingPunct="1">
              <a:lnSpc>
                <a:spcPct val="120000"/>
              </a:lnSpc>
              <a:buFont typeface="Arial" charset="0"/>
              <a:buChar char="•"/>
              <a:defRPr/>
            </a:pPr>
            <a:r>
              <a:rPr lang="zh-CN" altLang="en-US" b="1" dirty="0">
                <a:latin typeface="Times New Roman" panose="02020603050405020304" pitchFamily="18" charset="0"/>
                <a:ea typeface="+mj-ea"/>
                <a:cs typeface="Times New Roman" panose="02020603050405020304" pitchFamily="18" charset="0"/>
              </a:rPr>
              <a:t>应该设法减少或消除这些指令。</a:t>
            </a:r>
          </a:p>
          <a:p>
            <a:pPr marL="1085850" lvl="1" indent="-457200" eaLnBrk="1" hangingPunct="1">
              <a:lnSpc>
                <a:spcPct val="12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控制相关使得处理机必须等到分支指令的结果出来后才能开始下一条</a:t>
            </a:r>
            <a:r>
              <a:rPr lang="en-US" altLang="zh-CN" sz="2400" b="1" dirty="0">
                <a:solidFill>
                  <a:srgbClr val="9933FF"/>
                </a:solidFill>
                <a:latin typeface="Times New Roman" panose="02020603050405020304" pitchFamily="18" charset="0"/>
                <a:ea typeface="+mj-ea"/>
                <a:cs typeface="Times New Roman" panose="02020603050405020304" pitchFamily="18" charset="0"/>
              </a:rPr>
              <a:t>LD</a:t>
            </a:r>
            <a:r>
              <a:rPr lang="zh-CN" altLang="en-US" sz="2400" b="1" dirty="0">
                <a:latin typeface="Times New Roman" panose="02020603050405020304" pitchFamily="18" charset="0"/>
                <a:ea typeface="+mj-ea"/>
                <a:cs typeface="Times New Roman" panose="02020603050405020304" pitchFamily="18" charset="0"/>
              </a:rPr>
              <a:t>指令的执行。 </a:t>
            </a:r>
          </a:p>
        </p:txBody>
      </p:sp>
      <p:sp>
        <p:nvSpPr>
          <p:cNvPr id="2" name="日期占位符 1">
            <a:extLst>
              <a:ext uri="{FF2B5EF4-FFF2-40B4-BE49-F238E27FC236}">
                <a16:creationId xmlns:a16="http://schemas.microsoft.com/office/drawing/2014/main" id="{31D10AE7-BFE3-2EA6-8928-CB7B5743F818}"/>
              </a:ext>
            </a:extLst>
          </p:cNvPr>
          <p:cNvSpPr>
            <a:spLocks noGrp="1"/>
          </p:cNvSpPr>
          <p:nvPr>
            <p:ph type="dt" sz="half" idx="10"/>
          </p:nvPr>
        </p:nvSpPr>
        <p:spPr/>
        <p:txBody>
          <a:bodyPr/>
          <a:lstStyle/>
          <a:p>
            <a:pPr>
              <a:defRPr/>
            </a:pPr>
            <a:fld id="{34812606-552F-4415-B817-33BD7D09B2A1}"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0EF8A051-BAFB-5A95-F5ED-21D499B52A6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BFDEAFE6-BB87-3080-AB97-42B9D168AA26}"/>
              </a:ext>
            </a:extLst>
          </p:cNvPr>
          <p:cNvSpPr>
            <a:spLocks noGrp="1"/>
          </p:cNvSpPr>
          <p:nvPr>
            <p:ph type="sldNum" sz="quarter" idx="12"/>
          </p:nvPr>
        </p:nvSpPr>
        <p:spPr/>
        <p:txBody>
          <a:bodyPr/>
          <a:lstStyle/>
          <a:p>
            <a:pPr>
              <a:defRPr/>
            </a:pPr>
            <a:fld id="{8BCAC33D-D29A-48B3-BCD6-381D3D720D26}" type="slidenum">
              <a:rPr lang="zh-CN" altLang="en-US" smtClean="0"/>
              <a:t>71</a:t>
            </a:fld>
            <a:endParaRPr lang="en-US" altLang="zh-CN"/>
          </a:p>
        </p:txBody>
      </p:sp>
    </p:spTree>
    <p:extLst>
      <p:ext uri="{BB962C8B-B14F-4D97-AF65-F5344CB8AC3E}">
        <p14:creationId xmlns:p14="http://schemas.microsoft.com/office/powerpoint/2010/main" val="2403758422"/>
      </p:ext>
    </p:extLst>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a:xfrm>
            <a:off x="468313" y="414338"/>
            <a:ext cx="8229600" cy="1143000"/>
          </a:xfrm>
        </p:spPr>
        <p:txBody>
          <a:bodyPr rtlCol="0">
            <a:normAutofit/>
          </a:bodyPr>
          <a:lstStyle/>
          <a:p>
            <a:pPr eaLnBrk="1" fontAlgn="auto" hangingPunct="1">
              <a:spcAft>
                <a:spcPts val="0"/>
              </a:spcAft>
              <a:defRPr/>
            </a:pPr>
            <a:r>
              <a:rPr lang="en-US" altLang="zh-CN" sz="4000" b="1" dirty="0">
                <a:latin typeface="Times New Roman" panose="02020603050405020304" pitchFamily="18" charset="0"/>
                <a:cs typeface="Times New Roman" panose="02020603050405020304" pitchFamily="18" charset="0"/>
              </a:rPr>
              <a:t>4.4  </a:t>
            </a:r>
            <a:r>
              <a:rPr lang="zh-CN" altLang="en-US" sz="4000" b="1" dirty="0">
                <a:latin typeface="Times New Roman" panose="02020603050405020304" pitchFamily="18" charset="0"/>
                <a:cs typeface="Times New Roman" panose="02020603050405020304" pitchFamily="18" charset="0"/>
              </a:rPr>
              <a:t>多指令流出技术</a:t>
            </a:r>
          </a:p>
        </p:txBody>
      </p:sp>
      <p:sp>
        <p:nvSpPr>
          <p:cNvPr id="24579" name="Rectangle 2"/>
          <p:cNvSpPr>
            <a:spLocks noGrp="1" noChangeArrowheads="1"/>
          </p:cNvSpPr>
          <p:nvPr>
            <p:ph idx="1"/>
          </p:nvPr>
        </p:nvSpPr>
        <p:spPr>
          <a:xfrm>
            <a:off x="827088" y="1773238"/>
            <a:ext cx="7064375" cy="3313112"/>
          </a:xfrm>
        </p:spPr>
        <p:txBody>
          <a:bodyPr/>
          <a:lstStyle/>
          <a:p>
            <a:pPr marL="0" indent="0" eaLnBrk="1" hangingPunct="1">
              <a:spcBef>
                <a:spcPct val="50000"/>
              </a:spcBef>
              <a:buFont typeface="Arial" pitchFamily="34" charset="0"/>
              <a:buNone/>
            </a:pPr>
            <a:r>
              <a:rPr lang="en-US" altLang="zh-CN" sz="2800" b="1" dirty="0">
                <a:latin typeface="Times New Roman" pitchFamily="18" charset="0"/>
              </a:rPr>
              <a:t>4.4.1  </a:t>
            </a:r>
            <a:r>
              <a:rPr lang="zh-CN" altLang="en-US" sz="2800" b="1" dirty="0">
                <a:latin typeface="Times New Roman" pitchFamily="18" charset="0"/>
              </a:rPr>
              <a:t>静态超标量技术</a:t>
            </a:r>
            <a:endParaRPr lang="en-US" altLang="zh-CN" sz="2800" b="1" dirty="0">
              <a:latin typeface="Times New Roman" pitchFamily="18" charset="0"/>
            </a:endParaRPr>
          </a:p>
          <a:p>
            <a:pPr marL="0" indent="0" eaLnBrk="1" hangingPunct="1">
              <a:spcBef>
                <a:spcPct val="50000"/>
              </a:spcBef>
              <a:buFont typeface="Arial" pitchFamily="34" charset="0"/>
              <a:buNone/>
            </a:pPr>
            <a:endParaRPr lang="en-US" altLang="zh-CN" sz="2800" b="1" dirty="0">
              <a:latin typeface="Times New Roman" pitchFamily="18" charset="0"/>
            </a:endParaRPr>
          </a:p>
          <a:p>
            <a:pPr marL="0" indent="0" eaLnBrk="1" hangingPunct="1">
              <a:spcBef>
                <a:spcPct val="50000"/>
              </a:spcBef>
              <a:buFont typeface="Arial" pitchFamily="34" charset="0"/>
              <a:buNone/>
            </a:pPr>
            <a:r>
              <a:rPr lang="en-US" altLang="zh-CN" sz="2800" b="1" dirty="0">
                <a:latin typeface="Times New Roman" pitchFamily="18" charset="0"/>
              </a:rPr>
              <a:t>4.4.2  </a:t>
            </a:r>
            <a:r>
              <a:rPr lang="zh-CN" altLang="en-US" sz="2800" b="1" dirty="0">
                <a:latin typeface="Times New Roman" pitchFamily="18" charset="0"/>
              </a:rPr>
              <a:t>动态多指令流出技术</a:t>
            </a:r>
            <a:endParaRPr lang="en-US" altLang="zh-CN" sz="2800" b="1" dirty="0">
              <a:latin typeface="Times New Roman" pitchFamily="18" charset="0"/>
            </a:endParaRPr>
          </a:p>
          <a:p>
            <a:pPr marL="0" indent="0" eaLnBrk="1" hangingPunct="1">
              <a:spcBef>
                <a:spcPct val="50000"/>
              </a:spcBef>
              <a:buFont typeface="Arial" pitchFamily="34" charset="0"/>
              <a:buNone/>
            </a:pPr>
            <a:endParaRPr lang="en-US" altLang="zh-CN" sz="2800" b="1" dirty="0">
              <a:latin typeface="Times New Roman" pitchFamily="18" charset="0"/>
            </a:endParaRPr>
          </a:p>
          <a:p>
            <a:pPr marL="0" indent="0" eaLnBrk="1" hangingPunct="1">
              <a:spcBef>
                <a:spcPct val="50000"/>
              </a:spcBef>
              <a:buFont typeface="Arial" pitchFamily="34" charset="0"/>
              <a:buNone/>
            </a:pPr>
            <a:r>
              <a:rPr lang="en-US" altLang="zh-CN" sz="2800" b="1" u="sng" dirty="0">
                <a:latin typeface="Times New Roman" pitchFamily="18" charset="0"/>
              </a:rPr>
              <a:t>4.4.3  </a:t>
            </a:r>
            <a:r>
              <a:rPr lang="zh-CN" altLang="en-US" sz="2800" b="1" u="sng" dirty="0">
                <a:latin typeface="Times New Roman" pitchFamily="18" charset="0"/>
              </a:rPr>
              <a:t>超长指令字技术</a:t>
            </a:r>
            <a:endParaRPr lang="en-US" altLang="zh-CN" sz="2800" b="1" u="sng" dirty="0">
              <a:latin typeface="Times New Roman" pitchFamily="18" charset="0"/>
            </a:endParaRPr>
          </a:p>
          <a:p>
            <a:pPr marL="0" indent="0" eaLnBrk="1" hangingPunct="1">
              <a:spcBef>
                <a:spcPct val="50000"/>
              </a:spcBef>
              <a:buFont typeface="Arial" pitchFamily="34" charset="0"/>
              <a:buNone/>
            </a:pPr>
            <a:endParaRPr lang="en-US" altLang="zh-CN" b="1" dirty="0">
              <a:latin typeface="Times New Roman" pitchFamily="18" charset="0"/>
            </a:endParaRPr>
          </a:p>
        </p:txBody>
      </p:sp>
      <p:sp>
        <p:nvSpPr>
          <p:cNvPr id="2" name="日期占位符 1">
            <a:extLst>
              <a:ext uri="{FF2B5EF4-FFF2-40B4-BE49-F238E27FC236}">
                <a16:creationId xmlns:a16="http://schemas.microsoft.com/office/drawing/2014/main" id="{35584C0C-84ED-C1E9-71D6-FF75E5BBEB4B}"/>
              </a:ext>
            </a:extLst>
          </p:cNvPr>
          <p:cNvSpPr>
            <a:spLocks noGrp="1"/>
          </p:cNvSpPr>
          <p:nvPr>
            <p:ph type="dt" sz="half" idx="10"/>
          </p:nvPr>
        </p:nvSpPr>
        <p:spPr/>
        <p:txBody>
          <a:bodyPr/>
          <a:lstStyle/>
          <a:p>
            <a:pPr>
              <a:defRPr/>
            </a:pPr>
            <a:fld id="{B664A81D-8431-4F91-8F24-321767E66749}"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13D7883D-879F-50F6-66D8-42FED20FE39E}"/>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9F3BAD65-B0C8-BA3D-3AA6-DA960E687D96}"/>
              </a:ext>
            </a:extLst>
          </p:cNvPr>
          <p:cNvSpPr>
            <a:spLocks noGrp="1"/>
          </p:cNvSpPr>
          <p:nvPr>
            <p:ph type="sldNum" sz="quarter" idx="12"/>
          </p:nvPr>
        </p:nvSpPr>
        <p:spPr/>
        <p:txBody>
          <a:bodyPr/>
          <a:lstStyle/>
          <a:p>
            <a:pPr>
              <a:defRPr/>
            </a:pPr>
            <a:fld id="{8BCAC33D-D29A-48B3-BCD6-381D3D720D26}" type="slidenum">
              <a:rPr lang="zh-CN" altLang="en-US" smtClean="0"/>
              <a:t>72</a:t>
            </a:fld>
            <a:endParaRPr lang="en-US" altLang="zh-CN"/>
          </a:p>
        </p:txBody>
      </p:sp>
    </p:spTree>
    <p:extLst>
      <p:ext uri="{BB962C8B-B14F-4D97-AF65-F5344CB8AC3E}">
        <p14:creationId xmlns:p14="http://schemas.microsoft.com/office/powerpoint/2010/main" val="2446369446"/>
      </p:ext>
    </p:extLst>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title" idx="4294967295"/>
          </p:nvPr>
        </p:nvSpPr>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4.4.3 </a:t>
            </a:r>
            <a:r>
              <a:rPr lang="zh-CN" altLang="en-US" sz="3600" b="1" dirty="0">
                <a:latin typeface="Times New Roman" panose="02020603050405020304" pitchFamily="18" charset="0"/>
                <a:cs typeface="Times New Roman" panose="02020603050405020304" pitchFamily="18" charset="0"/>
              </a:rPr>
              <a:t>超长指令字技术</a:t>
            </a:r>
          </a:p>
        </p:txBody>
      </p:sp>
      <p:sp>
        <p:nvSpPr>
          <p:cNvPr id="31747" name="Rectangle 8"/>
          <p:cNvSpPr>
            <a:spLocks noGrp="1" noChangeArrowheads="1"/>
          </p:cNvSpPr>
          <p:nvPr>
            <p:ph type="body" idx="4294967295"/>
          </p:nvPr>
        </p:nvSpPr>
        <p:spPr/>
        <p:txBody>
          <a:bodyPr/>
          <a:lstStyle/>
          <a:p>
            <a:pPr eaLnBrk="1" hangingPunct="1">
              <a:lnSpc>
                <a:spcPct val="11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一台超标量机器每周期能够流出</a:t>
            </a:r>
            <a:r>
              <a:rPr lang="en-US" altLang="zh-CN" sz="2400" b="1" dirty="0">
                <a:latin typeface="Times New Roman" panose="02020603050405020304" pitchFamily="18" charset="0"/>
                <a:ea typeface="+mj-ea"/>
                <a:cs typeface="Times New Roman" panose="02020603050405020304" pitchFamily="18" charset="0"/>
              </a:rPr>
              <a:t>4-8</a:t>
            </a:r>
            <a:r>
              <a:rPr lang="zh-CN" altLang="en-US" sz="2400" b="1" dirty="0">
                <a:latin typeface="Times New Roman" panose="02020603050405020304" pitchFamily="18" charset="0"/>
                <a:ea typeface="+mj-ea"/>
                <a:cs typeface="Times New Roman" panose="02020603050405020304" pitchFamily="18" charset="0"/>
              </a:rPr>
              <a:t>条指令</a:t>
            </a:r>
          </a:p>
          <a:p>
            <a:pPr lvl="1" eaLnBrk="1" hangingPunct="1">
              <a:lnSpc>
                <a:spcPct val="11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由于必须要用硬件分析指令间的相关，为其实现带来了困难</a:t>
            </a:r>
          </a:p>
          <a:p>
            <a:pPr eaLnBrk="1" hangingPunct="1">
              <a:lnSpc>
                <a:spcPct val="11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另一种选择：</a:t>
            </a:r>
            <a:r>
              <a:rPr lang="zh-CN" altLang="en-US" sz="2400" b="1" dirty="0">
                <a:solidFill>
                  <a:srgbClr val="C00000"/>
                </a:solidFill>
                <a:latin typeface="Times New Roman" panose="02020603050405020304" pitchFamily="18" charset="0"/>
                <a:ea typeface="+mj-ea"/>
                <a:cs typeface="Times New Roman" panose="02020603050405020304" pitchFamily="18" charset="0"/>
              </a:rPr>
              <a:t>长指令字</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dirty="0">
                <a:latin typeface="Times New Roman" panose="02020603050405020304" pitchFamily="18" charset="0"/>
                <a:ea typeface="+mj-ea"/>
                <a:cs typeface="Times New Roman" panose="02020603050405020304" pitchFamily="18" charset="0"/>
              </a:rPr>
              <a:t>LIW</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dirty="0">
                <a:latin typeface="Times New Roman" panose="02020603050405020304" pitchFamily="18" charset="0"/>
                <a:ea typeface="+mj-ea"/>
                <a:cs typeface="Times New Roman" panose="02020603050405020304" pitchFamily="18" charset="0"/>
              </a:rPr>
              <a:t>Long Instruction Word</a:t>
            </a:r>
            <a:r>
              <a:rPr lang="zh-CN" altLang="en-US" sz="2400" b="1" dirty="0">
                <a:latin typeface="Times New Roman" panose="02020603050405020304" pitchFamily="18" charset="0"/>
                <a:ea typeface="+mj-ea"/>
                <a:cs typeface="Times New Roman" panose="02020603050405020304" pitchFamily="18" charset="0"/>
              </a:rPr>
              <a:t>）或称为</a:t>
            </a:r>
            <a:r>
              <a:rPr lang="zh-CN" altLang="en-US" sz="2400" b="1" dirty="0">
                <a:solidFill>
                  <a:srgbClr val="C00000"/>
                </a:solidFill>
                <a:latin typeface="Times New Roman" panose="02020603050405020304" pitchFamily="18" charset="0"/>
                <a:ea typeface="+mj-ea"/>
                <a:cs typeface="Times New Roman" panose="02020603050405020304" pitchFamily="18" charset="0"/>
              </a:rPr>
              <a:t>超长指令字</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dirty="0">
                <a:latin typeface="Times New Roman" panose="02020603050405020304" pitchFamily="18" charset="0"/>
                <a:ea typeface="+mj-ea"/>
                <a:cs typeface="Times New Roman" panose="02020603050405020304" pitchFamily="18" charset="0"/>
              </a:rPr>
              <a:t>VLIW</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dirty="0">
                <a:latin typeface="Times New Roman" panose="02020603050405020304" pitchFamily="18" charset="0"/>
                <a:ea typeface="+mj-ea"/>
                <a:cs typeface="Times New Roman" panose="02020603050405020304" pitchFamily="18" charset="0"/>
              </a:rPr>
              <a:t>Very Long Instruction Word</a:t>
            </a:r>
            <a:r>
              <a:rPr lang="zh-CN" altLang="en-US" sz="2400" b="1" dirty="0">
                <a:latin typeface="Times New Roman" panose="02020603050405020304" pitchFamily="18" charset="0"/>
                <a:ea typeface="+mj-ea"/>
                <a:cs typeface="Times New Roman" panose="02020603050405020304" pitchFamily="18" charset="0"/>
              </a:rPr>
              <a:t>）体系结构</a:t>
            </a:r>
            <a:endParaRPr lang="en-US" altLang="zh-CN" sz="2400" b="1" dirty="0">
              <a:latin typeface="Times New Roman" panose="02020603050405020304" pitchFamily="18" charset="0"/>
              <a:ea typeface="+mj-ea"/>
              <a:cs typeface="Times New Roman" panose="02020603050405020304" pitchFamily="18" charset="0"/>
            </a:endParaRPr>
          </a:p>
          <a:p>
            <a:pPr lvl="1" eaLnBrk="1" hangingPunct="1">
              <a:lnSpc>
                <a:spcPct val="11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第一种商用</a:t>
            </a:r>
            <a:r>
              <a:rPr lang="en-US" altLang="zh-CN" sz="2400" b="1" dirty="0">
                <a:latin typeface="Times New Roman" panose="02020603050405020304" pitchFamily="18" charset="0"/>
                <a:ea typeface="+mj-ea"/>
                <a:cs typeface="Times New Roman" panose="02020603050405020304" pitchFamily="18" charset="0"/>
              </a:rPr>
              <a:t>LIW</a:t>
            </a:r>
            <a:r>
              <a:rPr lang="zh-CN" altLang="en-US" sz="2400" b="1" dirty="0">
                <a:latin typeface="Times New Roman" panose="02020603050405020304" pitchFamily="18" charset="0"/>
                <a:ea typeface="+mj-ea"/>
                <a:cs typeface="Times New Roman" panose="02020603050405020304" pitchFamily="18" charset="0"/>
              </a:rPr>
              <a:t>机器是</a:t>
            </a:r>
            <a:r>
              <a:rPr lang="en-US" altLang="zh-CN" sz="2400" b="1" dirty="0">
                <a:latin typeface="Times New Roman" panose="02020603050405020304" pitchFamily="18" charset="0"/>
                <a:ea typeface="+mj-ea"/>
                <a:cs typeface="Times New Roman" panose="02020603050405020304" pitchFamily="18" charset="0"/>
              </a:rPr>
              <a:t>AP-120B</a:t>
            </a:r>
            <a:r>
              <a:rPr lang="zh-CN" altLang="en-US" sz="2400" b="1" dirty="0">
                <a:latin typeface="Times New Roman" panose="02020603050405020304" pitchFamily="18" charset="0"/>
                <a:ea typeface="+mj-ea"/>
                <a:cs typeface="Times New Roman" panose="02020603050405020304" pitchFamily="18" charset="0"/>
              </a:rPr>
              <a:t>，由</a:t>
            </a:r>
            <a:r>
              <a:rPr lang="en-US" altLang="zh-CN" sz="2400" b="1" dirty="0">
                <a:latin typeface="Times New Roman" panose="02020603050405020304" pitchFamily="18" charset="0"/>
                <a:ea typeface="+mj-ea"/>
                <a:cs typeface="Times New Roman" panose="02020603050405020304" pitchFamily="18" charset="0"/>
              </a:rPr>
              <a:t>Floating Point Systems Inc.</a:t>
            </a:r>
            <a:r>
              <a:rPr lang="zh-CN" altLang="en-US" sz="2400" b="1" dirty="0">
                <a:latin typeface="Times New Roman" panose="02020603050405020304" pitchFamily="18" charset="0"/>
                <a:ea typeface="+mj-ea"/>
                <a:cs typeface="Times New Roman" panose="02020603050405020304" pitchFamily="18" charset="0"/>
              </a:rPr>
              <a:t>开发</a:t>
            </a:r>
          </a:p>
          <a:p>
            <a:pPr lvl="1" eaLnBrk="1" hangingPunct="1">
              <a:lnSpc>
                <a:spcPct val="110000"/>
              </a:lnSpc>
              <a:buFont typeface="Arial" charset="0"/>
              <a:buChar char="–"/>
              <a:defRPr/>
            </a:pPr>
            <a:r>
              <a:rPr lang="en-US" altLang="zh-CN" sz="2400" b="1" dirty="0">
                <a:latin typeface="Times New Roman" panose="02020603050405020304" pitchFamily="18" charset="0"/>
                <a:ea typeface="+mj-ea"/>
                <a:cs typeface="Times New Roman" panose="02020603050405020304" pitchFamily="18" charset="0"/>
              </a:rPr>
              <a:t>FPS-164</a:t>
            </a:r>
            <a:r>
              <a:rPr lang="zh-CN" altLang="en-US" sz="2400" b="1" dirty="0">
                <a:latin typeface="Times New Roman" panose="02020603050405020304" pitchFamily="18" charset="0"/>
                <a:ea typeface="+mj-ea"/>
                <a:cs typeface="Times New Roman" panose="02020603050405020304" pitchFamily="18" charset="0"/>
              </a:rPr>
              <a:t>是较新的机器，它的每个指令字含有对应于</a:t>
            </a:r>
            <a:r>
              <a:rPr lang="en-US" altLang="zh-CN" sz="2400" b="1" dirty="0">
                <a:latin typeface="Times New Roman" panose="02020603050405020304" pitchFamily="18" charset="0"/>
                <a:ea typeface="+mj-ea"/>
                <a:cs typeface="Times New Roman" panose="02020603050405020304" pitchFamily="18" charset="0"/>
              </a:rPr>
              <a:t>10</a:t>
            </a:r>
            <a:r>
              <a:rPr lang="zh-CN" altLang="en-US" sz="2400" b="1" dirty="0">
                <a:latin typeface="Times New Roman" panose="02020603050405020304" pitchFamily="18" charset="0"/>
                <a:ea typeface="+mj-ea"/>
                <a:cs typeface="Times New Roman" panose="02020603050405020304" pitchFamily="18" charset="0"/>
              </a:rPr>
              <a:t>个不同功能单元的</a:t>
            </a:r>
            <a:r>
              <a:rPr lang="en-US" altLang="zh-CN" sz="2400" b="1" dirty="0">
                <a:latin typeface="Times New Roman" panose="02020603050405020304" pitchFamily="18" charset="0"/>
                <a:ea typeface="+mj-ea"/>
                <a:cs typeface="Times New Roman" panose="02020603050405020304" pitchFamily="18" charset="0"/>
              </a:rPr>
              <a:t>10</a:t>
            </a:r>
            <a:r>
              <a:rPr lang="zh-CN" altLang="en-US" sz="2400" b="1" dirty="0">
                <a:latin typeface="Times New Roman" panose="02020603050405020304" pitchFamily="18" charset="0"/>
                <a:ea typeface="+mj-ea"/>
                <a:cs typeface="Times New Roman" panose="02020603050405020304" pitchFamily="18" charset="0"/>
              </a:rPr>
              <a:t>条指令</a:t>
            </a:r>
          </a:p>
        </p:txBody>
      </p:sp>
      <p:sp>
        <p:nvSpPr>
          <p:cNvPr id="2" name="日期占位符 1">
            <a:extLst>
              <a:ext uri="{FF2B5EF4-FFF2-40B4-BE49-F238E27FC236}">
                <a16:creationId xmlns:a16="http://schemas.microsoft.com/office/drawing/2014/main" id="{9B4CCB8F-0C21-1C8C-25BA-1C4D6D7877AE}"/>
              </a:ext>
            </a:extLst>
          </p:cNvPr>
          <p:cNvSpPr>
            <a:spLocks noGrp="1"/>
          </p:cNvSpPr>
          <p:nvPr>
            <p:ph type="dt" sz="half" idx="10"/>
          </p:nvPr>
        </p:nvSpPr>
        <p:spPr/>
        <p:txBody>
          <a:bodyPr/>
          <a:lstStyle/>
          <a:p>
            <a:pPr>
              <a:defRPr/>
            </a:pPr>
            <a:fld id="{D3B74133-7DC5-4C6A-858B-5DC34EEB901E}"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4AEC2E5F-DD17-17B3-3C1B-F231C8D0F21F}"/>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4B9DE75-473D-C39E-ABA1-D94EC759ABAE}"/>
              </a:ext>
            </a:extLst>
          </p:cNvPr>
          <p:cNvSpPr>
            <a:spLocks noGrp="1"/>
          </p:cNvSpPr>
          <p:nvPr>
            <p:ph type="sldNum" sz="quarter" idx="12"/>
          </p:nvPr>
        </p:nvSpPr>
        <p:spPr/>
        <p:txBody>
          <a:bodyPr/>
          <a:lstStyle/>
          <a:p>
            <a:pPr>
              <a:defRPr/>
            </a:pPr>
            <a:fld id="{A5AE633C-541A-4E3F-A22A-3C4C63E8EF5F}" type="slidenum">
              <a:rPr lang="zh-CN" altLang="en-US" smtClean="0"/>
              <a:t>73</a:t>
            </a:fld>
            <a:endParaRPr lang="en-US" altLang="zh-CN"/>
          </a:p>
        </p:txBody>
      </p:sp>
    </p:spTree>
    <p:extLst>
      <p:ext uri="{BB962C8B-B14F-4D97-AF65-F5344CB8AC3E}">
        <p14:creationId xmlns:p14="http://schemas.microsoft.com/office/powerpoint/2010/main" val="332164574"/>
      </p:ext>
    </p:extLst>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title" idx="4294967295"/>
          </p:nvPr>
        </p:nvSpPr>
        <p:spPr>
          <a:xfrm>
            <a:off x="457200" y="44624"/>
            <a:ext cx="8229600" cy="1143000"/>
          </a:xfrm>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VLIW</a:t>
            </a:r>
            <a:r>
              <a:rPr lang="zh-CN" altLang="en-US" sz="3600" b="1" dirty="0">
                <a:latin typeface="Times New Roman" panose="02020603050405020304" pitchFamily="18" charset="0"/>
                <a:cs typeface="Times New Roman" panose="02020603050405020304" pitchFamily="18" charset="0"/>
              </a:rPr>
              <a:t>基本机构</a:t>
            </a:r>
          </a:p>
        </p:txBody>
      </p:sp>
      <p:sp>
        <p:nvSpPr>
          <p:cNvPr id="32771" name="Rectangle 8"/>
          <p:cNvSpPr>
            <a:spLocks noGrp="1" noChangeArrowheads="1"/>
          </p:cNvSpPr>
          <p:nvPr>
            <p:ph type="body" idx="4294967295"/>
          </p:nvPr>
        </p:nvSpPr>
        <p:spPr>
          <a:xfrm>
            <a:off x="323850" y="1340768"/>
            <a:ext cx="8640638" cy="4525962"/>
          </a:xfrm>
        </p:spPr>
        <p:txBody>
          <a:bodyPr/>
          <a:lstStyle/>
          <a:p>
            <a:pPr eaLnBrk="1" hangingPunct="1">
              <a:lnSpc>
                <a:spcPct val="120000"/>
              </a:lnSpc>
              <a:buFont typeface="Arial" charset="0"/>
              <a:buChar char="•"/>
              <a:defRPr/>
            </a:pPr>
            <a:r>
              <a:rPr lang="en-US" altLang="zh-CN" sz="2400" b="1" dirty="0">
                <a:latin typeface="Times New Roman" panose="02020603050405020304" pitchFamily="18" charset="0"/>
                <a:ea typeface="+mj-ea"/>
                <a:cs typeface="Times New Roman" panose="02020603050405020304" pitchFamily="18" charset="0"/>
              </a:rPr>
              <a:t>VLIW</a:t>
            </a:r>
            <a:r>
              <a:rPr lang="zh-CN" altLang="en-US" sz="2400" b="1" dirty="0">
                <a:latin typeface="Times New Roman" panose="02020603050405020304" pitchFamily="18" charset="0"/>
                <a:ea typeface="+mj-ea"/>
                <a:cs typeface="Times New Roman" panose="02020603050405020304" pitchFamily="18" charset="0"/>
              </a:rPr>
              <a:t>采用多个独立的功能单元，多个不同的操作封装在一条长指令字中，每个功能单元在</a:t>
            </a:r>
            <a:r>
              <a:rPr lang="en-US" altLang="zh-CN" sz="2400" b="1" dirty="0">
                <a:latin typeface="Times New Roman" panose="02020603050405020304" pitchFamily="18" charset="0"/>
                <a:ea typeface="+mj-ea"/>
                <a:cs typeface="Times New Roman" panose="02020603050405020304" pitchFamily="18" charset="0"/>
              </a:rPr>
              <a:t>VLIW</a:t>
            </a:r>
            <a:r>
              <a:rPr lang="zh-CN" altLang="en-US" sz="2400" b="1" dirty="0">
                <a:latin typeface="Times New Roman" panose="02020603050405020304" pitchFamily="18" charset="0"/>
                <a:ea typeface="+mj-ea"/>
                <a:cs typeface="Times New Roman" panose="02020603050405020304" pitchFamily="18" charset="0"/>
              </a:rPr>
              <a:t>指令中都有一定的对应区域</a:t>
            </a:r>
          </a:p>
          <a:p>
            <a:pPr lvl="1" eaLnBrk="1" hangingPunct="1">
              <a:lnSpc>
                <a:spcPct val="12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一般每个功能单元占用</a:t>
            </a:r>
            <a:r>
              <a:rPr lang="en-US" altLang="zh-CN" sz="2400" b="1" dirty="0">
                <a:latin typeface="Times New Roman" panose="02020603050405020304" pitchFamily="18" charset="0"/>
                <a:ea typeface="+mj-ea"/>
                <a:cs typeface="Times New Roman" panose="02020603050405020304" pitchFamily="18" charset="0"/>
              </a:rPr>
              <a:t>16-24</a:t>
            </a:r>
            <a:r>
              <a:rPr lang="zh-CN" altLang="en-US" sz="2400" b="1" dirty="0">
                <a:latin typeface="Times New Roman" panose="02020603050405020304" pitchFamily="18" charset="0"/>
                <a:ea typeface="+mj-ea"/>
                <a:cs typeface="Times New Roman" panose="02020603050405020304" pitchFamily="18" charset="0"/>
              </a:rPr>
              <a:t>位</a:t>
            </a:r>
            <a:endParaRPr lang="en-US" altLang="zh-CN" sz="2400" b="1" dirty="0">
              <a:latin typeface="Times New Roman" panose="02020603050405020304" pitchFamily="18" charset="0"/>
              <a:ea typeface="+mj-ea"/>
              <a:cs typeface="Times New Roman" panose="02020603050405020304" pitchFamily="18" charset="0"/>
            </a:endParaRPr>
          </a:p>
          <a:p>
            <a:pPr lvl="1" eaLnBrk="1" hangingPunct="1">
              <a:lnSpc>
                <a:spcPct val="12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例如：</a:t>
            </a:r>
            <a:r>
              <a:rPr lang="en-US" altLang="zh-CN" sz="2400" b="1" dirty="0">
                <a:latin typeface="Times New Roman" panose="02020603050405020304" pitchFamily="18" charset="0"/>
                <a:ea typeface="+mj-ea"/>
                <a:cs typeface="Times New Roman" panose="02020603050405020304" pitchFamily="18" charset="0"/>
              </a:rPr>
              <a:t>2</a:t>
            </a:r>
            <a:r>
              <a:rPr lang="zh-CN" altLang="en-US" sz="2400" b="1" dirty="0">
                <a:latin typeface="Times New Roman" panose="02020603050405020304" pitchFamily="18" charset="0"/>
                <a:ea typeface="+mj-ea"/>
                <a:cs typeface="Times New Roman" panose="02020603050405020304" pitchFamily="18" charset="0"/>
              </a:rPr>
              <a:t>个整数、</a:t>
            </a:r>
            <a:r>
              <a:rPr lang="en-US" altLang="zh-CN" sz="2400" b="1" dirty="0">
                <a:latin typeface="Times New Roman" panose="02020603050405020304" pitchFamily="18" charset="0"/>
                <a:ea typeface="+mj-ea"/>
                <a:cs typeface="Times New Roman" panose="02020603050405020304" pitchFamily="18" charset="0"/>
              </a:rPr>
              <a:t>2</a:t>
            </a:r>
            <a:r>
              <a:rPr lang="zh-CN" altLang="en-US" sz="2400" b="1" dirty="0">
                <a:latin typeface="Times New Roman" panose="02020603050405020304" pitchFamily="18" charset="0"/>
                <a:ea typeface="+mj-ea"/>
                <a:cs typeface="Times New Roman" panose="02020603050405020304" pitchFamily="18" charset="0"/>
              </a:rPr>
              <a:t>个浮点、</a:t>
            </a:r>
            <a:r>
              <a:rPr lang="en-US" altLang="zh-CN" sz="2400" b="1" dirty="0">
                <a:latin typeface="Times New Roman" panose="02020603050405020304" pitchFamily="18" charset="0"/>
                <a:ea typeface="+mj-ea"/>
                <a:cs typeface="Times New Roman" panose="02020603050405020304" pitchFamily="18" charset="0"/>
              </a:rPr>
              <a:t>2</a:t>
            </a:r>
            <a:r>
              <a:rPr lang="zh-CN" altLang="en-US" sz="2400" b="1" dirty="0">
                <a:latin typeface="Times New Roman" panose="02020603050405020304" pitchFamily="18" charset="0"/>
                <a:ea typeface="+mj-ea"/>
                <a:cs typeface="Times New Roman" panose="02020603050405020304" pitchFamily="18" charset="0"/>
              </a:rPr>
              <a:t>个访存、</a:t>
            </a:r>
            <a:r>
              <a:rPr lang="en-US" altLang="zh-CN" sz="2400" b="1" dirty="0">
                <a:latin typeface="Times New Roman" panose="02020603050405020304" pitchFamily="18" charset="0"/>
                <a:ea typeface="+mj-ea"/>
                <a:cs typeface="Times New Roman" panose="02020603050405020304" pitchFamily="18" charset="0"/>
              </a:rPr>
              <a:t>1</a:t>
            </a:r>
            <a:r>
              <a:rPr lang="zh-CN" altLang="en-US" sz="2400" b="1" dirty="0">
                <a:latin typeface="Times New Roman" panose="02020603050405020304" pitchFamily="18" charset="0"/>
                <a:ea typeface="+mj-ea"/>
                <a:cs typeface="Times New Roman" panose="02020603050405020304" pitchFamily="18" charset="0"/>
              </a:rPr>
              <a:t>个分支，则该指令的长度为</a:t>
            </a:r>
            <a:r>
              <a:rPr lang="en-US" altLang="zh-CN" sz="2400" b="1" dirty="0">
                <a:latin typeface="Times New Roman" panose="02020603050405020304" pitchFamily="18" charset="0"/>
                <a:ea typeface="+mj-ea"/>
                <a:cs typeface="Times New Roman" panose="02020603050405020304" pitchFamily="18" charset="0"/>
              </a:rPr>
              <a:t>112-168</a:t>
            </a:r>
            <a:r>
              <a:rPr lang="zh-CN" altLang="en-US" sz="2400" b="1" dirty="0">
                <a:latin typeface="Times New Roman" panose="02020603050405020304" pitchFamily="18" charset="0"/>
                <a:ea typeface="+mj-ea"/>
                <a:cs typeface="Times New Roman" panose="02020603050405020304" pitchFamily="18" charset="0"/>
              </a:rPr>
              <a:t>位</a:t>
            </a:r>
          </a:p>
          <a:p>
            <a:pPr eaLnBrk="1" hangingPunct="1">
              <a:lnSpc>
                <a:spcPct val="120000"/>
              </a:lnSpc>
              <a:buFont typeface="Arial" charset="0"/>
              <a:buChar char="•"/>
              <a:defRPr/>
            </a:pPr>
            <a:r>
              <a:rPr lang="en-US" altLang="zh-CN" sz="2400" b="1" dirty="0">
                <a:latin typeface="Times New Roman" panose="02020603050405020304" pitchFamily="18" charset="0"/>
                <a:ea typeface="+mj-ea"/>
                <a:cs typeface="Times New Roman" panose="02020603050405020304" pitchFamily="18" charset="0"/>
              </a:rPr>
              <a:t>VLIW</a:t>
            </a:r>
            <a:r>
              <a:rPr lang="zh-CN" altLang="en-US" sz="2400" b="1" dirty="0">
                <a:latin typeface="Times New Roman" panose="02020603050405020304" pitchFamily="18" charset="0"/>
                <a:ea typeface="+mj-ea"/>
                <a:cs typeface="Times New Roman" panose="02020603050405020304" pitchFamily="18" charset="0"/>
              </a:rPr>
              <a:t>硬件只是简单地将指令字中对应的部分送给各个功能单元，功能单元在哪一个时钟周期执行什么操作由编译器来确定</a:t>
            </a:r>
          </a:p>
          <a:p>
            <a:pPr lvl="1" eaLnBrk="1" hangingPunct="1">
              <a:lnSpc>
                <a:spcPct val="12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如果某个功能单元在某个周期没有任务，则执行</a:t>
            </a:r>
            <a:r>
              <a:rPr lang="en-US" altLang="zh-CN" sz="2400" b="1" dirty="0">
                <a:latin typeface="Times New Roman" panose="02020603050405020304" pitchFamily="18" charset="0"/>
                <a:ea typeface="+mj-ea"/>
                <a:cs typeface="Times New Roman" panose="02020603050405020304" pitchFamily="18" charset="0"/>
              </a:rPr>
              <a:t>NOP</a:t>
            </a:r>
            <a:r>
              <a:rPr lang="zh-CN" altLang="en-US" sz="2400" b="1" dirty="0">
                <a:latin typeface="Times New Roman" panose="02020603050405020304" pitchFamily="18" charset="0"/>
                <a:ea typeface="+mj-ea"/>
                <a:cs typeface="Times New Roman" panose="02020603050405020304" pitchFamily="18" charset="0"/>
              </a:rPr>
              <a:t>指令</a:t>
            </a:r>
          </a:p>
        </p:txBody>
      </p:sp>
      <p:sp>
        <p:nvSpPr>
          <p:cNvPr id="2" name="日期占位符 1">
            <a:extLst>
              <a:ext uri="{FF2B5EF4-FFF2-40B4-BE49-F238E27FC236}">
                <a16:creationId xmlns:a16="http://schemas.microsoft.com/office/drawing/2014/main" id="{32D3FC0D-F9B8-B9FC-BFAD-6A437C580F94}"/>
              </a:ext>
            </a:extLst>
          </p:cNvPr>
          <p:cNvSpPr>
            <a:spLocks noGrp="1"/>
          </p:cNvSpPr>
          <p:nvPr>
            <p:ph type="dt" sz="half" idx="10"/>
          </p:nvPr>
        </p:nvSpPr>
        <p:spPr/>
        <p:txBody>
          <a:bodyPr/>
          <a:lstStyle/>
          <a:p>
            <a:pPr>
              <a:defRPr/>
            </a:pPr>
            <a:fld id="{D442660F-6A09-400F-905F-03DDC4C42F7C}"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4B34E8DC-503D-0F95-192A-AE5D65C27906}"/>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EA5BA918-9AEB-37F9-B2BD-9C3C02C267C1}"/>
              </a:ext>
            </a:extLst>
          </p:cNvPr>
          <p:cNvSpPr>
            <a:spLocks noGrp="1"/>
          </p:cNvSpPr>
          <p:nvPr>
            <p:ph type="sldNum" sz="quarter" idx="12"/>
          </p:nvPr>
        </p:nvSpPr>
        <p:spPr/>
        <p:txBody>
          <a:bodyPr/>
          <a:lstStyle/>
          <a:p>
            <a:pPr>
              <a:defRPr/>
            </a:pPr>
            <a:fld id="{A5AE633C-541A-4E3F-A22A-3C4C63E8EF5F}" type="slidenum">
              <a:rPr lang="zh-CN" altLang="en-US" smtClean="0"/>
              <a:t>74</a:t>
            </a:fld>
            <a:endParaRPr lang="en-US" altLang="zh-CN"/>
          </a:p>
        </p:txBody>
      </p:sp>
    </p:spTree>
    <p:extLst>
      <p:ext uri="{BB962C8B-B14F-4D97-AF65-F5344CB8AC3E}">
        <p14:creationId xmlns:p14="http://schemas.microsoft.com/office/powerpoint/2010/main" val="3996611172"/>
      </p:ext>
    </p:extLst>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p:cNvSpPr>
            <a:spLocks noGrp="1" noChangeArrowheads="1"/>
          </p:cNvSpPr>
          <p:nvPr>
            <p:ph type="title" idx="4294967295"/>
          </p:nvPr>
        </p:nvSpPr>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VLIW</a:t>
            </a:r>
            <a:r>
              <a:rPr lang="zh-CN" altLang="en-US" sz="3600" b="1" dirty="0">
                <a:latin typeface="Times New Roman" panose="02020603050405020304" pitchFamily="18" charset="0"/>
                <a:cs typeface="Times New Roman" panose="02020603050405020304" pitchFamily="18" charset="0"/>
              </a:rPr>
              <a:t>例子</a:t>
            </a:r>
          </a:p>
        </p:txBody>
      </p:sp>
      <p:sp>
        <p:nvSpPr>
          <p:cNvPr id="33795" name="Rectangle 6"/>
          <p:cNvSpPr>
            <a:spLocks noGrp="1" noChangeArrowheads="1"/>
          </p:cNvSpPr>
          <p:nvPr>
            <p:ph type="body" idx="4294967295"/>
          </p:nvPr>
        </p:nvSpPr>
        <p:spPr/>
        <p:txBody>
          <a:bodyPr/>
          <a:lstStyle/>
          <a:p>
            <a:pPr eaLnBrk="1" hangingPunct="1">
              <a:lnSpc>
                <a:spcPct val="12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再次使用先前在解释循环展开及超标量机器时使用过的那段循环代码，来解释</a:t>
            </a:r>
            <a:r>
              <a:rPr lang="en-US" altLang="zh-CN" sz="2400" b="1" dirty="0">
                <a:latin typeface="Times New Roman" panose="02020603050405020304" pitchFamily="18" charset="0"/>
                <a:ea typeface="+mj-ea"/>
                <a:cs typeface="Times New Roman" panose="02020603050405020304" pitchFamily="18" charset="0"/>
              </a:rPr>
              <a:t>VLIW</a:t>
            </a:r>
            <a:r>
              <a:rPr lang="zh-CN" altLang="en-US" sz="2400" b="1" dirty="0">
                <a:latin typeface="Times New Roman" panose="02020603050405020304" pitchFamily="18" charset="0"/>
                <a:ea typeface="+mj-ea"/>
                <a:cs typeface="Times New Roman" panose="02020603050405020304" pitchFamily="18" charset="0"/>
              </a:rPr>
              <a:t>如何工作，这一次我们将循环展开</a:t>
            </a:r>
            <a:r>
              <a:rPr lang="en-US" altLang="zh-CN" sz="2400" b="1" i="1" dirty="0">
                <a:latin typeface="Times New Roman" panose="02020603050405020304" pitchFamily="18" charset="0"/>
                <a:ea typeface="+mj-ea"/>
                <a:cs typeface="Times New Roman" panose="02020603050405020304" pitchFamily="18" charset="0"/>
              </a:rPr>
              <a:t>n</a:t>
            </a:r>
            <a:r>
              <a:rPr lang="zh-CN" altLang="en-US" sz="2400" b="1" dirty="0">
                <a:latin typeface="Times New Roman" panose="02020603050405020304" pitchFamily="18" charset="0"/>
                <a:ea typeface="+mj-ea"/>
                <a:cs typeface="Times New Roman" panose="02020603050405020304" pitchFamily="18" charset="0"/>
              </a:rPr>
              <a:t>个副本</a:t>
            </a:r>
          </a:p>
          <a:p>
            <a:pPr eaLnBrk="1" hangingPunct="1">
              <a:lnSpc>
                <a:spcPct val="120000"/>
              </a:lnSpc>
              <a:buFont typeface="Arial" charset="0"/>
              <a:buChar char="•"/>
              <a:defRPr/>
            </a:pPr>
            <a:r>
              <a:rPr lang="en-US" altLang="zh-CN" sz="2400" b="1" dirty="0">
                <a:latin typeface="Times New Roman" panose="02020603050405020304" pitchFamily="18" charset="0"/>
                <a:ea typeface="+mj-ea"/>
                <a:cs typeface="Times New Roman" panose="02020603050405020304" pitchFamily="18" charset="0"/>
              </a:rPr>
              <a:t>VLIW</a:t>
            </a:r>
            <a:r>
              <a:rPr lang="zh-CN" altLang="en-US" sz="2400" b="1" dirty="0">
                <a:latin typeface="Times New Roman" panose="02020603050405020304" pitchFamily="18" charset="0"/>
                <a:ea typeface="+mj-ea"/>
                <a:cs typeface="Times New Roman" panose="02020603050405020304" pitchFamily="18" charset="0"/>
              </a:rPr>
              <a:t>机器每条指令字包含</a:t>
            </a:r>
            <a:endParaRPr lang="en-US" altLang="zh-CN" sz="2400" b="1" dirty="0">
              <a:latin typeface="Times New Roman" panose="02020603050405020304" pitchFamily="18" charset="0"/>
              <a:ea typeface="+mj-ea"/>
              <a:cs typeface="Times New Roman" panose="02020603050405020304" pitchFamily="18" charset="0"/>
            </a:endParaRPr>
          </a:p>
          <a:p>
            <a:pPr lvl="1" eaLnBrk="1" hangingPunct="1">
              <a:lnSpc>
                <a:spcPct val="12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两个访存操作</a:t>
            </a:r>
            <a:endParaRPr lang="en-US" altLang="zh-CN" sz="2400" b="1" dirty="0">
              <a:latin typeface="Times New Roman" panose="02020603050405020304" pitchFamily="18" charset="0"/>
              <a:ea typeface="+mj-ea"/>
              <a:cs typeface="Times New Roman" panose="02020603050405020304" pitchFamily="18" charset="0"/>
            </a:endParaRPr>
          </a:p>
          <a:p>
            <a:pPr lvl="1" eaLnBrk="1" hangingPunct="1">
              <a:lnSpc>
                <a:spcPct val="12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两个浮点操作</a:t>
            </a:r>
            <a:endParaRPr lang="en-US" altLang="zh-CN" sz="2400" b="1" dirty="0">
              <a:latin typeface="Times New Roman" panose="02020603050405020304" pitchFamily="18" charset="0"/>
              <a:ea typeface="+mj-ea"/>
              <a:cs typeface="Times New Roman" panose="02020603050405020304" pitchFamily="18" charset="0"/>
            </a:endParaRPr>
          </a:p>
          <a:p>
            <a:pPr lvl="1" eaLnBrk="1" hangingPunct="1">
              <a:lnSpc>
                <a:spcPct val="12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一个整数或分支操作</a:t>
            </a:r>
            <a:endParaRPr lang="en-US" altLang="zh-CN" sz="2400" b="1" dirty="0">
              <a:latin typeface="Times New Roman" panose="02020603050405020304" pitchFamily="18" charset="0"/>
              <a:ea typeface="+mj-ea"/>
              <a:cs typeface="Times New Roman" panose="02020603050405020304" pitchFamily="18" charset="0"/>
            </a:endParaRPr>
          </a:p>
          <a:p>
            <a:pPr eaLnBrk="1" hangingPunct="1">
              <a:lnSpc>
                <a:spcPct val="12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得到如下指令序列</a:t>
            </a:r>
          </a:p>
        </p:txBody>
      </p:sp>
      <p:sp>
        <p:nvSpPr>
          <p:cNvPr id="2" name="日期占位符 1">
            <a:extLst>
              <a:ext uri="{FF2B5EF4-FFF2-40B4-BE49-F238E27FC236}">
                <a16:creationId xmlns:a16="http://schemas.microsoft.com/office/drawing/2014/main" id="{8ADEF6E8-9647-8ECF-9E93-E5CD7CEED528}"/>
              </a:ext>
            </a:extLst>
          </p:cNvPr>
          <p:cNvSpPr>
            <a:spLocks noGrp="1"/>
          </p:cNvSpPr>
          <p:nvPr>
            <p:ph type="dt" sz="half" idx="10"/>
          </p:nvPr>
        </p:nvSpPr>
        <p:spPr/>
        <p:txBody>
          <a:bodyPr/>
          <a:lstStyle/>
          <a:p>
            <a:pPr>
              <a:defRPr/>
            </a:pPr>
            <a:fld id="{657D7000-4A1F-4A7D-BEB3-3BF02AFEA874}"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9DCB692F-8B14-AE98-076E-B2F58BB3229F}"/>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2395A85-3516-DBF3-9444-881637D3E144}"/>
              </a:ext>
            </a:extLst>
          </p:cNvPr>
          <p:cNvSpPr>
            <a:spLocks noGrp="1"/>
          </p:cNvSpPr>
          <p:nvPr>
            <p:ph type="sldNum" sz="quarter" idx="12"/>
          </p:nvPr>
        </p:nvSpPr>
        <p:spPr/>
        <p:txBody>
          <a:bodyPr/>
          <a:lstStyle/>
          <a:p>
            <a:pPr>
              <a:defRPr/>
            </a:pPr>
            <a:fld id="{A5AE633C-541A-4E3F-A22A-3C4C63E8EF5F}" type="slidenum">
              <a:rPr lang="zh-CN" altLang="en-US" smtClean="0"/>
              <a:t>75</a:t>
            </a:fld>
            <a:endParaRPr lang="en-US" altLang="zh-CN"/>
          </a:p>
        </p:txBody>
      </p:sp>
    </p:spTree>
    <p:extLst>
      <p:ext uri="{BB962C8B-B14F-4D97-AF65-F5344CB8AC3E}">
        <p14:creationId xmlns:p14="http://schemas.microsoft.com/office/powerpoint/2010/main" val="808805307"/>
      </p:ext>
    </p:extLst>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idx="4294967295"/>
          </p:nvPr>
        </p:nvSpPr>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VLIW</a:t>
            </a:r>
            <a:r>
              <a:rPr lang="zh-CN" altLang="en-US" sz="3600" b="1" dirty="0">
                <a:latin typeface="Times New Roman" panose="02020603050405020304" pitchFamily="18" charset="0"/>
                <a:cs typeface="Times New Roman" panose="02020603050405020304" pitchFamily="18" charset="0"/>
              </a:rPr>
              <a:t>例子的指令执行情况，</a:t>
            </a:r>
            <a:r>
              <a:rPr lang="en-US" altLang="zh-CN" sz="3600" b="1" dirty="0">
                <a:latin typeface="Times New Roman" panose="02020603050405020304" pitchFamily="18" charset="0"/>
                <a:cs typeface="Times New Roman" panose="02020603050405020304" pitchFamily="18" charset="0"/>
              </a:rPr>
              <a:t>n=5</a:t>
            </a:r>
          </a:p>
        </p:txBody>
      </p:sp>
      <p:graphicFrame>
        <p:nvGraphicFramePr>
          <p:cNvPr id="49155" name="对象 2"/>
          <p:cNvGraphicFramePr>
            <a:graphicFrameLocks noGrp="1" noChangeAspect="1"/>
          </p:cNvGraphicFramePr>
          <p:nvPr>
            <p:ph idx="4294967295"/>
          </p:nvPr>
        </p:nvGraphicFramePr>
        <p:xfrm>
          <a:off x="358775" y="1412875"/>
          <a:ext cx="8785225" cy="3629025"/>
        </p:xfrm>
        <a:graphic>
          <a:graphicData uri="http://schemas.openxmlformats.org/presentationml/2006/ole">
            <mc:AlternateContent xmlns:mc="http://schemas.openxmlformats.org/markup-compatibility/2006">
              <mc:Choice xmlns:v="urn:schemas-microsoft-com:vml" Requires="v">
                <p:oleObj name="Document" r:id="rId2" imgW="5166406" imgH="2103182" progId="Word.Document.8">
                  <p:embed/>
                </p:oleObj>
              </mc:Choice>
              <mc:Fallback>
                <p:oleObj name="Document" r:id="rId2" imgW="5166406" imgH="2103182" progId="Word.Document.8">
                  <p:embed/>
                  <p:pic>
                    <p:nvPicPr>
                      <p:cNvPr id="49155"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775" y="1412875"/>
                        <a:ext cx="8785225" cy="362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56" name="Rectangle 4"/>
          <p:cNvSpPr>
            <a:spLocks noChangeArrowheads="1"/>
          </p:cNvSpPr>
          <p:nvPr/>
        </p:nvSpPr>
        <p:spPr bwMode="auto">
          <a:xfrm>
            <a:off x="468313" y="4652963"/>
            <a:ext cx="8207375" cy="172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69900" indent="-469900" eaLnBrk="0" hangingPunct="0">
              <a:spcBef>
                <a:spcPct val="20000"/>
              </a:spcBef>
              <a:buClr>
                <a:srgbClr val="0000CC"/>
              </a:buClr>
              <a:buFont typeface="Wingdings" pitchFamily="2" charset="2"/>
              <a:buChar char="o"/>
            </a:pPr>
            <a:r>
              <a:rPr lang="en-US" altLang="zh-CN" sz="2400" b="1" dirty="0">
                <a:latin typeface="Times New Roman" panose="02020603050405020304" pitchFamily="18" charset="0"/>
                <a:ea typeface="华文中宋" pitchFamily="2" charset="-122"/>
                <a:cs typeface="Times New Roman" panose="02020603050405020304" pitchFamily="18" charset="0"/>
              </a:rPr>
              <a:t>5</a:t>
            </a:r>
            <a:r>
              <a:rPr lang="zh-CN" altLang="en-US" sz="2400" b="1" dirty="0">
                <a:latin typeface="Times New Roman" panose="02020603050405020304" pitchFamily="18" charset="0"/>
                <a:ea typeface="华文中宋" pitchFamily="2" charset="-122"/>
                <a:cs typeface="Times New Roman" panose="02020603050405020304" pitchFamily="18" charset="0"/>
              </a:rPr>
              <a:t>条结果在</a:t>
            </a:r>
            <a:r>
              <a:rPr lang="en-US" altLang="zh-CN" sz="2400" b="1" dirty="0">
                <a:latin typeface="Times New Roman" panose="02020603050405020304" pitchFamily="18" charset="0"/>
                <a:ea typeface="华文中宋" pitchFamily="2" charset="-122"/>
                <a:cs typeface="Times New Roman" panose="02020603050405020304" pitchFamily="18" charset="0"/>
              </a:rPr>
              <a:t>8</a:t>
            </a:r>
            <a:r>
              <a:rPr lang="zh-CN" altLang="en-US" sz="2400" b="1" dirty="0">
                <a:latin typeface="Times New Roman" panose="02020603050405020304" pitchFamily="18" charset="0"/>
                <a:ea typeface="华文中宋" pitchFamily="2" charset="-122"/>
                <a:cs typeface="Times New Roman" panose="02020603050405020304" pitchFamily="18" charset="0"/>
              </a:rPr>
              <a:t>个时钟周期中完成计算</a:t>
            </a:r>
          </a:p>
          <a:p>
            <a:pPr marL="927100" lvl="1" indent="-457200" eaLnBrk="0" hangingPunct="0">
              <a:spcBef>
                <a:spcPct val="20000"/>
              </a:spcBef>
              <a:buClr>
                <a:srgbClr val="0000CC"/>
              </a:buClr>
              <a:buFont typeface="Arial" pitchFamily="34" charset="0"/>
              <a:buChar char="•"/>
            </a:pPr>
            <a:r>
              <a:rPr lang="zh-CN" altLang="en-US" sz="2400" b="1" dirty="0">
                <a:latin typeface="Times New Roman" panose="02020603050405020304" pitchFamily="18" charset="0"/>
                <a:ea typeface="华文中宋" pitchFamily="2" charset="-122"/>
                <a:cs typeface="Times New Roman" panose="02020603050405020304" pitchFamily="18" charset="0"/>
              </a:rPr>
              <a:t>每条结果花费</a:t>
            </a:r>
            <a:r>
              <a:rPr lang="en-US" altLang="zh-CN" sz="2400" b="1" dirty="0">
                <a:latin typeface="Times New Roman" panose="02020603050405020304" pitchFamily="18" charset="0"/>
                <a:ea typeface="华文中宋" pitchFamily="2" charset="-122"/>
                <a:cs typeface="Times New Roman" panose="02020603050405020304" pitchFamily="18" charset="0"/>
              </a:rPr>
              <a:t>1.3</a:t>
            </a:r>
            <a:r>
              <a:rPr lang="zh-CN" altLang="en-US" sz="2400" b="1" dirty="0">
                <a:latin typeface="Times New Roman" panose="02020603050405020304" pitchFamily="18" charset="0"/>
                <a:ea typeface="华文中宋" pitchFamily="2" charset="-122"/>
                <a:cs typeface="Times New Roman" panose="02020603050405020304" pitchFamily="18" charset="0"/>
              </a:rPr>
              <a:t>时钟周期</a:t>
            </a:r>
            <a:endParaRPr lang="en-US" altLang="zh-CN" sz="2400" b="1" dirty="0">
              <a:latin typeface="Times New Roman" panose="02020603050405020304" pitchFamily="18" charset="0"/>
              <a:ea typeface="华文中宋" pitchFamily="2" charset="-122"/>
              <a:cs typeface="Times New Roman" panose="02020603050405020304" pitchFamily="18" charset="0"/>
            </a:endParaRPr>
          </a:p>
          <a:p>
            <a:pPr marL="927100" lvl="1" indent="-457200" eaLnBrk="0" hangingPunct="0">
              <a:spcBef>
                <a:spcPct val="20000"/>
              </a:spcBef>
              <a:buClr>
                <a:srgbClr val="0000CC"/>
              </a:buClr>
              <a:buFont typeface="Arial" pitchFamily="34" charset="0"/>
              <a:buChar char="•"/>
            </a:pPr>
            <a:r>
              <a:rPr lang="zh-CN" altLang="en-US" sz="2400" b="1" dirty="0">
                <a:latin typeface="Times New Roman" panose="02020603050405020304" pitchFamily="18" charset="0"/>
                <a:ea typeface="华文中宋" pitchFamily="2" charset="-122"/>
                <a:cs typeface="Times New Roman" panose="02020603050405020304" pitchFamily="18" charset="0"/>
              </a:rPr>
              <a:t>有</a:t>
            </a:r>
            <a:r>
              <a:rPr lang="en-US" altLang="zh-CN" sz="2400" b="1" dirty="0">
                <a:latin typeface="Times New Roman" panose="02020603050405020304" pitchFamily="18" charset="0"/>
                <a:ea typeface="华文中宋" pitchFamily="2" charset="-122"/>
                <a:cs typeface="Times New Roman" panose="02020603050405020304" pitchFamily="18" charset="0"/>
              </a:rPr>
              <a:t>17/40</a:t>
            </a:r>
            <a:r>
              <a:rPr lang="zh-CN" altLang="en-US" sz="2400" b="1" dirty="0">
                <a:latin typeface="Times New Roman" panose="02020603050405020304" pitchFamily="18" charset="0"/>
                <a:ea typeface="华文中宋" pitchFamily="2" charset="-122"/>
                <a:cs typeface="Times New Roman" panose="02020603050405020304" pitchFamily="18" charset="0"/>
              </a:rPr>
              <a:t>的</a:t>
            </a:r>
            <a:r>
              <a:rPr lang="zh-CN" altLang="en-US" sz="2400" dirty="0">
                <a:latin typeface="Times New Roman" panose="02020603050405020304" pitchFamily="18" charset="0"/>
                <a:ea typeface="华文中宋" pitchFamily="2" charset="-122"/>
                <a:cs typeface="Times New Roman" panose="02020603050405020304" pitchFamily="18" charset="0"/>
              </a:rPr>
              <a:t>指令</a:t>
            </a:r>
            <a:r>
              <a:rPr lang="zh-CN" altLang="en-US" sz="2400" b="1" dirty="0">
                <a:latin typeface="Times New Roman" panose="02020603050405020304" pitchFamily="18" charset="0"/>
                <a:ea typeface="华文中宋" pitchFamily="2" charset="-122"/>
                <a:cs typeface="Times New Roman" panose="02020603050405020304" pitchFamily="18" charset="0"/>
              </a:rPr>
              <a:t>槽被放入了有效的操作</a:t>
            </a:r>
          </a:p>
        </p:txBody>
      </p:sp>
      <p:sp>
        <p:nvSpPr>
          <p:cNvPr id="2" name="日期占位符 1">
            <a:extLst>
              <a:ext uri="{FF2B5EF4-FFF2-40B4-BE49-F238E27FC236}">
                <a16:creationId xmlns:a16="http://schemas.microsoft.com/office/drawing/2014/main" id="{131DEFCD-46DE-A722-F4E1-C4260E738880}"/>
              </a:ext>
            </a:extLst>
          </p:cNvPr>
          <p:cNvSpPr>
            <a:spLocks noGrp="1"/>
          </p:cNvSpPr>
          <p:nvPr>
            <p:ph type="dt" sz="half" idx="10"/>
          </p:nvPr>
        </p:nvSpPr>
        <p:spPr/>
        <p:txBody>
          <a:bodyPr/>
          <a:lstStyle/>
          <a:p>
            <a:pPr>
              <a:defRPr/>
            </a:pPr>
            <a:fld id="{E817859E-33A4-4F8F-9B80-03B0F36196F9}"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10C7D7DD-F46F-FB9F-5B1B-81EFAA2B9006}"/>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E68C1130-8FD3-B3DB-A9B7-4C79A0B598F9}"/>
              </a:ext>
            </a:extLst>
          </p:cNvPr>
          <p:cNvSpPr>
            <a:spLocks noGrp="1"/>
          </p:cNvSpPr>
          <p:nvPr>
            <p:ph type="sldNum" sz="quarter" idx="12"/>
          </p:nvPr>
        </p:nvSpPr>
        <p:spPr/>
        <p:txBody>
          <a:bodyPr/>
          <a:lstStyle/>
          <a:p>
            <a:pPr>
              <a:defRPr/>
            </a:pPr>
            <a:fld id="{A5AE633C-541A-4E3F-A22A-3C4C63E8EF5F}" type="slidenum">
              <a:rPr lang="zh-CN" altLang="en-US" smtClean="0"/>
              <a:t>76</a:t>
            </a:fld>
            <a:endParaRPr lang="en-US" altLang="zh-CN"/>
          </a:p>
        </p:txBody>
      </p:sp>
    </p:spTree>
    <p:extLst>
      <p:ext uri="{BB962C8B-B14F-4D97-AF65-F5344CB8AC3E}">
        <p14:creationId xmlns:p14="http://schemas.microsoft.com/office/powerpoint/2010/main" val="1946631787"/>
      </p:ext>
    </p:extLst>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179388" y="44450"/>
            <a:ext cx="8785225" cy="792163"/>
          </a:xfrm>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defRPr/>
            </a:pPr>
            <a:r>
              <a:rPr lang="zh-CN" altLang="en-US" sz="3600" b="1" dirty="0">
                <a:latin typeface="Times New Roman" panose="02020603050405020304" pitchFamily="18" charset="0"/>
                <a:cs typeface="Times New Roman" panose="02020603050405020304" pitchFamily="18" charset="0"/>
              </a:rPr>
              <a:t>执行情况，</a:t>
            </a:r>
            <a:r>
              <a:rPr lang="en-US" altLang="zh-CN" sz="3600" b="1" dirty="0">
                <a:latin typeface="Times New Roman" panose="02020603050405020304" pitchFamily="18" charset="0"/>
                <a:cs typeface="Times New Roman" panose="02020603050405020304" pitchFamily="18" charset="0"/>
              </a:rPr>
              <a:t>n=7</a:t>
            </a:r>
          </a:p>
        </p:txBody>
      </p:sp>
      <p:graphicFrame>
        <p:nvGraphicFramePr>
          <p:cNvPr id="570371" name="Group 3"/>
          <p:cNvGraphicFramePr>
            <a:graphicFrameLocks noGrp="1"/>
          </p:cNvGraphicFramePr>
          <p:nvPr/>
        </p:nvGraphicFramePr>
        <p:xfrm>
          <a:off x="177800" y="1196975"/>
          <a:ext cx="8780463" cy="3497264"/>
        </p:xfrm>
        <a:graphic>
          <a:graphicData uri="http://schemas.openxmlformats.org/drawingml/2006/table">
            <a:tbl>
              <a:tblPr/>
              <a:tblGrid>
                <a:gridCol w="1611313">
                  <a:extLst>
                    <a:ext uri="{9D8B030D-6E8A-4147-A177-3AD203B41FA5}">
                      <a16:colId xmlns:a16="http://schemas.microsoft.com/office/drawing/2014/main" val="20000"/>
                    </a:ext>
                  </a:extLst>
                </a:gridCol>
                <a:gridCol w="1527175">
                  <a:extLst>
                    <a:ext uri="{9D8B030D-6E8A-4147-A177-3AD203B41FA5}">
                      <a16:colId xmlns:a16="http://schemas.microsoft.com/office/drawing/2014/main" val="20001"/>
                    </a:ext>
                  </a:extLst>
                </a:gridCol>
                <a:gridCol w="1835150">
                  <a:extLst>
                    <a:ext uri="{9D8B030D-6E8A-4147-A177-3AD203B41FA5}">
                      <a16:colId xmlns:a16="http://schemas.microsoft.com/office/drawing/2014/main" val="20002"/>
                    </a:ext>
                  </a:extLst>
                </a:gridCol>
                <a:gridCol w="1833562">
                  <a:extLst>
                    <a:ext uri="{9D8B030D-6E8A-4147-A177-3AD203B41FA5}">
                      <a16:colId xmlns:a16="http://schemas.microsoft.com/office/drawing/2014/main" val="20003"/>
                    </a:ext>
                  </a:extLst>
                </a:gridCol>
                <a:gridCol w="1973263">
                  <a:extLst>
                    <a:ext uri="{9D8B030D-6E8A-4147-A177-3AD203B41FA5}">
                      <a16:colId xmlns:a16="http://schemas.microsoft.com/office/drawing/2014/main" val="20004"/>
                    </a:ext>
                  </a:extLst>
                </a:gridCol>
              </a:tblGrid>
              <a:tr h="346075">
                <a:tc>
                  <a:txBody>
                    <a:bodyPr/>
                    <a:lstStyle/>
                    <a:p>
                      <a:pPr marL="0" marR="0" lvl="0" indent="0" algn="ctr"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err="1">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Mem</a:t>
                      </a: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 Ref1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BE0E3"/>
                    </a:solidFill>
                  </a:tcPr>
                </a:tc>
                <a:tc>
                  <a:txBody>
                    <a:bodyPr/>
                    <a:lstStyle/>
                    <a:p>
                      <a:pPr marL="0" marR="0" lvl="0" indent="0" algn="ctr"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Mem Ref2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BE0E3"/>
                    </a:solidFill>
                  </a:tcPr>
                </a:tc>
                <a:tc>
                  <a:txBody>
                    <a:bodyPr/>
                    <a:lstStyle/>
                    <a:p>
                      <a:pPr marL="0" marR="0" lvl="0" indent="0" algn="ctr"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FP1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BE0E3"/>
                    </a:solidFill>
                  </a:tcPr>
                </a:tc>
                <a:tc>
                  <a:txBody>
                    <a:bodyPr/>
                    <a:lstStyle/>
                    <a:p>
                      <a:pPr marL="0" marR="0" lvl="0" indent="0" algn="ctr"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FP2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BE0E3"/>
                    </a:solidFill>
                  </a:tcPr>
                </a:tc>
                <a:tc>
                  <a:txBody>
                    <a:bodyPr/>
                    <a:lstStyle/>
                    <a:p>
                      <a:pPr marL="0" marR="0" lvl="0" indent="0" algn="ctr"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Int/branch</a:t>
                      </a: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BE0E3"/>
                    </a:solidFill>
                  </a:tcPr>
                </a:tc>
                <a:extLst>
                  <a:ext uri="{0D108BD9-81ED-4DB2-BD59-A6C34878D82A}">
                    <a16:rowId xmlns:a16="http://schemas.microsoft.com/office/drawing/2014/main" val="10000"/>
                  </a:ext>
                </a:extLst>
              </a:tr>
              <a:tr h="349250">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F0,0(R1)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F6,-8(R1)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838">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F10,-16(R1)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F14,-24(R1)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9250">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F18,-32(R1)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F22,-40(R1)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F4,F0,F2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F8,F6,F2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2425">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F26,-48(R1)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F12,F10,F2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F16,F14,F2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9250">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F20,F18,F2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F24,F22,F2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0838">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F4,0(R1)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F8,-8(R1)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F28,F26,F2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9250">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F12,-16(R1)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F16,-24(R1)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SUBI R1,R1,#56</a:t>
                      </a: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0838">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F20,24(R1)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F24,16(R1)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49250">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F28,8(R1)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BNEZ R1, Loop</a:t>
                      </a: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2" name="日期占位符 1">
            <a:extLst>
              <a:ext uri="{FF2B5EF4-FFF2-40B4-BE49-F238E27FC236}">
                <a16:creationId xmlns:a16="http://schemas.microsoft.com/office/drawing/2014/main" id="{33CC587B-2819-688F-32F8-2B5FEDB6F413}"/>
              </a:ext>
            </a:extLst>
          </p:cNvPr>
          <p:cNvSpPr>
            <a:spLocks noGrp="1"/>
          </p:cNvSpPr>
          <p:nvPr>
            <p:ph type="dt" sz="half" idx="10"/>
          </p:nvPr>
        </p:nvSpPr>
        <p:spPr/>
        <p:txBody>
          <a:bodyPr/>
          <a:lstStyle/>
          <a:p>
            <a:pPr>
              <a:defRPr/>
            </a:pPr>
            <a:fld id="{587F68F4-FA07-4822-863A-98839E7ACEDD}"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9093F6FE-32F9-DF4B-BC7C-F5FEFCFA719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5C4056D4-E1C0-139F-842D-D0040693F058}"/>
              </a:ext>
            </a:extLst>
          </p:cNvPr>
          <p:cNvSpPr>
            <a:spLocks noGrp="1"/>
          </p:cNvSpPr>
          <p:nvPr>
            <p:ph type="sldNum" sz="quarter" idx="12"/>
          </p:nvPr>
        </p:nvSpPr>
        <p:spPr/>
        <p:txBody>
          <a:bodyPr/>
          <a:lstStyle/>
          <a:p>
            <a:pPr>
              <a:defRPr/>
            </a:pPr>
            <a:fld id="{A5AE633C-541A-4E3F-A22A-3C4C63E8EF5F}" type="slidenum">
              <a:rPr lang="zh-CN" altLang="en-US" smtClean="0"/>
              <a:t>77</a:t>
            </a:fld>
            <a:endParaRPr lang="en-US" altLang="zh-CN"/>
          </a:p>
        </p:txBody>
      </p:sp>
    </p:spTree>
    <p:extLst>
      <p:ext uri="{BB962C8B-B14F-4D97-AF65-F5344CB8AC3E}">
        <p14:creationId xmlns:p14="http://schemas.microsoft.com/office/powerpoint/2010/main" val="2172240312"/>
      </p:ext>
    </p:extLst>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a:spLocks noGrp="1" noChangeArrowheads="1"/>
          </p:cNvSpPr>
          <p:nvPr>
            <p:ph type="title" idx="4294967295"/>
          </p:nvPr>
        </p:nvSpPr>
        <p:spPr/>
        <p:txBody>
          <a:bodyPr/>
          <a:lstStyle/>
          <a:p>
            <a:pPr eaLnBrk="1" hangingPunct="1">
              <a:defRPr/>
            </a:pPr>
            <a:r>
              <a:rPr lang="zh-CN" altLang="en-US" sz="3600" b="1" dirty="0">
                <a:latin typeface="+mj-ea"/>
              </a:rPr>
              <a:t>结果分析</a:t>
            </a:r>
          </a:p>
        </p:txBody>
      </p:sp>
      <p:sp>
        <p:nvSpPr>
          <p:cNvPr id="36867" name="Rectangle 5"/>
          <p:cNvSpPr>
            <a:spLocks noGrp="1" noChangeArrowheads="1"/>
          </p:cNvSpPr>
          <p:nvPr>
            <p:ph type="body" idx="4294967295"/>
          </p:nvPr>
        </p:nvSpPr>
        <p:spPr>
          <a:xfrm>
            <a:off x="539750" y="1412875"/>
            <a:ext cx="8229600" cy="4525963"/>
          </a:xfrm>
        </p:spPr>
        <p:txBody>
          <a:bodyPr/>
          <a:lstStyle/>
          <a:p>
            <a:pPr eaLnBrk="1" hangingPunct="1">
              <a:buFont typeface="Arial" charset="0"/>
              <a:buChar char="•"/>
              <a:defRPr/>
            </a:pPr>
            <a:r>
              <a:rPr lang="en-US" altLang="zh-CN" sz="2400" b="1" dirty="0">
                <a:latin typeface="Times New Roman" panose="02020603050405020304" pitchFamily="18" charset="0"/>
                <a:ea typeface="+mj-ea"/>
                <a:cs typeface="Times New Roman" panose="02020603050405020304" pitchFamily="18" charset="0"/>
              </a:rPr>
              <a:t>9</a:t>
            </a:r>
            <a:r>
              <a:rPr lang="zh-CN" altLang="en-US" sz="2400" b="1" dirty="0">
                <a:latin typeface="Times New Roman" panose="02020603050405020304" pitchFamily="18" charset="0"/>
                <a:ea typeface="+mj-ea"/>
                <a:cs typeface="Times New Roman" panose="02020603050405020304" pitchFamily="18" charset="0"/>
              </a:rPr>
              <a:t>拍产生</a:t>
            </a:r>
            <a:r>
              <a:rPr lang="en-US" altLang="zh-CN" sz="2400" b="1" dirty="0">
                <a:latin typeface="Times New Roman" panose="02020603050405020304" pitchFamily="18" charset="0"/>
                <a:ea typeface="+mj-ea"/>
                <a:cs typeface="Times New Roman" panose="02020603050405020304" pitchFamily="18" charset="0"/>
              </a:rPr>
              <a:t>7</a:t>
            </a:r>
            <a:r>
              <a:rPr lang="zh-CN" altLang="en-US" sz="2400" b="1" dirty="0">
                <a:latin typeface="Times New Roman" panose="02020603050405020304" pitchFamily="18" charset="0"/>
                <a:ea typeface="+mj-ea"/>
                <a:cs typeface="Times New Roman" panose="02020603050405020304" pitchFamily="18" charset="0"/>
              </a:rPr>
              <a:t>个结果</a:t>
            </a:r>
          </a:p>
          <a:p>
            <a:pPr lvl="1" eaLnBrk="1" hangingPunct="1">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每个结果</a:t>
            </a:r>
            <a:r>
              <a:rPr lang="en-US" altLang="zh-CN" sz="2400" b="1" dirty="0">
                <a:latin typeface="Times New Roman" panose="02020603050405020304" pitchFamily="18" charset="0"/>
                <a:ea typeface="+mj-ea"/>
                <a:cs typeface="Times New Roman" panose="02020603050405020304" pitchFamily="18" charset="0"/>
              </a:rPr>
              <a:t>1.29</a:t>
            </a:r>
            <a:r>
              <a:rPr lang="zh-CN" altLang="en-US" sz="2400" b="1" dirty="0">
                <a:latin typeface="Times New Roman" panose="02020603050405020304" pitchFamily="18" charset="0"/>
                <a:ea typeface="+mj-ea"/>
                <a:cs typeface="Times New Roman" panose="02020603050405020304" pitchFamily="18" charset="0"/>
              </a:rPr>
              <a:t>拍</a:t>
            </a:r>
          </a:p>
          <a:p>
            <a:pPr lvl="1" eaLnBrk="1" hangingPunct="1">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比前面的超标量，每个结果</a:t>
            </a:r>
            <a:r>
              <a:rPr lang="en-US" altLang="zh-CN" sz="2400" b="1" dirty="0">
                <a:latin typeface="Times New Roman" panose="02020603050405020304" pitchFamily="18" charset="0"/>
                <a:ea typeface="+mj-ea"/>
                <a:cs typeface="Times New Roman" panose="02020603050405020304" pitchFamily="18" charset="0"/>
              </a:rPr>
              <a:t>2.4</a:t>
            </a:r>
            <a:r>
              <a:rPr lang="zh-CN" altLang="en-US" sz="2400" b="1" dirty="0">
                <a:latin typeface="Times New Roman" panose="02020603050405020304" pitchFamily="18" charset="0"/>
                <a:ea typeface="+mj-ea"/>
                <a:cs typeface="Times New Roman" panose="02020603050405020304" pitchFamily="18" charset="0"/>
              </a:rPr>
              <a:t>拍，快接近</a:t>
            </a:r>
            <a:r>
              <a:rPr lang="en-US" altLang="zh-CN" sz="2400" b="1" dirty="0">
                <a:latin typeface="Times New Roman" panose="02020603050405020304" pitchFamily="18" charset="0"/>
                <a:ea typeface="+mj-ea"/>
                <a:cs typeface="Times New Roman" panose="02020603050405020304" pitchFamily="18" charset="0"/>
              </a:rPr>
              <a:t>2</a:t>
            </a:r>
            <a:r>
              <a:rPr lang="zh-CN" altLang="en-US" sz="2400" b="1" dirty="0">
                <a:latin typeface="Times New Roman" panose="02020603050405020304" pitchFamily="18" charset="0"/>
                <a:ea typeface="+mj-ea"/>
                <a:cs typeface="Times New Roman" panose="02020603050405020304" pitchFamily="18" charset="0"/>
              </a:rPr>
              <a:t>倍</a:t>
            </a:r>
          </a:p>
          <a:p>
            <a:pPr eaLnBrk="1" hangingPunct="1">
              <a:buFont typeface="Arial" charset="0"/>
              <a:buChar char="•"/>
              <a:defRPr/>
            </a:pPr>
            <a:r>
              <a:rPr lang="en-US" altLang="zh-CN" sz="2400" b="1" dirty="0">
                <a:latin typeface="Times New Roman" panose="02020603050405020304" pitchFamily="18" charset="0"/>
                <a:ea typeface="+mj-ea"/>
                <a:cs typeface="Times New Roman" panose="02020603050405020304" pitchFamily="18" charset="0"/>
              </a:rPr>
              <a:t>9</a:t>
            </a:r>
            <a:r>
              <a:rPr lang="zh-CN" altLang="en-US" sz="2400" b="1" dirty="0">
                <a:latin typeface="Times New Roman" panose="02020603050405020304" pitchFamily="18" charset="0"/>
                <a:ea typeface="+mj-ea"/>
                <a:cs typeface="Times New Roman" panose="02020603050405020304" pitchFamily="18" charset="0"/>
              </a:rPr>
              <a:t>拍里面执行了</a:t>
            </a:r>
            <a:r>
              <a:rPr lang="en-US" altLang="zh-CN" sz="2400" b="1" dirty="0">
                <a:latin typeface="Times New Roman" panose="02020603050405020304" pitchFamily="18" charset="0"/>
                <a:ea typeface="+mj-ea"/>
                <a:cs typeface="Times New Roman" panose="02020603050405020304" pitchFamily="18" charset="0"/>
              </a:rPr>
              <a:t>23</a:t>
            </a:r>
            <a:r>
              <a:rPr lang="zh-CN" altLang="en-US" sz="2400" b="1" dirty="0">
                <a:latin typeface="Times New Roman" panose="02020603050405020304" pitchFamily="18" charset="0"/>
                <a:ea typeface="+mj-ea"/>
                <a:cs typeface="Times New Roman" panose="02020603050405020304" pitchFamily="18" charset="0"/>
              </a:rPr>
              <a:t>个操作</a:t>
            </a:r>
          </a:p>
          <a:p>
            <a:pPr lvl="1" eaLnBrk="1" hangingPunct="1">
              <a:buFont typeface="Arial" charset="0"/>
              <a:buChar char="–"/>
              <a:defRPr/>
            </a:pPr>
            <a:r>
              <a:rPr lang="en-US" altLang="zh-CN" sz="2400" b="1" dirty="0">
                <a:latin typeface="Times New Roman" panose="02020603050405020304" pitchFamily="18" charset="0"/>
                <a:ea typeface="+mj-ea"/>
                <a:cs typeface="Times New Roman" panose="02020603050405020304" pitchFamily="18" charset="0"/>
              </a:rPr>
              <a:t>2.5</a:t>
            </a:r>
            <a:r>
              <a:rPr lang="zh-CN" altLang="en-US" sz="2400" b="1" dirty="0">
                <a:latin typeface="Times New Roman" panose="02020603050405020304" pitchFamily="18" charset="0"/>
                <a:ea typeface="+mj-ea"/>
                <a:cs typeface="Times New Roman" panose="02020603050405020304" pitchFamily="18" charset="0"/>
              </a:rPr>
              <a:t>操作</a:t>
            </a:r>
            <a:r>
              <a:rPr lang="en-US" altLang="zh-CN" sz="2400" b="1" dirty="0">
                <a:latin typeface="Times New Roman" panose="02020603050405020304" pitchFamily="18" charset="0"/>
                <a:ea typeface="+mj-ea"/>
                <a:cs typeface="Times New Roman" panose="02020603050405020304" pitchFamily="18" charset="0"/>
              </a:rPr>
              <a:t>/</a:t>
            </a:r>
            <a:r>
              <a:rPr lang="zh-CN" altLang="en-US" sz="2400" b="1" dirty="0">
                <a:latin typeface="Times New Roman" panose="02020603050405020304" pitchFamily="18" charset="0"/>
                <a:ea typeface="+mj-ea"/>
                <a:cs typeface="Times New Roman" panose="02020603050405020304" pitchFamily="18" charset="0"/>
              </a:rPr>
              <a:t>拍</a:t>
            </a:r>
          </a:p>
          <a:p>
            <a:pPr lvl="1" eaLnBrk="1" hangingPunct="1">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指令槽利用率不高， 只有</a:t>
            </a:r>
            <a:r>
              <a:rPr lang="en-US" altLang="zh-CN" sz="2400" b="1" dirty="0">
                <a:latin typeface="Times New Roman" panose="02020603050405020304" pitchFamily="18" charset="0"/>
                <a:ea typeface="+mj-ea"/>
                <a:cs typeface="Times New Roman" panose="02020603050405020304" pitchFamily="18" charset="0"/>
              </a:rPr>
              <a:t>51% (23/45)</a:t>
            </a:r>
          </a:p>
          <a:p>
            <a:pPr eaLnBrk="1" hangingPunct="1">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使用大量寄存器</a:t>
            </a:r>
          </a:p>
          <a:p>
            <a:pPr lvl="1" eaLnBrk="1" hangingPunct="1">
              <a:buFont typeface="Arial" charset="0"/>
              <a:buChar char="–"/>
              <a:defRPr/>
            </a:pPr>
            <a:r>
              <a:rPr lang="en-US" altLang="zh-CN" sz="2400" b="1" dirty="0">
                <a:latin typeface="Times New Roman" panose="02020603050405020304" pitchFamily="18" charset="0"/>
                <a:ea typeface="+mj-ea"/>
                <a:cs typeface="Times New Roman" panose="02020603050405020304" pitchFamily="18" charset="0"/>
              </a:rPr>
              <a:t>7</a:t>
            </a:r>
            <a:r>
              <a:rPr lang="zh-CN" altLang="en-US" sz="2400" b="1" dirty="0">
                <a:latin typeface="Times New Roman" panose="02020603050405020304" pitchFamily="18" charset="0"/>
                <a:ea typeface="+mj-ea"/>
                <a:cs typeface="Times New Roman" panose="02020603050405020304" pitchFamily="18" charset="0"/>
              </a:rPr>
              <a:t>个循环，共计使用</a:t>
            </a:r>
            <a:r>
              <a:rPr lang="en-US" altLang="zh-CN" sz="2400" b="1" dirty="0">
                <a:latin typeface="Times New Roman" panose="02020603050405020304" pitchFamily="18" charset="0"/>
                <a:ea typeface="+mj-ea"/>
                <a:cs typeface="Times New Roman" panose="02020603050405020304" pitchFamily="18" charset="0"/>
              </a:rPr>
              <a:t>2×7+1=15</a:t>
            </a:r>
            <a:r>
              <a:rPr lang="zh-CN" altLang="en-US" sz="2400" b="1" dirty="0">
                <a:latin typeface="Times New Roman" panose="02020603050405020304" pitchFamily="18" charset="0"/>
                <a:ea typeface="+mj-ea"/>
                <a:cs typeface="Times New Roman" panose="02020603050405020304" pitchFamily="18" charset="0"/>
              </a:rPr>
              <a:t>个</a:t>
            </a:r>
            <a:r>
              <a:rPr lang="en-US" altLang="zh-CN" sz="2400" b="1" dirty="0">
                <a:latin typeface="Times New Roman" panose="02020603050405020304" pitchFamily="18" charset="0"/>
                <a:ea typeface="+mj-ea"/>
                <a:cs typeface="Times New Roman" panose="02020603050405020304" pitchFamily="18" charset="0"/>
              </a:rPr>
              <a:t>64</a:t>
            </a:r>
            <a:r>
              <a:rPr lang="zh-CN" altLang="en-US" sz="2400" b="1" dirty="0">
                <a:latin typeface="Times New Roman" panose="02020603050405020304" pitchFamily="18" charset="0"/>
                <a:ea typeface="+mj-ea"/>
                <a:cs typeface="Times New Roman" panose="02020603050405020304" pitchFamily="18" charset="0"/>
              </a:rPr>
              <a:t>位浮点寄存器</a:t>
            </a:r>
          </a:p>
        </p:txBody>
      </p:sp>
      <p:sp>
        <p:nvSpPr>
          <p:cNvPr id="2" name="日期占位符 1">
            <a:extLst>
              <a:ext uri="{FF2B5EF4-FFF2-40B4-BE49-F238E27FC236}">
                <a16:creationId xmlns:a16="http://schemas.microsoft.com/office/drawing/2014/main" id="{14729D37-609F-5FED-DE79-C138B32A73D7}"/>
              </a:ext>
            </a:extLst>
          </p:cNvPr>
          <p:cNvSpPr>
            <a:spLocks noGrp="1"/>
          </p:cNvSpPr>
          <p:nvPr>
            <p:ph type="dt" sz="half" idx="10"/>
          </p:nvPr>
        </p:nvSpPr>
        <p:spPr/>
        <p:txBody>
          <a:bodyPr/>
          <a:lstStyle/>
          <a:p>
            <a:pPr>
              <a:defRPr/>
            </a:pPr>
            <a:fld id="{D9D0BD0F-1EBC-487C-8732-2137C341DF73}"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59E4346C-1590-C638-8B15-C421510EC91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9DB6337A-161C-1F61-6909-99A5E6DDB5F3}"/>
              </a:ext>
            </a:extLst>
          </p:cNvPr>
          <p:cNvSpPr>
            <a:spLocks noGrp="1"/>
          </p:cNvSpPr>
          <p:nvPr>
            <p:ph type="sldNum" sz="quarter" idx="12"/>
          </p:nvPr>
        </p:nvSpPr>
        <p:spPr/>
        <p:txBody>
          <a:bodyPr/>
          <a:lstStyle/>
          <a:p>
            <a:pPr>
              <a:defRPr/>
            </a:pPr>
            <a:fld id="{A5AE633C-541A-4E3F-A22A-3C4C63E8EF5F}" type="slidenum">
              <a:rPr lang="zh-CN" altLang="en-US" smtClean="0"/>
              <a:t>78</a:t>
            </a:fld>
            <a:endParaRPr lang="en-US" altLang="zh-CN"/>
          </a:p>
        </p:txBody>
      </p:sp>
    </p:spTree>
    <p:extLst>
      <p:ext uri="{BB962C8B-B14F-4D97-AF65-F5344CB8AC3E}">
        <p14:creationId xmlns:p14="http://schemas.microsoft.com/office/powerpoint/2010/main" val="3762612194"/>
      </p:ext>
    </p:extLst>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179388" y="44450"/>
            <a:ext cx="8785225" cy="792163"/>
          </a:xfrm>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defRPr/>
            </a:pPr>
            <a:r>
              <a:rPr lang="zh-CN" altLang="en-US" sz="3600" b="1" dirty="0">
                <a:latin typeface="Times New Roman" panose="02020603050405020304" pitchFamily="18" charset="0"/>
                <a:cs typeface="Times New Roman" panose="02020603050405020304" pitchFamily="18" charset="0"/>
              </a:rPr>
              <a:t>没有空指令的调度</a:t>
            </a:r>
            <a:r>
              <a:rPr lang="en-US" altLang="zh-CN" sz="3600" b="1" dirty="0">
                <a:latin typeface="Times New Roman" panose="02020603050405020304" pitchFamily="18" charset="0"/>
                <a:cs typeface="Times New Roman" panose="02020603050405020304" pitchFamily="18" charset="0"/>
              </a:rPr>
              <a:t>, n=3</a:t>
            </a:r>
          </a:p>
        </p:txBody>
      </p:sp>
      <p:graphicFrame>
        <p:nvGraphicFramePr>
          <p:cNvPr id="573443" name="Group 3"/>
          <p:cNvGraphicFramePr>
            <a:graphicFrameLocks noGrp="1"/>
          </p:cNvGraphicFramePr>
          <p:nvPr/>
        </p:nvGraphicFramePr>
        <p:xfrm>
          <a:off x="177800" y="1235075"/>
          <a:ext cx="8780463" cy="3146428"/>
        </p:xfrm>
        <a:graphic>
          <a:graphicData uri="http://schemas.openxmlformats.org/drawingml/2006/table">
            <a:tbl>
              <a:tblPr/>
              <a:tblGrid>
                <a:gridCol w="1544638">
                  <a:extLst>
                    <a:ext uri="{9D8B030D-6E8A-4147-A177-3AD203B41FA5}">
                      <a16:colId xmlns:a16="http://schemas.microsoft.com/office/drawing/2014/main" val="20000"/>
                    </a:ext>
                  </a:extLst>
                </a:gridCol>
                <a:gridCol w="1382712">
                  <a:extLst>
                    <a:ext uri="{9D8B030D-6E8A-4147-A177-3AD203B41FA5}">
                      <a16:colId xmlns:a16="http://schemas.microsoft.com/office/drawing/2014/main" val="20001"/>
                    </a:ext>
                  </a:extLst>
                </a:gridCol>
                <a:gridCol w="1846263">
                  <a:extLst>
                    <a:ext uri="{9D8B030D-6E8A-4147-A177-3AD203B41FA5}">
                      <a16:colId xmlns:a16="http://schemas.microsoft.com/office/drawing/2014/main" val="20002"/>
                    </a:ext>
                  </a:extLst>
                </a:gridCol>
                <a:gridCol w="1766887">
                  <a:extLst>
                    <a:ext uri="{9D8B030D-6E8A-4147-A177-3AD203B41FA5}">
                      <a16:colId xmlns:a16="http://schemas.microsoft.com/office/drawing/2014/main" val="20003"/>
                    </a:ext>
                  </a:extLst>
                </a:gridCol>
                <a:gridCol w="2239963">
                  <a:extLst>
                    <a:ext uri="{9D8B030D-6E8A-4147-A177-3AD203B41FA5}">
                      <a16:colId xmlns:a16="http://schemas.microsoft.com/office/drawing/2014/main" val="20004"/>
                    </a:ext>
                  </a:extLst>
                </a:gridCol>
              </a:tblGrid>
              <a:tr h="342900">
                <a:tc>
                  <a:txBody>
                    <a:bodyPr/>
                    <a:lstStyle/>
                    <a:p>
                      <a:pPr marL="0" marR="0" lvl="0" indent="0" algn="ctr"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err="1">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Mem</a:t>
                      </a: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 Ref1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BE0E3"/>
                    </a:solidFill>
                  </a:tcPr>
                </a:tc>
                <a:tc>
                  <a:txBody>
                    <a:bodyPr/>
                    <a:lstStyle/>
                    <a:p>
                      <a:pPr marL="0" marR="0" lvl="0" indent="0" algn="ctr"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Mem Ref2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BE0E3"/>
                    </a:solidFill>
                  </a:tcPr>
                </a:tc>
                <a:tc>
                  <a:txBody>
                    <a:bodyPr/>
                    <a:lstStyle/>
                    <a:p>
                      <a:pPr marL="0" marR="0" lvl="0" indent="0" algn="ctr"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FP1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BE0E3"/>
                    </a:solidFill>
                  </a:tcPr>
                </a:tc>
                <a:tc>
                  <a:txBody>
                    <a:bodyPr/>
                    <a:lstStyle/>
                    <a:p>
                      <a:pPr marL="0" marR="0" lvl="0" indent="0" algn="ctr"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FP2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BE0E3"/>
                    </a:solidFill>
                  </a:tcPr>
                </a:tc>
                <a:tc>
                  <a:txBody>
                    <a:bodyPr/>
                    <a:lstStyle/>
                    <a:p>
                      <a:pPr marL="0" marR="0" lvl="0" indent="0" algn="ctr"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Int/branch</a:t>
                      </a: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BE0E3"/>
                    </a:solidFill>
                  </a:tcPr>
                </a:tc>
                <a:extLst>
                  <a:ext uri="{0D108BD9-81ED-4DB2-BD59-A6C34878D82A}">
                    <a16:rowId xmlns:a16="http://schemas.microsoft.com/office/drawing/2014/main" val="10000"/>
                  </a:ext>
                </a:extLst>
              </a:tr>
              <a:tr h="350838">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F0, 0(R1)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F6,-8(R1)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838">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F10, -16(R1)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9250">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F4,F0,F2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F8,F6,F2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0838">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F12,F10,F2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0838">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SUBI R1, R1, #24</a:t>
                      </a: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9250">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F4,24(R1)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F8,16(R1)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0838">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F12,8(R1)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0838">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BNEZ R1, Loop</a:t>
                      </a: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2289" name="Rectangle 153"/>
          <p:cNvSpPr>
            <a:spLocks noGrp="1" noChangeArrowheads="1"/>
          </p:cNvSpPr>
          <p:nvPr>
            <p:ph type="body" idx="4294967295"/>
          </p:nvPr>
        </p:nvSpPr>
        <p:spPr>
          <a:xfrm>
            <a:off x="468313" y="4724400"/>
            <a:ext cx="8207375" cy="165735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r>
              <a:rPr lang="en-US" altLang="zh-CN" sz="2400" b="1" dirty="0">
                <a:latin typeface="Times New Roman" panose="02020603050405020304" pitchFamily="18" charset="0"/>
                <a:ea typeface="华文中宋" pitchFamily="2" charset="-122"/>
                <a:cs typeface="Times New Roman" panose="02020603050405020304" pitchFamily="18" charset="0"/>
              </a:rPr>
              <a:t>8</a:t>
            </a:r>
            <a:r>
              <a:rPr lang="zh-CN" altLang="en-US" sz="2400" b="1" dirty="0">
                <a:latin typeface="Times New Roman" panose="02020603050405020304" pitchFamily="18" charset="0"/>
                <a:ea typeface="华文中宋" pitchFamily="2" charset="-122"/>
                <a:cs typeface="Times New Roman" panose="02020603050405020304" pitchFamily="18" charset="0"/>
              </a:rPr>
              <a:t>拍</a:t>
            </a:r>
            <a:r>
              <a:rPr lang="en-US" altLang="zh-CN" sz="2400" b="1" dirty="0">
                <a:latin typeface="Times New Roman" panose="02020603050405020304" pitchFamily="18" charset="0"/>
                <a:ea typeface="华文中宋" pitchFamily="2" charset="-122"/>
                <a:cs typeface="Times New Roman" panose="02020603050405020304" pitchFamily="18" charset="0"/>
              </a:rPr>
              <a:t>3</a:t>
            </a:r>
            <a:r>
              <a:rPr lang="zh-CN" altLang="en-US" sz="2400" b="1" dirty="0">
                <a:latin typeface="Times New Roman" panose="02020603050405020304" pitchFamily="18" charset="0"/>
                <a:ea typeface="华文中宋" pitchFamily="2" charset="-122"/>
                <a:cs typeface="Times New Roman" panose="02020603050405020304" pitchFamily="18" charset="0"/>
              </a:rPr>
              <a:t>个结果，每个结果</a:t>
            </a:r>
            <a:r>
              <a:rPr lang="en-US" altLang="zh-CN" sz="2400" b="1" dirty="0">
                <a:latin typeface="Times New Roman" panose="02020603050405020304" pitchFamily="18" charset="0"/>
                <a:ea typeface="华文中宋" pitchFamily="2" charset="-122"/>
                <a:cs typeface="Times New Roman" panose="02020603050405020304" pitchFamily="18" charset="0"/>
              </a:rPr>
              <a:t>2.66</a:t>
            </a:r>
            <a:r>
              <a:rPr lang="zh-CN" altLang="en-US" sz="2400" b="1" dirty="0">
                <a:latin typeface="Times New Roman" panose="02020603050405020304" pitchFamily="18" charset="0"/>
                <a:ea typeface="华文中宋" pitchFamily="2" charset="-122"/>
                <a:cs typeface="Times New Roman" panose="02020603050405020304" pitchFamily="18" charset="0"/>
              </a:rPr>
              <a:t>拍</a:t>
            </a:r>
          </a:p>
          <a:p>
            <a:pPr eaLnBrk="1" hangingPunct="1"/>
            <a:r>
              <a:rPr lang="zh-CN" altLang="en-US" sz="2400" b="1" dirty="0">
                <a:latin typeface="Times New Roman" panose="02020603050405020304" pitchFamily="18" charset="0"/>
                <a:ea typeface="华文中宋" pitchFamily="2" charset="-122"/>
                <a:cs typeface="Times New Roman" panose="02020603050405020304" pitchFamily="18" charset="0"/>
              </a:rPr>
              <a:t>指令槽利用率</a:t>
            </a:r>
            <a:r>
              <a:rPr lang="en-US" altLang="zh-CN" sz="2400" b="1" dirty="0">
                <a:latin typeface="Times New Roman" panose="02020603050405020304" pitchFamily="18" charset="0"/>
                <a:ea typeface="华文中宋" pitchFamily="2" charset="-122"/>
                <a:cs typeface="Times New Roman" panose="02020603050405020304" pitchFamily="18" charset="0"/>
              </a:rPr>
              <a:t>: 11/40 = 27.5%</a:t>
            </a:r>
          </a:p>
          <a:p>
            <a:pPr eaLnBrk="1" hangingPunct="1"/>
            <a:r>
              <a:rPr lang="zh-CN" altLang="en-US" sz="2400" b="1" dirty="0">
                <a:latin typeface="Times New Roman" panose="02020603050405020304" pitchFamily="18" charset="0"/>
                <a:ea typeface="华文中宋" pitchFamily="2" charset="-122"/>
                <a:cs typeface="Times New Roman" panose="02020603050405020304" pitchFamily="18" charset="0"/>
              </a:rPr>
              <a:t>寄存器：</a:t>
            </a:r>
            <a:r>
              <a:rPr lang="en-US" altLang="zh-CN" sz="2400" b="1" dirty="0">
                <a:latin typeface="Times New Roman" panose="02020603050405020304" pitchFamily="18" charset="0"/>
                <a:ea typeface="华文中宋" pitchFamily="2" charset="-122"/>
                <a:cs typeface="Times New Roman" panose="02020603050405020304" pitchFamily="18" charset="0"/>
              </a:rPr>
              <a:t>3×2+1=7</a:t>
            </a:r>
            <a:r>
              <a:rPr lang="zh-CN" altLang="en-US" sz="2400" b="1" dirty="0">
                <a:latin typeface="Times New Roman" panose="02020603050405020304" pitchFamily="18" charset="0"/>
                <a:ea typeface="华文中宋" pitchFamily="2" charset="-122"/>
                <a:cs typeface="Times New Roman" panose="02020603050405020304" pitchFamily="18" charset="0"/>
              </a:rPr>
              <a:t>个</a:t>
            </a:r>
            <a:r>
              <a:rPr lang="en-US" altLang="zh-CN" sz="2400" b="1" dirty="0">
                <a:latin typeface="Times New Roman" panose="02020603050405020304" pitchFamily="18" charset="0"/>
                <a:ea typeface="华文中宋" pitchFamily="2" charset="-122"/>
                <a:cs typeface="Times New Roman" panose="02020603050405020304" pitchFamily="18" charset="0"/>
              </a:rPr>
              <a:t>64</a:t>
            </a:r>
            <a:r>
              <a:rPr lang="zh-CN" altLang="en-US" sz="2400" b="1" dirty="0">
                <a:latin typeface="Times New Roman" panose="02020603050405020304" pitchFamily="18" charset="0"/>
                <a:ea typeface="华文中宋" pitchFamily="2" charset="-122"/>
                <a:cs typeface="Times New Roman" panose="02020603050405020304" pitchFamily="18" charset="0"/>
              </a:rPr>
              <a:t>位浮点寄存器</a:t>
            </a:r>
          </a:p>
        </p:txBody>
      </p:sp>
      <p:sp>
        <p:nvSpPr>
          <p:cNvPr id="2" name="日期占位符 1">
            <a:extLst>
              <a:ext uri="{FF2B5EF4-FFF2-40B4-BE49-F238E27FC236}">
                <a16:creationId xmlns:a16="http://schemas.microsoft.com/office/drawing/2014/main" id="{A1B7B514-BC66-CD92-CCE6-6E61CFE68399}"/>
              </a:ext>
            </a:extLst>
          </p:cNvPr>
          <p:cNvSpPr>
            <a:spLocks noGrp="1"/>
          </p:cNvSpPr>
          <p:nvPr>
            <p:ph type="dt" sz="half" idx="10"/>
          </p:nvPr>
        </p:nvSpPr>
        <p:spPr/>
        <p:txBody>
          <a:bodyPr/>
          <a:lstStyle/>
          <a:p>
            <a:pPr>
              <a:defRPr/>
            </a:pPr>
            <a:fld id="{F4574847-4F7C-4A84-8184-D6C7D3D5F71C}"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BAD0281A-A0A5-722E-B3DD-928B46C8B95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2146BFA9-9CA3-570D-CC8C-FB1C99B7EA42}"/>
              </a:ext>
            </a:extLst>
          </p:cNvPr>
          <p:cNvSpPr>
            <a:spLocks noGrp="1"/>
          </p:cNvSpPr>
          <p:nvPr>
            <p:ph type="sldNum" sz="quarter" idx="12"/>
          </p:nvPr>
        </p:nvSpPr>
        <p:spPr/>
        <p:txBody>
          <a:bodyPr/>
          <a:lstStyle/>
          <a:p>
            <a:pPr>
              <a:defRPr/>
            </a:pPr>
            <a:fld id="{A5AE633C-541A-4E3F-A22A-3C4C63E8EF5F}" type="slidenum">
              <a:rPr lang="zh-CN" altLang="en-US" smtClean="0"/>
              <a:t>79</a:t>
            </a:fld>
            <a:endParaRPr lang="en-US" altLang="zh-CN"/>
          </a:p>
        </p:txBody>
      </p:sp>
    </p:spTree>
    <p:extLst>
      <p:ext uri="{BB962C8B-B14F-4D97-AF65-F5344CB8AC3E}">
        <p14:creationId xmlns:p14="http://schemas.microsoft.com/office/powerpoint/2010/main" val="3257163104"/>
      </p:ext>
    </p:extLst>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179388" y="44450"/>
            <a:ext cx="8785225" cy="792163"/>
          </a:xfrm>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defRPr/>
            </a:pPr>
            <a:r>
              <a:rPr lang="zh-CN" altLang="en-US" sz="3600" b="1" dirty="0">
                <a:latin typeface="Times New Roman" panose="02020603050405020304" pitchFamily="18" charset="0"/>
                <a:cs typeface="Times New Roman" panose="02020603050405020304" pitchFamily="18" charset="0"/>
              </a:rPr>
              <a:t>尽可能指令空间充满的调度</a:t>
            </a:r>
            <a:r>
              <a:rPr lang="en-US" altLang="zh-CN" sz="3600" b="1" dirty="0">
                <a:latin typeface="Times New Roman" panose="02020603050405020304" pitchFamily="18" charset="0"/>
                <a:cs typeface="Times New Roman" panose="02020603050405020304" pitchFamily="18" charset="0"/>
              </a:rPr>
              <a:t>, n=10</a:t>
            </a:r>
          </a:p>
        </p:txBody>
      </p:sp>
      <p:graphicFrame>
        <p:nvGraphicFramePr>
          <p:cNvPr id="574467" name="Group 3"/>
          <p:cNvGraphicFramePr>
            <a:graphicFrameLocks noGrp="1"/>
          </p:cNvGraphicFramePr>
          <p:nvPr/>
        </p:nvGraphicFramePr>
        <p:xfrm>
          <a:off x="177800" y="1062038"/>
          <a:ext cx="8780463" cy="3319465"/>
        </p:xfrm>
        <a:graphic>
          <a:graphicData uri="http://schemas.openxmlformats.org/drawingml/2006/table">
            <a:tbl>
              <a:tblPr/>
              <a:tblGrid>
                <a:gridCol w="1544638">
                  <a:extLst>
                    <a:ext uri="{9D8B030D-6E8A-4147-A177-3AD203B41FA5}">
                      <a16:colId xmlns:a16="http://schemas.microsoft.com/office/drawing/2014/main" val="20000"/>
                    </a:ext>
                  </a:extLst>
                </a:gridCol>
                <a:gridCol w="1536700">
                  <a:extLst>
                    <a:ext uri="{9D8B030D-6E8A-4147-A177-3AD203B41FA5}">
                      <a16:colId xmlns:a16="http://schemas.microsoft.com/office/drawing/2014/main" val="20001"/>
                    </a:ext>
                  </a:extLst>
                </a:gridCol>
                <a:gridCol w="1846262">
                  <a:extLst>
                    <a:ext uri="{9D8B030D-6E8A-4147-A177-3AD203B41FA5}">
                      <a16:colId xmlns:a16="http://schemas.microsoft.com/office/drawing/2014/main" val="20002"/>
                    </a:ext>
                  </a:extLst>
                </a:gridCol>
                <a:gridCol w="1843088">
                  <a:extLst>
                    <a:ext uri="{9D8B030D-6E8A-4147-A177-3AD203B41FA5}">
                      <a16:colId xmlns:a16="http://schemas.microsoft.com/office/drawing/2014/main" val="20003"/>
                    </a:ext>
                  </a:extLst>
                </a:gridCol>
                <a:gridCol w="2009775">
                  <a:extLst>
                    <a:ext uri="{9D8B030D-6E8A-4147-A177-3AD203B41FA5}">
                      <a16:colId xmlns:a16="http://schemas.microsoft.com/office/drawing/2014/main" val="20004"/>
                    </a:ext>
                  </a:extLst>
                </a:gridCol>
              </a:tblGrid>
              <a:tr h="295275">
                <a:tc>
                  <a:txBody>
                    <a:bodyPr/>
                    <a:lstStyle/>
                    <a:p>
                      <a:pPr marL="0" marR="0" lvl="0" indent="0" algn="ctr"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err="1">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Mem</a:t>
                      </a: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 Ref1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BE0E3"/>
                    </a:solidFill>
                  </a:tcPr>
                </a:tc>
                <a:tc>
                  <a:txBody>
                    <a:bodyPr/>
                    <a:lstStyle/>
                    <a:p>
                      <a:pPr marL="0" marR="0" lvl="0" indent="0" algn="ctr"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err="1">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Mem</a:t>
                      </a: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 Ref2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BE0E3"/>
                    </a:solidFill>
                  </a:tcPr>
                </a:tc>
                <a:tc>
                  <a:txBody>
                    <a:bodyPr/>
                    <a:lstStyle/>
                    <a:p>
                      <a:pPr marL="0" marR="0" lvl="0" indent="0" algn="ctr"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FP1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BE0E3"/>
                    </a:solidFill>
                  </a:tcPr>
                </a:tc>
                <a:tc>
                  <a:txBody>
                    <a:bodyPr/>
                    <a:lstStyle/>
                    <a:p>
                      <a:pPr marL="0" marR="0" lvl="0" indent="0" algn="ctr"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FP2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BE0E3"/>
                    </a:solidFill>
                  </a:tcPr>
                </a:tc>
                <a:tc>
                  <a:txBody>
                    <a:bodyPr/>
                    <a:lstStyle/>
                    <a:p>
                      <a:pPr marL="0" marR="0" lvl="0" indent="0" algn="ctr"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Int/branch</a:t>
                      </a: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BE0E3"/>
                    </a:solidFill>
                  </a:tcPr>
                </a:tc>
                <a:extLst>
                  <a:ext uri="{0D108BD9-81ED-4DB2-BD59-A6C34878D82A}">
                    <a16:rowId xmlns:a16="http://schemas.microsoft.com/office/drawing/2014/main" val="10000"/>
                  </a:ext>
                </a:extLst>
              </a:tr>
              <a:tr h="303213">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F0,0(R1)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F6,-8(R1)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1625">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F10,-16(R1)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F14,-24(R1)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3213">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F18,-32(R1)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F22,-40(R1)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F4,F0,F2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F8,F6,F2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1625">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F26,-48(R1)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F30,-56(R1)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F12,F10,F2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F16,F14,F2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3213">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F34,-64(R1)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LD F38,-72(R1)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F20,F18,F2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F24,F22,F2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SUBI R1,R1,#80</a:t>
                      </a: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1625">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F4,80(R1)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F8,72(R1)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F28,F26,F2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F32,F30,F2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3213">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F12,64(R1)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F16,56(R1)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F36,F34,F2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ADDD F40,F38,F2</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1625">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F20,48(R1)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F20,40(R1)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1625">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F20,32(R1)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F20,24(R1)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3213">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F20,16(R1)</a:t>
                      </a:r>
                    </a:p>
                  </a:txBody>
                  <a:tcPr marL="92075" marR="92075" marT="45999" marB="4599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SD F20,8(R1)</a:t>
                      </a: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endParaRPr kumimoji="0" lang="zh-CN" altLang="en-US"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endParaRPr>
                    </a:p>
                  </a:txBody>
                  <a:tcPr marL="92075" marR="92075" marT="45999" marB="459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rgbClr val="0000CC"/>
                        </a:buClr>
                        <a:buSzTx/>
                        <a:buFont typeface="Wingdings" pitchFamily="2" charset="2"/>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华文中宋" pitchFamily="2" charset="-122"/>
                          <a:cs typeface="Times New Roman" panose="02020603050405020304" pitchFamily="18" charset="0"/>
                        </a:rPr>
                        <a:t>BNEZ R1,Loop</a:t>
                      </a:r>
                    </a:p>
                  </a:txBody>
                  <a:tcPr marL="92075" marR="92075" marT="45999" marB="4599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8989" name="Rectangle 185"/>
          <p:cNvSpPr>
            <a:spLocks noGrp="1" noChangeArrowheads="1"/>
          </p:cNvSpPr>
          <p:nvPr>
            <p:ph type="body" idx="4294967295"/>
          </p:nvPr>
        </p:nvSpPr>
        <p:spPr>
          <a:xfrm>
            <a:off x="468313" y="4649788"/>
            <a:ext cx="8207375" cy="1947862"/>
          </a:xfrm>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lnSpc>
                <a:spcPct val="90000"/>
              </a:lnSpc>
              <a:buFont typeface="Arial" charset="0"/>
              <a:buChar char="•"/>
              <a:defRPr/>
            </a:pPr>
            <a:r>
              <a:rPr lang="en-US" altLang="zh-CN" sz="2400" b="1" dirty="0">
                <a:latin typeface="Times New Roman" panose="02020603050405020304" pitchFamily="18" charset="0"/>
                <a:ea typeface="+mj-ea"/>
                <a:cs typeface="Times New Roman" panose="02020603050405020304" pitchFamily="18" charset="0"/>
              </a:rPr>
              <a:t>10</a:t>
            </a:r>
            <a:r>
              <a:rPr lang="zh-CN" altLang="en-US" sz="2400" b="1" dirty="0">
                <a:latin typeface="Times New Roman" panose="02020603050405020304" pitchFamily="18" charset="0"/>
                <a:ea typeface="+mj-ea"/>
                <a:cs typeface="Times New Roman" panose="02020603050405020304" pitchFamily="18" charset="0"/>
              </a:rPr>
              <a:t>拍</a:t>
            </a:r>
            <a:r>
              <a:rPr lang="en-US" altLang="zh-CN" sz="2400" b="1" dirty="0">
                <a:latin typeface="Times New Roman" panose="02020603050405020304" pitchFamily="18" charset="0"/>
                <a:ea typeface="+mj-ea"/>
                <a:cs typeface="Times New Roman" panose="02020603050405020304" pitchFamily="18" charset="0"/>
              </a:rPr>
              <a:t>10</a:t>
            </a:r>
            <a:r>
              <a:rPr lang="zh-CN" altLang="en-US" sz="2400" b="1" dirty="0">
                <a:latin typeface="Times New Roman" panose="02020603050405020304" pitchFamily="18" charset="0"/>
                <a:ea typeface="+mj-ea"/>
                <a:cs typeface="Times New Roman" panose="02020603050405020304" pitchFamily="18" charset="0"/>
              </a:rPr>
              <a:t>个结果，每个结果使用</a:t>
            </a:r>
            <a:r>
              <a:rPr lang="en-US" altLang="zh-CN" sz="2400" b="1" dirty="0">
                <a:latin typeface="Times New Roman" panose="02020603050405020304" pitchFamily="18" charset="0"/>
                <a:ea typeface="+mj-ea"/>
                <a:cs typeface="Times New Roman" panose="02020603050405020304" pitchFamily="18" charset="0"/>
              </a:rPr>
              <a:t>1</a:t>
            </a:r>
            <a:r>
              <a:rPr lang="zh-CN" altLang="en-US" sz="2400" b="1" dirty="0">
                <a:latin typeface="Times New Roman" panose="02020603050405020304" pitchFamily="18" charset="0"/>
                <a:ea typeface="+mj-ea"/>
                <a:cs typeface="Times New Roman" panose="02020603050405020304" pitchFamily="18" charset="0"/>
              </a:rPr>
              <a:t>拍</a:t>
            </a:r>
          </a:p>
          <a:p>
            <a:pPr eaLnBrk="1" hangingPunct="1">
              <a:lnSpc>
                <a:spcPct val="9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指令槽利用率：</a:t>
            </a:r>
            <a:r>
              <a:rPr lang="en-US" altLang="zh-CN" sz="2400" b="1" dirty="0">
                <a:latin typeface="Times New Roman" panose="02020603050405020304" pitchFamily="18" charset="0"/>
                <a:ea typeface="+mj-ea"/>
                <a:cs typeface="Times New Roman" panose="02020603050405020304" pitchFamily="18" charset="0"/>
              </a:rPr>
              <a:t>36/50 =72%</a:t>
            </a:r>
            <a:endParaRPr lang="zh-CN" altLang="en-US" sz="2400" b="1" dirty="0">
              <a:latin typeface="Times New Roman" panose="02020603050405020304" pitchFamily="18" charset="0"/>
              <a:ea typeface="+mj-ea"/>
              <a:cs typeface="Times New Roman" panose="02020603050405020304" pitchFamily="18" charset="0"/>
            </a:endParaRPr>
          </a:p>
          <a:p>
            <a:pPr eaLnBrk="1" hangingPunct="1">
              <a:lnSpc>
                <a:spcPct val="9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寄存器需求：</a:t>
            </a:r>
            <a:r>
              <a:rPr lang="en-US" altLang="zh-CN" sz="2400" b="1" dirty="0">
                <a:latin typeface="Times New Roman" panose="02020603050405020304" pitchFamily="18" charset="0"/>
                <a:ea typeface="+mj-ea"/>
                <a:cs typeface="Times New Roman" panose="02020603050405020304" pitchFamily="18" charset="0"/>
              </a:rPr>
              <a:t>10×2+1=21</a:t>
            </a:r>
            <a:r>
              <a:rPr lang="zh-CN" altLang="en-US" sz="2400" b="1" dirty="0">
                <a:latin typeface="Times New Roman" panose="02020603050405020304" pitchFamily="18" charset="0"/>
                <a:ea typeface="+mj-ea"/>
                <a:cs typeface="Times New Roman" panose="02020603050405020304" pitchFamily="18" charset="0"/>
              </a:rPr>
              <a:t>个</a:t>
            </a:r>
            <a:r>
              <a:rPr lang="en-US" altLang="zh-CN" sz="2400" b="1" dirty="0">
                <a:latin typeface="Times New Roman" panose="02020603050405020304" pitchFamily="18" charset="0"/>
                <a:ea typeface="+mj-ea"/>
                <a:cs typeface="Times New Roman" panose="02020603050405020304" pitchFamily="18" charset="0"/>
              </a:rPr>
              <a:t>64</a:t>
            </a:r>
            <a:r>
              <a:rPr lang="zh-CN" altLang="en-US" sz="2400" b="1" dirty="0">
                <a:latin typeface="Times New Roman" panose="02020603050405020304" pitchFamily="18" charset="0"/>
                <a:ea typeface="+mj-ea"/>
                <a:cs typeface="Times New Roman" panose="02020603050405020304" pitchFamily="18" charset="0"/>
              </a:rPr>
              <a:t>位浮点寄存器</a:t>
            </a:r>
          </a:p>
        </p:txBody>
      </p:sp>
      <p:sp>
        <p:nvSpPr>
          <p:cNvPr id="2" name="日期占位符 1">
            <a:extLst>
              <a:ext uri="{FF2B5EF4-FFF2-40B4-BE49-F238E27FC236}">
                <a16:creationId xmlns:a16="http://schemas.microsoft.com/office/drawing/2014/main" id="{F2D2F62D-2A56-7A11-3867-8F1BEEBAEB4C}"/>
              </a:ext>
            </a:extLst>
          </p:cNvPr>
          <p:cNvSpPr>
            <a:spLocks noGrp="1"/>
          </p:cNvSpPr>
          <p:nvPr>
            <p:ph type="dt" sz="half" idx="10"/>
          </p:nvPr>
        </p:nvSpPr>
        <p:spPr/>
        <p:txBody>
          <a:bodyPr/>
          <a:lstStyle/>
          <a:p>
            <a:pPr>
              <a:defRPr/>
            </a:pPr>
            <a:fld id="{77BC619C-4965-490F-8C8E-8E8EF8FC5204}"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A22AB308-37FE-520E-E929-BC91B922E0AF}"/>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73724C08-C4A4-F6E2-B6BB-50621D99E4CD}"/>
              </a:ext>
            </a:extLst>
          </p:cNvPr>
          <p:cNvSpPr>
            <a:spLocks noGrp="1"/>
          </p:cNvSpPr>
          <p:nvPr>
            <p:ph type="sldNum" sz="quarter" idx="12"/>
          </p:nvPr>
        </p:nvSpPr>
        <p:spPr/>
        <p:txBody>
          <a:bodyPr/>
          <a:lstStyle/>
          <a:p>
            <a:pPr>
              <a:defRPr/>
            </a:pPr>
            <a:fld id="{A5AE633C-541A-4E3F-A22A-3C4C63E8EF5F}" type="slidenum">
              <a:rPr lang="zh-CN" altLang="en-US" smtClean="0"/>
              <a:t>80</a:t>
            </a:fld>
            <a:endParaRPr lang="en-US" altLang="zh-CN"/>
          </a:p>
        </p:txBody>
      </p:sp>
    </p:spTree>
    <p:extLst>
      <p:ext uri="{BB962C8B-B14F-4D97-AF65-F5344CB8AC3E}">
        <p14:creationId xmlns:p14="http://schemas.microsoft.com/office/powerpoint/2010/main" val="2661932381"/>
      </p:ext>
    </p:extLst>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p:cNvSpPr>
            <a:spLocks noGrp="1" noChangeArrowheads="1"/>
          </p:cNvSpPr>
          <p:nvPr>
            <p:ph type="title" idx="4294967295"/>
          </p:nvPr>
        </p:nvSpPr>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VLIW</a:t>
            </a:r>
            <a:r>
              <a:rPr lang="zh-CN" altLang="en-US" sz="3600" b="1" dirty="0">
                <a:latin typeface="Times New Roman" panose="02020603050405020304" pitchFamily="18" charset="0"/>
                <a:cs typeface="Times New Roman" panose="02020603050405020304" pitchFamily="18" charset="0"/>
              </a:rPr>
              <a:t>的技术难题</a:t>
            </a:r>
          </a:p>
        </p:txBody>
      </p:sp>
      <p:sp>
        <p:nvSpPr>
          <p:cNvPr id="39939" name="Rectangle 5"/>
          <p:cNvSpPr>
            <a:spLocks noGrp="1" noChangeArrowheads="1"/>
          </p:cNvSpPr>
          <p:nvPr>
            <p:ph type="body" idx="4294967295"/>
          </p:nvPr>
        </p:nvSpPr>
        <p:spPr/>
        <p:txBody>
          <a:bodyPr/>
          <a:lstStyle/>
          <a:p>
            <a:pPr eaLnBrk="1" hangingPunct="1">
              <a:lnSpc>
                <a:spcPct val="12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第一，从线性代码片段中产生足够的操作需要进行激进的循环展开，这增大了代码大小</a:t>
            </a:r>
            <a:endParaRPr lang="en-US" altLang="zh-CN" sz="2400" b="1" dirty="0">
              <a:latin typeface="Times New Roman" panose="02020603050405020304" pitchFamily="18" charset="0"/>
              <a:ea typeface="+mj-ea"/>
              <a:cs typeface="Times New Roman" panose="02020603050405020304" pitchFamily="18" charset="0"/>
            </a:endParaRPr>
          </a:p>
          <a:p>
            <a:pPr eaLnBrk="1" hangingPunct="1">
              <a:lnSpc>
                <a:spcPct val="12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第二，无论指令是否被充满，没有被使用的功能单元也在指令字编码过程中占据了相应的位。将近一半的指令是被浪费掉的</a:t>
            </a:r>
          </a:p>
          <a:p>
            <a:pPr lvl="1" eaLnBrk="1" hangingPunct="1">
              <a:lnSpc>
                <a:spcPct val="12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在主存中压缩指令，在</a:t>
            </a:r>
            <a:r>
              <a:rPr lang="en-US" altLang="zh-CN" sz="2400" b="1" dirty="0">
                <a:latin typeface="Times New Roman" panose="02020603050405020304" pitchFamily="18" charset="0"/>
                <a:ea typeface="+mj-ea"/>
                <a:cs typeface="Times New Roman" panose="02020603050405020304" pitchFamily="18" charset="0"/>
              </a:rPr>
              <a:t>cache</a:t>
            </a:r>
            <a:r>
              <a:rPr lang="zh-CN" altLang="en-US" sz="2400" b="1" dirty="0">
                <a:latin typeface="Times New Roman" panose="02020603050405020304" pitchFamily="18" charset="0"/>
                <a:ea typeface="+mj-ea"/>
                <a:cs typeface="Times New Roman" panose="02020603050405020304" pitchFamily="18" charset="0"/>
              </a:rPr>
              <a:t>中解压缩指令</a:t>
            </a:r>
          </a:p>
          <a:p>
            <a:pPr eaLnBrk="1" hangingPunct="1">
              <a:lnSpc>
                <a:spcPct val="12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第三，</a:t>
            </a:r>
            <a:r>
              <a:rPr lang="en-US" altLang="zh-CN" sz="2400" b="1" dirty="0">
                <a:latin typeface="Times New Roman" panose="02020603050405020304" pitchFamily="18" charset="0"/>
                <a:ea typeface="+mj-ea"/>
                <a:cs typeface="Times New Roman" panose="02020603050405020304" pitchFamily="18" charset="0"/>
              </a:rPr>
              <a:t>VLIW</a:t>
            </a:r>
            <a:r>
              <a:rPr lang="zh-CN" altLang="en-US" sz="2400" b="1" dirty="0">
                <a:latin typeface="Times New Roman" panose="02020603050405020304" pitchFamily="18" charset="0"/>
                <a:ea typeface="+mj-ea"/>
                <a:cs typeface="Times New Roman" panose="02020603050405020304" pitchFamily="18" charset="0"/>
              </a:rPr>
              <a:t>带来了二进制代码兼容性问题</a:t>
            </a:r>
          </a:p>
          <a:p>
            <a:pPr lvl="1" eaLnBrk="1" hangingPunct="1">
              <a:lnSpc>
                <a:spcPct val="12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采用机器代码翻译或仿真模拟的方法解决移植的问题</a:t>
            </a:r>
          </a:p>
        </p:txBody>
      </p:sp>
      <p:sp>
        <p:nvSpPr>
          <p:cNvPr id="2" name="日期占位符 1">
            <a:extLst>
              <a:ext uri="{FF2B5EF4-FFF2-40B4-BE49-F238E27FC236}">
                <a16:creationId xmlns:a16="http://schemas.microsoft.com/office/drawing/2014/main" id="{EABA57BB-B208-EC22-670F-774CE809BFF4}"/>
              </a:ext>
            </a:extLst>
          </p:cNvPr>
          <p:cNvSpPr>
            <a:spLocks noGrp="1"/>
          </p:cNvSpPr>
          <p:nvPr>
            <p:ph type="dt" sz="half" idx="10"/>
          </p:nvPr>
        </p:nvSpPr>
        <p:spPr/>
        <p:txBody>
          <a:bodyPr/>
          <a:lstStyle/>
          <a:p>
            <a:pPr>
              <a:defRPr/>
            </a:pPr>
            <a:fld id="{3CA4ED13-D930-4C38-A283-9EDD4B05174D}"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DAA51C26-FEF3-E6CC-9B6D-86F91B75BDC8}"/>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16153E97-3668-BD07-F51D-4FA41610E749}"/>
              </a:ext>
            </a:extLst>
          </p:cNvPr>
          <p:cNvSpPr>
            <a:spLocks noGrp="1"/>
          </p:cNvSpPr>
          <p:nvPr>
            <p:ph type="sldNum" sz="quarter" idx="12"/>
          </p:nvPr>
        </p:nvSpPr>
        <p:spPr/>
        <p:txBody>
          <a:bodyPr/>
          <a:lstStyle/>
          <a:p>
            <a:pPr>
              <a:defRPr/>
            </a:pPr>
            <a:fld id="{A5AE633C-541A-4E3F-A22A-3C4C63E8EF5F}" type="slidenum">
              <a:rPr lang="zh-CN" altLang="en-US" smtClean="0"/>
              <a:t>81</a:t>
            </a:fld>
            <a:endParaRPr lang="en-US" altLang="zh-CN"/>
          </a:p>
        </p:txBody>
      </p:sp>
    </p:spTree>
    <p:extLst>
      <p:ext uri="{BB962C8B-B14F-4D97-AF65-F5344CB8AC3E}">
        <p14:creationId xmlns:p14="http://schemas.microsoft.com/office/powerpoint/2010/main" val="1188878434"/>
      </p:ext>
    </p:extLst>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3" name="Rectangle 3" descr="Rectangle: Click to edit Master text styles&#10;Second level&#10;Third level&#10;Fourth level&#10;Fifth level"/>
          <p:cNvSpPr>
            <a:spLocks noGrp="1" noChangeArrowheads="1"/>
          </p:cNvSpPr>
          <p:nvPr>
            <p:ph idx="1"/>
          </p:nvPr>
        </p:nvSpPr>
        <p:spPr>
          <a:xfrm>
            <a:off x="611560" y="1340768"/>
            <a:ext cx="7772400" cy="4879975"/>
          </a:xfrm>
        </p:spPr>
        <p:txBody>
          <a:bodyPr/>
          <a:lstStyle/>
          <a:p>
            <a:pPr marL="457200" indent="-457200" eaLnBrk="1" hangingPunct="1">
              <a:lnSpc>
                <a:spcPct val="140000"/>
              </a:lnSpc>
              <a:buFont typeface="Wingdings" pitchFamily="2" charset="2"/>
              <a:buNone/>
            </a:pPr>
            <a:r>
              <a:rPr lang="zh-CN" altLang="en-US" sz="2400" b="1" dirty="0">
                <a:latin typeface="Times New Roman" panose="02020603050405020304" pitchFamily="18" charset="0"/>
                <a:cs typeface="Times New Roman" panose="02020603050405020304" pitchFamily="18" charset="0"/>
              </a:rPr>
              <a:t>指令多流出处理器受哪些因素的限制呢？ </a:t>
            </a:r>
          </a:p>
          <a:p>
            <a:pPr marL="1085850" lvl="1" indent="-457200" eaLnBrk="1" hangingPunct="1">
              <a:lnSpc>
                <a:spcPct val="140000"/>
              </a:lnSpc>
              <a:buFont typeface="Wingdings" pitchFamily="2" charset="2"/>
              <a:buNone/>
            </a:pPr>
            <a:r>
              <a:rPr lang="zh-CN" altLang="en-US" sz="2400" b="1" dirty="0">
                <a:latin typeface="Times New Roman" panose="02020603050405020304" pitchFamily="18" charset="0"/>
                <a:cs typeface="Times New Roman" panose="02020603050405020304" pitchFamily="18" charset="0"/>
              </a:rPr>
              <a:t>主要受以下</a:t>
            </a:r>
            <a:r>
              <a:rPr lang="en-US" altLang="zh-CN" sz="2400" b="1" dirty="0">
                <a:solidFill>
                  <a:srgbClr val="9933FF"/>
                </a:solidFill>
                <a:latin typeface="Times New Roman" pitchFamily="18" charset="0"/>
                <a:cs typeface="Times New Roman" panose="02020603050405020304" pitchFamily="18" charset="0"/>
              </a:rPr>
              <a:t>3</a:t>
            </a:r>
            <a:r>
              <a:rPr lang="zh-CN" altLang="en-US" sz="2400" b="1" dirty="0">
                <a:latin typeface="Times New Roman" panose="02020603050405020304" pitchFamily="18" charset="0"/>
                <a:cs typeface="Times New Roman" panose="02020603050405020304" pitchFamily="18" charset="0"/>
              </a:rPr>
              <a:t>个方面的影响：</a:t>
            </a:r>
          </a:p>
          <a:p>
            <a:pPr lvl="2" eaLnBrk="1" hangingPunct="1">
              <a:lnSpc>
                <a:spcPct val="140000"/>
              </a:lnSpc>
            </a:pPr>
            <a:r>
              <a:rPr lang="zh-CN" altLang="en-US" b="1" dirty="0">
                <a:latin typeface="Times New Roman" panose="02020603050405020304" pitchFamily="18" charset="0"/>
                <a:cs typeface="Times New Roman" panose="02020603050405020304" pitchFamily="18" charset="0"/>
              </a:rPr>
              <a:t>程序所固有的指令级并行性；</a:t>
            </a:r>
          </a:p>
          <a:p>
            <a:pPr lvl="2" eaLnBrk="1" hangingPunct="1">
              <a:lnSpc>
                <a:spcPct val="140000"/>
              </a:lnSpc>
            </a:pPr>
            <a:r>
              <a:rPr lang="zh-CN" altLang="en-US" b="1" dirty="0">
                <a:latin typeface="Times New Roman" panose="02020603050405020304" pitchFamily="18" charset="0"/>
                <a:cs typeface="Times New Roman" panose="02020603050405020304" pitchFamily="18" charset="0"/>
              </a:rPr>
              <a:t>硬件实现上的困难；</a:t>
            </a:r>
          </a:p>
          <a:p>
            <a:pPr lvl="2" eaLnBrk="1" hangingPunct="1">
              <a:lnSpc>
                <a:spcPct val="140000"/>
              </a:lnSpc>
            </a:pPr>
            <a:r>
              <a:rPr lang="zh-CN" altLang="en-US" b="1" dirty="0">
                <a:latin typeface="Times New Roman" panose="02020603050405020304" pitchFamily="18" charset="0"/>
                <a:cs typeface="Times New Roman" panose="02020603050405020304" pitchFamily="18" charset="0"/>
              </a:rPr>
              <a:t>超标量和超长指令字处理器固有的技术限制。</a:t>
            </a:r>
            <a:endParaRPr lang="en-US" altLang="zh-CN" b="1" dirty="0">
              <a:latin typeface="Times New Roman" panose="02020603050405020304" pitchFamily="18" charset="0"/>
              <a:cs typeface="Times New Roman" panose="02020603050405020304" pitchFamily="18" charset="0"/>
            </a:endParaRPr>
          </a:p>
          <a:p>
            <a:pPr marL="1085850" lvl="1" indent="-457200" eaLnBrk="1" hangingPunct="1">
              <a:lnSpc>
                <a:spcPct val="140000"/>
              </a:lnSpc>
            </a:pPr>
            <a:r>
              <a:rPr lang="zh-CN" altLang="en-US" sz="2400" b="1" dirty="0">
                <a:latin typeface="Times New Roman" panose="02020603050405020304" pitchFamily="18" charset="0"/>
                <a:cs typeface="Times New Roman" panose="02020603050405020304" pitchFamily="18" charset="0"/>
              </a:rPr>
              <a:t>设计多流出处理器的难点：</a:t>
            </a:r>
            <a:endParaRPr lang="en-US" altLang="zh-CN" sz="2400" b="1" dirty="0">
              <a:latin typeface="Times New Roman" panose="02020603050405020304" pitchFamily="18" charset="0"/>
              <a:cs typeface="Times New Roman" panose="02020603050405020304" pitchFamily="18" charset="0"/>
            </a:endParaRPr>
          </a:p>
          <a:p>
            <a:pPr lvl="2" eaLnBrk="1" hangingPunct="1">
              <a:lnSpc>
                <a:spcPct val="140000"/>
              </a:lnSpc>
            </a:pPr>
            <a:r>
              <a:rPr lang="zh-CN" altLang="en-US" b="1" dirty="0">
                <a:latin typeface="Times New Roman" panose="02020603050405020304" pitchFamily="18" charset="0"/>
                <a:cs typeface="Times New Roman" panose="02020603050405020304" pitchFamily="18" charset="0"/>
              </a:rPr>
              <a:t>访存开销</a:t>
            </a:r>
            <a:endParaRPr lang="en-US" altLang="zh-CN" b="1" dirty="0">
              <a:latin typeface="Times New Roman" panose="02020603050405020304" pitchFamily="18" charset="0"/>
              <a:cs typeface="Times New Roman" panose="02020603050405020304" pitchFamily="18" charset="0"/>
            </a:endParaRPr>
          </a:p>
          <a:p>
            <a:pPr lvl="2" eaLnBrk="1" hangingPunct="1">
              <a:lnSpc>
                <a:spcPct val="140000"/>
              </a:lnSpc>
            </a:pPr>
            <a:r>
              <a:rPr lang="zh-CN" altLang="en-US" b="1" dirty="0">
                <a:latin typeface="Times New Roman" panose="02020603050405020304" pitchFamily="18" charset="0"/>
                <a:cs typeface="Times New Roman" panose="02020603050405020304" pitchFamily="18" charset="0"/>
              </a:rPr>
              <a:t>硬件复杂性</a:t>
            </a:r>
            <a:endParaRPr lang="en-US" altLang="zh-CN" b="1" dirty="0">
              <a:latin typeface="Times New Roman" panose="02020603050405020304" pitchFamily="18" charset="0"/>
              <a:cs typeface="Times New Roman" panose="02020603050405020304" pitchFamily="18" charset="0"/>
            </a:endParaRPr>
          </a:p>
          <a:p>
            <a:pPr lvl="2" eaLnBrk="1" hangingPunct="1">
              <a:lnSpc>
                <a:spcPct val="140000"/>
              </a:lnSpc>
            </a:pPr>
            <a:r>
              <a:rPr lang="zh-CN" altLang="en-US" b="1" dirty="0">
                <a:latin typeface="Times New Roman" panose="02020603050405020304" pitchFamily="18" charset="0"/>
                <a:cs typeface="Times New Roman" panose="02020603050405020304" pitchFamily="18" charset="0"/>
              </a:rPr>
              <a:t>编译器技术</a:t>
            </a:r>
          </a:p>
        </p:txBody>
      </p:sp>
      <p:sp>
        <p:nvSpPr>
          <p:cNvPr id="3" name="Rectangle 4"/>
          <p:cNvSpPr>
            <a:spLocks noGrp="1" noChangeArrowheads="1"/>
          </p:cNvSpPr>
          <p:nvPr>
            <p:ph type="title" idx="4294967295"/>
          </p:nvPr>
        </p:nvSpPr>
        <p:spPr>
          <a:xfrm>
            <a:off x="457200" y="260648"/>
            <a:ext cx="8229600" cy="1143000"/>
          </a:xfrm>
        </p:spPr>
        <p:txBody>
          <a:bodyPr/>
          <a:lstStyle/>
          <a:p>
            <a:pPr eaLnBrk="1" hangingPunct="1">
              <a:defRPr/>
            </a:pPr>
            <a:r>
              <a:rPr lang="zh-CN" altLang="en-US" sz="3600" b="1" dirty="0">
                <a:latin typeface="Times New Roman" panose="02020603050405020304" pitchFamily="18" charset="0"/>
                <a:cs typeface="Times New Roman" panose="02020603050405020304" pitchFamily="18" charset="0"/>
              </a:rPr>
              <a:t>多指令流出的技术难题</a:t>
            </a:r>
          </a:p>
        </p:txBody>
      </p:sp>
      <p:sp>
        <p:nvSpPr>
          <p:cNvPr id="2" name="日期占位符 1">
            <a:extLst>
              <a:ext uri="{FF2B5EF4-FFF2-40B4-BE49-F238E27FC236}">
                <a16:creationId xmlns:a16="http://schemas.microsoft.com/office/drawing/2014/main" id="{2E74D0A6-DE19-F2E4-5788-1B3DA2E26CAA}"/>
              </a:ext>
            </a:extLst>
          </p:cNvPr>
          <p:cNvSpPr>
            <a:spLocks noGrp="1"/>
          </p:cNvSpPr>
          <p:nvPr>
            <p:ph type="dt" sz="half" idx="10"/>
          </p:nvPr>
        </p:nvSpPr>
        <p:spPr/>
        <p:txBody>
          <a:bodyPr/>
          <a:lstStyle/>
          <a:p>
            <a:pPr>
              <a:defRPr/>
            </a:pPr>
            <a:fld id="{CB8566F8-6513-4CA0-B413-8A8324310D5C}"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2F5268AE-86EA-F40A-E71D-4E3135C942B8}"/>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4A8DC9B4-161A-10D4-C699-55E9F37F9378}"/>
              </a:ext>
            </a:extLst>
          </p:cNvPr>
          <p:cNvSpPr>
            <a:spLocks noGrp="1"/>
          </p:cNvSpPr>
          <p:nvPr>
            <p:ph type="sldNum" sz="quarter" idx="12"/>
          </p:nvPr>
        </p:nvSpPr>
        <p:spPr/>
        <p:txBody>
          <a:bodyPr/>
          <a:lstStyle/>
          <a:p>
            <a:pPr>
              <a:defRPr/>
            </a:pPr>
            <a:fld id="{8BCAC33D-D29A-48B3-BCD6-381D3D720D26}" type="slidenum">
              <a:rPr lang="zh-CN" altLang="en-US" smtClean="0"/>
              <a:t>82</a:t>
            </a:fld>
            <a:endParaRPr lang="en-US" altLang="zh-CN"/>
          </a:p>
        </p:txBody>
      </p:sp>
    </p:spTree>
    <p:extLst>
      <p:ext uri="{BB962C8B-B14F-4D97-AF65-F5344CB8AC3E}">
        <p14:creationId xmlns:p14="http://schemas.microsoft.com/office/powerpoint/2010/main" val="175520601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37" name="Rectangle 13"/>
          <p:cNvSpPr>
            <a:spLocks noGrp="1" noChangeArrowheads="1"/>
          </p:cNvSpPr>
          <p:nvPr>
            <p:ph type="title" idx="4294967295"/>
          </p:nvPr>
        </p:nvSpPr>
        <p:spPr>
          <a:xfrm>
            <a:off x="457200" y="53752"/>
            <a:ext cx="8229600" cy="1143000"/>
          </a:xfrm>
        </p:spPr>
        <p:txBody>
          <a:bodyPr/>
          <a:lstStyle/>
          <a:p>
            <a:pPr eaLnBrk="1" hangingPunct="1">
              <a:defRPr/>
            </a:pPr>
            <a:r>
              <a:rPr lang="zh-CN" altLang="zh-CN" sz="3600" b="1" dirty="0">
                <a:latin typeface="+mj-ea"/>
              </a:rPr>
              <a:t>指令级并行</a:t>
            </a:r>
            <a:r>
              <a:rPr lang="zh-CN" altLang="en-US" sz="3600" b="1" dirty="0">
                <a:latin typeface="+mj-ea"/>
              </a:rPr>
              <a:t>总结</a:t>
            </a:r>
          </a:p>
        </p:txBody>
      </p:sp>
      <p:sp>
        <p:nvSpPr>
          <p:cNvPr id="154638" name="Rectangle 14"/>
          <p:cNvSpPr>
            <a:spLocks noGrp="1" noChangeArrowheads="1"/>
          </p:cNvSpPr>
          <p:nvPr>
            <p:ph type="body" idx="4294967295"/>
          </p:nvPr>
        </p:nvSpPr>
        <p:spPr>
          <a:xfrm>
            <a:off x="457200" y="1166018"/>
            <a:ext cx="8229600" cy="5503341"/>
          </a:xfrm>
        </p:spPr>
        <p:txBody>
          <a:bodyPr/>
          <a:lstStyle/>
          <a:p>
            <a:pPr marL="514350" indent="-514350">
              <a:lnSpc>
                <a:spcPct val="90000"/>
              </a:lnSpc>
              <a:buFont typeface="+mj-lt"/>
              <a:buAutoNum type="arabicPeriod"/>
              <a:defRPr/>
            </a:pPr>
            <a:r>
              <a:rPr lang="zh-CN" altLang="zh-CN" sz="2400" b="1" dirty="0">
                <a:latin typeface="Times New Roman" panose="02020603050405020304" pitchFamily="18" charset="0"/>
                <a:ea typeface="+mj-ea"/>
                <a:cs typeface="Times New Roman" panose="02020603050405020304" pitchFamily="18" charset="0"/>
              </a:rPr>
              <a:t>指令级并行的概念</a:t>
            </a:r>
          </a:p>
          <a:p>
            <a:pPr lvl="1">
              <a:lnSpc>
                <a:spcPct val="90000"/>
              </a:lnSpc>
              <a:buFont typeface="Arial" charset="0"/>
              <a:buChar char="–"/>
              <a:defRPr/>
            </a:pPr>
            <a:r>
              <a:rPr lang="zh-CN" altLang="zh-CN" sz="2400" b="1" dirty="0">
                <a:latin typeface="Times New Roman" panose="02020603050405020304" pitchFamily="18" charset="0"/>
                <a:ea typeface="+mj-ea"/>
                <a:cs typeface="Times New Roman" panose="02020603050405020304" pitchFamily="18" charset="0"/>
              </a:rPr>
              <a:t>循环展开调度的基本方法</a:t>
            </a:r>
            <a:endParaRPr lang="en-US" altLang="zh-CN" sz="2400" b="1" dirty="0">
              <a:latin typeface="Times New Roman" panose="02020603050405020304" pitchFamily="18" charset="0"/>
              <a:ea typeface="+mj-ea"/>
              <a:cs typeface="Times New Roman" panose="02020603050405020304" pitchFamily="18" charset="0"/>
            </a:endParaRPr>
          </a:p>
          <a:p>
            <a:pPr lvl="1">
              <a:lnSpc>
                <a:spcPct val="9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指令的相关性</a:t>
            </a:r>
            <a:endParaRPr lang="zh-CN" altLang="zh-CN" sz="2400" b="1" dirty="0">
              <a:latin typeface="Times New Roman" panose="02020603050405020304" pitchFamily="18" charset="0"/>
              <a:ea typeface="+mj-ea"/>
              <a:cs typeface="Times New Roman" panose="02020603050405020304" pitchFamily="18" charset="0"/>
            </a:endParaRPr>
          </a:p>
          <a:p>
            <a:pPr marL="514350" indent="-514350">
              <a:lnSpc>
                <a:spcPct val="90000"/>
              </a:lnSpc>
              <a:buFont typeface="+mj-lt"/>
              <a:buAutoNum type="arabicPeriod"/>
              <a:defRPr/>
            </a:pPr>
            <a:r>
              <a:rPr lang="zh-CN" altLang="zh-CN" sz="2400" b="1" dirty="0">
                <a:latin typeface="Times New Roman" panose="02020603050405020304" pitchFamily="18" charset="0"/>
                <a:ea typeface="+mj-ea"/>
                <a:cs typeface="Times New Roman" panose="02020603050405020304" pitchFamily="18" charset="0"/>
              </a:rPr>
              <a:t>指令的动态调度</a:t>
            </a:r>
          </a:p>
          <a:p>
            <a:pPr lvl="1">
              <a:lnSpc>
                <a:spcPct val="90000"/>
              </a:lnSpc>
              <a:buFont typeface="Arial" charset="0"/>
              <a:buChar char="–"/>
              <a:defRPr/>
            </a:pPr>
            <a:r>
              <a:rPr lang="zh-CN" altLang="zh-CN" sz="2400" b="1" dirty="0">
                <a:latin typeface="Times New Roman" panose="02020603050405020304" pitchFamily="18" charset="0"/>
                <a:ea typeface="+mj-ea"/>
                <a:cs typeface="Times New Roman" panose="02020603050405020304" pitchFamily="18" charset="0"/>
              </a:rPr>
              <a:t>记分牌</a:t>
            </a:r>
            <a:endParaRPr lang="zh-CN" altLang="en-US" sz="2400" b="1" dirty="0">
              <a:latin typeface="Times New Roman" panose="02020603050405020304" pitchFamily="18" charset="0"/>
              <a:ea typeface="+mj-ea"/>
              <a:cs typeface="Times New Roman" panose="02020603050405020304" pitchFamily="18" charset="0"/>
            </a:endParaRPr>
          </a:p>
          <a:p>
            <a:pPr lvl="1">
              <a:lnSpc>
                <a:spcPct val="90000"/>
              </a:lnSpc>
              <a:buFont typeface="Arial" charset="0"/>
              <a:buChar char="–"/>
              <a:defRPr/>
            </a:pPr>
            <a:r>
              <a:rPr lang="zh-CN" altLang="zh-CN" sz="2400" b="1" dirty="0">
                <a:latin typeface="Times New Roman" panose="02020603050405020304" pitchFamily="18" charset="0"/>
                <a:ea typeface="+mj-ea"/>
                <a:cs typeface="Times New Roman" panose="02020603050405020304" pitchFamily="18" charset="0"/>
              </a:rPr>
              <a:t>Tomasulo算法</a:t>
            </a:r>
          </a:p>
          <a:p>
            <a:pPr marL="514350" indent="-514350">
              <a:lnSpc>
                <a:spcPct val="90000"/>
              </a:lnSpc>
              <a:buFont typeface="+mj-lt"/>
              <a:buAutoNum type="arabicPeriod"/>
              <a:defRPr/>
            </a:pPr>
            <a:r>
              <a:rPr lang="zh-CN" altLang="zh-CN" sz="2400" b="1" dirty="0">
                <a:latin typeface="Times New Roman" panose="02020603050405020304" pitchFamily="18" charset="0"/>
                <a:ea typeface="+mj-ea"/>
                <a:cs typeface="Times New Roman" panose="02020603050405020304" pitchFamily="18" charset="0"/>
              </a:rPr>
              <a:t>控制相关的动态解决技术</a:t>
            </a:r>
          </a:p>
          <a:p>
            <a:pPr lvl="1">
              <a:lnSpc>
                <a:spcPct val="90000"/>
              </a:lnSpc>
              <a:buFont typeface="Arial" charset="0"/>
              <a:buChar char="–"/>
              <a:defRPr/>
            </a:pPr>
            <a:r>
              <a:rPr lang="zh-CN" altLang="zh-CN" sz="2400" b="1" dirty="0">
                <a:latin typeface="Times New Roman" panose="02020603050405020304" pitchFamily="18" charset="0"/>
                <a:ea typeface="+mj-ea"/>
                <a:cs typeface="Times New Roman" panose="02020603050405020304" pitchFamily="18" charset="0"/>
              </a:rPr>
              <a:t>分支预测缓冲</a:t>
            </a:r>
            <a:endParaRPr lang="zh-CN" altLang="en-US" sz="2400" b="1" dirty="0">
              <a:latin typeface="Times New Roman" panose="02020603050405020304" pitchFamily="18" charset="0"/>
              <a:ea typeface="+mj-ea"/>
              <a:cs typeface="Times New Roman" panose="02020603050405020304" pitchFamily="18" charset="0"/>
            </a:endParaRPr>
          </a:p>
          <a:p>
            <a:pPr lvl="1">
              <a:lnSpc>
                <a:spcPct val="90000"/>
              </a:lnSpc>
              <a:buFont typeface="Arial" charset="0"/>
              <a:buChar char="–"/>
              <a:defRPr/>
            </a:pPr>
            <a:r>
              <a:rPr lang="zh-CN" altLang="zh-CN" sz="2400" b="1" dirty="0">
                <a:latin typeface="Times New Roman" panose="02020603050405020304" pitchFamily="18" charset="0"/>
                <a:ea typeface="+mj-ea"/>
                <a:cs typeface="Times New Roman" panose="02020603050405020304" pitchFamily="18" charset="0"/>
              </a:rPr>
              <a:t>分支目标缓冲</a:t>
            </a:r>
            <a:endParaRPr lang="en-US" altLang="zh-CN" sz="2400" b="1" dirty="0">
              <a:latin typeface="Times New Roman" panose="02020603050405020304" pitchFamily="18" charset="0"/>
              <a:ea typeface="+mj-ea"/>
              <a:cs typeface="Times New Roman" panose="02020603050405020304" pitchFamily="18" charset="0"/>
            </a:endParaRPr>
          </a:p>
          <a:p>
            <a:pPr lvl="1">
              <a:lnSpc>
                <a:spcPct val="9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前瞻技术</a:t>
            </a:r>
            <a:endParaRPr lang="zh-CN" altLang="zh-CN" sz="2400" b="1" dirty="0">
              <a:latin typeface="Times New Roman" panose="02020603050405020304" pitchFamily="18" charset="0"/>
              <a:ea typeface="+mj-ea"/>
              <a:cs typeface="Times New Roman" panose="02020603050405020304" pitchFamily="18" charset="0"/>
            </a:endParaRPr>
          </a:p>
          <a:p>
            <a:pPr marL="514350" indent="-514350">
              <a:lnSpc>
                <a:spcPct val="90000"/>
              </a:lnSpc>
              <a:buFont typeface="+mj-lt"/>
              <a:buAutoNum type="arabicPeriod"/>
              <a:defRPr/>
            </a:pPr>
            <a:r>
              <a:rPr lang="zh-CN" altLang="zh-CN" sz="2400" b="1" dirty="0">
                <a:latin typeface="Times New Roman" panose="02020603050405020304" pitchFamily="18" charset="0"/>
                <a:ea typeface="+mj-ea"/>
                <a:cs typeface="Times New Roman" panose="02020603050405020304" pitchFamily="18" charset="0"/>
              </a:rPr>
              <a:t>多指令流出技术</a:t>
            </a:r>
          </a:p>
          <a:p>
            <a:pPr lvl="1">
              <a:lnSpc>
                <a:spcPct val="90000"/>
              </a:lnSpc>
              <a:buFont typeface="Arial" charset="0"/>
              <a:buChar char="–"/>
              <a:defRPr/>
            </a:pPr>
            <a:r>
              <a:rPr lang="zh-CN" altLang="zh-CN" sz="2400" b="1" dirty="0">
                <a:latin typeface="Times New Roman" panose="02020603050405020304" pitchFamily="18" charset="0"/>
                <a:ea typeface="+mj-ea"/>
                <a:cs typeface="Times New Roman" panose="02020603050405020304" pitchFamily="18" charset="0"/>
              </a:rPr>
              <a:t>超标量技术</a:t>
            </a:r>
          </a:p>
          <a:p>
            <a:pPr lvl="1">
              <a:lnSpc>
                <a:spcPct val="90000"/>
              </a:lnSpc>
              <a:buFont typeface="Arial" charset="0"/>
              <a:buChar char="–"/>
              <a:defRPr/>
            </a:pPr>
            <a:r>
              <a:rPr lang="zh-CN" altLang="zh-CN" sz="2400" b="1" dirty="0">
                <a:latin typeface="Times New Roman" panose="02020603050405020304" pitchFamily="18" charset="0"/>
                <a:ea typeface="+mj-ea"/>
                <a:cs typeface="Times New Roman" panose="02020603050405020304" pitchFamily="18" charset="0"/>
              </a:rPr>
              <a:t>超长指令字技术</a:t>
            </a:r>
          </a:p>
        </p:txBody>
      </p:sp>
      <p:sp>
        <p:nvSpPr>
          <p:cNvPr id="2" name="日期占位符 1">
            <a:extLst>
              <a:ext uri="{FF2B5EF4-FFF2-40B4-BE49-F238E27FC236}">
                <a16:creationId xmlns:a16="http://schemas.microsoft.com/office/drawing/2014/main" id="{655D7A03-819C-2929-9883-C446EC942913}"/>
              </a:ext>
            </a:extLst>
          </p:cNvPr>
          <p:cNvSpPr>
            <a:spLocks noGrp="1"/>
          </p:cNvSpPr>
          <p:nvPr>
            <p:ph type="dt" sz="half" idx="10"/>
          </p:nvPr>
        </p:nvSpPr>
        <p:spPr/>
        <p:txBody>
          <a:bodyPr/>
          <a:lstStyle/>
          <a:p>
            <a:pPr>
              <a:defRPr/>
            </a:pPr>
            <a:fld id="{B2E2CF67-C6A0-4CB2-8A23-8939182648A0}"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19CA874E-0F7E-3324-044D-EC11D6086C1F}"/>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82A85F2B-44EF-BEFA-0380-B423032B804E}"/>
              </a:ext>
            </a:extLst>
          </p:cNvPr>
          <p:cNvSpPr>
            <a:spLocks noGrp="1"/>
          </p:cNvSpPr>
          <p:nvPr>
            <p:ph type="sldNum" sz="quarter" idx="12"/>
          </p:nvPr>
        </p:nvSpPr>
        <p:spPr/>
        <p:txBody>
          <a:bodyPr/>
          <a:lstStyle/>
          <a:p>
            <a:pPr>
              <a:defRPr/>
            </a:pPr>
            <a:fld id="{A5AE633C-541A-4E3F-A22A-3C4C63E8EF5F}" type="slidenum">
              <a:rPr lang="zh-CN" altLang="en-US" smtClean="0"/>
              <a:t>83</a:t>
            </a:fld>
            <a:endParaRPr lang="en-US" altLang="zh-CN"/>
          </a:p>
        </p:txBody>
      </p:sp>
    </p:spTree>
    <p:extLst>
      <p:ext uri="{BB962C8B-B14F-4D97-AF65-F5344CB8AC3E}">
        <p14:creationId xmlns:p14="http://schemas.microsoft.com/office/powerpoint/2010/main" val="3279796742"/>
      </p:ext>
    </p:extLst>
  </p:cSld>
  <p:clrMapOvr>
    <a:masterClrMapping/>
  </p:clrMapOvr>
  <p:transition spd="slow"/>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9864</TotalTime>
  <Words>5367</Words>
  <Application>Microsoft Office PowerPoint</Application>
  <PresentationFormat>全屏显示(4:3)</PresentationFormat>
  <Paragraphs>997</Paragraphs>
  <Slides>83</Slides>
  <Notes>51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4</vt:i4>
      </vt:variant>
      <vt:variant>
        <vt:lpstr>幻灯片标题</vt:lpstr>
      </vt:variant>
      <vt:variant>
        <vt:i4>83</vt:i4>
      </vt:variant>
    </vt:vector>
  </HeadingPairs>
  <TitlesOfParts>
    <vt:vector size="96" baseType="lpstr">
      <vt:lpstr>黑体</vt:lpstr>
      <vt:lpstr>宋体</vt:lpstr>
      <vt:lpstr>Arial</vt:lpstr>
      <vt:lpstr>Calibri</vt:lpstr>
      <vt:lpstr>Tahoma</vt:lpstr>
      <vt:lpstr>Times New Roman</vt:lpstr>
      <vt:lpstr>Verdana</vt:lpstr>
      <vt:lpstr>Wingdings</vt:lpstr>
      <vt:lpstr>Office 主题​​</vt:lpstr>
      <vt:lpstr>Chart</vt:lpstr>
      <vt:lpstr>Picture</vt:lpstr>
      <vt:lpstr>Microsoft Word Picture</vt:lpstr>
      <vt:lpstr>Document</vt:lpstr>
      <vt:lpstr>计算机体系结构</vt:lpstr>
      <vt:lpstr>Recap</vt:lpstr>
      <vt:lpstr>4.3  控制相关的动态解决技术</vt:lpstr>
      <vt:lpstr>4.3.1  分支预测缓冲</vt:lpstr>
      <vt:lpstr>分支预测的效果</vt:lpstr>
      <vt:lpstr>分支预测缓冲(BPB): 原理</vt:lpstr>
      <vt:lpstr>分支预测执行不成功和重新执行过程</vt:lpstr>
      <vt:lpstr>1位BPB状态图</vt:lpstr>
      <vt:lpstr>2位BPB工作原理</vt:lpstr>
      <vt:lpstr>2位BPB状态转换图</vt:lpstr>
      <vt:lpstr>2位BPB另一种状态转换图</vt:lpstr>
      <vt:lpstr>4096单元2位BPB的预测错误率</vt:lpstr>
      <vt:lpstr>4096单元2位BPB: 预测错误率</vt:lpstr>
      <vt:lpstr>2位BPB: 4K vs. 无穷多</vt:lpstr>
      <vt:lpstr>BPB实现</vt:lpstr>
      <vt:lpstr>4.3  控制相关的动态解决技术</vt:lpstr>
      <vt:lpstr>4.3.2 分支目标缓冲(BTB) </vt:lpstr>
      <vt:lpstr>BTB实现</vt:lpstr>
      <vt:lpstr>BTB 结构</vt:lpstr>
      <vt:lpstr>BTB 执行过程</vt:lpstr>
      <vt:lpstr>PowerPoint 演示文稿</vt:lpstr>
      <vt:lpstr>BTB的改进</vt:lpstr>
      <vt:lpstr>分支预测局限性总结</vt:lpstr>
      <vt:lpstr>7.3  控制相关的动态解决技术</vt:lpstr>
      <vt:lpstr>7.3.3 基于硬件的前瞻执行</vt:lpstr>
      <vt:lpstr>PowerPoint 演示文稿</vt:lpstr>
      <vt:lpstr>PowerPoint 演示文稿</vt:lpstr>
      <vt:lpstr>PowerPoint 演示文稿</vt:lpstr>
      <vt:lpstr>PowerPoint 演示文稿</vt:lpstr>
      <vt:lpstr>PowerPoint 演示文稿</vt:lpstr>
      <vt:lpstr>支持前瞻执行的 Tomasulo 算法的四阶段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前瞻执行的流程</vt:lpstr>
      <vt:lpstr>前瞻执行的循环展开</vt:lpstr>
      <vt:lpstr>支持前瞻执行的 Tomasulo 算法的总结</vt:lpstr>
      <vt:lpstr>4.4  多指令流出技术</vt:lpstr>
      <vt:lpstr>PowerPoint 演示文稿</vt:lpstr>
      <vt:lpstr>4.4 多指令流出技术</vt:lpstr>
      <vt:lpstr>PowerPoint 演示文稿</vt:lpstr>
      <vt:lpstr>4.4  多指令流出技术</vt:lpstr>
      <vt:lpstr> 超标量技术</vt:lpstr>
      <vt:lpstr>4.4.1 静态超标量技术</vt:lpstr>
      <vt:lpstr>超标量处理机的理想执行情况</vt:lpstr>
      <vt:lpstr>超标量处理机的技术问题</vt:lpstr>
      <vt:lpstr>超标量：例子</vt:lpstr>
      <vt:lpstr>超标量：例子执行情况</vt:lpstr>
      <vt:lpstr>超标量：例子结果分析</vt:lpstr>
      <vt:lpstr>4.4  多指令流出技术</vt:lpstr>
      <vt:lpstr>4.4.2  动态多指令流出技术</vt:lpstr>
      <vt:lpstr>4.4.2 动态多指令流出技术</vt:lpstr>
      <vt:lpstr>PowerPoint 演示文稿</vt:lpstr>
      <vt:lpstr>PowerPoint 演示文稿</vt:lpstr>
      <vt:lpstr>PowerPoint 演示文稿</vt:lpstr>
      <vt:lpstr>PowerPoint 演示文稿</vt:lpstr>
      <vt:lpstr>4.4  多指令流出技术</vt:lpstr>
      <vt:lpstr>4.4.3 超长指令字技术</vt:lpstr>
      <vt:lpstr>VLIW基本机构</vt:lpstr>
      <vt:lpstr>VLIW例子</vt:lpstr>
      <vt:lpstr>VLIW例子的指令执行情况，n=5</vt:lpstr>
      <vt:lpstr>执行情况，n=7</vt:lpstr>
      <vt:lpstr>结果分析</vt:lpstr>
      <vt:lpstr>没有空指令的调度, n=3</vt:lpstr>
      <vt:lpstr>尽可能指令空间充满的调度, n=10</vt:lpstr>
      <vt:lpstr>VLIW的技术难题</vt:lpstr>
      <vt:lpstr>多指令流出的技术难题</vt:lpstr>
      <vt:lpstr>指令级并行总结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suzi</dc:creator>
  <cp:lastModifiedBy>hw liu</cp:lastModifiedBy>
  <cp:revision>2123</cp:revision>
  <cp:lastPrinted>2021-11-03T08:11:31Z</cp:lastPrinted>
  <dcterms:created xsi:type="dcterms:W3CDTF">2113-01-01T00:00:00Z</dcterms:created>
  <dcterms:modified xsi:type="dcterms:W3CDTF">2025-10-28T14:57:20Z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