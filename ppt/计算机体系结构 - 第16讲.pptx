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256" r:id="rId2"/>
    <p:sldId id="1033" r:id="rId3"/>
    <p:sldId id="2027" r:id="rId4"/>
    <p:sldId id="2046" r:id="rId5"/>
    <p:sldId id="2028" r:id="rId6"/>
    <p:sldId id="2029" r:id="rId7"/>
    <p:sldId id="2030" r:id="rId8"/>
    <p:sldId id="2031" r:id="rId9"/>
    <p:sldId id="2032" r:id="rId10"/>
    <p:sldId id="2001" r:id="rId11"/>
    <p:sldId id="2002" r:id="rId12"/>
    <p:sldId id="1125" r:id="rId13"/>
    <p:sldId id="1034" r:id="rId14"/>
    <p:sldId id="2004" r:id="rId15"/>
    <p:sldId id="2005" r:id="rId16"/>
    <p:sldId id="2006" r:id="rId17"/>
    <p:sldId id="2008" r:id="rId18"/>
    <p:sldId id="2009" r:id="rId19"/>
    <p:sldId id="2012" r:id="rId20"/>
    <p:sldId id="2017" r:id="rId21"/>
    <p:sldId id="2018" r:id="rId22"/>
    <p:sldId id="2019" r:id="rId23"/>
    <p:sldId id="2020" r:id="rId24"/>
    <p:sldId id="2021" r:id="rId25"/>
    <p:sldId id="2022" r:id="rId26"/>
    <p:sldId id="2024" r:id="rId27"/>
    <p:sldId id="2025" r:id="rId28"/>
    <p:sldId id="1915" r:id="rId29"/>
    <p:sldId id="1916" r:id="rId30"/>
    <p:sldId id="1917" r:id="rId31"/>
    <p:sldId id="1918" r:id="rId32"/>
    <p:sldId id="1919" r:id="rId33"/>
    <p:sldId id="1976" r:id="rId34"/>
    <p:sldId id="1920" r:id="rId35"/>
    <p:sldId id="1921" r:id="rId36"/>
    <p:sldId id="1933" r:id="rId37"/>
    <p:sldId id="1934" r:id="rId38"/>
    <p:sldId id="1935" r:id="rId39"/>
    <p:sldId id="1980" r:id="rId40"/>
    <p:sldId id="1981" r:id="rId41"/>
    <p:sldId id="1936" r:id="rId42"/>
    <p:sldId id="1937" r:id="rId43"/>
    <p:sldId id="1938" r:id="rId44"/>
    <p:sldId id="1939" r:id="rId45"/>
    <p:sldId id="1940" r:id="rId46"/>
    <p:sldId id="1941" r:id="rId47"/>
    <p:sldId id="1995" r:id="rId48"/>
    <p:sldId id="1996" r:id="rId49"/>
    <p:sldId id="2007" r:id="rId50"/>
    <p:sldId id="2037" r:id="rId51"/>
    <p:sldId id="2010" r:id="rId52"/>
    <p:sldId id="2036" r:id="rId53"/>
    <p:sldId id="2013" r:id="rId54"/>
    <p:sldId id="2014" r:id="rId55"/>
    <p:sldId id="2023" r:id="rId56"/>
    <p:sldId id="2026" r:id="rId57"/>
    <p:sldId id="1922" r:id="rId58"/>
    <p:sldId id="1923" r:id="rId59"/>
    <p:sldId id="1924" r:id="rId60"/>
    <p:sldId id="1925" r:id="rId61"/>
    <p:sldId id="1926" r:id="rId62"/>
    <p:sldId id="1927" r:id="rId63"/>
    <p:sldId id="1928" r:id="rId64"/>
    <p:sldId id="1929" r:id="rId65"/>
    <p:sldId id="1930" r:id="rId66"/>
    <p:sldId id="1931" r:id="rId67"/>
    <p:sldId id="1932" r:id="rId68"/>
    <p:sldId id="777" r:id="rId69"/>
    <p:sldId id="778" r:id="rId70"/>
  </p:sldIdLst>
  <p:sldSz cx="9144000" cy="6858000" type="screen4x3"/>
  <p:notesSz cx="6797675" cy="9925050"/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33CC"/>
    <a:srgbClr val="003399"/>
    <a:srgbClr val="3366FF"/>
    <a:srgbClr val="C28F3E"/>
    <a:srgbClr val="BC7D3E"/>
    <a:srgbClr val="B0753A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80735" autoAdjust="0"/>
  </p:normalViewPr>
  <p:slideViewPr>
    <p:cSldViewPr>
      <p:cViewPr varScale="1">
        <p:scale>
          <a:sx n="71" d="100"/>
          <a:sy n="71" d="100"/>
        </p:scale>
        <p:origin x="1365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5714"/>
          </a:xfrm>
          <a:prstGeom prst="rect">
            <a:avLst/>
          </a:prstGeom>
        </p:spPr>
        <p:txBody>
          <a:bodyPr vert="horz" lIns="95549" tIns="47774" rIns="95549" bIns="47774" rtlCol="0"/>
          <a:lstStyle>
            <a:lvl1pPr algn="l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295" y="1"/>
            <a:ext cx="2945862" cy="495714"/>
          </a:xfrm>
          <a:prstGeom prst="rect">
            <a:avLst/>
          </a:prstGeom>
        </p:spPr>
        <p:txBody>
          <a:bodyPr vert="horz" lIns="95549" tIns="47774" rIns="95549" bIns="47774" rtlCol="0"/>
          <a:lstStyle>
            <a:lvl1pPr algn="r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C9833CB-0817-44DC-BDA6-97E8269B2A4B}" type="datetimeFigureOut">
              <a:rPr lang="zh-CN" altLang="en-US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7798"/>
            <a:ext cx="2945862" cy="495714"/>
          </a:xfrm>
          <a:prstGeom prst="rect">
            <a:avLst/>
          </a:prstGeom>
        </p:spPr>
        <p:txBody>
          <a:bodyPr vert="horz" lIns="95549" tIns="47774" rIns="95549" bIns="47774" rtlCol="0" anchor="b"/>
          <a:lstStyle>
            <a:lvl1pPr algn="l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295" y="9427798"/>
            <a:ext cx="2945862" cy="495714"/>
          </a:xfrm>
          <a:prstGeom prst="rect">
            <a:avLst/>
          </a:prstGeom>
        </p:spPr>
        <p:txBody>
          <a:bodyPr vert="horz" lIns="95549" tIns="47774" rIns="95549" bIns="47774" rtlCol="0" anchor="b"/>
          <a:lstStyle>
            <a:lvl1pPr algn="r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8BBD55E-9969-4143-865D-25DDD65926A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276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57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t" anchorCtr="0" compatLnSpc="1"/>
          <a:lstStyle>
            <a:lvl1pPr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815" y="1"/>
            <a:ext cx="2945862" cy="4957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t" anchorCtr="0" compatLnSpc="1"/>
          <a:lstStyle>
            <a:lvl1pPr algn="r"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2950"/>
            <a:ext cx="4962525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53" y="4713900"/>
            <a:ext cx="4985773" cy="44660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337"/>
            <a:ext cx="2945862" cy="4957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b" anchorCtr="0" compatLnSpc="1"/>
          <a:lstStyle>
            <a:lvl1pPr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815" y="9429337"/>
            <a:ext cx="2945862" cy="4957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549" tIns="47774" rIns="95549" bIns="47774" numCol="1" anchor="b" anchorCtr="0" compatLnSpc="1"/>
          <a:lstStyle>
            <a:lvl1pPr algn="r"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900B983-0E40-4C29-87BA-CE566D420E2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2892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3212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81131" indent="-29948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02572" indent="-239279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84219" indent="-239279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65864" indent="-239279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10461" indent="-23927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55057" indent="-23927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99653" indent="-23927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44249" indent="-23927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9AD4228-31D5-45DB-8407-86A0BD526D4B}" type="slidenum">
              <a:rPr lang="en-US" altLang="zh-CN" sz="1300"/>
              <a:pPr>
                <a:spcBef>
                  <a:spcPct val="0"/>
                </a:spcBef>
              </a:pPr>
              <a:t>3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927403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22470" indent="-277873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11491" indent="-222298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56087" indent="-222298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00685" indent="-222298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45280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89877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34473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79069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2AD70A4-EFF1-4E86-8DD6-DE086FBB8BC4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4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5564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22470" indent="-277873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11491" indent="-222298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56087" indent="-222298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00685" indent="-222298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45280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89877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34473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79069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5498D2C-03A4-4C24-96BF-04EB378BEE18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5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4875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22470" indent="-277873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11491" indent="-222298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56087" indent="-222298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00685" indent="-222298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45280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89877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34473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79069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26FE084-FD6D-41D5-88DF-1FD1F4FA67DE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275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8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81131" indent="-29948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02572" indent="-239279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84219" indent="-239279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65864" indent="-239279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10461" indent="-23927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55057" indent="-23927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99653" indent="-23927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44249" indent="-239279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7FF622-67F4-47AB-B147-7A37CBD03137}" type="slidenum">
              <a:rPr lang="en-US" altLang="zh-CN" sz="1300"/>
              <a:pPr>
                <a:spcBef>
                  <a:spcPct val="0"/>
                </a:spcBef>
              </a:pPr>
              <a:t>7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361554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9413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56" name="幻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81131" indent="-299485"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202572" indent="-239279"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84219" indent="-239279"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165864" indent="-239279"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610461" indent="-239279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3055057" indent="-239279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99653" indent="-239279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944249" indent="-239279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fld id="{83BA1D17-6C4D-4D51-9689-C5473AC37EE7}" type="slidenum">
              <a:rPr lang="en-US" altLang="zh-CN" sz="130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9</a:t>
            </a:fld>
            <a:endParaRPr lang="en-US" altLang="zh-CN" sz="13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4848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22470" indent="-277873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11491" indent="-222298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56087" indent="-222298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00685" indent="-222298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45280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89877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34473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79069" indent="-22229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BC33EDA-20FF-409B-B5D3-6E72FCABCA29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10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2043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4979311-BC9C-4378-94E5-15FF096FE4DE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14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9979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48D258D-7100-40B8-A93B-A4A12026F8E9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15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1" lang="en-US" altLang="zh-CN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420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B6D9176-FA70-4A81-98BE-4C99ED1A08BF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16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99985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8D968AB-FD57-4EAB-B6EE-C285DCDE6F6D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17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7085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CBDF8F3-038A-4BBE-B255-2ACAB59276A4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18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21872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09113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2D21E4F-BC41-4FE6-9DBD-94B0A4C58301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20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3198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52FCD9-1805-473E-8ADA-6C6CD8AC83DD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24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34067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E6B5F5F-73E2-4F61-914F-10C2DDE96E28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25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01574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FD72129-FC7F-429D-8A53-E83EB595FD17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26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29145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C050888-D40E-46C4-A6BF-E8F535A8229E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27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96066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0D708B-44C0-40C6-8504-83371CB2ED35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28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49142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2F03433-70AA-4869-B653-33E9DF637C30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29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90128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57617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BB40D8C-E6CB-413A-8A87-D550321F2C3B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31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58813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F7DCF8-4CD5-49B3-9C56-B8783F036791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32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60130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C03E771-87D9-4413-9326-89C14A3CD0B8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34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86254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CEC0BF-81AA-4C49-8C57-481393E8ACDE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35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23924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9920BE8-1BD1-4155-9F99-E5058910E4BB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36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58787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7CD2723-5D49-4256-B907-2A4AF934CD81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38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40278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04211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25CA64-B70D-4C7C-BEA7-9E8A24943C3F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41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28954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242181-0280-432B-80A6-A84179A87983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42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63976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B560ED-0CC9-4E0C-AE7F-260F682FBAFF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43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37827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1E1FCA7-28EF-42EF-8570-ACE1CA086D9A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44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79044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0BBD616-739F-4045-BD47-8F8DCD8B75D3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45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52217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5CD347D-F89F-4D26-A1E9-3743BEB42359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46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74631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57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8019" indent="-298292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97781" indent="-238326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77508" indent="-238326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57235" indent="-238326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00060" indent="-23832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42886" indent="-23832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85710" indent="-23832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28535" indent="-23832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92AFF89-050F-4AA1-82E0-73CF0656A85E}" type="slidenum">
              <a:rPr lang="en-US" altLang="zh-CN" sz="1300"/>
              <a:pPr>
                <a:spcBef>
                  <a:spcPct val="0"/>
                </a:spcBef>
              </a:pPr>
              <a:t>48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9323627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19591" indent="-276766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0706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549888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1992713" indent="-221412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43553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87836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321188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764013" indent="-221412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4409743-6688-4327-9264-4DEC91CCB6E4}" type="slidenum">
              <a:rPr lang="en-US" altLang="zh-CN" b="0">
                <a:latin typeface="Times New Roman" panose="02020603050405020304" pitchFamily="18" charset="0"/>
              </a:rPr>
              <a:pPr eaLnBrk="1" hangingPunct="1"/>
              <a:t>66</a:t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82892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39418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幻灯片图像占位符 1">
            <a:extLst>
              <a:ext uri="{FF2B5EF4-FFF2-40B4-BE49-F238E27FC236}">
                <a16:creationId xmlns:a16="http://schemas.microsoft.com/office/drawing/2014/main" id="{4EA6DFAC-F7A5-41C0-B9F6-79958BFB61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5890" name="备注占位符 2">
            <a:extLst>
              <a:ext uri="{FF2B5EF4-FFF2-40B4-BE49-F238E27FC236}">
                <a16:creationId xmlns:a16="http://schemas.microsoft.com/office/drawing/2014/main" id="{B0C488D3-A117-4F9C-AC68-D8BCA82D7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5891" name="灯片编号占位符 3">
            <a:extLst>
              <a:ext uri="{FF2B5EF4-FFF2-40B4-BE49-F238E27FC236}">
                <a16:creationId xmlns:a16="http://schemas.microsoft.com/office/drawing/2014/main" id="{F425C880-BBDF-4576-A123-B0CE2CBA6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4919" indent="-29710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93009" indent="-23737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70825" indent="-23737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48641" indent="-23737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89701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30762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71823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12884" indent="-23737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40B229B-5521-4112-9062-27D065EBCEFD}" type="slidenum">
              <a:rPr lang="en-US" altLang="zh-CN" sz="1300"/>
              <a:pPr>
                <a:spcBef>
                  <a:spcPct val="0"/>
                </a:spcBef>
              </a:pPr>
              <a:t>68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360267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幻灯片图像占位符 1">
            <a:extLst>
              <a:ext uri="{FF2B5EF4-FFF2-40B4-BE49-F238E27FC236}">
                <a16:creationId xmlns:a16="http://schemas.microsoft.com/office/drawing/2014/main" id="{59206860-0F5D-4929-86A5-84686C00A4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8962" name="备注占位符 2">
            <a:extLst>
              <a:ext uri="{FF2B5EF4-FFF2-40B4-BE49-F238E27FC236}">
                <a16:creationId xmlns:a16="http://schemas.microsoft.com/office/drawing/2014/main" id="{08537701-A452-476B-A5D8-6613A78F1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8963" name="灯片编号占位符 3">
            <a:extLst>
              <a:ext uri="{FF2B5EF4-FFF2-40B4-BE49-F238E27FC236}">
                <a16:creationId xmlns:a16="http://schemas.microsoft.com/office/drawing/2014/main" id="{87880CF8-A241-433E-9334-69114BB9E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74919" indent="-297103"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93009" indent="-237377"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70825" indent="-237377"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148641" indent="-237377"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89701" indent="-237377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3030762" indent="-237377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71823" indent="-237377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912884" indent="-237377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fld id="{6B931B0B-D153-4889-AF1D-477C65147ED6}" type="slidenum">
              <a:rPr lang="en-US" altLang="zh-CN" sz="130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69</a:t>
            </a:fld>
            <a:endParaRPr lang="en-US" altLang="zh-CN" sz="13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0362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2701A-872E-4910-A90F-486091882175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E633C-541A-4E3F-A22A-3C4C63E8EF5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F68F3-5E84-4C14-8AFB-CB7527E0895E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AC33D-D29A-48B3-BCD6-381D3D720D2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9E578-3124-4CAE-AB52-C996F4D68B3A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36AFD5-B4CE-4309-A85F-E56CFD43117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A4AB1-927A-453A-BC39-2CFA085CD0B7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CC3E9-608E-4023-AA79-77ECC6312F5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1C7EBB-4D0F-41E1-BFBB-3DC73EA72F40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980664-B5A2-458D-9781-BDBB3E44461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7259B-06FE-4469-8893-DFC8C772ABF3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2FEDC-7E89-472C-BFD5-D857A9C78A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6A466-D03F-49AB-B34E-72F4F0DE3748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7EA61-351E-4105-9AD9-76D38C6E993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A5E90-EF00-4C85-A607-8EAE6BCCFB33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75736-67D3-4C0D-9AD3-EBB1133B7A1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64D16A-3722-40A7-BF48-FA0B69BE9B7D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3B5C7-14AB-4EB9-8E35-9962854618D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70472-D1D5-484F-9CC0-70E596FEA7B1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9E446-6F6B-46FF-A641-54E99657CB0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93E8B4-FBC1-4E39-B669-5FB5CEA686B1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6200" y="247650"/>
            <a:ext cx="5105400" cy="381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219200"/>
            <a:ext cx="7772400" cy="495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389852125"/>
      </p:ext>
    </p:extLst>
  </p:cSld>
  <p:clrMapOvr>
    <a:masterClrMapping/>
  </p:clrMapOvr>
  <p:transition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CD03913-9C8E-4368-8306-6C297015513C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E38698-3FD2-4DD5-AB6F-61E8F41EBC15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5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slide" Target="slide5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slide" Target="slide54.xml"/><Relationship Id="rId4" Type="http://schemas.openxmlformats.org/officeDocument/2006/relationships/slide" Target="slide5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5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7" Type="http://schemas.openxmlformats.org/officeDocument/2006/relationships/slide" Target="slide67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6.xml"/><Relationship Id="rId5" Type="http://schemas.openxmlformats.org/officeDocument/2006/relationships/hyperlink" Target="player/Play.exe%20nta/arch5309.nta%200%200%200%20800%20600%200%200%200%20314" TargetMode="External"/><Relationship Id="rId4" Type="http://schemas.openxmlformats.org/officeDocument/2006/relationships/slide" Target="slide6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69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35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62299" y="1333501"/>
            <a:ext cx="5976590" cy="1143000"/>
          </a:xfrm>
        </p:spPr>
        <p:txBody>
          <a:bodyPr/>
          <a:lstStyle/>
          <a:p>
            <a:pPr algn="dist" eaLnBrk="1" hangingPunct="1"/>
            <a:r>
              <a:rPr lang="zh-CN" altLang="en-US" sz="5400" b="1" dirty="0"/>
              <a:t>计算机体系结构</a:t>
            </a:r>
          </a:p>
        </p:txBody>
      </p:sp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3714750" y="5072063"/>
            <a:ext cx="2951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 刘宏伟</a:t>
            </a:r>
          </a:p>
        </p:txBody>
      </p:sp>
      <p:sp>
        <p:nvSpPr>
          <p:cNvPr id="2052" name="Text Box 7"/>
          <p:cNvSpPr txBox="1">
            <a:spLocks noChangeArrowheads="1"/>
          </p:cNvSpPr>
          <p:nvPr/>
        </p:nvSpPr>
        <p:spPr bwMode="auto">
          <a:xfrm>
            <a:off x="2571750" y="4500563"/>
            <a:ext cx="4357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 计算机科学与技术学院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714500" y="3071813"/>
            <a:ext cx="5673725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defRPr/>
            </a:pPr>
            <a:r>
              <a:rPr lang="zh-CN" altLang="en-US" sz="4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第十六讲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CF111B-B1CB-BBDA-D29A-1AFE2694F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D5375-293D-4723-8D2B-74A1B856C753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6CEFDF-32B3-458E-D74E-1078F7FC2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C3639-0A44-2A9B-8118-239ABDA5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title"/>
          </p:nvPr>
        </p:nvSpPr>
        <p:spPr>
          <a:xfrm>
            <a:off x="685800" y="122907"/>
            <a:ext cx="7772400" cy="785813"/>
          </a:xfrm>
        </p:spPr>
        <p:txBody>
          <a:bodyPr/>
          <a:lstStyle/>
          <a:p>
            <a:pPr eaLnBrk="1" hangingPunct="1"/>
            <a:r>
              <a:rPr lang="en-US" altLang="zh-CN" b="1" dirty="0"/>
              <a:t>Recap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908720"/>
            <a:ext cx="8352927" cy="5718994"/>
          </a:xfrm>
        </p:spPr>
        <p:txBody>
          <a:bodyPr rtlCol="0">
            <a:noAutofit/>
          </a:bodyPr>
          <a:lstStyle/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400" b="1" dirty="0"/>
              <a:t>存储层次</a:t>
            </a:r>
            <a:endParaRPr lang="en-US" altLang="zh-CN" sz="2400" b="1" dirty="0"/>
          </a:p>
          <a:p>
            <a:pPr marL="1101600" lvl="1" eaLnBrk="1" hangingPunct="1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/>
              <a:t>多级存储层次</a:t>
            </a:r>
            <a:endParaRPr lang="en-US" altLang="zh-CN" sz="2400" b="1" dirty="0"/>
          </a:p>
          <a:p>
            <a:pPr marL="1101600" lvl="1" eaLnBrk="1" hangingPunct="1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/>
              <a:t>性能参数</a:t>
            </a:r>
            <a:endParaRPr lang="en-US" altLang="zh-CN" sz="2400" b="1" dirty="0"/>
          </a:p>
          <a:p>
            <a:pPr marL="1101600" lvl="1" eaLnBrk="1" hangingPunct="1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/>
              <a:t>两种存储层次关系</a:t>
            </a:r>
            <a:endParaRPr lang="en-US" altLang="zh-CN" sz="2400" b="1" dirty="0"/>
          </a:p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zh-CN" sz="2400" b="1" dirty="0"/>
              <a:t>AXP 21064</a:t>
            </a:r>
            <a:r>
              <a:rPr lang="zh-CN" altLang="en-US" sz="2400" b="1" dirty="0"/>
              <a:t> 数据</a:t>
            </a:r>
            <a:r>
              <a:rPr lang="en-US" altLang="zh-CN" sz="2400" b="1" dirty="0"/>
              <a:t>cache</a:t>
            </a:r>
            <a:r>
              <a:rPr lang="zh-CN" altLang="en-US" sz="2400" b="1" dirty="0"/>
              <a:t>结构</a:t>
            </a:r>
            <a:endParaRPr lang="en-US" altLang="zh-CN" sz="2400" b="1" dirty="0"/>
          </a:p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400" b="1" dirty="0">
                <a:latin typeface="+mj-lt"/>
              </a:rPr>
              <a:t>分离</a:t>
            </a:r>
            <a:r>
              <a:rPr lang="en-US" altLang="zh-CN" sz="2400" b="1" dirty="0">
                <a:latin typeface="+mj-lt"/>
              </a:rPr>
              <a:t>Cache</a:t>
            </a:r>
            <a:r>
              <a:rPr lang="zh-CN" altLang="en-US" sz="2400" b="1" dirty="0">
                <a:latin typeface="+mj-lt"/>
              </a:rPr>
              <a:t>和混合</a:t>
            </a:r>
            <a:r>
              <a:rPr lang="en-US" altLang="zh-CN" sz="2400" b="1" dirty="0">
                <a:latin typeface="+mj-lt"/>
              </a:rPr>
              <a:t>Cache</a:t>
            </a:r>
          </a:p>
          <a:p>
            <a:pPr lvl="1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zh-CN" altLang="en-US" sz="2400" b="1" dirty="0">
                <a:latin typeface="+mj-lt"/>
              </a:rPr>
              <a:t>性能分析</a:t>
            </a:r>
            <a:endParaRPr lang="en-US" altLang="zh-CN" sz="2400" b="1" dirty="0">
              <a:latin typeface="+mj-lt"/>
            </a:endParaRPr>
          </a:p>
          <a:p>
            <a:pPr marL="817200" lvl="1" indent="0" eaLnBrk="1" fontAlgn="auto" hangingPunct="1">
              <a:spcBef>
                <a:spcPts val="24"/>
              </a:spcBef>
              <a:spcAft>
                <a:spcPts val="0"/>
              </a:spcAft>
              <a:buNone/>
              <a:defRPr/>
            </a:pPr>
            <a:endParaRPr lang="en-US" altLang="zh-CN" sz="2400" b="1" dirty="0">
              <a:latin typeface="+mj-lt"/>
            </a:endParaRPr>
          </a:p>
          <a:p>
            <a:pPr marL="815850" lvl="1" indent="0" eaLnBrk="1" fontAlgn="auto" hangingPunct="1">
              <a:spcAft>
                <a:spcPts val="0"/>
              </a:spcAft>
              <a:buNone/>
              <a:defRPr/>
            </a:pPr>
            <a:endParaRPr lang="en-US" altLang="zh-CN" sz="2400" b="1" dirty="0">
              <a:latin typeface="+mj-lt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655E8E-CC84-D9F6-6E88-05061A297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740AAE-319B-4963-897F-C718CB7F79F7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6AC4DF-6070-9CE3-9AD1-7006BE6A9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EF6801-17C7-3F0E-3AC9-97E86B657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5536" y="1052736"/>
            <a:ext cx="7772400" cy="5472608"/>
          </a:xfrm>
        </p:spPr>
        <p:txBody>
          <a:bodyPr/>
          <a:lstStyle/>
          <a:p>
            <a:pPr marL="0" indent="0" eaLnBrk="1" hangingPunct="1">
              <a:spcBef>
                <a:spcPct val="50000"/>
              </a:spcBef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失效率（不命中率）</a:t>
            </a:r>
          </a:p>
          <a:p>
            <a:pPr marL="1085850" lvl="1" indent="-457200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与硬件速度无关</a:t>
            </a:r>
          </a:p>
          <a:p>
            <a:pPr marL="1085850" lvl="1" indent="-457200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容易产生一些误导</a:t>
            </a:r>
            <a:endParaRPr kumimoji="1" lang="en-US" altLang="zh-CN" sz="22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085850" lvl="1" indent="-457200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平均访存时间比失效率更好</a:t>
            </a:r>
          </a:p>
          <a:p>
            <a:pPr marL="0" indent="0" eaLnBrk="1" hangingPunct="1">
              <a:spcBef>
                <a:spcPct val="50000"/>
              </a:spcBef>
              <a:spcAft>
                <a:spcPts val="600"/>
              </a:spcAft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2.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</a:t>
            </a:r>
          </a:p>
          <a:p>
            <a:pPr marL="457200" indent="-457200" eaLnBrk="1" hangingPunct="1">
              <a:spcBef>
                <a:spcPts val="60"/>
              </a:spcBef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　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 ＝ 命中时间＋不命中率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不命中开销</a:t>
            </a:r>
            <a:endParaRPr kumimoji="1" lang="en-US" altLang="zh-CN" sz="22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085850" lvl="1" indent="-457200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可以采用绝对时间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——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如一次命中需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0.25-1.0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纳秒</a:t>
            </a:r>
            <a:endParaRPr kumimoji="1" lang="en-US" altLang="zh-CN" sz="22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085850" lvl="1" indent="-457200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或是用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等待存储器的时钟周期数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——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如缺失代价用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75-100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个时钟周期表示</a:t>
            </a:r>
            <a:endParaRPr kumimoji="1" lang="en-US" altLang="zh-CN" sz="22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085850" lvl="1" indent="-457200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仍旧不能代替执行时间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0A69AD-E6EE-442F-9988-C484A570DA9E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188640"/>
            <a:ext cx="822960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5.2</a:t>
            </a:r>
            <a:r>
              <a:rPr kumimoji="0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.6 </a:t>
            </a:r>
            <a:r>
              <a:rPr kumimoji="0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kumimoji="0"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629E516-F5B9-C38D-E72C-7E2759ED9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7202C9-08AC-4E92-A15A-18FD9A79DDB6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3FE3E7-FC40-06E7-D207-4DC8855E1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2C71CF-64BE-A170-BB9E-F1E22A62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5797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46856" y="969192"/>
            <a:ext cx="8491984" cy="4919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30000"/>
              </a:spcBef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3. CPU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时间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  <a:spcBef>
                <a:spcPct val="30000"/>
              </a:spcBef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CPU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时间＝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(CPU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执行周期数＋存储器停顿周期数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b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×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时钟周期时间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  <a:spcBef>
                <a:spcPct val="30000"/>
              </a:spcBef>
              <a:defRPr/>
            </a:pPr>
            <a:b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</a:b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    </a:t>
            </a:r>
            <a:endParaRPr kumimoji="1" lang="en-US" altLang="zh-CN" sz="2400" dirty="0">
              <a:latin typeface="Times New Roman" pitchFamily="18" charset="0"/>
              <a:ea typeface="华文中宋" pitchFamily="2" charset="-122"/>
            </a:endParaRPr>
          </a:p>
          <a:p>
            <a:pPr>
              <a:lnSpc>
                <a:spcPct val="120000"/>
              </a:lnSpc>
              <a:spcBef>
                <a:spcPct val="30000"/>
              </a:spcBef>
              <a:defRPr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</a:rPr>
              <a:t>存储器停顿周期数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＝访存次数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×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失效率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×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失效开销</a:t>
            </a:r>
            <a:endParaRPr lang="en-US" altLang="zh-CN" sz="2400" dirty="0">
              <a:latin typeface="Times New Roman" pitchFamily="18" charset="0"/>
              <a:ea typeface="华文中宋" pitchFamily="2" charset="-122"/>
            </a:endParaRPr>
          </a:p>
          <a:p>
            <a:pPr>
              <a:lnSpc>
                <a:spcPct val="120000"/>
              </a:lnSpc>
              <a:spcBef>
                <a:spcPct val="30000"/>
              </a:spcBef>
              <a:defRPr/>
            </a:pPr>
            <a:r>
              <a:rPr lang="zh-CN" altLang="en-US" sz="2400" dirty="0">
                <a:latin typeface="Times New Roman" pitchFamily="18" charset="0"/>
                <a:ea typeface="华文中宋" pitchFamily="2" charset="-122"/>
              </a:rPr>
              <a:t>                            ＝“读”的次数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</a:rPr>
              <a:t>×</a:t>
            </a:r>
            <a:r>
              <a:rPr lang="zh-CN" altLang="en-US" sz="2400" dirty="0">
                <a:latin typeface="Times New Roman" pitchFamily="18" charset="0"/>
                <a:ea typeface="华文中宋" pitchFamily="2" charset="-122"/>
              </a:rPr>
              <a:t>读不命中率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</a:rPr>
              <a:t>×</a:t>
            </a:r>
            <a:r>
              <a:rPr lang="zh-CN" altLang="en-US" sz="2400" dirty="0">
                <a:latin typeface="Times New Roman" pitchFamily="18" charset="0"/>
                <a:ea typeface="华文中宋" pitchFamily="2" charset="-122"/>
              </a:rPr>
              <a:t>读不命中开销</a:t>
            </a:r>
            <a:endParaRPr lang="en-US" altLang="zh-CN" sz="2400" dirty="0">
              <a:latin typeface="Times New Roman" pitchFamily="18" charset="0"/>
              <a:ea typeface="华文中宋" pitchFamily="2" charset="-122"/>
            </a:endParaRPr>
          </a:p>
          <a:p>
            <a:pPr>
              <a:lnSpc>
                <a:spcPct val="120000"/>
              </a:lnSpc>
              <a:spcBef>
                <a:spcPct val="30000"/>
              </a:spcBef>
              <a:defRPr/>
            </a:pPr>
            <a:r>
              <a:rPr lang="zh-CN" altLang="en-US" sz="2400" dirty="0">
                <a:latin typeface="Times New Roman" pitchFamily="18" charset="0"/>
                <a:ea typeface="华文中宋" pitchFamily="2" charset="-122"/>
              </a:rPr>
              <a:t>                            ＋“写”的次数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</a:rPr>
              <a:t>×</a:t>
            </a:r>
            <a:r>
              <a:rPr lang="zh-CN" altLang="en-US" sz="2400" dirty="0">
                <a:latin typeface="Times New Roman" pitchFamily="18" charset="0"/>
                <a:ea typeface="华文中宋" pitchFamily="2" charset="-122"/>
              </a:rPr>
              <a:t>写不命中率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</a:rPr>
              <a:t>×</a:t>
            </a:r>
            <a:r>
              <a:rPr lang="zh-CN" altLang="en-US" sz="2400" dirty="0">
                <a:latin typeface="Times New Roman" pitchFamily="18" charset="0"/>
                <a:ea typeface="华文中宋" pitchFamily="2" charset="-122"/>
              </a:rPr>
              <a:t>写不命中开销</a:t>
            </a:r>
            <a:endParaRPr kumimoji="1" lang="en-US" altLang="zh-CN" sz="2400" dirty="0">
              <a:latin typeface="Times New Roman" pitchFamily="18" charset="0"/>
              <a:ea typeface="华文中宋" pitchFamily="2" charset="-122"/>
            </a:endParaRPr>
          </a:p>
          <a:p>
            <a:pPr>
              <a:lnSpc>
                <a:spcPct val="130000"/>
              </a:lnSpc>
              <a:spcBef>
                <a:spcPct val="30000"/>
              </a:spcBef>
              <a:defRPr/>
            </a:pPr>
            <a:endParaRPr kumimoji="1" lang="zh-CN" altLang="en-US" sz="2400" dirty="0"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46856" y="2564904"/>
            <a:ext cx="8229600" cy="1005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CPU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时间＝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IC×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CPIexe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每条指令的平均存储器停顿 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周期数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]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时钟周期时间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910703" y="5386074"/>
            <a:ext cx="7564289" cy="1005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时间＝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IC×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CPIexe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＋访存次数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/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指令数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b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失效率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失效开销周期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]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时钟周期时间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1D9ED0B-85F5-453B-870A-7579B664F7FF}"/>
              </a:ext>
            </a:extLst>
          </p:cNvPr>
          <p:cNvSpPr txBox="1">
            <a:spLocks noChangeArrowheads="1"/>
          </p:cNvSpPr>
          <p:nvPr/>
        </p:nvSpPr>
        <p:spPr>
          <a:xfrm>
            <a:off x="369888" y="116632"/>
            <a:ext cx="822960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5.2</a:t>
            </a:r>
            <a:r>
              <a:rPr kumimoji="0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.6 </a:t>
            </a:r>
            <a:r>
              <a:rPr kumimoji="0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kumimoji="0"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F7316F-9851-7FED-FBBB-23356DC53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C28ADA-D961-4539-B2F1-80A032DDA384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C92BA1-CB7C-89DB-7AF6-D7A6DAD3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24E747-DC07-0A82-8D2A-AB8DCF1F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7492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575556" y="476672"/>
            <a:ext cx="7992888" cy="244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例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5.3  </a:t>
            </a:r>
          </a:p>
          <a:p>
            <a:pPr algn="just" eaLnBrk="1" hangingPunct="1">
              <a:lnSpc>
                <a:spcPct val="13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假设一台计算机在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全命中的情况下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CPI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1.0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只有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load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和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store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指令能进行访存，这两种指令占总指令的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50%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，如果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失效开销为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200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个时钟周期，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的失效率为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2%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。试分析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对性能的影响。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79DA60F-2212-BD71-44E8-E731B03F3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24BC92-04F4-4837-94F2-6B0928A3B3DD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518308-106E-5136-A89F-71260654C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54E0E6-4F8C-1635-737A-C23A68BD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5433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136650" y="2592388"/>
            <a:ext cx="6335389" cy="1827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考虑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的失效后，性能为：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时间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有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IC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×(1.0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 5×2%×200))</a:t>
            </a:r>
            <a:b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 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时钟周期时间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＝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IC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×7.0×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时钟周期时间</a:t>
            </a:r>
            <a:endParaRPr kumimoji="1" lang="zh-CN" altLang="en-US" sz="2400" b="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684213" y="111125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解：</a:t>
            </a: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1141413" y="4508500"/>
            <a:ext cx="6400800" cy="52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实际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CPI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7.0     ——   7.0/1.0 = 7.0(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倍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1187450" y="5157788"/>
            <a:ext cx="7129463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时间也增加为原来的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7.0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倍。但若不采用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Cache,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则：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CPI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1.0+1.5×200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301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200943" y="1523504"/>
            <a:ext cx="7258843" cy="1005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时间＝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IC×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CPIexe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＋访存次数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/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指令数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b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失效率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失效开销周期</a:t>
            </a:r>
            <a:r>
              <a:rPr kumimoji="1" lang="en-US" altLang="zh-CN" sz="2400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]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时钟周期时间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0D5468-F338-7561-28B9-EDC5653D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6034FF-58AE-40B4-B7C8-B2515715A251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FA97F8-0336-58AB-636C-E4B27658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4BEB8B-7F38-1A0C-04CE-008AE4DF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701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71704" y="332656"/>
            <a:ext cx="8176760" cy="5808663"/>
          </a:xfrm>
        </p:spPr>
        <p:txBody>
          <a:bodyPr/>
          <a:lstStyle/>
          <a:p>
            <a:pPr marL="36000" indent="0"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例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5.4 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考虑两种不同组织结构的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：直接映象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和两路组相联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，试问它们对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的性能有何影响？先求平均访存时间，然后再计算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性能。分析时请用以下假设：</a:t>
            </a:r>
          </a:p>
          <a:p>
            <a:pPr marL="36000" indent="0"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(1) 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理想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（命中率为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100%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）情况下的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CPI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1.6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，时钟周期为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0.35ns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，平均每条指令访存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1.4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次。</a:t>
            </a:r>
          </a:p>
          <a:p>
            <a:pPr marL="36000" indent="0"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(2) 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两种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容量均为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128KB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，块大小都是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32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字节。</a:t>
            </a:r>
          </a:p>
          <a:p>
            <a:pPr marL="36000" indent="0"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(3) 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在组相联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中，由于多路选择器的存在而使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的时钟周期增加到原来的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1.35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倍。这是因为对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的访问总是处于关键路径上，对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的时钟周期有直接的影响。</a:t>
            </a:r>
            <a:endParaRPr kumimoji="1" lang="en-US" altLang="zh-CN" sz="22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6000" indent="0" algn="just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(4) 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这两种结构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的不命中开销都是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65ns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。（在实际应用中，应取整为整数个时钟周期）</a:t>
            </a:r>
          </a:p>
          <a:p>
            <a:pPr marL="36000" indent="0" algn="just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(5) 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命中时间为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个时钟周期，直接映象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的不命中率为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2.1%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，相同容量的两路组相联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的不命中率为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1.9%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  <a:p>
            <a:pPr marL="457200" indent="-457200"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kumimoji="1" lang="zh-CN" altLang="en-US" sz="2000" b="1" dirty="0">
              <a:solidFill>
                <a:srgbClr val="0033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457200" indent="-457200"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kumimoji="1" lang="en-US" altLang="zh-CN" sz="2000" b="1" dirty="0">
              <a:solidFill>
                <a:srgbClr val="0033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21860" name="Rectangle 1029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571704" y="4221088"/>
            <a:ext cx="7772400" cy="249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000" dirty="0">
              <a:solidFill>
                <a:srgbClr val="0033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34B213-7C08-0869-773F-0E320D9A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F8A68F-565D-42AF-9203-E3C0630C982B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69E765-AC0C-5CD9-6604-C3EE3AE50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4919F4-DC2D-3C59-6990-66A457FB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6496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43508" y="404664"/>
            <a:ext cx="8856984" cy="5832648"/>
          </a:xfrm>
        </p:spPr>
        <p:txBody>
          <a:bodyPr/>
          <a:lstStyle/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解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:  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平均访问时间：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平均访存时间＝命中时间＋不命中率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不命中开销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因此，两种结构的平均访存时间分别是：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</a:t>
            </a:r>
            <a:r>
              <a:rPr kumimoji="1"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</a:t>
            </a:r>
            <a:r>
              <a:rPr kumimoji="1" lang="en-US" altLang="zh-CN" sz="22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0.35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＋（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0.021×65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）＝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1.72ns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</a:t>
            </a:r>
            <a:r>
              <a:rPr kumimoji="1"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</a:t>
            </a:r>
            <a:r>
              <a:rPr kumimoji="1" lang="en-US" altLang="zh-CN" sz="22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kumimoji="1"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0.35×1.35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＋（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0.019×65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）＝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1.71ns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两路组相联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的平均访存时间比较低。</a:t>
            </a:r>
            <a:endParaRPr kumimoji="1" lang="en-US" altLang="zh-CN" sz="22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性能：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时间＝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IC×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kumimoji="1" lang="en-US" altLang="zh-CN" sz="2200" b="1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CPIexe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＋每条指令的平均访存次数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不命中率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不命中开销周期）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× 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时钟周期时间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＝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IC×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kumimoji="1" lang="en-US" altLang="zh-CN" sz="2200" b="1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CPIexe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× 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时钟周期时间＋每条指令的 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平均访存次数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不命中率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不命中开销周期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时钟周期时间）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23D0EA-1F34-40FD-1FAA-50DEDE035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7BDDDF-3B1F-4CB0-B03C-488F617943B0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7A8391-302A-1DD0-D172-572FF3A6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7AB97C-7E54-B00D-1B5C-512C7D89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475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24037" y="666427"/>
            <a:ext cx="7495926" cy="2447925"/>
          </a:xfrm>
        </p:spPr>
        <p:txBody>
          <a:bodyPr/>
          <a:lstStyle/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因此：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时间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 ＝ 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IC×(1.6×0.35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(1.4×0.021×65))</a:t>
            </a:r>
            <a:b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 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2.47×IC</a:t>
            </a:r>
          </a:p>
          <a:p>
            <a:pPr marL="457200" indent="-45720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时间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 ＝ 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IC×(1.6×0.35×1.35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(1.4×0.019×65))</a:t>
            </a:r>
            <a:b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</a:t>
            </a:r>
            <a:r>
              <a:rPr kumimoji="1" lang="zh-CN" altLang="en-US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 </a:t>
            </a:r>
            <a:r>
              <a:rPr kumimoji="1" lang="en-US" altLang="zh-CN" sz="2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2.49×IC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835696" y="3171179"/>
            <a:ext cx="5029200" cy="962891"/>
            <a:chOff x="1990725" y="3860800"/>
            <a:chExt cx="5029200" cy="962891"/>
          </a:xfrm>
        </p:grpSpPr>
        <p:sp>
          <p:nvSpPr>
            <p:cNvPr id="124932" name="Text Box 4"/>
            <p:cNvSpPr txBox="1">
              <a:spLocks noChangeArrowheads="1"/>
            </p:cNvSpPr>
            <p:nvPr/>
          </p:nvSpPr>
          <p:spPr bwMode="auto">
            <a:xfrm>
              <a:off x="4121150" y="3884537"/>
              <a:ext cx="1600200" cy="4978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4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rgbClr val="006600"/>
                </a:buClr>
                <a:buSzPct val="65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2</a:t>
              </a:r>
              <a:r>
                <a:rPr lang="en-US" altLang="zh-CN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.49×IC</a:t>
              </a:r>
            </a:p>
          </p:txBody>
        </p:sp>
        <p:sp>
          <p:nvSpPr>
            <p:cNvPr id="124933" name="Text Box 5"/>
            <p:cNvSpPr txBox="1">
              <a:spLocks noChangeArrowheads="1"/>
            </p:cNvSpPr>
            <p:nvPr/>
          </p:nvSpPr>
          <p:spPr bwMode="auto">
            <a:xfrm>
              <a:off x="2047875" y="4318000"/>
              <a:ext cx="1885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4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rgbClr val="006600"/>
                </a:buClr>
                <a:buSzPct val="65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CPU</a:t>
              </a:r>
              <a:r>
                <a:rPr lang="zh-CN" altLang="en-US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时间</a:t>
              </a:r>
              <a:r>
                <a:rPr lang="en-US" altLang="zh-CN" b="1" baseline="-25000">
                  <a:latin typeface="华文中宋" panose="02010600040101010101" pitchFamily="2" charset="-122"/>
                  <a:ea typeface="华文中宋" panose="02010600040101010101" pitchFamily="2" charset="-122"/>
                </a:rPr>
                <a:t>1</a:t>
              </a:r>
              <a:r>
                <a:rPr lang="zh-CN" altLang="en-US" b="1" baseline="-25000">
                  <a:latin typeface="华文中宋" panose="02010600040101010101" pitchFamily="2" charset="-122"/>
                  <a:ea typeface="华文中宋" panose="02010600040101010101" pitchFamily="2" charset="-122"/>
                </a:rPr>
                <a:t>路</a:t>
              </a:r>
              <a:endParaRPr lang="zh-CN" altLang="en-US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24934" name="Text Box 6"/>
            <p:cNvSpPr txBox="1">
              <a:spLocks noChangeArrowheads="1"/>
            </p:cNvSpPr>
            <p:nvPr/>
          </p:nvSpPr>
          <p:spPr bwMode="auto">
            <a:xfrm>
              <a:off x="1990725" y="4073525"/>
              <a:ext cx="5029200" cy="4978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4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rgbClr val="006600"/>
                </a:buClr>
                <a:buSzPct val="65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───── </a:t>
              </a:r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＝ ───── ＝</a:t>
              </a:r>
              <a:r>
                <a:rPr lang="en-US" altLang="zh-CN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1.01</a:t>
              </a:r>
            </a:p>
          </p:txBody>
        </p:sp>
        <p:sp>
          <p:nvSpPr>
            <p:cNvPr id="124935" name="Text Box 7"/>
            <p:cNvSpPr txBox="1">
              <a:spLocks noChangeArrowheads="1"/>
            </p:cNvSpPr>
            <p:nvPr/>
          </p:nvSpPr>
          <p:spPr bwMode="auto">
            <a:xfrm>
              <a:off x="4159250" y="4366491"/>
              <a:ext cx="1600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4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rgbClr val="006600"/>
                </a:buClr>
                <a:buSzPct val="65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2</a:t>
              </a:r>
              <a:r>
                <a:rPr lang="en-US" altLang="zh-CN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.47×IC</a:t>
              </a:r>
            </a:p>
          </p:txBody>
        </p:sp>
        <p:sp>
          <p:nvSpPr>
            <p:cNvPr id="124936" name="Text Box 8"/>
            <p:cNvSpPr txBox="1">
              <a:spLocks noChangeArrowheads="1"/>
            </p:cNvSpPr>
            <p:nvPr/>
          </p:nvSpPr>
          <p:spPr bwMode="auto">
            <a:xfrm>
              <a:off x="2047875" y="3860800"/>
              <a:ext cx="1981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AutoNum type="arabicPeriod"/>
                <a:defRPr kumimoji="1" sz="2400">
                  <a:solidFill>
                    <a:srgbClr val="E24C05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SzPct val="90000"/>
                <a:buFont typeface="Wingdings" panose="05000000000000000000" pitchFamily="2" charset="2"/>
                <a:buChar char="Ø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q"/>
                <a:defRPr kumimoji="1" sz="2000" b="1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rgbClr val="006600"/>
                </a:buClr>
                <a:buSzPct val="65000"/>
                <a:buFont typeface="Wingdings" panose="05000000000000000000" pitchFamily="2" charset="2"/>
                <a:buChar char="n"/>
                <a:defRPr kumimoji="1" sz="20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CPU</a:t>
              </a:r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时间</a:t>
              </a:r>
              <a:r>
                <a:rPr lang="en-US" altLang="zh-CN" b="1" baseline="-25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2</a:t>
              </a:r>
              <a:r>
                <a:rPr lang="zh-CN" altLang="en-US" b="1" baseline="-250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路</a:t>
              </a:r>
              <a:endPara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95241" name="Text Box 9"/>
          <p:cNvSpPr txBox="1">
            <a:spLocks noChangeArrowheads="1"/>
          </p:cNvSpPr>
          <p:nvPr/>
        </p:nvSpPr>
        <p:spPr bwMode="auto">
          <a:xfrm>
            <a:off x="395536" y="4352451"/>
            <a:ext cx="8064896" cy="1809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与平均存储器存取时间的比较结果相反，直接映象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的平均性能好一些。</a:t>
            </a:r>
            <a:endParaRPr lang="en-US" altLang="zh-CN" sz="22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 2-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路组相联情况下，尽管它的缺失率低一些，但是所有指令时钟周期都延长了。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1178CB-1409-4888-0963-96C5A01C8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511514-9976-4A42-A060-9C7E17BA8450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2FEDA6-2641-A8BE-7A61-CCD5D564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0CB629-9929-7D48-5BC2-7ADB019D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689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812799" y="1712087"/>
            <a:ext cx="7343775" cy="40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平均访存时间＝命中时间＋失效率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失效开销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可以从三个方面改进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的性能：</a:t>
            </a:r>
          </a:p>
          <a:p>
            <a:pPr lvl="1" eaLnBrk="1" hangingPunct="1">
              <a:lnSpc>
                <a:spcPct val="140000"/>
              </a:lnSpc>
              <a:spcBef>
                <a:spcPct val="20000"/>
              </a:spcBef>
            </a:pP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(1)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降低失效率</a:t>
            </a:r>
          </a:p>
          <a:p>
            <a:pPr lvl="1" eaLnBrk="1" hangingPunct="1">
              <a:lnSpc>
                <a:spcPct val="140000"/>
              </a:lnSpc>
              <a:spcBef>
                <a:spcPct val="20000"/>
              </a:spcBef>
            </a:pP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(2)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减少失效开销</a:t>
            </a:r>
            <a:b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(3)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减少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命中时间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一共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17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种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优化技术</a:t>
            </a:r>
            <a:endParaRPr kumimoji="1" lang="en-US" altLang="zh-CN" sz="240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CA89C1F-EABC-4BA6-B8A0-980743284655}"/>
              </a:ext>
            </a:extLst>
          </p:cNvPr>
          <p:cNvSpPr txBox="1">
            <a:spLocks noChangeArrowheads="1"/>
          </p:cNvSpPr>
          <p:nvPr/>
        </p:nvSpPr>
        <p:spPr>
          <a:xfrm>
            <a:off x="369887" y="332656"/>
            <a:ext cx="822960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5.2</a:t>
            </a:r>
            <a:r>
              <a:rPr kumimoji="0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.7 </a:t>
            </a:r>
            <a:r>
              <a:rPr kumimoji="0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改进</a:t>
            </a:r>
            <a:r>
              <a:rPr kumimoji="0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r>
              <a:rPr kumimoji="0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的性能</a:t>
            </a:r>
            <a:endParaRPr kumimoji="0"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5D5B40-5DCE-B82D-F216-5ABC482B9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EBC5DF-A45E-4FFB-9784-88832E9032B7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5C4B5A-C959-1CE9-AD2A-651FE2DC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15A381-23AB-D220-FF26-1D8E059EC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7110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19842" y="6182575"/>
            <a:ext cx="2040943" cy="461665"/>
          </a:xfrm>
          <a:prstGeom prst="rect">
            <a:avLst/>
          </a:prstGeom>
          <a:solidFill>
            <a:srgbClr val="00FFFF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ln>
                  <a:solidFill>
                    <a:srgbClr val="000000"/>
                  </a:solidFill>
                </a:ln>
                <a:solidFill>
                  <a:srgbClr val="000000"/>
                </a:solidFill>
              </a:rPr>
              <a:t>减少命中时间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568" y="5132222"/>
            <a:ext cx="1943161" cy="461665"/>
          </a:xfrm>
          <a:prstGeom prst="rect">
            <a:avLst/>
          </a:prstGeom>
          <a:solidFill>
            <a:srgbClr val="FFCCCC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ln>
                  <a:solidFill>
                    <a:srgbClr val="000000"/>
                  </a:solidFill>
                </a:ln>
                <a:solidFill>
                  <a:srgbClr val="000000"/>
                </a:solidFill>
              </a:rPr>
              <a:t>降低失效率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37343" y="2944341"/>
            <a:ext cx="2088232" cy="461665"/>
          </a:xfrm>
          <a:prstGeom prst="rect">
            <a:avLst/>
          </a:prstGeom>
          <a:solidFill>
            <a:srgbClr val="FFFF99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ln>
                  <a:solidFill>
                    <a:srgbClr val="000000"/>
                  </a:solidFill>
                </a:ln>
                <a:solidFill>
                  <a:srgbClr val="000000"/>
                </a:solidFill>
              </a:rPr>
              <a:t>减少失效开销  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39285B78-D062-4B3D-B492-63C8FAF79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652" y="2233682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Victim 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7EA30496-374F-4CA8-AAAE-A6AAB2536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0528" y="1510422"/>
            <a:ext cx="71863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471488" lvl="1" indent="250825"/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提高相联度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3285E8B3-97C5-417A-8594-BFBFEE009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04514" y="848760"/>
            <a:ext cx="683186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471488" indent="250825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lvl="1">
              <a:buFont typeface="Wingdings" pitchFamily="2" charset="2"/>
              <a:buNone/>
            </a:pP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调节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块的大小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EEF3205F-CAC6-483B-81FD-9AD6D23A7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666" y="2956942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硬件预取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DE97B848-F830-495D-B7FF-06FB21AC5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96" y="3650128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编译器控制的预取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6D1EF0A6-C04D-4562-9503-7876CEBE0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652" y="4390861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编译器优化</a:t>
            </a: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6972C090-9A08-4CF2-93D8-C1067245B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3610" y="1197460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请求字处理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515F3DC1-9497-4A79-9209-D6D234B31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6430" y="681605"/>
            <a:ext cx="71863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471488" lvl="1" indent="250825"/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让读失效优先于写</a:t>
            </a: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63DF5B02-CAE4-449E-9280-7C1A4BEAA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6430" y="171377"/>
            <a:ext cx="683186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471488" indent="250825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lvl="1">
              <a:buFont typeface="Wingdings" pitchFamily="2" charset="2"/>
              <a:buNone/>
            </a:pP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写缓冲及写合并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1347B7AA-448A-404C-961E-1F5732DB8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7708" y="1715230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多级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80F53E0C-5805-4B2B-B293-299FF779C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7343" y="2289448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非阻塞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4465EDE7-D4FE-4B9D-9495-B3367CF28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7332" y="4478706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多体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4364368F-9F77-4FCE-A2F8-185C01274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2652" y="4491267"/>
            <a:ext cx="71863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471488" lvl="1" indent="250825"/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虚拟化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D1F97C7D-B468-4257-B993-0821C17A9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9549" y="3772535"/>
            <a:ext cx="683186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471488" indent="250825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lvl="1">
              <a:buFont typeface="Wingdings" pitchFamily="2" charset="2"/>
              <a:buNone/>
            </a:pP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容量小、结构简单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3">
            <a:extLst>
              <a:ext uri="{FF2B5EF4-FFF2-40B4-BE49-F238E27FC236}">
                <a16:creationId xmlns:a16="http://schemas.microsoft.com/office/drawing/2014/main" id="{D3DCC53A-A47F-4004-A9F7-13D06EF9A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1147" y="5070579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Trace 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FB3664F4-E5B2-4A81-90E4-10D6F46C5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7236" y="5624577"/>
            <a:ext cx="71863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471488" lvl="1" indent="250825"/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访问流水化</a:t>
            </a:r>
          </a:p>
        </p:txBody>
      </p:sp>
      <p:sp>
        <p:nvSpPr>
          <p:cNvPr id="24" name="Text Box 3">
            <a:extLst>
              <a:ext uri="{FF2B5EF4-FFF2-40B4-BE49-F238E27FC236}">
                <a16:creationId xmlns:a16="http://schemas.microsoft.com/office/drawing/2014/main" id="{23265B8B-BAA2-4EBE-BF49-436F4707D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7037" y="5070579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路预测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F65EA54-8A14-867B-0B8B-0465876BE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FE7420-7A6B-4E3E-929A-3EA3187DC108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987284C-8E2B-51D0-7AF4-27853B64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B2F63B-5891-5D38-8943-A9CB2837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7032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04664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kumimoji="1"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+mn-cs"/>
              </a:rPr>
              <a:t>第 </a:t>
            </a:r>
            <a:r>
              <a:rPr kumimoji="1" lang="en-US" altLang="zh-CN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+mn-cs"/>
              </a:rPr>
              <a:t>5 </a:t>
            </a:r>
            <a:r>
              <a:rPr kumimoji="1"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+mn-cs"/>
              </a:rPr>
              <a:t>章  存储层次</a:t>
            </a:r>
            <a:br>
              <a:rPr lang="zh-CN" altLang="en-US" sz="4000" dirty="0">
                <a:solidFill>
                  <a:srgbClr val="3366FF"/>
                </a:solidFill>
              </a:rPr>
            </a:br>
            <a:endParaRPr lang="zh-CN" altLang="en-US" sz="4000" b="1" dirty="0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2A5BEA6-7CED-462F-8F3E-E7570126A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34" y="2223964"/>
            <a:ext cx="50292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5.2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　</a:t>
            </a: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Cache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基本知识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5A464274-E486-4D80-9BCD-80B258C79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34" y="2757364"/>
            <a:ext cx="574357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u="sng" dirty="0">
                <a:latin typeface="Times New Roman" pitchFamily="18" charset="0"/>
                <a:ea typeface="华文中宋" pitchFamily="2" charset="-122"/>
              </a:rPr>
              <a:t>5.3    </a:t>
            </a:r>
            <a:r>
              <a:rPr kumimoji="1" lang="zh-CN" altLang="en-US" sz="2800" u="sng" dirty="0">
                <a:latin typeface="Times New Roman" pitchFamily="18" charset="0"/>
                <a:ea typeface="华文中宋" pitchFamily="2" charset="-122"/>
              </a:rPr>
              <a:t>降低</a:t>
            </a:r>
            <a:r>
              <a:rPr kumimoji="1" lang="en-US" altLang="zh-CN" sz="2800" u="sng" dirty="0">
                <a:latin typeface="Times New Roman" pitchFamily="18" charset="0"/>
                <a:ea typeface="华文中宋" pitchFamily="2" charset="-122"/>
              </a:rPr>
              <a:t>Cache</a:t>
            </a:r>
            <a:r>
              <a:rPr kumimoji="1" lang="zh-CN" altLang="en-US" sz="2800" u="sng" dirty="0">
                <a:latin typeface="Times New Roman" pitchFamily="18" charset="0"/>
                <a:ea typeface="华文中宋" pitchFamily="2" charset="-122"/>
              </a:rPr>
              <a:t>失效率的方法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E73DEC4E-3C4F-40BD-92E0-743E088D9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34" y="3290764"/>
            <a:ext cx="52260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5.4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　减少</a:t>
            </a: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Cache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失效开销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0F4898E9-C4F0-4F68-83D8-A70F1477F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34" y="1690564"/>
            <a:ext cx="4832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>
            <a:defPPr>
              <a:defRPr lang="en-US"/>
            </a:defPPr>
            <a:lvl1pPr>
              <a:defRPr sz="28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r>
              <a:rPr lang="en-US" altLang="zh-CN" u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5.1</a:t>
            </a:r>
            <a:r>
              <a:rPr lang="zh-CN" altLang="en-US" u="none" dirty="0">
                <a:solidFill>
                  <a:schemeClr val="tx1"/>
                </a:solidFill>
                <a:effectLst/>
              </a:rPr>
              <a:t>　</a:t>
            </a:r>
            <a:r>
              <a:rPr lang="zh-CN" altLang="en-US" u="none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存储器的层次结构</a:t>
            </a:r>
            <a:endParaRPr lang="zh-CN" altLang="en-US" u="none" dirty="0"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  <a:hlinkClick r:id="rId2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FE55A58C-D019-4973-BBAC-B882ADD9A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684" y="3824164"/>
            <a:ext cx="52260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5.5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　减少命中时间</a:t>
            </a:r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B3394BD0-7A70-4854-BF2B-F2F83E27D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684" y="4357564"/>
            <a:ext cx="52260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5.6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　主存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4C94A4A4-B7BA-444C-AC9D-0DA36C5C5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684" y="4890964"/>
            <a:ext cx="52260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dirty="0">
                <a:latin typeface="Times New Roman" pitchFamily="18" charset="0"/>
                <a:ea typeface="华文中宋" pitchFamily="2" charset="-122"/>
              </a:rPr>
              <a:t>5.7</a:t>
            </a:r>
            <a:r>
              <a:rPr kumimoji="1" lang="zh-CN" altLang="en-US" sz="2800" dirty="0">
                <a:latin typeface="Times New Roman" pitchFamily="18" charset="0"/>
                <a:ea typeface="华文中宋" pitchFamily="2" charset="-122"/>
              </a:rPr>
              <a:t>　虚拟存储器</a:t>
            </a:r>
            <a:endParaRPr kumimoji="1" lang="zh-CN" altLang="en-US" sz="2800" dirty="0">
              <a:latin typeface="Times New Roman" pitchFamily="18" charset="0"/>
              <a:ea typeface="华文中宋" pitchFamily="2" charset="-122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8EEBE6-82C3-38D9-DA9E-534D6E4F0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1BA086-5C93-42C7-B69D-35617FFAF4CA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936246-BCA5-1025-BB3D-9E9243542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03B631-24D0-2DDF-358D-1B0697E5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6716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60363" y="24219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 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降低</a:t>
            </a:r>
            <a:r>
              <a:rPr kumimoji="1" lang="en-US" altLang="zh-CN" sz="36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失效率的方法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1832796" y="3178267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3 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Victim Cache</a:t>
            </a:r>
            <a:endParaRPr lang="zh-CN" altLang="en-US" sz="300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115616" y="2455007"/>
            <a:ext cx="718631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471488" lvl="1" indent="250825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2 提高相联度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1115616" y="1709289"/>
            <a:ext cx="683186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471488" indent="250825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lvl="1">
              <a:buFont typeface="Wingdings" pitchFamily="2" charset="2"/>
              <a:buNone/>
            </a:pP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5.3.1 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调节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块的大小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A3DE16BF-B491-46C4-B73A-E76A9AE48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810" y="3901527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3.4 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硬件预取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285FD91D-0A32-4E8A-B12E-F3E114963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40" y="4594713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3.5 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编译器控制的预取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961D06B4-0019-43E7-9DF2-7DCAB27B4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2796" y="5335446"/>
            <a:ext cx="53975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3.6 </a:t>
            </a:r>
            <a:r>
              <a:rPr lang="zh-CN" altLang="en-US" sz="300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编译器优化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5E4DC4-CC20-937A-44F5-1094736E3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96F5E1-10D5-466C-9F36-062E0BB1B7BF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6F0E46-5EFC-3E02-47A2-86338033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2A26B7-F6CA-4E22-8B18-54D22F7F4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653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950913" y="1841500"/>
            <a:ext cx="7437437" cy="44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(1)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强制性失效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(Compulsory miss)</a:t>
            </a:r>
            <a:b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当第一次访问一个块时，该块不在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中，需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从下一级存储器中调入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，这就是强制性失效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</a:p>
          <a:p>
            <a:pPr lvl="2"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冷启动失效，首次访问失效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</a:p>
          <a:p>
            <a:pPr lvl="2" eaLnBrk="1" hangingPunct="1">
              <a:lnSpc>
                <a:spcPct val="120000"/>
              </a:lnSpc>
            </a:pP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(2)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容量失效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(Capacity miss ) </a:t>
            </a:r>
            <a:b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即使采用全相联，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如果程序执行时所需的块不能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全部调入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中，则当某些块被替换后，若又重新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被访问，就会发生失效，这种失效称为容量失效。</a:t>
            </a:r>
          </a:p>
          <a:p>
            <a:pPr eaLnBrk="1" hangingPunct="1">
              <a:lnSpc>
                <a:spcPct val="120000"/>
              </a:lnSpc>
            </a:pP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550863" y="1252538"/>
            <a:ext cx="32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三种失效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(3C)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65C4A3-EAEC-4F22-9B32-FE5856DA8D97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 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降低</a:t>
            </a:r>
            <a:r>
              <a:rPr kumimoji="1" lang="en-US" altLang="zh-CN" sz="36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失效率的方法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2895EE-FAA9-43A5-A63D-50FB15371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101235-9CE3-4C36-838E-38B536FC8F0C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6F5822-6AB2-7574-D45A-6A8E87A7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1D414C-19BA-FCFE-D1FD-B0AB40BE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3163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981200" y="1222375"/>
            <a:ext cx="69342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>
                <a:latin typeface="楷体_GB2312" pitchFamily="49" charset="-122"/>
                <a:ea typeface="楷体_GB2312" pitchFamily="49" charset="-122"/>
              </a:rPr>
              <a:t>    </a:t>
            </a:r>
            <a:endParaRPr kumimoji="1" lang="en-US" altLang="zh-CN" sz="240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900113" y="1489075"/>
            <a:ext cx="7343775" cy="2925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-457200">
              <a:lnSpc>
                <a:spcPct val="130000"/>
              </a:lnSpc>
              <a:defRPr/>
            </a:pP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(3)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</a:rPr>
              <a:t>冲突失效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(Conflict miss)</a:t>
            </a:r>
            <a:b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</a:b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           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在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</a:rPr>
              <a:t>组相联或直接映象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</a:rPr>
              <a:t>Cache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中，若太多的块映象</a:t>
            </a:r>
            <a:endParaRPr kumimoji="1" lang="en-US" altLang="zh-CN" sz="2400" dirty="0">
              <a:latin typeface="Times New Roman" pitchFamily="18" charset="0"/>
              <a:ea typeface="华文中宋" pitchFamily="2" charset="-122"/>
            </a:endParaRPr>
          </a:p>
          <a:p>
            <a:pPr indent="-457200">
              <a:lnSpc>
                <a:spcPct val="130000"/>
              </a:lnSpc>
              <a:defRPr/>
            </a:pPr>
            <a:r>
              <a:rPr lang="en-US" altLang="zh-CN" sz="2400" dirty="0">
                <a:latin typeface="Times New Roman" pitchFamily="18" charset="0"/>
                <a:ea typeface="华文中宋" pitchFamily="2" charset="-122"/>
              </a:rPr>
              <a:t>   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到同一组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(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块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)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中，则会出现该组中某个块被别的块替</a:t>
            </a:r>
            <a:endParaRPr kumimoji="1" lang="en-US" altLang="zh-CN" sz="2400" dirty="0">
              <a:latin typeface="Times New Roman" pitchFamily="18" charset="0"/>
              <a:ea typeface="华文中宋" pitchFamily="2" charset="-122"/>
            </a:endParaRPr>
          </a:p>
          <a:p>
            <a:pPr indent="-457200">
              <a:lnSpc>
                <a:spcPct val="130000"/>
              </a:lnSpc>
              <a:defRPr/>
            </a:pPr>
            <a:r>
              <a:rPr lang="en-US" altLang="zh-CN" sz="2400" dirty="0">
                <a:latin typeface="Times New Roman" pitchFamily="18" charset="0"/>
                <a:ea typeface="华文中宋" pitchFamily="2" charset="-122"/>
              </a:rPr>
              <a:t>   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换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(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即使别的组或块有空闲位置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)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，然后又被重新访问 </a:t>
            </a:r>
            <a:endParaRPr kumimoji="1" lang="en-US" altLang="zh-CN" sz="2400" dirty="0">
              <a:latin typeface="Times New Roman" pitchFamily="18" charset="0"/>
              <a:ea typeface="华文中宋" pitchFamily="2" charset="-122"/>
            </a:endParaRPr>
          </a:p>
          <a:p>
            <a:pPr indent="-457200">
              <a:lnSpc>
                <a:spcPct val="130000"/>
              </a:lnSpc>
              <a:defRPr/>
            </a:pPr>
            <a:r>
              <a:rPr lang="en-US" altLang="zh-CN" sz="2400" dirty="0">
                <a:latin typeface="Times New Roman" pitchFamily="18" charset="0"/>
                <a:ea typeface="华文中宋" pitchFamily="2" charset="-122"/>
              </a:rPr>
              <a:t>   </a:t>
            </a: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的情况。这就是发生了冲突失效。</a:t>
            </a:r>
            <a:b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</a:br>
            <a:r>
              <a:rPr kumimoji="1" lang="zh-CN" altLang="en-US" sz="2400" dirty="0">
                <a:latin typeface="Times New Roman" pitchFamily="18" charset="0"/>
                <a:ea typeface="华文中宋" pitchFamily="2" charset="-122"/>
              </a:rPr>
              <a:t>            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(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</a:rPr>
              <a:t>碰撞失效，干扰失效</a:t>
            </a:r>
            <a:r>
              <a:rPr kumimoji="1" lang="en-US" altLang="zh-CN" sz="2400" dirty="0">
                <a:latin typeface="Times New Roman" pitchFamily="18" charset="0"/>
                <a:ea typeface="华文中宋" pitchFamily="2" charset="-122"/>
              </a:rPr>
              <a:t>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231AE46-3902-4381-B639-66EB310A04F8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 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降低</a:t>
            </a:r>
            <a:r>
              <a:rPr kumimoji="1" lang="en-US" altLang="zh-CN" sz="36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失效率的方法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36CF13-8469-FC57-0B0A-0FB3E44AC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679A42-09EC-4C00-AF55-9A8BFF141E6A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10A2B4-8BC7-E7CE-DAEB-5CEA3B83F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CCCB9C-F1EF-2CF7-0E3D-7E8E91E97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6615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611188" y="1196975"/>
            <a:ext cx="44656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三种失效所占的比例</a:t>
            </a: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971550" y="1844675"/>
            <a:ext cx="7416800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(SPEC92)     </a:t>
            </a:r>
            <a:r>
              <a:rPr kumimoji="1"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图示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1"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kumimoji="1"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绝对值</a:t>
            </a:r>
            <a:r>
              <a:rPr kumimoji="1"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</a:t>
            </a:r>
            <a:endParaRPr kumimoji="1" lang="en-US" altLang="zh-CN" sz="2400" dirty="0">
              <a:solidFill>
                <a:srgbClr val="0033CC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 eaLnBrk="1" hangingPunct="1"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可以看出：</a:t>
            </a:r>
          </a:p>
          <a:p>
            <a:pPr algn="just" eaLnBrk="1" hangingPunct="1">
              <a:spcBef>
                <a:spcPct val="3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(1)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相联度越高，冲突失效就越少；</a:t>
            </a:r>
          </a:p>
          <a:p>
            <a:pPr algn="just" eaLnBrk="1" hangingPunct="1">
              <a:spcBef>
                <a:spcPct val="3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(2)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强制性失效不受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容量的影响，但容量失效</a:t>
            </a:r>
          </a:p>
          <a:p>
            <a:pPr algn="just" eaLnBrk="1" hangingPunct="1">
              <a:spcBef>
                <a:spcPct val="2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却随着容量的增加而减少；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强制性失效和容量失效         </a:t>
            </a:r>
            <a:endParaRPr kumimoji="1"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 eaLnBrk="1" hangingPunct="1">
              <a:spcBef>
                <a:spcPct val="20000"/>
              </a:spcBef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不受相联度的影响。</a:t>
            </a: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 eaLnBrk="1" hangingPunct="1">
              <a:spcBef>
                <a:spcPct val="3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(3)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图中的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数据符合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2:1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经验规则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，即大小为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N </a:t>
            </a:r>
          </a:p>
          <a:p>
            <a:pPr algn="just" eaLnBrk="1" hangingPunct="1"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的直接映象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的失效率约等于大小为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N/2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的两路   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 eaLnBrk="1" hangingPunct="1">
              <a:spcBef>
                <a:spcPct val="2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组相联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的失效率。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85BE954-06FD-4E5C-AB53-2D874F18006E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 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降低</a:t>
            </a:r>
            <a:r>
              <a:rPr kumimoji="1" lang="en-US" altLang="zh-CN" sz="36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失效率的方法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EC82B6-F255-7E4D-913F-79FE9FFCC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A405D1-82BE-42B5-A7EF-8D88C36D807E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433358-8095-EA3D-AEE7-64F775FD3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EBB5B2-5FEE-C6E7-3CF5-35E71DDCB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6237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/>
          <p:cNvSpPr txBox="1">
            <a:spLocks noChangeArrowheads="1"/>
          </p:cNvSpPr>
          <p:nvPr/>
        </p:nvSpPr>
        <p:spPr bwMode="auto">
          <a:xfrm>
            <a:off x="1063624" y="1844675"/>
            <a:ext cx="7324799" cy="2606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15000"/>
              </a:lnSpc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强制性失效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：增加块大小，预取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en-US" altLang="zh-CN" sz="2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kumimoji="1"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本身很少</a:t>
            </a:r>
            <a:r>
              <a:rPr kumimoji="1" lang="en-US" altLang="zh-CN" sz="2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</a:p>
          <a:p>
            <a:pPr marL="342900" indent="-342900"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容量失效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：增加容量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en-US" altLang="zh-CN" sz="2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kumimoji="1"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防止出现抖动现象，大量数据在两级存储间替换</a:t>
            </a:r>
            <a:r>
              <a:rPr kumimoji="1" lang="en-US" altLang="zh-CN" sz="2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endParaRPr lang="en-US" altLang="zh-CN" sz="2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 eaLnBrk="1" hangingPunct="1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冲突失效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：提高相联度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en-US" altLang="zh-CN" sz="2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kumimoji="1"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理想情况全相联</a:t>
            </a:r>
            <a:r>
              <a:rPr kumimoji="1" lang="en-US" altLang="zh-CN" sz="2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684213" y="1268413"/>
            <a:ext cx="43195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减少三种失效的方法</a:t>
            </a: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684213" y="4725144"/>
            <a:ext cx="7560195" cy="52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许多降低失效率的方法会增加命中时间或失效开销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5E3045E-B34C-47D4-878F-BFB3180D0A15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 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降低</a:t>
            </a:r>
            <a:r>
              <a:rPr kumimoji="1" lang="en-US" altLang="zh-CN" sz="3600" b="1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失效率的方法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C82149-7754-420A-229C-B75AA45D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509580-17FF-48DC-9AAE-4D8DBEE221C5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40CA49-8F0A-3C74-02F0-0EA0F176D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612A0A-3F8E-12D6-5B0A-46D092824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695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624160" y="3573016"/>
            <a:ext cx="7836271" cy="55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增加块大小会增加失效开销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611188" y="1243013"/>
            <a:ext cx="7849244" cy="1965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失效率与块大小的关系</a:t>
            </a:r>
            <a:endParaRPr kumimoji="1" lang="zh-CN" altLang="en-US" sz="2400" b="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(1)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/>
              </a:rPr>
              <a:t>对于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/>
              </a:rPr>
              <a:t>给定的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/>
              </a:rPr>
              <a:t>Cache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/>
              </a:rPr>
              <a:t>容量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，当块大小增加失效率开始时下降，后来反而上升</a:t>
            </a: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(2) 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4" action="ppaction://hlinksldjump"/>
              </a:rPr>
              <a:t>Cache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4" action="ppaction://hlinksldjump"/>
              </a:rPr>
              <a:t>容量越大，失效率达到最低的块大小就越大</a:t>
            </a:r>
            <a:endParaRPr kumimoji="1" lang="zh-CN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B7C46F0-350E-4139-927C-52960FDC5537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5.3.1 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调节</a:t>
            </a:r>
            <a:r>
              <a:rPr kumimoji="0" lang="en-US" altLang="zh-CN" sz="36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块的大小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8707F8-3B7B-93F9-85F9-09EC14DC8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635D40-59EB-4510-8CD2-A1D7DC4889AB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2C70CA-44DD-1F40-2BC5-D2F78FF8D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F9AC6D-5895-C207-E3AC-6C8589D58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5723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684213" y="733078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例 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5.5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684213" y="1190278"/>
            <a:ext cx="8136259" cy="244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假定存储系统在延迟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个时钟周期后，每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个时钟周期能送出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16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个字节。即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: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经过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个时钟周期，它可提供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16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个字节；经过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个时钟周期，可提供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个字节；依此类推。试问：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对于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/>
              </a:rPr>
              <a:t>表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/>
              </a:rPr>
              <a:t>5-6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中列出的各种容量的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，在块大小分别为多少时，平均访存时间最小？假设命中时间为一个时钟周期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kumimoji="1" lang="zh-CN" altLang="en-US" sz="2400" b="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684213" y="3933056"/>
            <a:ext cx="6781800" cy="186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解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zh-CN" alt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解题过程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5" action="ppaction://hlinksldjump"/>
              </a:rPr>
              <a:t>1KB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5" action="ppaction://hlinksldjump"/>
              </a:rPr>
              <a:t>、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5" action="ppaction://hlinksldjump"/>
              </a:rPr>
              <a:t>4KB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5" action="ppaction://hlinksldjump"/>
              </a:rPr>
              <a:t>、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5" action="ppaction://hlinksldjump"/>
              </a:rPr>
              <a:t>16KB Cache: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hlinkClick r:id="rId5" action="ppaction://hlinksldjump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块大小＝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字节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5" action="ppaction://hlinksldjump"/>
              </a:rPr>
              <a:t>64KB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5" action="ppaction://hlinksldjump"/>
              </a:rPr>
              <a:t>、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hlinkClick r:id="rId5" action="ppaction://hlinksldjump"/>
              </a:rPr>
              <a:t>256KB Cache: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块大小＝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64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字节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6754C4-0BED-1354-85E1-BFAAF0CED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D208B3-38A7-4C52-9E43-E3F9E414EAD4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3BCFD5B-1C2E-7613-CA64-8AF7A7EFA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F7EC24-A312-74C4-8323-B67805AD1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1691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"/>
          <p:cNvSpPr txBox="1">
            <a:spLocks noChangeArrowheads="1"/>
          </p:cNvSpPr>
          <p:nvPr/>
        </p:nvSpPr>
        <p:spPr bwMode="auto">
          <a:xfrm>
            <a:off x="684213" y="1323975"/>
            <a:ext cx="68500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采用相联度超过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的方法实际意义不大</a:t>
            </a: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684213" y="1876425"/>
            <a:ext cx="7488237" cy="1384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2.  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2:1 Cache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经验规则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失效率：容量为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的直接映象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     ≈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容量为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/2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的两路组相联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</a:p>
        </p:txBody>
      </p:sp>
      <p:sp>
        <p:nvSpPr>
          <p:cNvPr id="17412" name="Text Box 5"/>
          <p:cNvSpPr txBox="1">
            <a:spLocks noChangeArrowheads="1"/>
          </p:cNvSpPr>
          <p:nvPr/>
        </p:nvSpPr>
        <p:spPr bwMode="auto">
          <a:xfrm>
            <a:off x="700088" y="3370263"/>
            <a:ext cx="8120384" cy="1827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提高相联度是以增加命中时间为代价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例如：</a:t>
            </a:r>
          </a:p>
          <a:p>
            <a:pPr lvl="2"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TTL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或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ECL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板级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，两路组相联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增加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％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定制的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CMOS Cache,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两路组相联：增加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％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72C8071-2C3F-4A42-B89F-290F5AC4516B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5.3.2 </a:t>
            </a:r>
            <a:r>
              <a:rPr kumimoji="0"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提高相联度</a:t>
            </a:r>
            <a:endParaRPr kumimoji="0"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14B8A1-51BC-FE8F-B2E6-BA615C8E0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74370F-4512-478D-80F5-682662B23645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43FCE9C-19B9-5266-8AA2-1D97314DE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D7439C-6A76-A614-B797-FB4D154D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1182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3"/>
          <p:cNvSpPr txBox="1">
            <a:spLocks noChangeArrowheads="1"/>
          </p:cNvSpPr>
          <p:nvPr/>
        </p:nvSpPr>
        <p:spPr bwMode="auto">
          <a:xfrm>
            <a:off x="630238" y="1700213"/>
            <a:ext cx="7613650" cy="411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假定提高相联度会按下列比例增大处理器时钟周期：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		时钟周期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1.36×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时钟周期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b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		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时钟周期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1.44×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时钟周期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		时钟周期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1.52×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时钟周期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假定命中时间为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个时钟，直接映象情况下失效开销为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25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个时钟周期，而且假设不必将失效开销取整。使用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教材表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5-5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中的失效率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，试问当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为多大时，以下不等式成立？</a:t>
            </a:r>
          </a:p>
        </p:txBody>
      </p:sp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611188" y="1249363"/>
            <a:ext cx="147955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例 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5.6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86765A-9EC9-484A-0EBE-9030A3E33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AA97DA-C713-4817-A426-D47993DE8B5C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7060DE-898F-4EE9-5CB8-9438AA77E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6DB5A-51DF-BF72-88D0-3291ACB04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1629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952625" y="1125538"/>
            <a:ext cx="50673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&lt; 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endParaRPr kumimoji="1" lang="zh-CN" altLang="en-US" sz="240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&lt; 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endParaRPr kumimoji="1" lang="zh-CN" altLang="en-US" sz="240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&lt; 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endParaRPr kumimoji="1" lang="zh-CN" altLang="en-US" sz="2400" b="0" baseline="-2500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684213" y="2393950"/>
            <a:ext cx="1009650" cy="49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解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684212" y="2997200"/>
            <a:ext cx="7920235" cy="2944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在各种相联度的情况下，平均访存时间分别为：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平均访存时间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=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命中时间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+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失效率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失效开销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　　　　　　　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= 1.52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＋失效率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×25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= 1.44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＋失效率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×25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= 1.36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＋失效率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25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平均访存时间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= 1.00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＋失效率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×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25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A3F082-2042-AE22-57E4-537D6918C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5EB5DE-292F-414D-9405-325231BD11D9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649CCE-8112-CC26-97D8-094550D0D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187C34-9A03-0A6C-D6F2-F216D544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191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827088" y="1268413"/>
            <a:ext cx="7416800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在每种情况下的失效开销相同，都是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25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个时钟周期。把相应的失效率代入上式，即可得平均访存时间。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容量为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4KB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的直接映象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的平均访存时间为：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	平均访存时间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＝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1.00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(0.098×25)</a:t>
            </a:r>
            <a:b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     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 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3.44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容量为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512KB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路组相联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的平均访存时间为：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	平均访存时间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路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1.52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(0.006×25)</a:t>
            </a:r>
            <a:b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    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1.66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29F3D2-0341-0AA5-4AD0-26EF41273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1DDBC8-276E-47F9-B4EA-16DA3FDCF106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67E6F0-3F80-CAA2-E8B2-7E93454BC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D56126-3E70-23BD-E7AC-E30053204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6676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1185863" y="376238"/>
            <a:ext cx="6772275" cy="6105525"/>
            <a:chOff x="-3" y="-3"/>
            <a:chExt cx="4266" cy="3846"/>
          </a:xfrm>
        </p:grpSpPr>
        <p:grpSp>
          <p:nvGrpSpPr>
            <p:cNvPr id="21512" name="Group 3"/>
            <p:cNvGrpSpPr>
              <a:grpSpLocks/>
            </p:cNvGrpSpPr>
            <p:nvPr/>
          </p:nvGrpSpPr>
          <p:grpSpPr bwMode="auto">
            <a:xfrm>
              <a:off x="0" y="0"/>
              <a:ext cx="4260" cy="3840"/>
              <a:chOff x="0" y="0"/>
              <a:chExt cx="4260" cy="3840"/>
            </a:xfrm>
          </p:grpSpPr>
          <p:grpSp>
            <p:nvGrpSpPr>
              <p:cNvPr id="21514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852" cy="768"/>
                <a:chOff x="0" y="0"/>
                <a:chExt cx="852" cy="768"/>
              </a:xfrm>
            </p:grpSpPr>
            <p:sp>
              <p:nvSpPr>
                <p:cNvPr id="21650" name="Rectangle 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66" cy="768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3200" baseline="-25000">
                      <a:latin typeface="Times New Roman" panose="02020603050405020304" pitchFamily="18" charset="0"/>
                      <a:ea typeface="楷体_GB2312" pitchFamily="49" charset="-122"/>
                    </a:rPr>
                    <a:t>Cache</a:t>
                  </a:r>
                </a:p>
                <a:p>
                  <a:pPr algn="ctr" eaLnBrk="1" hangingPunct="1"/>
                  <a:r>
                    <a:rPr kumimoji="1" lang="zh-CN" altLang="en-US" sz="3200" baseline="-25000">
                      <a:latin typeface="Times New Roman" panose="02020603050405020304" pitchFamily="18" charset="0"/>
                      <a:ea typeface="楷体_GB2312" pitchFamily="49" charset="-122"/>
                    </a:rPr>
                    <a:t>容量</a:t>
                  </a:r>
                </a:p>
                <a:p>
                  <a:pPr algn="ctr"/>
                  <a:r>
                    <a:rPr kumimoji="1" lang="zh-CN" altLang="en-US" sz="3200" baseline="-25000">
                      <a:latin typeface="Times New Roman" panose="02020603050405020304" pitchFamily="18" charset="0"/>
                      <a:ea typeface="楷体_GB2312" pitchFamily="49" charset="-122"/>
                    </a:rPr>
                    <a:t>（</a:t>
                  </a:r>
                  <a:r>
                    <a:rPr kumimoji="1" lang="en-US" altLang="zh-CN" sz="3200" baseline="-25000">
                      <a:latin typeface="Times New Roman" panose="02020603050405020304" pitchFamily="18" charset="0"/>
                      <a:ea typeface="楷体_GB2312" pitchFamily="49" charset="-122"/>
                    </a:rPr>
                    <a:t>KB</a:t>
                  </a:r>
                  <a:r>
                    <a:rPr kumimoji="1" lang="zh-CN" altLang="en-US" sz="3200" baseline="-25000">
                      <a:latin typeface="Times New Roman" panose="02020603050405020304" pitchFamily="18" charset="0"/>
                      <a:ea typeface="楷体_GB2312" pitchFamily="49" charset="-122"/>
                    </a:rPr>
                    <a:t>）</a:t>
                  </a:r>
                </a:p>
                <a:p>
                  <a:pPr algn="ctr"/>
                  <a:endParaRPr kumimoji="1" lang="en-US" altLang="zh-CN" sz="3200" baseline="-2500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21651" name="Rectangle 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2" cy="768"/>
                </a:xfrm>
                <a:prstGeom prst="rect">
                  <a:avLst/>
                </a:prstGeom>
                <a:noFill/>
                <a:ln w="7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15" name="Group 7"/>
              <p:cNvGrpSpPr>
                <a:grpSpLocks/>
              </p:cNvGrpSpPr>
              <p:nvPr/>
            </p:nvGrpSpPr>
            <p:grpSpPr bwMode="auto">
              <a:xfrm>
                <a:off x="852" y="0"/>
                <a:ext cx="3408" cy="384"/>
                <a:chOff x="852" y="0"/>
                <a:chExt cx="3408" cy="384"/>
              </a:xfrm>
            </p:grpSpPr>
            <p:sp>
              <p:nvSpPr>
                <p:cNvPr id="21648" name="Rectangle 8"/>
                <p:cNvSpPr>
                  <a:spLocks noChangeArrowheads="1"/>
                </p:cNvSpPr>
                <p:nvPr/>
              </p:nvSpPr>
              <p:spPr bwMode="auto">
                <a:xfrm>
                  <a:off x="895" y="0"/>
                  <a:ext cx="3322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zh-CN" altLang="en-US" sz="3200" baseline="-25000">
                      <a:latin typeface="Times New Roman" panose="02020603050405020304" pitchFamily="18" charset="0"/>
                      <a:ea typeface="楷体_GB2312" pitchFamily="49" charset="-122"/>
                    </a:rPr>
                    <a:t>相联度（路）</a:t>
                  </a:r>
                </a:p>
                <a:p>
                  <a:pPr algn="ctr"/>
                  <a:endParaRPr kumimoji="1" lang="en-US" altLang="zh-CN" sz="3200" baseline="-2500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21649" name="Rectangle 9"/>
                <p:cNvSpPr>
                  <a:spLocks noChangeArrowheads="1"/>
                </p:cNvSpPr>
                <p:nvPr/>
              </p:nvSpPr>
              <p:spPr bwMode="auto">
                <a:xfrm>
                  <a:off x="852" y="0"/>
                  <a:ext cx="3408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16" name="Group 10"/>
              <p:cNvGrpSpPr>
                <a:grpSpLocks/>
              </p:cNvGrpSpPr>
              <p:nvPr/>
            </p:nvGrpSpPr>
            <p:grpSpPr bwMode="auto">
              <a:xfrm>
                <a:off x="852" y="384"/>
                <a:ext cx="852" cy="384"/>
                <a:chOff x="852" y="384"/>
                <a:chExt cx="852" cy="384"/>
              </a:xfrm>
            </p:grpSpPr>
            <p:sp>
              <p:nvSpPr>
                <p:cNvPr id="21646" name="Rectangle 11"/>
                <p:cNvSpPr>
                  <a:spLocks noChangeArrowheads="1"/>
                </p:cNvSpPr>
                <p:nvPr/>
              </p:nvSpPr>
              <p:spPr bwMode="auto">
                <a:xfrm>
                  <a:off x="895" y="384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>
                      <a:latin typeface="Times New Roman" panose="02020603050405020304" pitchFamily="18" charset="0"/>
                      <a:ea typeface="楷体_GB2312" pitchFamily="49" charset="-122"/>
                    </a:rPr>
                    <a:t>1</a:t>
                  </a:r>
                </a:p>
                <a:p>
                  <a:pPr algn="ctr"/>
                  <a:endParaRPr kumimoji="1" lang="en-US" altLang="zh-CN" sz="2800" baseline="-2500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21647" name="Rectangle 12"/>
                <p:cNvSpPr>
                  <a:spLocks noChangeArrowheads="1"/>
                </p:cNvSpPr>
                <p:nvPr/>
              </p:nvSpPr>
              <p:spPr bwMode="auto">
                <a:xfrm>
                  <a:off x="852" y="384"/>
                  <a:ext cx="852" cy="384"/>
                </a:xfrm>
                <a:prstGeom prst="rect">
                  <a:avLst/>
                </a:prstGeom>
                <a:noFill/>
                <a:ln w="2857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17" name="Group 13"/>
              <p:cNvGrpSpPr>
                <a:grpSpLocks/>
              </p:cNvGrpSpPr>
              <p:nvPr/>
            </p:nvGrpSpPr>
            <p:grpSpPr bwMode="auto">
              <a:xfrm>
                <a:off x="1704" y="384"/>
                <a:ext cx="852" cy="384"/>
                <a:chOff x="1704" y="384"/>
                <a:chExt cx="852" cy="384"/>
              </a:xfrm>
            </p:grpSpPr>
            <p:sp>
              <p:nvSpPr>
                <p:cNvPr id="21644" name="Rectangle 14"/>
                <p:cNvSpPr>
                  <a:spLocks noChangeArrowheads="1"/>
                </p:cNvSpPr>
                <p:nvPr/>
              </p:nvSpPr>
              <p:spPr bwMode="auto">
                <a:xfrm>
                  <a:off x="1747" y="384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>
                      <a:latin typeface="Times New Roman" panose="02020603050405020304" pitchFamily="18" charset="0"/>
                      <a:ea typeface="楷体_GB2312" pitchFamily="49" charset="-122"/>
                    </a:rPr>
                    <a:t>2</a:t>
                  </a:r>
                </a:p>
                <a:p>
                  <a:pPr algn="ctr"/>
                  <a:endParaRPr kumimoji="1" lang="en-US" altLang="zh-CN" sz="2800" baseline="-2500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21645" name="Rectangle 15"/>
                <p:cNvSpPr>
                  <a:spLocks noChangeArrowheads="1"/>
                </p:cNvSpPr>
                <p:nvPr/>
              </p:nvSpPr>
              <p:spPr bwMode="auto">
                <a:xfrm>
                  <a:off x="1704" y="384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18" name="Group 16"/>
              <p:cNvGrpSpPr>
                <a:grpSpLocks/>
              </p:cNvGrpSpPr>
              <p:nvPr/>
            </p:nvGrpSpPr>
            <p:grpSpPr bwMode="auto">
              <a:xfrm>
                <a:off x="2556" y="384"/>
                <a:ext cx="852" cy="384"/>
                <a:chOff x="2556" y="384"/>
                <a:chExt cx="852" cy="384"/>
              </a:xfrm>
            </p:grpSpPr>
            <p:sp>
              <p:nvSpPr>
                <p:cNvPr id="21642" name="Rectangle 17"/>
                <p:cNvSpPr>
                  <a:spLocks noChangeArrowheads="1"/>
                </p:cNvSpPr>
                <p:nvPr/>
              </p:nvSpPr>
              <p:spPr bwMode="auto">
                <a:xfrm>
                  <a:off x="2599" y="384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>
                      <a:latin typeface="Times New Roman" panose="02020603050405020304" pitchFamily="18" charset="0"/>
                      <a:ea typeface="楷体_GB2312" pitchFamily="49" charset="-122"/>
                    </a:rPr>
                    <a:t>4</a:t>
                  </a:r>
                </a:p>
                <a:p>
                  <a:pPr algn="ctr"/>
                  <a:endParaRPr kumimoji="1" lang="en-US" altLang="zh-CN" sz="2800" baseline="-2500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21643" name="Rectangle 18"/>
                <p:cNvSpPr>
                  <a:spLocks noChangeArrowheads="1"/>
                </p:cNvSpPr>
                <p:nvPr/>
              </p:nvSpPr>
              <p:spPr bwMode="auto">
                <a:xfrm>
                  <a:off x="2556" y="384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19" name="Group 19"/>
              <p:cNvGrpSpPr>
                <a:grpSpLocks/>
              </p:cNvGrpSpPr>
              <p:nvPr/>
            </p:nvGrpSpPr>
            <p:grpSpPr bwMode="auto">
              <a:xfrm>
                <a:off x="3408" y="384"/>
                <a:ext cx="852" cy="384"/>
                <a:chOff x="3408" y="384"/>
                <a:chExt cx="852" cy="384"/>
              </a:xfrm>
            </p:grpSpPr>
            <p:sp>
              <p:nvSpPr>
                <p:cNvPr id="21640" name="Rectangle 20"/>
                <p:cNvSpPr>
                  <a:spLocks noChangeArrowheads="1"/>
                </p:cNvSpPr>
                <p:nvPr/>
              </p:nvSpPr>
              <p:spPr bwMode="auto">
                <a:xfrm>
                  <a:off x="3451" y="384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>
                      <a:latin typeface="Times New Roman" panose="02020603050405020304" pitchFamily="18" charset="0"/>
                      <a:ea typeface="楷体_GB2312" pitchFamily="49" charset="-122"/>
                    </a:rPr>
                    <a:t>8</a:t>
                  </a:r>
                </a:p>
                <a:p>
                  <a:pPr algn="ctr"/>
                  <a:endParaRPr kumimoji="1" lang="en-US" altLang="zh-CN" sz="2800" baseline="-2500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21641" name="Rectangle 21"/>
                <p:cNvSpPr>
                  <a:spLocks noChangeArrowheads="1"/>
                </p:cNvSpPr>
                <p:nvPr/>
              </p:nvSpPr>
              <p:spPr bwMode="auto">
                <a:xfrm>
                  <a:off x="3408" y="384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20" name="Group 22"/>
              <p:cNvGrpSpPr>
                <a:grpSpLocks/>
              </p:cNvGrpSpPr>
              <p:nvPr/>
            </p:nvGrpSpPr>
            <p:grpSpPr bwMode="auto">
              <a:xfrm>
                <a:off x="0" y="768"/>
                <a:ext cx="852" cy="384"/>
                <a:chOff x="0" y="768"/>
                <a:chExt cx="852" cy="384"/>
              </a:xfrm>
            </p:grpSpPr>
            <p:sp>
              <p:nvSpPr>
                <p:cNvPr id="21638" name="Rectangle 23"/>
                <p:cNvSpPr>
                  <a:spLocks noChangeArrowheads="1"/>
                </p:cNvSpPr>
                <p:nvPr/>
              </p:nvSpPr>
              <p:spPr bwMode="auto">
                <a:xfrm>
                  <a:off x="43" y="768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4</a:t>
                  </a:r>
                </a:p>
              </p:txBody>
            </p:sp>
            <p:sp>
              <p:nvSpPr>
                <p:cNvPr id="21639" name="Rectangle 24"/>
                <p:cNvSpPr>
                  <a:spLocks noChangeArrowheads="1"/>
                </p:cNvSpPr>
                <p:nvPr/>
              </p:nvSpPr>
              <p:spPr bwMode="auto">
                <a:xfrm>
                  <a:off x="0" y="768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21" name="Group 25"/>
              <p:cNvGrpSpPr>
                <a:grpSpLocks/>
              </p:cNvGrpSpPr>
              <p:nvPr/>
            </p:nvGrpSpPr>
            <p:grpSpPr bwMode="auto">
              <a:xfrm>
                <a:off x="852" y="768"/>
                <a:ext cx="852" cy="384"/>
                <a:chOff x="852" y="768"/>
                <a:chExt cx="852" cy="384"/>
              </a:xfrm>
            </p:grpSpPr>
            <p:sp>
              <p:nvSpPr>
                <p:cNvPr id="21636" name="Rectangle 26"/>
                <p:cNvSpPr>
                  <a:spLocks noChangeArrowheads="1"/>
                </p:cNvSpPr>
                <p:nvPr/>
              </p:nvSpPr>
              <p:spPr bwMode="auto">
                <a:xfrm>
                  <a:off x="895" y="768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3.44</a:t>
                  </a:r>
                </a:p>
              </p:txBody>
            </p:sp>
            <p:sp>
              <p:nvSpPr>
                <p:cNvPr id="21637" name="Rectangle 27"/>
                <p:cNvSpPr>
                  <a:spLocks noChangeArrowheads="1"/>
                </p:cNvSpPr>
                <p:nvPr/>
              </p:nvSpPr>
              <p:spPr bwMode="auto">
                <a:xfrm>
                  <a:off x="852" y="768"/>
                  <a:ext cx="852" cy="384"/>
                </a:xfrm>
                <a:prstGeom prst="rect">
                  <a:avLst/>
                </a:prstGeom>
                <a:noFill/>
                <a:ln w="2857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22" name="Group 28"/>
              <p:cNvGrpSpPr>
                <a:grpSpLocks/>
              </p:cNvGrpSpPr>
              <p:nvPr/>
            </p:nvGrpSpPr>
            <p:grpSpPr bwMode="auto">
              <a:xfrm>
                <a:off x="1704" y="768"/>
                <a:ext cx="852" cy="384"/>
                <a:chOff x="1704" y="768"/>
                <a:chExt cx="852" cy="384"/>
              </a:xfrm>
            </p:grpSpPr>
            <p:sp>
              <p:nvSpPr>
                <p:cNvPr id="21634" name="Rectangle 29"/>
                <p:cNvSpPr>
                  <a:spLocks noChangeArrowheads="1"/>
                </p:cNvSpPr>
                <p:nvPr/>
              </p:nvSpPr>
              <p:spPr bwMode="auto">
                <a:xfrm>
                  <a:off x="1747" y="768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3.25</a:t>
                  </a:r>
                </a:p>
              </p:txBody>
            </p:sp>
            <p:sp>
              <p:nvSpPr>
                <p:cNvPr id="21635" name="Rectangle 30"/>
                <p:cNvSpPr>
                  <a:spLocks noChangeArrowheads="1"/>
                </p:cNvSpPr>
                <p:nvPr/>
              </p:nvSpPr>
              <p:spPr bwMode="auto">
                <a:xfrm>
                  <a:off x="1704" y="768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23" name="Group 31"/>
              <p:cNvGrpSpPr>
                <a:grpSpLocks/>
              </p:cNvGrpSpPr>
              <p:nvPr/>
            </p:nvGrpSpPr>
            <p:grpSpPr bwMode="auto">
              <a:xfrm>
                <a:off x="2556" y="768"/>
                <a:ext cx="852" cy="384"/>
                <a:chOff x="2556" y="768"/>
                <a:chExt cx="852" cy="384"/>
              </a:xfrm>
            </p:grpSpPr>
            <p:sp>
              <p:nvSpPr>
                <p:cNvPr id="21632" name="Rectangle 32"/>
                <p:cNvSpPr>
                  <a:spLocks noChangeArrowheads="1"/>
                </p:cNvSpPr>
                <p:nvPr/>
              </p:nvSpPr>
              <p:spPr bwMode="auto">
                <a:xfrm>
                  <a:off x="2599" y="768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3.22</a:t>
                  </a:r>
                </a:p>
              </p:txBody>
            </p:sp>
            <p:sp>
              <p:nvSpPr>
                <p:cNvPr id="21633" name="Rectangle 33"/>
                <p:cNvSpPr>
                  <a:spLocks noChangeArrowheads="1"/>
                </p:cNvSpPr>
                <p:nvPr/>
              </p:nvSpPr>
              <p:spPr bwMode="auto">
                <a:xfrm>
                  <a:off x="2556" y="768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24" name="Group 34"/>
              <p:cNvGrpSpPr>
                <a:grpSpLocks/>
              </p:cNvGrpSpPr>
              <p:nvPr/>
            </p:nvGrpSpPr>
            <p:grpSpPr bwMode="auto">
              <a:xfrm>
                <a:off x="3408" y="768"/>
                <a:ext cx="852" cy="384"/>
                <a:chOff x="3408" y="768"/>
                <a:chExt cx="852" cy="384"/>
              </a:xfrm>
            </p:grpSpPr>
            <p:sp>
              <p:nvSpPr>
                <p:cNvPr id="21630" name="Rectangle 35"/>
                <p:cNvSpPr>
                  <a:spLocks noChangeArrowheads="1"/>
                </p:cNvSpPr>
                <p:nvPr/>
              </p:nvSpPr>
              <p:spPr bwMode="auto">
                <a:xfrm>
                  <a:off x="3451" y="768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3.28</a:t>
                  </a:r>
                </a:p>
              </p:txBody>
            </p:sp>
            <p:sp>
              <p:nvSpPr>
                <p:cNvPr id="21631" name="Rectangle 36"/>
                <p:cNvSpPr>
                  <a:spLocks noChangeArrowheads="1"/>
                </p:cNvSpPr>
                <p:nvPr/>
              </p:nvSpPr>
              <p:spPr bwMode="auto">
                <a:xfrm>
                  <a:off x="3408" y="768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25" name="Group 37"/>
              <p:cNvGrpSpPr>
                <a:grpSpLocks/>
              </p:cNvGrpSpPr>
              <p:nvPr/>
            </p:nvGrpSpPr>
            <p:grpSpPr bwMode="auto">
              <a:xfrm>
                <a:off x="0" y="1152"/>
                <a:ext cx="852" cy="384"/>
                <a:chOff x="0" y="1152"/>
                <a:chExt cx="852" cy="384"/>
              </a:xfrm>
            </p:grpSpPr>
            <p:sp>
              <p:nvSpPr>
                <p:cNvPr id="21628" name="Rectangle 38"/>
                <p:cNvSpPr>
                  <a:spLocks noChangeArrowheads="1"/>
                </p:cNvSpPr>
                <p:nvPr/>
              </p:nvSpPr>
              <p:spPr bwMode="auto">
                <a:xfrm>
                  <a:off x="43" y="1152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8</a:t>
                  </a:r>
                </a:p>
              </p:txBody>
            </p:sp>
            <p:sp>
              <p:nvSpPr>
                <p:cNvPr id="21629" name="Rectangle 39"/>
                <p:cNvSpPr>
                  <a:spLocks noChangeArrowheads="1"/>
                </p:cNvSpPr>
                <p:nvPr/>
              </p:nvSpPr>
              <p:spPr bwMode="auto">
                <a:xfrm>
                  <a:off x="0" y="1152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26" name="Group 40"/>
              <p:cNvGrpSpPr>
                <a:grpSpLocks/>
              </p:cNvGrpSpPr>
              <p:nvPr/>
            </p:nvGrpSpPr>
            <p:grpSpPr bwMode="auto">
              <a:xfrm>
                <a:off x="852" y="1152"/>
                <a:ext cx="852" cy="384"/>
                <a:chOff x="852" y="1152"/>
                <a:chExt cx="852" cy="384"/>
              </a:xfrm>
            </p:grpSpPr>
            <p:sp>
              <p:nvSpPr>
                <p:cNvPr id="21626" name="Rectangle 41"/>
                <p:cNvSpPr>
                  <a:spLocks noChangeArrowheads="1"/>
                </p:cNvSpPr>
                <p:nvPr/>
              </p:nvSpPr>
              <p:spPr bwMode="auto">
                <a:xfrm>
                  <a:off x="895" y="1152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2.69</a:t>
                  </a:r>
                </a:p>
              </p:txBody>
            </p:sp>
            <p:sp>
              <p:nvSpPr>
                <p:cNvPr id="21627" name="Rectangle 42"/>
                <p:cNvSpPr>
                  <a:spLocks noChangeArrowheads="1"/>
                </p:cNvSpPr>
                <p:nvPr/>
              </p:nvSpPr>
              <p:spPr bwMode="auto">
                <a:xfrm>
                  <a:off x="852" y="1152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27" name="Group 43"/>
              <p:cNvGrpSpPr>
                <a:grpSpLocks/>
              </p:cNvGrpSpPr>
              <p:nvPr/>
            </p:nvGrpSpPr>
            <p:grpSpPr bwMode="auto">
              <a:xfrm>
                <a:off x="1704" y="1152"/>
                <a:ext cx="852" cy="384"/>
                <a:chOff x="1704" y="1152"/>
                <a:chExt cx="852" cy="384"/>
              </a:xfrm>
            </p:grpSpPr>
            <p:sp>
              <p:nvSpPr>
                <p:cNvPr id="21624" name="Rectangle 44"/>
                <p:cNvSpPr>
                  <a:spLocks noChangeArrowheads="1"/>
                </p:cNvSpPr>
                <p:nvPr/>
              </p:nvSpPr>
              <p:spPr bwMode="auto">
                <a:xfrm>
                  <a:off x="1747" y="1152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2.58</a:t>
                  </a:r>
                </a:p>
              </p:txBody>
            </p:sp>
            <p:sp>
              <p:nvSpPr>
                <p:cNvPr id="21625" name="Rectangle 45"/>
                <p:cNvSpPr>
                  <a:spLocks noChangeArrowheads="1"/>
                </p:cNvSpPr>
                <p:nvPr/>
              </p:nvSpPr>
              <p:spPr bwMode="auto">
                <a:xfrm>
                  <a:off x="1704" y="1152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28" name="Group 46"/>
              <p:cNvGrpSpPr>
                <a:grpSpLocks/>
              </p:cNvGrpSpPr>
              <p:nvPr/>
            </p:nvGrpSpPr>
            <p:grpSpPr bwMode="auto">
              <a:xfrm>
                <a:off x="2556" y="1152"/>
                <a:ext cx="852" cy="384"/>
                <a:chOff x="2556" y="1152"/>
                <a:chExt cx="852" cy="384"/>
              </a:xfrm>
            </p:grpSpPr>
            <p:sp>
              <p:nvSpPr>
                <p:cNvPr id="21622" name="Rectangle 47"/>
                <p:cNvSpPr>
                  <a:spLocks noChangeArrowheads="1"/>
                </p:cNvSpPr>
                <p:nvPr/>
              </p:nvSpPr>
              <p:spPr bwMode="auto">
                <a:xfrm>
                  <a:off x="2599" y="1152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2.55</a:t>
                  </a:r>
                </a:p>
              </p:txBody>
            </p:sp>
            <p:sp>
              <p:nvSpPr>
                <p:cNvPr id="21623" name="Rectangle 48"/>
                <p:cNvSpPr>
                  <a:spLocks noChangeArrowheads="1"/>
                </p:cNvSpPr>
                <p:nvPr/>
              </p:nvSpPr>
              <p:spPr bwMode="auto">
                <a:xfrm>
                  <a:off x="2556" y="1152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29" name="Group 49"/>
              <p:cNvGrpSpPr>
                <a:grpSpLocks/>
              </p:cNvGrpSpPr>
              <p:nvPr/>
            </p:nvGrpSpPr>
            <p:grpSpPr bwMode="auto">
              <a:xfrm>
                <a:off x="3408" y="1152"/>
                <a:ext cx="852" cy="384"/>
                <a:chOff x="3408" y="1152"/>
                <a:chExt cx="852" cy="384"/>
              </a:xfrm>
            </p:grpSpPr>
            <p:sp>
              <p:nvSpPr>
                <p:cNvPr id="21620" name="Rectangle 50"/>
                <p:cNvSpPr>
                  <a:spLocks noChangeArrowheads="1"/>
                </p:cNvSpPr>
                <p:nvPr/>
              </p:nvSpPr>
              <p:spPr bwMode="auto">
                <a:xfrm>
                  <a:off x="3451" y="1152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2.62</a:t>
                  </a:r>
                </a:p>
              </p:txBody>
            </p:sp>
            <p:sp>
              <p:nvSpPr>
                <p:cNvPr id="21621" name="Rectangle 51"/>
                <p:cNvSpPr>
                  <a:spLocks noChangeArrowheads="1"/>
                </p:cNvSpPr>
                <p:nvPr/>
              </p:nvSpPr>
              <p:spPr bwMode="auto">
                <a:xfrm>
                  <a:off x="3408" y="1152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30" name="Group 52"/>
              <p:cNvGrpSpPr>
                <a:grpSpLocks/>
              </p:cNvGrpSpPr>
              <p:nvPr/>
            </p:nvGrpSpPr>
            <p:grpSpPr bwMode="auto">
              <a:xfrm>
                <a:off x="0" y="1536"/>
                <a:ext cx="852" cy="384"/>
                <a:chOff x="0" y="1536"/>
                <a:chExt cx="852" cy="384"/>
              </a:xfrm>
            </p:grpSpPr>
            <p:sp>
              <p:nvSpPr>
                <p:cNvPr id="21618" name="Rectangle 53"/>
                <p:cNvSpPr>
                  <a:spLocks noChangeArrowheads="1"/>
                </p:cNvSpPr>
                <p:nvPr/>
              </p:nvSpPr>
              <p:spPr bwMode="auto">
                <a:xfrm>
                  <a:off x="43" y="1536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16</a:t>
                  </a:r>
                </a:p>
              </p:txBody>
            </p:sp>
            <p:sp>
              <p:nvSpPr>
                <p:cNvPr id="21619" name="Rectangle 54"/>
                <p:cNvSpPr>
                  <a:spLocks noChangeArrowheads="1"/>
                </p:cNvSpPr>
                <p:nvPr/>
              </p:nvSpPr>
              <p:spPr bwMode="auto">
                <a:xfrm>
                  <a:off x="0" y="1536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31" name="Group 55"/>
              <p:cNvGrpSpPr>
                <a:grpSpLocks/>
              </p:cNvGrpSpPr>
              <p:nvPr/>
            </p:nvGrpSpPr>
            <p:grpSpPr bwMode="auto">
              <a:xfrm>
                <a:off x="852" y="1536"/>
                <a:ext cx="852" cy="384"/>
                <a:chOff x="852" y="1536"/>
                <a:chExt cx="852" cy="384"/>
              </a:xfrm>
            </p:grpSpPr>
            <p:sp>
              <p:nvSpPr>
                <p:cNvPr id="21616" name="Rectangle 56"/>
                <p:cNvSpPr>
                  <a:spLocks noChangeArrowheads="1"/>
                </p:cNvSpPr>
                <p:nvPr/>
              </p:nvSpPr>
              <p:spPr bwMode="auto">
                <a:xfrm>
                  <a:off x="895" y="1536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2.23</a:t>
                  </a:r>
                </a:p>
              </p:txBody>
            </p:sp>
            <p:sp>
              <p:nvSpPr>
                <p:cNvPr id="21617" name="Rectangle 57"/>
                <p:cNvSpPr>
                  <a:spLocks noChangeArrowheads="1"/>
                </p:cNvSpPr>
                <p:nvPr/>
              </p:nvSpPr>
              <p:spPr bwMode="auto">
                <a:xfrm>
                  <a:off x="852" y="1536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32" name="Group 58"/>
              <p:cNvGrpSpPr>
                <a:grpSpLocks/>
              </p:cNvGrpSpPr>
              <p:nvPr/>
            </p:nvGrpSpPr>
            <p:grpSpPr bwMode="auto">
              <a:xfrm>
                <a:off x="1704" y="1536"/>
                <a:ext cx="852" cy="384"/>
                <a:chOff x="1704" y="1536"/>
                <a:chExt cx="852" cy="384"/>
              </a:xfrm>
            </p:grpSpPr>
            <p:sp>
              <p:nvSpPr>
                <p:cNvPr id="21614" name="Rectangle 59"/>
                <p:cNvSpPr>
                  <a:spLocks noChangeArrowheads="1"/>
                </p:cNvSpPr>
                <p:nvPr/>
              </p:nvSpPr>
              <p:spPr bwMode="auto">
                <a:xfrm>
                  <a:off x="1747" y="1536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2.40</a:t>
                  </a:r>
                </a:p>
              </p:txBody>
            </p:sp>
            <p:sp>
              <p:nvSpPr>
                <p:cNvPr id="21615" name="Rectangle 60"/>
                <p:cNvSpPr>
                  <a:spLocks noChangeArrowheads="1"/>
                </p:cNvSpPr>
                <p:nvPr/>
              </p:nvSpPr>
              <p:spPr bwMode="auto">
                <a:xfrm>
                  <a:off x="1704" y="1536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33" name="Group 61"/>
              <p:cNvGrpSpPr>
                <a:grpSpLocks/>
              </p:cNvGrpSpPr>
              <p:nvPr/>
            </p:nvGrpSpPr>
            <p:grpSpPr bwMode="auto">
              <a:xfrm>
                <a:off x="2556" y="1536"/>
                <a:ext cx="852" cy="384"/>
                <a:chOff x="2556" y="1536"/>
                <a:chExt cx="852" cy="384"/>
              </a:xfrm>
            </p:grpSpPr>
            <p:sp>
              <p:nvSpPr>
                <p:cNvPr id="21612" name="Rectangle 62"/>
                <p:cNvSpPr>
                  <a:spLocks noChangeArrowheads="1"/>
                </p:cNvSpPr>
                <p:nvPr/>
              </p:nvSpPr>
              <p:spPr bwMode="auto">
                <a:xfrm>
                  <a:off x="2599" y="1536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2.46</a:t>
                  </a:r>
                </a:p>
              </p:txBody>
            </p:sp>
            <p:sp>
              <p:nvSpPr>
                <p:cNvPr id="21613" name="Rectangle 63"/>
                <p:cNvSpPr>
                  <a:spLocks noChangeArrowheads="1"/>
                </p:cNvSpPr>
                <p:nvPr/>
              </p:nvSpPr>
              <p:spPr bwMode="auto">
                <a:xfrm>
                  <a:off x="2556" y="1536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34" name="Group 64"/>
              <p:cNvGrpSpPr>
                <a:grpSpLocks/>
              </p:cNvGrpSpPr>
              <p:nvPr/>
            </p:nvGrpSpPr>
            <p:grpSpPr bwMode="auto">
              <a:xfrm>
                <a:off x="3408" y="1536"/>
                <a:ext cx="852" cy="384"/>
                <a:chOff x="3408" y="1536"/>
                <a:chExt cx="852" cy="384"/>
              </a:xfrm>
            </p:grpSpPr>
            <p:sp>
              <p:nvSpPr>
                <p:cNvPr id="21610" name="Rectangle 65"/>
                <p:cNvSpPr>
                  <a:spLocks noChangeArrowheads="1"/>
                </p:cNvSpPr>
                <p:nvPr/>
              </p:nvSpPr>
              <p:spPr bwMode="auto">
                <a:xfrm>
                  <a:off x="3451" y="1536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2.53</a:t>
                  </a:r>
                </a:p>
              </p:txBody>
            </p:sp>
            <p:sp>
              <p:nvSpPr>
                <p:cNvPr id="21611" name="Rectangle 66"/>
                <p:cNvSpPr>
                  <a:spLocks noChangeArrowheads="1"/>
                </p:cNvSpPr>
                <p:nvPr/>
              </p:nvSpPr>
              <p:spPr bwMode="auto">
                <a:xfrm>
                  <a:off x="3408" y="1536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35" name="Group 67"/>
              <p:cNvGrpSpPr>
                <a:grpSpLocks/>
              </p:cNvGrpSpPr>
              <p:nvPr/>
            </p:nvGrpSpPr>
            <p:grpSpPr bwMode="auto">
              <a:xfrm>
                <a:off x="0" y="1920"/>
                <a:ext cx="852" cy="384"/>
                <a:chOff x="0" y="1920"/>
                <a:chExt cx="852" cy="384"/>
              </a:xfrm>
            </p:grpSpPr>
            <p:sp>
              <p:nvSpPr>
                <p:cNvPr id="21608" name="Rectangle 68"/>
                <p:cNvSpPr>
                  <a:spLocks noChangeArrowheads="1"/>
                </p:cNvSpPr>
                <p:nvPr/>
              </p:nvSpPr>
              <p:spPr bwMode="auto">
                <a:xfrm>
                  <a:off x="43" y="1920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32</a:t>
                  </a:r>
                </a:p>
              </p:txBody>
            </p:sp>
            <p:sp>
              <p:nvSpPr>
                <p:cNvPr id="21609" name="Rectangle 69"/>
                <p:cNvSpPr>
                  <a:spLocks noChangeArrowheads="1"/>
                </p:cNvSpPr>
                <p:nvPr/>
              </p:nvSpPr>
              <p:spPr bwMode="auto">
                <a:xfrm>
                  <a:off x="0" y="1920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36" name="Group 70"/>
              <p:cNvGrpSpPr>
                <a:grpSpLocks/>
              </p:cNvGrpSpPr>
              <p:nvPr/>
            </p:nvGrpSpPr>
            <p:grpSpPr bwMode="auto">
              <a:xfrm>
                <a:off x="852" y="1920"/>
                <a:ext cx="852" cy="384"/>
                <a:chOff x="852" y="1920"/>
                <a:chExt cx="852" cy="384"/>
              </a:xfrm>
            </p:grpSpPr>
            <p:sp>
              <p:nvSpPr>
                <p:cNvPr id="21606" name="Rectangle 71"/>
                <p:cNvSpPr>
                  <a:spLocks noChangeArrowheads="1"/>
                </p:cNvSpPr>
                <p:nvPr/>
              </p:nvSpPr>
              <p:spPr bwMode="auto">
                <a:xfrm>
                  <a:off x="895" y="1920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2.06</a:t>
                  </a:r>
                </a:p>
              </p:txBody>
            </p:sp>
            <p:sp>
              <p:nvSpPr>
                <p:cNvPr id="21607" name="Rectangle 72"/>
                <p:cNvSpPr>
                  <a:spLocks noChangeArrowheads="1"/>
                </p:cNvSpPr>
                <p:nvPr/>
              </p:nvSpPr>
              <p:spPr bwMode="auto">
                <a:xfrm>
                  <a:off x="852" y="1920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37" name="Group 73"/>
              <p:cNvGrpSpPr>
                <a:grpSpLocks/>
              </p:cNvGrpSpPr>
              <p:nvPr/>
            </p:nvGrpSpPr>
            <p:grpSpPr bwMode="auto">
              <a:xfrm>
                <a:off x="1704" y="1920"/>
                <a:ext cx="852" cy="384"/>
                <a:chOff x="1704" y="1920"/>
                <a:chExt cx="852" cy="384"/>
              </a:xfrm>
            </p:grpSpPr>
            <p:sp>
              <p:nvSpPr>
                <p:cNvPr id="21604" name="Rectangle 74"/>
                <p:cNvSpPr>
                  <a:spLocks noChangeArrowheads="1"/>
                </p:cNvSpPr>
                <p:nvPr/>
              </p:nvSpPr>
              <p:spPr bwMode="auto">
                <a:xfrm>
                  <a:off x="1747" y="1920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2.30</a:t>
                  </a:r>
                </a:p>
              </p:txBody>
            </p:sp>
            <p:sp>
              <p:nvSpPr>
                <p:cNvPr id="21605" name="Rectangle 75"/>
                <p:cNvSpPr>
                  <a:spLocks noChangeArrowheads="1"/>
                </p:cNvSpPr>
                <p:nvPr/>
              </p:nvSpPr>
              <p:spPr bwMode="auto">
                <a:xfrm>
                  <a:off x="1704" y="1920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38" name="Group 76"/>
              <p:cNvGrpSpPr>
                <a:grpSpLocks/>
              </p:cNvGrpSpPr>
              <p:nvPr/>
            </p:nvGrpSpPr>
            <p:grpSpPr bwMode="auto">
              <a:xfrm>
                <a:off x="2556" y="1920"/>
                <a:ext cx="852" cy="384"/>
                <a:chOff x="2556" y="1920"/>
                <a:chExt cx="852" cy="384"/>
              </a:xfrm>
            </p:grpSpPr>
            <p:sp>
              <p:nvSpPr>
                <p:cNvPr id="21602" name="Rectangle 77"/>
                <p:cNvSpPr>
                  <a:spLocks noChangeArrowheads="1"/>
                </p:cNvSpPr>
                <p:nvPr/>
              </p:nvSpPr>
              <p:spPr bwMode="auto">
                <a:xfrm>
                  <a:off x="2599" y="1920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2.37</a:t>
                  </a:r>
                </a:p>
              </p:txBody>
            </p:sp>
            <p:sp>
              <p:nvSpPr>
                <p:cNvPr id="21603" name="Rectangle 78"/>
                <p:cNvSpPr>
                  <a:spLocks noChangeArrowheads="1"/>
                </p:cNvSpPr>
                <p:nvPr/>
              </p:nvSpPr>
              <p:spPr bwMode="auto">
                <a:xfrm>
                  <a:off x="2556" y="1920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39" name="Group 79"/>
              <p:cNvGrpSpPr>
                <a:grpSpLocks/>
              </p:cNvGrpSpPr>
              <p:nvPr/>
            </p:nvGrpSpPr>
            <p:grpSpPr bwMode="auto">
              <a:xfrm>
                <a:off x="3408" y="1920"/>
                <a:ext cx="852" cy="384"/>
                <a:chOff x="3408" y="1920"/>
                <a:chExt cx="852" cy="384"/>
              </a:xfrm>
            </p:grpSpPr>
            <p:sp>
              <p:nvSpPr>
                <p:cNvPr id="21600" name="Rectangle 80"/>
                <p:cNvSpPr>
                  <a:spLocks noChangeArrowheads="1"/>
                </p:cNvSpPr>
                <p:nvPr/>
              </p:nvSpPr>
              <p:spPr bwMode="auto">
                <a:xfrm>
                  <a:off x="3451" y="1920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2.45</a:t>
                  </a:r>
                </a:p>
              </p:txBody>
            </p:sp>
            <p:sp>
              <p:nvSpPr>
                <p:cNvPr id="21601" name="Rectangle 81"/>
                <p:cNvSpPr>
                  <a:spLocks noChangeArrowheads="1"/>
                </p:cNvSpPr>
                <p:nvPr/>
              </p:nvSpPr>
              <p:spPr bwMode="auto">
                <a:xfrm>
                  <a:off x="3408" y="1920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40" name="Group 82"/>
              <p:cNvGrpSpPr>
                <a:grpSpLocks/>
              </p:cNvGrpSpPr>
              <p:nvPr/>
            </p:nvGrpSpPr>
            <p:grpSpPr bwMode="auto">
              <a:xfrm>
                <a:off x="0" y="2304"/>
                <a:ext cx="852" cy="384"/>
                <a:chOff x="0" y="2304"/>
                <a:chExt cx="852" cy="384"/>
              </a:xfrm>
            </p:grpSpPr>
            <p:sp>
              <p:nvSpPr>
                <p:cNvPr id="21598" name="Rectangle 83"/>
                <p:cNvSpPr>
                  <a:spLocks noChangeArrowheads="1"/>
                </p:cNvSpPr>
                <p:nvPr/>
              </p:nvSpPr>
              <p:spPr bwMode="auto">
                <a:xfrm>
                  <a:off x="43" y="2304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64</a:t>
                  </a:r>
                </a:p>
              </p:txBody>
            </p:sp>
            <p:sp>
              <p:nvSpPr>
                <p:cNvPr id="21599" name="Rectangle 84"/>
                <p:cNvSpPr>
                  <a:spLocks noChangeArrowheads="1"/>
                </p:cNvSpPr>
                <p:nvPr/>
              </p:nvSpPr>
              <p:spPr bwMode="auto">
                <a:xfrm>
                  <a:off x="0" y="2304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41" name="Group 85"/>
              <p:cNvGrpSpPr>
                <a:grpSpLocks/>
              </p:cNvGrpSpPr>
              <p:nvPr/>
            </p:nvGrpSpPr>
            <p:grpSpPr bwMode="auto">
              <a:xfrm>
                <a:off x="852" y="2304"/>
                <a:ext cx="852" cy="384"/>
                <a:chOff x="852" y="2304"/>
                <a:chExt cx="852" cy="384"/>
              </a:xfrm>
            </p:grpSpPr>
            <p:sp>
              <p:nvSpPr>
                <p:cNvPr id="21596" name="Rectangle 86"/>
                <p:cNvSpPr>
                  <a:spLocks noChangeArrowheads="1"/>
                </p:cNvSpPr>
                <p:nvPr/>
              </p:nvSpPr>
              <p:spPr bwMode="auto">
                <a:xfrm>
                  <a:off x="895" y="2304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1.92</a:t>
                  </a:r>
                </a:p>
              </p:txBody>
            </p:sp>
            <p:sp>
              <p:nvSpPr>
                <p:cNvPr id="21597" name="Rectangle 87"/>
                <p:cNvSpPr>
                  <a:spLocks noChangeArrowheads="1"/>
                </p:cNvSpPr>
                <p:nvPr/>
              </p:nvSpPr>
              <p:spPr bwMode="auto">
                <a:xfrm>
                  <a:off x="852" y="2304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42" name="Group 88"/>
              <p:cNvGrpSpPr>
                <a:grpSpLocks/>
              </p:cNvGrpSpPr>
              <p:nvPr/>
            </p:nvGrpSpPr>
            <p:grpSpPr bwMode="auto">
              <a:xfrm>
                <a:off x="1704" y="2304"/>
                <a:ext cx="852" cy="384"/>
                <a:chOff x="1704" y="2304"/>
                <a:chExt cx="852" cy="384"/>
              </a:xfrm>
            </p:grpSpPr>
            <p:sp>
              <p:nvSpPr>
                <p:cNvPr id="21594" name="Rectangle 89"/>
                <p:cNvSpPr>
                  <a:spLocks noChangeArrowheads="1"/>
                </p:cNvSpPr>
                <p:nvPr/>
              </p:nvSpPr>
              <p:spPr bwMode="auto">
                <a:xfrm>
                  <a:off x="1747" y="2304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2.14</a:t>
                  </a:r>
                </a:p>
              </p:txBody>
            </p:sp>
            <p:sp>
              <p:nvSpPr>
                <p:cNvPr id="21595" name="Rectangle 90"/>
                <p:cNvSpPr>
                  <a:spLocks noChangeArrowheads="1"/>
                </p:cNvSpPr>
                <p:nvPr/>
              </p:nvSpPr>
              <p:spPr bwMode="auto">
                <a:xfrm>
                  <a:off x="1704" y="2304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43" name="Group 91"/>
              <p:cNvGrpSpPr>
                <a:grpSpLocks/>
              </p:cNvGrpSpPr>
              <p:nvPr/>
            </p:nvGrpSpPr>
            <p:grpSpPr bwMode="auto">
              <a:xfrm>
                <a:off x="2556" y="2304"/>
                <a:ext cx="852" cy="384"/>
                <a:chOff x="2556" y="2304"/>
                <a:chExt cx="852" cy="384"/>
              </a:xfrm>
            </p:grpSpPr>
            <p:sp>
              <p:nvSpPr>
                <p:cNvPr id="21592" name="Rectangle 92"/>
                <p:cNvSpPr>
                  <a:spLocks noChangeArrowheads="1"/>
                </p:cNvSpPr>
                <p:nvPr/>
              </p:nvSpPr>
              <p:spPr bwMode="auto">
                <a:xfrm>
                  <a:off x="2599" y="2304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2.18</a:t>
                  </a:r>
                </a:p>
              </p:txBody>
            </p:sp>
            <p:sp>
              <p:nvSpPr>
                <p:cNvPr id="21593" name="Rectangle 93"/>
                <p:cNvSpPr>
                  <a:spLocks noChangeArrowheads="1"/>
                </p:cNvSpPr>
                <p:nvPr/>
              </p:nvSpPr>
              <p:spPr bwMode="auto">
                <a:xfrm>
                  <a:off x="2556" y="2304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44" name="Group 94"/>
              <p:cNvGrpSpPr>
                <a:grpSpLocks/>
              </p:cNvGrpSpPr>
              <p:nvPr/>
            </p:nvGrpSpPr>
            <p:grpSpPr bwMode="auto">
              <a:xfrm>
                <a:off x="3408" y="2304"/>
                <a:ext cx="852" cy="384"/>
                <a:chOff x="3408" y="2304"/>
                <a:chExt cx="852" cy="384"/>
              </a:xfrm>
            </p:grpSpPr>
            <p:sp>
              <p:nvSpPr>
                <p:cNvPr id="21590" name="Rectangle 95"/>
                <p:cNvSpPr>
                  <a:spLocks noChangeArrowheads="1"/>
                </p:cNvSpPr>
                <p:nvPr/>
              </p:nvSpPr>
              <p:spPr bwMode="auto">
                <a:xfrm>
                  <a:off x="3451" y="2304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2.25</a:t>
                  </a:r>
                </a:p>
              </p:txBody>
            </p:sp>
            <p:sp>
              <p:nvSpPr>
                <p:cNvPr id="21591" name="Rectangle 96"/>
                <p:cNvSpPr>
                  <a:spLocks noChangeArrowheads="1"/>
                </p:cNvSpPr>
                <p:nvPr/>
              </p:nvSpPr>
              <p:spPr bwMode="auto">
                <a:xfrm>
                  <a:off x="3408" y="2304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45" name="Group 97"/>
              <p:cNvGrpSpPr>
                <a:grpSpLocks/>
              </p:cNvGrpSpPr>
              <p:nvPr/>
            </p:nvGrpSpPr>
            <p:grpSpPr bwMode="auto">
              <a:xfrm>
                <a:off x="0" y="2688"/>
                <a:ext cx="852" cy="384"/>
                <a:chOff x="0" y="2688"/>
                <a:chExt cx="852" cy="384"/>
              </a:xfrm>
            </p:grpSpPr>
            <p:sp>
              <p:nvSpPr>
                <p:cNvPr id="21588" name="Rectangle 98"/>
                <p:cNvSpPr>
                  <a:spLocks noChangeArrowheads="1"/>
                </p:cNvSpPr>
                <p:nvPr/>
              </p:nvSpPr>
              <p:spPr bwMode="auto">
                <a:xfrm>
                  <a:off x="43" y="2688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128</a:t>
                  </a:r>
                </a:p>
              </p:txBody>
            </p:sp>
            <p:sp>
              <p:nvSpPr>
                <p:cNvPr id="21589" name="Rectangle 99"/>
                <p:cNvSpPr>
                  <a:spLocks noChangeArrowheads="1"/>
                </p:cNvSpPr>
                <p:nvPr/>
              </p:nvSpPr>
              <p:spPr bwMode="auto">
                <a:xfrm>
                  <a:off x="0" y="2688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46" name="Group 100"/>
              <p:cNvGrpSpPr>
                <a:grpSpLocks/>
              </p:cNvGrpSpPr>
              <p:nvPr/>
            </p:nvGrpSpPr>
            <p:grpSpPr bwMode="auto">
              <a:xfrm>
                <a:off x="852" y="2688"/>
                <a:ext cx="852" cy="384"/>
                <a:chOff x="852" y="2688"/>
                <a:chExt cx="852" cy="384"/>
              </a:xfrm>
            </p:grpSpPr>
            <p:sp>
              <p:nvSpPr>
                <p:cNvPr id="21586" name="Rectangle 101"/>
                <p:cNvSpPr>
                  <a:spLocks noChangeArrowheads="1"/>
                </p:cNvSpPr>
                <p:nvPr/>
              </p:nvSpPr>
              <p:spPr bwMode="auto">
                <a:xfrm>
                  <a:off x="895" y="2688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1.52</a:t>
                  </a:r>
                </a:p>
              </p:txBody>
            </p:sp>
            <p:sp>
              <p:nvSpPr>
                <p:cNvPr id="21587" name="Rectangle 102"/>
                <p:cNvSpPr>
                  <a:spLocks noChangeArrowheads="1"/>
                </p:cNvSpPr>
                <p:nvPr/>
              </p:nvSpPr>
              <p:spPr bwMode="auto">
                <a:xfrm>
                  <a:off x="852" y="2688"/>
                  <a:ext cx="852" cy="384"/>
                </a:xfrm>
                <a:prstGeom prst="rect">
                  <a:avLst/>
                </a:prstGeom>
                <a:noFill/>
                <a:ln w="7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47" name="Group 103"/>
              <p:cNvGrpSpPr>
                <a:grpSpLocks/>
              </p:cNvGrpSpPr>
              <p:nvPr/>
            </p:nvGrpSpPr>
            <p:grpSpPr bwMode="auto">
              <a:xfrm>
                <a:off x="1704" y="2688"/>
                <a:ext cx="852" cy="384"/>
                <a:chOff x="1704" y="2688"/>
                <a:chExt cx="852" cy="384"/>
              </a:xfrm>
            </p:grpSpPr>
            <p:sp>
              <p:nvSpPr>
                <p:cNvPr id="21584" name="Rectangle 104"/>
                <p:cNvSpPr>
                  <a:spLocks noChangeArrowheads="1"/>
                </p:cNvSpPr>
                <p:nvPr/>
              </p:nvSpPr>
              <p:spPr bwMode="auto">
                <a:xfrm>
                  <a:off x="1747" y="2688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1.84</a:t>
                  </a:r>
                </a:p>
              </p:txBody>
            </p:sp>
            <p:sp>
              <p:nvSpPr>
                <p:cNvPr id="21585" name="Rectangle 105"/>
                <p:cNvSpPr>
                  <a:spLocks noChangeArrowheads="1"/>
                </p:cNvSpPr>
                <p:nvPr/>
              </p:nvSpPr>
              <p:spPr bwMode="auto">
                <a:xfrm>
                  <a:off x="1704" y="2688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48" name="Group 106"/>
              <p:cNvGrpSpPr>
                <a:grpSpLocks/>
              </p:cNvGrpSpPr>
              <p:nvPr/>
            </p:nvGrpSpPr>
            <p:grpSpPr bwMode="auto">
              <a:xfrm>
                <a:off x="2556" y="2688"/>
                <a:ext cx="852" cy="384"/>
                <a:chOff x="2556" y="2688"/>
                <a:chExt cx="852" cy="384"/>
              </a:xfrm>
            </p:grpSpPr>
            <p:sp>
              <p:nvSpPr>
                <p:cNvPr id="21582" name="Rectangle 107"/>
                <p:cNvSpPr>
                  <a:spLocks noChangeArrowheads="1"/>
                </p:cNvSpPr>
                <p:nvPr/>
              </p:nvSpPr>
              <p:spPr bwMode="auto">
                <a:xfrm>
                  <a:off x="2599" y="2688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1.92</a:t>
                  </a:r>
                </a:p>
              </p:txBody>
            </p:sp>
            <p:sp>
              <p:nvSpPr>
                <p:cNvPr id="21583" name="Rectangle 108"/>
                <p:cNvSpPr>
                  <a:spLocks noChangeArrowheads="1"/>
                </p:cNvSpPr>
                <p:nvPr/>
              </p:nvSpPr>
              <p:spPr bwMode="auto">
                <a:xfrm>
                  <a:off x="2556" y="2688"/>
                  <a:ext cx="852" cy="384"/>
                </a:xfrm>
                <a:prstGeom prst="rect">
                  <a:avLst/>
                </a:prstGeom>
                <a:noFill/>
                <a:ln w="7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49" name="Group 109"/>
              <p:cNvGrpSpPr>
                <a:grpSpLocks/>
              </p:cNvGrpSpPr>
              <p:nvPr/>
            </p:nvGrpSpPr>
            <p:grpSpPr bwMode="auto">
              <a:xfrm>
                <a:off x="3408" y="2688"/>
                <a:ext cx="852" cy="384"/>
                <a:chOff x="3408" y="2688"/>
                <a:chExt cx="852" cy="384"/>
              </a:xfrm>
            </p:grpSpPr>
            <p:sp>
              <p:nvSpPr>
                <p:cNvPr id="21580" name="Rectangle 110"/>
                <p:cNvSpPr>
                  <a:spLocks noChangeArrowheads="1"/>
                </p:cNvSpPr>
                <p:nvPr/>
              </p:nvSpPr>
              <p:spPr bwMode="auto">
                <a:xfrm>
                  <a:off x="3451" y="2688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2.00</a:t>
                  </a:r>
                </a:p>
              </p:txBody>
            </p:sp>
            <p:sp>
              <p:nvSpPr>
                <p:cNvPr id="21581" name="Rectangle 111"/>
                <p:cNvSpPr>
                  <a:spLocks noChangeArrowheads="1"/>
                </p:cNvSpPr>
                <p:nvPr/>
              </p:nvSpPr>
              <p:spPr bwMode="auto">
                <a:xfrm>
                  <a:off x="3408" y="2688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50" name="Group 112"/>
              <p:cNvGrpSpPr>
                <a:grpSpLocks/>
              </p:cNvGrpSpPr>
              <p:nvPr/>
            </p:nvGrpSpPr>
            <p:grpSpPr bwMode="auto">
              <a:xfrm>
                <a:off x="0" y="3072"/>
                <a:ext cx="852" cy="384"/>
                <a:chOff x="0" y="3072"/>
                <a:chExt cx="852" cy="384"/>
              </a:xfrm>
            </p:grpSpPr>
            <p:sp>
              <p:nvSpPr>
                <p:cNvPr id="21578" name="Rectangle 113"/>
                <p:cNvSpPr>
                  <a:spLocks noChangeArrowheads="1"/>
                </p:cNvSpPr>
                <p:nvPr/>
              </p:nvSpPr>
              <p:spPr bwMode="auto">
                <a:xfrm>
                  <a:off x="43" y="3072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256</a:t>
                  </a:r>
                </a:p>
              </p:txBody>
            </p:sp>
            <p:sp>
              <p:nvSpPr>
                <p:cNvPr id="21579" name="Rectangle 114"/>
                <p:cNvSpPr>
                  <a:spLocks noChangeArrowheads="1"/>
                </p:cNvSpPr>
                <p:nvPr/>
              </p:nvSpPr>
              <p:spPr bwMode="auto">
                <a:xfrm>
                  <a:off x="0" y="3072"/>
                  <a:ext cx="852" cy="384"/>
                </a:xfrm>
                <a:prstGeom prst="rect">
                  <a:avLst/>
                </a:prstGeom>
                <a:noFill/>
                <a:ln w="7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51" name="Group 115"/>
              <p:cNvGrpSpPr>
                <a:grpSpLocks/>
              </p:cNvGrpSpPr>
              <p:nvPr/>
            </p:nvGrpSpPr>
            <p:grpSpPr bwMode="auto">
              <a:xfrm>
                <a:off x="852" y="3072"/>
                <a:ext cx="852" cy="384"/>
                <a:chOff x="852" y="3072"/>
                <a:chExt cx="852" cy="384"/>
              </a:xfrm>
            </p:grpSpPr>
            <p:sp>
              <p:nvSpPr>
                <p:cNvPr id="21576" name="Rectangle 116"/>
                <p:cNvSpPr>
                  <a:spLocks noChangeArrowheads="1"/>
                </p:cNvSpPr>
                <p:nvPr/>
              </p:nvSpPr>
              <p:spPr bwMode="auto">
                <a:xfrm>
                  <a:off x="895" y="3072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1.32</a:t>
                  </a:r>
                </a:p>
              </p:txBody>
            </p:sp>
            <p:sp>
              <p:nvSpPr>
                <p:cNvPr id="21577" name="Rectangle 117"/>
                <p:cNvSpPr>
                  <a:spLocks noChangeArrowheads="1"/>
                </p:cNvSpPr>
                <p:nvPr/>
              </p:nvSpPr>
              <p:spPr bwMode="auto">
                <a:xfrm>
                  <a:off x="852" y="3072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52" name="Group 118"/>
              <p:cNvGrpSpPr>
                <a:grpSpLocks/>
              </p:cNvGrpSpPr>
              <p:nvPr/>
            </p:nvGrpSpPr>
            <p:grpSpPr bwMode="auto">
              <a:xfrm>
                <a:off x="1704" y="3072"/>
                <a:ext cx="852" cy="384"/>
                <a:chOff x="1704" y="3072"/>
                <a:chExt cx="852" cy="384"/>
              </a:xfrm>
            </p:grpSpPr>
            <p:sp>
              <p:nvSpPr>
                <p:cNvPr id="21574" name="Rectangle 119"/>
                <p:cNvSpPr>
                  <a:spLocks noChangeArrowheads="1"/>
                </p:cNvSpPr>
                <p:nvPr/>
              </p:nvSpPr>
              <p:spPr bwMode="auto">
                <a:xfrm>
                  <a:off x="1747" y="3072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1.66</a:t>
                  </a:r>
                </a:p>
              </p:txBody>
            </p:sp>
            <p:sp>
              <p:nvSpPr>
                <p:cNvPr id="21575" name="Rectangle 120"/>
                <p:cNvSpPr>
                  <a:spLocks noChangeArrowheads="1"/>
                </p:cNvSpPr>
                <p:nvPr/>
              </p:nvSpPr>
              <p:spPr bwMode="auto">
                <a:xfrm>
                  <a:off x="1704" y="3072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53" name="Group 121"/>
              <p:cNvGrpSpPr>
                <a:grpSpLocks/>
              </p:cNvGrpSpPr>
              <p:nvPr/>
            </p:nvGrpSpPr>
            <p:grpSpPr bwMode="auto">
              <a:xfrm>
                <a:off x="2556" y="3072"/>
                <a:ext cx="852" cy="384"/>
                <a:chOff x="2556" y="3072"/>
                <a:chExt cx="852" cy="384"/>
              </a:xfrm>
            </p:grpSpPr>
            <p:sp>
              <p:nvSpPr>
                <p:cNvPr id="21572" name="Rectangle 122"/>
                <p:cNvSpPr>
                  <a:spLocks noChangeArrowheads="1"/>
                </p:cNvSpPr>
                <p:nvPr/>
              </p:nvSpPr>
              <p:spPr bwMode="auto">
                <a:xfrm>
                  <a:off x="2599" y="3072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1.74</a:t>
                  </a:r>
                </a:p>
              </p:txBody>
            </p:sp>
            <p:sp>
              <p:nvSpPr>
                <p:cNvPr id="21573" name="Rectangle 123"/>
                <p:cNvSpPr>
                  <a:spLocks noChangeArrowheads="1"/>
                </p:cNvSpPr>
                <p:nvPr/>
              </p:nvSpPr>
              <p:spPr bwMode="auto">
                <a:xfrm>
                  <a:off x="2556" y="3072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54" name="Group 124"/>
              <p:cNvGrpSpPr>
                <a:grpSpLocks/>
              </p:cNvGrpSpPr>
              <p:nvPr/>
            </p:nvGrpSpPr>
            <p:grpSpPr bwMode="auto">
              <a:xfrm>
                <a:off x="3408" y="3072"/>
                <a:ext cx="852" cy="384"/>
                <a:chOff x="3408" y="3072"/>
                <a:chExt cx="852" cy="384"/>
              </a:xfrm>
            </p:grpSpPr>
            <p:sp>
              <p:nvSpPr>
                <p:cNvPr id="21570" name="Rectangle 125"/>
                <p:cNvSpPr>
                  <a:spLocks noChangeArrowheads="1"/>
                </p:cNvSpPr>
                <p:nvPr/>
              </p:nvSpPr>
              <p:spPr bwMode="auto">
                <a:xfrm>
                  <a:off x="3451" y="3072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1.82</a:t>
                  </a:r>
                </a:p>
              </p:txBody>
            </p:sp>
            <p:sp>
              <p:nvSpPr>
                <p:cNvPr id="21571" name="Rectangle 126"/>
                <p:cNvSpPr>
                  <a:spLocks noChangeArrowheads="1"/>
                </p:cNvSpPr>
                <p:nvPr/>
              </p:nvSpPr>
              <p:spPr bwMode="auto">
                <a:xfrm>
                  <a:off x="3408" y="3072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55" name="Group 127"/>
              <p:cNvGrpSpPr>
                <a:grpSpLocks/>
              </p:cNvGrpSpPr>
              <p:nvPr/>
            </p:nvGrpSpPr>
            <p:grpSpPr bwMode="auto">
              <a:xfrm>
                <a:off x="0" y="3456"/>
                <a:ext cx="852" cy="384"/>
                <a:chOff x="0" y="3456"/>
                <a:chExt cx="852" cy="384"/>
              </a:xfrm>
            </p:grpSpPr>
            <p:sp>
              <p:nvSpPr>
                <p:cNvPr id="21568" name="Rectangle 128"/>
                <p:cNvSpPr>
                  <a:spLocks noChangeArrowheads="1"/>
                </p:cNvSpPr>
                <p:nvPr/>
              </p:nvSpPr>
              <p:spPr bwMode="auto">
                <a:xfrm>
                  <a:off x="43" y="3456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512</a:t>
                  </a:r>
                </a:p>
              </p:txBody>
            </p:sp>
            <p:sp>
              <p:nvSpPr>
                <p:cNvPr id="21569" name="Rectangle 129"/>
                <p:cNvSpPr>
                  <a:spLocks noChangeArrowheads="1"/>
                </p:cNvSpPr>
                <p:nvPr/>
              </p:nvSpPr>
              <p:spPr bwMode="auto">
                <a:xfrm>
                  <a:off x="0" y="3456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56" name="Group 130"/>
              <p:cNvGrpSpPr>
                <a:grpSpLocks/>
              </p:cNvGrpSpPr>
              <p:nvPr/>
            </p:nvGrpSpPr>
            <p:grpSpPr bwMode="auto">
              <a:xfrm>
                <a:off x="852" y="3456"/>
                <a:ext cx="852" cy="384"/>
                <a:chOff x="852" y="3456"/>
                <a:chExt cx="852" cy="384"/>
              </a:xfrm>
            </p:grpSpPr>
            <p:sp>
              <p:nvSpPr>
                <p:cNvPr id="21566" name="Rectangle 131"/>
                <p:cNvSpPr>
                  <a:spLocks noChangeArrowheads="1"/>
                </p:cNvSpPr>
                <p:nvPr/>
              </p:nvSpPr>
              <p:spPr bwMode="auto">
                <a:xfrm>
                  <a:off x="895" y="3456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1.20</a:t>
                  </a:r>
                </a:p>
              </p:txBody>
            </p:sp>
            <p:sp>
              <p:nvSpPr>
                <p:cNvPr id="21567" name="Rectangle 132"/>
                <p:cNvSpPr>
                  <a:spLocks noChangeArrowheads="1"/>
                </p:cNvSpPr>
                <p:nvPr/>
              </p:nvSpPr>
              <p:spPr bwMode="auto">
                <a:xfrm>
                  <a:off x="852" y="3456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57" name="Group 133"/>
              <p:cNvGrpSpPr>
                <a:grpSpLocks/>
              </p:cNvGrpSpPr>
              <p:nvPr/>
            </p:nvGrpSpPr>
            <p:grpSpPr bwMode="auto">
              <a:xfrm>
                <a:off x="1704" y="3456"/>
                <a:ext cx="852" cy="384"/>
                <a:chOff x="1704" y="3456"/>
                <a:chExt cx="852" cy="384"/>
              </a:xfrm>
            </p:grpSpPr>
            <p:sp>
              <p:nvSpPr>
                <p:cNvPr id="21564" name="Rectangle 134"/>
                <p:cNvSpPr>
                  <a:spLocks noChangeArrowheads="1"/>
                </p:cNvSpPr>
                <p:nvPr/>
              </p:nvSpPr>
              <p:spPr bwMode="auto">
                <a:xfrm>
                  <a:off x="1747" y="3456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1.55</a:t>
                  </a:r>
                </a:p>
              </p:txBody>
            </p:sp>
            <p:sp>
              <p:nvSpPr>
                <p:cNvPr id="21565" name="Rectangle 135"/>
                <p:cNvSpPr>
                  <a:spLocks noChangeArrowheads="1"/>
                </p:cNvSpPr>
                <p:nvPr/>
              </p:nvSpPr>
              <p:spPr bwMode="auto">
                <a:xfrm>
                  <a:off x="1704" y="3456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58" name="Group 136"/>
              <p:cNvGrpSpPr>
                <a:grpSpLocks/>
              </p:cNvGrpSpPr>
              <p:nvPr/>
            </p:nvGrpSpPr>
            <p:grpSpPr bwMode="auto">
              <a:xfrm>
                <a:off x="2556" y="3456"/>
                <a:ext cx="852" cy="384"/>
                <a:chOff x="2556" y="3456"/>
                <a:chExt cx="852" cy="384"/>
              </a:xfrm>
            </p:grpSpPr>
            <p:sp>
              <p:nvSpPr>
                <p:cNvPr id="21562" name="Rectangle 137"/>
                <p:cNvSpPr>
                  <a:spLocks noChangeArrowheads="1"/>
                </p:cNvSpPr>
                <p:nvPr/>
              </p:nvSpPr>
              <p:spPr bwMode="auto">
                <a:xfrm>
                  <a:off x="2599" y="3456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1.59</a:t>
                  </a:r>
                </a:p>
              </p:txBody>
            </p:sp>
            <p:sp>
              <p:nvSpPr>
                <p:cNvPr id="21563" name="Rectangle 138"/>
                <p:cNvSpPr>
                  <a:spLocks noChangeArrowheads="1"/>
                </p:cNvSpPr>
                <p:nvPr/>
              </p:nvSpPr>
              <p:spPr bwMode="auto">
                <a:xfrm>
                  <a:off x="2556" y="3456"/>
                  <a:ext cx="852" cy="384"/>
                </a:xfrm>
                <a:prstGeom prst="rect">
                  <a:avLst/>
                </a:prstGeom>
                <a:noFill/>
                <a:ln w="7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1559" name="Group 139"/>
              <p:cNvGrpSpPr>
                <a:grpSpLocks/>
              </p:cNvGrpSpPr>
              <p:nvPr/>
            </p:nvGrpSpPr>
            <p:grpSpPr bwMode="auto">
              <a:xfrm>
                <a:off x="3408" y="3456"/>
                <a:ext cx="852" cy="384"/>
                <a:chOff x="3408" y="3456"/>
                <a:chExt cx="852" cy="384"/>
              </a:xfrm>
            </p:grpSpPr>
            <p:sp>
              <p:nvSpPr>
                <p:cNvPr id="21560" name="Rectangle 140"/>
                <p:cNvSpPr>
                  <a:spLocks noChangeArrowheads="1"/>
                </p:cNvSpPr>
                <p:nvPr/>
              </p:nvSpPr>
              <p:spPr bwMode="auto">
                <a:xfrm>
                  <a:off x="3451" y="3456"/>
                  <a:ext cx="766" cy="384"/>
                </a:xfrm>
                <a:prstGeom prst="rect">
                  <a:avLst/>
                </a:prstGeom>
                <a:noFill/>
                <a:ln w="9525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800" baseline="-25000" dirty="0">
                      <a:latin typeface="Times New Roman" panose="02020603050405020304" pitchFamily="18" charset="0"/>
                      <a:ea typeface="楷体_GB2312" pitchFamily="49" charset="-122"/>
                    </a:rPr>
                    <a:t>1.66</a:t>
                  </a:r>
                </a:p>
              </p:txBody>
            </p:sp>
            <p:sp>
              <p:nvSpPr>
                <p:cNvPr id="21561" name="Rectangle 141"/>
                <p:cNvSpPr>
                  <a:spLocks noChangeArrowheads="1"/>
                </p:cNvSpPr>
                <p:nvPr/>
              </p:nvSpPr>
              <p:spPr bwMode="auto">
                <a:xfrm>
                  <a:off x="3408" y="3456"/>
                  <a:ext cx="852" cy="384"/>
                </a:xfrm>
                <a:prstGeom prst="rect">
                  <a:avLst/>
                </a:prstGeom>
                <a:noFill/>
                <a:ln w="28575" algn="ctr">
                  <a:solidFill>
                    <a:srgbClr val="3333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sp>
          <p:nvSpPr>
            <p:cNvPr id="21513" name="Rectangle 142"/>
            <p:cNvSpPr>
              <a:spLocks noChangeArrowheads="1"/>
            </p:cNvSpPr>
            <p:nvPr/>
          </p:nvSpPr>
          <p:spPr bwMode="auto">
            <a:xfrm>
              <a:off x="-3" y="-3"/>
              <a:ext cx="4266" cy="3846"/>
            </a:xfrm>
            <a:prstGeom prst="rect">
              <a:avLst/>
            </a:prstGeom>
            <a:noFill/>
            <a:ln w="28575">
              <a:solidFill>
                <a:srgbClr val="3333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1507" name="Line 143"/>
          <p:cNvSpPr>
            <a:spLocks noChangeShapeType="1"/>
          </p:cNvSpPr>
          <p:nvPr/>
        </p:nvSpPr>
        <p:spPr bwMode="auto">
          <a:xfrm>
            <a:off x="1185862" y="2819401"/>
            <a:ext cx="5546403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Line 144"/>
          <p:cNvSpPr>
            <a:spLocks noChangeShapeType="1"/>
          </p:cNvSpPr>
          <p:nvPr/>
        </p:nvSpPr>
        <p:spPr bwMode="auto">
          <a:xfrm flipV="1">
            <a:off x="6596064" y="1268760"/>
            <a:ext cx="15875" cy="1545879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45B82F-60A9-2F04-C9FB-C419DB1D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A7714C-C959-4888-89F7-FD3ACCD92AB5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8EB5EC-40FF-FF57-ED35-A211E2017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FF259D-890F-4F1E-AC84-9B337184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8304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704850" y="1095375"/>
            <a:ext cx="7683574" cy="2492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 Victim Cache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基本思想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和它从下一级存储器调数据的通路之间设置一个全相联的小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，用于存放被替换出去的块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称为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Victim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，以备重用。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/>
              </a:rPr>
              <a:t>工作过程</a:t>
            </a: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2532" name="Text Box 5"/>
          <p:cNvSpPr txBox="1">
            <a:spLocks noChangeArrowheads="1"/>
          </p:cNvSpPr>
          <p:nvPr/>
        </p:nvSpPr>
        <p:spPr bwMode="auto">
          <a:xfrm>
            <a:off x="795487" y="4450289"/>
            <a:ext cx="7561336" cy="18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对于减小冲突失效很有效，特别是对于小容量的直接映象数据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，作用尤其明显。例如，项数为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Victim Cache: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使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4KB 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的冲突失效减少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20%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～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90%</a:t>
            </a:r>
            <a:endParaRPr kumimoji="1" lang="en-US" altLang="zh-CN" sz="2400" b="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2533" name="Text Box 6"/>
          <p:cNvSpPr txBox="1">
            <a:spLocks noChangeArrowheads="1"/>
          </p:cNvSpPr>
          <p:nvPr/>
        </p:nvSpPr>
        <p:spPr bwMode="auto">
          <a:xfrm>
            <a:off x="611560" y="3952652"/>
            <a:ext cx="4607867" cy="49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2. 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Victim Cache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作用</a:t>
            </a:r>
            <a:endParaRPr kumimoji="1" lang="zh-CN" altLang="en-US" sz="2400" b="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4CA678-DA4B-4172-B60C-EDF34A1C8DC4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810546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5.3.3 Victim</a:t>
            </a:r>
            <a:r>
              <a:rPr kumimoji="0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endParaRPr kumimoji="0"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95297B-A7F3-2D4D-47B7-7B80D9DF2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4F9EE5-4ED5-4B7F-8E18-54DB75BA7016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F04C59-84BE-FAB7-AFC4-4A9B2DD1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446898-732D-7FD3-7830-51241922F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5065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030"/>
          <p:cNvSpPr txBox="1">
            <a:spLocks noChangeArrowheads="1"/>
          </p:cNvSpPr>
          <p:nvPr/>
        </p:nvSpPr>
        <p:spPr bwMode="auto">
          <a:xfrm>
            <a:off x="646113" y="1412875"/>
            <a:ext cx="2971800" cy="565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3. </a:t>
            </a:r>
            <a:r>
              <a:rPr kumimoji="1"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伪相联</a:t>
            </a:r>
            <a:r>
              <a:rPr kumimoji="1"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</a:p>
        </p:txBody>
      </p:sp>
      <p:sp>
        <p:nvSpPr>
          <p:cNvPr id="24579" name="Text Box 1042"/>
          <p:cNvSpPr txBox="1">
            <a:spLocks noChangeArrowheads="1"/>
          </p:cNvSpPr>
          <p:nvPr/>
        </p:nvSpPr>
        <p:spPr bwMode="auto">
          <a:xfrm>
            <a:off x="1042988" y="2205038"/>
            <a:ext cx="7921500" cy="2332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取直接映象及组相联两者的优点：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</a:t>
            </a:r>
            <a:r>
              <a:rPr kumimoji="1"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命中时间小，失效率低</a:t>
            </a:r>
            <a:endParaRPr kumimoji="1" lang="en-US" altLang="zh-CN" sz="280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缺点</a:t>
            </a:r>
            <a:r>
              <a:rPr kumimoji="1"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: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多种命中时间会使</a:t>
            </a:r>
            <a:r>
              <a:rPr kumimoji="1"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CPU</a:t>
            </a:r>
            <a:r>
              <a:rPr kumimoji="1"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流水线的设计复杂化</a:t>
            </a:r>
            <a:endParaRPr kumimoji="1" lang="en-US" altLang="zh-CN" sz="280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26996" name="Rectangle 1044"/>
          <p:cNvSpPr>
            <a:spLocks noChangeArrowheads="1"/>
          </p:cNvSpPr>
          <p:nvPr/>
        </p:nvSpPr>
        <p:spPr bwMode="auto">
          <a:xfrm>
            <a:off x="646113" y="231775"/>
            <a:ext cx="7381875" cy="6762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/>
          <a:p>
            <a:pPr>
              <a:defRPr/>
            </a:pPr>
            <a:endParaRPr lang="en-US" altLang="zh-CN" sz="36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B558DC-F862-4D28-8E2F-5C82A6E38CC8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810546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5.3.3 Victim</a:t>
            </a:r>
            <a:r>
              <a:rPr kumimoji="0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endParaRPr kumimoji="0"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8D9BD0-2AB2-BD93-8DBF-8A888C53C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9B2B71-4AFA-4331-9DBD-5FD0CDBB3289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54B3E1-2F18-FCEF-AE7E-08B27F6A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3276EC-3862-7C55-0666-DEDFA05B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0236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1026"/>
          <p:cNvSpPr txBox="1">
            <a:spLocks noChangeArrowheads="1"/>
          </p:cNvSpPr>
          <p:nvPr/>
        </p:nvSpPr>
        <p:spPr bwMode="auto">
          <a:xfrm>
            <a:off x="684213" y="1195388"/>
            <a:ext cx="7632700" cy="341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/>
              </a:rPr>
              <a:t>伪相联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/>
              </a:rPr>
              <a:t>基本思想及工作原理</a:t>
            </a: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在逻辑上把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直接映象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的空间上下平分为两个区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。对于任何一次访问，伪相联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先按直接映象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的方式去处理。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若命中，则其访问过程与直接映象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的情况一样。若不命中，则再到另一区相应的位置去查找。若找到，则发生了伪命中，否则就只好访问下一级存储器。</a:t>
            </a:r>
          </a:p>
        </p:txBody>
      </p:sp>
      <p:sp>
        <p:nvSpPr>
          <p:cNvPr id="25603" name="Text Box 1027"/>
          <p:cNvSpPr txBox="1">
            <a:spLocks noChangeArrowheads="1"/>
          </p:cNvSpPr>
          <p:nvPr/>
        </p:nvSpPr>
        <p:spPr bwMode="auto">
          <a:xfrm>
            <a:off x="684213" y="4797425"/>
            <a:ext cx="664845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5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伪相联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hlinkClick r:id="rId3" action="ppaction://hlinksldjump"/>
              </a:rPr>
              <a:t>快速命中与慢速命中</a:t>
            </a: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要保证绝大多数命中都是快速命中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791AD46-939D-4824-9235-149010DD0282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810546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5.3.3 Victim</a:t>
            </a:r>
            <a:r>
              <a:rPr kumimoji="0"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endParaRPr kumimoji="0"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B83701-7FF0-DE69-450D-E1230BDF1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07DF77-FC92-4530-A600-56D6B83F8C9A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69F612-6A85-A777-DA49-CA233C5D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7F1035-4152-BD37-D5EE-00E746B3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6845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3"/>
          <p:cNvSpPr txBox="1">
            <a:spLocks noChangeArrowheads="1"/>
          </p:cNvSpPr>
          <p:nvPr/>
        </p:nvSpPr>
        <p:spPr bwMode="auto">
          <a:xfrm>
            <a:off x="755650" y="1268413"/>
            <a:ext cx="592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指令和数据都可以预取</a:t>
            </a:r>
          </a:p>
        </p:txBody>
      </p:sp>
      <p:sp>
        <p:nvSpPr>
          <p:cNvPr id="9219" name="Text Box 4"/>
          <p:cNvSpPr txBox="1">
            <a:spLocks noChangeArrowheads="1"/>
          </p:cNvSpPr>
          <p:nvPr/>
        </p:nvSpPr>
        <p:spPr bwMode="auto">
          <a:xfrm>
            <a:off x="755650" y="1863725"/>
            <a:ext cx="7345363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预取内容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既可放入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，也可放在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外缓冲器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中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例如：指令流缓冲器</a:t>
            </a:r>
          </a:p>
        </p:txBody>
      </p:sp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755650" y="2905125"/>
            <a:ext cx="7848600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预取效果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(1)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Joppi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的研究结果</a:t>
            </a:r>
          </a:p>
          <a:p>
            <a:pPr marL="800100" lvl="1" indent="-342900" eaLnBrk="1" hangingPunct="1">
              <a:lnSpc>
                <a:spcPct val="130000"/>
              </a:lnSpc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指令预取：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4KB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，直接映象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Cache,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块大小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16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字节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个块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的指令流缓冲器： 捕获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15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％～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25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％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的失效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4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个块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的指令流缓冲器： 捕获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50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％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16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个块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的指令流缓冲器：捕获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72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％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2C5C3E9-69C7-42E4-90CB-B339BDE7A419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810546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5.3.4 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硬件预取</a:t>
            </a:r>
            <a:endParaRPr kumimoji="0" lang="en-US" altLang="zh-CN" sz="3600" b="1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C1DB6C-AFCB-7AE9-C20D-098B0AD43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7B461A-F732-4FBA-89B2-74F4EB850A15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3AC790-D48E-CCA1-FA98-623FB6A9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D8A2B6-E4FA-2813-1219-3B9994A1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2157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/>
          <p:cNvSpPr txBox="1">
            <a:spLocks noChangeArrowheads="1"/>
          </p:cNvSpPr>
          <p:nvPr/>
        </p:nvSpPr>
        <p:spPr bwMode="auto">
          <a:xfrm>
            <a:off x="658813" y="1199883"/>
            <a:ext cx="7632700" cy="1134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数据预取：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4KB,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直接映象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Cache,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个数据流缓冲器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buSzPct val="100000"/>
            </a:pP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捕获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25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％的失效，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还可以采用多个数据流缓冲器</a:t>
            </a:r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658813" y="2481764"/>
            <a:ext cx="69342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(2)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Palacharla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和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Kessler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的研究结果</a:t>
            </a: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流缓冲器：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既能预取指令又能预取数据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对于两个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64KB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四路组相联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来说：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个流缓冲器能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捕获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50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％～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70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％的失效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kumimoji="1" lang="zh-CN" altLang="en-US" sz="2400" b="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42552" y="4764589"/>
            <a:ext cx="8402464" cy="1134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lvl="1">
              <a:lnSpc>
                <a:spcPct val="150000"/>
              </a:lnSpc>
              <a:buClr>
                <a:srgbClr val="40458C"/>
              </a:buClr>
              <a:buSzPct val="90000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）预取应利用存储器的空闲带宽，不能影响对正常不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628650" lvl="1">
              <a:lnSpc>
                <a:spcPct val="150000"/>
              </a:lnSpc>
              <a:buClr>
                <a:srgbClr val="40458C"/>
              </a:buClr>
              <a:buSzPct val="90000"/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命中的处理，否则可能会降低性能。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C9A7C9-7270-4F80-B34B-B1A4EA9F3AE4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810546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5.3.4  </a:t>
            </a:r>
            <a:r>
              <a:rPr kumimoji="0"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硬件预取</a:t>
            </a:r>
            <a:endParaRPr kumimoji="0"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CF5186-B3B8-26DB-1AAE-F59ECBF66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D768AA-AF4E-41BB-A4E0-B1E2764B77A0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10D2DF-F282-7D84-5816-FB97447ED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D0920E-9ABE-EAD2-56DE-88C0A3046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5583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476672"/>
            <a:ext cx="8320980" cy="1223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一组利用硬件预取后整体性能得到较大提高的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SPEC2000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程序的性能增益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（前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个为定点程序，其余为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个浮点程序）。 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13447"/>
              </p:ext>
            </p:extLst>
          </p:nvPr>
        </p:nvGraphicFramePr>
        <p:xfrm>
          <a:off x="245935" y="1916832"/>
          <a:ext cx="8652129" cy="3315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表" r:id="rId3" imgW="5533949" imgH="1828800" progId="MSGraph.Chart.8">
                  <p:embed/>
                </p:oleObj>
              </mc:Choice>
              <mc:Fallback>
                <p:oleObj name="图表" r:id="rId3" imgW="5533949" imgH="1828800" progId="MSGraph.Chart.8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35" y="1916832"/>
                        <a:ext cx="8652129" cy="33151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03093B-4169-F242-939A-79E1718F8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5F5176-9134-4F25-AA78-20818C001EA1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9EE309-C73F-9677-4B09-AA088C313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453D2D-55A2-3517-054C-65370B086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6126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434584" y="1577331"/>
            <a:ext cx="8208961" cy="4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14400" indent="-4572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FontTx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编译控制的预取类型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702000" indent="-3429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按照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预取数据所放的位置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，可把预取分为：</a:t>
            </a:r>
          </a:p>
          <a:p>
            <a:pPr lvl="1" eaLnBrk="1" hangingPunct="1">
              <a:lnSpc>
                <a:spcPct val="13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寄存器预取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：把数据取到寄存器中</a:t>
            </a:r>
          </a:p>
          <a:p>
            <a:pPr marL="800100" lvl="1" indent="-342900" eaLnBrk="1" hangingPunct="1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预取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 只将数据取到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中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702000" lvl="1" indent="-342900" eaLnBrk="1" hangingPunct="1">
              <a:lnSpc>
                <a:spcPct val="13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按照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预取的故障处理方式不同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，可把预取分为</a:t>
            </a:r>
            <a:r>
              <a:rPr lang="zh-CN" altLang="en-US" sz="2400" dirty="0"/>
              <a:t>：</a:t>
            </a: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故障性预取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：预取时，若出现虚地址故障或违反访问权限，就会发生异常。</a:t>
            </a:r>
          </a:p>
          <a:p>
            <a:pPr lvl="1" eaLnBrk="1" hangingPunct="1">
              <a:lnSpc>
                <a:spcPct val="130000"/>
              </a:lnSpc>
              <a:spcBef>
                <a:spcPts val="0"/>
              </a:spcBef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非故障性预取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：预取时，若出现虚地址故障或违反访问权限，并不会导致异常，只是转变为“不预取”。</a:t>
            </a: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485906" y="960577"/>
            <a:ext cx="8208962" cy="49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由编译器加入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预取指令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，在数据被用到之前发出预取请求。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6D77204-19CF-4CA7-BF24-48153D763EF4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186063"/>
            <a:ext cx="8229600" cy="810546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5.3.5 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编译器控制的预取</a:t>
            </a:r>
            <a:endParaRPr kumimoji="0" lang="en-US" altLang="zh-CN" sz="3600" b="1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53C340-AF69-4FF6-913D-41A8B1E43AB2}"/>
              </a:ext>
            </a:extLst>
          </p:cNvPr>
          <p:cNvSpPr/>
          <p:nvPr/>
        </p:nvSpPr>
        <p:spPr>
          <a:xfrm>
            <a:off x="201500" y="6062776"/>
            <a:ext cx="84420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5850" lvl="1" indent="-457200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本节假定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预取都是非故障性的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，也叫做非绑定预取。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0FCE6D-4B2E-518B-BB88-C2544434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46CAF4-17F0-48A4-8690-ED46B2E51AA1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D7B75D-85A2-7C35-3A9D-1A9A36410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212584-1545-1F79-F52B-F08792B6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67808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3"/>
          <p:cNvSpPr txBox="1">
            <a:spLocks noChangeArrowheads="1"/>
          </p:cNvSpPr>
          <p:nvPr/>
        </p:nvSpPr>
        <p:spPr bwMode="auto">
          <a:xfrm>
            <a:off x="683568" y="1250826"/>
            <a:ext cx="7345362" cy="1854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在预取数据的同时，处理器应能继续执行</a:t>
            </a:r>
            <a:endParaRPr kumimoji="1" lang="zh-CN" altLang="en-US" sz="2400" b="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702000" indent="-342900" eaLnBrk="1" hangingPunct="1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只有这样，预取才有意义。</a:t>
            </a:r>
          </a:p>
          <a:p>
            <a:pPr marL="702000" indent="-342900" eaLnBrk="1" hangingPunct="1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非阻塞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 (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非锁定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Cache)</a:t>
            </a:r>
            <a:endParaRPr kumimoji="1" lang="en-US" altLang="zh-CN" sz="2400" b="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827088" y="3411066"/>
            <a:ext cx="6553200" cy="1854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循环是预取优化的主要对象</a:t>
            </a:r>
          </a:p>
          <a:p>
            <a:pPr marL="702000" indent="-342900" eaLnBrk="1" hangingPunct="1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失效开销小时：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循环体展开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～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次</a:t>
            </a:r>
          </a:p>
          <a:p>
            <a:pPr marL="702000" indent="-342900" eaLnBrk="1" hangingPunct="1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失效开销大时：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循环体展开许多次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1E07CD7-B818-4F48-8D2C-DD5FA792F13E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810546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5.3.5 </a:t>
            </a:r>
            <a:r>
              <a:rPr kumimoji="0"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编译器控制的预取</a:t>
            </a:r>
            <a:endParaRPr kumimoji="0" lang="en-US" altLang="zh-CN" sz="3600" b="1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F78FB6-2623-067A-0E66-41B115AD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DE0B80-EE62-4794-914F-D844F523A38A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44237D-EEB9-E33A-FB22-ECE34DFB3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746EDB-7193-8E8D-5730-C9BAAB12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91417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86731" y="2780928"/>
            <a:ext cx="7776864" cy="2573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eaLnBrk="0" hangingPunct="0">
              <a:lnSpc>
                <a:spcPct val="130000"/>
              </a:lnSpc>
              <a:spcBef>
                <a:spcPct val="50000"/>
              </a:spcBef>
              <a:buClr>
                <a:srgbClr val="40458C"/>
              </a:buClr>
            </a:pP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5.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每次预取需要花费一条指令的开销</a:t>
            </a:r>
          </a:p>
          <a:p>
            <a:pPr marL="1085850" lvl="1" indent="-457200" eaLnBrk="0" hangingPunct="0">
              <a:lnSpc>
                <a:spcPct val="12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保证这种开销不超过预取所带来的收益</a:t>
            </a:r>
          </a:p>
          <a:p>
            <a:pPr marL="1085850" lvl="1" indent="-457200" eaLnBrk="0" hangingPunct="0">
              <a:lnSpc>
                <a:spcPct val="12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编译器可以通过把重点放在那些可能会导致不命中的访问上，使程序避免不必要的预取，从而较大程度地减少平均访存时间。</a:t>
            </a:r>
          </a:p>
        </p:txBody>
      </p:sp>
      <p:sp>
        <p:nvSpPr>
          <p:cNvPr id="4" name="矩形 3"/>
          <p:cNvSpPr/>
          <p:nvPr/>
        </p:nvSpPr>
        <p:spPr>
          <a:xfrm>
            <a:off x="899592" y="1360044"/>
            <a:ext cx="5905152" cy="1190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spcBef>
                <a:spcPct val="50000"/>
              </a:spcBef>
              <a:buClr>
                <a:srgbClr val="40458C"/>
              </a:buClr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4.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编译器控制预取的目的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702000" lvl="0" indent="-342900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使执行指令和读取数据能重叠执行。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B35058-52A1-4528-9D95-51DA6E1F1207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810546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5.3.5 </a:t>
            </a:r>
            <a:r>
              <a:rPr kumimoji="0"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编译器控制的预取</a:t>
            </a:r>
            <a:endParaRPr kumimoji="0" lang="en-US" altLang="zh-CN" sz="3600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9A5CBC-41A2-F57F-B0B9-B75FE86BD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6967B7-68F0-4E27-B2E0-C418076F2D0C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7369C5-BE1F-695F-E309-15BB1465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6317E9-F706-88D9-AB0B-DF111D6C1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3039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684213" y="1196975"/>
            <a:ext cx="7559675" cy="4486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例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5.7   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对于下面的程序，判断哪些访问可能会导致数据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失效。然后，加入预取指令以减少失效。最后，计算所执行的预取指令的条数以及通过预取避免的失效次数。假定：</a:t>
            </a:r>
          </a:p>
          <a:p>
            <a:pPr algn="just"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(1)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我们用的是一个容量为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8KB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、块大小为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16B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的直接  </a:t>
            </a:r>
          </a:p>
          <a:p>
            <a:pPr algn="just"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映象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，它采用写回法并且按写分配。</a:t>
            </a:r>
          </a:p>
          <a:p>
            <a:pPr algn="just"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(2) a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分别为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3×100(3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行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100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列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和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101×3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的双精度浮</a:t>
            </a:r>
          </a:p>
          <a:p>
            <a:pPr algn="just"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点数组，每个元素都是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个字节。当程序开始执行</a:t>
            </a:r>
          </a:p>
          <a:p>
            <a:pPr algn="just"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时，这些数据都不在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内。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998CDA-25D7-4584-B18C-E351A64C5CCE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810546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5.3.5 </a:t>
            </a:r>
            <a:r>
              <a:rPr kumimoji="0"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编译器控制的预取</a:t>
            </a:r>
            <a:endParaRPr kumimoji="0" lang="en-US" altLang="zh-CN" sz="3600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A40DFE-48B0-DF0C-3C07-46E15F47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FFBE79-666F-4F1E-BA54-F1CE87F6A2F6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FBE8C1-A38B-6BF8-F32F-C7156F34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74ECCF-DD63-BB50-590A-E9C478644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91400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258888" y="1268413"/>
            <a:ext cx="6534150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for 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 ;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&lt; 3 ;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1 )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for (j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 ; j &lt; 100 ; 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1 )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a[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b[j][0]×b[j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1][0];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611188" y="2636838"/>
            <a:ext cx="64770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解：</a:t>
            </a:r>
            <a:endParaRPr kumimoji="1" lang="zh-CN" altLang="en-US" sz="2400" b="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计算过程</a:t>
            </a:r>
            <a:endParaRPr kumimoji="1" lang="zh-CN" altLang="en-US" sz="2400" dirty="0">
              <a:solidFill>
                <a:srgbClr val="0033CC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失效情况</a:t>
            </a:r>
            <a:endParaRPr kumimoji="1" lang="zh-CN" altLang="en-US" sz="2400" dirty="0">
              <a:solidFill>
                <a:srgbClr val="0033CC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hlinkClick r:id="rId5" action="ppaction://program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总的失效次数＝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251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次 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6" action="ppaction://hlinksldjump"/>
              </a:rPr>
              <a:t>改进后的程序</a:t>
            </a: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692275" y="4941888"/>
            <a:ext cx="44196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失效情况</a:t>
            </a:r>
            <a:endParaRPr kumimoji="1" lang="zh-CN" altLang="en-US" sz="2400" dirty="0">
              <a:solidFill>
                <a:srgbClr val="0033CC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 b="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总的失效次数＝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19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次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389291-FA5B-4792-99FF-12FF79B9005F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810546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5.3.5 </a:t>
            </a:r>
            <a:r>
              <a:rPr kumimoji="0" lang="zh-CN" altLang="en-US" sz="36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编译器控制的预取</a:t>
            </a:r>
            <a:endParaRPr kumimoji="0" lang="en-US" altLang="zh-CN" sz="3600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FD76DF-7AC2-3CB7-7494-A546BA2F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66C566-B6B1-4147-8E41-B57370D357BC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43C14B-A995-E1BA-B99E-F97815A6C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68D14B-53AA-B980-B347-7A4195FB3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8220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755650" y="404813"/>
            <a:ext cx="7488238" cy="4634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例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5.8 </a:t>
            </a:r>
          </a:p>
          <a:p>
            <a:pPr eaLnBrk="1" hangingPunct="1">
              <a:lnSpc>
                <a:spcPct val="120000"/>
              </a:lnSpc>
              <a:spcBef>
                <a:spcPct val="80000"/>
              </a:spcBef>
            </a:pPr>
            <a:r>
              <a:rPr kumimoji="1" lang="en-US" altLang="zh-CN" sz="2400" dirty="0">
                <a:solidFill>
                  <a:srgbClr val="0033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在以下条件下，计算例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5.7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中所节约的时间：</a:t>
            </a: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(1)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假设预取可以被重叠或与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失效重叠执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行，从而能以最大的存储带宽传送数据。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(2)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不考虑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失效时，修改前的循环每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7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个时钟周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期循环一次。修改后的程序中，第一个预取循环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每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9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个时钟周期循环一次，而第二个预取循环每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个时钟周期循环一次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包括外层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for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循环的开销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(3)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一次失效需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100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个时钟周期。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D32412-9EF5-2C5C-3021-1FA28600C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2488BE-46C8-458B-B527-FB192D4914A4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253EB7-91E9-7DE4-0828-6F609F70A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2C459B-A623-97ED-FF89-9006159A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14208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684213" y="620688"/>
            <a:ext cx="74168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解：</a:t>
            </a:r>
            <a:endParaRPr kumimoji="1" lang="zh-CN" altLang="en-US" sz="2400" b="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b="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修改前：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循环时间＝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300×7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2100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失效开销＝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251×100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25100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2100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25100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27200</a:t>
            </a:r>
          </a:p>
        </p:txBody>
      </p:sp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755576" y="2996952"/>
            <a:ext cx="7416800" cy="271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修改后：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循环时间＝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100×9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200×8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2500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失效时间＝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(4+7)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100+8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1900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2500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1900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4400</a:t>
            </a:r>
          </a:p>
          <a:p>
            <a:pPr eaLnBrk="1" hangingPunct="1">
              <a:lnSpc>
                <a:spcPct val="120000"/>
              </a:lnSpc>
            </a:pP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加速比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27200/4400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6.2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3765C2-4FEE-88A0-B0AE-7C821C25F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73277D-6A00-4663-8633-0437D4984EAE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746335-5338-2A1A-F051-44D5AFBB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922DA2-EDF0-2444-4C72-FB6ABC8A9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23247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4"/>
          <p:cNvSpPr txBox="1">
            <a:spLocks noChangeArrowheads="1"/>
          </p:cNvSpPr>
          <p:nvPr/>
        </p:nvSpPr>
        <p:spPr bwMode="auto">
          <a:xfrm>
            <a:off x="323528" y="825705"/>
            <a:ext cx="6705600" cy="52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基本思想</a:t>
            </a:r>
            <a:endParaRPr kumimoji="1" lang="zh-CN" altLang="en-US" sz="2400" b="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8676" name="Text Box 5"/>
          <p:cNvSpPr txBox="1">
            <a:spLocks noChangeArrowheads="1"/>
          </p:cNvSpPr>
          <p:nvPr/>
        </p:nvSpPr>
        <p:spPr bwMode="auto">
          <a:xfrm>
            <a:off x="602449" y="1333927"/>
            <a:ext cx="814927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在编译时，对程序中的指令和数据进行重新组织，以降低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失效率。</a:t>
            </a:r>
            <a:endParaRPr kumimoji="1" lang="zh-CN" altLang="en-US" sz="2400" b="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24544" y="2276872"/>
            <a:ext cx="9076268" cy="4236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5850" lvl="1" indent="-457200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2.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可以重新组织程序而不影响程序的正确性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把一个程序中的过程重新排序，就可能会减少冲突不命中，从而降低指令不命中率。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714500" lvl="3" indent="-342900" eaLnBrk="1" hangingPunct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McFarling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研究了如何使用配置文件（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profile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）来进行这种优化。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714500" lvl="3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若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容量为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2K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字节，则缺失率降低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50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％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714500" lvl="3" indent="-342900" eaLnBrk="1" hangingPunct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若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容量为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8K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字节，则缺失率降低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75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％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714500" lvl="3" indent="-342900" eaLnBrk="1" hangingPunct="1">
              <a:lnSpc>
                <a:spcPct val="130000"/>
              </a:lnSpc>
              <a:buFont typeface="Wingdings" panose="05000000000000000000" pitchFamily="2" charset="2"/>
              <a:buChar char="ü"/>
            </a:pPr>
            <a:endParaRPr lang="zh-CN" altLang="en-US" sz="2000" dirty="0">
              <a:latin typeface="Times New Roman" panose="02020603050405020304" pitchFamily="18" charset="0"/>
            </a:endParaRPr>
          </a:p>
          <a:p>
            <a:pPr marL="1257300" lvl="2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endParaRPr lang="zh-CN" altLang="en-US" sz="20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CC7C3A5-9C81-4B21-A2E7-0B21F94CDFBD}"/>
              </a:ext>
            </a:extLst>
          </p:cNvPr>
          <p:cNvSpPr txBox="1">
            <a:spLocks noChangeArrowheads="1"/>
          </p:cNvSpPr>
          <p:nvPr/>
        </p:nvSpPr>
        <p:spPr>
          <a:xfrm>
            <a:off x="242806" y="163329"/>
            <a:ext cx="8229600" cy="810546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5.3.6 </a:t>
            </a:r>
            <a:r>
              <a:rPr kumimoji="0"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编译器优化</a:t>
            </a:r>
            <a:endParaRPr kumimoji="0"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AD6CEB-943C-58C7-F178-53A6175FE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682D9D-8B71-4B35-8CC4-B8B1267459E2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2B313B-0A1E-330F-BB1E-8241B3D2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0AD961-95B3-0027-1360-8A323F878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47783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539552" y="692696"/>
            <a:ext cx="7847013" cy="5638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6400" lvl="2" indent="-34290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如果编译器知道一个分支指令很可能会成功转移，那么它就可以通过以下两步来改善空间局部性：</a:t>
            </a:r>
          </a:p>
          <a:p>
            <a:pPr marL="1353600" lvl="3" indent="-342900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将转移目标处的基本块和紧跟着该分支指令后的基本块进行对调；</a:t>
            </a:r>
          </a:p>
          <a:p>
            <a:pPr marL="1353600" lvl="3" indent="-342900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把该分支指令换为操作语义相反的分支指令。</a:t>
            </a:r>
          </a:p>
          <a:p>
            <a:pPr marL="0" indent="0" eaLnBrk="1" hangingPunct="1">
              <a:buNone/>
            </a:pPr>
            <a:endParaRPr kumimoji="0" lang="en-US" altLang="zh-CN" sz="2000" b="0" dirty="0">
              <a:latin typeface="Times New Roman" panose="02020603050405020304" pitchFamily="18" charset="0"/>
            </a:endParaRPr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509414" y="3539530"/>
            <a:ext cx="8095034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3.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数据对存储位置的限制比指令的少，因此更便于优化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br>
              <a:rPr kumimoji="1" lang="zh-CN" altLang="en-US" sz="2400" dirty="0">
                <a:solidFill>
                  <a:srgbClr val="0033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kumimoji="1" lang="zh-CN" altLang="en-US" sz="2400" b="0" dirty="0">
                <a:solidFill>
                  <a:srgbClr val="0033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通过把数据重新组织，使一块数据被从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替换出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去之前，能最大限度利用其中的数据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访问次数最多</a:t>
            </a: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endParaRPr kumimoji="1" lang="en-US" altLang="zh-CN" sz="2400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AA988F-9DE6-0578-CAB2-3EDEE93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6CB53F-7D9D-4BC1-AA33-D88E88D678E2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3D0976-574F-170F-B8A5-F5DBA7BB8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0DB86E-32C7-182C-78B7-048344DCA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0426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7504" y="476672"/>
            <a:ext cx="8352928" cy="5677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5850" lvl="1" indent="-457200" eaLnBrk="1" hangingPunct="1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针对数据的编译优化技术包括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:</a:t>
            </a:r>
          </a:p>
          <a:p>
            <a:pPr marL="1085850" lvl="1" indent="-457200" eaLnBrk="1" hangingPunct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(1)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数组合并</a:t>
            </a:r>
          </a:p>
          <a:p>
            <a:pPr marL="14472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将本来相互独立的多个数组合并成为一个复合数组，以提高访问它们的局部性。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085850" lvl="1" indent="-457200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(2)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内外循环交换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085850" lvl="1" indent="-457200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(3)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循环融合</a:t>
            </a:r>
          </a:p>
          <a:p>
            <a:pPr marL="144720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将若干个独立的循环融合为单个的循环。这些循环访问同样的数组，对相同的数据作不同的运算。这样能使得读入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的数据在被替换出去之前，能得到反复的使用 。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085850" lvl="1" indent="-457200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(4)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分块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A1EB45-2F6B-813F-4CEC-86C3A7C98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D7050B-85BB-4986-AC88-7D65B4E0F372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DE3530-3A1C-9EB5-FCC9-37C4860E7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7CED0E-299D-0FA7-7BC0-ABA5260B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2433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776883" y="476672"/>
            <a:ext cx="7559675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(1)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数组合并</a:t>
            </a:r>
            <a:b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举例：</a:t>
            </a:r>
          </a:p>
          <a:p>
            <a:pPr lvl="2" eaLnBrk="1" hangingPunct="1">
              <a:lnSpc>
                <a:spcPct val="125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/*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修改前 *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val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[SIZE];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int  key [SIZE];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1187624" y="3068960"/>
            <a:ext cx="6096000" cy="2555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914400" lvl="2" eaLnBrk="1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/*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修改后 *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struct merge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int </a:t>
            </a:r>
            <a:r>
              <a:rPr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int key 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} 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struct merge </a:t>
            </a:r>
            <a:r>
              <a:rPr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merged_array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[size];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D270F9-932A-B422-DF59-95A63D43F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3625CE-019D-40B1-B4D1-2ECC83497573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94F90D-4D68-F6A2-FB06-0E6134740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4527BB-2C0E-0E94-1703-9CF7F977A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70335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813073" y="692696"/>
            <a:ext cx="687705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内外循环交换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举例：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400" dirty="0">
                <a:latin typeface="+mj-ea"/>
                <a:ea typeface="+mj-ea"/>
                <a:cs typeface="Times New Roman" panose="02020603050405020304" pitchFamily="18" charset="0"/>
              </a:rPr>
              <a:t>       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/*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修改前 *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for (j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 ;j&lt;100 ;j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for 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 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&lt;5000 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x[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][j];</a:t>
            </a:r>
          </a:p>
        </p:txBody>
      </p: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813073" y="3356992"/>
            <a:ext cx="6877050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/*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修改后 *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for 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 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&lt;5000 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for (j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 ;j&lt;100 ;j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x[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][j];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0D752F-EBF6-166D-E137-4791CABA9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231E32-5B56-4663-982A-F7573C581C3C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4A4D70-64F4-891F-EA04-68F90020F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84E5F6-4EE3-748F-530B-AB317021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64431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611560" y="404664"/>
            <a:ext cx="6534150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循环融合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举例：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/*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修改前 *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for 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 ;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&lt;N 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for (j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 ; j&lt;N ; 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a[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1/b[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][j];</a:t>
            </a:r>
          </a:p>
        </p:txBody>
      </p:sp>
      <p:sp>
        <p:nvSpPr>
          <p:cNvPr id="31747" name="Text Box 5"/>
          <p:cNvSpPr txBox="1">
            <a:spLocks noChangeArrowheads="1"/>
          </p:cNvSpPr>
          <p:nvPr/>
        </p:nvSpPr>
        <p:spPr bwMode="auto">
          <a:xfrm>
            <a:off x="899592" y="3040281"/>
            <a:ext cx="6534150" cy="1384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for 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 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&lt;N 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for (j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 ; j&lt;N ;j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d[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][j];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FF9263-8231-7920-AEF6-B75E682FF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45872A-ED6F-49EB-BB9A-C5BFAC49ABF5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0A2655-C1D0-B68B-351F-FD79381BC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A061F3-5D38-9EE9-6E1C-97E62A617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63248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5"/>
          <p:cNvSpPr txBox="1">
            <a:spLocks noChangeArrowheads="1"/>
          </p:cNvSpPr>
          <p:nvPr/>
        </p:nvSpPr>
        <p:spPr bwMode="auto">
          <a:xfrm>
            <a:off x="1115616" y="708025"/>
            <a:ext cx="6057900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/*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修改后 *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for 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 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&lt; N 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for (j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 ;j &lt; N ;j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 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a[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1/b[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d[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kumimoji="1" lang="en-US" altLang="zh-CN" sz="24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7A4466-9166-8BB5-61ED-F6E8CAEC5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CD2AC2-3C3A-4028-A6CD-60ACC24F0AA1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A037733-1E5F-FF04-2351-F1EE6747D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B5B00E-59CF-7BA7-B2FF-5A737A73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12586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717550" y="1120332"/>
            <a:ext cx="7239000" cy="429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举例：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/*  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修改前  *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lnSpc>
                <a:spcPct val="11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for 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0;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&lt; N;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1)</a:t>
            </a:r>
          </a:p>
          <a:p>
            <a:pPr eaLnBrk="1" hangingPunct="1">
              <a:lnSpc>
                <a:spcPct val="11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for (j</a:t>
            </a: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0; j &lt; N; j</a:t>
            </a: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</a:t>
            </a: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1) {</a:t>
            </a:r>
          </a:p>
          <a:p>
            <a:pPr eaLnBrk="1" hangingPunct="1">
              <a:lnSpc>
                <a:spcPct val="11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r</a:t>
            </a: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0;</a:t>
            </a:r>
          </a:p>
          <a:p>
            <a:pPr eaLnBrk="1" hangingPunct="1">
              <a:lnSpc>
                <a:spcPct val="11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for (k</a:t>
            </a: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0; k &lt; N; k</a:t>
            </a: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</a:t>
            </a: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1) {</a:t>
            </a:r>
          </a:p>
          <a:p>
            <a:pPr eaLnBrk="1" hangingPunct="1">
              <a:lnSpc>
                <a:spcPct val="11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    r</a:t>
            </a: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</a:t>
            </a: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y[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][k]*z[k][j];</a:t>
            </a:r>
          </a:p>
          <a:p>
            <a:pPr eaLnBrk="1" hangingPunct="1">
              <a:lnSpc>
                <a:spcPct val="11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}</a:t>
            </a:r>
          </a:p>
          <a:p>
            <a:pPr eaLnBrk="1" hangingPunct="1">
              <a:lnSpc>
                <a:spcPct val="11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x[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][j]</a:t>
            </a: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r;</a:t>
            </a:r>
          </a:p>
          <a:p>
            <a:pPr eaLnBrk="1" hangingPunct="1">
              <a:lnSpc>
                <a:spcPct val="115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}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1331640" y="5454479"/>
            <a:ext cx="4800600" cy="904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hlinkClick r:id="rId3" action="ppaction://hlinksldjump"/>
              </a:rPr>
              <a:t>计算过程</a:t>
            </a:r>
            <a:endParaRPr kumimoji="1" lang="zh-CN" altLang="en-US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失效次数：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2N</a:t>
            </a:r>
            <a:r>
              <a:rPr kumimoji="1" lang="en-US" altLang="zh-CN" sz="2400" baseline="30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</a:t>
            </a:r>
            <a:r>
              <a:rPr kumimoji="1"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kumimoji="1" lang="en-US" altLang="zh-CN" sz="2400" baseline="30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endParaRPr kumimoji="1" lang="en-US" altLang="zh-CN" sz="2400" b="0" baseline="30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96972" y="172297"/>
            <a:ext cx="7239000" cy="93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(4) </a:t>
            </a:r>
            <a:r>
              <a:rPr kumimoji="1"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分块</a:t>
            </a:r>
          </a:p>
          <a:p>
            <a:pPr lvl="2" eaLnBrk="1" hangingPunct="1">
              <a:lnSpc>
                <a:spcPct val="120000"/>
              </a:lnSpc>
            </a:pPr>
            <a:r>
              <a:rPr kumimoji="1"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把对数组的整行或整列访问改为按块进行。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3D8FF1-7581-5934-5EE0-91CCE8A2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184974-3241-4E13-961F-0C2F1725232A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97C9681-65B4-ADB0-7C55-6D15F1FDF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1E0416-0FDB-B19B-0FAD-DF877590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404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899592" y="548680"/>
            <a:ext cx="7620000" cy="451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+mj-ea"/>
                <a:ea typeface="+mj-ea"/>
                <a:cs typeface="Times New Roman" panose="02020603050405020304" pitchFamily="18" charset="0"/>
              </a:rPr>
              <a:t> /* </a:t>
            </a:r>
            <a:r>
              <a:rPr kumimoji="1" lang="zh-CN" altLang="en-US" sz="2400" dirty="0">
                <a:latin typeface="+mj-ea"/>
                <a:ea typeface="+mj-ea"/>
                <a:cs typeface="Times New Roman" panose="02020603050405020304" pitchFamily="18" charset="0"/>
              </a:rPr>
              <a:t>修改后 *</a:t>
            </a:r>
            <a:r>
              <a:rPr kumimoji="1" lang="en-US" altLang="zh-CN" sz="2400" dirty="0">
                <a:latin typeface="+mj-ea"/>
                <a:ea typeface="+mj-ea"/>
                <a:cs typeface="Times New Roman" panose="02020603050405020304" pitchFamily="18" charset="0"/>
              </a:rPr>
              <a:t>/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for 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0;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jj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&lt; N;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B)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for 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kk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0;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kk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&lt; N;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kk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kk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B)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for 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0;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&lt; N;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for (j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jj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j &lt; min(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－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1,N); 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kumimoji="1" lang="en-US" altLang="zh-CN" sz="24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r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0;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for (k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kk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; k &lt; min(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kk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－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1,N); k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kumimoji="1" lang="en-US" altLang="zh-CN" sz="24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　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y[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][k]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z[k][j];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x[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x[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][j]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r;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1"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971550" y="5058767"/>
            <a:ext cx="72009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 sz="2400" dirty="0">
                <a:latin typeface="+mj-ea"/>
                <a:ea typeface="+mj-ea"/>
                <a:cs typeface="Times New Roman" panose="02020603050405020304" pitchFamily="18" charset="0"/>
                <a:hlinkClick r:id="rId3" action="ppaction://hlinksldjump"/>
              </a:rPr>
              <a:t>计算过程</a:t>
            </a:r>
            <a:endParaRPr kumimoji="1" lang="zh-CN" altLang="en-US" sz="24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</a:pPr>
            <a:r>
              <a:rPr kumimoji="1" lang="zh-CN" altLang="en-US" sz="2400" dirty="0">
                <a:latin typeface="+mj-ea"/>
                <a:ea typeface="+mj-ea"/>
                <a:cs typeface="Times New Roman" panose="02020603050405020304" pitchFamily="18" charset="0"/>
              </a:rPr>
              <a:t>失效次数</a:t>
            </a:r>
            <a:r>
              <a:rPr kumimoji="1"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2N</a:t>
            </a:r>
            <a:r>
              <a:rPr kumimoji="1" lang="en-US" altLang="zh-CN" sz="2400" baseline="30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/B+N</a:t>
            </a:r>
            <a:r>
              <a:rPr kumimoji="1" lang="en-US" altLang="zh-CN" sz="2400" baseline="30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27E941-CE1C-EE2B-B171-63D9E703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780D247-2D0B-4C80-89E2-E5E2D7E054FA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794C3B-D0BD-E0EA-211E-DC9B79D7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ACD4C6-98FD-3E20-75AA-799CF41F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8192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0768"/>
            <a:ext cx="3992962" cy="4480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DE243DCA-EAB2-4E70-9195-2EF7B89F6A12}"/>
              </a:ext>
            </a:extLst>
          </p:cNvPr>
          <p:cNvSpPr txBox="1">
            <a:spLocks noChangeArrowheads="1"/>
          </p:cNvSpPr>
          <p:nvPr/>
        </p:nvSpPr>
        <p:spPr>
          <a:xfrm>
            <a:off x="360363" y="24219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0"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5.3 </a:t>
            </a:r>
            <a:r>
              <a:rPr kumimoji="0" lang="zh-CN" altLang="en-US" sz="3600" b="1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降低</a:t>
            </a:r>
            <a:r>
              <a:rPr kumimoji="1" lang="en-US" altLang="zh-CN" sz="3600" b="1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Cache</a:t>
            </a:r>
            <a:r>
              <a:rPr kumimoji="0" lang="zh-CN" altLang="en-US" sz="3600" b="1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失效率的方法</a:t>
            </a:r>
            <a:endParaRPr kumimoji="0"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B136017-7D85-42DA-A5CE-69D14F569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2204864"/>
            <a:ext cx="5110336" cy="228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714500" indent="-4572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2" indent="0" eaLnBrk="1" hangingPunct="1">
              <a:buNone/>
            </a:pPr>
            <a:r>
              <a:rPr lang="en-US" altLang="zh-CN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＋”号：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表示改进了相应指标。</a:t>
            </a:r>
          </a:p>
          <a:p>
            <a:pPr marL="0" lvl="2" indent="0" eaLnBrk="1" hangingPunct="1">
              <a:buNone/>
            </a:pPr>
            <a:r>
              <a:rPr lang="zh-CN" altLang="en-US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“－”号：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表示它使该指标变差。</a:t>
            </a:r>
          </a:p>
          <a:p>
            <a:pPr marL="0" lvl="2" indent="0" eaLnBrk="1" hangingPunct="1">
              <a:buNone/>
            </a:pPr>
            <a:r>
              <a:rPr lang="zh-CN" altLang="en-US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空格栏：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表示它对该指标无影响。</a:t>
            </a:r>
          </a:p>
          <a:p>
            <a:pPr marL="0" lvl="2" indent="0" eaLnBrk="1" hangingPunct="1">
              <a:buNone/>
            </a:pPr>
            <a:r>
              <a:rPr lang="zh-CN" altLang="en-US" sz="2200" dirty="0">
                <a:solidFill>
                  <a:srgbClr val="D60093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复杂性：</a:t>
            </a:r>
            <a:r>
              <a:rPr lang="en-US" altLang="zh-CN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表示最容易，</a:t>
            </a:r>
            <a:r>
              <a:rPr lang="en-US" altLang="zh-CN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表示最复杂。 </a:t>
            </a:r>
            <a:endParaRPr lang="zh-CN" altLang="sv-SE" sz="22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AutoNum type="arabicPeriod" startAt="3"/>
            </a:pPr>
            <a:endParaRPr lang="en-US" altLang="zh-CN" sz="22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836667-A710-CC66-F299-F3462709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8D9F96-37AB-45B0-8D60-E1F1ECF16932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F3458C-2B10-621B-66DB-F6617BAC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3F513F-55DD-F0B4-93B5-C5833269D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95281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9804" name="Group 124"/>
          <p:cNvGraphicFramePr>
            <a:graphicFrameLocks noGrp="1"/>
          </p:cNvGraphicFramePr>
          <p:nvPr>
            <p:ph idx="1"/>
          </p:nvPr>
        </p:nvGraphicFramePr>
        <p:xfrm>
          <a:off x="179388" y="548680"/>
          <a:ext cx="8713787" cy="6046485"/>
        </p:xfrm>
        <a:graphic>
          <a:graphicData uri="http://schemas.openxmlformats.org/drawingml/2006/table">
            <a:tbl>
              <a:tblPr/>
              <a:tblGrid>
                <a:gridCol w="208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25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809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优化技术 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不命中率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不命中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开销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命中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时间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硬件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复杂度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E24C05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说 明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17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增加块大小 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0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实现容易；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Pentium 4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的第二级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采用了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128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字节的块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2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提高相联度 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1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被广泛采用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41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牺牲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AMD Athlon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采用了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个项的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Victim Cache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伪相联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 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MIPS R10000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的第二级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459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硬件预取指令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和数据 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～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3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许多机器预取指令，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UltraSPARC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Ⅲ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预取数据 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192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编译器控制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的预取 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3 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需同时采用非阻塞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；有几种微处理器提供了对这种预取的支持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4485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用编译技术减少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Cache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不命中次数 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+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0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E24C05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5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 kumimoji="1" sz="16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向软件提出了新要求；有些机器提供了编译器选项 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4796" name="Text Box 80"/>
          <p:cNvSpPr txBox="1">
            <a:spLocks noChangeArrowheads="1"/>
          </p:cNvSpPr>
          <p:nvPr/>
        </p:nvSpPr>
        <p:spPr bwMode="auto">
          <a:xfrm>
            <a:off x="2915816" y="-15570"/>
            <a:ext cx="3814539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  <a:defRPr kumimoji="1" sz="2400">
                <a:solidFill>
                  <a:srgbClr val="E24C05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q"/>
              <a:defRPr kumimoji="1" sz="20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65000"/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幼圆" pitchFamily="49" charset="-122"/>
                <a:ea typeface="幼圆" pitchFamily="49" charset="-122"/>
              </a:rPr>
              <a:t>降低</a:t>
            </a:r>
            <a:r>
              <a:rPr lang="en-US" altLang="zh-CN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幼圆" pitchFamily="49" charset="-122"/>
                <a:ea typeface="幼圆" pitchFamily="49" charset="-122"/>
              </a:rPr>
              <a:t>Cache</a:t>
            </a:r>
            <a:r>
              <a:rPr lang="zh-CN" altLang="en-US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幼圆" pitchFamily="49" charset="-122"/>
                <a:ea typeface="幼圆" pitchFamily="49" charset="-122"/>
              </a:rPr>
              <a:t>失效率的方法</a:t>
            </a:r>
          </a:p>
        </p:txBody>
      </p:sp>
    </p:spTree>
    <p:extLst>
      <p:ext uri="{BB962C8B-B14F-4D97-AF65-F5344CB8AC3E}">
        <p14:creationId xmlns:p14="http://schemas.microsoft.com/office/powerpoint/2010/main" val="2370226888"/>
      </p:ext>
    </p:extLst>
  </p:cSld>
  <p:clrMapOvr>
    <a:masterClrMapping/>
  </p:clrMapOvr>
  <p:transition>
    <p:pull dir="r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62372"/>
            <a:ext cx="8244408" cy="5733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B6D996-4621-E2A6-C98C-B54D076C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C09275-E4E9-476B-9519-CE8F10E7D237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482FB0-E35A-DA0D-A9A3-431761AC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DF26BF-0722-163B-702A-2E3CE425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63355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5-14">
            <a:hlinkClick r:id="rId2" action="ppaction://hlinksldjump"/>
            <a:extLst>
              <a:ext uri="{FF2B5EF4-FFF2-40B4-BE49-F238E27FC236}">
                <a16:creationId xmlns:a16="http://schemas.microsoft.com/office/drawing/2014/main" id="{16C3B2FB-A274-45F0-9FA0-1F83829FB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536" y="116632"/>
            <a:ext cx="8531009" cy="6462359"/>
          </a:xfrm>
          <a:prstGeom prst="rect">
            <a:avLst/>
          </a:prstGeom>
          <a:noFill/>
        </p:spPr>
      </p:pic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BB27758-1820-43D0-B1AF-238428F1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2B22AA-9ECA-4C30-BF72-586B27E6BE41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CACA3B-14B7-E44C-43E8-EFA3F423D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B25CDB-54C9-E82D-5B7F-1DD060BA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48154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B4F02F-B91D-A5A0-9979-37840E1A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AD32D1-426A-4CE6-8484-9A249C163325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7D0ED4-2D27-2039-7C5F-EA660CEEB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8DE882-097B-1977-482E-1058B890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76075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2513"/>
            <a:ext cx="9144000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1AEA7A28-86B1-4BAE-9B4C-68ACEA3A9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32656"/>
            <a:ext cx="78488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hlinkClick r:id="rId4" action="ppaction://hlinksldjump"/>
              </a:rPr>
              <a:t>表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hlinkClick r:id="rId4" action="ppaction://hlinksldjump"/>
              </a:rPr>
              <a:t>5-6  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各种块大小情况下的</a:t>
            </a:r>
            <a:r>
              <a:rPr kumimoji="1"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失效率</a:t>
            </a:r>
            <a:endParaRPr kumimoji="1"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7A1659-93ED-5816-3DD5-55D4AC54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920409-677B-480A-9837-73A0EC1E2459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0E5463-D412-492F-95AC-AE2BDC18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4E77E9-0E1F-6DE7-6666-D6DF920BF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64977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4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1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E8C4D7-36E2-4463-CF8F-35A0D3F1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B4D3ED-1B0F-4B6F-9D01-A944D68264E7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478F6E-A6B2-DB11-BF4B-132CB5EB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B543A4-7647-8C41-BB40-94C6881C1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25116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7338"/>
            <a:ext cx="9144000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EFFE2D8-FA3D-432E-8F40-CFF827FB06AD}"/>
              </a:ext>
            </a:extLst>
          </p:cNvPr>
          <p:cNvSpPr/>
          <p:nvPr/>
        </p:nvSpPr>
        <p:spPr>
          <a:xfrm>
            <a:off x="1619672" y="764704"/>
            <a:ext cx="56220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各种块大小情况下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Cache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的平均访存时间</a:t>
            </a:r>
            <a:endParaRPr lang="zh-CN" altLang="en-US" sz="240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E44BED-0636-3AEA-1565-B50003E21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68E420-1956-4084-A498-45C3ADFD9C2D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7773F0-836C-B25D-B80B-B004D393C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A778CB-26CC-347E-5A1E-AD1E4C78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2433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5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1" y="14089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F63DBB-CD12-98DE-F680-58BC4732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0C94D0-7533-4401-BF2E-AE2FBD643462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10745E-B102-5764-4B2F-14203079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FCBE3B-E0F6-8EEE-9AEC-E2C2789AE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86523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51"/>
          <a:stretch>
            <a:fillRect/>
          </a:stretch>
        </p:blipFill>
        <p:spPr bwMode="auto">
          <a:xfrm>
            <a:off x="683568" y="188640"/>
            <a:ext cx="762000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1E499CF-457C-4177-9BB8-773D51097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4941168"/>
            <a:ext cx="7547992" cy="966001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71A2576-4FDE-EE4C-18CC-ECB749A39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498CA3-FCBF-4D5B-8770-86B722E1D9FF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50E6EB-9631-EBA6-4F03-CB7210BC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4194B0-CEE9-8E03-DA07-01F0BAA8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31902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7700"/>
            <a:ext cx="9144000" cy="558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183CAD-5780-F7B8-00BD-9E48DBC1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713CA0-D07B-4ECA-9B0A-049E515B07E9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1B8C6E-1ABA-7299-B4AD-82589424D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4A0BC3-29C0-5410-562E-B5E1FECF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66198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6613"/>
            <a:ext cx="91440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F0216C-3F99-1E00-A279-425B0B307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9B4014-20F7-44A8-8223-3590C94F118C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D67DA-A650-45CF-7DDC-6600B475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47160D-978C-C0A8-ACD2-6133363D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6285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1075"/>
            <a:ext cx="9144000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D2108E2-9BBE-60C0-C599-F4A543753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710D41-2E15-484E-A0A1-10565AA0520D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25F082-D261-968A-39B6-9FC707FC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750B11-0A3B-38E4-0FD6-FA77C270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60732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1075"/>
            <a:ext cx="9144000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642902-FE6F-219F-45F9-DCA12981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CFFBA7-F757-405E-BD3B-82A66D1C48D6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C4BECA-D7E8-5B02-E847-1D60FCB3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C085E9-755F-AB71-7067-48ED736B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62565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5175"/>
            <a:ext cx="91440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D0778B6-C22B-C259-C695-6628E560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40B0B1-4C74-4B32-9E83-F2841BBB7372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4FF5D3-AC86-EBE8-FBFA-9452E5489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4BDC37-369F-63B6-3C87-2D84ED1CE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58466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6"/>
          <p:cNvGrpSpPr>
            <a:grpSpLocks/>
          </p:cNvGrpSpPr>
          <p:nvPr/>
        </p:nvGrpSpPr>
        <p:grpSpPr bwMode="auto">
          <a:xfrm>
            <a:off x="0" y="0"/>
            <a:ext cx="9144000" cy="5013325"/>
            <a:chOff x="0" y="527"/>
            <a:chExt cx="5760" cy="3039"/>
          </a:xfrm>
        </p:grpSpPr>
        <p:pic>
          <p:nvPicPr>
            <p:cNvPr id="2048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527"/>
              <a:ext cx="5760" cy="3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85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" y="618"/>
              <a:ext cx="226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6490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13325"/>
            <a:ext cx="91440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384543-24F2-8674-7A59-CBC2E0507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3EE93-78C7-4D1F-BD96-FF9FF15A497F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B7AABD-3D6D-2FB2-9DA8-AEF35AACE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81AF43-1FC2-82BC-3F96-56789CA3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205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4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4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1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FEB5B1-306E-AED2-E539-2E3BC9E6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C89BCB-93CE-428A-9D0C-37161B33E512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9723649-B099-3BE1-7CE5-1636F4F7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A92D53-019A-A497-E9DC-9EE291EC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68814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3375"/>
            <a:ext cx="9144000" cy="609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812872-5BBA-8799-F60E-29DE69B04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8A2AE5-FE4E-4199-ABD2-D904C8864484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0011AB-EC5C-2DC3-F27A-416CB7EBC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E8A632-6F79-514D-D277-1D6FA069A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8050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4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250"/>
            <a:ext cx="9144000" cy="563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1B1F08-8A9A-5AF3-C307-61DBA859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B06C0C5-A413-4A17-A338-5267899CAB56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68AF01-3170-589B-C4FE-723F4A56A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7E99B4-CED1-D029-3D07-5065074B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69001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827584" y="548680"/>
            <a:ext cx="7315200" cy="5815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for (j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＜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100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；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1) {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prefetch (b[j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7][0]); </a:t>
            </a:r>
            <a:b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/*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预取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7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次循环后所需的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b(j,0) 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*/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prefetch (a[0][j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7]); </a:t>
            </a:r>
            <a:b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/*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预取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7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次循环后所需的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a(0,j) 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*/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a[0][j]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b[j ][0] * b [j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1][0]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}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for (</a:t>
            </a:r>
            <a:r>
              <a:rPr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1; </a:t>
            </a:r>
            <a:r>
              <a:rPr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&lt; 3; </a:t>
            </a:r>
            <a:r>
              <a:rPr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1) {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for (j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0; j &lt; 100; j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prefetch(a[</a:t>
            </a:r>
            <a:r>
              <a:rPr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][j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7]);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/*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预取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7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次循环后所需的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a(</a:t>
            </a:r>
            <a:r>
              <a:rPr lang="en-US" altLang="zh-CN" sz="2400" dirty="0" err="1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i,j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 */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a[</a:t>
            </a:r>
            <a:r>
              <a:rPr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][j]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b[j][0] * b[j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1][0];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}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72E82C-D83F-FA45-6D1E-982EB79A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E3F06F-C48C-431B-96A6-E3251416DEEB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B39A82-111B-5B42-3879-280B219E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4FC8EA-3C0F-678A-45E4-07A31F6BB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09081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4675"/>
            <a:ext cx="914400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D48BCB5-1E27-0363-2956-0E93D8B68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6254C0-628E-4A61-807B-211609B1D543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E76AF4-560E-B15D-F8FE-330D38017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6E1EB7-EA45-02C4-5010-680DA106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0263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866" name="Picture 4" descr="5-26">
            <a:hlinkClick r:id="rId3" action="ppaction://hlinksldjump"/>
            <a:extLst>
              <a:ext uri="{FF2B5EF4-FFF2-40B4-BE49-F238E27FC236}">
                <a16:creationId xmlns:a16="http://schemas.microsoft.com/office/drawing/2014/main" id="{D3221C49-2CA6-4936-B1CF-F6B35084A50D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520" y="404664"/>
            <a:ext cx="8271102" cy="5321771"/>
          </a:xfrm>
          <a:noFill/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E08B0F-719F-AEBD-4AA9-F38208FED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094534-2FE8-489D-8CFB-3E6AF830D2CC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DA56D2-3658-7FCD-4523-864705EB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7B16BE-0A68-70A5-A735-63EE3EE46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52096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38" name="Picture 4" descr="5-25">
            <a:hlinkClick r:id="rId3" action="ppaction://hlinksldjump"/>
            <a:extLst>
              <a:ext uri="{FF2B5EF4-FFF2-40B4-BE49-F238E27FC236}">
                <a16:creationId xmlns:a16="http://schemas.microsoft.com/office/drawing/2014/main" id="{BE944761-077C-47D4-A291-5FB32D63ADAD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831" y="836712"/>
            <a:ext cx="7272337" cy="4678363"/>
          </a:xfrm>
          <a:noFill/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3D4DA8-FD38-8840-BB0B-845D5C35D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03CF12-1C1C-41A6-B2FC-309A3DB9AEF5}" type="datetime1">
              <a:rPr lang="zh-CN" altLang="en-US" smtClean="0"/>
              <a:t>2025/10/30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3EEF2A-A4D6-6460-A851-519ED0453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00ADFD-AA47-7626-9F67-206740C37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442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12843</TotalTime>
  <Words>5264</Words>
  <Application>Microsoft Office PowerPoint</Application>
  <PresentationFormat>全屏显示(4:3)</PresentationFormat>
  <Paragraphs>718</Paragraphs>
  <Slides>69</Slides>
  <Notes>42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81" baseType="lpstr">
      <vt:lpstr>黑体</vt:lpstr>
      <vt:lpstr>华文中宋</vt:lpstr>
      <vt:lpstr>楷体_GB2312</vt:lpstr>
      <vt:lpstr>宋体</vt:lpstr>
      <vt:lpstr>幼圆</vt:lpstr>
      <vt:lpstr>Arial</vt:lpstr>
      <vt:lpstr>Calibri</vt:lpstr>
      <vt:lpstr>Tahoma</vt:lpstr>
      <vt:lpstr>Times New Roman</vt:lpstr>
      <vt:lpstr>Wingdings</vt:lpstr>
      <vt:lpstr>Office 主题​​</vt:lpstr>
      <vt:lpstr>图表</vt:lpstr>
      <vt:lpstr>计算机体系结构</vt:lpstr>
      <vt:lpstr>Recap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 5 章  存储层次 </vt:lpstr>
      <vt:lpstr>5.3 降低Cache失效率的方法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suzi</dc:creator>
  <cp:lastModifiedBy>hw liu</cp:lastModifiedBy>
  <cp:revision>2158</cp:revision>
  <cp:lastPrinted>2022-11-26T02:42:36Z</cp:lastPrinted>
  <dcterms:created xsi:type="dcterms:W3CDTF">2113-01-01T00:00:00Z</dcterms:created>
  <dcterms:modified xsi:type="dcterms:W3CDTF">2025-10-30T12:21:53Z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2052-10.1.0.7520</vt:lpwstr>
  </property>
</Properties>
</file>