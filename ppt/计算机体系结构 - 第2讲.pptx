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1"/>
  </p:sldMasterIdLst>
  <p:notesMasterIdLst>
    <p:notesMasterId r:id="rId45"/>
  </p:notesMasterIdLst>
  <p:handoutMasterIdLst>
    <p:handoutMasterId r:id="rId46"/>
  </p:handoutMasterIdLst>
  <p:sldIdLst>
    <p:sldId id="256" r:id="rId2"/>
    <p:sldId id="1033" r:id="rId3"/>
    <p:sldId id="1036" r:id="rId4"/>
    <p:sldId id="1038" r:id="rId5"/>
    <p:sldId id="1126" r:id="rId6"/>
    <p:sldId id="1034" r:id="rId7"/>
    <p:sldId id="1106" r:id="rId8"/>
    <p:sldId id="1128" r:id="rId9"/>
    <p:sldId id="1107" r:id="rId10"/>
    <p:sldId id="1108" r:id="rId11"/>
    <p:sldId id="1109" r:id="rId12"/>
    <p:sldId id="1110" r:id="rId13"/>
    <p:sldId id="1111" r:id="rId14"/>
    <p:sldId id="1113" r:id="rId15"/>
    <p:sldId id="1112" r:id="rId16"/>
    <p:sldId id="1114" r:id="rId17"/>
    <p:sldId id="1115" r:id="rId18"/>
    <p:sldId id="1116" r:id="rId19"/>
    <p:sldId id="1117" r:id="rId20"/>
    <p:sldId id="1054" r:id="rId21"/>
    <p:sldId id="1055" r:id="rId22"/>
    <p:sldId id="280" r:id="rId23"/>
    <p:sldId id="282" r:id="rId24"/>
    <p:sldId id="1056" r:id="rId25"/>
    <p:sldId id="1101" r:id="rId26"/>
    <p:sldId id="1102" r:id="rId27"/>
    <p:sldId id="1206" r:id="rId28"/>
    <p:sldId id="1057" r:id="rId29"/>
    <p:sldId id="1207" r:id="rId30"/>
    <p:sldId id="1208" r:id="rId31"/>
    <p:sldId id="1058" r:id="rId32"/>
    <p:sldId id="1059" r:id="rId33"/>
    <p:sldId id="1060" r:id="rId34"/>
    <p:sldId id="1061" r:id="rId35"/>
    <p:sldId id="1063" r:id="rId36"/>
    <p:sldId id="1064" r:id="rId37"/>
    <p:sldId id="1065" r:id="rId38"/>
    <p:sldId id="1066" r:id="rId39"/>
    <p:sldId id="1067" r:id="rId40"/>
    <p:sldId id="1100" r:id="rId41"/>
    <p:sldId id="1076" r:id="rId42"/>
    <p:sldId id="284" r:id="rId43"/>
    <p:sldId id="285" r:id="rId44"/>
  </p:sldIdLst>
  <p:sldSz cx="9144000" cy="6858000" type="screen4x3"/>
  <p:notesSz cx="7099300" cy="10234613"/>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itchFamily="2" charset="-122"/>
        <a:ea typeface="宋体" pitchFamily="2" charset="-122"/>
        <a:cs typeface="+mn-cs"/>
      </a:defRPr>
    </a:lvl1pPr>
    <a:lvl2pPr marL="457200" algn="l" rtl="0" fontAlgn="base">
      <a:spcBef>
        <a:spcPct val="0"/>
      </a:spcBef>
      <a:spcAft>
        <a:spcPct val="0"/>
      </a:spcAft>
      <a:defRPr kumimoji="1" sz="800" b="1" kern="1200">
        <a:solidFill>
          <a:schemeClr val="tx1"/>
        </a:solidFill>
        <a:latin typeface="宋体" pitchFamily="2" charset="-122"/>
        <a:ea typeface="宋体" pitchFamily="2" charset="-122"/>
        <a:cs typeface="+mn-cs"/>
      </a:defRPr>
    </a:lvl2pPr>
    <a:lvl3pPr marL="914400" algn="l" rtl="0" fontAlgn="base">
      <a:spcBef>
        <a:spcPct val="0"/>
      </a:spcBef>
      <a:spcAft>
        <a:spcPct val="0"/>
      </a:spcAft>
      <a:defRPr kumimoji="1" sz="800" b="1" kern="1200">
        <a:solidFill>
          <a:schemeClr val="tx1"/>
        </a:solidFill>
        <a:latin typeface="宋体" pitchFamily="2" charset="-122"/>
        <a:ea typeface="宋体" pitchFamily="2" charset="-122"/>
        <a:cs typeface="+mn-cs"/>
      </a:defRPr>
    </a:lvl3pPr>
    <a:lvl4pPr marL="1371600" algn="l" rtl="0" fontAlgn="base">
      <a:spcBef>
        <a:spcPct val="0"/>
      </a:spcBef>
      <a:spcAft>
        <a:spcPct val="0"/>
      </a:spcAft>
      <a:defRPr kumimoji="1" sz="800" b="1" kern="1200">
        <a:solidFill>
          <a:schemeClr val="tx1"/>
        </a:solidFill>
        <a:latin typeface="宋体" pitchFamily="2" charset="-122"/>
        <a:ea typeface="宋体" pitchFamily="2" charset="-122"/>
        <a:cs typeface="+mn-cs"/>
      </a:defRPr>
    </a:lvl4pPr>
    <a:lvl5pPr marL="1828800" algn="l" rtl="0" fontAlgn="base">
      <a:spcBef>
        <a:spcPct val="0"/>
      </a:spcBef>
      <a:spcAft>
        <a:spcPct val="0"/>
      </a:spcAft>
      <a:defRPr kumimoji="1" sz="800" b="1" kern="1200">
        <a:solidFill>
          <a:schemeClr val="tx1"/>
        </a:solidFill>
        <a:latin typeface="宋体" pitchFamily="2" charset="-122"/>
        <a:ea typeface="宋体" pitchFamily="2" charset="-122"/>
        <a:cs typeface="+mn-cs"/>
      </a:defRPr>
    </a:lvl5pPr>
    <a:lvl6pPr marL="2286000" algn="l" defTabSz="914400" rtl="0" eaLnBrk="1" latinLnBrk="0" hangingPunct="1">
      <a:defRPr kumimoji="1" sz="800" b="1" kern="1200">
        <a:solidFill>
          <a:schemeClr val="tx1"/>
        </a:solidFill>
        <a:latin typeface="宋体" pitchFamily="2" charset="-122"/>
        <a:ea typeface="宋体" pitchFamily="2" charset="-122"/>
        <a:cs typeface="+mn-cs"/>
      </a:defRPr>
    </a:lvl6pPr>
    <a:lvl7pPr marL="2743200" algn="l" defTabSz="914400" rtl="0" eaLnBrk="1" latinLnBrk="0" hangingPunct="1">
      <a:defRPr kumimoji="1" sz="800" b="1" kern="1200">
        <a:solidFill>
          <a:schemeClr val="tx1"/>
        </a:solidFill>
        <a:latin typeface="宋体" pitchFamily="2" charset="-122"/>
        <a:ea typeface="宋体" pitchFamily="2" charset="-122"/>
        <a:cs typeface="+mn-cs"/>
      </a:defRPr>
    </a:lvl7pPr>
    <a:lvl8pPr marL="3200400" algn="l" defTabSz="914400" rtl="0" eaLnBrk="1" latinLnBrk="0" hangingPunct="1">
      <a:defRPr kumimoji="1" sz="800" b="1" kern="1200">
        <a:solidFill>
          <a:schemeClr val="tx1"/>
        </a:solidFill>
        <a:latin typeface="宋体" pitchFamily="2" charset="-122"/>
        <a:ea typeface="宋体" pitchFamily="2" charset="-122"/>
        <a:cs typeface="+mn-cs"/>
      </a:defRPr>
    </a:lvl8pPr>
    <a:lvl9pPr marL="3657600" algn="l" defTabSz="914400" rtl="0" eaLnBrk="1" latinLnBrk="0" hangingPunct="1">
      <a:defRPr kumimoji="1" sz="800" b="1" kern="1200">
        <a:solidFill>
          <a:schemeClr val="tx1"/>
        </a:solidFill>
        <a:latin typeface="宋体" pitchFamily="2" charset="-122"/>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CC"/>
    <a:srgbClr val="003399"/>
    <a:srgbClr val="3366FF"/>
    <a:srgbClr val="0066FF"/>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9" autoAdjust="0"/>
    <p:restoredTop sz="95220" autoAdjust="0"/>
  </p:normalViewPr>
  <p:slideViewPr>
    <p:cSldViewPr>
      <p:cViewPr varScale="1">
        <p:scale>
          <a:sx n="88" d="100"/>
          <a:sy n="88" d="100"/>
        </p:scale>
        <p:origin x="1068"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宋体" charset="-122"/>
                <a:ea typeface="宋体"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a:latin typeface="宋体" charset="-122"/>
                <a:ea typeface="宋体" charset="-122"/>
              </a:defRPr>
            </a:lvl1pPr>
          </a:lstStyle>
          <a:p>
            <a:pPr>
              <a:defRPr/>
            </a:pPr>
            <a:fld id="{5C9833CB-0817-44DC-BDA6-97E8269B2A4B}" type="datetimeFigureOut">
              <a:rPr lang="zh-CN" altLang="en-US"/>
              <a:pPr>
                <a:defRPr/>
              </a:pPr>
              <a:t>2025/9/10</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a:latin typeface="宋体" charset="-122"/>
                <a:ea typeface="宋体"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9048" tIns="49524" rIns="99048" bIns="49524" rtlCol="0" anchor="b"/>
          <a:lstStyle>
            <a:lvl1pPr algn="r">
              <a:defRPr sz="1300">
                <a:latin typeface="宋体" charset="-122"/>
                <a:ea typeface="宋体" charset="-122"/>
              </a:defRPr>
            </a:lvl1pPr>
          </a:lstStyle>
          <a:p>
            <a:pPr>
              <a:defRPr/>
            </a:pPr>
            <a:fld id="{78BBD55E-9969-4143-865D-25DDD65926A5}" type="slidenum">
              <a:rPr lang="zh-CN" altLang="en-US"/>
              <a:pPr>
                <a:defRPr/>
              </a:pPr>
              <a:t>‹#›</a:t>
            </a:fld>
            <a:endParaRPr lang="zh-CN" altLang="en-US"/>
          </a:p>
        </p:txBody>
      </p:sp>
    </p:spTree>
    <p:extLst>
      <p:ext uri="{BB962C8B-B14F-4D97-AF65-F5344CB8AC3E}">
        <p14:creationId xmlns:p14="http://schemas.microsoft.com/office/powerpoint/2010/main" val="1556620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spcBef>
                <a:spcPct val="20000"/>
              </a:spcBef>
              <a:defRPr sz="1300">
                <a:latin typeface="宋体" pitchFamily="2" charset="-122"/>
                <a:ea typeface="宋体"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spcBef>
                <a:spcPct val="20000"/>
              </a:spcBef>
              <a:defRPr sz="1300">
                <a:latin typeface="宋体" pitchFamily="2" charset="-122"/>
                <a:ea typeface="宋体"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46150" y="4860925"/>
            <a:ext cx="5207000"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spcBef>
                <a:spcPct val="20000"/>
              </a:spcBef>
              <a:defRPr sz="1300">
                <a:latin typeface="宋体" pitchFamily="2" charset="-122"/>
                <a:ea typeface="宋体"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spcBef>
                <a:spcPct val="20000"/>
              </a:spcBef>
              <a:defRPr sz="1300">
                <a:latin typeface="宋体" pitchFamily="2" charset="-122"/>
                <a:ea typeface="宋体" pitchFamily="2" charset="-122"/>
              </a:defRPr>
            </a:lvl1pPr>
          </a:lstStyle>
          <a:p>
            <a:pPr>
              <a:defRPr/>
            </a:pPr>
            <a:fld id="{E900B983-0E40-4C29-87BA-CE566D420E22}" type="slidenum">
              <a:rPr lang="zh-CN" altLang="en-US"/>
              <a:pPr>
                <a:defRPr/>
              </a:pPr>
              <a:t>‹#›</a:t>
            </a:fld>
            <a:endParaRPr lang="en-US" altLang="zh-CN"/>
          </a:p>
        </p:txBody>
      </p:sp>
    </p:spTree>
    <p:extLst>
      <p:ext uri="{BB962C8B-B14F-4D97-AF65-F5344CB8AC3E}">
        <p14:creationId xmlns:p14="http://schemas.microsoft.com/office/powerpoint/2010/main" val="30079329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pPr>
                <a:defRPr/>
              </a:pPr>
              <a:t>1</a:t>
            </a:fld>
            <a:endParaRPr lang="en-US" altLang="zh-CN"/>
          </a:p>
        </p:txBody>
      </p:sp>
    </p:spTree>
    <p:extLst>
      <p:ext uri="{BB962C8B-B14F-4D97-AF65-F5344CB8AC3E}">
        <p14:creationId xmlns:p14="http://schemas.microsoft.com/office/powerpoint/2010/main" val="3600598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extLst>
      <p:ext uri="{BB962C8B-B14F-4D97-AF65-F5344CB8AC3E}">
        <p14:creationId xmlns:p14="http://schemas.microsoft.com/office/powerpoint/2010/main" val="3854767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latin typeface="Arial" pitchFamily="34" charset="0"/>
              <a:ea typeface="ＭＳ Ｐゴシック" pitchFamily="34" charset="-128"/>
            </a:endParaRPr>
          </a:p>
        </p:txBody>
      </p:sp>
      <p:sp>
        <p:nvSpPr>
          <p:cNvPr id="563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600">
                <a:solidFill>
                  <a:schemeClr val="tx1"/>
                </a:solidFill>
                <a:latin typeface="Arial" pitchFamily="34" charset="0"/>
                <a:ea typeface="ＭＳ Ｐゴシック" pitchFamily="34" charset="-128"/>
              </a:defRPr>
            </a:lvl1pPr>
            <a:lvl2pPr marL="804763" indent="-309524" eaLnBrk="0" hangingPunct="0">
              <a:defRPr sz="2600">
                <a:solidFill>
                  <a:schemeClr val="tx1"/>
                </a:solidFill>
                <a:latin typeface="Arial" pitchFamily="34" charset="0"/>
                <a:ea typeface="ＭＳ Ｐゴシック" pitchFamily="34" charset="-128"/>
              </a:defRPr>
            </a:lvl2pPr>
            <a:lvl3pPr marL="1238098" indent="-247620" eaLnBrk="0" hangingPunct="0">
              <a:defRPr sz="2600">
                <a:solidFill>
                  <a:schemeClr val="tx1"/>
                </a:solidFill>
                <a:latin typeface="Arial" pitchFamily="34" charset="0"/>
                <a:ea typeface="ＭＳ Ｐゴシック" pitchFamily="34" charset="-128"/>
              </a:defRPr>
            </a:lvl3pPr>
            <a:lvl4pPr marL="1733337" indent="-247620" eaLnBrk="0" hangingPunct="0">
              <a:defRPr sz="2600">
                <a:solidFill>
                  <a:schemeClr val="tx1"/>
                </a:solidFill>
                <a:latin typeface="Arial" pitchFamily="34" charset="0"/>
                <a:ea typeface="ＭＳ Ｐゴシック" pitchFamily="34" charset="-128"/>
              </a:defRPr>
            </a:lvl4pPr>
            <a:lvl5pPr marL="2228576" indent="-247620" eaLnBrk="0" hangingPunct="0">
              <a:defRPr sz="2600">
                <a:solidFill>
                  <a:schemeClr val="tx1"/>
                </a:solidFill>
                <a:latin typeface="Arial" pitchFamily="34" charset="0"/>
                <a:ea typeface="ＭＳ Ｐゴシック" pitchFamily="34" charset="-128"/>
              </a:defRPr>
            </a:lvl5pPr>
            <a:lvl6pPr marL="2723815" indent="-247620" eaLnBrk="0" fontAlgn="base" hangingPunct="0">
              <a:spcBef>
                <a:spcPct val="0"/>
              </a:spcBef>
              <a:spcAft>
                <a:spcPct val="0"/>
              </a:spcAft>
              <a:defRPr sz="2600">
                <a:solidFill>
                  <a:schemeClr val="tx1"/>
                </a:solidFill>
                <a:latin typeface="Arial" pitchFamily="34" charset="0"/>
                <a:ea typeface="ＭＳ Ｐゴシック" pitchFamily="34" charset="-128"/>
              </a:defRPr>
            </a:lvl6pPr>
            <a:lvl7pPr marL="3219054" indent="-247620" eaLnBrk="0" fontAlgn="base" hangingPunct="0">
              <a:spcBef>
                <a:spcPct val="0"/>
              </a:spcBef>
              <a:spcAft>
                <a:spcPct val="0"/>
              </a:spcAft>
              <a:defRPr sz="2600">
                <a:solidFill>
                  <a:schemeClr val="tx1"/>
                </a:solidFill>
                <a:latin typeface="Arial" pitchFamily="34" charset="0"/>
                <a:ea typeface="ＭＳ Ｐゴシック" pitchFamily="34" charset="-128"/>
              </a:defRPr>
            </a:lvl7pPr>
            <a:lvl8pPr marL="3714293" indent="-247620" eaLnBrk="0" fontAlgn="base" hangingPunct="0">
              <a:spcBef>
                <a:spcPct val="0"/>
              </a:spcBef>
              <a:spcAft>
                <a:spcPct val="0"/>
              </a:spcAft>
              <a:defRPr sz="2600">
                <a:solidFill>
                  <a:schemeClr val="tx1"/>
                </a:solidFill>
                <a:latin typeface="Arial" pitchFamily="34" charset="0"/>
                <a:ea typeface="ＭＳ Ｐゴシック" pitchFamily="34" charset="-128"/>
              </a:defRPr>
            </a:lvl8pPr>
            <a:lvl9pPr marL="4209532" indent="-247620" eaLnBrk="0" fontAlgn="base" hangingPunct="0">
              <a:spcBef>
                <a:spcPct val="0"/>
              </a:spcBef>
              <a:spcAft>
                <a:spcPct val="0"/>
              </a:spcAft>
              <a:defRPr sz="2600">
                <a:solidFill>
                  <a:schemeClr val="tx1"/>
                </a:solidFill>
                <a:latin typeface="Arial" pitchFamily="34" charset="0"/>
                <a:ea typeface="ＭＳ Ｐゴシック" pitchFamily="34" charset="-128"/>
              </a:defRPr>
            </a:lvl9pPr>
          </a:lstStyle>
          <a:p>
            <a:pPr eaLnBrk="1" hangingPunct="1"/>
            <a:fld id="{99407F5E-F925-42AC-82BD-1436C2DDCEDB}" type="slidenum">
              <a:rPr lang="en-US" altLang="zh-CN" sz="1300">
                <a:solidFill>
                  <a:srgbClr val="000000"/>
                </a:solidFill>
              </a:rPr>
              <a:pPr eaLnBrk="1" hangingPunct="1"/>
              <a:t>4</a:t>
            </a:fld>
            <a:endParaRPr lang="en-US" altLang="zh-CN" sz="1300">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pPr>
                <a:defRPr/>
              </a:pPr>
              <a:t>8</a:t>
            </a:fld>
            <a:endParaRPr lang="en-US" altLang="zh-CN"/>
          </a:p>
        </p:txBody>
      </p:sp>
    </p:spTree>
    <p:extLst>
      <p:ext uri="{BB962C8B-B14F-4D97-AF65-F5344CB8AC3E}">
        <p14:creationId xmlns:p14="http://schemas.microsoft.com/office/powerpoint/2010/main" val="2845643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BF7DECDE-3A09-443D-A9A8-E65E07AE6C96}" type="slidenum">
              <a:rPr lang="en-US" altLang="zh-CN" sz="1300">
                <a:latin typeface="Times New Roman" panose="02020603050405020304" pitchFamily="18" charset="0"/>
              </a:rPr>
              <a:t>13</a:t>
            </a:fld>
            <a:endParaRPr lang="en-US" altLang="zh-CN" sz="1300">
              <a:latin typeface="Times New Roman" panose="02020603050405020304" pitchFamily="18" charset="0"/>
            </a:endParaRPr>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81E410B7-68FB-4733-AD8B-11606B7DA48B}" type="slidenum">
              <a:rPr lang="en-US" altLang="zh-CN" sz="1300">
                <a:latin typeface="Times New Roman" panose="02020603050405020304" pitchFamily="18" charset="0"/>
              </a:rPr>
              <a:t>18</a:t>
            </a:fld>
            <a:endParaRPr lang="en-US" altLang="zh-CN" sz="1300">
              <a:latin typeface="Times New Roman" panose="02020603050405020304" pitchFamily="18" charset="0"/>
            </a:endParaRPr>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en-US" altLang="zh-CN"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0BF19D31-CACE-4DF9-8F9D-EFB82C62799B}" type="slidenum">
              <a:rPr lang="en-US" altLang="zh-CN" sz="1300">
                <a:latin typeface="Times New Roman" panose="02020603050405020304" pitchFamily="18" charset="0"/>
              </a:rPr>
              <a:t>20</a:t>
            </a:fld>
            <a:endParaRPr lang="en-US" altLang="zh-CN" sz="1300">
              <a:latin typeface="Times New Roman" panose="02020603050405020304" pitchFamily="18" charset="0"/>
            </a:endParaRPr>
          </a:p>
        </p:txBody>
      </p:sp>
      <p:sp>
        <p:nvSpPr>
          <p:cNvPr id="27651" name="Rectangle 2"/>
          <p:cNvSpPr>
            <a:spLocks noGrp="1" noRot="1" noChangeAspect="1" noChangeArrowheads="1" noTextEdit="1"/>
          </p:cNvSpPr>
          <p:nvPr>
            <p:ph type="sldImg"/>
          </p:nvPr>
        </p:nvSpPr>
        <p:spPr/>
      </p:sp>
      <p:sp>
        <p:nvSpPr>
          <p:cNvPr id="27652"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87B35839-4B1E-4A4F-B0A5-2523B84BEE9A}" type="slidenum">
              <a:rPr lang="en-US" altLang="zh-CN" sz="1300">
                <a:solidFill>
                  <a:srgbClr val="000000"/>
                </a:solidFill>
                <a:latin typeface="Times New Roman" panose="02020603050405020304" pitchFamily="18" charset="0"/>
              </a:rPr>
              <a:t>21</a:t>
            </a:fld>
            <a:endParaRPr lang="en-US" altLang="zh-CN" sz="1300">
              <a:solidFill>
                <a:srgbClr val="000000"/>
              </a:solidFill>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Rot="1" noChangeAspect="1" noChangeArrowheads="1" noTextEdit="1"/>
          </p:cNvSpPr>
          <p:nvPr>
            <p:ph type="sldImg"/>
          </p:nvPr>
        </p:nvSpPr>
        <p:spPr>
          <a:xfrm>
            <a:off x="1401763" y="744538"/>
            <a:ext cx="4295775" cy="3221037"/>
          </a:xfrm>
          <a:ln/>
        </p:spPr>
      </p:sp>
      <p:sp>
        <p:nvSpPr>
          <p:cNvPr id="180227" name="Rectangle 3"/>
          <p:cNvSpPr>
            <a:spLocks noGrp="1" noChangeArrowheads="1"/>
          </p:cNvSpPr>
          <p:nvPr>
            <p:ph type="body" idx="1"/>
          </p:nvPr>
        </p:nvSpPr>
        <p:spPr>
          <a:noFill/>
        </p:spPr>
        <p:txBody>
          <a:bodyPr/>
          <a:lstStyle/>
          <a:p>
            <a:endParaRPr lang="zh-CN" altLang="en-US" sz="1100" b="0" i="0" kern="1200" dirty="0">
              <a:solidFill>
                <a:schemeClr val="tx1"/>
              </a:solidFill>
              <a:effectLst/>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684145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Rot="1" noChangeAspect="1" noChangeArrowheads="1" noTextEdit="1"/>
          </p:cNvSpPr>
          <p:nvPr>
            <p:ph type="sldImg"/>
          </p:nvPr>
        </p:nvSpPr>
        <p:spPr>
          <a:xfrm>
            <a:off x="1314450" y="744538"/>
            <a:ext cx="4486275" cy="3363912"/>
          </a:xfrm>
          <a:ln/>
        </p:spPr>
      </p:sp>
      <p:sp>
        <p:nvSpPr>
          <p:cNvPr id="180227" name="Rectangle 3"/>
          <p:cNvSpPr>
            <a:spLocks noGrp="1" noChangeArrowheads="1"/>
          </p:cNvSpPr>
          <p:nvPr>
            <p:ph type="body" idx="1"/>
          </p:nvPr>
        </p:nvSpPr>
        <p:spPr>
          <a:noFill/>
        </p:spPr>
        <p:txBody>
          <a:bodyPr/>
          <a:lstStyle/>
          <a:p>
            <a:pPr marL="0" indent="0">
              <a:buNone/>
            </a:pPr>
            <a:endParaRPr lang="zh-CN" altLang="en-US" dirty="0"/>
          </a:p>
        </p:txBody>
      </p:sp>
    </p:spTree>
    <p:extLst>
      <p:ext uri="{BB962C8B-B14F-4D97-AF65-F5344CB8AC3E}">
        <p14:creationId xmlns:p14="http://schemas.microsoft.com/office/powerpoint/2010/main" val="2324354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CE63AB8A-EB0B-4CA2-8580-9CAF4EC02BDE}" type="slidenum">
              <a:rPr lang="en-US" altLang="zh-CN" sz="1300">
                <a:solidFill>
                  <a:srgbClr val="000000"/>
                </a:solidFill>
                <a:latin typeface="Times New Roman" panose="02020603050405020304" pitchFamily="18" charset="0"/>
              </a:rPr>
              <a:t>24</a:t>
            </a:fld>
            <a:endParaRPr lang="en-US" altLang="zh-CN" sz="1300">
              <a:solidFill>
                <a:srgbClr val="000000"/>
              </a:solidFill>
              <a:latin typeface="Times New Roman" panose="02020603050405020304" pitchFamily="18" charset="0"/>
            </a:endParaRPr>
          </a:p>
        </p:txBody>
      </p:sp>
      <p:sp>
        <p:nvSpPr>
          <p:cNvPr id="29699" name="Rectangle 2"/>
          <p:cNvSpPr>
            <a:spLocks noGrp="1" noRot="1" noChangeAspect="1" noChangeArrowheads="1" noTextEdit="1"/>
          </p:cNvSpPr>
          <p:nvPr>
            <p:ph type="sldImg"/>
          </p:nvPr>
        </p:nvSpPr>
        <p:spPr/>
      </p:sp>
      <p:sp>
        <p:nvSpPr>
          <p:cNvPr id="29700"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幻灯片图像占位符 1"/>
          <p:cNvSpPr>
            <a:spLocks noGrp="1" noRot="1" noChangeAspect="1" noTextEdit="1"/>
          </p:cNvSpPr>
          <p:nvPr>
            <p:ph type="sldImg"/>
          </p:nvPr>
        </p:nvSpPr>
        <p:spPr/>
      </p:sp>
      <p:sp>
        <p:nvSpPr>
          <p:cNvPr id="179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79204" name="幻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83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55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fld id="{A348AE84-BB63-4543-B0B1-DC77555C8E09}" type="slidenum">
              <a:rPr lang="en-US" altLang="zh-CN" sz="1300">
                <a:latin typeface="Times New Roman" panose="02020603050405020304" pitchFamily="18" charset="0"/>
              </a:rPr>
              <a:t>25</a:t>
            </a:fld>
            <a:endParaRPr lang="en-US" altLang="zh-CN" sz="130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p:sp>
      <p:sp>
        <p:nvSpPr>
          <p:cNvPr id="1802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80228" name="幻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83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55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fld id="{3E3A5955-6F90-4C5F-958E-94395821E6DD}" type="slidenum">
              <a:rPr lang="en-US" altLang="zh-CN" sz="1300">
                <a:latin typeface="Times New Roman" panose="02020603050405020304" pitchFamily="18" charset="0"/>
              </a:rPr>
              <a:t>26</a:t>
            </a:fld>
            <a:endParaRPr lang="en-US" altLang="zh-CN" sz="130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p:cNvSpPr>
            <a:spLocks noGrp="1" noRot="1" noChangeAspect="1" noTextEdit="1"/>
          </p:cNvSpPr>
          <p:nvPr>
            <p:ph type="sldImg"/>
          </p:nvPr>
        </p:nvSpPr>
        <p:spPr/>
      </p:sp>
      <p:sp>
        <p:nvSpPr>
          <p:cNvPr id="181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1252" name="幻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83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55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fld id="{C7882963-8ACB-4938-8B42-7E39456D3077}" type="slidenum">
              <a:rPr lang="en-US" altLang="zh-CN" sz="1300">
                <a:latin typeface="Times New Roman" panose="02020603050405020304" pitchFamily="18" charset="0"/>
              </a:rPr>
              <a:t>27</a:t>
            </a:fld>
            <a:endParaRPr lang="en-US" altLang="zh-CN" sz="130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18CD8B18-99DB-45F4-936C-949C07168843}" type="slidenum">
              <a:rPr lang="en-US" altLang="zh-CN" sz="1300">
                <a:solidFill>
                  <a:srgbClr val="000000"/>
                </a:solidFill>
                <a:latin typeface="Times New Roman" panose="02020603050405020304" pitchFamily="18" charset="0"/>
              </a:rPr>
              <a:t>28</a:t>
            </a:fld>
            <a:endParaRPr lang="en-US" altLang="zh-CN" sz="1300">
              <a:solidFill>
                <a:srgbClr val="000000"/>
              </a:solidFill>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p:sp>
      <p:sp>
        <p:nvSpPr>
          <p:cNvPr id="1689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8964" name="幻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83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55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fld id="{9E70C7B7-F442-401D-B977-D4BBD5F96DA4}" type="slidenum">
              <a:rPr lang="en-US" altLang="zh-CN" sz="1300">
                <a:latin typeface="Times New Roman" panose="02020603050405020304" pitchFamily="18" charset="0"/>
              </a:rPr>
              <a:t>31</a:t>
            </a:fld>
            <a:endParaRPr lang="en-US" altLang="zh-CN" sz="130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39</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1A0C3AAE-3A6A-413F-9197-3F295CD43C33}" type="slidenum">
              <a:rPr lang="en-US" altLang="zh-CN" sz="1300">
                <a:solidFill>
                  <a:srgbClr val="000000"/>
                </a:solidFill>
                <a:latin typeface="Times New Roman" panose="02020603050405020304" pitchFamily="18" charset="0"/>
              </a:rPr>
              <a:t>40</a:t>
            </a:fld>
            <a:endParaRPr lang="en-US" altLang="zh-CN" sz="1300">
              <a:solidFill>
                <a:srgbClr val="000000"/>
              </a:solidFill>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p:sp>
      <p:sp>
        <p:nvSpPr>
          <p:cNvPr id="31748"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325563" y="765175"/>
            <a:ext cx="4448175" cy="3336925"/>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726844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25563" y="765175"/>
            <a:ext cx="4448175" cy="3336925"/>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00535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6F0D78C7-F08D-4302-A76C-8BE8BA6B1B62}" type="datetime1">
              <a:rPr lang="zh-CN" altLang="en-US" smtClean="0"/>
              <a:t>2025/9/10</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pPr>
                <a:defRPr/>
              </a:pPr>
              <a:t>‹#›</a:t>
            </a:fld>
            <a:endParaRPr lang="en-US" altLang="zh-CN"/>
          </a:p>
        </p:txBody>
      </p:sp>
    </p:spTree>
    <p:extLst>
      <p:ext uri="{BB962C8B-B14F-4D97-AF65-F5344CB8AC3E}">
        <p14:creationId xmlns:p14="http://schemas.microsoft.com/office/powerpoint/2010/main" val="764178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6B0320A-8465-4008-99CC-5DA47E19FAC0}" type="datetime1">
              <a:rPr lang="zh-CN" altLang="en-US" smtClean="0"/>
              <a:t>2025/9/10</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pPr>
                <a:defRPr/>
              </a:pPr>
              <a:t>‹#›</a:t>
            </a:fld>
            <a:endParaRPr lang="en-US" altLang="zh-CN"/>
          </a:p>
        </p:txBody>
      </p:sp>
    </p:spTree>
    <p:extLst>
      <p:ext uri="{BB962C8B-B14F-4D97-AF65-F5344CB8AC3E}">
        <p14:creationId xmlns:p14="http://schemas.microsoft.com/office/powerpoint/2010/main" val="1465433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C700151-AD34-4880-98BD-F51876405769}" type="datetime1">
              <a:rPr lang="zh-CN" altLang="en-US" smtClean="0"/>
              <a:t>2025/9/10</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pPr>
                <a:defRPr/>
              </a:pPr>
              <a:t>‹#›</a:t>
            </a:fld>
            <a:endParaRPr lang="en-US" altLang="zh-CN"/>
          </a:p>
        </p:txBody>
      </p:sp>
    </p:spTree>
    <p:extLst>
      <p:ext uri="{BB962C8B-B14F-4D97-AF65-F5344CB8AC3E}">
        <p14:creationId xmlns:p14="http://schemas.microsoft.com/office/powerpoint/2010/main" val="2815776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A430C0C4-CABE-4B6E-831C-F3D6E0C456AB}" type="datetime1">
              <a:rPr lang="zh-CN" altLang="en-US" smtClean="0"/>
              <a:t>2025/9/10</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pPr>
                <a:defRPr/>
              </a:pPr>
              <a:t>‹#›</a:t>
            </a:fld>
            <a:endParaRPr lang="en-US" altLang="zh-CN"/>
          </a:p>
        </p:txBody>
      </p:sp>
    </p:spTree>
    <p:extLst>
      <p:ext uri="{BB962C8B-B14F-4D97-AF65-F5344CB8AC3E}">
        <p14:creationId xmlns:p14="http://schemas.microsoft.com/office/powerpoint/2010/main" val="3257358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0A14D784-2F74-4F02-82AA-DC674F034146}" type="datetime1">
              <a:rPr lang="zh-CN" altLang="en-US" smtClean="0"/>
              <a:t>2025/9/10</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pPr>
                <a:defRPr/>
              </a:pPr>
              <a:t>‹#›</a:t>
            </a:fld>
            <a:endParaRPr lang="en-US" altLang="zh-CN"/>
          </a:p>
        </p:txBody>
      </p:sp>
    </p:spTree>
    <p:extLst>
      <p:ext uri="{BB962C8B-B14F-4D97-AF65-F5344CB8AC3E}">
        <p14:creationId xmlns:p14="http://schemas.microsoft.com/office/powerpoint/2010/main" val="1472424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8C00C5DD-4E89-4912-86A1-C86700ADFDDC}" type="datetime1">
              <a:rPr lang="zh-CN" altLang="en-US" smtClean="0"/>
              <a:t>2025/9/10</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pPr>
                <a:defRPr/>
              </a:pPr>
              <a:t>‹#›</a:t>
            </a:fld>
            <a:endParaRPr lang="en-US" altLang="zh-CN"/>
          </a:p>
        </p:txBody>
      </p:sp>
    </p:spTree>
    <p:extLst>
      <p:ext uri="{BB962C8B-B14F-4D97-AF65-F5344CB8AC3E}">
        <p14:creationId xmlns:p14="http://schemas.microsoft.com/office/powerpoint/2010/main" val="2066073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E35F60D-CB21-464D-8AE5-0A308D830E7F}" type="datetime1">
              <a:rPr lang="zh-CN" altLang="en-US" smtClean="0"/>
              <a:t>2025/9/10</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pPr>
                <a:defRPr/>
              </a:pPr>
              <a:t>‹#›</a:t>
            </a:fld>
            <a:endParaRPr lang="en-US" altLang="zh-CN"/>
          </a:p>
        </p:txBody>
      </p:sp>
    </p:spTree>
    <p:extLst>
      <p:ext uri="{BB962C8B-B14F-4D97-AF65-F5344CB8AC3E}">
        <p14:creationId xmlns:p14="http://schemas.microsoft.com/office/powerpoint/2010/main" val="1865620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D52AB94-85EC-431B-BC62-711D686AB7D3}" type="datetime1">
              <a:rPr lang="zh-CN" altLang="en-US" smtClean="0"/>
              <a:t>2025/9/10</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pPr>
                <a:defRPr/>
              </a:pPr>
              <a:t>‹#›</a:t>
            </a:fld>
            <a:endParaRPr lang="en-US" altLang="zh-CN"/>
          </a:p>
        </p:txBody>
      </p:sp>
    </p:spTree>
    <p:extLst>
      <p:ext uri="{BB962C8B-B14F-4D97-AF65-F5344CB8AC3E}">
        <p14:creationId xmlns:p14="http://schemas.microsoft.com/office/powerpoint/2010/main" val="39648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60225E8-1AB6-4622-AFDF-5EC1DA91C00E}" type="datetime1">
              <a:rPr lang="zh-CN" altLang="en-US" smtClean="0"/>
              <a:t>2025/9/10</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pPr>
                <a:defRPr/>
              </a:pPr>
              <a:t>‹#›</a:t>
            </a:fld>
            <a:endParaRPr lang="en-US" altLang="zh-CN"/>
          </a:p>
        </p:txBody>
      </p:sp>
    </p:spTree>
    <p:extLst>
      <p:ext uri="{BB962C8B-B14F-4D97-AF65-F5344CB8AC3E}">
        <p14:creationId xmlns:p14="http://schemas.microsoft.com/office/powerpoint/2010/main" val="82538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AFC7015-3345-458B-A554-A53A7BE6326C}" type="datetime1">
              <a:rPr lang="zh-CN" altLang="en-US" smtClean="0"/>
              <a:t>2025/9/10</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pPr>
                <a:defRPr/>
              </a:pPr>
              <a:t>‹#›</a:t>
            </a:fld>
            <a:endParaRPr lang="en-US" altLang="zh-CN"/>
          </a:p>
        </p:txBody>
      </p:sp>
    </p:spTree>
    <p:extLst>
      <p:ext uri="{BB962C8B-B14F-4D97-AF65-F5344CB8AC3E}">
        <p14:creationId xmlns:p14="http://schemas.microsoft.com/office/powerpoint/2010/main" val="1601173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9578530-0B3D-4523-A7F5-007235348195}" type="datetime1">
              <a:rPr lang="zh-CN" altLang="en-US" smtClean="0"/>
              <a:t>2025/9/10</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pPr>
                <a:defRPr/>
              </a:pPr>
              <a:t>‹#›</a:t>
            </a:fld>
            <a:endParaRPr lang="en-US" altLang="zh-CN"/>
          </a:p>
        </p:txBody>
      </p:sp>
    </p:spTree>
    <p:extLst>
      <p:ext uri="{BB962C8B-B14F-4D97-AF65-F5344CB8AC3E}">
        <p14:creationId xmlns:p14="http://schemas.microsoft.com/office/powerpoint/2010/main" val="2831188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0849">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
        <p:nvSpPr>
          <p:cNvPr id="2" name="日期占位符 1">
            <a:extLst>
              <a:ext uri="{FF2B5EF4-FFF2-40B4-BE49-F238E27FC236}">
                <a16:creationId xmlns:a16="http://schemas.microsoft.com/office/drawing/2014/main" id="{3244358E-9A68-B5B1-D6F2-0F5DCD42EB09}"/>
              </a:ext>
            </a:extLst>
          </p:cNvPr>
          <p:cNvSpPr>
            <a:spLocks noGrp="1"/>
          </p:cNvSpPr>
          <p:nvPr>
            <p:ph type="dt" sz="half" idx="11"/>
          </p:nvPr>
        </p:nvSpPr>
        <p:spPr>
          <a:xfrm>
            <a:off x="457200" y="6356350"/>
            <a:ext cx="2133600" cy="365125"/>
          </a:xfrm>
        </p:spPr>
        <p:txBody>
          <a:bodyPr/>
          <a:lstStyle/>
          <a:p>
            <a:pPr>
              <a:defRPr/>
            </a:pPr>
            <a:fld id="{CA88D082-101B-49B3-B872-DFEE0D5477DF}" type="datetime1">
              <a:rPr lang="zh-CN" altLang="en-US" smtClean="0"/>
              <a:t>2025/9/10</a:t>
            </a:fld>
            <a:endParaRPr lang="en-US" altLang="zh-CN"/>
          </a:p>
        </p:txBody>
      </p:sp>
      <p:sp>
        <p:nvSpPr>
          <p:cNvPr id="4" name="页脚占位符 3">
            <a:extLst>
              <a:ext uri="{FF2B5EF4-FFF2-40B4-BE49-F238E27FC236}">
                <a16:creationId xmlns:a16="http://schemas.microsoft.com/office/drawing/2014/main" id="{4DAE8A41-3F10-1962-88B7-837266A9D5F0}"/>
              </a:ext>
            </a:extLst>
          </p:cNvPr>
          <p:cNvSpPr>
            <a:spLocks noGrp="1"/>
          </p:cNvSpPr>
          <p:nvPr>
            <p:ph type="ftr" sz="quarter" idx="12"/>
          </p:nvPr>
        </p:nvSpPr>
        <p:spPr>
          <a:xfrm>
            <a:off x="3124200" y="6356350"/>
            <a:ext cx="2895600" cy="365125"/>
          </a:xfrm>
        </p:spPr>
        <p:txBody>
          <a:bodyPr/>
          <a:lstStyle/>
          <a:p>
            <a:pPr>
              <a:defRPr/>
            </a:pPr>
            <a:r>
              <a:rPr lang="zh-CN" altLang="en-US"/>
              <a:t>计算机体系结构</a:t>
            </a:r>
            <a:endParaRPr lang="en-US" altLang="zh-CN"/>
          </a:p>
        </p:txBody>
      </p:sp>
      <p:sp>
        <p:nvSpPr>
          <p:cNvPr id="5" name="灯片编号占位符 4">
            <a:extLst>
              <a:ext uri="{FF2B5EF4-FFF2-40B4-BE49-F238E27FC236}">
                <a16:creationId xmlns:a16="http://schemas.microsoft.com/office/drawing/2014/main" id="{166DE813-03C1-886E-0308-62DEA177BF7D}"/>
              </a:ext>
            </a:extLst>
          </p:cNvPr>
          <p:cNvSpPr>
            <a:spLocks noGrp="1"/>
          </p:cNvSpPr>
          <p:nvPr>
            <p:ph type="sldNum" sz="quarter" idx="13"/>
          </p:nvPr>
        </p:nvSpPr>
        <p:spPr>
          <a:xfrm>
            <a:off x="6553200" y="6356350"/>
            <a:ext cx="2133600" cy="365125"/>
          </a:xfrm>
        </p:spPr>
        <p:txBody>
          <a:bodyPr/>
          <a:lstStyle/>
          <a:p>
            <a:pPr>
              <a:defRPr/>
            </a:pPr>
            <a:fld id="{8BCAC33D-D29A-48B3-BCD6-381D3D720D26}" type="slidenum">
              <a:rPr lang="zh-CN" altLang="en-US" smtClean="0"/>
              <a:pPr>
                <a:defRPr/>
              </a:pPr>
              <a:t>‹#›</a:t>
            </a:fld>
            <a:endParaRPr lang="en-US" altLang="zh-CN"/>
          </a:p>
        </p:txBody>
      </p:sp>
    </p:spTree>
    <p:extLst>
      <p:ext uri="{BB962C8B-B14F-4D97-AF65-F5344CB8AC3E}">
        <p14:creationId xmlns:p14="http://schemas.microsoft.com/office/powerpoint/2010/main" val="868967613"/>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itchFamily="2" charset="-122"/>
                <a:ea typeface="宋体" pitchFamily="2" charset="-122"/>
              </a:defRPr>
            </a:lvl1pPr>
          </a:lstStyle>
          <a:p>
            <a:pPr>
              <a:defRPr/>
            </a:pPr>
            <a:fld id="{B5335D42-F6AE-4CAA-B3EA-E2B030344914}" type="datetime1">
              <a:rPr lang="zh-CN" altLang="en-US" smtClean="0"/>
              <a:t>2025/9/10</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itchFamily="2" charset="-122"/>
                <a:ea typeface="宋体" pitchFamily="2" charset="-122"/>
              </a:defRPr>
            </a:lvl1pPr>
          </a:lstStyle>
          <a:p>
            <a:pPr>
              <a:defRPr/>
            </a:pPr>
            <a:r>
              <a:rPr lang="zh-CN" altLang="en-US"/>
              <a:t>计算机体系结构</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itchFamily="2" charset="-122"/>
                <a:ea typeface="宋体" pitchFamily="2" charset="-122"/>
              </a:defRPr>
            </a:lvl1pPr>
          </a:lstStyle>
          <a:p>
            <a:pPr>
              <a:defRPr/>
            </a:pPr>
            <a:fld id="{2CE38698-3FD2-4DD5-AB6F-61E8F41EBC15}"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5.jpe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ppt/slides/ppt/slides/ppt/slides/player/Play.exe%20nta/xjd1402.nta%200%200%200%20800%20600%200%200%200%20314"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ppt/slides/ppt/slides/ppt/slides/player/Play.exe%20nta/xjd1401.nta%200%200%200%20800%20600%200%200%200%20314"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596230" y="1333501"/>
            <a:ext cx="5910263"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headEnd/>
            <a:tailEnd/>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第二讲</a:t>
            </a:r>
          </a:p>
        </p:txBody>
      </p:sp>
      <p:sp>
        <p:nvSpPr>
          <p:cNvPr id="2" name="日期占位符 1">
            <a:extLst>
              <a:ext uri="{FF2B5EF4-FFF2-40B4-BE49-F238E27FC236}">
                <a16:creationId xmlns:a16="http://schemas.microsoft.com/office/drawing/2014/main" id="{BD39B7BB-FC67-0545-7A71-17CCCA4888FE}"/>
              </a:ext>
            </a:extLst>
          </p:cNvPr>
          <p:cNvSpPr>
            <a:spLocks noGrp="1"/>
          </p:cNvSpPr>
          <p:nvPr>
            <p:ph type="dt" sz="half" idx="10"/>
          </p:nvPr>
        </p:nvSpPr>
        <p:spPr/>
        <p:txBody>
          <a:bodyPr/>
          <a:lstStyle/>
          <a:p>
            <a:pPr>
              <a:defRPr/>
            </a:pPr>
            <a:fld id="{94E24D09-674C-4986-B4C1-A9CB95F5E05B}" type="datetime1">
              <a:rPr lang="zh-CN" altLang="en-US" smtClean="0"/>
              <a:t>2025/9/10</a:t>
            </a:fld>
            <a:endParaRPr lang="en-US" altLang="zh-CN"/>
          </a:p>
        </p:txBody>
      </p:sp>
      <p:sp>
        <p:nvSpPr>
          <p:cNvPr id="4" name="灯片编号占位符 3">
            <a:extLst>
              <a:ext uri="{FF2B5EF4-FFF2-40B4-BE49-F238E27FC236}">
                <a16:creationId xmlns:a16="http://schemas.microsoft.com/office/drawing/2014/main" id="{BEEEF322-AFFD-90AB-C279-B2A2E5EB066C}"/>
              </a:ext>
            </a:extLst>
          </p:cNvPr>
          <p:cNvSpPr>
            <a:spLocks noGrp="1"/>
          </p:cNvSpPr>
          <p:nvPr>
            <p:ph type="sldNum" sz="quarter" idx="12"/>
          </p:nvPr>
        </p:nvSpPr>
        <p:spPr/>
        <p:txBody>
          <a:bodyPr/>
          <a:lstStyle/>
          <a:p>
            <a:pPr>
              <a:defRPr/>
            </a:pPr>
            <a:fld id="{8BCAC33D-D29A-48B3-BCD6-381D3D720D26}" type="slidenum">
              <a:rPr lang="zh-CN" altLang="en-US" smtClean="0"/>
              <a:pPr>
                <a:defRPr/>
              </a:pPr>
              <a:t>1</a:t>
            </a:fld>
            <a:endParaRPr lang="en-US" altLang="zh-CN"/>
          </a:p>
        </p:txBody>
      </p:sp>
      <p:sp>
        <p:nvSpPr>
          <p:cNvPr id="6" name="页脚占位符 5">
            <a:extLst>
              <a:ext uri="{FF2B5EF4-FFF2-40B4-BE49-F238E27FC236}">
                <a16:creationId xmlns:a16="http://schemas.microsoft.com/office/drawing/2014/main" id="{17B08336-A39F-58D6-7B82-01DA40E8CBD1}"/>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42875"/>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542925" y="1628800"/>
            <a:ext cx="8143875" cy="4158208"/>
          </a:xfrm>
        </p:spPr>
        <p:txBody>
          <a:bodyPr rtlCol="0">
            <a:normAutofit/>
          </a:bodyPr>
          <a:lstStyle/>
          <a:p>
            <a:pPr lvl="1" eaLnBrk="1" fontAlgn="auto" hangingPunct="1">
              <a:spcAft>
                <a:spcPts val="0"/>
              </a:spcAft>
              <a:defRPr/>
            </a:pPr>
            <a:r>
              <a:rPr lang="zh-CN" altLang="en-US" b="1" dirty="0">
                <a:latin typeface="+mj-lt"/>
              </a:rPr>
              <a:t>课程基本介绍</a:t>
            </a:r>
            <a:endParaRPr lang="en-US" altLang="zh-CN" b="1" dirty="0">
              <a:latin typeface="+mj-lt"/>
            </a:endParaRPr>
          </a:p>
          <a:p>
            <a:pPr lvl="1" eaLnBrk="1" fontAlgn="auto" hangingPunct="1">
              <a:spcAft>
                <a:spcPts val="0"/>
              </a:spcAft>
              <a:defRPr/>
            </a:pPr>
            <a:r>
              <a:rPr lang="zh-CN" altLang="en-US" b="1" dirty="0">
                <a:latin typeface="+mj-lt"/>
              </a:rPr>
              <a:t>课程的学习目的和内容</a:t>
            </a:r>
            <a:endParaRPr lang="en-US" altLang="zh-CN" b="1" dirty="0">
              <a:latin typeface="+mj-lt"/>
            </a:endParaRPr>
          </a:p>
          <a:p>
            <a:pPr marL="921600" lvl="1" indent="-356400" eaLnBrk="1" fontAlgn="auto" hangingPunct="1">
              <a:spcAft>
                <a:spcPts val="0"/>
              </a:spcAft>
              <a:buFont typeface="Wingdings" panose="05000000000000000000" pitchFamily="2" charset="2"/>
              <a:buChar char="ü"/>
              <a:defRPr/>
            </a:pPr>
            <a:r>
              <a:rPr lang="zh-CN" altLang="en-US" b="1" dirty="0">
                <a:latin typeface="+mj-lt"/>
              </a:rPr>
              <a:t>现代计算机体系结构的基本概念、设计思想和评价技术；典型计算机系统的基本结构及其工作原理等</a:t>
            </a:r>
            <a:endParaRPr lang="en-US" altLang="zh-CN" b="1" dirty="0">
              <a:latin typeface="+mj-lt"/>
            </a:endParaRPr>
          </a:p>
          <a:p>
            <a:pPr lvl="1" eaLnBrk="1" fontAlgn="auto" hangingPunct="1">
              <a:spcAft>
                <a:spcPts val="0"/>
              </a:spcAft>
              <a:defRPr/>
            </a:pPr>
            <a:r>
              <a:rPr lang="zh-CN" altLang="en-US" b="1" dirty="0">
                <a:latin typeface="+mj-lt"/>
              </a:rPr>
              <a:t>计算机体系结构的基本概念</a:t>
            </a:r>
            <a:endParaRPr lang="en-US" altLang="zh-CN" b="1" dirty="0">
              <a:latin typeface="+mj-lt"/>
            </a:endParaRPr>
          </a:p>
          <a:p>
            <a:pPr marL="921600" lvl="1" eaLnBrk="1" fontAlgn="auto" hangingPunct="1">
              <a:spcAft>
                <a:spcPts val="0"/>
              </a:spcAft>
              <a:buFont typeface="Wingdings" panose="05000000000000000000" pitchFamily="2" charset="2"/>
              <a:buChar char="ü"/>
              <a:defRPr/>
            </a:pPr>
            <a:r>
              <a:rPr lang="en-US" altLang="zh-CN" sz="2800" b="1" dirty="0">
                <a:latin typeface="+mj-lt"/>
              </a:rPr>
              <a:t> </a:t>
            </a:r>
            <a:r>
              <a:rPr lang="zh-CN" altLang="en-US" b="1" dirty="0">
                <a:latin typeface="+mj-lt"/>
              </a:rPr>
              <a:t>传统的程序员所看到的计算机属性</a:t>
            </a:r>
            <a:endParaRPr lang="en-US" altLang="zh-CN" sz="2800" b="1" dirty="0">
              <a:latin typeface="+mj-lt"/>
            </a:endParaRPr>
          </a:p>
          <a:p>
            <a:pPr marL="921600" lvl="1" eaLnBrk="1" fontAlgn="auto" hangingPunct="1">
              <a:spcAft>
                <a:spcPts val="0"/>
              </a:spcAft>
              <a:buFont typeface="Wingdings" panose="05000000000000000000" pitchFamily="2" charset="2"/>
              <a:buChar char="ü"/>
              <a:defRPr/>
            </a:pPr>
            <a:r>
              <a:rPr lang="en-US" altLang="zh-CN" b="1" dirty="0">
                <a:latin typeface="+mj-lt"/>
              </a:rPr>
              <a:t> </a:t>
            </a:r>
            <a:r>
              <a:rPr lang="en-US" altLang="ja-JP" dirty="0"/>
              <a:t> ISA + microarchitecture</a:t>
            </a:r>
            <a:endParaRPr lang="en-US" altLang="zh-CN" b="1" dirty="0">
              <a:latin typeface="+mj-lt"/>
            </a:endParaRPr>
          </a:p>
        </p:txBody>
      </p:sp>
      <p:sp>
        <p:nvSpPr>
          <p:cNvPr id="2" name="日期占位符 1">
            <a:extLst>
              <a:ext uri="{FF2B5EF4-FFF2-40B4-BE49-F238E27FC236}">
                <a16:creationId xmlns:a16="http://schemas.microsoft.com/office/drawing/2014/main" id="{D322573A-999A-C5A3-6F81-5B3044D58661}"/>
              </a:ext>
            </a:extLst>
          </p:cNvPr>
          <p:cNvSpPr>
            <a:spLocks noGrp="1"/>
          </p:cNvSpPr>
          <p:nvPr>
            <p:ph type="dt" sz="half" idx="10"/>
          </p:nvPr>
        </p:nvSpPr>
        <p:spPr/>
        <p:txBody>
          <a:bodyPr/>
          <a:lstStyle/>
          <a:p>
            <a:pPr>
              <a:defRPr/>
            </a:pPr>
            <a:fld id="{5A2866AF-BD6A-4B62-A040-A98DAAE9A4EA}" type="datetime1">
              <a:rPr lang="zh-CN" altLang="en-US" smtClean="0"/>
              <a:t>2025/9/10</a:t>
            </a:fld>
            <a:endParaRPr lang="en-US" altLang="zh-CN"/>
          </a:p>
        </p:txBody>
      </p:sp>
      <p:sp>
        <p:nvSpPr>
          <p:cNvPr id="5" name="灯片编号占位符 4">
            <a:extLst>
              <a:ext uri="{FF2B5EF4-FFF2-40B4-BE49-F238E27FC236}">
                <a16:creationId xmlns:a16="http://schemas.microsoft.com/office/drawing/2014/main" id="{A3603B2C-F395-7A4A-6980-ABB3B569F70F}"/>
              </a:ext>
            </a:extLst>
          </p:cNvPr>
          <p:cNvSpPr>
            <a:spLocks noGrp="1"/>
          </p:cNvSpPr>
          <p:nvPr>
            <p:ph type="sldNum" sz="quarter" idx="12"/>
          </p:nvPr>
        </p:nvSpPr>
        <p:spPr/>
        <p:txBody>
          <a:bodyPr/>
          <a:lstStyle/>
          <a:p>
            <a:pPr>
              <a:defRPr/>
            </a:pPr>
            <a:fld id="{8BCAC33D-D29A-48B3-BCD6-381D3D720D26}" type="slidenum">
              <a:rPr lang="zh-CN" altLang="en-US" smtClean="0"/>
              <a:pPr>
                <a:defRPr/>
              </a:pPr>
              <a:t>2</a:t>
            </a:fld>
            <a:endParaRPr lang="en-US" altLang="zh-CN"/>
          </a:p>
        </p:txBody>
      </p:sp>
      <p:sp>
        <p:nvSpPr>
          <p:cNvPr id="6" name="页脚占位符 5">
            <a:extLst>
              <a:ext uri="{FF2B5EF4-FFF2-40B4-BE49-F238E27FC236}">
                <a16:creationId xmlns:a16="http://schemas.microsoft.com/office/drawing/2014/main" id="{1DD65C83-07C1-51F9-C5B7-D0314E25109A}"/>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67544" y="116632"/>
            <a:ext cx="8229600" cy="1143000"/>
          </a:xfrm>
        </p:spPr>
        <p:txBody>
          <a:bodyPr>
            <a:normAutofit/>
          </a:bodyPr>
          <a:lstStyle/>
          <a:p>
            <a:pPr>
              <a:defRPr/>
            </a:pPr>
            <a:r>
              <a:rPr kumimoji="1" lang="zh-CN" altLang="en-US" sz="3600" b="1" dirty="0">
                <a:latin typeface="+mj-ea"/>
                <a:cs typeface="+mn-cs"/>
              </a:rPr>
              <a:t>程序员所看到的计算机的属性</a:t>
            </a:r>
          </a:p>
        </p:txBody>
      </p:sp>
      <p:sp>
        <p:nvSpPr>
          <p:cNvPr id="9219" name="Rectangle 3"/>
          <p:cNvSpPr>
            <a:spLocks noGrp="1" noChangeArrowheads="1"/>
          </p:cNvSpPr>
          <p:nvPr>
            <p:ph type="body" idx="4294967295"/>
          </p:nvPr>
        </p:nvSpPr>
        <p:spPr>
          <a:xfrm>
            <a:off x="395536" y="1268760"/>
            <a:ext cx="7776864" cy="5112568"/>
          </a:xfrm>
        </p:spPr>
        <p:txBody>
          <a:bodyPr/>
          <a:lstStyle/>
          <a:p>
            <a:pPr algn="just"/>
            <a:r>
              <a:rPr lang="zh-CN" altLang="en-US" sz="2600" b="1" dirty="0">
                <a:latin typeface="Times New Roman" panose="02020603050405020304" pitchFamily="18" charset="0"/>
                <a:cs typeface="Times New Roman" panose="02020603050405020304" pitchFamily="18" charset="0"/>
              </a:rPr>
              <a:t>对于通用寄存器型机器，这些属性主要是指：</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）数据表示：硬件能直接辨认和处理的数据类型</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）寻址规则：最小寻址单元、寻址方式及其表示</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）寄存器定义：寄存器的定义、数量和使用方式</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）指令系统：机器指令的操作类型和格式、指令间的排序和控制机构等</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Times New Roman" panose="02020603050405020304" pitchFamily="18" charset="0"/>
                <a:cs typeface="Times New Roman" panose="02020603050405020304" pitchFamily="18" charset="0"/>
              </a:rPr>
              <a:t>）中断系统：中断的类型和中断响应硬件的功能等</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6</a:t>
            </a:r>
            <a:r>
              <a:rPr lang="zh-CN" altLang="en-US" sz="2400" b="1" dirty="0">
                <a:latin typeface="Times New Roman" panose="02020603050405020304" pitchFamily="18" charset="0"/>
                <a:cs typeface="Times New Roman" panose="02020603050405020304" pitchFamily="18" charset="0"/>
              </a:rPr>
              <a:t>）机器工作状态的定义和切换：如管态和目态等</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7</a:t>
            </a:r>
            <a:r>
              <a:rPr lang="zh-CN" altLang="en-US" sz="2400" b="1" dirty="0">
                <a:latin typeface="Times New Roman" panose="02020603050405020304" pitchFamily="18" charset="0"/>
                <a:cs typeface="Times New Roman" panose="02020603050405020304" pitchFamily="18" charset="0"/>
              </a:rPr>
              <a:t>）存储系统：程序员可用的最大存储容量</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8</a:t>
            </a:r>
            <a:r>
              <a:rPr lang="zh-CN" altLang="en-US" sz="2400" b="1" dirty="0">
                <a:latin typeface="Times New Roman" panose="02020603050405020304" pitchFamily="18" charset="0"/>
                <a:cs typeface="Times New Roman" panose="02020603050405020304" pitchFamily="18" charset="0"/>
              </a:rPr>
              <a:t>）信息保护：信息保护方式和硬件的支持</a:t>
            </a:r>
          </a:p>
          <a:p>
            <a:pPr marL="0" indent="0" algn="just">
              <a:buFont typeface="Wingdings" pitchFamily="2" charset="2"/>
              <a:buNone/>
            </a:pP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9</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I/O</a:t>
            </a:r>
            <a:r>
              <a:rPr lang="zh-CN" altLang="en-US" sz="2400" b="1" dirty="0">
                <a:latin typeface="Times New Roman" panose="02020603050405020304" pitchFamily="18" charset="0"/>
                <a:cs typeface="Times New Roman" panose="02020603050405020304" pitchFamily="18" charset="0"/>
              </a:rPr>
              <a:t>结构：</a:t>
            </a:r>
            <a:r>
              <a:rPr lang="en-US" altLang="zh-CN" sz="2400" b="1" dirty="0">
                <a:latin typeface="Times New Roman" panose="02020603050405020304" pitchFamily="18" charset="0"/>
                <a:cs typeface="Times New Roman" panose="02020603050405020304" pitchFamily="18" charset="0"/>
              </a:rPr>
              <a:t>I/O</a:t>
            </a:r>
            <a:r>
              <a:rPr lang="zh-CN" altLang="en-US" sz="2400" b="1" dirty="0">
                <a:latin typeface="Times New Roman" panose="02020603050405020304" pitchFamily="18" charset="0"/>
                <a:cs typeface="Times New Roman" panose="02020603050405020304" pitchFamily="18" charset="0"/>
              </a:rPr>
              <a:t>寻址方式、数据传送的方式等</a:t>
            </a:r>
          </a:p>
        </p:txBody>
      </p:sp>
    </p:spTree>
    <p:extLst>
      <p:ext uri="{BB962C8B-B14F-4D97-AF65-F5344CB8AC3E}">
        <p14:creationId xmlns:p14="http://schemas.microsoft.com/office/powerpoint/2010/main" val="2358486941"/>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r>
              <a:rPr lang="en-US" altLang="zh-CN">
                <a:ea typeface="ＭＳ Ｐゴシック" pitchFamily="34" charset="-128"/>
              </a:rPr>
              <a:t>ISA vs. Microarchitecture</a:t>
            </a:r>
          </a:p>
        </p:txBody>
      </p:sp>
      <p:sp>
        <p:nvSpPr>
          <p:cNvPr id="55298" name="Content Placeholder 24"/>
          <p:cNvSpPr>
            <a:spLocks noGrp="1"/>
          </p:cNvSpPr>
          <p:nvPr>
            <p:ph sz="half" idx="1"/>
          </p:nvPr>
        </p:nvSpPr>
        <p:spPr>
          <a:xfrm>
            <a:off x="228600" y="1173163"/>
            <a:ext cx="6537325" cy="4876800"/>
          </a:xfrm>
        </p:spPr>
        <p:txBody>
          <a:bodyPr>
            <a:normAutofit lnSpcReduction="10000"/>
          </a:bodyPr>
          <a:lstStyle/>
          <a:p>
            <a:r>
              <a:rPr lang="en-US" altLang="zh-CN" dirty="0">
                <a:ea typeface="ＭＳ Ｐゴシック" pitchFamily="34" charset="-128"/>
              </a:rPr>
              <a:t>ISA</a:t>
            </a:r>
          </a:p>
          <a:p>
            <a:pPr lvl="1"/>
            <a:r>
              <a:rPr lang="en-US" altLang="zh-CN" dirty="0">
                <a:ea typeface="ＭＳ Ｐゴシック" pitchFamily="34" charset="-128"/>
              </a:rPr>
              <a:t>Agreed upon interface between software and hardware</a:t>
            </a:r>
          </a:p>
          <a:p>
            <a:pPr lvl="2"/>
            <a:r>
              <a:rPr lang="en-US" altLang="zh-CN" dirty="0">
                <a:ea typeface="ＭＳ Ｐゴシック" pitchFamily="34" charset="-128"/>
              </a:rPr>
              <a:t>SW/compiler assumes, HW promises</a:t>
            </a:r>
          </a:p>
          <a:p>
            <a:pPr lvl="1"/>
            <a:r>
              <a:rPr lang="en-US" altLang="zh-CN" dirty="0">
                <a:solidFill>
                  <a:srgbClr val="0000FF"/>
                </a:solidFill>
                <a:ea typeface="ＭＳ Ｐゴシック" pitchFamily="34" charset="-128"/>
              </a:rPr>
              <a:t>What the software writer needs to know to write and debug system/user programs </a:t>
            </a:r>
          </a:p>
          <a:p>
            <a:r>
              <a:rPr lang="en-US" altLang="zh-CN" dirty="0">
                <a:ea typeface="ＭＳ Ｐゴシック" pitchFamily="34" charset="-128"/>
              </a:rPr>
              <a:t>Microarchitecture(</a:t>
            </a:r>
            <a:r>
              <a:rPr lang="en-US" altLang="zh-CN" b="1" dirty="0" err="1">
                <a:ea typeface="ＭＳ Ｐゴシック" pitchFamily="34" charset="-128"/>
              </a:rPr>
              <a:t>uarch</a:t>
            </a:r>
            <a:r>
              <a:rPr lang="en-US" altLang="zh-CN" dirty="0">
                <a:ea typeface="ＭＳ Ｐゴシック" pitchFamily="34" charset="-128"/>
              </a:rPr>
              <a:t>)/Organization</a:t>
            </a:r>
          </a:p>
          <a:p>
            <a:pPr lvl="1"/>
            <a:r>
              <a:rPr lang="en-US" altLang="zh-CN" dirty="0">
                <a:ea typeface="ＭＳ Ｐゴシック" pitchFamily="34" charset="-128"/>
              </a:rPr>
              <a:t>Specific implementation of an ISA</a:t>
            </a:r>
          </a:p>
          <a:p>
            <a:pPr lvl="1"/>
            <a:r>
              <a:rPr lang="en-US" altLang="zh-CN" dirty="0">
                <a:ea typeface="ＭＳ Ｐゴシック" pitchFamily="34" charset="-128"/>
              </a:rPr>
              <a:t>Not visible to the software</a:t>
            </a:r>
          </a:p>
          <a:p>
            <a:r>
              <a:rPr lang="en-US" altLang="zh-CN" dirty="0">
                <a:ea typeface="ＭＳ Ｐゴシック" pitchFamily="34" charset="-128"/>
              </a:rPr>
              <a:t>Microprocessor</a:t>
            </a:r>
          </a:p>
          <a:p>
            <a:pPr lvl="1"/>
            <a:r>
              <a:rPr lang="en-US" altLang="zh-CN" b="1" dirty="0">
                <a:ea typeface="ＭＳ Ｐゴシック" pitchFamily="34" charset="-128"/>
              </a:rPr>
              <a:t>ISA, </a:t>
            </a:r>
            <a:r>
              <a:rPr lang="en-US" altLang="zh-CN" b="1" dirty="0" err="1">
                <a:ea typeface="ＭＳ Ｐゴシック" pitchFamily="34" charset="-128"/>
              </a:rPr>
              <a:t>uarch</a:t>
            </a:r>
            <a:r>
              <a:rPr lang="en-US" altLang="zh-CN" dirty="0">
                <a:ea typeface="ＭＳ Ｐゴシック" pitchFamily="34" charset="-128"/>
              </a:rPr>
              <a:t>, circuits</a:t>
            </a:r>
          </a:p>
          <a:p>
            <a:pPr lvl="1"/>
            <a:r>
              <a:rPr lang="ja-JP" altLang="en-US" dirty="0">
                <a:ea typeface="ＭＳ Ｐゴシック" pitchFamily="34" charset="-128"/>
              </a:rPr>
              <a:t>“</a:t>
            </a:r>
            <a:r>
              <a:rPr lang="en-US" altLang="ja-JP" dirty="0">
                <a:ea typeface="ＭＳ Ｐゴシック" pitchFamily="34" charset="-128"/>
              </a:rPr>
              <a:t>Architecture</a:t>
            </a:r>
            <a:r>
              <a:rPr lang="ja-JP" altLang="en-US" dirty="0">
                <a:ea typeface="ＭＳ Ｐゴシック" pitchFamily="34" charset="-128"/>
              </a:rPr>
              <a:t>”</a:t>
            </a:r>
            <a:r>
              <a:rPr lang="en-US" altLang="ja-JP" dirty="0">
                <a:ea typeface="ＭＳ Ｐゴシック" pitchFamily="34" charset="-128"/>
              </a:rPr>
              <a:t> = ISA + microarchitecture</a:t>
            </a:r>
            <a:endParaRPr lang="en-US" altLang="zh-CN" dirty="0">
              <a:ea typeface="ＭＳ Ｐゴシック" pitchFamily="34" charset="-128"/>
            </a:endParaRPr>
          </a:p>
        </p:txBody>
      </p:sp>
      <p:grpSp>
        <p:nvGrpSpPr>
          <p:cNvPr id="13" name="组合 12"/>
          <p:cNvGrpSpPr/>
          <p:nvPr/>
        </p:nvGrpSpPr>
        <p:grpSpPr>
          <a:xfrm>
            <a:off x="6765925" y="1884363"/>
            <a:ext cx="2126555" cy="2662237"/>
            <a:chOff x="6765925" y="1884363"/>
            <a:chExt cx="1946275" cy="2662237"/>
          </a:xfrm>
        </p:grpSpPr>
        <p:sp>
          <p:nvSpPr>
            <p:cNvPr id="14" name="Text Box 4"/>
            <p:cNvSpPr txBox="1">
              <a:spLocks noChangeArrowheads="1"/>
            </p:cNvSpPr>
            <p:nvPr/>
          </p:nvSpPr>
          <p:spPr bwMode="auto">
            <a:xfrm>
              <a:off x="6765925" y="3408363"/>
              <a:ext cx="1946275" cy="376237"/>
            </a:xfrm>
            <a:prstGeom prst="rect">
              <a:avLst/>
            </a:prstGeom>
            <a:solidFill>
              <a:srgbClr val="00FF00"/>
            </a:solidFill>
            <a:ln w="9525">
              <a:solidFill>
                <a:schemeClr val="tx1"/>
              </a:solidFill>
              <a:miter lim="800000"/>
              <a:headEnd/>
              <a:tailEnd/>
            </a:ln>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1800" dirty="0">
                  <a:solidFill>
                    <a:srgbClr val="000000"/>
                  </a:solidFill>
                  <a:cs typeface="Arial" pitchFamily="34" charset="0"/>
                </a:rPr>
                <a:t>Microarchitecture</a:t>
              </a:r>
            </a:p>
          </p:txBody>
        </p:sp>
        <p:sp>
          <p:nvSpPr>
            <p:cNvPr id="15" name="Text Box 5"/>
            <p:cNvSpPr txBox="1">
              <a:spLocks noChangeAspect="1" noChangeArrowheads="1"/>
            </p:cNvSpPr>
            <p:nvPr/>
          </p:nvSpPr>
          <p:spPr bwMode="auto">
            <a:xfrm>
              <a:off x="6765925" y="3027363"/>
              <a:ext cx="1946275" cy="376237"/>
            </a:xfrm>
            <a:prstGeom prst="rect">
              <a:avLst/>
            </a:prstGeom>
            <a:solidFill>
              <a:srgbClr val="FFFF00"/>
            </a:solidFill>
            <a:ln w="9525">
              <a:solidFill>
                <a:schemeClr val="tx1"/>
              </a:solidFill>
              <a:miter lim="800000"/>
              <a:headEnd/>
              <a:tailEnd/>
            </a:ln>
          </p:spPr>
          <p:txBody>
            <a:bodyPr wrap="none"/>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1800">
                  <a:solidFill>
                    <a:srgbClr val="000000"/>
                  </a:solidFill>
                  <a:cs typeface="Arial" pitchFamily="34" charset="0"/>
                </a:rPr>
                <a:t>ISA</a:t>
              </a:r>
            </a:p>
          </p:txBody>
        </p:sp>
        <p:sp>
          <p:nvSpPr>
            <p:cNvPr id="16" name="Text Box 6"/>
            <p:cNvSpPr txBox="1">
              <a:spLocks noChangeAspect="1" noChangeArrowheads="1"/>
            </p:cNvSpPr>
            <p:nvPr/>
          </p:nvSpPr>
          <p:spPr bwMode="auto">
            <a:xfrm>
              <a:off x="6765925" y="2646363"/>
              <a:ext cx="1946275" cy="376237"/>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1800" dirty="0">
                  <a:solidFill>
                    <a:srgbClr val="000000"/>
                  </a:solidFill>
                  <a:cs typeface="Arial" pitchFamily="34" charset="0"/>
                </a:rPr>
                <a:t>Program</a:t>
              </a:r>
            </a:p>
          </p:txBody>
        </p:sp>
        <p:sp>
          <p:nvSpPr>
            <p:cNvPr id="17" name="Text Box 7"/>
            <p:cNvSpPr txBox="1">
              <a:spLocks noChangeAspect="1" noChangeArrowheads="1"/>
            </p:cNvSpPr>
            <p:nvPr/>
          </p:nvSpPr>
          <p:spPr bwMode="auto">
            <a:xfrm>
              <a:off x="6765925" y="2265363"/>
              <a:ext cx="1946275" cy="376237"/>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1800">
                  <a:solidFill>
                    <a:srgbClr val="000000"/>
                  </a:solidFill>
                  <a:cs typeface="Arial" pitchFamily="34" charset="0"/>
                </a:rPr>
                <a:t>Algorithm</a:t>
              </a:r>
            </a:p>
          </p:txBody>
        </p:sp>
        <p:sp>
          <p:nvSpPr>
            <p:cNvPr id="18" name="Text Box 8"/>
            <p:cNvSpPr txBox="1">
              <a:spLocks noChangeAspect="1" noChangeArrowheads="1"/>
            </p:cNvSpPr>
            <p:nvPr/>
          </p:nvSpPr>
          <p:spPr bwMode="auto">
            <a:xfrm>
              <a:off x="6765925" y="1884363"/>
              <a:ext cx="1946275" cy="376237"/>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1800">
                  <a:solidFill>
                    <a:srgbClr val="000000"/>
                  </a:solidFill>
                  <a:cs typeface="Arial" pitchFamily="34" charset="0"/>
                </a:rPr>
                <a:t>Problem</a:t>
              </a:r>
            </a:p>
          </p:txBody>
        </p:sp>
        <p:sp>
          <p:nvSpPr>
            <p:cNvPr id="19" name="Text Box 9"/>
            <p:cNvSpPr txBox="1">
              <a:spLocks noChangeAspect="1" noChangeArrowheads="1"/>
            </p:cNvSpPr>
            <p:nvPr/>
          </p:nvSpPr>
          <p:spPr bwMode="auto">
            <a:xfrm>
              <a:off x="6765925" y="3789363"/>
              <a:ext cx="1946275" cy="376237"/>
            </a:xfrm>
            <a:prstGeom prst="rect">
              <a:avLst/>
            </a:prstGeom>
            <a:solidFill>
              <a:srgbClr val="00FF00"/>
            </a:solidFill>
            <a:ln w="9525">
              <a:solidFill>
                <a:schemeClr val="tx1"/>
              </a:solidFill>
              <a:miter lim="800000"/>
              <a:headEnd/>
              <a:tailEnd/>
            </a:ln>
          </p:spPr>
          <p:txBody>
            <a:bodyPr wrap="none"/>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1800">
                  <a:solidFill>
                    <a:srgbClr val="000000"/>
                  </a:solidFill>
                  <a:cs typeface="Arial" pitchFamily="34" charset="0"/>
                </a:rPr>
                <a:t>Circuits</a:t>
              </a:r>
            </a:p>
          </p:txBody>
        </p:sp>
        <p:sp>
          <p:nvSpPr>
            <p:cNvPr id="20" name="Text Box 10"/>
            <p:cNvSpPr txBox="1">
              <a:spLocks noChangeAspect="1" noChangeArrowheads="1"/>
            </p:cNvSpPr>
            <p:nvPr/>
          </p:nvSpPr>
          <p:spPr bwMode="auto">
            <a:xfrm>
              <a:off x="6765925" y="4170363"/>
              <a:ext cx="1946275" cy="376237"/>
            </a:xfrm>
            <a:prstGeom prst="rect">
              <a:avLst/>
            </a:prstGeom>
            <a:solidFill>
              <a:srgbClr val="00FF00"/>
            </a:solidFill>
            <a:ln w="9525">
              <a:solidFill>
                <a:schemeClr val="tx1"/>
              </a:solidFill>
              <a:miter lim="800000"/>
              <a:headEnd/>
              <a:tailEnd/>
            </a:ln>
          </p:spPr>
          <p:txBody>
            <a:bodyPr wrap="none"/>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1800">
                  <a:solidFill>
                    <a:srgbClr val="000000"/>
                  </a:solidFill>
                  <a:cs typeface="Arial" pitchFamily="34" charset="0"/>
                </a:rPr>
                <a:t>Electrons</a:t>
              </a:r>
            </a:p>
          </p:txBody>
        </p:sp>
      </p:grpSp>
      <p:sp>
        <p:nvSpPr>
          <p:cNvPr id="2" name="矩形 1"/>
          <p:cNvSpPr/>
          <p:nvPr/>
        </p:nvSpPr>
        <p:spPr>
          <a:xfrm>
            <a:off x="6209146" y="4725144"/>
            <a:ext cx="3059832" cy="1077218"/>
          </a:xfrm>
          <a:prstGeom prst="rect">
            <a:avLst/>
          </a:prstGeom>
        </p:spPr>
        <p:txBody>
          <a:bodyPr wrap="square">
            <a:spAutoFit/>
          </a:bodyPr>
          <a:lstStyle/>
          <a:p>
            <a:r>
              <a:rPr lang="en-US" altLang="zh-CN" sz="1600" dirty="0"/>
              <a:t>“Requirements Bottlenecks and Good Fortune Agents for Microprocessor Evolution”, Y. </a:t>
            </a:r>
            <a:r>
              <a:rPr lang="en-US" altLang="zh-CN" sz="1600" dirty="0" err="1"/>
              <a:t>Patt</a:t>
            </a:r>
            <a:r>
              <a:rPr lang="en-US" altLang="zh-CN" sz="1600" dirty="0"/>
              <a:t>-IEEE 2001</a:t>
            </a:r>
            <a:endParaRPr lang="zh-CN" altLang="en-US" sz="1600" dirty="0"/>
          </a:p>
        </p:txBody>
      </p:sp>
      <p:sp>
        <p:nvSpPr>
          <p:cNvPr id="3" name="日期占位符 2">
            <a:extLst>
              <a:ext uri="{FF2B5EF4-FFF2-40B4-BE49-F238E27FC236}">
                <a16:creationId xmlns:a16="http://schemas.microsoft.com/office/drawing/2014/main" id="{07510730-797A-00FC-26C1-CD6BAF1CC7B6}"/>
              </a:ext>
            </a:extLst>
          </p:cNvPr>
          <p:cNvSpPr>
            <a:spLocks noGrp="1"/>
          </p:cNvSpPr>
          <p:nvPr>
            <p:ph type="dt" sz="half" idx="10"/>
          </p:nvPr>
        </p:nvSpPr>
        <p:spPr/>
        <p:txBody>
          <a:bodyPr/>
          <a:lstStyle/>
          <a:p>
            <a:pPr>
              <a:defRPr/>
            </a:pPr>
            <a:fld id="{FDAADF14-52E9-4F91-B559-2B937500B0D3}" type="datetime1">
              <a:rPr lang="zh-CN" altLang="en-US" smtClean="0"/>
              <a:t>2025/9/10</a:t>
            </a:fld>
            <a:endParaRPr lang="en-US" altLang="zh-CN"/>
          </a:p>
        </p:txBody>
      </p:sp>
      <p:sp>
        <p:nvSpPr>
          <p:cNvPr id="5" name="灯片编号占位符 4">
            <a:extLst>
              <a:ext uri="{FF2B5EF4-FFF2-40B4-BE49-F238E27FC236}">
                <a16:creationId xmlns:a16="http://schemas.microsoft.com/office/drawing/2014/main" id="{E364B808-A5A3-2075-A035-DAE108FB16B4}"/>
              </a:ext>
            </a:extLst>
          </p:cNvPr>
          <p:cNvSpPr>
            <a:spLocks noGrp="1"/>
          </p:cNvSpPr>
          <p:nvPr>
            <p:ph type="sldNum" sz="quarter" idx="12"/>
          </p:nvPr>
        </p:nvSpPr>
        <p:spPr/>
        <p:txBody>
          <a:bodyPr/>
          <a:lstStyle/>
          <a:p>
            <a:pPr>
              <a:defRPr/>
            </a:pPr>
            <a:fld id="{B3CCC3E9-608E-4023-AA79-77ECC6312F57}" type="slidenum">
              <a:rPr lang="zh-CN" altLang="en-US" smtClean="0"/>
              <a:pPr>
                <a:defRPr/>
              </a:pPr>
              <a:t>4</a:t>
            </a:fld>
            <a:endParaRPr lang="en-US" altLang="zh-CN"/>
          </a:p>
        </p:txBody>
      </p:sp>
      <p:sp>
        <p:nvSpPr>
          <p:cNvPr id="6" name="页脚占位符 5">
            <a:extLst>
              <a:ext uri="{FF2B5EF4-FFF2-40B4-BE49-F238E27FC236}">
                <a16:creationId xmlns:a16="http://schemas.microsoft.com/office/drawing/2014/main" id="{0C1658CC-4C2E-4047-5210-52E24EBDBA2B}"/>
              </a:ext>
            </a:extLst>
          </p:cNvPr>
          <p:cNvSpPr>
            <a:spLocks noGrp="1"/>
          </p:cNvSpPr>
          <p:nvPr>
            <p:ph type="ftr" sz="quarter" idx="11"/>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1412916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9" name="Rectangle 7"/>
          <p:cNvSpPr>
            <a:spLocks noChangeArrowheads="1"/>
          </p:cNvSpPr>
          <p:nvPr/>
        </p:nvSpPr>
        <p:spPr bwMode="auto">
          <a:xfrm>
            <a:off x="2339975" y="1212826"/>
            <a:ext cx="5832425" cy="592138"/>
          </a:xfrm>
          <a:prstGeom prst="rect">
            <a:avLst/>
          </a:prstGeom>
          <a:noFill/>
          <a:ln w="9525">
            <a:noFill/>
            <a:miter lim="800000"/>
            <a:headEnd/>
            <a:tailEnd/>
          </a:ln>
          <a:effectLst/>
        </p:spPr>
        <p:txBody>
          <a:bodyPr lIns="92075" tIns="46038" rIns="92075" bIns="46038" anchor="ctr"/>
          <a:lstStyle/>
          <a:p>
            <a:pPr>
              <a:defRPr/>
            </a:pPr>
            <a:r>
              <a:rPr lang="zh-CN" altLang="en-US" sz="2800" u="sng" dirty="0">
                <a:solidFill>
                  <a:schemeClr val="tx2"/>
                </a:solidFill>
                <a:effectLst>
                  <a:outerShdw blurRad="38100" dist="38100" dir="2700000" algn="tl">
                    <a:srgbClr val="000000"/>
                  </a:outerShdw>
                </a:effectLst>
                <a:latin typeface="Arial" charset="0"/>
              </a:rPr>
              <a:t>第 </a:t>
            </a:r>
            <a:r>
              <a:rPr lang="en-US" altLang="zh-CN" sz="2800" u="sng" dirty="0">
                <a:solidFill>
                  <a:schemeClr val="tx2"/>
                </a:solidFill>
                <a:effectLst>
                  <a:outerShdw blurRad="38100" dist="38100" dir="2700000" algn="tl">
                    <a:srgbClr val="000000"/>
                  </a:outerShdw>
                </a:effectLst>
                <a:latin typeface="Arial" charset="0"/>
              </a:rPr>
              <a:t>1 </a:t>
            </a:r>
            <a:r>
              <a:rPr lang="zh-CN" altLang="en-US" sz="2800" u="sng" dirty="0">
                <a:solidFill>
                  <a:schemeClr val="tx2"/>
                </a:solidFill>
                <a:effectLst>
                  <a:outerShdw blurRad="38100" dist="38100" dir="2700000" algn="tl">
                    <a:srgbClr val="000000"/>
                  </a:outerShdw>
                </a:effectLst>
                <a:latin typeface="Arial" charset="0"/>
              </a:rPr>
              <a:t>章  计算机体系结构的基本概念</a:t>
            </a:r>
          </a:p>
        </p:txBody>
      </p:sp>
      <p:sp>
        <p:nvSpPr>
          <p:cNvPr id="658440" name="Rectangle 8"/>
          <p:cNvSpPr>
            <a:spLocks noChangeArrowheads="1"/>
          </p:cNvSpPr>
          <p:nvPr/>
        </p:nvSpPr>
        <p:spPr bwMode="auto">
          <a:xfrm>
            <a:off x="2360613" y="2420914"/>
            <a:ext cx="5256212"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3 </a:t>
            </a:r>
            <a:r>
              <a:rPr lang="zh-CN" altLang="en-US" sz="2800" dirty="0">
                <a:solidFill>
                  <a:schemeClr val="tx2"/>
                </a:solidFill>
                <a:effectLst>
                  <a:outerShdw blurRad="38100" dist="38100" dir="2700000" algn="tl">
                    <a:srgbClr val="000000"/>
                  </a:outerShdw>
                </a:effectLst>
                <a:latin typeface="Arial" charset="0"/>
              </a:rPr>
              <a:t>章  流水线技术</a:t>
            </a:r>
          </a:p>
        </p:txBody>
      </p:sp>
      <p:sp>
        <p:nvSpPr>
          <p:cNvPr id="658441" name="Rectangle 9"/>
          <p:cNvSpPr>
            <a:spLocks noChangeArrowheads="1"/>
          </p:cNvSpPr>
          <p:nvPr/>
        </p:nvSpPr>
        <p:spPr bwMode="auto">
          <a:xfrm>
            <a:off x="2339975" y="303686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Times New Roman" pitchFamily="18" charset="0"/>
              </a:rPr>
              <a:t>4 </a:t>
            </a:r>
            <a:r>
              <a:rPr lang="zh-CN" altLang="en-US" sz="2800" dirty="0">
                <a:solidFill>
                  <a:schemeClr val="tx2"/>
                </a:solidFill>
                <a:effectLst>
                  <a:outerShdw blurRad="38100" dist="38100" dir="2700000" algn="tl">
                    <a:srgbClr val="000000"/>
                  </a:outerShdw>
                </a:effectLst>
                <a:latin typeface="Arial" charset="0"/>
              </a:rPr>
              <a:t>章   指令级并行</a:t>
            </a:r>
          </a:p>
        </p:txBody>
      </p:sp>
      <p:sp>
        <p:nvSpPr>
          <p:cNvPr id="658442" name="Rectangle 10"/>
          <p:cNvSpPr>
            <a:spLocks noChangeArrowheads="1"/>
          </p:cNvSpPr>
          <p:nvPr/>
        </p:nvSpPr>
        <p:spPr bwMode="auto">
          <a:xfrm>
            <a:off x="2339975" y="365281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5 </a:t>
            </a:r>
            <a:r>
              <a:rPr lang="zh-CN" altLang="en-US" sz="2800" dirty="0">
                <a:solidFill>
                  <a:schemeClr val="tx2"/>
                </a:solidFill>
                <a:effectLst>
                  <a:outerShdw blurRad="38100" dist="38100" dir="2700000" algn="tl">
                    <a:srgbClr val="000000"/>
                  </a:outerShdw>
                </a:effectLst>
                <a:latin typeface="Arial" charset="0"/>
              </a:rPr>
              <a:t>章  存储层次</a:t>
            </a:r>
          </a:p>
        </p:txBody>
      </p:sp>
      <p:sp>
        <p:nvSpPr>
          <p:cNvPr id="658443" name="Rectangle 11"/>
          <p:cNvSpPr>
            <a:spLocks noChangeArrowheads="1"/>
          </p:cNvSpPr>
          <p:nvPr/>
        </p:nvSpPr>
        <p:spPr bwMode="auto">
          <a:xfrm>
            <a:off x="2339975" y="426876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Times New Roman" pitchFamily="18" charset="0"/>
              </a:rPr>
              <a:t>6 </a:t>
            </a:r>
            <a:r>
              <a:rPr lang="zh-CN" altLang="en-US" sz="2800" dirty="0">
                <a:solidFill>
                  <a:schemeClr val="tx2"/>
                </a:solidFill>
                <a:effectLst>
                  <a:outerShdw blurRad="38100" dist="38100" dir="2700000" algn="tl">
                    <a:srgbClr val="000000"/>
                  </a:outerShdw>
                </a:effectLst>
                <a:latin typeface="Arial" charset="0"/>
              </a:rPr>
              <a:t>章   输入输出系统</a:t>
            </a:r>
          </a:p>
        </p:txBody>
      </p:sp>
      <p:sp>
        <p:nvSpPr>
          <p:cNvPr id="13" name="Rectangle 8"/>
          <p:cNvSpPr>
            <a:spLocks noChangeArrowheads="1"/>
          </p:cNvSpPr>
          <p:nvPr/>
        </p:nvSpPr>
        <p:spPr bwMode="auto">
          <a:xfrm>
            <a:off x="2339975" y="1828776"/>
            <a:ext cx="5256213"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2 </a:t>
            </a:r>
            <a:r>
              <a:rPr lang="zh-CN" altLang="en-US" sz="2800" dirty="0">
                <a:solidFill>
                  <a:schemeClr val="tx2"/>
                </a:solidFill>
                <a:effectLst>
                  <a:outerShdw blurRad="38100" dist="38100" dir="2700000" algn="tl">
                    <a:srgbClr val="000000"/>
                  </a:outerShdw>
                </a:effectLst>
                <a:latin typeface="Arial" charset="0"/>
              </a:rPr>
              <a:t>章  指令系统</a:t>
            </a:r>
          </a:p>
        </p:txBody>
      </p:sp>
      <p:sp>
        <p:nvSpPr>
          <p:cNvPr id="12" name="Rectangle 7"/>
          <p:cNvSpPr>
            <a:spLocks noChangeArrowheads="1"/>
          </p:cNvSpPr>
          <p:nvPr/>
        </p:nvSpPr>
        <p:spPr bwMode="auto">
          <a:xfrm>
            <a:off x="2339752" y="620688"/>
            <a:ext cx="5616575"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0 </a:t>
            </a:r>
            <a:r>
              <a:rPr lang="zh-CN" altLang="en-US" sz="2800" dirty="0">
                <a:solidFill>
                  <a:schemeClr val="tx2"/>
                </a:solidFill>
                <a:effectLst>
                  <a:outerShdw blurRad="38100" dist="38100" dir="2700000" algn="tl">
                    <a:srgbClr val="000000"/>
                  </a:outerShdw>
                </a:effectLst>
                <a:latin typeface="Arial" charset="0"/>
              </a:rPr>
              <a:t>章  前言</a:t>
            </a:r>
          </a:p>
        </p:txBody>
      </p:sp>
      <p:sp>
        <p:nvSpPr>
          <p:cNvPr id="2" name="日期占位符 1">
            <a:extLst>
              <a:ext uri="{FF2B5EF4-FFF2-40B4-BE49-F238E27FC236}">
                <a16:creationId xmlns:a16="http://schemas.microsoft.com/office/drawing/2014/main" id="{E1C3A54C-C2B7-616F-0B45-2C49BACDBEFB}"/>
              </a:ext>
            </a:extLst>
          </p:cNvPr>
          <p:cNvSpPr>
            <a:spLocks noGrp="1"/>
          </p:cNvSpPr>
          <p:nvPr>
            <p:ph type="dt" sz="half" idx="10"/>
          </p:nvPr>
        </p:nvSpPr>
        <p:spPr/>
        <p:txBody>
          <a:bodyPr/>
          <a:lstStyle/>
          <a:p>
            <a:pPr>
              <a:defRPr/>
            </a:pPr>
            <a:fld id="{7DB9C119-2776-434F-85C0-5861B8B26CC1}" type="datetime1">
              <a:rPr lang="zh-CN" altLang="en-US" smtClean="0"/>
              <a:t>2025/9/10</a:t>
            </a:fld>
            <a:endParaRPr lang="en-US" altLang="zh-CN"/>
          </a:p>
        </p:txBody>
      </p:sp>
      <p:sp>
        <p:nvSpPr>
          <p:cNvPr id="4" name="灯片编号占位符 3">
            <a:extLst>
              <a:ext uri="{FF2B5EF4-FFF2-40B4-BE49-F238E27FC236}">
                <a16:creationId xmlns:a16="http://schemas.microsoft.com/office/drawing/2014/main" id="{B3AEE631-4D1B-3FA2-3F7F-095C0DC51300}"/>
              </a:ext>
            </a:extLst>
          </p:cNvPr>
          <p:cNvSpPr>
            <a:spLocks noGrp="1"/>
          </p:cNvSpPr>
          <p:nvPr>
            <p:ph type="sldNum" sz="quarter" idx="12"/>
          </p:nvPr>
        </p:nvSpPr>
        <p:spPr/>
        <p:txBody>
          <a:bodyPr/>
          <a:lstStyle/>
          <a:p>
            <a:pPr>
              <a:defRPr/>
            </a:pPr>
            <a:fld id="{8BCAC33D-D29A-48B3-BCD6-381D3D720D26}" type="slidenum">
              <a:rPr lang="zh-CN" altLang="en-US" smtClean="0"/>
              <a:pPr>
                <a:defRPr/>
              </a:pPr>
              <a:t>5</a:t>
            </a:fld>
            <a:endParaRPr lang="en-US" altLang="zh-CN"/>
          </a:p>
        </p:txBody>
      </p:sp>
      <p:sp>
        <p:nvSpPr>
          <p:cNvPr id="5" name="页脚占位符 4">
            <a:extLst>
              <a:ext uri="{FF2B5EF4-FFF2-40B4-BE49-F238E27FC236}">
                <a16:creationId xmlns:a16="http://schemas.microsoft.com/office/drawing/2014/main" id="{9188FC41-C99B-7EDB-797C-5FD6BEADED7A}"/>
              </a:ext>
            </a:extLst>
          </p:cNvPr>
          <p:cNvSpPr>
            <a:spLocks noGrp="1"/>
          </p:cNvSpPr>
          <p:nvPr>
            <p:ph type="ftr" sz="quarter" idx="11"/>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1191386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11200" y="548680"/>
            <a:ext cx="8229600" cy="1143000"/>
          </a:xfrm>
        </p:spPr>
        <p:txBody>
          <a:bodyPr>
            <a:normAutofit fontScale="90000"/>
          </a:bodyPr>
          <a:lstStyle/>
          <a:p>
            <a:pPr eaLnBrk="1" hangingPunct="1"/>
            <a:r>
              <a:rPr lang="en-US" altLang="zh-CN" sz="4000" b="1" dirty="0"/>
              <a:t>1.1 </a:t>
            </a:r>
            <a:r>
              <a:rPr lang="zh-CN" altLang="en-US" sz="4000" b="1" dirty="0"/>
              <a:t>计算机体系结构的概念</a:t>
            </a:r>
            <a:br>
              <a:rPr lang="zh-CN" altLang="en-US" sz="4000" dirty="0">
                <a:solidFill>
                  <a:srgbClr val="3366FF"/>
                </a:solidFill>
              </a:rPr>
            </a:br>
            <a:endParaRPr lang="zh-CN" altLang="en-US" sz="4000" b="1" dirty="0"/>
          </a:p>
        </p:txBody>
      </p:sp>
      <p:sp>
        <p:nvSpPr>
          <p:cNvPr id="7171" name="Text Box 3"/>
          <p:cNvSpPr txBox="1">
            <a:spLocks noChangeArrowheads="1"/>
          </p:cNvSpPr>
          <p:nvPr/>
        </p:nvSpPr>
        <p:spPr bwMode="auto">
          <a:xfrm>
            <a:off x="1907704" y="4581128"/>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Verdana" pitchFamily="34" charset="0"/>
                <a:ea typeface="华文中宋" pitchFamily="2" charset="-122"/>
              </a:rPr>
              <a:t>1</a:t>
            </a:r>
            <a:r>
              <a:rPr lang="zh-CN" altLang="en-US" sz="3000" dirty="0">
                <a:latin typeface="Verdana" pitchFamily="34" charset="0"/>
                <a:ea typeface="华文中宋" pitchFamily="2" charset="-122"/>
              </a:rPr>
              <a:t>.</a:t>
            </a:r>
            <a:r>
              <a:rPr lang="en-US" altLang="zh-CN" sz="3000" dirty="0">
                <a:latin typeface="Verdana" pitchFamily="34" charset="0"/>
                <a:ea typeface="华文中宋" pitchFamily="2" charset="-122"/>
              </a:rPr>
              <a:t>1.</a:t>
            </a:r>
            <a:r>
              <a:rPr lang="zh-CN" altLang="en-US" sz="3000" dirty="0">
                <a:latin typeface="Verdana" pitchFamily="34" charset="0"/>
                <a:ea typeface="华文中宋" pitchFamily="2" charset="-122"/>
              </a:rPr>
              <a:t>3 系列机和兼容</a:t>
            </a:r>
          </a:p>
        </p:txBody>
      </p:sp>
      <p:sp>
        <p:nvSpPr>
          <p:cNvPr id="7172" name="Text Box 4"/>
          <p:cNvSpPr txBox="1">
            <a:spLocks noChangeArrowheads="1"/>
          </p:cNvSpPr>
          <p:nvPr/>
        </p:nvSpPr>
        <p:spPr bwMode="auto">
          <a:xfrm>
            <a:off x="1130101" y="3416062"/>
            <a:ext cx="71863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71488" lvl="1" indent="250825"/>
            <a:r>
              <a:rPr lang="en-US" altLang="zh-CN" sz="3000" u="sng" dirty="0">
                <a:latin typeface="Verdana" pitchFamily="34" charset="0"/>
                <a:ea typeface="华文中宋" pitchFamily="2" charset="-122"/>
              </a:rPr>
              <a:t>1</a:t>
            </a:r>
            <a:r>
              <a:rPr lang="zh-CN" altLang="en-US" sz="3000" u="sng" dirty="0">
                <a:latin typeface="Verdana" pitchFamily="34" charset="0"/>
                <a:ea typeface="华文中宋" pitchFamily="2" charset="-122"/>
              </a:rPr>
              <a:t>.</a:t>
            </a:r>
            <a:r>
              <a:rPr lang="en-US" altLang="zh-CN" sz="3000" u="sng" dirty="0">
                <a:latin typeface="Verdana" pitchFamily="34" charset="0"/>
                <a:ea typeface="华文中宋" pitchFamily="2" charset="-122"/>
              </a:rPr>
              <a:t>1.</a:t>
            </a:r>
            <a:r>
              <a:rPr lang="zh-CN" altLang="en-US" sz="3000" u="sng" dirty="0">
                <a:latin typeface="Verdana" pitchFamily="34" charset="0"/>
                <a:ea typeface="华文中宋" pitchFamily="2" charset="-122"/>
              </a:rPr>
              <a:t>2 计算机体系结构、组成和实现</a:t>
            </a:r>
          </a:p>
        </p:txBody>
      </p:sp>
      <p:sp>
        <p:nvSpPr>
          <p:cNvPr id="7173" name="Text Box 5"/>
          <p:cNvSpPr txBox="1">
            <a:spLocks noChangeArrowheads="1"/>
          </p:cNvSpPr>
          <p:nvPr/>
        </p:nvSpPr>
        <p:spPr bwMode="auto">
          <a:xfrm>
            <a:off x="1115616" y="2276872"/>
            <a:ext cx="6831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itchFamily="2" charset="-122"/>
                <a:ea typeface="宋体" pitchFamily="2" charset="-122"/>
              </a:defRPr>
            </a:lvl1pPr>
            <a:lvl2pPr marL="471488" indent="250825"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lvl="1">
              <a:buFont typeface="Wingdings" pitchFamily="2" charset="2"/>
              <a:buNone/>
            </a:pPr>
            <a:r>
              <a:rPr lang="en-US" altLang="zh-CN" sz="3000" dirty="0">
                <a:latin typeface="Verdana" pitchFamily="34" charset="0"/>
                <a:ea typeface="华文中宋" pitchFamily="2" charset="-122"/>
              </a:rPr>
              <a:t>1.1.1 </a:t>
            </a:r>
            <a:r>
              <a:rPr lang="zh-CN" altLang="en-US" sz="3000" dirty="0">
                <a:latin typeface="Verdana" pitchFamily="34" charset="0"/>
                <a:ea typeface="华文中宋" pitchFamily="2" charset="-122"/>
              </a:rPr>
              <a:t>计算机体系结构概念的演变</a:t>
            </a:r>
          </a:p>
        </p:txBody>
      </p:sp>
      <p:sp>
        <p:nvSpPr>
          <p:cNvPr id="2" name="日期占位符 1">
            <a:extLst>
              <a:ext uri="{FF2B5EF4-FFF2-40B4-BE49-F238E27FC236}">
                <a16:creationId xmlns:a16="http://schemas.microsoft.com/office/drawing/2014/main" id="{4460FC1A-21F7-5E43-F9EF-B4E27579E5DE}"/>
              </a:ext>
            </a:extLst>
          </p:cNvPr>
          <p:cNvSpPr>
            <a:spLocks noGrp="1"/>
          </p:cNvSpPr>
          <p:nvPr>
            <p:ph type="dt" sz="half" idx="10"/>
          </p:nvPr>
        </p:nvSpPr>
        <p:spPr/>
        <p:txBody>
          <a:bodyPr/>
          <a:lstStyle/>
          <a:p>
            <a:pPr>
              <a:defRPr/>
            </a:pPr>
            <a:fld id="{0FE196AF-5C08-4165-AC3B-BD5ED8EA7598}" type="datetime1">
              <a:rPr lang="zh-CN" altLang="en-US" smtClean="0"/>
              <a:t>2025/9/10</a:t>
            </a:fld>
            <a:endParaRPr lang="en-US" altLang="zh-CN"/>
          </a:p>
        </p:txBody>
      </p:sp>
      <p:sp>
        <p:nvSpPr>
          <p:cNvPr id="4" name="灯片编号占位符 3">
            <a:extLst>
              <a:ext uri="{FF2B5EF4-FFF2-40B4-BE49-F238E27FC236}">
                <a16:creationId xmlns:a16="http://schemas.microsoft.com/office/drawing/2014/main" id="{CA94E5E9-073D-ED82-618C-60CC12EE5B0E}"/>
              </a:ext>
            </a:extLst>
          </p:cNvPr>
          <p:cNvSpPr>
            <a:spLocks noGrp="1"/>
          </p:cNvSpPr>
          <p:nvPr>
            <p:ph type="sldNum" sz="quarter" idx="12"/>
          </p:nvPr>
        </p:nvSpPr>
        <p:spPr/>
        <p:txBody>
          <a:bodyPr/>
          <a:lstStyle/>
          <a:p>
            <a:pPr>
              <a:defRPr/>
            </a:pPr>
            <a:fld id="{8BCAC33D-D29A-48B3-BCD6-381D3D720D26}" type="slidenum">
              <a:rPr lang="zh-CN" altLang="en-US" smtClean="0"/>
              <a:pPr>
                <a:defRPr/>
              </a:pPr>
              <a:t>6</a:t>
            </a:fld>
            <a:endParaRPr lang="en-US" altLang="zh-CN"/>
          </a:p>
        </p:txBody>
      </p:sp>
      <p:sp>
        <p:nvSpPr>
          <p:cNvPr id="5" name="页脚占位符 4">
            <a:extLst>
              <a:ext uri="{FF2B5EF4-FFF2-40B4-BE49-F238E27FC236}">
                <a16:creationId xmlns:a16="http://schemas.microsoft.com/office/drawing/2014/main" id="{3157AADC-2B90-0D51-0AD9-9DD5BDDE5E91}"/>
              </a:ext>
            </a:extLst>
          </p:cNvPr>
          <p:cNvSpPr>
            <a:spLocks noGrp="1"/>
          </p:cNvSpPr>
          <p:nvPr>
            <p:ph type="ftr" sz="quarter" idx="11"/>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3960965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21"/>
          <p:cNvSpPr>
            <a:spLocks noGrp="1" noChangeArrowheads="1"/>
          </p:cNvSpPr>
          <p:nvPr>
            <p:ph type="title" idx="4294967295"/>
          </p:nvPr>
        </p:nvSpPr>
        <p:spPr>
          <a:xfrm>
            <a:off x="457200" y="44624"/>
            <a:ext cx="8229600" cy="1143000"/>
          </a:xfrm>
        </p:spPr>
        <p:txBody>
          <a:bodyPr>
            <a:normAutofit/>
          </a:bodyPr>
          <a:lstStyle/>
          <a:p>
            <a:r>
              <a:rPr lang="zh-CN" altLang="en-US" sz="3600" b="1" dirty="0">
                <a:latin typeface="+mj-ea"/>
              </a:rPr>
              <a:t>不同年代计算机体系结构研究的变化</a:t>
            </a:r>
          </a:p>
        </p:txBody>
      </p:sp>
      <p:graphicFrame>
        <p:nvGraphicFramePr>
          <p:cNvPr id="511301" name="Group 325"/>
          <p:cNvGraphicFramePr>
            <a:graphicFrameLocks noGrp="1"/>
          </p:cNvGraphicFramePr>
          <p:nvPr>
            <p:ph type="tbl" idx="4294967295"/>
          </p:nvPr>
        </p:nvGraphicFramePr>
        <p:xfrm>
          <a:off x="675456" y="1196552"/>
          <a:ext cx="8001000" cy="5184776"/>
        </p:xfrm>
        <a:graphic>
          <a:graphicData uri="http://schemas.openxmlformats.org/drawingml/2006/table">
            <a:tbl>
              <a:tblPr/>
              <a:tblGrid>
                <a:gridCol w="2087563">
                  <a:extLst>
                    <a:ext uri="{9D8B030D-6E8A-4147-A177-3AD203B41FA5}">
                      <a16:colId xmlns:a16="http://schemas.microsoft.com/office/drawing/2014/main" val="20000"/>
                    </a:ext>
                  </a:extLst>
                </a:gridCol>
                <a:gridCol w="3393157">
                  <a:extLst>
                    <a:ext uri="{9D8B030D-6E8A-4147-A177-3AD203B41FA5}">
                      <a16:colId xmlns:a16="http://schemas.microsoft.com/office/drawing/2014/main" val="20001"/>
                    </a:ext>
                  </a:extLst>
                </a:gridCol>
                <a:gridCol w="2520280">
                  <a:extLst>
                    <a:ext uri="{9D8B030D-6E8A-4147-A177-3AD203B41FA5}">
                      <a16:colId xmlns:a16="http://schemas.microsoft.com/office/drawing/2014/main" val="20002"/>
                    </a:ext>
                  </a:extLst>
                </a:gridCol>
              </a:tblGrid>
              <a:tr h="52708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年代</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一些重要研究内容</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典型计算机</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extLst>
                  <a:ext uri="{0D108BD9-81ED-4DB2-BD59-A6C34878D82A}">
                    <a16:rowId xmlns:a16="http://schemas.microsoft.com/office/drawing/2014/main" val="10000"/>
                  </a:ext>
                </a:extLst>
              </a:tr>
              <a:tr h="78903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1940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年代</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程序控制计算机、存储程序计算机</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ENIAC</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EDVAC</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39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1960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年代</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指令系统</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IBM 360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系列机</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80">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1960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年代</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阵列机和并行处理</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ILLIAC IV</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903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1970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年代</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流水线、向量处理、微处理器</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Cray-1</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Intel 4004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108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1980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年代</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RISC</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cache</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、流水线</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MIPS R1000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POWER</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0108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1990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年代</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rPr>
                        <a:t>SMP</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rPr>
                        <a:t>CMP</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指令级并行</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MIPS R10000</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PowerPC 604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70108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2000</a:t>
                      </a:r>
                      <a:r>
                        <a:rPr kumimoji="0" lang="zh-CN" altLang="en-US"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年以来</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SMT</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、功耗、</a:t>
                      </a: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Multi-core</a:t>
                      </a:r>
                      <a:r>
                        <a:rPr kumimoji="0" lang="zh-CN" altLang="en-US"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Stream</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Intel i7</a:t>
                      </a:r>
                      <a:r>
                        <a:rPr kumimoji="0" lang="zh-CN" altLang="en-US"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Power 6</a:t>
                      </a:r>
                      <a:r>
                        <a:rPr kumimoji="0" lang="zh-CN" altLang="en-US"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ARM</a:t>
                      </a:r>
                      <a:r>
                        <a:rPr kumimoji="0" lang="zh-CN" altLang="en-US"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GPU</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9959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11200" y="548680"/>
            <a:ext cx="8229600" cy="1143000"/>
          </a:xfrm>
        </p:spPr>
        <p:txBody>
          <a:bodyPr>
            <a:normAutofit fontScale="90000"/>
          </a:bodyPr>
          <a:lstStyle/>
          <a:p>
            <a:pPr eaLnBrk="1" hangingPunct="1"/>
            <a:r>
              <a:rPr lang="en-US" altLang="zh-CN" sz="4000" b="1" dirty="0"/>
              <a:t>1.1 </a:t>
            </a:r>
            <a:r>
              <a:rPr lang="zh-CN" altLang="en-US" sz="4000" b="1" dirty="0"/>
              <a:t>计算机体系结构的概念</a:t>
            </a:r>
            <a:br>
              <a:rPr lang="zh-CN" altLang="en-US" sz="4000" dirty="0">
                <a:solidFill>
                  <a:srgbClr val="3366FF"/>
                </a:solidFill>
              </a:rPr>
            </a:br>
            <a:endParaRPr lang="zh-CN" altLang="en-US" sz="4000" b="1" dirty="0"/>
          </a:p>
        </p:txBody>
      </p:sp>
      <p:sp>
        <p:nvSpPr>
          <p:cNvPr id="7171" name="Text Box 3"/>
          <p:cNvSpPr txBox="1">
            <a:spLocks noChangeArrowheads="1"/>
          </p:cNvSpPr>
          <p:nvPr/>
        </p:nvSpPr>
        <p:spPr bwMode="auto">
          <a:xfrm>
            <a:off x="1907704" y="4581128"/>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u="sng" dirty="0">
                <a:latin typeface="Verdana" pitchFamily="34" charset="0"/>
                <a:ea typeface="华文中宋" pitchFamily="2" charset="-122"/>
              </a:rPr>
              <a:t>1</a:t>
            </a:r>
            <a:r>
              <a:rPr lang="zh-CN" altLang="en-US" sz="3000" u="sng" dirty="0">
                <a:latin typeface="Verdana" pitchFamily="34" charset="0"/>
                <a:ea typeface="华文中宋" pitchFamily="2" charset="-122"/>
              </a:rPr>
              <a:t>.</a:t>
            </a:r>
            <a:r>
              <a:rPr lang="en-US" altLang="zh-CN" sz="3000" u="sng" dirty="0">
                <a:latin typeface="Verdana" pitchFamily="34" charset="0"/>
                <a:ea typeface="华文中宋" pitchFamily="2" charset="-122"/>
              </a:rPr>
              <a:t>1.</a:t>
            </a:r>
            <a:r>
              <a:rPr lang="zh-CN" altLang="en-US" sz="3000" u="sng" dirty="0">
                <a:latin typeface="Verdana" pitchFamily="34" charset="0"/>
                <a:ea typeface="华文中宋" pitchFamily="2" charset="-122"/>
              </a:rPr>
              <a:t>3 系列机和兼容机</a:t>
            </a:r>
          </a:p>
        </p:txBody>
      </p:sp>
      <p:sp>
        <p:nvSpPr>
          <p:cNvPr id="7172" name="Text Box 4"/>
          <p:cNvSpPr txBox="1">
            <a:spLocks noChangeArrowheads="1"/>
          </p:cNvSpPr>
          <p:nvPr/>
        </p:nvSpPr>
        <p:spPr bwMode="auto">
          <a:xfrm>
            <a:off x="1130101" y="3416062"/>
            <a:ext cx="71863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71488" lvl="1" indent="250825"/>
            <a:r>
              <a:rPr lang="en-US" altLang="zh-CN" sz="3000" dirty="0">
                <a:latin typeface="Verdana" pitchFamily="34" charset="0"/>
                <a:ea typeface="华文中宋" pitchFamily="2" charset="-122"/>
              </a:rPr>
              <a:t>1</a:t>
            </a:r>
            <a:r>
              <a:rPr lang="zh-CN" altLang="en-US" sz="3000" dirty="0">
                <a:latin typeface="Verdana" pitchFamily="34" charset="0"/>
                <a:ea typeface="华文中宋" pitchFamily="2" charset="-122"/>
              </a:rPr>
              <a:t>.</a:t>
            </a:r>
            <a:r>
              <a:rPr lang="en-US" altLang="zh-CN" sz="3000" dirty="0">
                <a:latin typeface="Verdana" pitchFamily="34" charset="0"/>
                <a:ea typeface="华文中宋" pitchFamily="2" charset="-122"/>
              </a:rPr>
              <a:t>1.</a:t>
            </a:r>
            <a:r>
              <a:rPr lang="zh-CN" altLang="en-US" sz="3000" dirty="0">
                <a:latin typeface="Verdana" pitchFamily="34" charset="0"/>
                <a:ea typeface="华文中宋" pitchFamily="2" charset="-122"/>
              </a:rPr>
              <a:t>2 计算机体系结构、组成和实现</a:t>
            </a:r>
          </a:p>
        </p:txBody>
      </p:sp>
      <p:sp>
        <p:nvSpPr>
          <p:cNvPr id="7173" name="Text Box 5"/>
          <p:cNvSpPr txBox="1">
            <a:spLocks noChangeArrowheads="1"/>
          </p:cNvSpPr>
          <p:nvPr/>
        </p:nvSpPr>
        <p:spPr bwMode="auto">
          <a:xfrm>
            <a:off x="1115616" y="2276872"/>
            <a:ext cx="6831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itchFamily="2" charset="-122"/>
                <a:ea typeface="宋体" pitchFamily="2" charset="-122"/>
              </a:defRPr>
            </a:lvl1pPr>
            <a:lvl2pPr marL="471488" indent="250825"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lvl="1">
              <a:buFont typeface="Wingdings" pitchFamily="2" charset="2"/>
              <a:buNone/>
            </a:pPr>
            <a:r>
              <a:rPr lang="en-US" altLang="zh-CN" sz="3000" dirty="0">
                <a:latin typeface="Verdana" pitchFamily="34" charset="0"/>
                <a:ea typeface="华文中宋" pitchFamily="2" charset="-122"/>
              </a:rPr>
              <a:t>1.1.1 </a:t>
            </a:r>
            <a:r>
              <a:rPr lang="zh-CN" altLang="en-US" sz="3000" dirty="0">
                <a:latin typeface="Verdana" pitchFamily="34" charset="0"/>
                <a:ea typeface="华文中宋" pitchFamily="2" charset="-122"/>
              </a:rPr>
              <a:t>计算机体系结构概念的演变</a:t>
            </a:r>
          </a:p>
        </p:txBody>
      </p:sp>
      <p:sp>
        <p:nvSpPr>
          <p:cNvPr id="2" name="日期占位符 1">
            <a:extLst>
              <a:ext uri="{FF2B5EF4-FFF2-40B4-BE49-F238E27FC236}">
                <a16:creationId xmlns:a16="http://schemas.microsoft.com/office/drawing/2014/main" id="{5A9FB7EA-4A0C-AEE4-2E81-7EFD0EE511CF}"/>
              </a:ext>
            </a:extLst>
          </p:cNvPr>
          <p:cNvSpPr>
            <a:spLocks noGrp="1"/>
          </p:cNvSpPr>
          <p:nvPr>
            <p:ph type="dt" sz="half" idx="10"/>
          </p:nvPr>
        </p:nvSpPr>
        <p:spPr/>
        <p:txBody>
          <a:bodyPr/>
          <a:lstStyle/>
          <a:p>
            <a:pPr>
              <a:defRPr/>
            </a:pPr>
            <a:fld id="{AE87CC17-CF51-44CA-B8C7-DD01988EB8D6}" type="datetime1">
              <a:rPr lang="zh-CN" altLang="en-US" smtClean="0"/>
              <a:t>2025/9/10</a:t>
            </a:fld>
            <a:endParaRPr lang="en-US" altLang="zh-CN"/>
          </a:p>
        </p:txBody>
      </p:sp>
      <p:sp>
        <p:nvSpPr>
          <p:cNvPr id="4" name="灯片编号占位符 3">
            <a:extLst>
              <a:ext uri="{FF2B5EF4-FFF2-40B4-BE49-F238E27FC236}">
                <a16:creationId xmlns:a16="http://schemas.microsoft.com/office/drawing/2014/main" id="{CE545C80-DAC3-F048-3A07-FD809D032306}"/>
              </a:ext>
            </a:extLst>
          </p:cNvPr>
          <p:cNvSpPr>
            <a:spLocks noGrp="1"/>
          </p:cNvSpPr>
          <p:nvPr>
            <p:ph type="sldNum" sz="quarter" idx="12"/>
          </p:nvPr>
        </p:nvSpPr>
        <p:spPr/>
        <p:txBody>
          <a:bodyPr/>
          <a:lstStyle/>
          <a:p>
            <a:pPr>
              <a:defRPr/>
            </a:pPr>
            <a:fld id="{8BCAC33D-D29A-48B3-BCD6-381D3D720D26}" type="slidenum">
              <a:rPr lang="zh-CN" altLang="en-US" smtClean="0"/>
              <a:pPr>
                <a:defRPr/>
              </a:pPr>
              <a:t>8</a:t>
            </a:fld>
            <a:endParaRPr lang="en-US" altLang="zh-CN"/>
          </a:p>
        </p:txBody>
      </p:sp>
      <p:sp>
        <p:nvSpPr>
          <p:cNvPr id="5" name="页脚占位符 4">
            <a:extLst>
              <a:ext uri="{FF2B5EF4-FFF2-40B4-BE49-F238E27FC236}">
                <a16:creationId xmlns:a16="http://schemas.microsoft.com/office/drawing/2014/main" id="{31CA1E1E-2304-0D98-7846-919C56B76875}"/>
              </a:ext>
            </a:extLst>
          </p:cNvPr>
          <p:cNvSpPr>
            <a:spLocks noGrp="1"/>
          </p:cNvSpPr>
          <p:nvPr>
            <p:ph type="ftr" sz="quarter" idx="11"/>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2843481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normAutofit/>
          </a:bodyPr>
          <a:lstStyle/>
          <a:p>
            <a:r>
              <a:rPr kumimoji="1" lang="en-US" altLang="zh-CN" sz="3600" b="1" dirty="0">
                <a:cs typeface="+mn-cs"/>
              </a:rPr>
              <a:t>1.1.3 </a:t>
            </a:r>
            <a:r>
              <a:rPr kumimoji="1" lang="zh-CN" altLang="en-US" sz="3600" b="1" dirty="0">
                <a:cs typeface="+mn-cs"/>
              </a:rPr>
              <a:t>系列机和兼容</a:t>
            </a:r>
          </a:p>
        </p:txBody>
      </p:sp>
      <p:sp>
        <p:nvSpPr>
          <p:cNvPr id="6147" name="Rectangle 3"/>
          <p:cNvSpPr>
            <a:spLocks noGrp="1" noChangeArrowheads="1"/>
          </p:cNvSpPr>
          <p:nvPr>
            <p:ph type="body" idx="4294967295"/>
          </p:nvPr>
        </p:nvSpPr>
        <p:spPr>
          <a:xfrm>
            <a:off x="457200" y="1600200"/>
            <a:ext cx="8435280" cy="4525963"/>
          </a:xfrm>
        </p:spPr>
        <p:txBody>
          <a:bodyPr>
            <a:normAutofit/>
          </a:bodyPr>
          <a:lstStyle/>
          <a:p>
            <a:pPr>
              <a:lnSpc>
                <a:spcPct val="110000"/>
              </a:lnSpc>
            </a:pPr>
            <a:r>
              <a:rPr lang="zh-CN" altLang="en-US" sz="2400" b="1" dirty="0">
                <a:latin typeface="Times New Roman" panose="02020603050405020304" pitchFamily="18" charset="0"/>
                <a:ea typeface="+mj-ea"/>
                <a:cs typeface="Times New Roman" panose="02020603050405020304" pitchFamily="18" charset="0"/>
              </a:rPr>
              <a:t>系列机（</a:t>
            </a:r>
            <a:r>
              <a:rPr lang="en-US" altLang="zh-CN" sz="2400" b="1" dirty="0">
                <a:latin typeface="Times New Roman" panose="02020603050405020304" pitchFamily="18" charset="0"/>
                <a:ea typeface="+mj-ea"/>
                <a:cs typeface="Times New Roman" panose="02020603050405020304" pitchFamily="18" charset="0"/>
              </a:rPr>
              <a:t>family machine</a:t>
            </a:r>
            <a:r>
              <a:rPr lang="zh-CN" altLang="en-US" sz="2400" b="1" dirty="0">
                <a:latin typeface="Times New Roman" panose="02020603050405020304" pitchFamily="18" charset="0"/>
                <a:ea typeface="+mj-ea"/>
                <a:cs typeface="Times New Roman" panose="02020603050405020304" pitchFamily="18" charset="0"/>
              </a:rPr>
              <a:t>）是具有相同体系结构，但组成和实现不同的一系列不同型号的计算机系统 </a:t>
            </a:r>
          </a:p>
          <a:p>
            <a:pPr lvl="1">
              <a:lnSpc>
                <a:spcPct val="110000"/>
              </a:lnSpc>
            </a:pPr>
            <a:r>
              <a:rPr lang="en-US" altLang="zh-CN" sz="2400" b="1" dirty="0">
                <a:latin typeface="Times New Roman" panose="02020603050405020304" pitchFamily="18" charset="0"/>
                <a:ea typeface="+mj-ea"/>
                <a:cs typeface="Times New Roman" panose="02020603050405020304" pitchFamily="18" charset="0"/>
              </a:rPr>
              <a:t>IBM</a:t>
            </a:r>
            <a:r>
              <a:rPr lang="zh-CN" altLang="en-US" sz="2400" b="1" dirty="0">
                <a:latin typeface="Times New Roman" panose="02020603050405020304" pitchFamily="18" charset="0"/>
                <a:ea typeface="+mj-ea"/>
                <a:cs typeface="Times New Roman" panose="02020603050405020304" pitchFamily="18" charset="0"/>
              </a:rPr>
              <a:t>公司在推出</a:t>
            </a:r>
            <a:r>
              <a:rPr lang="en-US" altLang="zh-CN" sz="2400" b="1" dirty="0">
                <a:latin typeface="Times New Roman" panose="02020603050405020304" pitchFamily="18" charset="0"/>
                <a:ea typeface="+mj-ea"/>
                <a:cs typeface="Times New Roman" panose="02020603050405020304" pitchFamily="18" charset="0"/>
              </a:rPr>
              <a:t>IBM S360</a:t>
            </a:r>
            <a:r>
              <a:rPr lang="zh-CN" altLang="en-US" sz="2400" b="1" dirty="0">
                <a:latin typeface="Times New Roman" panose="02020603050405020304" pitchFamily="18" charset="0"/>
                <a:ea typeface="+mj-ea"/>
                <a:cs typeface="Times New Roman" panose="02020603050405020304" pitchFamily="18" charset="0"/>
              </a:rPr>
              <a:t>时首次提出的系列机的概念，被认为是计算机发展史上一个重要里程碑</a:t>
            </a:r>
          </a:p>
          <a:p>
            <a:pPr lvl="1">
              <a:lnSpc>
                <a:spcPct val="110000"/>
              </a:lnSpc>
            </a:pPr>
            <a:r>
              <a:rPr lang="zh-CN" altLang="en-US" sz="2400" b="1" dirty="0">
                <a:latin typeface="Times New Roman" panose="02020603050405020304" pitchFamily="18" charset="0"/>
                <a:ea typeface="+mj-ea"/>
                <a:cs typeface="Times New Roman" panose="02020603050405020304" pitchFamily="18" charset="0"/>
              </a:rPr>
              <a:t>各计算机厂家仍按系列机研发产品</a:t>
            </a:r>
            <a:endParaRPr lang="en-US" altLang="zh-CN" sz="2400" b="1" dirty="0">
              <a:latin typeface="Times New Roman" panose="02020603050405020304" pitchFamily="18" charset="0"/>
              <a:ea typeface="+mj-ea"/>
              <a:cs typeface="Times New Roman" panose="02020603050405020304" pitchFamily="18" charset="0"/>
            </a:endParaRPr>
          </a:p>
          <a:p>
            <a:pPr lvl="1">
              <a:lnSpc>
                <a:spcPct val="110000"/>
              </a:lnSpc>
            </a:pPr>
            <a:endParaRPr lang="zh-CN" altLang="en-US" sz="2400" b="1" dirty="0">
              <a:latin typeface="Times New Roman" panose="02020603050405020304" pitchFamily="18" charset="0"/>
              <a:ea typeface="+mj-ea"/>
              <a:cs typeface="Times New Roman" panose="02020603050405020304" pitchFamily="18" charset="0"/>
            </a:endParaRPr>
          </a:p>
          <a:p>
            <a:pPr>
              <a:lnSpc>
                <a:spcPct val="110000"/>
              </a:lnSpc>
            </a:pPr>
            <a:r>
              <a:rPr lang="zh-CN" altLang="en-US" sz="2400" b="1" dirty="0">
                <a:latin typeface="Times New Roman" panose="02020603050405020304" pitchFamily="18" charset="0"/>
                <a:ea typeface="+mj-ea"/>
                <a:cs typeface="Times New Roman" panose="02020603050405020304" pitchFamily="18" charset="0"/>
              </a:rPr>
              <a:t>现代计算机不但系统系列化，其构成部件和软件也系列化</a:t>
            </a:r>
          </a:p>
          <a:p>
            <a:pPr lvl="1">
              <a:lnSpc>
                <a:spcPct val="110000"/>
              </a:lnSpc>
            </a:pPr>
            <a:r>
              <a:rPr lang="zh-CN" altLang="en-US" sz="2400" b="1" dirty="0">
                <a:latin typeface="Times New Roman" panose="02020603050405020304" pitchFamily="18" charset="0"/>
                <a:ea typeface="+mj-ea"/>
                <a:cs typeface="Times New Roman" panose="02020603050405020304" pitchFamily="18" charset="0"/>
              </a:rPr>
              <a:t>如：微处理器（</a:t>
            </a:r>
            <a:r>
              <a:rPr lang="en-US" altLang="zh-CN" sz="2400" b="1" dirty="0">
                <a:latin typeface="Times New Roman" panose="02020603050405020304" pitchFamily="18" charset="0"/>
                <a:ea typeface="+mj-ea"/>
                <a:cs typeface="Times New Roman" panose="02020603050405020304" pitchFamily="18" charset="0"/>
              </a:rPr>
              <a:t>CPU</a:t>
            </a:r>
            <a:r>
              <a:rPr lang="zh-CN" altLang="en-US" sz="2400" b="1" dirty="0">
                <a:latin typeface="Times New Roman" panose="02020603050405020304" pitchFamily="18" charset="0"/>
                <a:ea typeface="+mj-ea"/>
                <a:cs typeface="Times New Roman" panose="02020603050405020304" pitchFamily="18" charset="0"/>
              </a:rPr>
              <a:t>）、硬盘、操作系统、高级语言等</a:t>
            </a:r>
          </a:p>
        </p:txBody>
      </p:sp>
      <p:sp>
        <p:nvSpPr>
          <p:cNvPr id="2" name="日期占位符 1">
            <a:extLst>
              <a:ext uri="{FF2B5EF4-FFF2-40B4-BE49-F238E27FC236}">
                <a16:creationId xmlns:a16="http://schemas.microsoft.com/office/drawing/2014/main" id="{B8DC08EA-6D76-0E85-A028-969169146700}"/>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675F6155-745E-790D-FF1D-1D7CD04DA3B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9</a:t>
            </a:fld>
            <a:endParaRPr lang="en-US" altLang="zh-CN"/>
          </a:p>
        </p:txBody>
      </p:sp>
      <p:sp>
        <p:nvSpPr>
          <p:cNvPr id="4" name="页脚占位符 4">
            <a:extLst>
              <a:ext uri="{FF2B5EF4-FFF2-40B4-BE49-F238E27FC236}">
                <a16:creationId xmlns:a16="http://schemas.microsoft.com/office/drawing/2014/main" id="{8DD7B20B-50DE-3CF7-E0AD-90BA27698B77}"/>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2613081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820"/>
          <p:cNvSpPr>
            <a:spLocks noGrp="1" noChangeArrowheads="1"/>
          </p:cNvSpPr>
          <p:nvPr>
            <p:ph type="title" idx="4294967295"/>
          </p:nvPr>
        </p:nvSpPr>
        <p:spPr>
          <a:xfrm>
            <a:off x="457200" y="44624"/>
            <a:ext cx="8229600" cy="1143000"/>
          </a:xfrm>
        </p:spPr>
        <p:txBody>
          <a:bodyPr>
            <a:normAutofit/>
          </a:bodyPr>
          <a:lstStyle/>
          <a:p>
            <a:pPr eaLnBrk="1" hangingPunct="1"/>
            <a:r>
              <a:rPr kumimoji="1" lang="zh-CN" altLang="en-US" sz="3600" b="1" dirty="0">
                <a:cs typeface="+mn-cs"/>
              </a:rPr>
              <a:t>系列机</a:t>
            </a:r>
            <a:r>
              <a:rPr kumimoji="1" lang="en-US" altLang="zh-CN" sz="3600" b="1" dirty="0">
                <a:cs typeface="+mn-cs"/>
              </a:rPr>
              <a:t>(Family machine)</a:t>
            </a:r>
          </a:p>
        </p:txBody>
      </p:sp>
      <p:sp>
        <p:nvSpPr>
          <p:cNvPr id="7171" name="Rectangle 821"/>
          <p:cNvSpPr>
            <a:spLocks noGrp="1" noChangeArrowheads="1"/>
          </p:cNvSpPr>
          <p:nvPr>
            <p:ph type="body" sz="half" idx="4294967295"/>
          </p:nvPr>
        </p:nvSpPr>
        <p:spPr>
          <a:xfrm>
            <a:off x="539750" y="1052513"/>
            <a:ext cx="8280722" cy="1936750"/>
          </a:xfrm>
        </p:spPr>
        <p:txBody>
          <a:bodyPr>
            <a:normAutofit/>
          </a:bodyPr>
          <a:lstStyle/>
          <a:p>
            <a:pPr marL="469900" indent="-469900" eaLnBrk="1" hangingPunct="1"/>
            <a:r>
              <a:rPr lang="zh-CN" altLang="en-US" sz="2400" b="1" dirty="0">
                <a:latin typeface="+mj-ea"/>
                <a:ea typeface="+mj-ea"/>
              </a:rPr>
              <a:t>一种指令集结构可以有多种组成。同样，一种组成可以有多种物理实现。</a:t>
            </a:r>
            <a:r>
              <a:rPr lang="zh-CN" altLang="en-US" sz="2400" b="1" dirty="0">
                <a:solidFill>
                  <a:srgbClr val="FF0000"/>
                </a:solidFill>
                <a:latin typeface="+mj-ea"/>
                <a:ea typeface="+mj-ea"/>
              </a:rPr>
              <a:t>系列机</a:t>
            </a:r>
            <a:r>
              <a:rPr lang="zh-CN" altLang="en-US" sz="2400" b="1" dirty="0">
                <a:latin typeface="+mj-ea"/>
                <a:ea typeface="+mj-ea"/>
              </a:rPr>
              <a:t>就是指在</a:t>
            </a:r>
            <a:r>
              <a:rPr lang="zh-CN" altLang="en-US" sz="2400" b="1" dirty="0">
                <a:solidFill>
                  <a:srgbClr val="FF0000"/>
                </a:solidFill>
                <a:latin typeface="+mj-ea"/>
                <a:ea typeface="+mj-ea"/>
              </a:rPr>
              <a:t>一个厂家</a:t>
            </a:r>
            <a:r>
              <a:rPr lang="zh-CN" altLang="en-US" sz="2400" b="1" dirty="0">
                <a:latin typeface="+mj-ea"/>
                <a:ea typeface="+mj-ea"/>
              </a:rPr>
              <a:t>生产的具有相同的指令集结构，但具有不同组成和实现的一系列不同型号的机器。</a:t>
            </a:r>
          </a:p>
        </p:txBody>
      </p:sp>
      <p:graphicFrame>
        <p:nvGraphicFramePr>
          <p:cNvPr id="243518" name="Group 830"/>
          <p:cNvGraphicFramePr>
            <a:graphicFrameLocks noGrp="1"/>
          </p:cNvGraphicFramePr>
          <p:nvPr>
            <p:ph sz="half" idx="4294967295"/>
          </p:nvPr>
        </p:nvGraphicFramePr>
        <p:xfrm>
          <a:off x="1164662" y="2850894"/>
          <a:ext cx="6802438" cy="3184529"/>
        </p:xfrm>
        <a:graphic>
          <a:graphicData uri="http://schemas.openxmlformats.org/drawingml/2006/table">
            <a:tbl>
              <a:tblPr/>
              <a:tblGrid>
                <a:gridCol w="1687513">
                  <a:extLst>
                    <a:ext uri="{9D8B030D-6E8A-4147-A177-3AD203B41FA5}">
                      <a16:colId xmlns:a16="http://schemas.microsoft.com/office/drawing/2014/main" val="20000"/>
                    </a:ext>
                  </a:extLst>
                </a:gridCol>
                <a:gridCol w="846137">
                  <a:extLst>
                    <a:ext uri="{9D8B030D-6E8A-4147-A177-3AD203B41FA5}">
                      <a16:colId xmlns:a16="http://schemas.microsoft.com/office/drawing/2014/main" val="20001"/>
                    </a:ext>
                  </a:extLst>
                </a:gridCol>
                <a:gridCol w="1389063">
                  <a:extLst>
                    <a:ext uri="{9D8B030D-6E8A-4147-A177-3AD203B41FA5}">
                      <a16:colId xmlns:a16="http://schemas.microsoft.com/office/drawing/2014/main" val="20002"/>
                    </a:ext>
                  </a:extLst>
                </a:gridCol>
                <a:gridCol w="938212">
                  <a:extLst>
                    <a:ext uri="{9D8B030D-6E8A-4147-A177-3AD203B41FA5}">
                      <a16:colId xmlns:a16="http://schemas.microsoft.com/office/drawing/2014/main" val="20003"/>
                    </a:ext>
                  </a:extLst>
                </a:gridCol>
                <a:gridCol w="1941513">
                  <a:extLst>
                    <a:ext uri="{9D8B030D-6E8A-4147-A177-3AD203B41FA5}">
                      <a16:colId xmlns:a16="http://schemas.microsoft.com/office/drawing/2014/main" val="20004"/>
                    </a:ext>
                  </a:extLst>
                </a:gridCol>
              </a:tblGrid>
              <a:tr h="3540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zh-CN" altLang="en-US" sz="1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计算机</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时间</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处理器</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zh-CN" altLang="en-US" sz="1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字宽</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主要</a:t>
                      </a: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I/O</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总线</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540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 XT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1981</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8088</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总线</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540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 AT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1982</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80286</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ISA</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540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80386 PC</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1985</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80386</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ISA/EISA</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52425">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80486 PC</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1989</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80486</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ISA+VL</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540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 PC</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1993</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ISA+PCI</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540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 II PC</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1997</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 II</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ISA+PCI+AGP</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540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 III PC</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1999</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 III</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PCI+AGP +USB</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3540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 4 PC</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2000</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 4</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1"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Tx/>
                        <a:buNone/>
                      </a:pPr>
                      <a:r>
                        <a:rPr kumimoji="1" lang="en-US" altLang="zh-CN" sz="1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PCI-X+AGP +USB</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日期占位符 1">
            <a:extLst>
              <a:ext uri="{FF2B5EF4-FFF2-40B4-BE49-F238E27FC236}">
                <a16:creationId xmlns:a16="http://schemas.microsoft.com/office/drawing/2014/main" id="{E87AFF8C-C153-E188-6013-E91B149515A2}"/>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461A35D1-A1FE-A14A-9678-088899D6EF5A}"/>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10</a:t>
            </a:fld>
            <a:endParaRPr lang="en-US" altLang="zh-CN"/>
          </a:p>
        </p:txBody>
      </p:sp>
      <p:sp>
        <p:nvSpPr>
          <p:cNvPr id="4" name="页脚占位符 4">
            <a:extLst>
              <a:ext uri="{FF2B5EF4-FFF2-40B4-BE49-F238E27FC236}">
                <a16:creationId xmlns:a16="http://schemas.microsoft.com/office/drawing/2014/main" id="{7E69CCCA-2389-813E-02C7-1EE587198AA0}"/>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4211205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p:txBody>
          <a:bodyPr>
            <a:normAutofit/>
          </a:bodyPr>
          <a:lstStyle/>
          <a:p>
            <a:r>
              <a:rPr kumimoji="1" lang="zh-CN" altLang="en-US" sz="3600" b="1" dirty="0">
                <a:latin typeface="+mj-ea"/>
                <a:cs typeface="+mn-cs"/>
              </a:rPr>
              <a:t>软件兼容</a:t>
            </a:r>
          </a:p>
        </p:txBody>
      </p:sp>
      <p:sp>
        <p:nvSpPr>
          <p:cNvPr id="8195" name="Rectangle 3"/>
          <p:cNvSpPr>
            <a:spLocks noGrp="1" noChangeArrowheads="1"/>
          </p:cNvSpPr>
          <p:nvPr>
            <p:ph type="body" idx="4294967295"/>
          </p:nvPr>
        </p:nvSpPr>
        <p:spPr>
          <a:xfrm>
            <a:off x="457200" y="1412776"/>
            <a:ext cx="8075240" cy="4525963"/>
          </a:xfrm>
        </p:spPr>
        <p:txBody>
          <a:bodyPr>
            <a:noAutofit/>
          </a:bodyPr>
          <a:lstStyle/>
          <a:p>
            <a:r>
              <a:rPr lang="zh-CN" altLang="en-US" sz="2400" b="1" dirty="0">
                <a:latin typeface="Times New Roman" panose="02020603050405020304" pitchFamily="18" charset="0"/>
                <a:ea typeface="+mj-ea"/>
                <a:cs typeface="Times New Roman" panose="02020603050405020304" pitchFamily="18" charset="0"/>
              </a:rPr>
              <a:t>长期以来，程序员希望有一个稳定的软件环境，使他们编制出来的程序能够在更加广泛计算机类型中得到长期的应用。</a:t>
            </a:r>
          </a:p>
          <a:p>
            <a:r>
              <a:rPr lang="zh-CN" altLang="en-US" sz="2400" b="1" dirty="0">
                <a:latin typeface="Times New Roman" panose="02020603050405020304" pitchFamily="18" charset="0"/>
                <a:ea typeface="+mj-ea"/>
                <a:cs typeface="Times New Roman" panose="02020603050405020304" pitchFamily="18" charset="0"/>
              </a:rPr>
              <a:t>软件兼容（</a:t>
            </a:r>
            <a:r>
              <a:rPr lang="en-US" altLang="zh-CN" sz="2400" b="1" dirty="0">
                <a:latin typeface="Times New Roman" panose="02020603050405020304" pitchFamily="18" charset="0"/>
                <a:ea typeface="+mj-ea"/>
                <a:cs typeface="Times New Roman" panose="02020603050405020304" pitchFamily="18" charset="0"/>
              </a:rPr>
              <a:t>software compatibility</a:t>
            </a:r>
            <a:r>
              <a:rPr lang="zh-CN" altLang="en-US" sz="2400" b="1" dirty="0">
                <a:latin typeface="Times New Roman" panose="02020603050405020304" pitchFamily="18" charset="0"/>
                <a:ea typeface="+mj-ea"/>
                <a:cs typeface="Times New Roman" panose="02020603050405020304" pitchFamily="18" charset="0"/>
              </a:rPr>
              <a:t>）</a:t>
            </a:r>
          </a:p>
          <a:p>
            <a:pPr lvl="1"/>
            <a:r>
              <a:rPr lang="zh-CN" altLang="en-US" sz="2400" b="1" dirty="0">
                <a:latin typeface="Times New Roman" panose="02020603050405020304" pitchFamily="18" charset="0"/>
                <a:ea typeface="+mj-ea"/>
                <a:cs typeface="Times New Roman" panose="02020603050405020304" pitchFamily="18" charset="0"/>
              </a:rPr>
              <a:t>系列机具有相同的体系结构，软件可以在系列计算机的各档机器上运行。</a:t>
            </a:r>
          </a:p>
          <a:p>
            <a:pPr lvl="1"/>
            <a:r>
              <a:rPr lang="zh-CN" altLang="en-US" sz="2400" b="1" dirty="0">
                <a:latin typeface="Times New Roman" panose="02020603050405020304" pitchFamily="18" charset="0"/>
                <a:ea typeface="+mj-ea"/>
                <a:cs typeface="Times New Roman" panose="02020603050405020304" pitchFamily="18" charset="0"/>
              </a:rPr>
              <a:t>同一个软件可以不加修改地运行于体系结构相同的各档机器，而且它们所获得的结果一样，差别只在于有不同的运行时间。</a:t>
            </a:r>
          </a:p>
          <a:p>
            <a:pPr lvl="1"/>
            <a:r>
              <a:rPr lang="zh-CN" altLang="en-US" sz="2400" b="1" dirty="0">
                <a:latin typeface="Times New Roman" panose="02020603050405020304" pitchFamily="18" charset="0"/>
                <a:ea typeface="+mj-ea"/>
                <a:cs typeface="Times New Roman" panose="02020603050405020304" pitchFamily="18" charset="0"/>
              </a:rPr>
              <a:t>兼容分为二进制级兼容、汇编级兼容、高级语言兼容、数据级兼容等等。</a:t>
            </a:r>
          </a:p>
        </p:txBody>
      </p:sp>
      <p:sp>
        <p:nvSpPr>
          <p:cNvPr id="2" name="日期占位符 1">
            <a:extLst>
              <a:ext uri="{FF2B5EF4-FFF2-40B4-BE49-F238E27FC236}">
                <a16:creationId xmlns:a16="http://schemas.microsoft.com/office/drawing/2014/main" id="{85DE8CE1-F6F3-091E-7C03-7C84DA6C766C}"/>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F813EC4F-80C8-2E65-E9C5-EF799A0F4526}"/>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11</a:t>
            </a:fld>
            <a:endParaRPr lang="en-US" altLang="zh-CN"/>
          </a:p>
        </p:txBody>
      </p:sp>
      <p:sp>
        <p:nvSpPr>
          <p:cNvPr id="4" name="页脚占位符 4">
            <a:extLst>
              <a:ext uri="{FF2B5EF4-FFF2-40B4-BE49-F238E27FC236}">
                <a16:creationId xmlns:a16="http://schemas.microsoft.com/office/drawing/2014/main" id="{A61F9577-22D5-8F50-7F48-3BE14B8D67A4}"/>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835780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normAutofit/>
          </a:bodyPr>
          <a:lstStyle/>
          <a:p>
            <a:r>
              <a:rPr kumimoji="1" lang="zh-CN" altLang="en-US" sz="3600" b="1" dirty="0">
                <a:latin typeface="+mj-ea"/>
                <a:cs typeface="+mn-cs"/>
              </a:rPr>
              <a:t>兼容机</a:t>
            </a:r>
          </a:p>
        </p:txBody>
      </p:sp>
      <p:sp>
        <p:nvSpPr>
          <p:cNvPr id="9219" name="Rectangle 3"/>
          <p:cNvSpPr>
            <a:spLocks noGrp="1" noChangeArrowheads="1"/>
          </p:cNvSpPr>
          <p:nvPr>
            <p:ph type="body" idx="4294967295"/>
          </p:nvPr>
        </p:nvSpPr>
        <p:spPr>
          <a:xfrm>
            <a:off x="457200" y="1412776"/>
            <a:ext cx="8229600" cy="4525963"/>
          </a:xfrm>
        </p:spPr>
        <p:txBody>
          <a:bodyPr>
            <a:noAutofit/>
          </a:bodyPr>
          <a:lstStyle/>
          <a:p>
            <a:pPr>
              <a:lnSpc>
                <a:spcPct val="120000"/>
              </a:lnSpc>
            </a:pPr>
            <a:r>
              <a:rPr lang="zh-CN" altLang="en-US" sz="2400" b="1" dirty="0">
                <a:latin typeface="Times New Roman" panose="02020603050405020304" pitchFamily="18" charset="0"/>
                <a:ea typeface="+mj-ea"/>
                <a:cs typeface="Times New Roman" panose="02020603050405020304" pitchFamily="18" charset="0"/>
              </a:rPr>
              <a:t>虽然程序员希望有一个稳定的软件环境，但是机器设计人员则希望根据硬件技术和器件技术的进展不断地推出新的机器。</a:t>
            </a:r>
          </a:p>
          <a:p>
            <a:pPr>
              <a:lnSpc>
                <a:spcPct val="120000"/>
              </a:lnSpc>
            </a:pPr>
            <a:r>
              <a:rPr lang="zh-CN" altLang="en-US" sz="2400" b="1" dirty="0">
                <a:latin typeface="Times New Roman" panose="02020603050405020304" pitchFamily="18" charset="0"/>
                <a:ea typeface="+mj-ea"/>
                <a:cs typeface="Times New Roman" panose="02020603050405020304" pitchFamily="18" charset="0"/>
              </a:rPr>
              <a:t>兼容机（</a:t>
            </a:r>
            <a:r>
              <a:rPr lang="en-US" altLang="zh-CN" sz="2400" b="1" dirty="0">
                <a:latin typeface="Times New Roman" panose="02020603050405020304" pitchFamily="18" charset="0"/>
                <a:ea typeface="+mj-ea"/>
                <a:cs typeface="Times New Roman" panose="02020603050405020304" pitchFamily="18" charset="0"/>
              </a:rPr>
              <a:t>Compatible Machine</a:t>
            </a:r>
            <a:r>
              <a:rPr lang="zh-CN" altLang="en-US" sz="2400" b="1" dirty="0">
                <a:latin typeface="Times New Roman" panose="02020603050405020304" pitchFamily="18" charset="0"/>
                <a:ea typeface="+mj-ea"/>
                <a:cs typeface="Times New Roman" panose="02020603050405020304" pitchFamily="18" charset="0"/>
              </a:rPr>
              <a:t>）</a:t>
            </a:r>
          </a:p>
          <a:p>
            <a:pPr lvl="1">
              <a:lnSpc>
                <a:spcPct val="120000"/>
              </a:lnSpc>
            </a:pPr>
            <a:r>
              <a:rPr lang="zh-CN" altLang="en-US" sz="2400" b="1" dirty="0">
                <a:latin typeface="Times New Roman" panose="02020603050405020304" pitchFamily="18" charset="0"/>
                <a:ea typeface="+mj-ea"/>
                <a:cs typeface="Times New Roman" panose="02020603050405020304" pitchFamily="18" charset="0"/>
              </a:rPr>
              <a:t>不同厂家生产的具有相同体系结构的计算机</a:t>
            </a:r>
          </a:p>
          <a:p>
            <a:pPr lvl="1">
              <a:lnSpc>
                <a:spcPct val="120000"/>
              </a:lnSpc>
            </a:pPr>
            <a:r>
              <a:rPr lang="zh-CN" altLang="en-US" sz="2400" b="1" dirty="0">
                <a:latin typeface="Times New Roman" panose="02020603050405020304" pitchFamily="18" charset="0"/>
                <a:ea typeface="+mj-ea"/>
                <a:cs typeface="Times New Roman" panose="02020603050405020304" pitchFamily="18" charset="0"/>
              </a:rPr>
              <a:t>推动了部件标准的规范化，推进了计算机产品标准化的进程，降低生产和制造成本。</a:t>
            </a:r>
          </a:p>
          <a:p>
            <a:pPr lvl="1">
              <a:lnSpc>
                <a:spcPct val="120000"/>
              </a:lnSpc>
            </a:pPr>
            <a:r>
              <a:rPr lang="zh-CN" altLang="en-US" sz="2400" b="1" dirty="0">
                <a:latin typeface="Times New Roman" panose="02020603050405020304" pitchFamily="18" charset="0"/>
                <a:ea typeface="+mj-ea"/>
                <a:cs typeface="Times New Roman" panose="02020603050405020304" pitchFamily="18" charset="0"/>
              </a:rPr>
              <a:t>在市场上有较强的竞争能力</a:t>
            </a:r>
          </a:p>
        </p:txBody>
      </p:sp>
      <p:sp>
        <p:nvSpPr>
          <p:cNvPr id="2" name="日期占位符 1">
            <a:extLst>
              <a:ext uri="{FF2B5EF4-FFF2-40B4-BE49-F238E27FC236}">
                <a16:creationId xmlns:a16="http://schemas.microsoft.com/office/drawing/2014/main" id="{109A01C1-76A5-3511-4D7A-F53D5DD9BB1C}"/>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191EE996-1812-2DF6-275F-6BD08CF2BF9C}"/>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12</a:t>
            </a:fld>
            <a:endParaRPr lang="en-US" altLang="zh-CN"/>
          </a:p>
        </p:txBody>
      </p:sp>
      <p:sp>
        <p:nvSpPr>
          <p:cNvPr id="4" name="页脚占位符 4">
            <a:extLst>
              <a:ext uri="{FF2B5EF4-FFF2-40B4-BE49-F238E27FC236}">
                <a16:creationId xmlns:a16="http://schemas.microsoft.com/office/drawing/2014/main" id="{4B5BDE7D-8D68-85C8-55BF-D32BA557E07F}"/>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513253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1"/>
          <p:cNvSpPr>
            <a:spLocks noGrp="1" noChangeArrowheads="1"/>
          </p:cNvSpPr>
          <p:nvPr>
            <p:ph type="title" idx="4294967295"/>
          </p:nvPr>
        </p:nvSpPr>
        <p:spPr>
          <a:xfrm>
            <a:off x="457200" y="44624"/>
            <a:ext cx="8229600" cy="1143000"/>
          </a:xfrm>
        </p:spPr>
        <p:txBody>
          <a:bodyPr>
            <a:normAutofit/>
          </a:bodyPr>
          <a:lstStyle/>
          <a:p>
            <a:r>
              <a:rPr kumimoji="1" lang="zh-CN" altLang="en-US" sz="3600" b="1" dirty="0">
                <a:latin typeface="+mj-ea"/>
                <a:cs typeface="+mn-cs"/>
              </a:rPr>
              <a:t>兼容性</a:t>
            </a:r>
          </a:p>
        </p:txBody>
      </p:sp>
      <p:sp>
        <p:nvSpPr>
          <p:cNvPr id="1028" name="Rectangle 22"/>
          <p:cNvSpPr>
            <a:spLocks noGrp="1" noChangeArrowheads="1"/>
          </p:cNvSpPr>
          <p:nvPr>
            <p:ph type="body" sz="half" idx="4294967295"/>
          </p:nvPr>
        </p:nvSpPr>
        <p:spPr>
          <a:xfrm>
            <a:off x="539750" y="1052513"/>
            <a:ext cx="8001000" cy="2479675"/>
          </a:xfrm>
        </p:spPr>
        <p:txBody>
          <a:bodyPr>
            <a:normAutofit/>
          </a:bodyPr>
          <a:lstStyle/>
          <a:p>
            <a:r>
              <a:rPr lang="zh-CN" altLang="en-US" sz="2400" b="1" dirty="0">
                <a:latin typeface="+mj-ea"/>
                <a:ea typeface="+mj-ea"/>
              </a:rPr>
              <a:t>向上</a:t>
            </a:r>
            <a:r>
              <a:rPr lang="en-US" altLang="zh-CN" sz="2400" b="1" dirty="0">
                <a:latin typeface="+mj-ea"/>
                <a:ea typeface="+mj-ea"/>
              </a:rPr>
              <a:t>(</a:t>
            </a:r>
            <a:r>
              <a:rPr lang="zh-CN" altLang="en-US" sz="2400" b="1" dirty="0">
                <a:latin typeface="+mj-ea"/>
                <a:ea typeface="+mj-ea"/>
              </a:rPr>
              <a:t>下</a:t>
            </a:r>
            <a:r>
              <a:rPr lang="en-US" altLang="zh-CN" sz="2400" b="1" dirty="0">
                <a:latin typeface="+mj-ea"/>
                <a:ea typeface="+mj-ea"/>
              </a:rPr>
              <a:t>)</a:t>
            </a:r>
            <a:r>
              <a:rPr lang="zh-CN" altLang="en-US" sz="2400" b="1" dirty="0">
                <a:latin typeface="+mj-ea"/>
                <a:ea typeface="+mj-ea"/>
              </a:rPr>
              <a:t>兼容指的是按某档机器编制的程序，不加修改的就能运行于比它高</a:t>
            </a:r>
            <a:r>
              <a:rPr lang="en-US" altLang="zh-CN" sz="2400" b="1" dirty="0">
                <a:latin typeface="+mj-ea"/>
                <a:ea typeface="+mj-ea"/>
              </a:rPr>
              <a:t>(</a:t>
            </a:r>
            <a:r>
              <a:rPr lang="zh-CN" altLang="en-US" sz="2400" b="1" dirty="0">
                <a:latin typeface="+mj-ea"/>
                <a:ea typeface="+mj-ea"/>
              </a:rPr>
              <a:t>低</a:t>
            </a:r>
            <a:r>
              <a:rPr lang="en-US" altLang="zh-CN" sz="2400" b="1" dirty="0">
                <a:latin typeface="+mj-ea"/>
                <a:ea typeface="+mj-ea"/>
              </a:rPr>
              <a:t>)</a:t>
            </a:r>
            <a:r>
              <a:rPr lang="zh-CN" altLang="en-US" sz="2400" b="1" dirty="0">
                <a:latin typeface="+mj-ea"/>
                <a:ea typeface="+mj-ea"/>
              </a:rPr>
              <a:t>档的机器</a:t>
            </a:r>
          </a:p>
          <a:p>
            <a:r>
              <a:rPr lang="zh-CN" altLang="en-US" sz="2400" b="1" dirty="0">
                <a:latin typeface="+mj-ea"/>
                <a:ea typeface="+mj-ea"/>
              </a:rPr>
              <a:t>向前</a:t>
            </a:r>
            <a:r>
              <a:rPr lang="en-US" altLang="zh-CN" sz="2400" b="1" dirty="0">
                <a:latin typeface="+mj-ea"/>
                <a:ea typeface="+mj-ea"/>
              </a:rPr>
              <a:t>(</a:t>
            </a:r>
            <a:r>
              <a:rPr lang="zh-CN" altLang="en-US" sz="2400" b="1" dirty="0">
                <a:latin typeface="+mj-ea"/>
                <a:ea typeface="+mj-ea"/>
              </a:rPr>
              <a:t>后</a:t>
            </a:r>
            <a:r>
              <a:rPr lang="en-US" altLang="zh-CN" sz="2400" b="1" dirty="0">
                <a:latin typeface="+mj-ea"/>
                <a:ea typeface="+mj-ea"/>
              </a:rPr>
              <a:t>)</a:t>
            </a:r>
            <a:r>
              <a:rPr lang="zh-CN" altLang="en-US" sz="2400" b="1" dirty="0">
                <a:latin typeface="+mj-ea"/>
                <a:ea typeface="+mj-ea"/>
              </a:rPr>
              <a:t>兼容指的是按某个时期投入市场的某种型号机器编制的程序，不加修改地就能运行于在它之前</a:t>
            </a:r>
            <a:r>
              <a:rPr lang="en-US" altLang="zh-CN" sz="2400" b="1" dirty="0">
                <a:latin typeface="+mj-ea"/>
                <a:ea typeface="+mj-ea"/>
              </a:rPr>
              <a:t>(</a:t>
            </a:r>
            <a:r>
              <a:rPr lang="zh-CN" altLang="en-US" sz="2400" b="1" dirty="0">
                <a:latin typeface="+mj-ea"/>
                <a:ea typeface="+mj-ea"/>
              </a:rPr>
              <a:t>后</a:t>
            </a:r>
            <a:r>
              <a:rPr lang="en-US" altLang="zh-CN" sz="2400" b="1" dirty="0">
                <a:latin typeface="+mj-ea"/>
                <a:ea typeface="+mj-ea"/>
              </a:rPr>
              <a:t>)</a:t>
            </a:r>
            <a:r>
              <a:rPr lang="zh-CN" altLang="en-US" sz="2400" b="1" dirty="0">
                <a:latin typeface="+mj-ea"/>
                <a:ea typeface="+mj-ea"/>
              </a:rPr>
              <a:t>投入市场的机器</a:t>
            </a:r>
          </a:p>
        </p:txBody>
      </p:sp>
      <p:graphicFrame>
        <p:nvGraphicFramePr>
          <p:cNvPr id="1026" name="Object 23"/>
          <p:cNvGraphicFramePr>
            <a:graphicFrameLocks noGrp="1" noChangeAspect="1"/>
          </p:cNvGraphicFramePr>
          <p:nvPr>
            <p:ph sz="half" idx="4294967295"/>
          </p:nvPr>
        </p:nvGraphicFramePr>
        <p:xfrm>
          <a:off x="1763713" y="3212976"/>
          <a:ext cx="5549900" cy="3200400"/>
        </p:xfrm>
        <a:graphic>
          <a:graphicData uri="http://schemas.openxmlformats.org/presentationml/2006/ole">
            <mc:AlternateContent xmlns:mc="http://schemas.openxmlformats.org/markup-compatibility/2006">
              <mc:Choice xmlns:v="urn:schemas-microsoft-com:vml" Requires="v">
                <p:oleObj name="图片" r:id="rId3" imgW="3087370" imgH="1783080" progId="Word.Picture.8">
                  <p:embed/>
                </p:oleObj>
              </mc:Choice>
              <mc:Fallback>
                <p:oleObj name="图片" r:id="rId3" imgW="3087370" imgH="178308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3212976"/>
                        <a:ext cx="55499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4AF60160-339F-6329-30E8-9C6E27D725F2}"/>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DE4824CE-F4DF-6938-F8FB-C1D9D8EB9A42}"/>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13</a:t>
            </a:fld>
            <a:endParaRPr lang="en-US" altLang="zh-CN"/>
          </a:p>
        </p:txBody>
      </p:sp>
      <p:sp>
        <p:nvSpPr>
          <p:cNvPr id="4" name="页脚占位符 4">
            <a:extLst>
              <a:ext uri="{FF2B5EF4-FFF2-40B4-BE49-F238E27FC236}">
                <a16:creationId xmlns:a16="http://schemas.microsoft.com/office/drawing/2014/main" id="{46DDAFD8-46F3-9F2A-7C26-872D0A580060}"/>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1529396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p:txBody>
          <a:bodyPr>
            <a:normAutofit/>
          </a:bodyPr>
          <a:lstStyle/>
          <a:p>
            <a:r>
              <a:rPr kumimoji="1" lang="en-US" altLang="zh-CN" sz="3600" b="1" dirty="0">
                <a:latin typeface="+mj-ea"/>
                <a:cs typeface="+mn-cs"/>
              </a:rPr>
              <a:t>Intel</a:t>
            </a:r>
            <a:r>
              <a:rPr kumimoji="1" lang="zh-CN" altLang="en-US" sz="3600" b="1" dirty="0">
                <a:latin typeface="+mj-ea"/>
                <a:cs typeface="+mn-cs"/>
              </a:rPr>
              <a:t>公司的</a:t>
            </a:r>
            <a:r>
              <a:rPr kumimoji="1" lang="en-US" altLang="zh-CN" sz="3600" b="1" dirty="0">
                <a:latin typeface="+mj-ea"/>
                <a:cs typeface="+mn-cs"/>
              </a:rPr>
              <a:t>x86</a:t>
            </a:r>
            <a:r>
              <a:rPr kumimoji="1" lang="zh-CN" altLang="en-US" sz="3600" b="1" dirty="0">
                <a:latin typeface="+mj-ea"/>
                <a:cs typeface="+mn-cs"/>
              </a:rPr>
              <a:t>系列</a:t>
            </a:r>
          </a:p>
        </p:txBody>
      </p:sp>
      <p:sp>
        <p:nvSpPr>
          <p:cNvPr id="11267" name="Rectangle 3"/>
          <p:cNvSpPr>
            <a:spLocks noGrp="1" noChangeArrowheads="1"/>
          </p:cNvSpPr>
          <p:nvPr>
            <p:ph type="body" idx="4294967295"/>
          </p:nvPr>
        </p:nvSpPr>
        <p:spPr>
          <a:xfrm>
            <a:off x="457200" y="1600201"/>
            <a:ext cx="8229600" cy="3412976"/>
          </a:xfrm>
        </p:spPr>
        <p:txBody>
          <a:bodyPr>
            <a:normAutofit/>
          </a:bodyPr>
          <a:lstStyle/>
          <a:p>
            <a:r>
              <a:rPr lang="en-US" altLang="zh-CN" sz="2400" b="1" dirty="0">
                <a:latin typeface="+mj-ea"/>
                <a:ea typeface="+mj-ea"/>
              </a:rPr>
              <a:t>Intel</a:t>
            </a:r>
            <a:r>
              <a:rPr lang="zh-CN" altLang="en-US" sz="2400" b="1" dirty="0">
                <a:latin typeface="+mj-ea"/>
                <a:ea typeface="+mj-ea"/>
              </a:rPr>
              <a:t>公司的</a:t>
            </a:r>
            <a:r>
              <a:rPr lang="en-US" altLang="zh-CN" sz="2400" b="1" dirty="0">
                <a:latin typeface="+mj-ea"/>
                <a:ea typeface="+mj-ea"/>
              </a:rPr>
              <a:t>x86</a:t>
            </a:r>
            <a:r>
              <a:rPr lang="zh-CN" altLang="en-US" sz="2400" b="1" dirty="0">
                <a:latin typeface="+mj-ea"/>
                <a:ea typeface="+mj-ea"/>
              </a:rPr>
              <a:t>系列微处理器在向后兼容方面是非常具有代表性的</a:t>
            </a:r>
          </a:p>
          <a:p>
            <a:r>
              <a:rPr lang="en-US" altLang="zh-CN" sz="2400" b="1" dirty="0">
                <a:latin typeface="+mj-ea"/>
                <a:ea typeface="+mj-ea"/>
              </a:rPr>
              <a:t>1979</a:t>
            </a:r>
            <a:r>
              <a:rPr lang="zh-CN" altLang="en-US" sz="2400" b="1" dirty="0">
                <a:latin typeface="+mj-ea"/>
                <a:ea typeface="+mj-ea"/>
              </a:rPr>
              <a:t>年的</a:t>
            </a:r>
            <a:r>
              <a:rPr lang="en-US" altLang="zh-CN" sz="2400" b="1" dirty="0">
                <a:latin typeface="+mj-ea"/>
                <a:ea typeface="+mj-ea"/>
              </a:rPr>
              <a:t>8086</a:t>
            </a:r>
            <a:r>
              <a:rPr lang="zh-CN" altLang="en-US" sz="2400" b="1" dirty="0">
                <a:latin typeface="+mj-ea"/>
                <a:ea typeface="+mj-ea"/>
              </a:rPr>
              <a:t>到</a:t>
            </a:r>
            <a:r>
              <a:rPr lang="en-US" altLang="zh-CN" sz="2400" b="1" dirty="0">
                <a:latin typeface="+mj-ea"/>
                <a:ea typeface="+mj-ea"/>
              </a:rPr>
              <a:t>2009</a:t>
            </a:r>
            <a:r>
              <a:rPr lang="zh-CN" altLang="en-US" sz="2400" b="1" dirty="0">
                <a:latin typeface="+mj-ea"/>
                <a:ea typeface="+mj-ea"/>
              </a:rPr>
              <a:t>年的</a:t>
            </a:r>
            <a:r>
              <a:rPr lang="en-US" altLang="zh-CN" sz="2400" b="1" dirty="0">
                <a:latin typeface="+mj-ea"/>
                <a:ea typeface="+mj-ea"/>
              </a:rPr>
              <a:t>Nehalem</a:t>
            </a:r>
          </a:p>
          <a:p>
            <a:r>
              <a:rPr lang="zh-CN" altLang="en-US" sz="2400" b="1" dirty="0">
                <a:latin typeface="+mj-ea"/>
                <a:ea typeface="+mj-ea"/>
              </a:rPr>
              <a:t>由</a:t>
            </a:r>
            <a:r>
              <a:rPr lang="en-US" altLang="zh-CN" sz="2400" b="1" dirty="0">
                <a:latin typeface="+mj-ea"/>
                <a:ea typeface="+mj-ea"/>
              </a:rPr>
              <a:t>16</a:t>
            </a:r>
            <a:r>
              <a:rPr lang="zh-CN" altLang="en-US" sz="2400" b="1" dirty="0">
                <a:latin typeface="+mj-ea"/>
                <a:ea typeface="+mj-ea"/>
              </a:rPr>
              <a:t>位系统发展到</a:t>
            </a:r>
            <a:r>
              <a:rPr lang="en-US" altLang="zh-CN" sz="2400" b="1" dirty="0">
                <a:latin typeface="+mj-ea"/>
                <a:ea typeface="+mj-ea"/>
              </a:rPr>
              <a:t>64</a:t>
            </a:r>
            <a:r>
              <a:rPr lang="zh-CN" altLang="en-US" sz="2400" b="1" dirty="0">
                <a:latin typeface="+mj-ea"/>
                <a:ea typeface="+mj-ea"/>
              </a:rPr>
              <a:t>位系统</a:t>
            </a:r>
          </a:p>
          <a:p>
            <a:r>
              <a:rPr lang="zh-CN" altLang="en-US" sz="2400" b="1" dirty="0">
                <a:latin typeface="+mj-ea"/>
                <a:ea typeface="+mj-ea"/>
              </a:rPr>
              <a:t>增加了保护方式指令集、</a:t>
            </a:r>
            <a:r>
              <a:rPr lang="en-US" altLang="zh-CN" sz="2400" b="1" dirty="0">
                <a:latin typeface="+mj-ea"/>
                <a:ea typeface="+mj-ea"/>
              </a:rPr>
              <a:t>MMX</a:t>
            </a:r>
            <a:r>
              <a:rPr lang="zh-CN" altLang="en-US" sz="2400" b="1" dirty="0">
                <a:latin typeface="+mj-ea"/>
                <a:ea typeface="+mj-ea"/>
              </a:rPr>
              <a:t>指令集和面向</a:t>
            </a:r>
            <a:r>
              <a:rPr lang="en-US" altLang="zh-CN" sz="2400" b="1" dirty="0">
                <a:latin typeface="+mj-ea"/>
                <a:ea typeface="+mj-ea"/>
              </a:rPr>
              <a:t>64</a:t>
            </a:r>
            <a:r>
              <a:rPr lang="zh-CN" altLang="en-US" sz="2400" b="1" dirty="0">
                <a:latin typeface="+mj-ea"/>
                <a:ea typeface="+mj-ea"/>
              </a:rPr>
              <a:t>位的扩展等</a:t>
            </a:r>
          </a:p>
          <a:p>
            <a:r>
              <a:rPr lang="zh-CN" altLang="en-US" sz="2400" b="1" dirty="0">
                <a:latin typeface="+mj-ea"/>
                <a:ea typeface="+mj-ea"/>
              </a:rPr>
              <a:t>但它保持了极好的二进制代码级的向后兼容性</a:t>
            </a:r>
          </a:p>
        </p:txBody>
      </p:sp>
      <p:sp>
        <p:nvSpPr>
          <p:cNvPr id="2" name="日期占位符 1">
            <a:extLst>
              <a:ext uri="{FF2B5EF4-FFF2-40B4-BE49-F238E27FC236}">
                <a16:creationId xmlns:a16="http://schemas.microsoft.com/office/drawing/2014/main" id="{190F3685-BB17-FE62-1589-919A59B6FD03}"/>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D9E573F9-8F68-98C2-7A97-99E6193BC336}"/>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14</a:t>
            </a:fld>
            <a:endParaRPr lang="en-US" altLang="zh-CN"/>
          </a:p>
        </p:txBody>
      </p:sp>
      <p:sp>
        <p:nvSpPr>
          <p:cNvPr id="4" name="页脚占位符 4">
            <a:extLst>
              <a:ext uri="{FF2B5EF4-FFF2-40B4-BE49-F238E27FC236}">
                <a16:creationId xmlns:a16="http://schemas.microsoft.com/office/drawing/2014/main" id="{D5538A47-5BA6-A86A-0657-05867E9FCB89}"/>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51226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
          <p:cNvSpPr>
            <a:spLocks noGrp="1" noChangeArrowheads="1"/>
          </p:cNvSpPr>
          <p:nvPr>
            <p:ph type="title" idx="4294967295"/>
          </p:nvPr>
        </p:nvSpPr>
        <p:spPr>
          <a:xfrm>
            <a:off x="457200" y="125760"/>
            <a:ext cx="8229600" cy="1143000"/>
          </a:xfrm>
        </p:spPr>
        <p:txBody>
          <a:bodyPr>
            <a:normAutofit/>
          </a:bodyPr>
          <a:lstStyle/>
          <a:p>
            <a:r>
              <a:rPr kumimoji="1" lang="zh-CN" altLang="en-US" sz="3600" b="1" dirty="0">
                <a:latin typeface="Verdana" panose="020B0604030504040204" pitchFamily="34" charset="0"/>
                <a:ea typeface="华文中宋" panose="02010600040101010101" pitchFamily="2" charset="-122"/>
                <a:cs typeface="+mn-cs"/>
              </a:rPr>
              <a:t>兼容对体系结构的影响</a:t>
            </a:r>
          </a:p>
        </p:txBody>
      </p:sp>
      <p:sp>
        <p:nvSpPr>
          <p:cNvPr id="10243" name="Rectangle 11"/>
          <p:cNvSpPr>
            <a:spLocks noGrp="1" noChangeArrowheads="1"/>
          </p:cNvSpPr>
          <p:nvPr>
            <p:ph type="body" idx="4294967295"/>
          </p:nvPr>
        </p:nvSpPr>
        <p:spPr>
          <a:xfrm>
            <a:off x="457200" y="1268760"/>
            <a:ext cx="8003232" cy="4968552"/>
          </a:xfrm>
        </p:spPr>
        <p:txBody>
          <a:bodyPr>
            <a:noAutofit/>
          </a:bodyPr>
          <a:lstStyle/>
          <a:p>
            <a:r>
              <a:rPr lang="zh-CN" altLang="en-US" sz="2400" b="1" dirty="0">
                <a:latin typeface="+mj-ea"/>
                <a:ea typeface="+mj-ea"/>
              </a:rPr>
              <a:t>计算机系统及软件设计者的“障碍”</a:t>
            </a:r>
          </a:p>
          <a:p>
            <a:pPr lvl="1"/>
            <a:r>
              <a:rPr lang="zh-CN" altLang="en-US" sz="2400" b="1" dirty="0">
                <a:latin typeface="+mj-ea"/>
                <a:ea typeface="+mj-ea"/>
              </a:rPr>
              <a:t>系统软件的开发难度大</a:t>
            </a:r>
          </a:p>
          <a:p>
            <a:pPr lvl="1"/>
            <a:r>
              <a:rPr lang="zh-CN" altLang="en-US" sz="2400" b="1" dirty="0">
                <a:latin typeface="+mj-ea"/>
                <a:ea typeface="+mj-ea"/>
              </a:rPr>
              <a:t>需要保护巨大的应用软件宝库</a:t>
            </a:r>
          </a:p>
          <a:p>
            <a:r>
              <a:rPr lang="zh-CN" altLang="en-US" sz="2400" b="1" dirty="0">
                <a:latin typeface="+mj-ea"/>
                <a:ea typeface="+mj-ea"/>
              </a:rPr>
              <a:t>向后兼容是才是软件兼容的根本特征，也是系列机的根本特征</a:t>
            </a:r>
          </a:p>
          <a:p>
            <a:pPr lvl="1"/>
            <a:r>
              <a:rPr lang="zh-CN" altLang="en-US" sz="2400" b="1" dirty="0">
                <a:latin typeface="+mj-ea"/>
                <a:ea typeface="+mj-ea"/>
              </a:rPr>
              <a:t>为了保证软件的兼容，要求指令集不改变，这无疑又妨碍计算机体系结构的发展</a:t>
            </a:r>
          </a:p>
          <a:p>
            <a:pPr lvl="1"/>
            <a:r>
              <a:rPr lang="zh-CN" altLang="en-US" sz="2400" b="1" dirty="0">
                <a:latin typeface="+mj-ea"/>
                <a:ea typeface="+mj-ea"/>
              </a:rPr>
              <a:t>向后兼容虽然削弱了系列机对体系结构发展的约束，但仍然是体系结发展的沉重包袱</a:t>
            </a:r>
          </a:p>
          <a:p>
            <a:pPr lvl="1"/>
            <a:r>
              <a:rPr lang="en-US" altLang="zh-CN" sz="2400" b="1" dirty="0">
                <a:latin typeface="+mj-ea"/>
                <a:ea typeface="+mj-ea"/>
              </a:rPr>
              <a:t>20</a:t>
            </a:r>
            <a:r>
              <a:rPr lang="zh-CN" altLang="en-US" sz="2400" b="1" dirty="0">
                <a:latin typeface="+mj-ea"/>
                <a:ea typeface="+mj-ea"/>
              </a:rPr>
              <a:t>世纪</a:t>
            </a:r>
            <a:r>
              <a:rPr lang="en-US" altLang="zh-CN" sz="2400" b="1" dirty="0">
                <a:latin typeface="+mj-ea"/>
                <a:ea typeface="+mj-ea"/>
              </a:rPr>
              <a:t>80</a:t>
            </a:r>
            <a:r>
              <a:rPr lang="zh-CN" altLang="en-US" sz="2400" b="1" dirty="0">
                <a:latin typeface="+mj-ea"/>
                <a:ea typeface="+mj-ea"/>
              </a:rPr>
              <a:t>年代具有</a:t>
            </a:r>
            <a:r>
              <a:rPr lang="en-US" altLang="zh-CN" sz="2400" b="1" dirty="0">
                <a:latin typeface="+mj-ea"/>
                <a:ea typeface="+mj-ea"/>
              </a:rPr>
              <a:t>RISC</a:t>
            </a:r>
            <a:r>
              <a:rPr lang="zh-CN" altLang="en-US" sz="2400" b="1" dirty="0">
                <a:latin typeface="+mj-ea"/>
                <a:ea typeface="+mj-ea"/>
              </a:rPr>
              <a:t>体系结构的微处理器在新结构、新技术应用等方面领先传统的</a:t>
            </a:r>
            <a:r>
              <a:rPr lang="en-US" altLang="zh-CN" sz="2400" b="1" dirty="0">
                <a:latin typeface="+mj-ea"/>
                <a:ea typeface="+mj-ea"/>
              </a:rPr>
              <a:t>CISC</a:t>
            </a:r>
            <a:r>
              <a:rPr lang="zh-CN" altLang="en-US" sz="2400" b="1" dirty="0">
                <a:latin typeface="+mj-ea"/>
                <a:ea typeface="+mj-ea"/>
              </a:rPr>
              <a:t>微处理器的主要原因之一</a:t>
            </a:r>
          </a:p>
        </p:txBody>
      </p:sp>
      <p:sp>
        <p:nvSpPr>
          <p:cNvPr id="2" name="日期占位符 1">
            <a:extLst>
              <a:ext uri="{FF2B5EF4-FFF2-40B4-BE49-F238E27FC236}">
                <a16:creationId xmlns:a16="http://schemas.microsoft.com/office/drawing/2014/main" id="{BB363EBB-AA4C-54ED-F5FC-6BBAB0EF7EE5}"/>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3F75EAA3-DFC5-A575-F3A6-B4387340A42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15</a:t>
            </a:fld>
            <a:endParaRPr lang="en-US" altLang="zh-CN"/>
          </a:p>
        </p:txBody>
      </p:sp>
      <p:sp>
        <p:nvSpPr>
          <p:cNvPr id="4" name="页脚占位符 4">
            <a:extLst>
              <a:ext uri="{FF2B5EF4-FFF2-40B4-BE49-F238E27FC236}">
                <a16:creationId xmlns:a16="http://schemas.microsoft.com/office/drawing/2014/main" id="{7CB4A7A9-4C00-5122-05A6-C87C7AA2990C}"/>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1451756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11200" y="548680"/>
            <a:ext cx="8229600" cy="1143000"/>
          </a:xfrm>
        </p:spPr>
        <p:txBody>
          <a:bodyPr>
            <a:normAutofit fontScale="90000"/>
          </a:bodyPr>
          <a:lstStyle/>
          <a:p>
            <a:pPr eaLnBrk="1" hangingPunct="1"/>
            <a:r>
              <a:rPr lang="zh-CN" altLang="en-US" sz="4000" b="1" dirty="0"/>
              <a:t>第</a:t>
            </a:r>
            <a:r>
              <a:rPr lang="en-US" altLang="zh-CN" sz="4000" b="1" dirty="0"/>
              <a:t>1</a:t>
            </a:r>
            <a:r>
              <a:rPr lang="zh-CN" altLang="en-US" sz="4000" b="1" dirty="0"/>
              <a:t>章</a:t>
            </a:r>
            <a:r>
              <a:rPr lang="zh-CN" altLang="en-US" sz="4000" b="1" dirty="0">
                <a:solidFill>
                  <a:srgbClr val="3366FF"/>
                </a:solidFill>
              </a:rPr>
              <a:t>  </a:t>
            </a:r>
            <a:r>
              <a:rPr lang="zh-CN" altLang="en-US" sz="4000" b="1" dirty="0"/>
              <a:t>计算机系统量化分析基础</a:t>
            </a:r>
            <a:br>
              <a:rPr lang="zh-CN" altLang="en-US" sz="4000" dirty="0">
                <a:solidFill>
                  <a:srgbClr val="3366FF"/>
                </a:solidFill>
              </a:rPr>
            </a:br>
            <a:endParaRPr lang="zh-CN" altLang="en-US" sz="4000" b="1" dirty="0"/>
          </a:p>
        </p:txBody>
      </p:sp>
      <p:sp>
        <p:nvSpPr>
          <p:cNvPr id="7171" name="Text Box 3"/>
          <p:cNvSpPr txBox="1">
            <a:spLocks noChangeArrowheads="1"/>
          </p:cNvSpPr>
          <p:nvPr/>
        </p:nvSpPr>
        <p:spPr bwMode="auto">
          <a:xfrm>
            <a:off x="2127250" y="4800600"/>
            <a:ext cx="5397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en-US" altLang="zh-CN" sz="3200" dirty="0">
                <a:latin typeface="Times New Roman" panose="02020603050405020304" pitchFamily="18" charset="0"/>
              </a:rPr>
              <a:t>1</a:t>
            </a:r>
            <a:r>
              <a:rPr lang="zh-CN" altLang="en-US" sz="3200" dirty="0">
                <a:latin typeface="Times New Roman" panose="02020603050405020304" pitchFamily="18" charset="0"/>
              </a:rPr>
              <a:t>.3 计算机系统设计和分析</a:t>
            </a:r>
          </a:p>
        </p:txBody>
      </p:sp>
      <p:sp>
        <p:nvSpPr>
          <p:cNvPr id="7172" name="Text Box 4"/>
          <p:cNvSpPr txBox="1">
            <a:spLocks noChangeArrowheads="1"/>
          </p:cNvSpPr>
          <p:nvPr/>
        </p:nvSpPr>
        <p:spPr bwMode="auto">
          <a:xfrm>
            <a:off x="2127250" y="3476625"/>
            <a:ext cx="5540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en-US" altLang="zh-CN" sz="3200" u="sng" dirty="0">
                <a:latin typeface="Times New Roman" panose="02020603050405020304" pitchFamily="18" charset="0"/>
              </a:rPr>
              <a:t>1</a:t>
            </a:r>
            <a:r>
              <a:rPr lang="zh-CN" altLang="en-US" sz="3200" u="sng" dirty="0">
                <a:latin typeface="Times New Roman" panose="02020603050405020304" pitchFamily="18" charset="0"/>
              </a:rPr>
              <a:t>.2 计算机体系结构的发展</a:t>
            </a:r>
          </a:p>
        </p:txBody>
      </p:sp>
      <p:sp>
        <p:nvSpPr>
          <p:cNvPr id="7173" name="Text Box 5"/>
          <p:cNvSpPr txBox="1">
            <a:spLocks noChangeArrowheads="1"/>
          </p:cNvSpPr>
          <p:nvPr/>
        </p:nvSpPr>
        <p:spPr bwMode="auto">
          <a:xfrm>
            <a:off x="1268532" y="2276872"/>
            <a:ext cx="64079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anose="02010600030101010101" pitchFamily="2" charset="-122"/>
                <a:ea typeface="宋体" panose="02010600030101010101" pitchFamily="2" charset="-122"/>
              </a:defRPr>
            </a:lvl1pPr>
            <a:lvl2pPr marL="471805" indent="250825"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lvl="1">
              <a:buFont typeface="Wingdings" panose="05000000000000000000" pitchFamily="2" charset="2"/>
              <a:buNone/>
            </a:pPr>
            <a:r>
              <a:rPr lang="en-US" altLang="zh-CN" sz="3000" b="0" dirty="0">
                <a:latin typeface="Verdana" panose="020B0604030504040204" pitchFamily="34" charset="0"/>
                <a:ea typeface="华文中宋" panose="02010600040101010101" pitchFamily="2" charset="-122"/>
              </a:rPr>
              <a:t>1.1 </a:t>
            </a:r>
            <a:r>
              <a:rPr lang="zh-CN" altLang="en-US" sz="3000" b="0" dirty="0">
                <a:latin typeface="Verdana" panose="020B0604030504040204" pitchFamily="34" charset="0"/>
                <a:ea typeface="华文中宋" panose="02010600040101010101" pitchFamily="2" charset="-122"/>
              </a:rPr>
              <a:t>计算机体系结构的概念</a:t>
            </a:r>
          </a:p>
        </p:txBody>
      </p:sp>
      <p:sp>
        <p:nvSpPr>
          <p:cNvPr id="2" name="日期占位符 1">
            <a:extLst>
              <a:ext uri="{FF2B5EF4-FFF2-40B4-BE49-F238E27FC236}">
                <a16:creationId xmlns:a16="http://schemas.microsoft.com/office/drawing/2014/main" id="{C63B4D83-CDE9-D748-2D4C-D8CCD00BA703}"/>
              </a:ext>
            </a:extLst>
          </p:cNvPr>
          <p:cNvSpPr>
            <a:spLocks noGrp="1"/>
          </p:cNvSpPr>
          <p:nvPr>
            <p:ph type="dt" sz="half" idx="10"/>
          </p:nvPr>
        </p:nvSpPr>
        <p:spPr/>
        <p:txBody>
          <a:bodyPr/>
          <a:lstStyle/>
          <a:p>
            <a:pPr>
              <a:defRPr/>
            </a:pPr>
            <a:fld id="{5D0E808F-BB2A-4763-A3CC-6B636E2A38C8}" type="datetime1">
              <a:rPr lang="zh-CN" altLang="en-US" smtClean="0"/>
              <a:t>2025/9/10</a:t>
            </a:fld>
            <a:endParaRPr lang="en-US" altLang="zh-CN"/>
          </a:p>
        </p:txBody>
      </p:sp>
      <p:sp>
        <p:nvSpPr>
          <p:cNvPr id="4" name="灯片编号占位符 3">
            <a:extLst>
              <a:ext uri="{FF2B5EF4-FFF2-40B4-BE49-F238E27FC236}">
                <a16:creationId xmlns:a16="http://schemas.microsoft.com/office/drawing/2014/main" id="{CE3D1811-F1DB-1CB8-A411-5BE5635D9E18}"/>
              </a:ext>
            </a:extLst>
          </p:cNvPr>
          <p:cNvSpPr>
            <a:spLocks noGrp="1"/>
          </p:cNvSpPr>
          <p:nvPr>
            <p:ph type="sldNum" sz="quarter" idx="12"/>
          </p:nvPr>
        </p:nvSpPr>
        <p:spPr/>
        <p:txBody>
          <a:bodyPr/>
          <a:lstStyle/>
          <a:p>
            <a:pPr>
              <a:defRPr/>
            </a:pPr>
            <a:fld id="{8BCAC33D-D29A-48B3-BCD6-381D3D720D26}" type="slidenum">
              <a:rPr lang="zh-CN" altLang="en-US" smtClean="0"/>
              <a:pPr>
                <a:defRPr/>
              </a:pPr>
              <a:t>16</a:t>
            </a:fld>
            <a:endParaRPr lang="en-US" altLang="zh-CN"/>
          </a:p>
        </p:txBody>
      </p:sp>
      <p:sp>
        <p:nvSpPr>
          <p:cNvPr id="5" name="页脚占位符 4">
            <a:extLst>
              <a:ext uri="{FF2B5EF4-FFF2-40B4-BE49-F238E27FC236}">
                <a16:creationId xmlns:a16="http://schemas.microsoft.com/office/drawing/2014/main" id="{0A9D0C77-6A4E-EECF-3422-59FB53B37C8E}"/>
              </a:ext>
            </a:extLst>
          </p:cNvPr>
          <p:cNvSpPr>
            <a:spLocks noGrp="1"/>
          </p:cNvSpPr>
          <p:nvPr>
            <p:ph type="ftr" sz="quarter" idx="11"/>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2671884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idx="4294967295"/>
          </p:nvPr>
        </p:nvSpPr>
        <p:spPr/>
        <p:txBody>
          <a:bodyPr>
            <a:normAutofit/>
          </a:bodyPr>
          <a:lstStyle/>
          <a:p>
            <a:pPr eaLnBrk="1" hangingPunct="1"/>
            <a:r>
              <a:rPr kumimoji="1" lang="en-US" altLang="zh-CN" sz="3600" b="1" dirty="0">
                <a:latin typeface="+mj-ea"/>
                <a:cs typeface="+mn-cs"/>
              </a:rPr>
              <a:t>1.2 </a:t>
            </a:r>
            <a:r>
              <a:rPr kumimoji="1" lang="zh-CN" altLang="en-US" sz="3600" b="1" dirty="0">
                <a:latin typeface="+mj-ea"/>
                <a:cs typeface="+mn-cs"/>
              </a:rPr>
              <a:t>计算机体系结构的发展</a:t>
            </a:r>
          </a:p>
        </p:txBody>
      </p:sp>
      <p:sp>
        <p:nvSpPr>
          <p:cNvPr id="12291" name="Rectangle 5"/>
          <p:cNvSpPr>
            <a:spLocks noGrp="1" noChangeArrowheads="1"/>
          </p:cNvSpPr>
          <p:nvPr>
            <p:ph type="body" idx="4294967295"/>
          </p:nvPr>
        </p:nvSpPr>
        <p:spPr>
          <a:xfrm>
            <a:off x="539552" y="1340768"/>
            <a:ext cx="8001000" cy="4910137"/>
          </a:xfrm>
        </p:spPr>
        <p:txBody>
          <a:bodyPr>
            <a:normAutofit/>
          </a:bodyPr>
          <a:lstStyle/>
          <a:p>
            <a:pPr marL="0" indent="0" eaLnBrk="1" hangingPunct="1">
              <a:lnSpc>
                <a:spcPct val="150000"/>
              </a:lnSpc>
              <a:buNone/>
            </a:pPr>
            <a:r>
              <a:rPr lang="en-US" altLang="zh-CN" sz="2600" b="1" dirty="0">
                <a:latin typeface="+mj-ea"/>
                <a:ea typeface="+mj-ea"/>
              </a:rPr>
              <a:t>1.2.1 </a:t>
            </a:r>
            <a:r>
              <a:rPr lang="zh-CN" altLang="en-US" sz="2600" b="1" dirty="0">
                <a:latin typeface="+mj-ea"/>
                <a:ea typeface="+mj-ea"/>
              </a:rPr>
              <a:t>计算机分代和分型</a:t>
            </a:r>
          </a:p>
          <a:p>
            <a:pPr marL="0" indent="0" eaLnBrk="1" hangingPunct="1">
              <a:lnSpc>
                <a:spcPct val="150000"/>
              </a:lnSpc>
              <a:buNone/>
            </a:pPr>
            <a:r>
              <a:rPr lang="en-US" altLang="zh-CN" sz="2600" b="1" dirty="0">
                <a:latin typeface="+mj-ea"/>
                <a:ea typeface="+mj-ea"/>
              </a:rPr>
              <a:t>1.2.2 </a:t>
            </a:r>
            <a:r>
              <a:rPr lang="zh-CN" altLang="en-US" sz="2600" b="1" dirty="0">
                <a:latin typeface="+mj-ea"/>
                <a:ea typeface="+mj-ea"/>
              </a:rPr>
              <a:t>软件的发展</a:t>
            </a:r>
          </a:p>
          <a:p>
            <a:pPr marL="0" indent="0" eaLnBrk="1" hangingPunct="1">
              <a:lnSpc>
                <a:spcPct val="150000"/>
              </a:lnSpc>
              <a:buNone/>
            </a:pPr>
            <a:r>
              <a:rPr lang="en-US" altLang="zh-CN" sz="2600" b="1" dirty="0">
                <a:latin typeface="+mj-ea"/>
                <a:ea typeface="+mj-ea"/>
              </a:rPr>
              <a:t>1.2.3 </a:t>
            </a:r>
            <a:r>
              <a:rPr lang="zh-CN" altLang="en-US" sz="2600" b="1" dirty="0">
                <a:latin typeface="+mj-ea"/>
                <a:ea typeface="+mj-ea"/>
              </a:rPr>
              <a:t>应用的发展</a:t>
            </a:r>
          </a:p>
          <a:p>
            <a:pPr marL="0" indent="0" eaLnBrk="1" hangingPunct="1">
              <a:lnSpc>
                <a:spcPct val="150000"/>
              </a:lnSpc>
              <a:buNone/>
            </a:pPr>
            <a:r>
              <a:rPr lang="en-US" altLang="zh-CN" sz="2600" b="1" dirty="0">
                <a:latin typeface="+mj-ea"/>
                <a:ea typeface="+mj-ea"/>
              </a:rPr>
              <a:t>1.2.4 </a:t>
            </a:r>
            <a:r>
              <a:rPr lang="zh-CN" altLang="en-US" sz="2600" b="1" dirty="0">
                <a:latin typeface="+mj-ea"/>
                <a:ea typeface="+mj-ea"/>
              </a:rPr>
              <a:t>相关核心技术的发展</a:t>
            </a:r>
          </a:p>
          <a:p>
            <a:pPr marL="0" indent="0" eaLnBrk="1" hangingPunct="1">
              <a:lnSpc>
                <a:spcPct val="150000"/>
              </a:lnSpc>
              <a:buNone/>
            </a:pPr>
            <a:r>
              <a:rPr lang="en-US" altLang="zh-CN" sz="2600" b="1" dirty="0">
                <a:latin typeface="+mj-ea"/>
                <a:ea typeface="+mj-ea"/>
              </a:rPr>
              <a:t>1.2.5 </a:t>
            </a:r>
            <a:r>
              <a:rPr lang="zh-CN" altLang="en-US" sz="2600" b="1" dirty="0">
                <a:latin typeface="+mj-ea"/>
                <a:ea typeface="+mj-ea"/>
              </a:rPr>
              <a:t>体系结构的发展</a:t>
            </a:r>
            <a:endParaRPr lang="en-US" altLang="zh-CN" sz="2600" b="1" dirty="0">
              <a:latin typeface="+mj-ea"/>
              <a:ea typeface="+mj-ea"/>
            </a:endParaRPr>
          </a:p>
          <a:p>
            <a:pPr marL="0" indent="0" eaLnBrk="1" hangingPunct="1">
              <a:lnSpc>
                <a:spcPct val="150000"/>
              </a:lnSpc>
              <a:buNone/>
            </a:pPr>
            <a:r>
              <a:rPr lang="en-US" altLang="zh-CN" sz="2600" b="1" dirty="0">
                <a:latin typeface="+mj-ea"/>
                <a:ea typeface="+mj-ea"/>
              </a:rPr>
              <a:t>1.2.6 </a:t>
            </a:r>
            <a:r>
              <a:rPr lang="zh-CN" altLang="en-US" sz="2600" b="1" dirty="0">
                <a:latin typeface="+mj-ea"/>
                <a:ea typeface="+mj-ea"/>
              </a:rPr>
              <a:t>并行处理技术的发展</a:t>
            </a:r>
            <a:endParaRPr lang="en-US" altLang="zh-CN" sz="2600" b="1" dirty="0">
              <a:latin typeface="+mj-ea"/>
              <a:ea typeface="+mj-ea"/>
            </a:endParaRPr>
          </a:p>
          <a:p>
            <a:pPr marL="0" indent="0" eaLnBrk="1" hangingPunct="1">
              <a:lnSpc>
                <a:spcPct val="150000"/>
              </a:lnSpc>
              <a:buNone/>
            </a:pPr>
            <a:r>
              <a:rPr lang="en-US" altLang="zh-CN" sz="2600" b="1" dirty="0">
                <a:latin typeface="+mj-ea"/>
                <a:ea typeface="+mj-ea"/>
              </a:rPr>
              <a:t>1.2.7 </a:t>
            </a:r>
            <a:r>
              <a:rPr lang="zh-CN" altLang="en-US" sz="2600" b="1" dirty="0">
                <a:latin typeface="+mj-ea"/>
                <a:ea typeface="+mj-ea"/>
              </a:rPr>
              <a:t>处理器芯片技术的发展</a:t>
            </a:r>
          </a:p>
        </p:txBody>
      </p:sp>
      <p:sp>
        <p:nvSpPr>
          <p:cNvPr id="2" name="日期占位符 1">
            <a:extLst>
              <a:ext uri="{FF2B5EF4-FFF2-40B4-BE49-F238E27FC236}">
                <a16:creationId xmlns:a16="http://schemas.microsoft.com/office/drawing/2014/main" id="{0927C6DD-0F49-7941-42C3-06A6766B1FAE}"/>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38DCD13C-B934-368D-98D1-5CB033F4F04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17</a:t>
            </a:fld>
            <a:endParaRPr lang="en-US" altLang="zh-CN"/>
          </a:p>
        </p:txBody>
      </p:sp>
      <p:sp>
        <p:nvSpPr>
          <p:cNvPr id="4" name="页脚占位符 4">
            <a:extLst>
              <a:ext uri="{FF2B5EF4-FFF2-40B4-BE49-F238E27FC236}">
                <a16:creationId xmlns:a16="http://schemas.microsoft.com/office/drawing/2014/main" id="{54D7F9E9-8A10-9C9E-60F8-6EB200CD421C}"/>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1524687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4"/>
          <p:cNvSpPr>
            <a:spLocks noGrp="1" noChangeArrowheads="1"/>
          </p:cNvSpPr>
          <p:nvPr>
            <p:ph type="title" idx="4294967295"/>
          </p:nvPr>
        </p:nvSpPr>
        <p:spPr>
          <a:xfrm>
            <a:off x="395536" y="116632"/>
            <a:ext cx="8229600" cy="1143000"/>
          </a:xfrm>
        </p:spPr>
        <p:txBody>
          <a:bodyPr>
            <a:normAutofit/>
          </a:bodyPr>
          <a:lstStyle/>
          <a:p>
            <a:pPr eaLnBrk="1" hangingPunct="1"/>
            <a:r>
              <a:rPr kumimoji="1" lang="en-US" altLang="zh-CN" sz="3600" b="1" dirty="0">
                <a:latin typeface="+mj-ea"/>
                <a:cs typeface="+mn-cs"/>
              </a:rPr>
              <a:t>1.2.1 </a:t>
            </a:r>
            <a:r>
              <a:rPr kumimoji="1" lang="zh-CN" altLang="en-US" sz="3600" b="1" dirty="0">
                <a:latin typeface="+mj-ea"/>
                <a:cs typeface="+mn-cs"/>
              </a:rPr>
              <a:t>计算机的分代</a:t>
            </a:r>
          </a:p>
        </p:txBody>
      </p:sp>
      <p:graphicFrame>
        <p:nvGraphicFramePr>
          <p:cNvPr id="261235" name="Group 115"/>
          <p:cNvGraphicFramePr>
            <a:graphicFrameLocks noGrp="1"/>
          </p:cNvGraphicFramePr>
          <p:nvPr>
            <p:ph idx="4294967295"/>
            <p:extLst>
              <p:ext uri="{D42A27DB-BD31-4B8C-83A1-F6EECF244321}">
                <p14:modId xmlns:p14="http://schemas.microsoft.com/office/powerpoint/2010/main" val="4245181792"/>
              </p:ext>
            </p:extLst>
          </p:nvPr>
        </p:nvGraphicFramePr>
        <p:xfrm>
          <a:off x="395536" y="1196752"/>
          <a:ext cx="8316416" cy="5181492"/>
        </p:xfrm>
        <a:graphic>
          <a:graphicData uri="http://schemas.openxmlformats.org/drawingml/2006/table">
            <a:tbl>
              <a:tblPr/>
              <a:tblGrid>
                <a:gridCol w="1663283">
                  <a:extLst>
                    <a:ext uri="{9D8B030D-6E8A-4147-A177-3AD203B41FA5}">
                      <a16:colId xmlns:a16="http://schemas.microsoft.com/office/drawing/2014/main" val="20000"/>
                    </a:ext>
                  </a:extLst>
                </a:gridCol>
                <a:gridCol w="1663283">
                  <a:extLst>
                    <a:ext uri="{9D8B030D-6E8A-4147-A177-3AD203B41FA5}">
                      <a16:colId xmlns:a16="http://schemas.microsoft.com/office/drawing/2014/main" val="20001"/>
                    </a:ext>
                  </a:extLst>
                </a:gridCol>
                <a:gridCol w="1663283">
                  <a:extLst>
                    <a:ext uri="{9D8B030D-6E8A-4147-A177-3AD203B41FA5}">
                      <a16:colId xmlns:a16="http://schemas.microsoft.com/office/drawing/2014/main" val="20002"/>
                    </a:ext>
                  </a:extLst>
                </a:gridCol>
                <a:gridCol w="1395048">
                  <a:extLst>
                    <a:ext uri="{9D8B030D-6E8A-4147-A177-3AD203B41FA5}">
                      <a16:colId xmlns:a16="http://schemas.microsoft.com/office/drawing/2014/main" val="20003"/>
                    </a:ext>
                  </a:extLst>
                </a:gridCol>
                <a:gridCol w="1931519">
                  <a:extLst>
                    <a:ext uri="{9D8B030D-6E8A-4147-A177-3AD203B41FA5}">
                      <a16:colId xmlns:a16="http://schemas.microsoft.com/office/drawing/2014/main" val="20004"/>
                    </a:ext>
                  </a:extLst>
                </a:gridCol>
              </a:tblGrid>
              <a:tr h="554137">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分代</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器件</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体系结构技术</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软件技术</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典型机器</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endPar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endParaRP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786996">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第一代</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(1945-1954)</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电子管和继电器</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accent2"/>
                          </a:solidFill>
                          <a:effectLst/>
                          <a:latin typeface="Verdana" panose="020B0604030504040204" pitchFamily="34" charset="0"/>
                          <a:ea typeface="华文中宋" panose="02010600040101010101" pitchFamily="2" charset="-122"/>
                        </a:rPr>
                        <a:t>存储程序计算机</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、程序控制</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I/O</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机器语言和汇编语言</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普林斯顿</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ISA</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ENIAC</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IBM701</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86996">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第二代</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(1955-1964)</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晶体管、磁芯、印刷电路</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浮点数据表示、寻址技术、中断、</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I/O</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处理机</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accent2"/>
                          </a:solidFill>
                          <a:effectLst/>
                          <a:latin typeface="Verdana" panose="020B0604030504040204" pitchFamily="34" charset="0"/>
                          <a:ea typeface="华文中宋" panose="02010600040101010101" pitchFamily="2" charset="-122"/>
                        </a:rPr>
                        <a:t>高级语言和编译</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、批处理监控系统</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Univac LARC</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CDC1604</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IBM7030</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786996">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第三代</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(1965-1974)</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SSI</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和</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MSI</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、多层印刷电路、微程序</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accent2"/>
                          </a:solidFill>
                          <a:effectLst/>
                          <a:latin typeface="Verdana" panose="020B0604030504040204" pitchFamily="34" charset="0"/>
                          <a:ea typeface="华文中宋" panose="02010600040101010101" pitchFamily="2" charset="-122"/>
                        </a:rPr>
                        <a:t>流水线、</a:t>
                      </a:r>
                      <a:r>
                        <a:rPr kumimoji="0" lang="en-US" altLang="zh-CN" sz="1600" b="1" i="0" u="none" strike="noStrike" cap="none" normalizeH="0" baseline="0">
                          <a:ln>
                            <a:noFill/>
                          </a:ln>
                          <a:solidFill>
                            <a:schemeClr val="accent2"/>
                          </a:solidFill>
                          <a:effectLst/>
                          <a:latin typeface="Verdana" panose="020B0604030504040204" pitchFamily="34" charset="0"/>
                          <a:ea typeface="华文中宋" panose="02010600040101010101" pitchFamily="2" charset="-122"/>
                        </a:rPr>
                        <a:t>Cache</a:t>
                      </a:r>
                      <a:r>
                        <a:rPr kumimoji="0" lang="zh-CN" altLang="en-US" sz="1600" b="1" i="0" u="none" strike="noStrike" cap="none" normalizeH="0" baseline="0">
                          <a:ln>
                            <a:noFill/>
                          </a:ln>
                          <a:solidFill>
                            <a:schemeClr val="accent2"/>
                          </a:solidFill>
                          <a:effectLst/>
                          <a:latin typeface="Verdana" panose="020B0604030504040204" pitchFamily="34" charset="0"/>
                          <a:ea typeface="华文中宋" panose="02010600040101010101" pitchFamily="2" charset="-122"/>
                        </a:rPr>
                        <a:t>、先行处理、系列计算机</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多道程序和分时操作系统</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accent2"/>
                          </a:solidFill>
                          <a:effectLst/>
                          <a:latin typeface="Verdana" panose="020B0604030504040204" pitchFamily="34" charset="0"/>
                          <a:ea typeface="华文中宋" panose="02010600040101010101" pitchFamily="2" charset="-122"/>
                        </a:rPr>
                        <a:t>IBM360</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/370CDC6600/7600</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DEC PDP-8</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1020220">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第四代</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(1974-1990)</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LSI</a:t>
                      </a:r>
                      <a:r>
                        <a:rPr kumimoji="0" lang="zh-CN" altLang="en-US"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和</a:t>
                      </a:r>
                      <a:r>
                        <a:rPr kumimoji="0" lang="en-US" altLang="zh-CN" sz="1600" b="1" i="0" u="none" strike="noStrike" cap="none" normalizeH="0" baseline="0" dirty="0">
                          <a:ln>
                            <a:noFill/>
                          </a:ln>
                          <a:solidFill>
                            <a:schemeClr val="accent2"/>
                          </a:solidFill>
                          <a:effectLst/>
                          <a:latin typeface="Verdana" panose="020B0604030504040204" pitchFamily="34" charset="0"/>
                          <a:ea typeface="华文中宋" panose="02010600040101010101" pitchFamily="2" charset="-122"/>
                        </a:rPr>
                        <a:t>VLSI</a:t>
                      </a:r>
                      <a:r>
                        <a:rPr kumimoji="0" lang="zh-CN" altLang="en-US"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a:t>
                      </a:r>
                      <a:r>
                        <a:rPr kumimoji="0" lang="zh-CN" altLang="en-US" sz="1600" b="1" i="0" u="none" strike="noStrike" cap="none" normalizeH="0" baseline="0" dirty="0">
                          <a:ln>
                            <a:noFill/>
                          </a:ln>
                          <a:solidFill>
                            <a:schemeClr val="accent2"/>
                          </a:solidFill>
                          <a:effectLst/>
                          <a:latin typeface="Verdana" panose="020B0604030504040204" pitchFamily="34" charset="0"/>
                          <a:ea typeface="华文中宋" panose="02010600040101010101" pitchFamily="2" charset="-122"/>
                        </a:rPr>
                        <a:t>半导体存储器</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向量处理、分布式存储器</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accent2"/>
                          </a:solidFill>
                          <a:effectLst/>
                          <a:latin typeface="Verdana" panose="020B0604030504040204" pitchFamily="34" charset="0"/>
                          <a:ea typeface="华文中宋" panose="02010600040101010101" pitchFamily="2" charset="-122"/>
                        </a:rPr>
                        <a:t>并行与分布处理</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Cray-1</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IBM 3090</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DEC VAX9000</a:t>
                      </a: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a:t>
                      </a:r>
                      <a:r>
                        <a:rPr kumimoji="0" lang="en-US" altLang="zh-CN"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Convax-1</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786996">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zh-CN" altLang="en-US"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第五代</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1"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(1991-)</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高性能微处理器、大规模高密度电路</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指令级并行、</a:t>
                      </a:r>
                      <a:r>
                        <a:rPr kumimoji="0"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SMP</a:t>
                      </a:r>
                      <a:r>
                        <a:rPr kumimoji="0" lang="zh-CN" altLang="en-US"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a:t>
                      </a:r>
                      <a:r>
                        <a:rPr kumimoji="0"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MP</a:t>
                      </a:r>
                      <a:r>
                        <a:rPr kumimoji="0" lang="zh-CN" altLang="en-US"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a:t>
                      </a:r>
                      <a:r>
                        <a:rPr kumimoji="0"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MPP</a:t>
                      </a:r>
                      <a:r>
                        <a:rPr kumimoji="0" lang="zh-CN" altLang="en-US"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、网络</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Verdana" panose="020B0604030504040204" pitchFamily="34" charset="0"/>
                          <a:ea typeface="华文中宋" panose="02010600040101010101" pitchFamily="2" charset="-122"/>
                        </a:rPr>
                        <a:t>可扩展并行与分布处理</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SGI Cray T3E</a:t>
                      </a: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IBM </a:t>
                      </a:r>
                      <a:r>
                        <a:rPr kumimoji="0" lang="en-US" altLang="zh-CN" sz="1600" b="1" i="0" u="none" strike="noStrike" cap="none" normalizeH="0" baseline="0" dirty="0" err="1">
                          <a:ln>
                            <a:noFill/>
                          </a:ln>
                          <a:solidFill>
                            <a:schemeClr val="tx1"/>
                          </a:solidFill>
                          <a:effectLst/>
                          <a:latin typeface="Verdana" panose="020B0604030504040204" pitchFamily="34" charset="0"/>
                          <a:ea typeface="华文中宋" panose="02010600040101010101" pitchFamily="2" charset="-122"/>
                        </a:rPr>
                        <a:t>xServer</a:t>
                      </a:r>
                      <a:endParaRPr kumimoji="0"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endParaRPr>
                    </a:p>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Verdana" panose="020B0604030504040204" pitchFamily="34" charset="0"/>
                          <a:ea typeface="华文中宋" panose="02010600040101010101" pitchFamily="2" charset="-122"/>
                        </a:rPr>
                        <a:t>Sun E10000</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31651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idx="4294967295"/>
          </p:nvPr>
        </p:nvSpPr>
        <p:spPr/>
        <p:txBody>
          <a:bodyPr>
            <a:normAutofit/>
          </a:bodyPr>
          <a:lstStyle/>
          <a:p>
            <a:r>
              <a:rPr kumimoji="1" lang="en-US" altLang="zh-CN" sz="3600" b="1" dirty="0">
                <a:latin typeface="+mj-ea"/>
                <a:cs typeface="+mn-cs"/>
              </a:rPr>
              <a:t>1.2.1 </a:t>
            </a:r>
            <a:r>
              <a:rPr kumimoji="1" lang="zh-CN" altLang="en-US" sz="3600" b="1" dirty="0">
                <a:latin typeface="+mj-ea"/>
                <a:cs typeface="+mn-cs"/>
              </a:rPr>
              <a:t>计算机的分代</a:t>
            </a:r>
          </a:p>
        </p:txBody>
      </p:sp>
      <p:graphicFrame>
        <p:nvGraphicFramePr>
          <p:cNvPr id="2050" name="Object 4"/>
          <p:cNvGraphicFramePr>
            <a:graphicFrameLocks noChangeAspect="1"/>
          </p:cNvGraphicFramePr>
          <p:nvPr/>
        </p:nvGraphicFramePr>
        <p:xfrm>
          <a:off x="684213" y="1196975"/>
          <a:ext cx="7848600" cy="3602038"/>
        </p:xfrm>
        <a:graphic>
          <a:graphicData uri="http://schemas.openxmlformats.org/presentationml/2006/ole">
            <mc:AlternateContent xmlns:mc="http://schemas.openxmlformats.org/markup-compatibility/2006">
              <mc:Choice xmlns:v="urn:schemas-microsoft-com:vml" Requires="v">
                <p:oleObj name="图片" r:id="rId2" imgW="3656330" imgH="1680845" progId="Word.Picture.8">
                  <p:embed/>
                </p:oleObj>
              </mc:Choice>
              <mc:Fallback>
                <p:oleObj name="图片" r:id="rId2" imgW="3656330" imgH="1680845"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196975"/>
                        <a:ext cx="7848600" cy="360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429" name="Text Box 5"/>
          <p:cNvSpPr txBox="1">
            <a:spLocks noChangeArrowheads="1"/>
          </p:cNvSpPr>
          <p:nvPr/>
        </p:nvSpPr>
        <p:spPr bwMode="auto">
          <a:xfrm>
            <a:off x="574675" y="4727575"/>
            <a:ext cx="7959725" cy="1420495"/>
          </a:xfrm>
          <a:prstGeom prst="rect">
            <a:avLst/>
          </a:prstGeom>
          <a:noFill/>
          <a:ln>
            <a:noFill/>
          </a:ln>
          <a:effectLst/>
        </p:spPr>
        <p:txBody>
          <a:bodyPr>
            <a:spAutoFit/>
          </a:bodyPr>
          <a:lstStyle/>
          <a:p>
            <a:pPr algn="just">
              <a:lnSpc>
                <a:spcPct val="120000"/>
              </a:lnSpc>
              <a:spcBef>
                <a:spcPct val="50000"/>
              </a:spcBef>
              <a:defRPr/>
            </a:pPr>
            <a:r>
              <a:rPr kumimoji="1" lang="en-US" altLang="zh-CN" sz="24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      </a:t>
            </a:r>
            <a:r>
              <a:rPr kumimoji="1" lang="zh-CN" altLang="en-US" sz="24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技术和性能的“下移”。</a:t>
            </a:r>
            <a:r>
              <a:rPr kumimoji="1" lang="zh-CN" altLang="en-US" sz="2400" b="1" dirty="0">
                <a:solidFill>
                  <a:srgbClr val="000066"/>
                </a:solidFill>
                <a:effectLst>
                  <a:outerShdw blurRad="38100" dist="38100" dir="2700000" algn="tl">
                    <a:srgbClr val="C0C0C0"/>
                  </a:outerShdw>
                </a:effectLst>
                <a:latin typeface="华文中宋" panose="02010600040101010101" pitchFamily="2" charset="-122"/>
                <a:ea typeface="华文中宋" panose="02010600040101010101" pitchFamily="2" charset="-122"/>
              </a:rPr>
              <a:t>新型体系结构的设计一方面是合理地增加计算机系统中硬件的功能比例。另一方面则是通过多种途径提高计算机体系结构中的并行性。</a:t>
            </a:r>
          </a:p>
        </p:txBody>
      </p:sp>
      <p:sp>
        <p:nvSpPr>
          <p:cNvPr id="2" name="日期占位符 1">
            <a:extLst>
              <a:ext uri="{FF2B5EF4-FFF2-40B4-BE49-F238E27FC236}">
                <a16:creationId xmlns:a16="http://schemas.microsoft.com/office/drawing/2014/main" id="{EC2189D8-35B5-4A99-1316-621DFFFB5DE9}"/>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D2CCC923-7E5F-02F1-FAA7-68DF1911BBB5}"/>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19</a:t>
            </a:fld>
            <a:endParaRPr lang="en-US" altLang="zh-CN"/>
          </a:p>
        </p:txBody>
      </p:sp>
      <p:sp>
        <p:nvSpPr>
          <p:cNvPr id="4" name="页脚占位符 4">
            <a:extLst>
              <a:ext uri="{FF2B5EF4-FFF2-40B4-BE49-F238E27FC236}">
                <a16:creationId xmlns:a16="http://schemas.microsoft.com/office/drawing/2014/main" id="{6F0A380A-EC48-1167-49C9-CD225734D453}"/>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1939157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p:txBody>
          <a:bodyPr>
            <a:normAutofit/>
          </a:bodyPr>
          <a:lstStyle/>
          <a:p>
            <a:pPr eaLnBrk="1" hangingPunct="1"/>
            <a:r>
              <a:rPr kumimoji="1" lang="en-US" altLang="zh-CN" sz="3600" b="1" dirty="0">
                <a:latin typeface="+mj-ea"/>
                <a:cs typeface="+mn-cs"/>
              </a:rPr>
              <a:t>1.2.2 </a:t>
            </a:r>
            <a:r>
              <a:rPr kumimoji="1" lang="zh-CN" altLang="en-US" sz="3600" b="1" dirty="0">
                <a:latin typeface="+mj-ea"/>
                <a:cs typeface="+mn-cs"/>
              </a:rPr>
              <a:t>软件的发展</a:t>
            </a:r>
          </a:p>
        </p:txBody>
      </p:sp>
      <p:sp>
        <p:nvSpPr>
          <p:cNvPr id="14339" name="Rectangle 3"/>
          <p:cNvSpPr>
            <a:spLocks noGrp="1" noChangeArrowheads="1"/>
          </p:cNvSpPr>
          <p:nvPr>
            <p:ph type="body" idx="4294967295"/>
          </p:nvPr>
        </p:nvSpPr>
        <p:spPr>
          <a:xfrm>
            <a:off x="884796" y="1556792"/>
            <a:ext cx="8229600" cy="4525963"/>
          </a:xfrm>
        </p:spPr>
        <p:txBody>
          <a:bodyPr/>
          <a:lstStyle/>
          <a:p>
            <a:pPr marL="0" indent="0" eaLnBrk="1" hangingPunct="1">
              <a:lnSpc>
                <a:spcPct val="170000"/>
              </a:lnSpc>
              <a:buNone/>
            </a:pPr>
            <a:r>
              <a:rPr lang="zh-CN" altLang="en-US" sz="2600" dirty="0">
                <a:latin typeface="Verdana" panose="020B0604030504040204" pitchFamily="34" charset="0"/>
                <a:ea typeface="华文中宋" panose="02010600040101010101" pitchFamily="2" charset="-122"/>
              </a:rPr>
              <a:t>程序和数据使用的存储器容量不断增大。</a:t>
            </a:r>
            <a:endParaRPr lang="en-US" altLang="zh-CN" sz="2600" dirty="0">
              <a:latin typeface="Verdana" panose="020B0604030504040204" pitchFamily="34" charset="0"/>
              <a:ea typeface="华文中宋" panose="02010600040101010101" pitchFamily="2" charset="-122"/>
            </a:endParaRPr>
          </a:p>
          <a:p>
            <a:pPr marL="514350" indent="-514350" eaLnBrk="1" hangingPunct="1">
              <a:lnSpc>
                <a:spcPct val="170000"/>
              </a:lnSpc>
              <a:buAutoNum type="arabicPeriod"/>
            </a:pPr>
            <a:r>
              <a:rPr lang="zh-CN" altLang="en-US" sz="2600" dirty="0">
                <a:latin typeface="Verdana" panose="020B0604030504040204" pitchFamily="34" charset="0"/>
                <a:ea typeface="华文中宋" panose="02010600040101010101" pitchFamily="2" charset="-122"/>
              </a:rPr>
              <a:t>计算机语言与编译技术</a:t>
            </a:r>
          </a:p>
          <a:p>
            <a:pPr marL="0" indent="0" eaLnBrk="1" hangingPunct="1">
              <a:lnSpc>
                <a:spcPct val="170000"/>
              </a:lnSpc>
              <a:buNone/>
            </a:pPr>
            <a:r>
              <a:rPr lang="en-US" altLang="zh-CN" sz="2600" dirty="0">
                <a:latin typeface="Verdana" panose="020B0604030504040204" pitchFamily="34" charset="0"/>
                <a:ea typeface="华文中宋" panose="02010600040101010101" pitchFamily="2" charset="-122"/>
              </a:rPr>
              <a:t>2. </a:t>
            </a:r>
            <a:r>
              <a:rPr lang="zh-CN" altLang="en-US" sz="2600" dirty="0">
                <a:latin typeface="Verdana" panose="020B0604030504040204" pitchFamily="34" charset="0"/>
                <a:ea typeface="华文中宋" panose="02010600040101010101" pitchFamily="2" charset="-122"/>
              </a:rPr>
              <a:t>操作系统</a:t>
            </a:r>
          </a:p>
          <a:p>
            <a:pPr marL="0" indent="0" eaLnBrk="1" hangingPunct="1">
              <a:lnSpc>
                <a:spcPct val="170000"/>
              </a:lnSpc>
              <a:buNone/>
            </a:pPr>
            <a:r>
              <a:rPr lang="en-US" altLang="zh-CN" sz="2600" dirty="0">
                <a:latin typeface="Verdana" panose="020B0604030504040204" pitchFamily="34" charset="0"/>
                <a:ea typeface="华文中宋" panose="02010600040101010101" pitchFamily="2" charset="-122"/>
              </a:rPr>
              <a:t>3. </a:t>
            </a:r>
            <a:r>
              <a:rPr lang="zh-CN" altLang="en-US" sz="2600" dirty="0">
                <a:latin typeface="Verdana" panose="020B0604030504040204" pitchFamily="34" charset="0"/>
                <a:ea typeface="华文中宋" panose="02010600040101010101" pitchFamily="2" charset="-122"/>
              </a:rPr>
              <a:t>软件工具与中间件</a:t>
            </a:r>
          </a:p>
        </p:txBody>
      </p:sp>
      <p:sp>
        <p:nvSpPr>
          <p:cNvPr id="2" name="日期占位符 1">
            <a:extLst>
              <a:ext uri="{FF2B5EF4-FFF2-40B4-BE49-F238E27FC236}">
                <a16:creationId xmlns:a16="http://schemas.microsoft.com/office/drawing/2014/main" id="{6EBC1BC0-9B82-A8AE-A1D7-C911F234506C}"/>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5C663779-C128-63A6-BD9A-8D9CD1C1944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20</a:t>
            </a:fld>
            <a:endParaRPr lang="en-US" altLang="zh-CN"/>
          </a:p>
        </p:txBody>
      </p:sp>
      <p:sp>
        <p:nvSpPr>
          <p:cNvPr id="4" name="页脚占位符 4">
            <a:extLst>
              <a:ext uri="{FF2B5EF4-FFF2-40B4-BE49-F238E27FC236}">
                <a16:creationId xmlns:a16="http://schemas.microsoft.com/office/drawing/2014/main" id="{B7C5592B-FB68-40C3-1B24-DD0D8E4B3B73}"/>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normAutofit/>
          </a:bodyPr>
          <a:lstStyle/>
          <a:p>
            <a:pPr eaLnBrk="1" hangingPunct="1"/>
            <a:r>
              <a:rPr kumimoji="1" lang="en-US" altLang="zh-CN" sz="3600" b="1" dirty="0">
                <a:latin typeface="+mj-ea"/>
                <a:cs typeface="+mn-cs"/>
              </a:rPr>
              <a:t>1.2.3 </a:t>
            </a:r>
            <a:r>
              <a:rPr kumimoji="1" lang="zh-CN" altLang="en-US" sz="3600" b="1" dirty="0">
                <a:latin typeface="+mj-ea"/>
                <a:cs typeface="+mn-cs"/>
              </a:rPr>
              <a:t>应用的发展</a:t>
            </a:r>
          </a:p>
        </p:txBody>
      </p:sp>
      <p:sp>
        <p:nvSpPr>
          <p:cNvPr id="15363" name="Rectangle 3"/>
          <p:cNvSpPr>
            <a:spLocks noGrp="1" noChangeArrowheads="1"/>
          </p:cNvSpPr>
          <p:nvPr>
            <p:ph type="body" idx="4294967295"/>
          </p:nvPr>
        </p:nvSpPr>
        <p:spPr>
          <a:xfrm>
            <a:off x="457200" y="1268760"/>
            <a:ext cx="8229600" cy="4997152"/>
          </a:xfrm>
        </p:spPr>
        <p:txBody>
          <a:bodyPr/>
          <a:lstStyle/>
          <a:p>
            <a:pPr eaLnBrk="1" hangingPunct="1">
              <a:spcBef>
                <a:spcPts val="0"/>
              </a:spcBef>
            </a:pPr>
            <a:r>
              <a:rPr lang="zh-CN" altLang="en-US" sz="2400" dirty="0">
                <a:latin typeface="Verdana" panose="020B0604030504040204" pitchFamily="34" charset="0"/>
                <a:ea typeface="华文中宋" panose="02010600040101010101" pitchFamily="2" charset="-122"/>
              </a:rPr>
              <a:t>嵌入式计算机</a:t>
            </a:r>
            <a:endParaRPr lang="en-US" altLang="zh-CN" sz="2400" dirty="0">
              <a:latin typeface="Verdana" panose="020B0604030504040204" pitchFamily="34" charset="0"/>
              <a:ea typeface="华文中宋" panose="02010600040101010101" pitchFamily="2" charset="-122"/>
            </a:endParaRPr>
          </a:p>
          <a:p>
            <a:pPr marL="0" indent="0" eaLnBrk="1" hangingPunct="1">
              <a:buNone/>
            </a:pPr>
            <a:r>
              <a:rPr lang="en-US" altLang="zh-CN" sz="2400" dirty="0">
                <a:latin typeface="Verdana" panose="020B0604030504040204" pitchFamily="34" charset="0"/>
                <a:ea typeface="华文中宋" panose="02010600040101010101" pitchFamily="2" charset="-122"/>
              </a:rPr>
              <a:t>   </a:t>
            </a:r>
            <a:r>
              <a:rPr lang="zh-CN" altLang="en-US" sz="2400" dirty="0">
                <a:latin typeface="Verdana" panose="020B0604030504040204" pitchFamily="34" charset="0"/>
                <a:ea typeface="华文中宋" panose="02010600040101010101" pitchFamily="2" charset="-122"/>
              </a:rPr>
              <a:t>包括移动设备和掌上计算机（关注功耗、成本等）</a:t>
            </a:r>
          </a:p>
          <a:p>
            <a:pPr eaLnBrk="1" hangingPunct="1"/>
            <a:r>
              <a:rPr lang="zh-CN" altLang="en-US" sz="2400" dirty="0">
                <a:latin typeface="Verdana" panose="020B0604030504040204" pitchFamily="34" charset="0"/>
                <a:ea typeface="华文中宋" panose="02010600040101010101" pitchFamily="2" charset="-122"/>
              </a:rPr>
              <a:t>台式计算机</a:t>
            </a:r>
            <a:endParaRPr lang="en-US" altLang="zh-CN" sz="2400" dirty="0">
              <a:latin typeface="Verdana" panose="020B0604030504040204" pitchFamily="34" charset="0"/>
              <a:ea typeface="华文中宋" panose="02010600040101010101" pitchFamily="2" charset="-122"/>
            </a:endParaRPr>
          </a:p>
          <a:p>
            <a:pPr marL="0" indent="0" eaLnBrk="1" hangingPunct="1">
              <a:buNone/>
            </a:pPr>
            <a:r>
              <a:rPr lang="en-US" altLang="zh-CN" sz="2400" dirty="0">
                <a:latin typeface="Verdana" panose="020B0604030504040204" pitchFamily="34" charset="0"/>
                <a:ea typeface="华文中宋" panose="02010600040101010101" pitchFamily="2" charset="-122"/>
              </a:rPr>
              <a:t>   </a:t>
            </a:r>
            <a:r>
              <a:rPr lang="zh-CN" altLang="en-US" sz="2400" dirty="0">
                <a:latin typeface="Verdana" panose="020B0604030504040204" pitchFamily="34" charset="0"/>
                <a:ea typeface="华文中宋" panose="02010600040101010101" pitchFamily="2" charset="-122"/>
              </a:rPr>
              <a:t>对性价比要求最高</a:t>
            </a:r>
          </a:p>
          <a:p>
            <a:pPr eaLnBrk="1" hangingPunct="1"/>
            <a:r>
              <a:rPr lang="zh-CN" altLang="en-US" sz="2400" dirty="0">
                <a:latin typeface="Verdana" panose="020B0604030504040204" pitchFamily="34" charset="0"/>
                <a:ea typeface="华文中宋" panose="02010600040101010101" pitchFamily="2" charset="-122"/>
              </a:rPr>
              <a:t>服务器市场</a:t>
            </a:r>
            <a:endParaRPr lang="en-US" altLang="zh-CN" sz="2400" dirty="0">
              <a:latin typeface="Verdana" panose="020B0604030504040204" pitchFamily="34" charset="0"/>
              <a:ea typeface="华文中宋" panose="02010600040101010101" pitchFamily="2" charset="-122"/>
            </a:endParaRPr>
          </a:p>
          <a:p>
            <a:pPr marL="0" indent="0" eaLnBrk="1" hangingPunct="1">
              <a:buNone/>
            </a:pPr>
            <a:r>
              <a:rPr lang="zh-CN" altLang="en-US" sz="2400" dirty="0">
                <a:latin typeface="Verdana" panose="020B0604030504040204" pitchFamily="34" charset="0"/>
                <a:ea typeface="华文中宋" panose="02010600040101010101" pitchFamily="2" charset="-122"/>
              </a:rPr>
              <a:t>   可用性、高流量密度和可扩展性</a:t>
            </a:r>
            <a:endParaRPr lang="en-US" altLang="zh-CN" sz="2400" dirty="0">
              <a:latin typeface="Verdana" panose="020B0604030504040204" pitchFamily="34" charset="0"/>
              <a:ea typeface="华文中宋" panose="02010600040101010101" pitchFamily="2" charset="-122"/>
            </a:endParaRPr>
          </a:p>
          <a:p>
            <a:pPr eaLnBrk="1" hangingPunct="1"/>
            <a:r>
              <a:rPr lang="zh-CN" altLang="en-US" sz="2400" dirty="0">
                <a:latin typeface="Verdana" panose="020B0604030504040204" pitchFamily="34" charset="0"/>
                <a:ea typeface="华文中宋" panose="02010600040101010101" pitchFamily="2" charset="-122"/>
              </a:rPr>
              <a:t>数据中心</a:t>
            </a:r>
            <a:endParaRPr lang="en-US" altLang="zh-CN" sz="2400" dirty="0">
              <a:latin typeface="Verdana" panose="020B0604030504040204" pitchFamily="34" charset="0"/>
              <a:ea typeface="华文中宋" panose="02010600040101010101" pitchFamily="2" charset="-122"/>
            </a:endParaRPr>
          </a:p>
          <a:p>
            <a:pPr marL="0" indent="0" eaLnBrk="1" hangingPunct="1">
              <a:buNone/>
            </a:pPr>
            <a:r>
              <a:rPr lang="en-US" altLang="zh-CN" sz="2400" dirty="0">
                <a:latin typeface="Verdana" panose="020B0604030504040204" pitchFamily="34" charset="0"/>
                <a:ea typeface="华文中宋" panose="02010600040101010101" pitchFamily="2" charset="-122"/>
              </a:rPr>
              <a:t>   </a:t>
            </a:r>
            <a:r>
              <a:rPr lang="zh-CN" altLang="en-US" sz="2400" dirty="0">
                <a:latin typeface="Verdana" panose="020B0604030504040204" pitchFamily="34" charset="0"/>
                <a:ea typeface="华文中宋" panose="02010600040101010101" pitchFamily="2" charset="-122"/>
              </a:rPr>
              <a:t>类似于服务器的要求，电能和散热系统很重要</a:t>
            </a:r>
            <a:endParaRPr lang="en-US" altLang="zh-CN" sz="2400" dirty="0">
              <a:latin typeface="Verdana" panose="020B0604030504040204" pitchFamily="34" charset="0"/>
              <a:ea typeface="华文中宋" panose="02010600040101010101" pitchFamily="2" charset="-122"/>
            </a:endParaRPr>
          </a:p>
          <a:p>
            <a:pPr eaLnBrk="1" hangingPunct="1"/>
            <a:r>
              <a:rPr lang="zh-CN" altLang="en-US" sz="2400" dirty="0">
                <a:latin typeface="Verdana" panose="020B0604030504040204" pitchFamily="34" charset="0"/>
                <a:ea typeface="华文中宋" panose="02010600040101010101" pitchFamily="2" charset="-122"/>
              </a:rPr>
              <a:t>巨型机</a:t>
            </a:r>
            <a:endParaRPr lang="en-US" altLang="zh-CN" sz="2400" dirty="0">
              <a:latin typeface="Verdana" panose="020B0604030504040204" pitchFamily="34" charset="0"/>
              <a:ea typeface="华文中宋" panose="02010600040101010101" pitchFamily="2" charset="-122"/>
            </a:endParaRPr>
          </a:p>
          <a:p>
            <a:pPr marL="0" indent="-457200" eaLnBrk="1" hangingPunct="1">
              <a:buNone/>
            </a:pPr>
            <a:r>
              <a:rPr lang="en-US" altLang="zh-CN" sz="2400" dirty="0">
                <a:latin typeface="Verdana" panose="020B0604030504040204" pitchFamily="34" charset="0"/>
                <a:ea typeface="华文中宋" panose="02010600040101010101" pitchFamily="2" charset="-122"/>
              </a:rPr>
              <a:t>   </a:t>
            </a:r>
            <a:r>
              <a:rPr lang="zh-CN" altLang="en-US" sz="2400" dirty="0">
                <a:latin typeface="Verdana" panose="020B0604030504040204" pitchFamily="34" charset="0"/>
                <a:ea typeface="华文中宋" panose="02010600040101010101" pitchFamily="2" charset="-122"/>
              </a:rPr>
              <a:t>面向浮点运算的数据中心计算机，内部网络需要更高的</a:t>
            </a:r>
            <a:endParaRPr lang="en-US" altLang="zh-CN" sz="2400" dirty="0">
              <a:latin typeface="Verdana" panose="020B0604030504040204" pitchFamily="34" charset="0"/>
              <a:ea typeface="华文中宋" panose="02010600040101010101" pitchFamily="2" charset="-122"/>
            </a:endParaRPr>
          </a:p>
          <a:p>
            <a:pPr marL="0" indent="-457200" eaLnBrk="1" hangingPunct="1">
              <a:buNone/>
            </a:pPr>
            <a:r>
              <a:rPr lang="zh-CN" altLang="en-US" sz="2400" dirty="0">
                <a:latin typeface="Verdana" panose="020B0604030504040204" pitchFamily="34" charset="0"/>
                <a:ea typeface="华文中宋" panose="02010600040101010101" pitchFamily="2" charset="-122"/>
              </a:rPr>
              <a:t>带宽和更低的延迟</a:t>
            </a:r>
            <a:r>
              <a:rPr lang="en-US" altLang="zh-CN" sz="2600" dirty="0">
                <a:latin typeface="Verdana" panose="020B0604030504040204" pitchFamily="34" charset="0"/>
                <a:ea typeface="华文中宋" panose="02010600040101010101" pitchFamily="2" charset="-122"/>
              </a:rPr>
              <a:t> </a:t>
            </a:r>
            <a:endParaRPr lang="zh-CN" altLang="en-US" sz="2600" dirty="0">
              <a:latin typeface="Verdana" panose="020B0604030504040204" pitchFamily="34" charset="0"/>
              <a:ea typeface="华文中宋" panose="02010600040101010101" pitchFamily="2" charset="-122"/>
            </a:endParaRPr>
          </a:p>
        </p:txBody>
      </p:sp>
      <p:sp>
        <p:nvSpPr>
          <p:cNvPr id="2" name="日期占位符 1">
            <a:extLst>
              <a:ext uri="{FF2B5EF4-FFF2-40B4-BE49-F238E27FC236}">
                <a16:creationId xmlns:a16="http://schemas.microsoft.com/office/drawing/2014/main" id="{890F70B4-9F31-6828-E864-A46051D9C472}"/>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B92E3C3E-4D8B-18D5-EA48-C8197008D9F7}"/>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21</a:t>
            </a:fld>
            <a:endParaRPr lang="en-US" altLang="zh-CN"/>
          </a:p>
        </p:txBody>
      </p:sp>
      <p:sp>
        <p:nvSpPr>
          <p:cNvPr id="4" name="页脚占位符 4">
            <a:extLst>
              <a:ext uri="{FF2B5EF4-FFF2-40B4-BE49-F238E27FC236}">
                <a16:creationId xmlns:a16="http://schemas.microsoft.com/office/drawing/2014/main" id="{31FEF12B-35DD-5300-1DB2-BF6F4B6B5573}"/>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548877" y="1268760"/>
            <a:ext cx="8046245" cy="4879805"/>
          </a:xfrm>
        </p:spPr>
        <p:txBody>
          <a:bodyPr/>
          <a:lstStyle/>
          <a:p>
            <a:pPr marL="0" indent="0">
              <a:lnSpc>
                <a:spcPct val="150000"/>
              </a:lnSpc>
              <a:buNone/>
            </a:pPr>
            <a:r>
              <a:rPr kumimoji="1" lang="en-US" altLang="zh-CN" sz="2600" b="1" dirty="0">
                <a:latin typeface="Times New Roman" panose="02020603050405020304" pitchFamily="18" charset="0"/>
                <a:ea typeface="+mn-ea"/>
                <a:cs typeface="Times New Roman" panose="02020603050405020304" pitchFamily="18" charset="0"/>
              </a:rPr>
              <a:t>1. </a:t>
            </a:r>
            <a:r>
              <a:rPr kumimoji="1" lang="zh-CN" altLang="en-US" sz="2600" b="1" dirty="0">
                <a:latin typeface="Times New Roman" panose="02020603050405020304" pitchFamily="18" charset="0"/>
                <a:ea typeface="+mn-ea"/>
                <a:cs typeface="Times New Roman" panose="02020603050405020304" pitchFamily="18" charset="0"/>
              </a:rPr>
              <a:t>集成电路逻辑技术 摩尔定律</a:t>
            </a:r>
            <a:endParaRPr kumimoji="1" lang="en-US" altLang="zh-CN" sz="2600" b="1" dirty="0">
              <a:latin typeface="Times New Roman" panose="02020603050405020304" pitchFamily="18" charset="0"/>
              <a:ea typeface="+mn-ea"/>
              <a:cs typeface="Times New Roman" panose="02020603050405020304" pitchFamily="18" charset="0"/>
            </a:endParaRPr>
          </a:p>
          <a:p>
            <a:pPr marL="0" indent="0">
              <a:lnSpc>
                <a:spcPct val="150000"/>
              </a:lnSpc>
              <a:buNone/>
            </a:pPr>
            <a:r>
              <a:rPr kumimoji="1" lang="zh-CN" altLang="en-US" sz="2400" b="1" dirty="0">
                <a:latin typeface="+mj-ea"/>
                <a:ea typeface="+mj-ea"/>
                <a:cs typeface="+mn-cs"/>
              </a:rPr>
              <a:t>     芯片</a:t>
            </a:r>
            <a:r>
              <a:rPr kumimoji="1" lang="en-US" altLang="zh-CN" sz="2400" b="1" dirty="0">
                <a:latin typeface="+mj-ea"/>
                <a:ea typeface="+mj-ea"/>
                <a:cs typeface="+mn-cs"/>
              </a:rPr>
              <a:t>(Chip)</a:t>
            </a:r>
            <a:r>
              <a:rPr kumimoji="1" lang="zh-CN" altLang="en-US" sz="2400" b="1" dirty="0">
                <a:latin typeface="+mj-ea"/>
                <a:ea typeface="+mj-ea"/>
                <a:cs typeface="+mn-cs"/>
              </a:rPr>
              <a:t>是一种把电路（如电源、电阻、电容、电感、二极管、晶体管、集成电路等，构成的网络、硬件）小型化的方式，并制造在半导体晶圆表面上。</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8679" y="4158445"/>
            <a:ext cx="1971219" cy="1108811"/>
          </a:xfrm>
          <a:prstGeom prst="rect">
            <a:avLst/>
          </a:prstGeom>
        </p:spPr>
      </p:pic>
      <p:pic>
        <p:nvPicPr>
          <p:cNvPr id="1026" name="Picture 2" descr="https://upload.wikimedia.org/wikipedia/commons/thumb/7/72/Ohm%27s_Law_with_Voltage_source.svg/800px-Ohm%27s_Law_with_Voltage_source.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6485" y="3921469"/>
            <a:ext cx="2110350" cy="15827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d/d4/Etchedwafer.jpg"/>
          <p:cNvPicPr>
            <a:picLocks noChangeAspect="1" noChangeArrowheads="1"/>
          </p:cNvPicPr>
          <p:nvPr/>
        </p:nvPicPr>
        <p:blipFill rotWithShape="1">
          <a:blip r:embed="rId5">
            <a:extLst>
              <a:ext uri="{28A0092B-C50C-407E-A947-70E740481C1C}">
                <a14:useLocalDpi xmlns:a14="http://schemas.microsoft.com/office/drawing/2010/main" val="0"/>
              </a:ext>
            </a:extLst>
          </a:blip>
          <a:srcRect t="6592" b="18500"/>
          <a:stretch/>
        </p:blipFill>
        <p:spPr bwMode="auto">
          <a:xfrm>
            <a:off x="3798827" y="4090760"/>
            <a:ext cx="1447151" cy="124418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bwMode="auto">
          <a:xfrm>
            <a:off x="4309265" y="5698119"/>
            <a:ext cx="440767" cy="251161"/>
          </a:xfrm>
          <a:prstGeom prst="rect">
            <a:avLst/>
          </a:prstGeom>
          <a:noFill/>
          <a:ln w="9525" algn="ctr">
            <a:noFill/>
            <a:miter lim="800000"/>
            <a:headEnd/>
            <a:tailEnd/>
          </a:ln>
        </p:spPr>
        <p:txBody>
          <a:bodyPr vert="horz" wrap="none" lIns="65852" tIns="32926" rIns="65852" bIns="32926" numCol="1" rtlCol="0" anchor="ctr" anchorCtr="0" compatLnSpc="1">
            <a:prstTxWarp prst="textNoShape">
              <a:avLst/>
            </a:prstTxWarp>
            <a:spAutoFit/>
          </a:bodyPr>
          <a:lstStyle/>
          <a:p>
            <a:r>
              <a:rPr lang="zh-CN" altLang="en-US" sz="1200" dirty="0">
                <a:latin typeface="Huawei Sans" panose="020C0503030203020204" pitchFamily="34" charset="0"/>
                <a:ea typeface="方正兰亭黑简体" panose="02000000000000000000" pitchFamily="2" charset="-122"/>
              </a:rPr>
              <a:t>晶圆</a:t>
            </a:r>
          </a:p>
        </p:txBody>
      </p:sp>
      <p:sp>
        <p:nvSpPr>
          <p:cNvPr id="8" name="文本框 7"/>
          <p:cNvSpPr txBox="1"/>
          <p:nvPr/>
        </p:nvSpPr>
        <p:spPr bwMode="auto">
          <a:xfrm>
            <a:off x="6943906" y="5636646"/>
            <a:ext cx="440767" cy="251161"/>
          </a:xfrm>
          <a:prstGeom prst="rect">
            <a:avLst/>
          </a:prstGeom>
          <a:noFill/>
          <a:ln w="9525" algn="ctr">
            <a:noFill/>
            <a:miter lim="800000"/>
            <a:headEnd/>
            <a:tailEnd/>
          </a:ln>
        </p:spPr>
        <p:txBody>
          <a:bodyPr vert="horz" wrap="none" lIns="65852" tIns="32926" rIns="65852" bIns="32926" numCol="1" rtlCol="0" anchor="ctr" anchorCtr="0" compatLnSpc="1">
            <a:prstTxWarp prst="textNoShape">
              <a:avLst/>
            </a:prstTxWarp>
            <a:spAutoFit/>
          </a:bodyPr>
          <a:lstStyle/>
          <a:p>
            <a:r>
              <a:rPr lang="zh-CN" altLang="en-US" sz="1200" dirty="0">
                <a:latin typeface="Huawei Sans" panose="020C0503030203020204" pitchFamily="34" charset="0"/>
                <a:ea typeface="方正兰亭黑简体" panose="02000000000000000000" pitchFamily="2" charset="-122"/>
              </a:rPr>
              <a:t>芯片</a:t>
            </a:r>
          </a:p>
        </p:txBody>
      </p:sp>
      <p:sp>
        <p:nvSpPr>
          <p:cNvPr id="9" name="文本框 8"/>
          <p:cNvSpPr txBox="1"/>
          <p:nvPr/>
        </p:nvSpPr>
        <p:spPr bwMode="auto">
          <a:xfrm>
            <a:off x="1829885" y="5680202"/>
            <a:ext cx="472286" cy="251161"/>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r>
              <a:rPr lang="zh-CN" altLang="en-US" sz="1200" dirty="0">
                <a:latin typeface="Huawei Sans" panose="020C0503030203020204" pitchFamily="34" charset="0"/>
                <a:ea typeface="方正兰亭黑简体" panose="02000000000000000000" pitchFamily="2" charset="-122"/>
              </a:rPr>
              <a:t>电路</a:t>
            </a:r>
          </a:p>
        </p:txBody>
      </p:sp>
      <p:sp>
        <p:nvSpPr>
          <p:cNvPr id="5" name="十字形 4"/>
          <p:cNvSpPr/>
          <p:nvPr/>
        </p:nvSpPr>
        <p:spPr bwMode="auto">
          <a:xfrm>
            <a:off x="3086835" y="4509131"/>
            <a:ext cx="513057" cy="499502"/>
          </a:xfrm>
          <a:prstGeom prst="plus">
            <a:avLst>
              <a:gd name="adj" fmla="val 43695"/>
            </a:avLst>
          </a:prstGeom>
          <a:solidFill>
            <a:srgbClr val="15B0E8"/>
          </a:solidFill>
          <a:ln w="9525" cap="flat" cmpd="sng" algn="ctr">
            <a:solidFill>
              <a:schemeClr val="bg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t"/>
            <a:endParaRPr kumimoji="0" lang="zh-CN" altLang="en-US" sz="750" b="0">
              <a:latin typeface="Huawei Sans" panose="020C0503030203020204" pitchFamily="34" charset="0"/>
              <a:ea typeface="方正兰亭黑简体" panose="02000000000000000000" pitchFamily="2" charset="-122"/>
            </a:endParaRPr>
          </a:p>
        </p:txBody>
      </p:sp>
      <p:sp>
        <p:nvSpPr>
          <p:cNvPr id="11" name="右箭头 10"/>
          <p:cNvSpPr/>
          <p:nvPr/>
        </p:nvSpPr>
        <p:spPr bwMode="auto">
          <a:xfrm>
            <a:off x="5636886" y="4591833"/>
            <a:ext cx="342859" cy="334095"/>
          </a:xfrm>
          <a:prstGeom prst="rightArrow">
            <a:avLst/>
          </a:prstGeom>
          <a:solidFill>
            <a:srgbClr val="15B0E8"/>
          </a:solidFill>
          <a:ln w="9525" cap="flat" cmpd="sng" algn="ctr">
            <a:solidFill>
              <a:schemeClr val="bg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t"/>
            <a:endParaRPr kumimoji="0" lang="zh-CN" altLang="en-US" sz="750" b="0">
              <a:latin typeface="Huawei Sans" panose="020C0503030203020204" pitchFamily="34" charset="0"/>
              <a:ea typeface="方正兰亭黑简体" panose="02000000000000000000" pitchFamily="2" charset="-122"/>
            </a:endParaRPr>
          </a:p>
        </p:txBody>
      </p:sp>
      <p:sp>
        <p:nvSpPr>
          <p:cNvPr id="15" name="Rectangle 2">
            <a:extLst>
              <a:ext uri="{FF2B5EF4-FFF2-40B4-BE49-F238E27FC236}">
                <a16:creationId xmlns:a16="http://schemas.microsoft.com/office/drawing/2014/main" id="{AD2AA5A5-BF59-417D-8663-90C0F78CEDA4}"/>
              </a:ext>
            </a:extLst>
          </p:cNvPr>
          <p:cNvSpPr txBox="1">
            <a:spLocks noChangeArrowheads="1"/>
          </p:cNvSpPr>
          <p:nvPr/>
        </p:nvSpPr>
        <p:spPr bwMode="auto">
          <a:xfrm>
            <a:off x="548877" y="234893"/>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1" lang="en-US" altLang="zh-CN" sz="3600" b="1" dirty="0">
                <a:latin typeface="+mj-ea"/>
                <a:cs typeface="+mn-cs"/>
              </a:rPr>
              <a:t>1.2.4 </a:t>
            </a:r>
            <a:r>
              <a:rPr kumimoji="1" lang="zh-CN" altLang="en-US" sz="3600" b="1" dirty="0">
                <a:latin typeface="+mj-ea"/>
                <a:cs typeface="+mn-cs"/>
              </a:rPr>
              <a:t>相关核心技术的发展</a:t>
            </a:r>
          </a:p>
        </p:txBody>
      </p:sp>
      <p:sp>
        <p:nvSpPr>
          <p:cNvPr id="6" name="日期占位符 5">
            <a:extLst>
              <a:ext uri="{FF2B5EF4-FFF2-40B4-BE49-F238E27FC236}">
                <a16:creationId xmlns:a16="http://schemas.microsoft.com/office/drawing/2014/main" id="{C9731DF0-E16E-1BAE-5CF9-7C4AC4B0555C}"/>
              </a:ext>
            </a:extLst>
          </p:cNvPr>
          <p:cNvSpPr>
            <a:spLocks noGrp="1"/>
          </p:cNvSpPr>
          <p:nvPr>
            <p:ph type="dt" sz="half" idx="11"/>
          </p:nvPr>
        </p:nvSpPr>
        <p:spPr/>
        <p:txBody>
          <a:bodyPr/>
          <a:lstStyle/>
          <a:p>
            <a:pPr>
              <a:defRPr/>
            </a:pPr>
            <a:fld id="{CFEA96A2-67E8-4BBC-A6EB-8A1B9D89DD07}" type="datetime1">
              <a:rPr lang="zh-CN" altLang="en-US" smtClean="0"/>
              <a:t>2025/9/10</a:t>
            </a:fld>
            <a:endParaRPr lang="en-US" altLang="zh-CN"/>
          </a:p>
        </p:txBody>
      </p:sp>
      <p:sp>
        <p:nvSpPr>
          <p:cNvPr id="10" name="灯片编号占位符 9">
            <a:extLst>
              <a:ext uri="{FF2B5EF4-FFF2-40B4-BE49-F238E27FC236}">
                <a16:creationId xmlns:a16="http://schemas.microsoft.com/office/drawing/2014/main" id="{A68B95E0-C1CD-3A1A-B997-2B79C639C4FF}"/>
              </a:ext>
            </a:extLst>
          </p:cNvPr>
          <p:cNvSpPr>
            <a:spLocks noGrp="1"/>
          </p:cNvSpPr>
          <p:nvPr>
            <p:ph type="sldNum" sz="quarter" idx="13"/>
          </p:nvPr>
        </p:nvSpPr>
        <p:spPr/>
        <p:txBody>
          <a:bodyPr/>
          <a:lstStyle/>
          <a:p>
            <a:pPr>
              <a:defRPr/>
            </a:pPr>
            <a:fld id="{8BCAC33D-D29A-48B3-BCD6-381D3D720D26}" type="slidenum">
              <a:rPr lang="zh-CN" altLang="en-US" smtClean="0"/>
              <a:pPr>
                <a:defRPr/>
              </a:pPr>
              <a:t>22</a:t>
            </a:fld>
            <a:endParaRPr lang="en-US" altLang="zh-CN"/>
          </a:p>
        </p:txBody>
      </p:sp>
      <p:sp>
        <p:nvSpPr>
          <p:cNvPr id="12" name="页脚占位符 11">
            <a:extLst>
              <a:ext uri="{FF2B5EF4-FFF2-40B4-BE49-F238E27FC236}">
                <a16:creationId xmlns:a16="http://schemas.microsoft.com/office/drawing/2014/main" id="{B938C06B-5381-DFA3-6279-E9A25D01D6DA}"/>
              </a:ext>
            </a:extLst>
          </p:cNvPr>
          <p:cNvSpPr>
            <a:spLocks noGrp="1"/>
          </p:cNvSpPr>
          <p:nvPr>
            <p:ph type="ftr" sz="quarter" idx="12"/>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30772003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9" descr="http://component-solutions.tek.com/images/services/ic-packaging/design/ic-package-desig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7638" y="2533687"/>
            <a:ext cx="2051178" cy="1476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COR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842" y="2714112"/>
            <a:ext cx="1657350" cy="124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1306095" y="4223944"/>
            <a:ext cx="12239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1600" dirty="0">
                <a:latin typeface="Huawei Sans" panose="020C0503030203020204" pitchFamily="34" charset="0"/>
                <a:ea typeface="方正兰亭黑简体" panose="02000000000000000000" pitchFamily="2" charset="-122"/>
              </a:rPr>
              <a:t>芯片设计</a:t>
            </a:r>
          </a:p>
        </p:txBody>
      </p:sp>
      <p:sp>
        <p:nvSpPr>
          <p:cNvPr id="7" name="Text Box 8"/>
          <p:cNvSpPr txBox="1">
            <a:spLocks noChangeArrowheads="1"/>
          </p:cNvSpPr>
          <p:nvPr/>
        </p:nvSpPr>
        <p:spPr bwMode="auto">
          <a:xfrm>
            <a:off x="4112950" y="4190704"/>
            <a:ext cx="12255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1600" dirty="0">
                <a:latin typeface="Huawei Sans" panose="020C0503030203020204" pitchFamily="34" charset="0"/>
                <a:ea typeface="方正兰亭黑简体" panose="02000000000000000000" pitchFamily="2" charset="-122"/>
              </a:rPr>
              <a:t>晶圆加工</a:t>
            </a:r>
          </a:p>
        </p:txBody>
      </p:sp>
      <p:sp>
        <p:nvSpPr>
          <p:cNvPr id="8" name="Text Box 11"/>
          <p:cNvSpPr txBox="1">
            <a:spLocks noChangeArrowheads="1"/>
          </p:cNvSpPr>
          <p:nvPr/>
        </p:nvSpPr>
        <p:spPr bwMode="auto">
          <a:xfrm>
            <a:off x="6811137" y="4190704"/>
            <a:ext cx="1728787" cy="3385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1600" dirty="0">
                <a:latin typeface="Huawei Sans" panose="020C0503030203020204" pitchFamily="34" charset="0"/>
                <a:ea typeface="方正兰亭黑简体" panose="02000000000000000000" pitchFamily="2" charset="-122"/>
              </a:rPr>
              <a:t>芯片封装测试</a:t>
            </a:r>
          </a:p>
        </p:txBody>
      </p:sp>
      <p:sp>
        <p:nvSpPr>
          <p:cNvPr id="9" name="Line 13"/>
          <p:cNvSpPr>
            <a:spLocks noChangeShapeType="1"/>
          </p:cNvSpPr>
          <p:nvPr/>
        </p:nvSpPr>
        <p:spPr bwMode="auto">
          <a:xfrm>
            <a:off x="2611439" y="3298851"/>
            <a:ext cx="1008063" cy="0"/>
          </a:xfrm>
          <a:prstGeom prst="line">
            <a:avLst/>
          </a:prstGeom>
          <a:noFill/>
          <a:ln w="38100">
            <a:solidFill>
              <a:srgbClr val="C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sz="1000">
              <a:latin typeface="Huawei Sans" panose="020C0503030203020204" pitchFamily="34" charset="0"/>
              <a:ea typeface="方正兰亭黑简体" panose="02000000000000000000" pitchFamily="2" charset="-122"/>
            </a:endParaRPr>
          </a:p>
        </p:txBody>
      </p:sp>
      <p:sp>
        <p:nvSpPr>
          <p:cNvPr id="11" name="Line 14"/>
          <p:cNvSpPr>
            <a:spLocks noChangeShapeType="1"/>
          </p:cNvSpPr>
          <p:nvPr/>
        </p:nvSpPr>
        <p:spPr bwMode="auto">
          <a:xfrm>
            <a:off x="5468938" y="3298851"/>
            <a:ext cx="1081088" cy="0"/>
          </a:xfrm>
          <a:prstGeom prst="line">
            <a:avLst/>
          </a:prstGeom>
          <a:noFill/>
          <a:ln w="38100">
            <a:solidFill>
              <a:srgbClr val="C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sz="1000">
              <a:latin typeface="Huawei Sans" panose="020C0503030203020204" pitchFamily="34" charset="0"/>
              <a:ea typeface="方正兰亭黑简体" panose="02000000000000000000" pitchFamily="2" charset="-122"/>
            </a:endParaRPr>
          </a:p>
        </p:txBody>
      </p:sp>
      <p:sp>
        <p:nvSpPr>
          <p:cNvPr id="12" name="Text Box 17"/>
          <p:cNvSpPr txBox="1">
            <a:spLocks noChangeArrowheads="1"/>
          </p:cNvSpPr>
          <p:nvPr/>
        </p:nvSpPr>
        <p:spPr bwMode="auto">
          <a:xfrm>
            <a:off x="926554" y="4739457"/>
            <a:ext cx="218891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600" dirty="0">
                <a:latin typeface="Huawei Sans" panose="020C0503030203020204" pitchFamily="34" charset="0"/>
                <a:ea typeface="方正兰亭黑简体" panose="02000000000000000000" pitchFamily="2" charset="-122"/>
              </a:rPr>
              <a:t>集成电路设计涉及对电子器件和器件间互连线模型的创建。</a:t>
            </a:r>
            <a:endParaRPr lang="en-US" altLang="zh-CN" sz="1600" dirty="0">
              <a:latin typeface="Huawei Sans" panose="020C0503030203020204" pitchFamily="34" charset="0"/>
              <a:ea typeface="方正兰亭黑简体" panose="02000000000000000000" pitchFamily="2" charset="-122"/>
            </a:endParaRPr>
          </a:p>
        </p:txBody>
      </p:sp>
      <p:sp>
        <p:nvSpPr>
          <p:cNvPr id="13" name="Text Box 18"/>
          <p:cNvSpPr txBox="1">
            <a:spLocks noChangeArrowheads="1"/>
          </p:cNvSpPr>
          <p:nvPr/>
        </p:nvSpPr>
        <p:spPr bwMode="auto">
          <a:xfrm>
            <a:off x="3552577" y="4658665"/>
            <a:ext cx="23293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600" dirty="0">
                <a:latin typeface="Huawei Sans" panose="020C0503030203020204" pitchFamily="34" charset="0"/>
                <a:ea typeface="方正兰亭黑简体" panose="02000000000000000000" pitchFamily="2" charset="-122"/>
              </a:rPr>
              <a:t>晶圆加工是一系列化学处理步骤，使得电子电路逐渐形成在使用纯半导体材料制作的芯片上。</a:t>
            </a:r>
            <a:endParaRPr lang="en-US" altLang="zh-CN" sz="1600" dirty="0">
              <a:latin typeface="Huawei Sans" panose="020C0503030203020204" pitchFamily="34" charset="0"/>
              <a:ea typeface="方正兰亭黑简体" panose="02000000000000000000" pitchFamily="2" charset="-122"/>
            </a:endParaRPr>
          </a:p>
        </p:txBody>
      </p:sp>
      <p:sp>
        <p:nvSpPr>
          <p:cNvPr id="14" name="Text Box 19"/>
          <p:cNvSpPr txBox="1">
            <a:spLocks noChangeArrowheads="1"/>
          </p:cNvSpPr>
          <p:nvPr/>
        </p:nvSpPr>
        <p:spPr bwMode="auto">
          <a:xfrm>
            <a:off x="6485616" y="4637454"/>
            <a:ext cx="2262848"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600" dirty="0">
                <a:latin typeface="Huawei Sans" panose="020C0503030203020204" pitchFamily="34" charset="0"/>
                <a:ea typeface="方正兰亭黑简体" panose="02000000000000000000" pitchFamily="2" charset="-122"/>
              </a:rPr>
              <a:t>封装是将器件的核心晶粒封装在一个支撑物之内的过程，这个封装可以防止物理损坏以及化学腐蚀，并提供对外连接的引脚，之后将进行集成电路性能测试。</a:t>
            </a:r>
            <a:endParaRPr lang="en-US" altLang="zh-CN" sz="1600" dirty="0">
              <a:latin typeface="Huawei Sans" panose="020C0503030203020204" pitchFamily="34" charset="0"/>
              <a:ea typeface="方正兰亭黑简体" panose="02000000000000000000" pitchFamily="2" charset="-122"/>
            </a:endParaRPr>
          </a:p>
        </p:txBody>
      </p:sp>
      <p:pic>
        <p:nvPicPr>
          <p:cNvPr id="17" name="Picture 21" descr="http://www.altamicrotec.com/pic/IMG_025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2038" y="2613052"/>
            <a:ext cx="18669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2">
            <a:extLst>
              <a:ext uri="{FF2B5EF4-FFF2-40B4-BE49-F238E27FC236}">
                <a16:creationId xmlns:a16="http://schemas.microsoft.com/office/drawing/2014/main" id="{64A25284-C03A-4FD3-9693-7A49755CDED8}"/>
              </a:ext>
            </a:extLst>
          </p:cNvPr>
          <p:cNvSpPr txBox="1">
            <a:spLocks noChangeArrowheads="1"/>
          </p:cNvSpPr>
          <p:nvPr/>
        </p:nvSpPr>
        <p:spPr bwMode="auto">
          <a:xfrm>
            <a:off x="429084" y="130507"/>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1" lang="en-US" altLang="zh-CN" sz="3600" b="1" dirty="0">
                <a:latin typeface="+mj-ea"/>
                <a:cs typeface="+mn-cs"/>
              </a:rPr>
              <a:t>1.2.4 </a:t>
            </a:r>
            <a:r>
              <a:rPr kumimoji="1" lang="zh-CN" altLang="en-US" sz="3600" b="1" dirty="0">
                <a:latin typeface="+mj-ea"/>
                <a:cs typeface="+mn-cs"/>
              </a:rPr>
              <a:t>相关核心技术的发展</a:t>
            </a:r>
          </a:p>
        </p:txBody>
      </p:sp>
      <p:sp>
        <p:nvSpPr>
          <p:cNvPr id="4" name="矩形 3">
            <a:extLst>
              <a:ext uri="{FF2B5EF4-FFF2-40B4-BE49-F238E27FC236}">
                <a16:creationId xmlns:a16="http://schemas.microsoft.com/office/drawing/2014/main" id="{1326865D-F973-4453-B267-41933A20E81C}"/>
              </a:ext>
            </a:extLst>
          </p:cNvPr>
          <p:cNvSpPr/>
          <p:nvPr/>
        </p:nvSpPr>
        <p:spPr>
          <a:xfrm>
            <a:off x="539552" y="1391756"/>
            <a:ext cx="4621778" cy="496546"/>
          </a:xfrm>
          <a:prstGeom prst="rect">
            <a:avLst/>
          </a:prstGeom>
        </p:spPr>
        <p:txBody>
          <a:bodyPr wrap="none">
            <a:spAutoFit/>
          </a:bodyPr>
          <a:lstStyle/>
          <a:p>
            <a:pPr>
              <a:lnSpc>
                <a:spcPct val="110000"/>
              </a:lnSpc>
              <a:spcBef>
                <a:spcPct val="20000"/>
              </a:spcBef>
            </a:pPr>
            <a:r>
              <a:rPr lang="en-US" altLang="zh-CN" sz="2600" dirty="0">
                <a:latin typeface="Times New Roman" panose="02020603050405020304" pitchFamily="18" charset="0"/>
                <a:ea typeface="+mn-ea"/>
                <a:cs typeface="Times New Roman" panose="02020603050405020304" pitchFamily="18" charset="0"/>
              </a:rPr>
              <a:t>1. </a:t>
            </a:r>
            <a:r>
              <a:rPr lang="zh-CN" altLang="en-US" sz="2600" dirty="0">
                <a:latin typeface="Times New Roman" panose="02020603050405020304" pitchFamily="18" charset="0"/>
                <a:ea typeface="+mn-ea"/>
                <a:cs typeface="Times New Roman" panose="02020603050405020304" pitchFamily="18" charset="0"/>
              </a:rPr>
              <a:t>集成电路逻辑技术 摩尔定律</a:t>
            </a:r>
            <a:endParaRPr lang="en-US" altLang="zh-CN" sz="2600" dirty="0">
              <a:latin typeface="Times New Roman" panose="02020603050405020304" pitchFamily="18" charset="0"/>
              <a:ea typeface="+mn-ea"/>
              <a:cs typeface="Times New Roman" panose="02020603050405020304" pitchFamily="18" charset="0"/>
            </a:endParaRPr>
          </a:p>
        </p:txBody>
      </p:sp>
      <p:pic>
        <p:nvPicPr>
          <p:cNvPr id="18" name="图片 17">
            <a:extLst>
              <a:ext uri="{FF2B5EF4-FFF2-40B4-BE49-F238E27FC236}">
                <a16:creationId xmlns:a16="http://schemas.microsoft.com/office/drawing/2014/main" id="{1D158532-3D86-40CF-880F-3A7FD978A832}"/>
              </a:ext>
            </a:extLst>
          </p:cNvPr>
          <p:cNvPicPr>
            <a:picLocks noChangeAspect="1"/>
          </p:cNvPicPr>
          <p:nvPr/>
        </p:nvPicPr>
        <p:blipFill>
          <a:blip r:embed="rId6"/>
          <a:stretch>
            <a:fillRect/>
          </a:stretch>
        </p:blipFill>
        <p:spPr>
          <a:xfrm>
            <a:off x="875241" y="6339036"/>
            <a:ext cx="2676525" cy="228600"/>
          </a:xfrm>
          <a:prstGeom prst="rect">
            <a:avLst/>
          </a:prstGeom>
        </p:spPr>
      </p:pic>
      <p:sp>
        <p:nvSpPr>
          <p:cNvPr id="2" name="日期占位符 1">
            <a:extLst>
              <a:ext uri="{FF2B5EF4-FFF2-40B4-BE49-F238E27FC236}">
                <a16:creationId xmlns:a16="http://schemas.microsoft.com/office/drawing/2014/main" id="{A9C6E25B-AADF-E12A-4553-559649BA7526}"/>
              </a:ext>
            </a:extLst>
          </p:cNvPr>
          <p:cNvSpPr>
            <a:spLocks noGrp="1"/>
          </p:cNvSpPr>
          <p:nvPr>
            <p:ph type="dt" sz="half" idx="11"/>
          </p:nvPr>
        </p:nvSpPr>
        <p:spPr/>
        <p:txBody>
          <a:bodyPr/>
          <a:lstStyle/>
          <a:p>
            <a:pPr>
              <a:defRPr/>
            </a:pPr>
            <a:fld id="{CD1F2540-60C4-4EF6-AE53-E0B7A6EE6CB0}" type="datetime1">
              <a:rPr lang="zh-CN" altLang="en-US" smtClean="0"/>
              <a:t>2025/9/10</a:t>
            </a:fld>
            <a:endParaRPr lang="en-US" altLang="zh-CN"/>
          </a:p>
        </p:txBody>
      </p:sp>
      <p:sp>
        <p:nvSpPr>
          <p:cNvPr id="10" name="灯片编号占位符 9">
            <a:extLst>
              <a:ext uri="{FF2B5EF4-FFF2-40B4-BE49-F238E27FC236}">
                <a16:creationId xmlns:a16="http://schemas.microsoft.com/office/drawing/2014/main" id="{28F3FBDA-993D-997F-51E6-075315A11326}"/>
              </a:ext>
            </a:extLst>
          </p:cNvPr>
          <p:cNvSpPr>
            <a:spLocks noGrp="1"/>
          </p:cNvSpPr>
          <p:nvPr>
            <p:ph type="sldNum" sz="quarter" idx="13"/>
          </p:nvPr>
        </p:nvSpPr>
        <p:spPr/>
        <p:txBody>
          <a:bodyPr/>
          <a:lstStyle/>
          <a:p>
            <a:pPr>
              <a:defRPr/>
            </a:pPr>
            <a:fld id="{8BCAC33D-D29A-48B3-BCD6-381D3D720D26}" type="slidenum">
              <a:rPr lang="zh-CN" altLang="en-US" smtClean="0"/>
              <a:pPr>
                <a:defRPr/>
              </a:pPr>
              <a:t>23</a:t>
            </a:fld>
            <a:endParaRPr lang="en-US" altLang="zh-CN"/>
          </a:p>
        </p:txBody>
      </p:sp>
      <p:sp>
        <p:nvSpPr>
          <p:cNvPr id="19" name="页脚占位符 18">
            <a:extLst>
              <a:ext uri="{FF2B5EF4-FFF2-40B4-BE49-F238E27FC236}">
                <a16:creationId xmlns:a16="http://schemas.microsoft.com/office/drawing/2014/main" id="{78B39C72-C93A-A996-D263-FF2FE9124F62}"/>
              </a:ext>
            </a:extLst>
          </p:cNvPr>
          <p:cNvSpPr>
            <a:spLocks noGrp="1"/>
          </p:cNvSpPr>
          <p:nvPr>
            <p:ph type="ftr" sz="quarter" idx="12"/>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99612756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p:txBody>
          <a:bodyPr>
            <a:normAutofit/>
          </a:bodyPr>
          <a:lstStyle/>
          <a:p>
            <a:pPr eaLnBrk="1" hangingPunct="1"/>
            <a:r>
              <a:rPr kumimoji="1" lang="en-US" altLang="zh-CN" sz="3600" b="1" dirty="0">
                <a:latin typeface="+mj-ea"/>
                <a:cs typeface="+mn-cs"/>
              </a:rPr>
              <a:t>1.2.4 </a:t>
            </a:r>
            <a:r>
              <a:rPr kumimoji="1" lang="zh-CN" altLang="en-US" sz="3600" b="1" dirty="0">
                <a:latin typeface="+mj-ea"/>
                <a:cs typeface="+mn-cs"/>
              </a:rPr>
              <a:t>相关核心技术的发展</a:t>
            </a:r>
          </a:p>
        </p:txBody>
      </p:sp>
      <p:sp>
        <p:nvSpPr>
          <p:cNvPr id="2" name="矩形 1"/>
          <p:cNvSpPr/>
          <p:nvPr/>
        </p:nvSpPr>
        <p:spPr>
          <a:xfrm>
            <a:off x="395536" y="1412776"/>
            <a:ext cx="8208912" cy="1938992"/>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mj-ea"/>
                <a:cs typeface="Times New Roman" panose="02020603050405020304" pitchFamily="18" charset="0"/>
              </a:rPr>
              <a:t>1965</a:t>
            </a:r>
            <a:r>
              <a:rPr lang="zh-CN" altLang="en-US" sz="2400" dirty="0">
                <a:latin typeface="Times New Roman" panose="02020603050405020304" pitchFamily="18" charset="0"/>
                <a:ea typeface="+mj-ea"/>
                <a:cs typeface="Times New Roman" panose="02020603050405020304" pitchFamily="18" charset="0"/>
              </a:rPr>
              <a:t>年，时任仙童公司研发实验室主任的摩尔（</a:t>
            </a:r>
            <a:r>
              <a:rPr lang="en-US" altLang="zh-CN" sz="2400" dirty="0">
                <a:latin typeface="Times New Roman" panose="02020603050405020304" pitchFamily="18" charset="0"/>
                <a:ea typeface="+mj-ea"/>
                <a:cs typeface="Times New Roman" panose="02020603050405020304" pitchFamily="18" charset="0"/>
              </a:rPr>
              <a:t>Gordon </a:t>
            </a:r>
            <a:r>
              <a:rPr lang="en-US" altLang="zh-CN" sz="2400" dirty="0" err="1">
                <a:latin typeface="Times New Roman" panose="02020603050405020304" pitchFamily="18" charset="0"/>
                <a:ea typeface="+mj-ea"/>
                <a:cs typeface="Times New Roman" panose="02020603050405020304" pitchFamily="18" charset="0"/>
              </a:rPr>
              <a:t>Mooer</a:t>
            </a:r>
            <a:r>
              <a:rPr lang="zh-CN" altLang="en-US" sz="2400" dirty="0">
                <a:latin typeface="Times New Roman" panose="02020603050405020304" pitchFamily="18" charset="0"/>
                <a:ea typeface="+mj-ea"/>
                <a:cs typeface="Times New Roman" panose="02020603050405020304" pitchFamily="18" charset="0"/>
              </a:rPr>
              <a:t>）在</a:t>
            </a:r>
            <a:r>
              <a:rPr lang="en-US" altLang="zh-CN" sz="2400" dirty="0">
                <a:latin typeface="Times New Roman" panose="02020603050405020304" pitchFamily="18" charset="0"/>
                <a:ea typeface="+mj-ea"/>
                <a:cs typeface="Times New Roman" panose="02020603050405020304" pitchFamily="18" charset="0"/>
              </a:rPr>
              <a:t>《Electronics》</a:t>
            </a:r>
            <a:r>
              <a:rPr lang="zh-CN" altLang="en-US" sz="2400" dirty="0">
                <a:latin typeface="Times New Roman" panose="02020603050405020304" pitchFamily="18" charset="0"/>
                <a:ea typeface="+mj-ea"/>
                <a:cs typeface="Times New Roman" panose="02020603050405020304" pitchFamily="18" charset="0"/>
              </a:rPr>
              <a:t>上撰文，认为集成电路密度大约每两年翻一番。</a:t>
            </a:r>
          </a:p>
          <a:p>
            <a:pPr marL="342900" indent="-342900">
              <a:buFont typeface="Arial" panose="020B0604020202020204" pitchFamily="34" charset="0"/>
              <a:buChar char="•"/>
            </a:pPr>
            <a:r>
              <a:rPr lang="en-US" altLang="zh-CN" sz="2400" dirty="0">
                <a:latin typeface="Times New Roman" panose="02020603050405020304" pitchFamily="18" charset="0"/>
                <a:ea typeface="+mj-ea"/>
                <a:cs typeface="Times New Roman" panose="02020603050405020304" pitchFamily="18" charset="0"/>
              </a:rPr>
              <a:t>60</a:t>
            </a:r>
            <a:r>
              <a:rPr lang="zh-CN" altLang="en-US" sz="2400" dirty="0">
                <a:latin typeface="Times New Roman" panose="02020603050405020304" pitchFamily="18" charset="0"/>
                <a:ea typeface="+mj-ea"/>
                <a:cs typeface="Times New Roman" panose="02020603050405020304" pitchFamily="18" charset="0"/>
              </a:rPr>
              <a:t>年来，摩尔定律不但印证了集成电路技术的发展，也印证了计算机技术的发展。</a:t>
            </a:r>
          </a:p>
        </p:txBody>
      </p:sp>
      <p:pic>
        <p:nvPicPr>
          <p:cNvPr id="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400003"/>
            <a:ext cx="7921625"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descr="Rectangle: Click to edit Master text styles&#10;Second level&#10;Third level&#10;Fourth level&#10;Fifth level"/>
          <p:cNvSpPr>
            <a:spLocks noGrp="1" noChangeArrowheads="1"/>
          </p:cNvSpPr>
          <p:nvPr>
            <p:ph type="body" idx="1"/>
          </p:nvPr>
        </p:nvSpPr>
        <p:spPr>
          <a:xfrm>
            <a:off x="397913" y="1518967"/>
            <a:ext cx="7989888" cy="4327525"/>
          </a:xfrm>
        </p:spPr>
        <p:txBody>
          <a:bodyPr/>
          <a:lstStyle/>
          <a:p>
            <a:pPr marL="0" indent="0" eaLnBrk="1" hangingPunct="1">
              <a:lnSpc>
                <a:spcPct val="110000"/>
              </a:lnSpc>
              <a:buNone/>
            </a:pPr>
            <a:r>
              <a:rPr lang="en-US" altLang="zh-CN" sz="2600" dirty="0">
                <a:latin typeface="Times New Roman" panose="02020603050405020304" pitchFamily="18" charset="0"/>
                <a:cs typeface="Times New Roman" panose="02020603050405020304" pitchFamily="18" charset="0"/>
              </a:rPr>
              <a:t>1. </a:t>
            </a:r>
            <a:r>
              <a:rPr lang="zh-CN" altLang="en-US" sz="2600" dirty="0">
                <a:latin typeface="Times New Roman" panose="02020603050405020304" pitchFamily="18" charset="0"/>
                <a:cs typeface="Times New Roman" panose="02020603050405020304" pitchFamily="18" charset="0"/>
              </a:rPr>
              <a:t>集成电路逻辑技术 摩尔定律</a:t>
            </a:r>
            <a:endParaRPr lang="en-US" altLang="zh-CN" sz="2600" dirty="0">
              <a:latin typeface="Times New Roman" panose="02020603050405020304" pitchFamily="18" charset="0"/>
              <a:cs typeface="Times New Roman" panose="02020603050405020304" pitchFamily="18" charset="0"/>
            </a:endParaRPr>
          </a:p>
          <a:p>
            <a:pPr marL="457200" indent="-457200" algn="just" eaLnBrk="1" hangingPunct="1">
              <a:lnSpc>
                <a:spcPct val="110000"/>
              </a:lnSpc>
              <a:buFont typeface="Wingdings" panose="05000000000000000000" pitchFamily="2" charset="2"/>
              <a:buNone/>
            </a:pPr>
            <a:r>
              <a:rPr lang="en-US" altLang="zh-CN" dirty="0"/>
              <a:t>		</a:t>
            </a:r>
            <a:r>
              <a:rPr lang="zh-CN" altLang="en-US" sz="2000" b="1" dirty="0">
                <a:latin typeface="Times New Roman" panose="02020603050405020304" pitchFamily="18" charset="0"/>
                <a:cs typeface="Times New Roman" panose="02020603050405020304" pitchFamily="18" charset="0"/>
              </a:rPr>
              <a:t>晶体管密度每年大约增加</a:t>
            </a:r>
            <a:r>
              <a:rPr lang="en-US" altLang="zh-CN" sz="2000" b="1" dirty="0">
                <a:latin typeface="Times New Roman" panose="02020603050405020304" pitchFamily="18" charset="0"/>
                <a:cs typeface="Times New Roman" panose="02020603050405020304" pitchFamily="18" charset="0"/>
              </a:rPr>
              <a:t>35%</a:t>
            </a:r>
            <a:r>
              <a:rPr lang="zh-CN" altLang="en-US" sz="2000" b="1" dirty="0">
                <a:latin typeface="Times New Roman" panose="02020603050405020304" pitchFamily="18" charset="0"/>
                <a:cs typeface="Times New Roman" panose="02020603050405020304" pitchFamily="18" charset="0"/>
              </a:rPr>
              <a:t>，约四年翻两番。晶片尺寸增长每年约</a:t>
            </a:r>
            <a:r>
              <a:rPr lang="en-US" altLang="zh-CN" sz="2000" b="1" dirty="0">
                <a:latin typeface="Times New Roman" panose="02020603050405020304" pitchFamily="18" charset="0"/>
                <a:cs typeface="Times New Roman" panose="02020603050405020304" pitchFamily="18" charset="0"/>
              </a:rPr>
              <a:t>10-20%</a:t>
            </a:r>
            <a:r>
              <a:rPr lang="zh-CN" altLang="en-US" sz="2000" b="1" dirty="0">
                <a:latin typeface="Times New Roman" panose="02020603050405020304" pitchFamily="18" charset="0"/>
                <a:cs typeface="Times New Roman" panose="02020603050405020304" pitchFamily="18" charset="0"/>
              </a:rPr>
              <a:t>。总之，一个芯片的晶体管数量每年增长</a:t>
            </a:r>
            <a:r>
              <a:rPr lang="en-US" altLang="zh-CN" sz="2000" b="1" dirty="0">
                <a:latin typeface="Times New Roman" panose="02020603050405020304" pitchFamily="18" charset="0"/>
                <a:cs typeface="Times New Roman" panose="02020603050405020304" pitchFamily="18" charset="0"/>
              </a:rPr>
              <a:t>40-55%</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18-24</a:t>
            </a:r>
            <a:r>
              <a:rPr lang="zh-CN" altLang="en-US" sz="2000" b="1" dirty="0">
                <a:latin typeface="Times New Roman" panose="02020603050405020304" pitchFamily="18" charset="0"/>
                <a:cs typeface="Times New Roman" panose="02020603050405020304" pitchFamily="18" charset="0"/>
              </a:rPr>
              <a:t>个月翻一番</a:t>
            </a:r>
            <a:endParaRPr lang="en-US" altLang="zh-CN" sz="2000" b="1"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39951" y="2924944"/>
            <a:ext cx="4606136" cy="3894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txBox="1"/>
          <p:nvPr/>
        </p:nvSpPr>
        <p:spPr bwMode="auto">
          <a:xfrm>
            <a:off x="38011" y="3912095"/>
            <a:ext cx="4241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r>
              <a:rPr lang="zh-CN" altLang="en-US" sz="2400" dirty="0">
                <a:solidFill>
                  <a:srgbClr val="4F56AD"/>
                </a:solidFill>
                <a:latin typeface="Tahoma" panose="020B0604030504040204" pitchFamily="34" charset="0"/>
                <a:ea typeface="黑体" panose="02010609060101010101" pitchFamily="49" charset="-122"/>
              </a:rPr>
              <a:t>缩放定律</a:t>
            </a:r>
          </a:p>
        </p:txBody>
      </p:sp>
      <p:sp>
        <p:nvSpPr>
          <p:cNvPr id="8" name="Rectangle 4"/>
          <p:cNvSpPr>
            <a:spLocks noGrp="1" noChangeArrowheads="1"/>
          </p:cNvSpPr>
          <p:nvPr>
            <p:ph type="title" idx="4294967295"/>
          </p:nvPr>
        </p:nvSpPr>
        <p:spPr>
          <a:xfrm>
            <a:off x="457200" y="188640"/>
            <a:ext cx="8229600" cy="1143000"/>
          </a:xfrm>
        </p:spPr>
        <p:txBody>
          <a:bodyPr>
            <a:normAutofit/>
          </a:bodyPr>
          <a:lstStyle/>
          <a:p>
            <a:r>
              <a:rPr kumimoji="1" lang="en-US" altLang="zh-CN" sz="3600" b="1" dirty="0">
                <a:latin typeface="+mj-ea"/>
              </a:rPr>
              <a:t>1.2.4 </a:t>
            </a:r>
            <a:r>
              <a:rPr kumimoji="1" lang="zh-CN" altLang="en-US" sz="3600" b="1" dirty="0">
                <a:latin typeface="+mj-ea"/>
              </a:rPr>
              <a:t>相关核心技术产品的发展</a:t>
            </a:r>
            <a:endParaRPr kumimoji="1" lang="en-US" altLang="zh-CN" sz="3600" b="1" dirty="0">
              <a:latin typeface="Verdana" panose="020B0604030504040204" pitchFamily="34" charset="0"/>
              <a:ea typeface="华文中宋" panose="02010600040101010101" pitchFamily="2" charset="-122"/>
              <a:cs typeface="+mn-cs"/>
            </a:endParaRPr>
          </a:p>
        </p:txBody>
      </p:sp>
      <p:sp>
        <p:nvSpPr>
          <p:cNvPr id="2" name="矩形 1"/>
          <p:cNvSpPr/>
          <p:nvPr/>
        </p:nvSpPr>
        <p:spPr>
          <a:xfrm>
            <a:off x="484723" y="4293095"/>
            <a:ext cx="3775393" cy="1015663"/>
          </a:xfrm>
          <a:prstGeom prst="rect">
            <a:avLst/>
          </a:prstGeom>
        </p:spPr>
        <p:txBody>
          <a:bodyPr wrap="none">
            <a:spAutoFit/>
          </a:bodyPr>
          <a:lstStyle/>
          <a:p>
            <a:pPr algn="ctr"/>
            <a:r>
              <a:rPr lang="zh-CN" altLang="en-US" sz="2000" b="0" dirty="0"/>
              <a:t>如果将</a:t>
            </a:r>
            <a:r>
              <a:rPr lang="en-US" altLang="zh-CN" sz="2000" b="0" dirty="0"/>
              <a:t>MOS</a:t>
            </a:r>
            <a:r>
              <a:rPr lang="zh-CN" altLang="en-US" sz="2000" b="0" dirty="0"/>
              <a:t>管的尺寸和电压减半</a:t>
            </a:r>
            <a:r>
              <a:rPr lang="en-US" altLang="zh-CN" sz="2000" b="0" dirty="0"/>
              <a:t>,</a:t>
            </a:r>
          </a:p>
          <a:p>
            <a:pPr algn="ctr"/>
            <a:r>
              <a:rPr lang="en-US" altLang="zh-CN" sz="2000" b="0" dirty="0"/>
              <a:t>MOS</a:t>
            </a:r>
            <a:r>
              <a:rPr lang="zh-CN" altLang="en-US" sz="2000" b="0" dirty="0"/>
              <a:t>管的切换速度将提高两倍，</a:t>
            </a:r>
            <a:endParaRPr lang="en-US" altLang="zh-CN" sz="2000" b="0" dirty="0"/>
          </a:p>
          <a:p>
            <a:pPr algn="ctr"/>
            <a:r>
              <a:rPr lang="zh-CN" altLang="en-US" sz="2000" b="0" dirty="0"/>
              <a:t>耗电量降至</a:t>
            </a:r>
            <a:r>
              <a:rPr lang="en-US" altLang="zh-CN" sz="2000" b="0" dirty="0"/>
              <a:t>1/4</a:t>
            </a:r>
            <a:r>
              <a:rPr lang="zh-CN" altLang="en-US" sz="2000" b="0" dirty="0"/>
              <a:t>。</a:t>
            </a:r>
          </a:p>
        </p:txBody>
      </p:sp>
      <p:sp>
        <p:nvSpPr>
          <p:cNvPr id="3" name="日期占位符 2">
            <a:extLst>
              <a:ext uri="{FF2B5EF4-FFF2-40B4-BE49-F238E27FC236}">
                <a16:creationId xmlns:a16="http://schemas.microsoft.com/office/drawing/2014/main" id="{7C34C321-29C8-D37D-F657-C68E6B636B70}"/>
              </a:ext>
            </a:extLst>
          </p:cNvPr>
          <p:cNvSpPr>
            <a:spLocks noGrp="1"/>
          </p:cNvSpPr>
          <p:nvPr>
            <p:ph type="dt" sz="half" idx="10"/>
          </p:nvPr>
        </p:nvSpPr>
        <p:spPr/>
        <p:txBody>
          <a:bodyPr/>
          <a:lstStyle/>
          <a:p>
            <a:pPr>
              <a:defRPr/>
            </a:pPr>
            <a:fld id="{4FAC7971-9C64-4E99-A475-3140CE318F40}" type="datetime1">
              <a:rPr lang="zh-CN" altLang="en-US" smtClean="0"/>
              <a:t>2025/9/10</a:t>
            </a:fld>
            <a:endParaRPr lang="en-US" altLang="zh-CN"/>
          </a:p>
        </p:txBody>
      </p:sp>
      <p:sp>
        <p:nvSpPr>
          <p:cNvPr id="5" name="灯片编号占位符 4">
            <a:extLst>
              <a:ext uri="{FF2B5EF4-FFF2-40B4-BE49-F238E27FC236}">
                <a16:creationId xmlns:a16="http://schemas.microsoft.com/office/drawing/2014/main" id="{B39E7720-2707-928D-EA1F-C227F22F71CE}"/>
              </a:ext>
            </a:extLst>
          </p:cNvPr>
          <p:cNvSpPr>
            <a:spLocks noGrp="1"/>
          </p:cNvSpPr>
          <p:nvPr>
            <p:ph type="sldNum" sz="quarter" idx="12"/>
          </p:nvPr>
        </p:nvSpPr>
        <p:spPr/>
        <p:txBody>
          <a:bodyPr/>
          <a:lstStyle/>
          <a:p>
            <a:pPr>
              <a:defRPr/>
            </a:pPr>
            <a:fld id="{8BCAC33D-D29A-48B3-BCD6-381D3D720D26}" type="slidenum">
              <a:rPr lang="zh-CN" altLang="en-US" smtClean="0"/>
              <a:pPr>
                <a:defRPr/>
              </a:pPr>
              <a:t>25</a:t>
            </a:fld>
            <a:endParaRPr lang="en-US" altLang="zh-CN"/>
          </a:p>
        </p:txBody>
      </p:sp>
      <p:sp>
        <p:nvSpPr>
          <p:cNvPr id="9" name="页脚占位符 8">
            <a:extLst>
              <a:ext uri="{FF2B5EF4-FFF2-40B4-BE49-F238E27FC236}">
                <a16:creationId xmlns:a16="http://schemas.microsoft.com/office/drawing/2014/main" id="{ABD7A40E-4573-2615-2683-6D3747F975F7}"/>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descr="Rectangle: Click to edit Master text styles&#10;Second level&#10;Third level&#10;Fourth level&#10;Fifth level"/>
          <p:cNvSpPr>
            <a:spLocks noGrp="1" noChangeArrowheads="1"/>
          </p:cNvSpPr>
          <p:nvPr>
            <p:ph type="body" idx="1"/>
          </p:nvPr>
        </p:nvSpPr>
        <p:spPr>
          <a:xfrm>
            <a:off x="611560" y="1524248"/>
            <a:ext cx="7989888" cy="4327525"/>
          </a:xfrm>
        </p:spPr>
        <p:txBody>
          <a:bodyPr/>
          <a:lstStyle/>
          <a:p>
            <a:pPr marL="0" indent="0" eaLnBrk="1" hangingPunct="1">
              <a:lnSpc>
                <a:spcPct val="110000"/>
              </a:lnSpc>
              <a:buNone/>
            </a:pPr>
            <a:r>
              <a:rPr lang="en-US" altLang="zh-CN" sz="2600" dirty="0">
                <a:latin typeface="Times New Roman" panose="02020603050405020304" pitchFamily="18" charset="0"/>
                <a:cs typeface="Times New Roman" panose="02020603050405020304" pitchFamily="18" charset="0"/>
              </a:rPr>
              <a:t>2. DRAM</a:t>
            </a: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a:t>
            </a:r>
            <a:r>
              <a:rPr lang="zh-CN" altLang="en-US" sz="2600" dirty="0">
                <a:latin typeface="Times New Roman" panose="02020603050405020304" pitchFamily="18" charset="0"/>
                <a:cs typeface="Times New Roman" panose="02020603050405020304" pitchFamily="18" charset="0"/>
              </a:rPr>
              <a:t>动态随机访问存储器</a:t>
            </a:r>
            <a:r>
              <a:rPr lang="en-US" altLang="zh-CN" sz="2600" dirty="0">
                <a:latin typeface="Times New Roman" panose="02020603050405020304" pitchFamily="18" charset="0"/>
                <a:cs typeface="Times New Roman" panose="02020603050405020304" pitchFamily="18" charset="0"/>
              </a:rPr>
              <a:t>)</a:t>
            </a:r>
          </a:p>
          <a:p>
            <a:pPr marL="457200" indent="-457200" eaLnBrk="1" hangingPunct="1">
              <a:lnSpc>
                <a:spcPct val="110000"/>
              </a:lnSpc>
              <a:buFont typeface="Wingdings" panose="05000000000000000000" pitchFamily="2" charset="2"/>
              <a:buNone/>
            </a:pPr>
            <a:r>
              <a:rPr lang="en-US" altLang="zh-CN" dirty="0"/>
              <a:t>	</a:t>
            </a:r>
            <a:r>
              <a:rPr lang="zh-CN" altLang="en-US" sz="2400" dirty="0"/>
              <a:t>单个</a:t>
            </a:r>
            <a:r>
              <a:rPr lang="en-US" altLang="zh-CN" sz="2400" dirty="0"/>
              <a:t>DRAM</a:t>
            </a:r>
            <a:r>
              <a:rPr lang="zh-CN" altLang="en-US" sz="2400" dirty="0"/>
              <a:t>模块的容量每年增加</a:t>
            </a:r>
            <a:r>
              <a:rPr lang="en-US" altLang="zh-CN" sz="2400" dirty="0"/>
              <a:t>25-40%</a:t>
            </a:r>
            <a:r>
              <a:rPr lang="zh-CN" altLang="en-US" sz="2400" dirty="0"/>
              <a:t>，增速逐年下降。</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2736" y="3140968"/>
            <a:ext cx="57594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p:cNvSpPr>
            <a:spLocks noGrp="1" noChangeArrowheads="1"/>
          </p:cNvSpPr>
          <p:nvPr>
            <p:ph type="title" idx="4294967295"/>
          </p:nvPr>
        </p:nvSpPr>
        <p:spPr>
          <a:xfrm>
            <a:off x="457200" y="188640"/>
            <a:ext cx="8229600" cy="1143000"/>
          </a:xfrm>
        </p:spPr>
        <p:txBody>
          <a:bodyPr>
            <a:normAutofit/>
          </a:bodyPr>
          <a:lstStyle/>
          <a:p>
            <a:r>
              <a:rPr kumimoji="1" lang="en-US" altLang="zh-CN" sz="3600" b="1" dirty="0">
                <a:latin typeface="+mj-ea"/>
              </a:rPr>
              <a:t>1.2.4 </a:t>
            </a:r>
            <a:r>
              <a:rPr kumimoji="1" lang="zh-CN" altLang="en-US" sz="3600" b="1" dirty="0">
                <a:latin typeface="+mj-ea"/>
              </a:rPr>
              <a:t>相关核心技术产品的发展</a:t>
            </a:r>
            <a:endParaRPr kumimoji="1" lang="en-US" altLang="zh-CN" sz="3600" b="1" dirty="0">
              <a:latin typeface="Verdana" panose="020B0604030504040204" pitchFamily="34" charset="0"/>
              <a:ea typeface="华文中宋" panose="02010600040101010101" pitchFamily="2" charset="-122"/>
              <a:cs typeface="+mn-cs"/>
            </a:endParaRPr>
          </a:p>
        </p:txBody>
      </p:sp>
      <p:sp>
        <p:nvSpPr>
          <p:cNvPr id="2" name="日期占位符 1">
            <a:extLst>
              <a:ext uri="{FF2B5EF4-FFF2-40B4-BE49-F238E27FC236}">
                <a16:creationId xmlns:a16="http://schemas.microsoft.com/office/drawing/2014/main" id="{E030F3B0-21D5-FA25-5341-4CF70EABEE9E}"/>
              </a:ext>
            </a:extLst>
          </p:cNvPr>
          <p:cNvSpPr>
            <a:spLocks noGrp="1"/>
          </p:cNvSpPr>
          <p:nvPr>
            <p:ph type="dt" sz="half" idx="10"/>
          </p:nvPr>
        </p:nvSpPr>
        <p:spPr/>
        <p:txBody>
          <a:bodyPr/>
          <a:lstStyle/>
          <a:p>
            <a:pPr>
              <a:defRPr/>
            </a:pPr>
            <a:fld id="{512AA9EC-713D-43CB-BAF8-25D87D1701D7}" type="datetime1">
              <a:rPr lang="zh-CN" altLang="en-US" smtClean="0"/>
              <a:t>2025/9/10</a:t>
            </a:fld>
            <a:endParaRPr lang="en-US" altLang="zh-CN"/>
          </a:p>
        </p:txBody>
      </p:sp>
      <p:sp>
        <p:nvSpPr>
          <p:cNvPr id="5" name="灯片编号占位符 4">
            <a:extLst>
              <a:ext uri="{FF2B5EF4-FFF2-40B4-BE49-F238E27FC236}">
                <a16:creationId xmlns:a16="http://schemas.microsoft.com/office/drawing/2014/main" id="{C328DC80-324E-6DBE-83B5-CA6BB73BD6E4}"/>
              </a:ext>
            </a:extLst>
          </p:cNvPr>
          <p:cNvSpPr>
            <a:spLocks noGrp="1"/>
          </p:cNvSpPr>
          <p:nvPr>
            <p:ph type="sldNum" sz="quarter" idx="12"/>
          </p:nvPr>
        </p:nvSpPr>
        <p:spPr/>
        <p:txBody>
          <a:bodyPr/>
          <a:lstStyle/>
          <a:p>
            <a:pPr>
              <a:defRPr/>
            </a:pPr>
            <a:fld id="{8BCAC33D-D29A-48B3-BCD6-381D3D720D26}" type="slidenum">
              <a:rPr lang="zh-CN" altLang="en-US" smtClean="0"/>
              <a:pPr>
                <a:defRPr/>
              </a:pPr>
              <a:t>26</a:t>
            </a:fld>
            <a:endParaRPr lang="en-US" altLang="zh-CN"/>
          </a:p>
        </p:txBody>
      </p:sp>
      <p:sp>
        <p:nvSpPr>
          <p:cNvPr id="6" name="页脚占位符 5">
            <a:extLst>
              <a:ext uri="{FF2B5EF4-FFF2-40B4-BE49-F238E27FC236}">
                <a16:creationId xmlns:a16="http://schemas.microsoft.com/office/drawing/2014/main" id="{3B8EF359-4A90-00A9-012A-95D097F52274}"/>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descr="Rectangle: Click to edit Master text styles&#10;Second level&#10;Third level&#10;Fourth level&#10;Fifth level"/>
          <p:cNvSpPr>
            <a:spLocks noGrp="1" noChangeArrowheads="1"/>
          </p:cNvSpPr>
          <p:nvPr>
            <p:ph type="body" idx="1"/>
          </p:nvPr>
        </p:nvSpPr>
        <p:spPr>
          <a:xfrm>
            <a:off x="611560" y="1628800"/>
            <a:ext cx="7989888" cy="4327525"/>
          </a:xfrm>
        </p:spPr>
        <p:txBody>
          <a:bodyPr/>
          <a:lstStyle/>
          <a:p>
            <a:pPr marL="0" indent="0" eaLnBrk="1" hangingPunct="1">
              <a:lnSpc>
                <a:spcPct val="110000"/>
              </a:lnSpc>
              <a:buNone/>
            </a:pPr>
            <a:r>
              <a:rPr lang="en-US" altLang="zh-CN" sz="2600" dirty="0"/>
              <a:t>3. </a:t>
            </a:r>
            <a:r>
              <a:rPr lang="zh-CN" altLang="en-US" sz="2600" dirty="0"/>
              <a:t>闪存（快擦型存储器）</a:t>
            </a:r>
            <a:endParaRPr lang="en-US" altLang="zh-CN" sz="2600" dirty="0"/>
          </a:p>
          <a:p>
            <a:pPr marL="457200" indent="-457200" eaLnBrk="1" hangingPunct="1">
              <a:lnSpc>
                <a:spcPct val="110000"/>
              </a:lnSpc>
              <a:buFont typeface="Wingdings" panose="05000000000000000000" pitchFamily="2" charset="2"/>
              <a:buNone/>
            </a:pPr>
            <a:r>
              <a:rPr lang="en-US" altLang="zh-CN" dirty="0"/>
              <a:t>		</a:t>
            </a:r>
            <a:r>
              <a:rPr lang="zh-CN" altLang="en-US" sz="2400" dirty="0"/>
              <a:t>近几年，每年约</a:t>
            </a:r>
            <a:r>
              <a:rPr lang="en-US" altLang="zh-CN" sz="2400" dirty="0"/>
              <a:t>50-60%</a:t>
            </a:r>
            <a:r>
              <a:rPr lang="zh-CN" altLang="en-US" sz="2400" dirty="0"/>
              <a:t>的速度增长，大约每两年翻一番，大量用于便携式设备。</a:t>
            </a:r>
            <a:endParaRPr lang="en-US" altLang="zh-CN" sz="2400" dirty="0"/>
          </a:p>
          <a:p>
            <a:pPr marL="457200" indent="-457200" eaLnBrk="1" hangingPunct="1">
              <a:lnSpc>
                <a:spcPct val="110000"/>
              </a:lnSpc>
              <a:buFont typeface="Wingdings" panose="05000000000000000000" pitchFamily="2" charset="2"/>
              <a:buNone/>
            </a:pPr>
            <a:endParaRPr lang="en-US" altLang="zh-CN" sz="1800" dirty="0"/>
          </a:p>
          <a:p>
            <a:pPr marL="0" indent="0" eaLnBrk="1" hangingPunct="1">
              <a:lnSpc>
                <a:spcPct val="110000"/>
              </a:lnSpc>
              <a:buNone/>
            </a:pPr>
            <a:r>
              <a:rPr lang="en-US" altLang="zh-CN" sz="2600" dirty="0"/>
              <a:t>4. </a:t>
            </a:r>
            <a:r>
              <a:rPr lang="zh-CN" altLang="en-US" sz="2600" dirty="0"/>
              <a:t>磁盘</a:t>
            </a:r>
            <a:endParaRPr lang="en-US" altLang="zh-CN" sz="2600" dirty="0"/>
          </a:p>
          <a:p>
            <a:pPr marL="457200" indent="-457200" eaLnBrk="1" hangingPunct="1">
              <a:lnSpc>
                <a:spcPct val="110000"/>
              </a:lnSpc>
              <a:buFont typeface="Wingdings" panose="05000000000000000000" pitchFamily="2" charset="2"/>
              <a:buNone/>
            </a:pPr>
            <a:r>
              <a:rPr lang="en-US" altLang="zh-CN" dirty="0"/>
              <a:t>		</a:t>
            </a:r>
            <a:r>
              <a:rPr lang="zh-CN" altLang="en-US" sz="2400" dirty="0"/>
              <a:t>从</a:t>
            </a:r>
            <a:r>
              <a:rPr lang="en-US" altLang="zh-CN" sz="2400" dirty="0"/>
              <a:t>04</a:t>
            </a:r>
            <a:r>
              <a:rPr lang="zh-CN" altLang="en-US" sz="2400" dirty="0"/>
              <a:t>年开始，大约每年增长</a:t>
            </a:r>
            <a:r>
              <a:rPr lang="en-US" altLang="zh-CN" sz="2400" dirty="0"/>
              <a:t>40%</a:t>
            </a:r>
            <a:r>
              <a:rPr lang="zh-CN" altLang="en-US" sz="2400" dirty="0"/>
              <a:t>，约每</a:t>
            </a:r>
            <a:r>
              <a:rPr lang="en-US" altLang="zh-CN" sz="2400" dirty="0"/>
              <a:t>3</a:t>
            </a:r>
            <a:r>
              <a:rPr lang="zh-CN" altLang="en-US" sz="2400" dirty="0"/>
              <a:t>年翻一番。位成本的迅速下降。</a:t>
            </a:r>
            <a:endParaRPr lang="en-US" altLang="zh-CN" sz="2400" dirty="0"/>
          </a:p>
          <a:p>
            <a:pPr marL="457200" indent="-457200" eaLnBrk="1" hangingPunct="1">
              <a:lnSpc>
                <a:spcPct val="110000"/>
              </a:lnSpc>
              <a:buFont typeface="Wingdings" panose="05000000000000000000" pitchFamily="2" charset="2"/>
              <a:buNone/>
            </a:pPr>
            <a:endParaRPr lang="en-US" altLang="zh-CN" sz="2400" dirty="0"/>
          </a:p>
          <a:p>
            <a:pPr marL="457200" indent="-457200" eaLnBrk="1" hangingPunct="1">
              <a:lnSpc>
                <a:spcPct val="110000"/>
              </a:lnSpc>
              <a:buFont typeface="Wingdings" panose="05000000000000000000" pitchFamily="2" charset="2"/>
              <a:buNone/>
            </a:pPr>
            <a:r>
              <a:rPr lang="en-US" altLang="zh-CN" sz="2400" dirty="0"/>
              <a:t>5. </a:t>
            </a:r>
            <a:r>
              <a:rPr lang="zh-CN" altLang="en-US" sz="2400" dirty="0"/>
              <a:t>网络</a:t>
            </a:r>
            <a:endParaRPr lang="en-US" altLang="zh-CN" sz="2400" dirty="0"/>
          </a:p>
          <a:p>
            <a:pPr marL="457200" indent="-457200" eaLnBrk="1" hangingPunct="1">
              <a:lnSpc>
                <a:spcPct val="110000"/>
              </a:lnSpc>
              <a:buFont typeface="Wingdings" panose="05000000000000000000" pitchFamily="2" charset="2"/>
              <a:buNone/>
            </a:pPr>
            <a:endParaRPr lang="zh-CN" altLang="en-US" sz="2000" dirty="0">
              <a:solidFill>
                <a:srgbClr val="000090"/>
              </a:solidFill>
            </a:endParaRPr>
          </a:p>
        </p:txBody>
      </p:sp>
      <p:sp>
        <p:nvSpPr>
          <p:cNvPr id="4" name="Rectangle 4"/>
          <p:cNvSpPr>
            <a:spLocks noGrp="1" noChangeArrowheads="1"/>
          </p:cNvSpPr>
          <p:nvPr>
            <p:ph type="title" idx="4294967295"/>
          </p:nvPr>
        </p:nvSpPr>
        <p:spPr>
          <a:xfrm>
            <a:off x="457200" y="188640"/>
            <a:ext cx="8229600" cy="1143000"/>
          </a:xfrm>
        </p:spPr>
        <p:txBody>
          <a:bodyPr>
            <a:normAutofit/>
          </a:bodyPr>
          <a:lstStyle/>
          <a:p>
            <a:r>
              <a:rPr kumimoji="1" lang="en-US" altLang="zh-CN" sz="3600" b="1" dirty="0">
                <a:latin typeface="+mj-ea"/>
              </a:rPr>
              <a:t>1.2.4 </a:t>
            </a:r>
            <a:r>
              <a:rPr kumimoji="1" lang="zh-CN" altLang="en-US" sz="3600" b="1" dirty="0">
                <a:latin typeface="+mj-ea"/>
              </a:rPr>
              <a:t>相关核心技术产品的发展</a:t>
            </a:r>
            <a:endParaRPr kumimoji="1" lang="en-US" altLang="zh-CN" sz="3600" b="1" dirty="0">
              <a:latin typeface="Verdana" panose="020B0604030504040204" pitchFamily="34" charset="0"/>
              <a:ea typeface="华文中宋" panose="02010600040101010101" pitchFamily="2" charset="-122"/>
              <a:cs typeface="+mn-cs"/>
            </a:endParaRPr>
          </a:p>
        </p:txBody>
      </p:sp>
      <p:sp>
        <p:nvSpPr>
          <p:cNvPr id="2" name="日期占位符 1">
            <a:extLst>
              <a:ext uri="{FF2B5EF4-FFF2-40B4-BE49-F238E27FC236}">
                <a16:creationId xmlns:a16="http://schemas.microsoft.com/office/drawing/2014/main" id="{F52B4273-57DD-6204-0924-8C0A2F085169}"/>
              </a:ext>
            </a:extLst>
          </p:cNvPr>
          <p:cNvSpPr>
            <a:spLocks noGrp="1"/>
          </p:cNvSpPr>
          <p:nvPr>
            <p:ph type="dt" sz="half" idx="10"/>
          </p:nvPr>
        </p:nvSpPr>
        <p:spPr/>
        <p:txBody>
          <a:bodyPr/>
          <a:lstStyle/>
          <a:p>
            <a:pPr>
              <a:defRPr/>
            </a:pPr>
            <a:fld id="{22150BFD-98AF-4537-8A68-E9024751D835}" type="datetime1">
              <a:rPr lang="zh-CN" altLang="en-US" smtClean="0"/>
              <a:t>2025/9/10</a:t>
            </a:fld>
            <a:endParaRPr lang="en-US" altLang="zh-CN"/>
          </a:p>
        </p:txBody>
      </p:sp>
      <p:sp>
        <p:nvSpPr>
          <p:cNvPr id="5" name="灯片编号占位符 4">
            <a:extLst>
              <a:ext uri="{FF2B5EF4-FFF2-40B4-BE49-F238E27FC236}">
                <a16:creationId xmlns:a16="http://schemas.microsoft.com/office/drawing/2014/main" id="{7D6AD982-B7C4-1380-5A7A-1670C4FAD800}"/>
              </a:ext>
            </a:extLst>
          </p:cNvPr>
          <p:cNvSpPr>
            <a:spLocks noGrp="1"/>
          </p:cNvSpPr>
          <p:nvPr>
            <p:ph type="sldNum" sz="quarter" idx="12"/>
          </p:nvPr>
        </p:nvSpPr>
        <p:spPr/>
        <p:txBody>
          <a:bodyPr/>
          <a:lstStyle/>
          <a:p>
            <a:pPr>
              <a:defRPr/>
            </a:pPr>
            <a:fld id="{8BCAC33D-D29A-48B3-BCD6-381D3D720D26}" type="slidenum">
              <a:rPr lang="zh-CN" altLang="en-US" smtClean="0"/>
              <a:pPr>
                <a:defRPr/>
              </a:pPr>
              <a:t>27</a:t>
            </a:fld>
            <a:endParaRPr lang="en-US" altLang="zh-CN"/>
          </a:p>
        </p:txBody>
      </p:sp>
      <p:sp>
        <p:nvSpPr>
          <p:cNvPr id="6" name="页脚占位符 5">
            <a:extLst>
              <a:ext uri="{FF2B5EF4-FFF2-40B4-BE49-F238E27FC236}">
                <a16:creationId xmlns:a16="http://schemas.microsoft.com/office/drawing/2014/main" id="{03CA2BBD-1F7F-563C-22DE-5AE6A1F0AB29}"/>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normAutofit/>
          </a:bodyPr>
          <a:lstStyle/>
          <a:p>
            <a:pPr eaLnBrk="1" hangingPunct="1"/>
            <a:r>
              <a:rPr kumimoji="1" lang="en-US" altLang="zh-CN" sz="3600" b="1" dirty="0">
                <a:latin typeface="+mj-ea"/>
                <a:cs typeface="+mn-cs"/>
              </a:rPr>
              <a:t>1.2.5 </a:t>
            </a:r>
            <a:r>
              <a:rPr kumimoji="1" lang="zh-CN" altLang="en-US" sz="3600" b="1" dirty="0">
                <a:latin typeface="+mj-ea"/>
                <a:cs typeface="+mn-cs"/>
              </a:rPr>
              <a:t>体系结构的发展</a:t>
            </a:r>
          </a:p>
        </p:txBody>
      </p:sp>
      <p:sp>
        <p:nvSpPr>
          <p:cNvPr id="17411" name="Rectangle 3"/>
          <p:cNvSpPr>
            <a:spLocks noGrp="1" noChangeArrowheads="1"/>
          </p:cNvSpPr>
          <p:nvPr>
            <p:ph type="body" idx="4294967295"/>
          </p:nvPr>
        </p:nvSpPr>
        <p:spPr/>
        <p:txBody>
          <a:bodyPr/>
          <a:lstStyle/>
          <a:p>
            <a:pPr marL="0" indent="0" eaLnBrk="1" hangingPunct="1">
              <a:lnSpc>
                <a:spcPct val="170000"/>
              </a:lnSpc>
              <a:buNone/>
            </a:pPr>
            <a:r>
              <a:rPr lang="en-US" altLang="zh-CN" sz="2400" b="1" dirty="0">
                <a:latin typeface="+mj-ea"/>
                <a:ea typeface="+mj-ea"/>
              </a:rPr>
              <a:t>1.</a:t>
            </a:r>
            <a:r>
              <a:rPr lang="zh-CN" altLang="en-US" sz="2400" b="1" dirty="0">
                <a:latin typeface="+mj-ea"/>
                <a:ea typeface="+mj-ea"/>
              </a:rPr>
              <a:t>分布的</a:t>
            </a:r>
            <a:r>
              <a:rPr lang="en-US" altLang="zh-CN" sz="2400" b="1" dirty="0">
                <a:latin typeface="+mj-ea"/>
                <a:ea typeface="+mj-ea"/>
              </a:rPr>
              <a:t>I/O</a:t>
            </a:r>
            <a:r>
              <a:rPr lang="zh-CN" altLang="en-US" sz="2400" b="1" dirty="0">
                <a:latin typeface="+mj-ea"/>
                <a:ea typeface="+mj-ea"/>
              </a:rPr>
              <a:t>处理能力。</a:t>
            </a:r>
          </a:p>
          <a:p>
            <a:pPr marL="0" indent="0" eaLnBrk="1" hangingPunct="1">
              <a:lnSpc>
                <a:spcPct val="170000"/>
              </a:lnSpc>
              <a:buNone/>
            </a:pPr>
            <a:r>
              <a:rPr lang="en-US" altLang="zh-CN" sz="2400" b="1" dirty="0">
                <a:latin typeface="+mj-ea"/>
                <a:ea typeface="+mj-ea"/>
              </a:rPr>
              <a:t>2.</a:t>
            </a:r>
            <a:r>
              <a:rPr lang="zh-CN" altLang="en-US" sz="2400" b="1" dirty="0">
                <a:latin typeface="+mj-ea"/>
                <a:ea typeface="+mj-ea"/>
              </a:rPr>
              <a:t>保护的存储器空间。</a:t>
            </a:r>
          </a:p>
          <a:p>
            <a:pPr marL="0" indent="0" eaLnBrk="1" hangingPunct="1">
              <a:lnSpc>
                <a:spcPct val="170000"/>
              </a:lnSpc>
              <a:buNone/>
            </a:pPr>
            <a:r>
              <a:rPr lang="en-US" altLang="zh-CN" sz="2400" b="1" dirty="0">
                <a:latin typeface="+mj-ea"/>
                <a:ea typeface="+mj-ea"/>
              </a:rPr>
              <a:t>3.</a:t>
            </a:r>
            <a:r>
              <a:rPr lang="zh-CN" altLang="en-US" sz="2400" b="1" dirty="0">
                <a:latin typeface="+mj-ea"/>
                <a:ea typeface="+mj-ea"/>
              </a:rPr>
              <a:t>存储器组织结构的发展。</a:t>
            </a:r>
            <a:endParaRPr lang="en-US" altLang="zh-CN" sz="2400" b="1" dirty="0">
              <a:latin typeface="+mj-ea"/>
              <a:ea typeface="+mj-ea"/>
            </a:endParaRPr>
          </a:p>
          <a:p>
            <a:pPr marL="0" indent="0" eaLnBrk="1" hangingPunct="1">
              <a:lnSpc>
                <a:spcPct val="170000"/>
              </a:lnSpc>
              <a:buNone/>
            </a:pPr>
            <a:r>
              <a:rPr lang="en-US" altLang="zh-CN" sz="2400" b="1" dirty="0">
                <a:latin typeface="+mj-ea"/>
                <a:ea typeface="+mj-ea"/>
              </a:rPr>
              <a:t>4.</a:t>
            </a:r>
            <a:r>
              <a:rPr lang="zh-CN" altLang="en-US" sz="2400" b="1" dirty="0">
                <a:latin typeface="+mj-ea"/>
                <a:ea typeface="+mj-ea"/>
              </a:rPr>
              <a:t>并行处理技术</a:t>
            </a:r>
            <a:endParaRPr lang="en-US" altLang="zh-CN" sz="2400" b="1" dirty="0">
              <a:latin typeface="+mj-ea"/>
              <a:ea typeface="+mj-ea"/>
            </a:endParaRPr>
          </a:p>
          <a:p>
            <a:pPr marL="0" indent="0" eaLnBrk="1" hangingPunct="1">
              <a:lnSpc>
                <a:spcPct val="170000"/>
              </a:lnSpc>
              <a:buNone/>
            </a:pPr>
            <a:r>
              <a:rPr lang="en-US" altLang="zh-CN" sz="2400" b="1" dirty="0">
                <a:latin typeface="+mj-ea"/>
                <a:ea typeface="+mj-ea"/>
              </a:rPr>
              <a:t>5.</a:t>
            </a:r>
            <a:r>
              <a:rPr lang="zh-CN" altLang="en-US" sz="2400" b="1" dirty="0">
                <a:latin typeface="+mj-ea"/>
                <a:ea typeface="+mj-ea"/>
              </a:rPr>
              <a:t>指令集发展</a:t>
            </a:r>
          </a:p>
        </p:txBody>
      </p:sp>
      <p:sp>
        <p:nvSpPr>
          <p:cNvPr id="2" name="日期占位符 1">
            <a:extLst>
              <a:ext uri="{FF2B5EF4-FFF2-40B4-BE49-F238E27FC236}">
                <a16:creationId xmlns:a16="http://schemas.microsoft.com/office/drawing/2014/main" id="{EF662D10-6B65-E890-9A9B-48C6C5292B29}"/>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13653D93-E86F-6862-9BA1-3478E657488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28</a:t>
            </a:fld>
            <a:endParaRPr lang="en-US" altLang="zh-CN"/>
          </a:p>
        </p:txBody>
      </p:sp>
      <p:sp>
        <p:nvSpPr>
          <p:cNvPr id="4" name="页脚占位符 4">
            <a:extLst>
              <a:ext uri="{FF2B5EF4-FFF2-40B4-BE49-F238E27FC236}">
                <a16:creationId xmlns:a16="http://schemas.microsoft.com/office/drawing/2014/main" id="{3EBD3A78-A762-AC2E-34D5-141DD5BA7274}"/>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11200" y="548680"/>
            <a:ext cx="8229600" cy="1143000"/>
          </a:xfrm>
        </p:spPr>
        <p:txBody>
          <a:bodyPr>
            <a:normAutofit fontScale="90000"/>
          </a:bodyPr>
          <a:lstStyle/>
          <a:p>
            <a:pPr eaLnBrk="1" hangingPunct="1"/>
            <a:r>
              <a:rPr lang="zh-CN" altLang="en-US" sz="4000" b="1" dirty="0"/>
              <a:t>第</a:t>
            </a:r>
            <a:r>
              <a:rPr lang="en-US" altLang="zh-CN" sz="4000" b="1" dirty="0"/>
              <a:t>1</a:t>
            </a:r>
            <a:r>
              <a:rPr lang="zh-CN" altLang="en-US" sz="4000" b="1" dirty="0"/>
              <a:t>章</a:t>
            </a:r>
            <a:r>
              <a:rPr lang="zh-CN" altLang="en-US" sz="4000" b="1" dirty="0">
                <a:solidFill>
                  <a:srgbClr val="3366FF"/>
                </a:solidFill>
              </a:rPr>
              <a:t>  </a:t>
            </a:r>
            <a:r>
              <a:rPr lang="zh-CN" altLang="en-US" sz="4000" b="1" dirty="0"/>
              <a:t>计算机系统量化分析基础</a:t>
            </a:r>
            <a:br>
              <a:rPr lang="zh-CN" altLang="en-US" sz="4000" dirty="0">
                <a:solidFill>
                  <a:srgbClr val="3366FF"/>
                </a:solidFill>
              </a:rPr>
            </a:br>
            <a:endParaRPr lang="zh-CN" altLang="en-US" sz="4000" b="1" dirty="0"/>
          </a:p>
        </p:txBody>
      </p:sp>
      <p:sp>
        <p:nvSpPr>
          <p:cNvPr id="7171" name="Text Box 3"/>
          <p:cNvSpPr txBox="1">
            <a:spLocks noChangeArrowheads="1"/>
          </p:cNvSpPr>
          <p:nvPr/>
        </p:nvSpPr>
        <p:spPr bwMode="auto">
          <a:xfrm>
            <a:off x="2127250" y="4800600"/>
            <a:ext cx="5397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en-US" altLang="zh-CN" sz="3200" dirty="0">
                <a:latin typeface="Times New Roman" panose="02020603050405020304" pitchFamily="18" charset="0"/>
              </a:rPr>
              <a:t>1</a:t>
            </a:r>
            <a:r>
              <a:rPr lang="zh-CN" altLang="en-US" sz="3200" dirty="0">
                <a:latin typeface="Times New Roman" panose="02020603050405020304" pitchFamily="18" charset="0"/>
              </a:rPr>
              <a:t>.3 计算机系统设计和分析</a:t>
            </a:r>
          </a:p>
        </p:txBody>
      </p:sp>
      <p:sp>
        <p:nvSpPr>
          <p:cNvPr id="7172" name="Text Box 4"/>
          <p:cNvSpPr txBox="1">
            <a:spLocks noChangeArrowheads="1"/>
          </p:cNvSpPr>
          <p:nvPr/>
        </p:nvSpPr>
        <p:spPr bwMode="auto">
          <a:xfrm>
            <a:off x="2127250" y="3476625"/>
            <a:ext cx="5540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en-US" altLang="zh-CN" sz="3200" u="sng" dirty="0">
                <a:latin typeface="Times New Roman" panose="02020603050405020304" pitchFamily="18" charset="0"/>
              </a:rPr>
              <a:t>1</a:t>
            </a:r>
            <a:r>
              <a:rPr lang="zh-CN" altLang="en-US" sz="3200" u="sng" dirty="0">
                <a:latin typeface="Times New Roman" panose="02020603050405020304" pitchFamily="18" charset="0"/>
              </a:rPr>
              <a:t>.2 计算机体系结构的发展</a:t>
            </a:r>
          </a:p>
        </p:txBody>
      </p:sp>
      <p:sp>
        <p:nvSpPr>
          <p:cNvPr id="7173" name="Text Box 5"/>
          <p:cNvSpPr txBox="1">
            <a:spLocks noChangeArrowheads="1"/>
          </p:cNvSpPr>
          <p:nvPr/>
        </p:nvSpPr>
        <p:spPr bwMode="auto">
          <a:xfrm>
            <a:off x="1268532" y="2276872"/>
            <a:ext cx="64079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anose="02010600030101010101" pitchFamily="2" charset="-122"/>
                <a:ea typeface="宋体" panose="02010600030101010101" pitchFamily="2" charset="-122"/>
              </a:defRPr>
            </a:lvl1pPr>
            <a:lvl2pPr marL="471805" indent="250825"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lvl="1">
              <a:buFont typeface="Wingdings" panose="05000000000000000000" pitchFamily="2" charset="2"/>
              <a:buNone/>
            </a:pPr>
            <a:r>
              <a:rPr lang="en-US" altLang="zh-CN" sz="3000" b="0" dirty="0">
                <a:latin typeface="Verdana" panose="020B0604030504040204" pitchFamily="34" charset="0"/>
                <a:ea typeface="华文中宋" panose="02010600040101010101" pitchFamily="2" charset="-122"/>
              </a:rPr>
              <a:t>1.1 </a:t>
            </a:r>
            <a:r>
              <a:rPr lang="zh-CN" altLang="en-US" sz="3000" b="0" dirty="0">
                <a:latin typeface="Verdana" panose="020B0604030504040204" pitchFamily="34" charset="0"/>
                <a:ea typeface="华文中宋" panose="02010600040101010101" pitchFamily="2" charset="-122"/>
              </a:rPr>
              <a:t>计算机体系结构的概念</a:t>
            </a:r>
          </a:p>
        </p:txBody>
      </p:sp>
      <p:sp>
        <p:nvSpPr>
          <p:cNvPr id="2" name="日期占位符 1">
            <a:extLst>
              <a:ext uri="{FF2B5EF4-FFF2-40B4-BE49-F238E27FC236}">
                <a16:creationId xmlns:a16="http://schemas.microsoft.com/office/drawing/2014/main" id="{540147F8-26F9-0619-8A22-AE7F562053E5}"/>
              </a:ext>
            </a:extLst>
          </p:cNvPr>
          <p:cNvSpPr>
            <a:spLocks noGrp="1"/>
          </p:cNvSpPr>
          <p:nvPr>
            <p:ph type="dt" sz="half" idx="10"/>
          </p:nvPr>
        </p:nvSpPr>
        <p:spPr/>
        <p:txBody>
          <a:bodyPr/>
          <a:lstStyle/>
          <a:p>
            <a:pPr>
              <a:defRPr/>
            </a:pPr>
            <a:fld id="{7D3C0794-5980-41E4-A84C-1EAA069AAAB6}"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60E1A3D8-9723-CC85-5DE7-3A0A492498E8}"/>
              </a:ext>
            </a:extLst>
          </p:cNvPr>
          <p:cNvSpPr>
            <a:spLocks noGrp="1"/>
          </p:cNvSpPr>
          <p:nvPr>
            <p:ph type="sldNum" sz="quarter" idx="12"/>
          </p:nvPr>
        </p:nvSpPr>
        <p:spPr/>
        <p:txBody>
          <a:bodyPr/>
          <a:lstStyle/>
          <a:p>
            <a:pPr>
              <a:defRPr/>
            </a:pPr>
            <a:fld id="{8BCAC33D-D29A-48B3-BCD6-381D3D720D26}" type="slidenum">
              <a:rPr lang="zh-CN" altLang="en-US" smtClean="0"/>
              <a:pPr>
                <a:defRPr/>
              </a:pPr>
              <a:t>29</a:t>
            </a:fld>
            <a:endParaRPr lang="en-US" altLang="zh-CN"/>
          </a:p>
        </p:txBody>
      </p:sp>
      <p:sp>
        <p:nvSpPr>
          <p:cNvPr id="4" name="页脚占位符 3">
            <a:extLst>
              <a:ext uri="{FF2B5EF4-FFF2-40B4-BE49-F238E27FC236}">
                <a16:creationId xmlns:a16="http://schemas.microsoft.com/office/drawing/2014/main" id="{D0D5FA6F-85DE-0519-6EC6-4208BB08B279}"/>
              </a:ext>
            </a:extLst>
          </p:cNvPr>
          <p:cNvSpPr>
            <a:spLocks noGrp="1"/>
          </p:cNvSpPr>
          <p:nvPr>
            <p:ph type="ftr" sz="quarter" idx="11"/>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370021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idx="4294967295"/>
          </p:nvPr>
        </p:nvSpPr>
        <p:spPr/>
        <p:txBody>
          <a:bodyPr>
            <a:normAutofit/>
          </a:bodyPr>
          <a:lstStyle/>
          <a:p>
            <a:pPr eaLnBrk="1" hangingPunct="1"/>
            <a:r>
              <a:rPr kumimoji="1" lang="en-US" altLang="zh-CN" sz="3600" b="1" dirty="0">
                <a:latin typeface="+mj-ea"/>
                <a:cs typeface="+mn-cs"/>
              </a:rPr>
              <a:t>1.2 </a:t>
            </a:r>
            <a:r>
              <a:rPr kumimoji="1" lang="zh-CN" altLang="en-US" sz="3600" b="1" dirty="0">
                <a:latin typeface="+mj-ea"/>
                <a:cs typeface="+mn-cs"/>
              </a:rPr>
              <a:t>计算机体系结构的发展</a:t>
            </a:r>
          </a:p>
        </p:txBody>
      </p:sp>
      <p:sp>
        <p:nvSpPr>
          <p:cNvPr id="12291" name="Rectangle 5"/>
          <p:cNvSpPr>
            <a:spLocks noGrp="1" noChangeArrowheads="1"/>
          </p:cNvSpPr>
          <p:nvPr>
            <p:ph type="body" idx="4294967295"/>
          </p:nvPr>
        </p:nvSpPr>
        <p:spPr>
          <a:xfrm>
            <a:off x="539552" y="1340768"/>
            <a:ext cx="8001000" cy="4910137"/>
          </a:xfrm>
        </p:spPr>
        <p:txBody>
          <a:bodyPr>
            <a:normAutofit/>
          </a:bodyPr>
          <a:lstStyle/>
          <a:p>
            <a:pPr marL="0" indent="0" eaLnBrk="1" hangingPunct="1">
              <a:lnSpc>
                <a:spcPct val="150000"/>
              </a:lnSpc>
              <a:buNone/>
            </a:pPr>
            <a:r>
              <a:rPr lang="en-US" altLang="zh-CN" sz="2600" b="1" dirty="0">
                <a:latin typeface="+mj-ea"/>
                <a:ea typeface="+mj-ea"/>
              </a:rPr>
              <a:t>1.2.1 </a:t>
            </a:r>
            <a:r>
              <a:rPr lang="zh-CN" altLang="en-US" sz="2600" b="1" dirty="0">
                <a:latin typeface="+mj-ea"/>
                <a:ea typeface="+mj-ea"/>
              </a:rPr>
              <a:t>计算机分代和分型</a:t>
            </a:r>
          </a:p>
          <a:p>
            <a:pPr marL="0" indent="0" eaLnBrk="1" hangingPunct="1">
              <a:lnSpc>
                <a:spcPct val="150000"/>
              </a:lnSpc>
              <a:buNone/>
            </a:pPr>
            <a:r>
              <a:rPr lang="en-US" altLang="zh-CN" sz="2600" b="1" dirty="0">
                <a:latin typeface="+mj-ea"/>
                <a:ea typeface="+mj-ea"/>
              </a:rPr>
              <a:t>1.2.2 </a:t>
            </a:r>
            <a:r>
              <a:rPr lang="zh-CN" altLang="en-US" sz="2600" b="1" dirty="0">
                <a:latin typeface="+mj-ea"/>
                <a:ea typeface="+mj-ea"/>
              </a:rPr>
              <a:t>软件的发展</a:t>
            </a:r>
          </a:p>
          <a:p>
            <a:pPr marL="0" indent="0" eaLnBrk="1" hangingPunct="1">
              <a:lnSpc>
                <a:spcPct val="150000"/>
              </a:lnSpc>
              <a:buNone/>
            </a:pPr>
            <a:r>
              <a:rPr lang="en-US" altLang="zh-CN" sz="2600" b="1" dirty="0">
                <a:latin typeface="+mj-ea"/>
                <a:ea typeface="+mj-ea"/>
              </a:rPr>
              <a:t>1.2.3 </a:t>
            </a:r>
            <a:r>
              <a:rPr lang="zh-CN" altLang="en-US" sz="2600" b="1" dirty="0">
                <a:latin typeface="+mj-ea"/>
                <a:ea typeface="+mj-ea"/>
              </a:rPr>
              <a:t>应用的发展</a:t>
            </a:r>
          </a:p>
          <a:p>
            <a:pPr marL="0" indent="0" eaLnBrk="1" hangingPunct="1">
              <a:lnSpc>
                <a:spcPct val="150000"/>
              </a:lnSpc>
              <a:buNone/>
            </a:pPr>
            <a:r>
              <a:rPr lang="en-US" altLang="zh-CN" sz="2600" b="1" dirty="0">
                <a:latin typeface="+mj-ea"/>
                <a:ea typeface="+mj-ea"/>
              </a:rPr>
              <a:t>1.2.4 </a:t>
            </a:r>
            <a:r>
              <a:rPr lang="zh-CN" altLang="en-US" sz="2600" b="1" dirty="0">
                <a:latin typeface="+mj-ea"/>
                <a:ea typeface="+mj-ea"/>
              </a:rPr>
              <a:t>相关核心技术的发展</a:t>
            </a:r>
          </a:p>
          <a:p>
            <a:pPr marL="0" indent="0" eaLnBrk="1" hangingPunct="1">
              <a:lnSpc>
                <a:spcPct val="150000"/>
              </a:lnSpc>
              <a:buNone/>
            </a:pPr>
            <a:r>
              <a:rPr lang="en-US" altLang="zh-CN" sz="2600" b="1" dirty="0">
                <a:latin typeface="+mj-ea"/>
                <a:ea typeface="+mj-ea"/>
              </a:rPr>
              <a:t>1.2.5 </a:t>
            </a:r>
            <a:r>
              <a:rPr lang="zh-CN" altLang="en-US" sz="2600" b="1" dirty="0">
                <a:latin typeface="+mj-ea"/>
                <a:ea typeface="+mj-ea"/>
              </a:rPr>
              <a:t>体系结构的发展</a:t>
            </a:r>
            <a:endParaRPr lang="en-US" altLang="zh-CN" sz="2600" b="1" dirty="0">
              <a:latin typeface="+mj-ea"/>
              <a:ea typeface="+mj-ea"/>
            </a:endParaRPr>
          </a:p>
          <a:p>
            <a:pPr marL="0" indent="0" eaLnBrk="1" hangingPunct="1">
              <a:lnSpc>
                <a:spcPct val="150000"/>
              </a:lnSpc>
              <a:buNone/>
            </a:pPr>
            <a:r>
              <a:rPr lang="en-US" altLang="zh-CN" sz="2600" b="1" dirty="0">
                <a:latin typeface="+mj-ea"/>
                <a:ea typeface="+mj-ea"/>
              </a:rPr>
              <a:t>1.2.6 </a:t>
            </a:r>
            <a:r>
              <a:rPr lang="zh-CN" altLang="en-US" sz="2600" b="1" dirty="0">
                <a:latin typeface="+mj-ea"/>
                <a:ea typeface="+mj-ea"/>
              </a:rPr>
              <a:t>并行处理技术的发展</a:t>
            </a:r>
            <a:endParaRPr lang="en-US" altLang="zh-CN" sz="2600" b="1" dirty="0">
              <a:latin typeface="+mj-ea"/>
              <a:ea typeface="+mj-ea"/>
            </a:endParaRPr>
          </a:p>
          <a:p>
            <a:pPr marL="0" indent="0" eaLnBrk="1" hangingPunct="1">
              <a:lnSpc>
                <a:spcPct val="150000"/>
              </a:lnSpc>
              <a:buNone/>
            </a:pPr>
            <a:r>
              <a:rPr lang="en-US" altLang="zh-CN" sz="2600" b="1" dirty="0">
                <a:latin typeface="+mj-ea"/>
                <a:ea typeface="+mj-ea"/>
              </a:rPr>
              <a:t>1.2.7 </a:t>
            </a:r>
            <a:r>
              <a:rPr lang="zh-CN" altLang="en-US" sz="2600" b="1" dirty="0">
                <a:latin typeface="+mj-ea"/>
                <a:ea typeface="+mj-ea"/>
              </a:rPr>
              <a:t>处理器芯片技术的发展</a:t>
            </a:r>
          </a:p>
        </p:txBody>
      </p:sp>
      <p:sp>
        <p:nvSpPr>
          <p:cNvPr id="2" name="日期占位符 1">
            <a:extLst>
              <a:ext uri="{FF2B5EF4-FFF2-40B4-BE49-F238E27FC236}">
                <a16:creationId xmlns:a16="http://schemas.microsoft.com/office/drawing/2014/main" id="{28714F2E-7331-5B28-A2D1-F11243A9F42D}"/>
              </a:ext>
            </a:extLst>
          </p:cNvPr>
          <p:cNvSpPr>
            <a:spLocks noGrp="1"/>
          </p:cNvSpPr>
          <p:nvPr>
            <p:ph type="dt" sz="half" idx="10"/>
          </p:nvPr>
        </p:nvSpPr>
        <p:spPr>
          <a:xfrm>
            <a:off x="457200" y="635635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13933B45-5AF7-350C-0846-9C1C2E8F9334}"/>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pPr>
                <a:defRPr/>
              </a:pPr>
              <a:t>30</a:t>
            </a:fld>
            <a:endParaRPr lang="en-US" altLang="zh-CN"/>
          </a:p>
        </p:txBody>
      </p:sp>
      <p:sp>
        <p:nvSpPr>
          <p:cNvPr id="4" name="页脚占位符 4">
            <a:extLst>
              <a:ext uri="{FF2B5EF4-FFF2-40B4-BE49-F238E27FC236}">
                <a16:creationId xmlns:a16="http://schemas.microsoft.com/office/drawing/2014/main" id="{DE98ED94-AAFA-692A-4418-FC76F0364E6A}"/>
              </a:ext>
            </a:extLst>
          </p:cNvPr>
          <p:cNvSpPr>
            <a:spLocks noGrp="1"/>
          </p:cNvSpPr>
          <p:nvPr>
            <p:ph type="ftr" sz="quarter" idx="11"/>
          </p:nvPr>
        </p:nvSpPr>
        <p:spPr>
          <a:xfrm>
            <a:off x="3124200" y="6356350"/>
            <a:ext cx="2895600" cy="365125"/>
          </a:xfrm>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2121987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descr="Rectangle: Click to edit Master text styles&#10;Second level&#10;Third level&#10;Fourth level&#10;Fifth level"/>
          <p:cNvSpPr>
            <a:spLocks noGrp="1" noChangeArrowheads="1"/>
          </p:cNvSpPr>
          <p:nvPr>
            <p:ph type="body" idx="1"/>
          </p:nvPr>
        </p:nvSpPr>
        <p:spPr>
          <a:xfrm>
            <a:off x="611560" y="2276872"/>
            <a:ext cx="8134350" cy="3384550"/>
          </a:xfrm>
        </p:spPr>
        <p:txBody>
          <a:bodyPr>
            <a:normAutofit fontScale="85000" lnSpcReduction="10000"/>
          </a:bodyPr>
          <a:lstStyle/>
          <a:p>
            <a:pPr marL="457200" indent="-457200" eaLnBrk="1" hangingPunct="1">
              <a:lnSpc>
                <a:spcPct val="120000"/>
              </a:lnSpc>
            </a:pPr>
            <a:r>
              <a:rPr lang="zh-CN" altLang="en-US" b="1" dirty="0">
                <a:solidFill>
                  <a:srgbClr val="FF0000"/>
                </a:solidFill>
              </a:rPr>
              <a:t>并行性：</a:t>
            </a:r>
            <a:r>
              <a:rPr lang="zh-CN" altLang="en-US" b="1" dirty="0"/>
              <a:t>计算机系统在同一时刻或者同一时间间隔内进行多种运算或操作。</a:t>
            </a:r>
          </a:p>
          <a:p>
            <a:pPr lvl="2" eaLnBrk="1" hangingPunct="1">
              <a:lnSpc>
                <a:spcPct val="120000"/>
              </a:lnSpc>
              <a:buFont typeface="Wingdings" panose="05000000000000000000" pitchFamily="2" charset="2"/>
              <a:buNone/>
            </a:pPr>
            <a:r>
              <a:rPr lang="zh-CN" altLang="en-US" b="1" dirty="0"/>
              <a:t>只要在时间上相互重叠，就存在并行性。</a:t>
            </a:r>
          </a:p>
          <a:p>
            <a:pPr marL="1085850" lvl="1" indent="-457200" eaLnBrk="1" hangingPunct="1">
              <a:lnSpc>
                <a:spcPct val="120000"/>
              </a:lnSpc>
            </a:pPr>
            <a:r>
              <a:rPr lang="zh-CN" altLang="en-US" b="1" dirty="0">
                <a:solidFill>
                  <a:srgbClr val="FF0000"/>
                </a:solidFill>
              </a:rPr>
              <a:t>同时性：</a:t>
            </a:r>
            <a:r>
              <a:rPr lang="zh-CN" altLang="en-US" b="1" dirty="0"/>
              <a:t>两个或两个以上的事件在同一时刻发生。</a:t>
            </a:r>
          </a:p>
          <a:p>
            <a:pPr marL="1085850" lvl="1" indent="-457200" eaLnBrk="1" hangingPunct="1">
              <a:lnSpc>
                <a:spcPct val="120000"/>
              </a:lnSpc>
            </a:pPr>
            <a:r>
              <a:rPr lang="zh-CN" altLang="en-US" b="1" dirty="0">
                <a:solidFill>
                  <a:srgbClr val="FF0000"/>
                </a:solidFill>
              </a:rPr>
              <a:t>并发性：</a:t>
            </a:r>
            <a:r>
              <a:rPr lang="zh-CN" altLang="en-US" b="1" dirty="0"/>
              <a:t>两个或两个以上的事件在同一时间间隔内发生。 </a:t>
            </a:r>
          </a:p>
          <a:p>
            <a:pPr marL="1085850" lvl="1" indent="-457200" eaLnBrk="1" hangingPunct="1">
              <a:buFont typeface="Wingdings" panose="05000000000000000000" pitchFamily="2" charset="2"/>
              <a:buNone/>
            </a:pPr>
            <a:r>
              <a:rPr lang="zh-CN" altLang="en-US" b="1" dirty="0"/>
              <a:t>                 </a:t>
            </a:r>
          </a:p>
        </p:txBody>
      </p:sp>
      <p:sp>
        <p:nvSpPr>
          <p:cNvPr id="40964" name="Text Box 5"/>
          <p:cNvSpPr txBox="1">
            <a:spLocks noChangeArrowheads="1"/>
          </p:cNvSpPr>
          <p:nvPr/>
        </p:nvSpPr>
        <p:spPr bwMode="auto">
          <a:xfrm>
            <a:off x="305444" y="1556792"/>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2600" dirty="0">
                <a:solidFill>
                  <a:srgbClr val="0000CC"/>
                </a:solidFill>
                <a:latin typeface="黑体" panose="02010609060101010101" pitchFamily="49" charset="-122"/>
                <a:ea typeface="黑体" panose="02010609060101010101" pitchFamily="49" charset="-122"/>
              </a:rPr>
              <a:t> </a:t>
            </a:r>
            <a:r>
              <a:rPr lang="en-US" altLang="zh-CN" sz="2600" dirty="0">
                <a:latin typeface="黑体" panose="02010609060101010101" pitchFamily="49" charset="-122"/>
                <a:ea typeface="黑体" panose="02010609060101010101" pitchFamily="49" charset="-122"/>
              </a:rPr>
              <a:t>1 </a:t>
            </a:r>
            <a:r>
              <a:rPr lang="zh-CN" altLang="en-US" sz="2600" dirty="0">
                <a:latin typeface="Tahoma" panose="020B0604030504040204" pitchFamily="34" charset="0"/>
                <a:ea typeface="黑体" panose="02010609060101010101" pitchFamily="49" charset="-122"/>
              </a:rPr>
              <a:t>并行性的概念 </a:t>
            </a:r>
          </a:p>
        </p:txBody>
      </p:sp>
      <p:sp>
        <p:nvSpPr>
          <p:cNvPr id="5" name="Rectangle 2"/>
          <p:cNvSpPr>
            <a:spLocks noGrp="1" noChangeArrowheads="1"/>
          </p:cNvSpPr>
          <p:nvPr>
            <p:ph type="title" idx="4294967295"/>
          </p:nvPr>
        </p:nvSpPr>
        <p:spPr>
          <a:xfrm>
            <a:off x="457200" y="274638"/>
            <a:ext cx="8229600" cy="1143000"/>
          </a:xfrm>
        </p:spPr>
        <p:txBody>
          <a:bodyPr>
            <a:normAutofit/>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4C36A82F-62B4-1062-025C-3720F088B21C}"/>
              </a:ext>
            </a:extLst>
          </p:cNvPr>
          <p:cNvSpPr>
            <a:spLocks noGrp="1"/>
          </p:cNvSpPr>
          <p:nvPr>
            <p:ph type="dt" sz="half" idx="10"/>
          </p:nvPr>
        </p:nvSpPr>
        <p:spPr/>
        <p:txBody>
          <a:bodyPr/>
          <a:lstStyle/>
          <a:p>
            <a:pPr>
              <a:defRPr/>
            </a:pPr>
            <a:fld id="{77782749-866A-4802-B112-0785EB0E7515}"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95CE9099-43A9-5243-E94D-CF1189062FD2}"/>
              </a:ext>
            </a:extLst>
          </p:cNvPr>
          <p:cNvSpPr>
            <a:spLocks noGrp="1"/>
          </p:cNvSpPr>
          <p:nvPr>
            <p:ph type="sldNum" sz="quarter" idx="12"/>
          </p:nvPr>
        </p:nvSpPr>
        <p:spPr/>
        <p:txBody>
          <a:bodyPr/>
          <a:lstStyle/>
          <a:p>
            <a:pPr>
              <a:defRPr/>
            </a:pPr>
            <a:fld id="{8BCAC33D-D29A-48B3-BCD6-381D3D720D26}" type="slidenum">
              <a:rPr lang="zh-CN" altLang="en-US" smtClean="0"/>
              <a:pPr>
                <a:defRPr/>
              </a:pPr>
              <a:t>31</a:t>
            </a:fld>
            <a:endParaRPr lang="en-US" altLang="zh-CN"/>
          </a:p>
        </p:txBody>
      </p:sp>
      <p:sp>
        <p:nvSpPr>
          <p:cNvPr id="4" name="页脚占位符 3">
            <a:extLst>
              <a:ext uri="{FF2B5EF4-FFF2-40B4-BE49-F238E27FC236}">
                <a16:creationId xmlns:a16="http://schemas.microsoft.com/office/drawing/2014/main" id="{CCB1B5EB-E441-5EDF-C3ED-C67C238964F3}"/>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descr="Rectangle: Click to edit Master text styles&#10;Second level&#10;Third level&#10;Fourth level&#10;Fifth level"/>
          <p:cNvSpPr>
            <a:spLocks noGrp="1" noChangeArrowheads="1"/>
          </p:cNvSpPr>
          <p:nvPr>
            <p:ph type="body" idx="1"/>
          </p:nvPr>
        </p:nvSpPr>
        <p:spPr>
          <a:xfrm>
            <a:off x="685800" y="1219200"/>
            <a:ext cx="8134350" cy="4953000"/>
          </a:xfrm>
        </p:spPr>
        <p:txBody>
          <a:bodyPr/>
          <a:lstStyle/>
          <a:p>
            <a:pPr eaLnBrk="1" hangingPunct="1">
              <a:lnSpc>
                <a:spcPct val="110000"/>
              </a:lnSpc>
            </a:pPr>
            <a:r>
              <a:rPr lang="zh-CN" altLang="en-US" sz="2400" b="1" dirty="0"/>
              <a:t>从执行程序的角度来看，并行性等级从低到高可分为：</a:t>
            </a:r>
          </a:p>
          <a:p>
            <a:pPr marL="1085850" lvl="1" indent="-457200" eaLnBrk="1" hangingPunct="1">
              <a:lnSpc>
                <a:spcPct val="110000"/>
              </a:lnSpc>
            </a:pPr>
            <a:r>
              <a:rPr lang="zh-CN" altLang="en-US" sz="2400" b="1" dirty="0">
                <a:solidFill>
                  <a:srgbClr val="FF0000"/>
                </a:solidFill>
              </a:rPr>
              <a:t>指令内部并行：</a:t>
            </a:r>
            <a:r>
              <a:rPr lang="zh-CN" altLang="en-US" sz="2400" b="1" dirty="0"/>
              <a:t>单条指令中各微操作之间的并行。</a:t>
            </a:r>
          </a:p>
          <a:p>
            <a:pPr marL="1085850" lvl="1" indent="-457200" eaLnBrk="1" hangingPunct="1">
              <a:lnSpc>
                <a:spcPct val="110000"/>
              </a:lnSpc>
            </a:pPr>
            <a:r>
              <a:rPr lang="zh-CN" altLang="en-US" sz="2400" b="1" dirty="0">
                <a:solidFill>
                  <a:srgbClr val="FF0000"/>
                </a:solidFill>
              </a:rPr>
              <a:t>指令级并行：</a:t>
            </a:r>
            <a:r>
              <a:rPr lang="zh-CN" altLang="en-US" sz="2400" b="1" dirty="0"/>
              <a:t>并行执行两条或两条以上的指令。</a:t>
            </a:r>
          </a:p>
          <a:p>
            <a:pPr marL="1085850" lvl="1" indent="-457200" eaLnBrk="1" hangingPunct="1">
              <a:lnSpc>
                <a:spcPct val="110000"/>
              </a:lnSpc>
            </a:pPr>
            <a:r>
              <a:rPr lang="zh-CN" altLang="en-US" sz="2400" b="1" dirty="0">
                <a:solidFill>
                  <a:srgbClr val="FF0000"/>
                </a:solidFill>
              </a:rPr>
              <a:t>线程级并行：</a:t>
            </a:r>
            <a:r>
              <a:rPr lang="zh-CN" altLang="en-US" sz="2400" b="1" dirty="0"/>
              <a:t>并行执行两个或两个以上的线程。</a:t>
            </a:r>
          </a:p>
          <a:p>
            <a:pPr lvl="2" eaLnBrk="1" hangingPunct="1">
              <a:lnSpc>
                <a:spcPct val="110000"/>
              </a:lnSpc>
              <a:buFont typeface="Wingdings" panose="05000000000000000000" pitchFamily="2" charset="2"/>
              <a:buNone/>
            </a:pPr>
            <a:r>
              <a:rPr lang="zh-CN" altLang="en-US" b="1" dirty="0"/>
              <a:t>      通常是以一个进程内派生的多个线程为调度单位。</a:t>
            </a:r>
          </a:p>
          <a:p>
            <a:pPr marL="1085850" lvl="1" indent="-457200" eaLnBrk="1" hangingPunct="1">
              <a:lnSpc>
                <a:spcPct val="110000"/>
              </a:lnSpc>
            </a:pPr>
            <a:r>
              <a:rPr lang="zh-CN" altLang="en-US" sz="2400" b="1" dirty="0">
                <a:solidFill>
                  <a:srgbClr val="FF0000"/>
                </a:solidFill>
              </a:rPr>
              <a:t>任务级或过程级并行：</a:t>
            </a:r>
            <a:r>
              <a:rPr lang="zh-CN" altLang="en-US" sz="2400" b="1" dirty="0"/>
              <a:t>并行执行两个或两个以上</a:t>
            </a:r>
          </a:p>
          <a:p>
            <a:pPr marL="1085850" lvl="1" indent="-457200" eaLnBrk="1" hangingPunct="1">
              <a:lnSpc>
                <a:spcPct val="110000"/>
              </a:lnSpc>
              <a:buFont typeface="Wingdings" panose="05000000000000000000" pitchFamily="2" charset="2"/>
              <a:buNone/>
            </a:pPr>
            <a:r>
              <a:rPr lang="zh-CN" altLang="en-US" sz="2400" b="1" dirty="0"/>
              <a:t>     的过程或任务（程序段），</a:t>
            </a:r>
            <a:r>
              <a:rPr lang="zh-CN" altLang="en-US" b="1" dirty="0"/>
              <a:t> </a:t>
            </a:r>
            <a:r>
              <a:rPr lang="zh-CN" altLang="en-US" sz="2400" b="1" dirty="0"/>
              <a:t>以子程序或进程为调度单元。</a:t>
            </a:r>
          </a:p>
          <a:p>
            <a:pPr marL="1085850" lvl="1" indent="-457200" eaLnBrk="1" hangingPunct="1">
              <a:lnSpc>
                <a:spcPct val="110000"/>
              </a:lnSpc>
            </a:pPr>
            <a:r>
              <a:rPr lang="zh-CN" altLang="en-US" sz="2400" b="1" dirty="0">
                <a:solidFill>
                  <a:srgbClr val="FF0000"/>
                </a:solidFill>
              </a:rPr>
              <a:t>作业或程序级并行：</a:t>
            </a:r>
            <a:r>
              <a:rPr lang="zh-CN" altLang="en-US" sz="2400" b="1" dirty="0"/>
              <a:t>并行执行两个或两个以上的</a:t>
            </a:r>
          </a:p>
          <a:p>
            <a:pPr marL="1085850" lvl="1" indent="-457200" eaLnBrk="1" hangingPunct="1">
              <a:lnSpc>
                <a:spcPct val="110000"/>
              </a:lnSpc>
              <a:buFont typeface="Wingdings" panose="05000000000000000000" pitchFamily="2" charset="2"/>
              <a:buNone/>
            </a:pPr>
            <a:r>
              <a:rPr lang="zh-CN" altLang="en-US" sz="2400" b="1" dirty="0"/>
              <a:t>     作业或程序。 </a:t>
            </a:r>
          </a:p>
        </p:txBody>
      </p:sp>
      <p:sp>
        <p:nvSpPr>
          <p:cNvPr id="3" name="Rectangle 2"/>
          <p:cNvSpPr>
            <a:spLocks noGrp="1" noChangeArrowheads="1"/>
          </p:cNvSpPr>
          <p:nvPr>
            <p:ph type="title" idx="4294967295"/>
          </p:nvPr>
        </p:nvSpPr>
        <p:spPr>
          <a:xfrm>
            <a:off x="467544" y="116632"/>
            <a:ext cx="8229600" cy="1143000"/>
          </a:xfrm>
        </p:spPr>
        <p:txBody>
          <a:bodyPr>
            <a:normAutofit/>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CB56FB40-AE43-D656-8912-02E27DE5C79E}"/>
              </a:ext>
            </a:extLst>
          </p:cNvPr>
          <p:cNvSpPr>
            <a:spLocks noGrp="1"/>
          </p:cNvSpPr>
          <p:nvPr>
            <p:ph type="dt" sz="half" idx="10"/>
          </p:nvPr>
        </p:nvSpPr>
        <p:spPr/>
        <p:txBody>
          <a:bodyPr/>
          <a:lstStyle/>
          <a:p>
            <a:pPr>
              <a:defRPr/>
            </a:pPr>
            <a:fld id="{07E2D9CC-9260-49E3-AE47-044103286DB2}" type="datetime1">
              <a:rPr lang="zh-CN" altLang="en-US" smtClean="0"/>
              <a:t>2025/9/10</a:t>
            </a:fld>
            <a:endParaRPr lang="en-US" altLang="zh-CN"/>
          </a:p>
        </p:txBody>
      </p:sp>
      <p:sp>
        <p:nvSpPr>
          <p:cNvPr id="4" name="灯片编号占位符 3">
            <a:extLst>
              <a:ext uri="{FF2B5EF4-FFF2-40B4-BE49-F238E27FC236}">
                <a16:creationId xmlns:a16="http://schemas.microsoft.com/office/drawing/2014/main" id="{CBDD5E37-9E21-2968-951D-320F96DE1D20}"/>
              </a:ext>
            </a:extLst>
          </p:cNvPr>
          <p:cNvSpPr>
            <a:spLocks noGrp="1"/>
          </p:cNvSpPr>
          <p:nvPr>
            <p:ph type="sldNum" sz="quarter" idx="12"/>
          </p:nvPr>
        </p:nvSpPr>
        <p:spPr/>
        <p:txBody>
          <a:bodyPr/>
          <a:lstStyle/>
          <a:p>
            <a:pPr>
              <a:defRPr/>
            </a:pPr>
            <a:fld id="{8BCAC33D-D29A-48B3-BCD6-381D3D720D26}" type="slidenum">
              <a:rPr lang="zh-CN" altLang="en-US" smtClean="0"/>
              <a:pPr>
                <a:defRPr/>
              </a:pPr>
              <a:t>32</a:t>
            </a:fld>
            <a:endParaRPr lang="en-US" altLang="zh-CN"/>
          </a:p>
        </p:txBody>
      </p:sp>
      <p:sp>
        <p:nvSpPr>
          <p:cNvPr id="5" name="页脚占位符 4">
            <a:extLst>
              <a:ext uri="{FF2B5EF4-FFF2-40B4-BE49-F238E27FC236}">
                <a16:creationId xmlns:a16="http://schemas.microsoft.com/office/drawing/2014/main" id="{ACD896D9-5033-5362-5F60-18A3A412D83C}"/>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descr="Rectangle: Click to edit Master text styles&#10;Second level&#10;Third level&#10;Fourth level&#10;Fifth level"/>
          <p:cNvSpPr>
            <a:spLocks noGrp="1" noChangeArrowheads="1"/>
          </p:cNvSpPr>
          <p:nvPr>
            <p:ph type="body" idx="1"/>
          </p:nvPr>
        </p:nvSpPr>
        <p:spPr>
          <a:xfrm>
            <a:off x="683568" y="1268760"/>
            <a:ext cx="8208912" cy="5233988"/>
          </a:xfrm>
        </p:spPr>
        <p:txBody>
          <a:bodyPr/>
          <a:lstStyle/>
          <a:p>
            <a:pPr eaLnBrk="1" hangingPunct="1"/>
            <a:r>
              <a:rPr lang="zh-CN" altLang="en-US" sz="2400" b="1" dirty="0"/>
              <a:t>从处理数据的角度来看，</a:t>
            </a:r>
            <a:r>
              <a:rPr lang="zh-CN" altLang="en-US" sz="2400" b="1" dirty="0">
                <a:hlinkClick r:id="rId2" action="ppaction://program"/>
              </a:rPr>
              <a:t>并行性等级</a:t>
            </a:r>
            <a:r>
              <a:rPr lang="zh-CN" altLang="en-US" sz="2400" b="1" dirty="0"/>
              <a:t>从低到高可分为：</a:t>
            </a:r>
          </a:p>
          <a:p>
            <a:pPr marL="1085850" lvl="1" indent="-457200" eaLnBrk="1" hangingPunct="1"/>
            <a:r>
              <a:rPr lang="zh-CN" altLang="en-US" sz="2400" b="1" dirty="0"/>
              <a:t>字串位串：每次只对一个字的一位进行处理。</a:t>
            </a:r>
          </a:p>
          <a:p>
            <a:pPr marL="720090" lvl="2" indent="0" eaLnBrk="1" hangingPunct="1">
              <a:buNone/>
            </a:pPr>
            <a:r>
              <a:rPr lang="zh-CN" altLang="en-US" b="1" dirty="0">
                <a:solidFill>
                  <a:srgbClr val="C00000"/>
                </a:solidFill>
              </a:rPr>
              <a:t>     </a:t>
            </a:r>
            <a:r>
              <a:rPr lang="zh-CN" altLang="en-US" b="1" i="1" dirty="0">
                <a:solidFill>
                  <a:srgbClr val="C00000"/>
                </a:solidFill>
              </a:rPr>
              <a:t>最基本的串行处理方式，不存在并行性。</a:t>
            </a:r>
          </a:p>
          <a:p>
            <a:pPr marL="1085850" lvl="1" indent="-457200" eaLnBrk="1" hangingPunct="1"/>
            <a:r>
              <a:rPr lang="zh-CN" altLang="en-US" sz="2400" b="1" dirty="0"/>
              <a:t>字串位并：同时对一个字的全部位进行处理，不</a:t>
            </a:r>
          </a:p>
          <a:p>
            <a:pPr marL="1085850" lvl="1" indent="-457200" eaLnBrk="1" hangingPunct="1">
              <a:buFont typeface="Wingdings" panose="05000000000000000000" pitchFamily="2" charset="2"/>
              <a:buNone/>
            </a:pPr>
            <a:r>
              <a:rPr lang="zh-CN" altLang="en-US" sz="2400" b="1" dirty="0"/>
              <a:t>       同字之间是串行的。</a:t>
            </a:r>
          </a:p>
          <a:p>
            <a:pPr lvl="2" eaLnBrk="1" hangingPunct="1">
              <a:buFont typeface="Wingdings" panose="05000000000000000000" pitchFamily="2" charset="2"/>
              <a:buNone/>
            </a:pPr>
            <a:r>
              <a:rPr lang="zh-CN" altLang="en-US" b="1" dirty="0"/>
              <a:t>   </a:t>
            </a:r>
            <a:r>
              <a:rPr lang="zh-CN" altLang="en-US" b="1" i="1" dirty="0">
                <a:solidFill>
                  <a:srgbClr val="C00000"/>
                </a:solidFill>
              </a:rPr>
              <a:t>开始出现并行性。</a:t>
            </a:r>
          </a:p>
          <a:p>
            <a:pPr marL="1085850" lvl="1" indent="-457200" eaLnBrk="1" hangingPunct="1"/>
            <a:r>
              <a:rPr lang="zh-CN" altLang="en-US" sz="2400" b="1" dirty="0"/>
              <a:t>字并位串：同时对许多字的同一位（称为</a:t>
            </a:r>
            <a:r>
              <a:rPr lang="zh-CN" altLang="en-US" sz="2400" b="1" dirty="0">
                <a:solidFill>
                  <a:srgbClr val="FF0000"/>
                </a:solidFill>
              </a:rPr>
              <a:t>位片</a:t>
            </a:r>
            <a:r>
              <a:rPr lang="zh-CN" altLang="en-US" sz="2400" b="1" dirty="0"/>
              <a:t>）</a:t>
            </a:r>
          </a:p>
          <a:p>
            <a:pPr marL="1085850" lvl="1" indent="-457200" eaLnBrk="1" hangingPunct="1">
              <a:buFont typeface="Wingdings" panose="05000000000000000000" pitchFamily="2" charset="2"/>
              <a:buNone/>
            </a:pPr>
            <a:r>
              <a:rPr lang="zh-CN" altLang="en-US" sz="2400" b="1" dirty="0"/>
              <a:t>       进行处理。</a:t>
            </a:r>
          </a:p>
          <a:p>
            <a:pPr lvl="2" eaLnBrk="1" hangingPunct="1">
              <a:buFont typeface="Wingdings" panose="05000000000000000000" pitchFamily="2" charset="2"/>
              <a:buNone/>
            </a:pPr>
            <a:r>
              <a:rPr lang="zh-CN" altLang="en-US" b="1" dirty="0"/>
              <a:t>    </a:t>
            </a:r>
            <a:r>
              <a:rPr lang="zh-CN" altLang="en-US" b="1" i="1" dirty="0">
                <a:solidFill>
                  <a:srgbClr val="C00000"/>
                </a:solidFill>
              </a:rPr>
              <a:t>具有较高的并行性。</a:t>
            </a:r>
          </a:p>
          <a:p>
            <a:pPr marL="1085850" lvl="1" indent="-457200" eaLnBrk="1" hangingPunct="1"/>
            <a:r>
              <a:rPr lang="zh-CN" altLang="en-US" sz="2400" b="1" dirty="0"/>
              <a:t>全并行：同时对许多字的全部位或部分位进行处理。</a:t>
            </a:r>
          </a:p>
          <a:p>
            <a:pPr lvl="2" eaLnBrk="1" hangingPunct="1">
              <a:buFont typeface="Wingdings" panose="05000000000000000000" pitchFamily="2" charset="2"/>
              <a:buNone/>
            </a:pPr>
            <a:r>
              <a:rPr lang="zh-CN" altLang="en-US" b="1" dirty="0"/>
              <a:t>   </a:t>
            </a:r>
            <a:r>
              <a:rPr lang="zh-CN" altLang="en-US" b="1" i="1" dirty="0">
                <a:solidFill>
                  <a:srgbClr val="C00000"/>
                </a:solidFill>
              </a:rPr>
              <a:t>最高一级的并行。</a:t>
            </a:r>
          </a:p>
        </p:txBody>
      </p:sp>
      <p:sp>
        <p:nvSpPr>
          <p:cNvPr id="4" name="Rectangle 2"/>
          <p:cNvSpPr>
            <a:spLocks noGrp="1" noChangeArrowheads="1"/>
          </p:cNvSpPr>
          <p:nvPr>
            <p:ph type="title" idx="4294967295"/>
          </p:nvPr>
        </p:nvSpPr>
        <p:spPr>
          <a:xfrm>
            <a:off x="395536" y="44624"/>
            <a:ext cx="8229600" cy="1143000"/>
          </a:xfrm>
        </p:spPr>
        <p:txBody>
          <a:bodyPr>
            <a:normAutofit/>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832C5717-6408-E148-EF49-ECD0FF9674F9}"/>
              </a:ext>
            </a:extLst>
          </p:cNvPr>
          <p:cNvSpPr>
            <a:spLocks noGrp="1"/>
          </p:cNvSpPr>
          <p:nvPr>
            <p:ph type="dt" sz="half" idx="10"/>
          </p:nvPr>
        </p:nvSpPr>
        <p:spPr/>
        <p:txBody>
          <a:bodyPr/>
          <a:lstStyle/>
          <a:p>
            <a:pPr>
              <a:defRPr/>
            </a:pPr>
            <a:fld id="{D074A1E5-0ECB-4F00-9ABB-AB9B4AF5A812}"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31821152-240B-1FB8-850C-3F9388B0BF0B}"/>
              </a:ext>
            </a:extLst>
          </p:cNvPr>
          <p:cNvSpPr>
            <a:spLocks noGrp="1"/>
          </p:cNvSpPr>
          <p:nvPr>
            <p:ph type="sldNum" sz="quarter" idx="12"/>
          </p:nvPr>
        </p:nvSpPr>
        <p:spPr/>
        <p:txBody>
          <a:bodyPr/>
          <a:lstStyle/>
          <a:p>
            <a:pPr>
              <a:defRPr/>
            </a:pPr>
            <a:fld id="{8BCAC33D-D29A-48B3-BCD6-381D3D720D26}" type="slidenum">
              <a:rPr lang="zh-CN" altLang="en-US" smtClean="0"/>
              <a:pPr>
                <a:defRPr/>
              </a:pPr>
              <a:t>33</a:t>
            </a:fld>
            <a:endParaRPr lang="en-US" altLang="zh-CN"/>
          </a:p>
        </p:txBody>
      </p:sp>
      <p:sp>
        <p:nvSpPr>
          <p:cNvPr id="5" name="页脚占位符 4">
            <a:extLst>
              <a:ext uri="{FF2B5EF4-FFF2-40B4-BE49-F238E27FC236}">
                <a16:creationId xmlns:a16="http://schemas.microsoft.com/office/drawing/2014/main" id="{349FCF38-D2E6-DB82-832F-AAA3F1361BA8}"/>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4"/>
          <p:cNvSpPr txBox="1">
            <a:spLocks noChangeArrowheads="1"/>
          </p:cNvSpPr>
          <p:nvPr/>
        </p:nvSpPr>
        <p:spPr bwMode="auto">
          <a:xfrm>
            <a:off x="365811" y="1268760"/>
            <a:ext cx="84963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marL="457200" indent="-457200" eaLnBrk="1" hangingPunct="1">
              <a:spcBef>
                <a:spcPct val="50000"/>
              </a:spcBef>
              <a:buFont typeface="Arial" panose="020B0604020202020204" pitchFamily="34" charset="0"/>
              <a:buChar char="•"/>
            </a:pPr>
            <a:r>
              <a:rPr lang="zh-CN" altLang="en-US" sz="2600" dirty="0">
                <a:latin typeface="Times New Roman" panose="02020603050405020304" pitchFamily="18" charset="0"/>
                <a:ea typeface="+mj-ea"/>
                <a:cs typeface="Times New Roman" panose="02020603050405020304" pitchFamily="18" charset="0"/>
              </a:rPr>
              <a:t>计算机系统结构的</a:t>
            </a:r>
            <a:r>
              <a:rPr lang="en-US" altLang="zh-CN" sz="2600" dirty="0">
                <a:latin typeface="Times New Roman" panose="02020603050405020304" pitchFamily="18" charset="0"/>
                <a:ea typeface="+mj-ea"/>
                <a:cs typeface="Times New Roman" panose="02020603050405020304" pitchFamily="18" charset="0"/>
              </a:rPr>
              <a:t>Flynn</a:t>
            </a:r>
            <a:r>
              <a:rPr lang="zh-CN" altLang="en-US" sz="2600" dirty="0">
                <a:latin typeface="Times New Roman" panose="02020603050405020304" pitchFamily="18" charset="0"/>
                <a:ea typeface="+mj-ea"/>
                <a:cs typeface="Times New Roman" panose="02020603050405020304" pitchFamily="18" charset="0"/>
              </a:rPr>
              <a:t>分类法 </a:t>
            </a:r>
          </a:p>
        </p:txBody>
      </p:sp>
      <p:sp>
        <p:nvSpPr>
          <p:cNvPr id="7" name="Rectangle 2"/>
          <p:cNvSpPr>
            <a:spLocks noGrp="1" noChangeArrowheads="1"/>
          </p:cNvSpPr>
          <p:nvPr>
            <p:ph type="title" idx="4294967295"/>
          </p:nvPr>
        </p:nvSpPr>
        <p:spPr>
          <a:xfrm>
            <a:off x="395536" y="44624"/>
            <a:ext cx="8229600" cy="1143000"/>
          </a:xfrm>
        </p:spPr>
        <p:txBody>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6" name="Rectangle 3" descr="Rectangle: Click to edit Master text styles&#10;Second level&#10;Third level&#10;Fourth level&#10;Fifth level"/>
          <p:cNvSpPr txBox="1">
            <a:spLocks noChangeArrowheads="1"/>
          </p:cNvSpPr>
          <p:nvPr/>
        </p:nvSpPr>
        <p:spPr bwMode="auto">
          <a:xfrm>
            <a:off x="107504" y="1916832"/>
            <a:ext cx="8928992"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85850" lvl="1" indent="-457200"/>
            <a:r>
              <a:rPr lang="en-US" altLang="zh-CN" sz="2400" b="1" dirty="0">
                <a:latin typeface="Times New Roman" panose="02020603050405020304" pitchFamily="18" charset="0"/>
                <a:ea typeface="+mj-ea"/>
                <a:cs typeface="Times New Roman" panose="02020603050405020304" pitchFamily="18" charset="0"/>
              </a:rPr>
              <a:t>Flynn</a:t>
            </a:r>
            <a:r>
              <a:rPr lang="zh-CN" altLang="en-US" sz="2400" b="1" dirty="0">
                <a:latin typeface="Times New Roman" panose="02020603050405020304" pitchFamily="18" charset="0"/>
                <a:ea typeface="+mj-ea"/>
                <a:cs typeface="Times New Roman" panose="02020603050405020304" pitchFamily="18" charset="0"/>
              </a:rPr>
              <a:t>分类法 按照指令和数据的关系，把计算机系统的结构分为</a:t>
            </a:r>
            <a:r>
              <a:rPr lang="en-US" altLang="zh-CN" sz="2400" b="1" dirty="0">
                <a:solidFill>
                  <a:srgbClr val="6600FF"/>
                </a:solidFill>
                <a:latin typeface="Times New Roman" panose="02020603050405020304" pitchFamily="18" charset="0"/>
                <a:ea typeface="+mj-ea"/>
                <a:cs typeface="Times New Roman" panose="02020603050405020304" pitchFamily="18" charset="0"/>
              </a:rPr>
              <a:t>4</a:t>
            </a:r>
            <a:r>
              <a:rPr lang="zh-CN" altLang="en-US" sz="2400" b="1" dirty="0">
                <a:latin typeface="Times New Roman" panose="02020603050405020304" pitchFamily="18" charset="0"/>
                <a:ea typeface="+mj-ea"/>
                <a:cs typeface="Times New Roman" panose="02020603050405020304" pitchFamily="18" charset="0"/>
              </a:rPr>
              <a:t>类</a:t>
            </a:r>
          </a:p>
          <a:p>
            <a:pPr lvl="2" eaLnBrk="1" hangingPunct="1"/>
            <a:r>
              <a:rPr lang="zh-CN" altLang="en-US" b="1" dirty="0">
                <a:latin typeface="Times New Roman" panose="02020603050405020304" pitchFamily="18" charset="0"/>
                <a:ea typeface="+mj-ea"/>
                <a:cs typeface="Times New Roman" panose="02020603050405020304" pitchFamily="18" charset="0"/>
              </a:rPr>
              <a:t>单指令流单数据流</a:t>
            </a:r>
            <a:r>
              <a:rPr lang="en-US" altLang="zh-CN" b="1" dirty="0">
                <a:solidFill>
                  <a:srgbClr val="6600FF"/>
                </a:solidFill>
                <a:latin typeface="Times New Roman" panose="02020603050405020304" pitchFamily="18" charset="0"/>
                <a:ea typeface="+mj-ea"/>
                <a:cs typeface="Times New Roman" panose="02020603050405020304" pitchFamily="18" charset="0"/>
              </a:rPr>
              <a:t>SISD</a:t>
            </a:r>
          </a:p>
          <a:p>
            <a:pPr lvl="2" eaLnBrk="1" hangingPunct="1">
              <a:buFont typeface="Wingdings" panose="05000000000000000000" pitchFamily="2" charset="2"/>
              <a:buNone/>
            </a:pPr>
            <a:r>
              <a:rPr lang="zh-CN" altLang="en-US" b="1" dirty="0">
                <a:latin typeface="Times New Roman" panose="02020603050405020304" pitchFamily="18" charset="0"/>
                <a:ea typeface="+mj-ea"/>
                <a:cs typeface="Times New Roman" panose="02020603050405020304" pitchFamily="18" charset="0"/>
              </a:rPr>
              <a:t>（</a:t>
            </a:r>
            <a:r>
              <a:rPr lang="en-US" altLang="zh-CN" b="1" dirty="0">
                <a:latin typeface="Times New Roman" panose="02020603050405020304" pitchFamily="18" charset="0"/>
                <a:ea typeface="+mj-ea"/>
                <a:cs typeface="Times New Roman" panose="02020603050405020304" pitchFamily="18" charset="0"/>
              </a:rPr>
              <a:t>Single Instruction stream Single Data stream</a:t>
            </a:r>
            <a:r>
              <a:rPr lang="zh-CN" altLang="en-US" b="1" dirty="0">
                <a:latin typeface="Times New Roman" panose="02020603050405020304" pitchFamily="18" charset="0"/>
                <a:ea typeface="+mj-ea"/>
                <a:cs typeface="Times New Roman" panose="02020603050405020304" pitchFamily="18" charset="0"/>
              </a:rPr>
              <a:t>）</a:t>
            </a:r>
          </a:p>
          <a:p>
            <a:pPr lvl="2" eaLnBrk="1" hangingPunct="1"/>
            <a:r>
              <a:rPr lang="zh-CN" altLang="en-US" b="1" dirty="0">
                <a:latin typeface="Times New Roman" panose="02020603050405020304" pitchFamily="18" charset="0"/>
                <a:ea typeface="+mj-ea"/>
                <a:cs typeface="Times New Roman" panose="02020603050405020304" pitchFamily="18" charset="0"/>
              </a:rPr>
              <a:t>单指令流多数据流</a:t>
            </a:r>
            <a:r>
              <a:rPr lang="en-US" altLang="zh-CN" b="1" dirty="0">
                <a:solidFill>
                  <a:srgbClr val="6600FF"/>
                </a:solidFill>
                <a:latin typeface="Times New Roman" panose="02020603050405020304" pitchFamily="18" charset="0"/>
                <a:ea typeface="+mj-ea"/>
                <a:cs typeface="Times New Roman" panose="02020603050405020304" pitchFamily="18" charset="0"/>
              </a:rPr>
              <a:t>SIMD</a:t>
            </a:r>
          </a:p>
          <a:p>
            <a:pPr lvl="2" eaLnBrk="1" hangingPunct="1">
              <a:buFont typeface="Wingdings" panose="05000000000000000000" pitchFamily="2" charset="2"/>
              <a:buNone/>
            </a:pPr>
            <a:r>
              <a:rPr lang="zh-CN" altLang="en-US" b="1" dirty="0">
                <a:latin typeface="Times New Roman" panose="02020603050405020304" pitchFamily="18" charset="0"/>
                <a:ea typeface="+mj-ea"/>
                <a:cs typeface="Times New Roman" panose="02020603050405020304" pitchFamily="18" charset="0"/>
              </a:rPr>
              <a:t>（</a:t>
            </a:r>
            <a:r>
              <a:rPr lang="en-US" altLang="zh-CN" b="1" dirty="0">
                <a:latin typeface="Times New Roman" panose="02020603050405020304" pitchFamily="18" charset="0"/>
                <a:ea typeface="+mj-ea"/>
                <a:cs typeface="Times New Roman" panose="02020603050405020304" pitchFamily="18" charset="0"/>
              </a:rPr>
              <a:t>Single Instruction stream Multiple Data stream</a:t>
            </a:r>
            <a:r>
              <a:rPr lang="zh-CN" altLang="en-US" b="1" dirty="0">
                <a:latin typeface="Times New Roman" panose="02020603050405020304" pitchFamily="18" charset="0"/>
                <a:ea typeface="+mj-ea"/>
                <a:cs typeface="Times New Roman" panose="02020603050405020304" pitchFamily="18" charset="0"/>
              </a:rPr>
              <a:t>）</a:t>
            </a:r>
          </a:p>
          <a:p>
            <a:pPr lvl="2" eaLnBrk="1" hangingPunct="1"/>
            <a:r>
              <a:rPr lang="zh-CN" altLang="en-US" b="1" dirty="0">
                <a:latin typeface="Times New Roman" panose="02020603050405020304" pitchFamily="18" charset="0"/>
                <a:ea typeface="+mj-ea"/>
                <a:cs typeface="Times New Roman" panose="02020603050405020304" pitchFamily="18" charset="0"/>
              </a:rPr>
              <a:t>多指令流单数据流</a:t>
            </a:r>
            <a:r>
              <a:rPr lang="en-US" altLang="zh-CN" b="1" dirty="0">
                <a:solidFill>
                  <a:srgbClr val="6600FF"/>
                </a:solidFill>
                <a:latin typeface="Times New Roman" panose="02020603050405020304" pitchFamily="18" charset="0"/>
                <a:ea typeface="+mj-ea"/>
                <a:cs typeface="Times New Roman" panose="02020603050405020304" pitchFamily="18" charset="0"/>
              </a:rPr>
              <a:t>MISD</a:t>
            </a:r>
          </a:p>
          <a:p>
            <a:pPr lvl="2" eaLnBrk="1" hangingPunct="1">
              <a:buFont typeface="Wingdings" panose="05000000000000000000" pitchFamily="2" charset="2"/>
              <a:buNone/>
            </a:pPr>
            <a:r>
              <a:rPr lang="zh-CN" altLang="en-US" b="1" dirty="0">
                <a:latin typeface="Times New Roman" panose="02020603050405020304" pitchFamily="18" charset="0"/>
                <a:ea typeface="+mj-ea"/>
                <a:cs typeface="Times New Roman" panose="02020603050405020304" pitchFamily="18" charset="0"/>
              </a:rPr>
              <a:t>（</a:t>
            </a:r>
            <a:r>
              <a:rPr lang="en-US" altLang="zh-CN" b="1" dirty="0">
                <a:latin typeface="Times New Roman" panose="02020603050405020304" pitchFamily="18" charset="0"/>
                <a:ea typeface="+mj-ea"/>
                <a:cs typeface="Times New Roman" panose="02020603050405020304" pitchFamily="18" charset="0"/>
              </a:rPr>
              <a:t>Multiple Instruction stream Single Data stream</a:t>
            </a:r>
            <a:r>
              <a:rPr lang="zh-CN" altLang="en-US" b="1" dirty="0">
                <a:latin typeface="Times New Roman" panose="02020603050405020304" pitchFamily="18" charset="0"/>
                <a:ea typeface="+mj-ea"/>
                <a:cs typeface="Times New Roman" panose="02020603050405020304" pitchFamily="18" charset="0"/>
              </a:rPr>
              <a:t>）</a:t>
            </a:r>
          </a:p>
          <a:p>
            <a:pPr lvl="2" eaLnBrk="1" hangingPunct="1"/>
            <a:r>
              <a:rPr lang="zh-CN" altLang="en-US" b="1" dirty="0">
                <a:latin typeface="Times New Roman" panose="02020603050405020304" pitchFamily="18" charset="0"/>
                <a:ea typeface="+mj-ea"/>
                <a:cs typeface="Times New Roman" panose="02020603050405020304" pitchFamily="18" charset="0"/>
              </a:rPr>
              <a:t>多指令流多数据流</a:t>
            </a:r>
            <a:r>
              <a:rPr lang="en-US" altLang="zh-CN" b="1" dirty="0">
                <a:solidFill>
                  <a:srgbClr val="6600FF"/>
                </a:solidFill>
                <a:latin typeface="Times New Roman" panose="02020603050405020304" pitchFamily="18" charset="0"/>
                <a:ea typeface="+mj-ea"/>
                <a:cs typeface="Times New Roman" panose="02020603050405020304" pitchFamily="18" charset="0"/>
              </a:rPr>
              <a:t>MIMD</a:t>
            </a:r>
          </a:p>
          <a:p>
            <a:pPr lvl="2" eaLnBrk="1" hangingPunct="1">
              <a:buFont typeface="Wingdings" panose="05000000000000000000" pitchFamily="2" charset="2"/>
              <a:buNone/>
            </a:pPr>
            <a:r>
              <a:rPr lang="zh-CN" altLang="en-US" b="1" dirty="0">
                <a:latin typeface="Times New Roman" panose="02020603050405020304" pitchFamily="18" charset="0"/>
                <a:ea typeface="+mj-ea"/>
                <a:cs typeface="Times New Roman" panose="02020603050405020304" pitchFamily="18" charset="0"/>
              </a:rPr>
              <a:t>（</a:t>
            </a:r>
            <a:r>
              <a:rPr lang="en-US" altLang="zh-CN" b="1" dirty="0">
                <a:latin typeface="Times New Roman" panose="02020603050405020304" pitchFamily="18" charset="0"/>
                <a:ea typeface="+mj-ea"/>
                <a:cs typeface="Times New Roman" panose="02020603050405020304" pitchFamily="18" charset="0"/>
              </a:rPr>
              <a:t>Multiple Instruction stream Multiple Data stream</a:t>
            </a:r>
            <a:r>
              <a:rPr lang="zh-CN" altLang="en-US" b="1" dirty="0">
                <a:latin typeface="Times New Roman" panose="02020603050405020304" pitchFamily="18" charset="0"/>
                <a:ea typeface="+mj-ea"/>
                <a:cs typeface="Times New Roman" panose="02020603050405020304" pitchFamily="18" charset="0"/>
              </a:rPr>
              <a:t>） </a:t>
            </a:r>
          </a:p>
        </p:txBody>
      </p:sp>
      <p:sp>
        <p:nvSpPr>
          <p:cNvPr id="2" name="日期占位符 1">
            <a:extLst>
              <a:ext uri="{FF2B5EF4-FFF2-40B4-BE49-F238E27FC236}">
                <a16:creationId xmlns:a16="http://schemas.microsoft.com/office/drawing/2014/main" id="{E54CEE21-83F7-BADE-4B7A-1FFF948A8004}"/>
              </a:ext>
            </a:extLst>
          </p:cNvPr>
          <p:cNvSpPr>
            <a:spLocks noGrp="1"/>
          </p:cNvSpPr>
          <p:nvPr>
            <p:ph type="dt" sz="half" idx="10"/>
          </p:nvPr>
        </p:nvSpPr>
        <p:spPr/>
        <p:txBody>
          <a:bodyPr/>
          <a:lstStyle/>
          <a:p>
            <a:pPr>
              <a:defRPr/>
            </a:pPr>
            <a:fld id="{FD6E8DD6-78DA-4D0B-8F3F-FAED05C6B3C6}"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C9D03F64-D6CE-A1AA-997C-C680AC7C2314}"/>
              </a:ext>
            </a:extLst>
          </p:cNvPr>
          <p:cNvSpPr>
            <a:spLocks noGrp="1"/>
          </p:cNvSpPr>
          <p:nvPr>
            <p:ph type="sldNum" sz="quarter" idx="12"/>
          </p:nvPr>
        </p:nvSpPr>
        <p:spPr/>
        <p:txBody>
          <a:bodyPr/>
          <a:lstStyle/>
          <a:p>
            <a:pPr>
              <a:defRPr/>
            </a:pPr>
            <a:fld id="{8BCAC33D-D29A-48B3-BCD6-381D3D720D26}" type="slidenum">
              <a:rPr lang="zh-CN" altLang="en-US" smtClean="0"/>
              <a:pPr>
                <a:defRPr/>
              </a:pPr>
              <a:t>34</a:t>
            </a:fld>
            <a:endParaRPr lang="en-US" altLang="zh-CN"/>
          </a:p>
        </p:txBody>
      </p:sp>
      <p:sp>
        <p:nvSpPr>
          <p:cNvPr id="4" name="页脚占位符 3">
            <a:extLst>
              <a:ext uri="{FF2B5EF4-FFF2-40B4-BE49-F238E27FC236}">
                <a16:creationId xmlns:a16="http://schemas.microsoft.com/office/drawing/2014/main" id="{DC4FE3C4-0001-CC6A-E1C0-FAB00660E3C2}"/>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descr="Rectangle: Click to edit Master text styles&#10;Second level&#10;Third level&#10;Fourth level&#10;Fifth level"/>
          <p:cNvSpPr>
            <a:spLocks noGrp="1" noChangeArrowheads="1"/>
          </p:cNvSpPr>
          <p:nvPr>
            <p:ph type="body" idx="1"/>
          </p:nvPr>
        </p:nvSpPr>
        <p:spPr>
          <a:xfrm>
            <a:off x="892011" y="1687955"/>
            <a:ext cx="7772400" cy="4327525"/>
          </a:xfrm>
        </p:spPr>
        <p:txBody>
          <a:bodyPr/>
          <a:lstStyle/>
          <a:p>
            <a:pPr marL="457200" indent="-457200" eaLnBrk="1" hangingPunct="1">
              <a:buFont typeface="Wingdings" panose="05000000000000000000" pitchFamily="2" charset="2"/>
              <a:buNone/>
            </a:pPr>
            <a:r>
              <a:rPr lang="zh-CN" altLang="en-US" sz="2800" dirty="0">
                <a:hlinkClick r:id="rId2" action="ppaction://program"/>
              </a:rPr>
              <a:t>三种途径：</a:t>
            </a:r>
            <a:endParaRPr lang="zh-CN" altLang="en-US" sz="2800" dirty="0"/>
          </a:p>
          <a:p>
            <a:pPr marL="0" indent="0" eaLnBrk="1" hangingPunct="1">
              <a:buNone/>
            </a:pPr>
            <a:r>
              <a:rPr lang="zh-CN" altLang="en-US" sz="2400" dirty="0">
                <a:solidFill>
                  <a:srgbClr val="FF0000"/>
                </a:solidFill>
              </a:rPr>
              <a:t>（</a:t>
            </a:r>
            <a:r>
              <a:rPr lang="en-US" altLang="zh-CN" sz="2400" dirty="0">
                <a:solidFill>
                  <a:srgbClr val="FF0000"/>
                </a:solidFill>
              </a:rPr>
              <a:t>1</a:t>
            </a:r>
            <a:r>
              <a:rPr lang="zh-CN" altLang="en-US" sz="2400" dirty="0">
                <a:solidFill>
                  <a:srgbClr val="FF0000"/>
                </a:solidFill>
              </a:rPr>
              <a:t>）时间重叠</a:t>
            </a:r>
          </a:p>
          <a:p>
            <a:pPr marL="367030" lvl="1" indent="0" eaLnBrk="1" hangingPunct="1">
              <a:buFont typeface="Wingdings" panose="05000000000000000000" pitchFamily="2" charset="2"/>
              <a:buNone/>
            </a:pPr>
            <a:r>
              <a:rPr lang="zh-CN" altLang="en-US" sz="2400" dirty="0"/>
              <a:t>      引入时间因素，让多个处理过程在时间上相互错开，轮流重叠地使用同一套硬件设备的各个部分，以加快硬件周转而赢得速度。</a:t>
            </a:r>
          </a:p>
          <a:p>
            <a:pPr marL="0" indent="0" eaLnBrk="1" hangingPunct="1">
              <a:buNone/>
            </a:pPr>
            <a:r>
              <a:rPr lang="zh-CN" altLang="en-US" sz="2400" dirty="0">
                <a:solidFill>
                  <a:srgbClr val="FF0000"/>
                </a:solidFill>
              </a:rPr>
              <a:t>（</a:t>
            </a:r>
            <a:r>
              <a:rPr lang="en-US" altLang="zh-CN" sz="2400" dirty="0">
                <a:solidFill>
                  <a:srgbClr val="FF0000"/>
                </a:solidFill>
              </a:rPr>
              <a:t>2</a:t>
            </a:r>
            <a:r>
              <a:rPr lang="zh-CN" altLang="en-US" sz="2400" dirty="0">
                <a:solidFill>
                  <a:srgbClr val="FF0000"/>
                </a:solidFill>
              </a:rPr>
              <a:t>）资源重复</a:t>
            </a:r>
          </a:p>
          <a:p>
            <a:pPr marL="367030" lvl="1" indent="0" eaLnBrk="1" hangingPunct="1">
              <a:buFont typeface="Wingdings" panose="05000000000000000000" pitchFamily="2" charset="2"/>
              <a:buNone/>
            </a:pPr>
            <a:r>
              <a:rPr lang="zh-CN" altLang="en-US" sz="2400" dirty="0"/>
              <a:t>      引入空间因素，以数量取胜。通过重复设置硬件资源，大幅度地提高计算机系统的性能。</a:t>
            </a:r>
          </a:p>
        </p:txBody>
      </p:sp>
      <p:sp>
        <p:nvSpPr>
          <p:cNvPr id="44035" name="Text Box 4"/>
          <p:cNvSpPr txBox="1">
            <a:spLocks noChangeArrowheads="1"/>
          </p:cNvSpPr>
          <p:nvPr/>
        </p:nvSpPr>
        <p:spPr bwMode="auto">
          <a:xfrm>
            <a:off x="396180" y="1124744"/>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2600" dirty="0">
                <a:latin typeface="黑体" panose="02010609060101010101" pitchFamily="49" charset="-122"/>
                <a:ea typeface="黑体" panose="02010609060101010101" pitchFamily="49" charset="-122"/>
              </a:rPr>
              <a:t>2 </a:t>
            </a:r>
            <a:r>
              <a:rPr lang="zh-CN" altLang="en-US" sz="2600" dirty="0">
                <a:latin typeface="黑体" panose="02010609060101010101" pitchFamily="49" charset="-122"/>
                <a:ea typeface="黑体" panose="02010609060101010101" pitchFamily="49" charset="-122"/>
              </a:rPr>
              <a:t>提高</a:t>
            </a:r>
            <a:r>
              <a:rPr lang="zh-CN" altLang="en-US" sz="2600" dirty="0">
                <a:latin typeface="Tahoma" panose="020B0604030504040204" pitchFamily="34" charset="0"/>
                <a:ea typeface="黑体" panose="02010609060101010101" pitchFamily="49" charset="-122"/>
              </a:rPr>
              <a:t>并行性的技术途径 </a:t>
            </a:r>
          </a:p>
        </p:txBody>
      </p:sp>
      <p:sp>
        <p:nvSpPr>
          <p:cNvPr id="44036" name="Rectangle 3" descr="Rectangle: Click to edit Master text styles&#10;Second level&#10;Third level&#10;Fourth level&#10;Fifth level"/>
          <p:cNvSpPr txBox="1">
            <a:spLocks noChangeArrowheads="1"/>
          </p:cNvSpPr>
          <p:nvPr/>
        </p:nvSpPr>
        <p:spPr bwMode="auto">
          <a:xfrm>
            <a:off x="925290" y="5085184"/>
            <a:ext cx="77724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kumimoji="1" sz="800" b="1">
                <a:solidFill>
                  <a:schemeClr val="tx1"/>
                </a:solidFill>
                <a:latin typeface="宋体" panose="02010600030101010101" pitchFamily="2" charset="-122"/>
                <a:ea typeface="宋体" panose="02010600030101010101" pitchFamily="2" charset="-122"/>
              </a:defRPr>
            </a:lvl1pPr>
            <a:lvl2pPr marL="1085850" indent="-45720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marL="0" indent="0" eaLnBrk="1" hangingPunct="1">
              <a:lnSpc>
                <a:spcPct val="120000"/>
              </a:lnSpc>
              <a:spcBef>
                <a:spcPct val="20000"/>
              </a:spcBef>
              <a:buClr>
                <a:schemeClr val="tx1"/>
              </a:buClr>
            </a:pPr>
            <a:r>
              <a:rPr lang="zh-CN" altLang="en-US" sz="2400" b="0" dirty="0">
                <a:solidFill>
                  <a:srgbClr val="FF0000"/>
                </a:solidFill>
                <a:latin typeface="+mn-lt"/>
                <a:ea typeface="+mn-ea"/>
              </a:rPr>
              <a:t>（</a:t>
            </a:r>
            <a:r>
              <a:rPr lang="en-US" altLang="zh-CN" sz="2400" b="0" dirty="0">
                <a:solidFill>
                  <a:srgbClr val="FF0000"/>
                </a:solidFill>
                <a:latin typeface="+mn-lt"/>
                <a:ea typeface="+mn-ea"/>
              </a:rPr>
              <a:t>3</a:t>
            </a:r>
            <a:r>
              <a:rPr lang="zh-CN" altLang="en-US" sz="2400" b="0" dirty="0">
                <a:solidFill>
                  <a:srgbClr val="FF0000"/>
                </a:solidFill>
                <a:latin typeface="+mn-lt"/>
                <a:ea typeface="+mn-ea"/>
              </a:rPr>
              <a:t>）资源共享</a:t>
            </a:r>
          </a:p>
          <a:p>
            <a:pPr marL="367030" lvl="1" indent="0" eaLnBrk="1" hangingPunct="1">
              <a:spcBef>
                <a:spcPct val="20000"/>
              </a:spcBef>
              <a:buClr>
                <a:schemeClr val="tx1"/>
              </a:buClr>
              <a:buSzPct val="90000"/>
              <a:buFont typeface="Wingdings" panose="05000000000000000000" pitchFamily="2" charset="2"/>
              <a:buNone/>
            </a:pPr>
            <a:r>
              <a:rPr lang="zh-CN" altLang="en-US" sz="2400" b="0" dirty="0">
                <a:latin typeface="Tahoma" panose="020B0604030504040204" pitchFamily="34" charset="0"/>
                <a:ea typeface="黑体" panose="02010609060101010101" pitchFamily="49" charset="-122"/>
              </a:rPr>
              <a:t>    </a:t>
            </a:r>
            <a:r>
              <a:rPr lang="zh-CN" altLang="en-US" sz="2400" b="0" dirty="0">
                <a:latin typeface="+mn-lt"/>
                <a:ea typeface="+mn-ea"/>
              </a:rPr>
              <a:t>这是一种软件方法，它使多个任务按一定时间顺序轮流使用 同一套硬件设备。 </a:t>
            </a:r>
          </a:p>
        </p:txBody>
      </p:sp>
      <p:sp>
        <p:nvSpPr>
          <p:cNvPr id="5" name="Rectangle 2"/>
          <p:cNvSpPr>
            <a:spLocks noGrp="1" noChangeArrowheads="1"/>
          </p:cNvSpPr>
          <p:nvPr>
            <p:ph type="title" idx="4294967295"/>
          </p:nvPr>
        </p:nvSpPr>
        <p:spPr>
          <a:xfrm>
            <a:off x="395536" y="53752"/>
            <a:ext cx="8229600" cy="1143000"/>
          </a:xfrm>
        </p:spPr>
        <p:txBody>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BA1E962F-143A-15C9-BBB9-CD547F6E2CF6}"/>
              </a:ext>
            </a:extLst>
          </p:cNvPr>
          <p:cNvSpPr>
            <a:spLocks noGrp="1"/>
          </p:cNvSpPr>
          <p:nvPr>
            <p:ph type="dt" sz="half" idx="10"/>
          </p:nvPr>
        </p:nvSpPr>
        <p:spPr/>
        <p:txBody>
          <a:bodyPr/>
          <a:lstStyle/>
          <a:p>
            <a:pPr>
              <a:defRPr/>
            </a:pPr>
            <a:fld id="{99A52B57-DE95-45CD-AA09-9A78372EA43A}"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EEDD1CE0-6B8E-59B9-B75F-445848E516B8}"/>
              </a:ext>
            </a:extLst>
          </p:cNvPr>
          <p:cNvSpPr>
            <a:spLocks noGrp="1"/>
          </p:cNvSpPr>
          <p:nvPr>
            <p:ph type="sldNum" sz="quarter" idx="12"/>
          </p:nvPr>
        </p:nvSpPr>
        <p:spPr/>
        <p:txBody>
          <a:bodyPr/>
          <a:lstStyle/>
          <a:p>
            <a:pPr>
              <a:defRPr/>
            </a:pPr>
            <a:fld id="{8BCAC33D-D29A-48B3-BCD6-381D3D720D26}" type="slidenum">
              <a:rPr lang="zh-CN" altLang="en-US" smtClean="0"/>
              <a:pPr>
                <a:defRPr/>
              </a:pPr>
              <a:t>35</a:t>
            </a:fld>
            <a:endParaRPr lang="en-US" altLang="zh-CN"/>
          </a:p>
        </p:txBody>
      </p:sp>
      <p:sp>
        <p:nvSpPr>
          <p:cNvPr id="4" name="页脚占位符 3">
            <a:extLst>
              <a:ext uri="{FF2B5EF4-FFF2-40B4-BE49-F238E27FC236}">
                <a16:creationId xmlns:a16="http://schemas.microsoft.com/office/drawing/2014/main" id="{835FE83A-F156-6734-9FC2-C01FA7E2AA0E}"/>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descr="Rectangle: Click to edit Master text styles&#10;Second level&#10;Third level&#10;Fourth level&#10;Fifth level"/>
          <p:cNvSpPr>
            <a:spLocks noGrp="1" noChangeArrowheads="1"/>
          </p:cNvSpPr>
          <p:nvPr>
            <p:ph type="body" idx="1"/>
          </p:nvPr>
        </p:nvSpPr>
        <p:spPr>
          <a:xfrm>
            <a:off x="685800" y="1844675"/>
            <a:ext cx="7772400" cy="4327525"/>
          </a:xfrm>
        </p:spPr>
        <p:txBody>
          <a:bodyPr>
            <a:normAutofit/>
          </a:bodyPr>
          <a:lstStyle/>
          <a:p>
            <a:pPr marL="0" indent="0" eaLnBrk="1" hangingPunct="1">
              <a:buNone/>
            </a:pPr>
            <a:r>
              <a:rPr lang="zh-CN" altLang="en-US" sz="2400" b="1" dirty="0"/>
              <a:t>（</a:t>
            </a:r>
            <a:r>
              <a:rPr lang="en-US" altLang="zh-CN" sz="2400" b="1" dirty="0"/>
              <a:t>1</a:t>
            </a:r>
            <a:r>
              <a:rPr lang="zh-CN" altLang="en-US" sz="2400" b="1" dirty="0"/>
              <a:t>）在发展高性能单处理机过程中，起主导作用的是</a:t>
            </a:r>
            <a:r>
              <a:rPr lang="zh-CN" altLang="en-US" sz="2400" b="1" dirty="0">
                <a:solidFill>
                  <a:srgbClr val="D60093"/>
                </a:solidFill>
              </a:rPr>
              <a:t>时间重叠</a:t>
            </a:r>
            <a:r>
              <a:rPr lang="zh-CN" altLang="en-US" sz="2400" b="1" dirty="0"/>
              <a:t>原理。</a:t>
            </a:r>
            <a:endParaRPr lang="en-US" altLang="zh-CN" sz="2400" b="1" dirty="0"/>
          </a:p>
          <a:p>
            <a:pPr marL="0" indent="0" eaLnBrk="1" hangingPunct="1">
              <a:buNone/>
            </a:pPr>
            <a:r>
              <a:rPr lang="zh-CN" altLang="en-US" sz="2400" b="1" dirty="0"/>
              <a:t>       实现时间重叠的基础：</a:t>
            </a:r>
            <a:r>
              <a:rPr lang="zh-CN" altLang="en-US" sz="2400" b="1" dirty="0">
                <a:solidFill>
                  <a:srgbClr val="D60093"/>
                </a:solidFill>
              </a:rPr>
              <a:t>部件功能专用化</a:t>
            </a:r>
          </a:p>
          <a:p>
            <a:pPr marL="424815" lvl="2" eaLnBrk="1" hangingPunct="1">
              <a:buFont typeface="Wingdings" panose="05000000000000000000" pitchFamily="2" charset="2"/>
              <a:buChar char="ü"/>
            </a:pPr>
            <a:r>
              <a:rPr lang="zh-CN" altLang="en-US" b="1" dirty="0"/>
              <a:t> 把一件工作按功能分割为若干相互联系的部分；</a:t>
            </a:r>
          </a:p>
          <a:p>
            <a:pPr marL="424815" lvl="2" eaLnBrk="1" hangingPunct="1">
              <a:buFont typeface="Wingdings" panose="05000000000000000000" pitchFamily="2" charset="2"/>
              <a:buChar char="ü"/>
            </a:pPr>
            <a:r>
              <a:rPr lang="zh-CN" altLang="en-US" b="1" dirty="0"/>
              <a:t> 把每一部分指定给专门的部件完成；</a:t>
            </a:r>
          </a:p>
          <a:p>
            <a:pPr marL="424815" lvl="2" eaLnBrk="1" hangingPunct="1">
              <a:buFont typeface="Wingdings" panose="05000000000000000000" pitchFamily="2" charset="2"/>
              <a:buChar char="ü"/>
            </a:pPr>
            <a:r>
              <a:rPr lang="zh-CN" altLang="en-US" b="1" dirty="0"/>
              <a:t> 然后按时间重叠原理把各部分的执行过程在时间上重叠起来，使所有部件依次分工完成一组同样的工作。</a:t>
            </a:r>
          </a:p>
        </p:txBody>
      </p:sp>
      <p:sp>
        <p:nvSpPr>
          <p:cNvPr id="45059" name="Text Box 4"/>
          <p:cNvSpPr txBox="1">
            <a:spLocks noChangeArrowheads="1"/>
          </p:cNvSpPr>
          <p:nvPr/>
        </p:nvSpPr>
        <p:spPr bwMode="auto">
          <a:xfrm>
            <a:off x="395288" y="1196975"/>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600" dirty="0">
                <a:solidFill>
                  <a:srgbClr val="0000CC"/>
                </a:solidFill>
                <a:latin typeface="黑体" panose="02010609060101010101" pitchFamily="49" charset="-122"/>
                <a:ea typeface="黑体" panose="02010609060101010101" pitchFamily="49" charset="-122"/>
              </a:rPr>
              <a:t>单机系统中</a:t>
            </a:r>
            <a:r>
              <a:rPr lang="zh-CN" altLang="en-US" sz="2600" dirty="0">
                <a:solidFill>
                  <a:srgbClr val="0000CC"/>
                </a:solidFill>
                <a:latin typeface="Tahoma" panose="020B0604030504040204" pitchFamily="34" charset="0"/>
                <a:ea typeface="黑体" panose="02010609060101010101" pitchFamily="49" charset="-122"/>
              </a:rPr>
              <a:t>并行性的发展 </a:t>
            </a:r>
          </a:p>
        </p:txBody>
      </p:sp>
      <p:sp>
        <p:nvSpPr>
          <p:cNvPr id="4" name="Rectangle 2"/>
          <p:cNvSpPr>
            <a:spLocks noGrp="1" noChangeArrowheads="1"/>
          </p:cNvSpPr>
          <p:nvPr>
            <p:ph type="title" idx="4294967295"/>
          </p:nvPr>
        </p:nvSpPr>
        <p:spPr>
          <a:xfrm>
            <a:off x="395536" y="53752"/>
            <a:ext cx="8229600" cy="1143000"/>
          </a:xfrm>
        </p:spPr>
        <p:txBody>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851F74B8-A4C3-78EB-2811-48A91C33FF81}"/>
              </a:ext>
            </a:extLst>
          </p:cNvPr>
          <p:cNvSpPr>
            <a:spLocks noGrp="1"/>
          </p:cNvSpPr>
          <p:nvPr>
            <p:ph type="dt" sz="half" idx="10"/>
          </p:nvPr>
        </p:nvSpPr>
        <p:spPr/>
        <p:txBody>
          <a:bodyPr/>
          <a:lstStyle/>
          <a:p>
            <a:pPr>
              <a:defRPr/>
            </a:pPr>
            <a:fld id="{0BEA257A-A47B-4542-A951-6CE747123E5F}"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4E03B424-84AD-6BC3-EB2B-DFBBEF3A6A38}"/>
              </a:ext>
            </a:extLst>
          </p:cNvPr>
          <p:cNvSpPr>
            <a:spLocks noGrp="1"/>
          </p:cNvSpPr>
          <p:nvPr>
            <p:ph type="sldNum" sz="quarter" idx="12"/>
          </p:nvPr>
        </p:nvSpPr>
        <p:spPr/>
        <p:txBody>
          <a:bodyPr/>
          <a:lstStyle/>
          <a:p>
            <a:pPr>
              <a:defRPr/>
            </a:pPr>
            <a:fld id="{8BCAC33D-D29A-48B3-BCD6-381D3D720D26}" type="slidenum">
              <a:rPr lang="zh-CN" altLang="en-US" smtClean="0"/>
              <a:pPr>
                <a:defRPr/>
              </a:pPr>
              <a:t>36</a:t>
            </a:fld>
            <a:endParaRPr lang="en-US" altLang="zh-CN"/>
          </a:p>
        </p:txBody>
      </p:sp>
      <p:sp>
        <p:nvSpPr>
          <p:cNvPr id="5" name="页脚占位符 4">
            <a:extLst>
              <a:ext uri="{FF2B5EF4-FFF2-40B4-BE49-F238E27FC236}">
                <a16:creationId xmlns:a16="http://schemas.microsoft.com/office/drawing/2014/main" id="{635FC885-F729-8EB8-1F24-B1A593BC2B88}"/>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descr="Rectangle: Click to edit Master text styles&#10;Second level&#10;Third level&#10;Fourth level&#10;Fifth level"/>
          <p:cNvSpPr>
            <a:spLocks noGrp="1" noChangeArrowheads="1"/>
          </p:cNvSpPr>
          <p:nvPr>
            <p:ph type="body" idx="1"/>
          </p:nvPr>
        </p:nvSpPr>
        <p:spPr>
          <a:xfrm>
            <a:off x="493712" y="819383"/>
            <a:ext cx="8398768" cy="4537050"/>
          </a:xfrm>
        </p:spPr>
        <p:txBody>
          <a:bodyPr/>
          <a:lstStyle/>
          <a:p>
            <a:pPr marL="0" indent="0" eaLnBrk="1" hangingPunct="1">
              <a:buNone/>
            </a:pPr>
            <a:r>
              <a:rPr lang="zh-CN" altLang="en-US" sz="2400" b="1" dirty="0"/>
              <a:t>（</a:t>
            </a:r>
            <a:r>
              <a:rPr lang="en-US" altLang="zh-CN" sz="2400" b="1" dirty="0"/>
              <a:t>2</a:t>
            </a:r>
            <a:r>
              <a:rPr lang="zh-CN" altLang="en-US" sz="2400" b="1" dirty="0"/>
              <a:t>）在单处理机中，</a:t>
            </a:r>
            <a:r>
              <a:rPr lang="zh-CN" altLang="en-US" sz="2400" b="1" dirty="0">
                <a:solidFill>
                  <a:srgbClr val="FF0066"/>
                </a:solidFill>
              </a:rPr>
              <a:t>资源重复</a:t>
            </a:r>
            <a:r>
              <a:rPr lang="zh-CN" altLang="en-US" sz="2400" b="1" dirty="0"/>
              <a:t>原理的运用也已经十分普遍。</a:t>
            </a:r>
          </a:p>
          <a:p>
            <a:pPr marL="1085850" lvl="1" indent="-457200" eaLnBrk="1" hangingPunct="1"/>
            <a:r>
              <a:rPr lang="zh-CN" altLang="en-US" sz="2000" b="1" dirty="0"/>
              <a:t>多体存储器</a:t>
            </a:r>
          </a:p>
          <a:p>
            <a:pPr marL="1085850" lvl="1" indent="-457200" eaLnBrk="1" hangingPunct="1"/>
            <a:r>
              <a:rPr lang="zh-CN" altLang="en-US" sz="2000" b="1" dirty="0"/>
              <a:t>多操作部件</a:t>
            </a:r>
          </a:p>
          <a:p>
            <a:pPr lvl="2" eaLnBrk="1" hangingPunct="1"/>
            <a:r>
              <a:rPr lang="zh-CN" altLang="en-US" sz="2000" b="1" dirty="0"/>
              <a:t>通用部件被分解成若干个专用部件，如加法部件、乘</a:t>
            </a:r>
          </a:p>
          <a:p>
            <a:pPr lvl="2" eaLnBrk="1" hangingPunct="1">
              <a:buFont typeface="Wingdings" panose="05000000000000000000" pitchFamily="2" charset="2"/>
              <a:buNone/>
            </a:pPr>
            <a:r>
              <a:rPr lang="zh-CN" altLang="en-US" sz="2000" b="1" dirty="0"/>
              <a:t>      法部件、除法部件、逻辑运算部件等，而且同一种部</a:t>
            </a:r>
          </a:p>
          <a:p>
            <a:pPr lvl="2" eaLnBrk="1" hangingPunct="1">
              <a:buFont typeface="Wingdings" panose="05000000000000000000" pitchFamily="2" charset="2"/>
              <a:buNone/>
            </a:pPr>
            <a:r>
              <a:rPr lang="zh-CN" altLang="en-US" sz="2000" b="1" dirty="0"/>
              <a:t>      件也可以重复设置多个。</a:t>
            </a:r>
          </a:p>
          <a:p>
            <a:pPr lvl="2" eaLnBrk="1" hangingPunct="1"/>
            <a:r>
              <a:rPr lang="zh-CN" altLang="en-US" sz="2000" b="1" dirty="0"/>
              <a:t>只要指令所需的操作部件空闲，就可以开始执行这条</a:t>
            </a:r>
          </a:p>
          <a:p>
            <a:pPr lvl="2" eaLnBrk="1" hangingPunct="1">
              <a:buFont typeface="Wingdings" panose="05000000000000000000" pitchFamily="2" charset="2"/>
              <a:buNone/>
            </a:pPr>
            <a:r>
              <a:rPr lang="zh-CN" altLang="en-US" sz="2000" b="1" dirty="0"/>
              <a:t>      指令（如果操作数已准备好的话）。</a:t>
            </a:r>
          </a:p>
          <a:p>
            <a:pPr marL="1085850" lvl="1" indent="-457200" eaLnBrk="1" hangingPunct="1"/>
            <a:r>
              <a:rPr lang="zh-CN" altLang="en-US" sz="2000" b="1" dirty="0"/>
              <a:t>阵列处理机（并行处理机）</a:t>
            </a:r>
          </a:p>
          <a:p>
            <a:pPr lvl="2" eaLnBrk="1" hangingPunct="1">
              <a:buFont typeface="Wingdings" panose="05000000000000000000" pitchFamily="2" charset="2"/>
              <a:buNone/>
            </a:pPr>
            <a:r>
              <a:rPr lang="zh-CN" altLang="en-US" sz="2000" b="1" dirty="0"/>
              <a:t>       更进一步，设置许多相同的处理单元，让它们在同一个控制器的指挥下，按照同一条指令的要求，对向量或数组的各元素同时进行同一操作，就形成了阵列处理机 。</a:t>
            </a:r>
          </a:p>
          <a:p>
            <a:pPr lvl="2" eaLnBrk="1" hangingPunct="1">
              <a:buFont typeface="Wingdings" panose="05000000000000000000" pitchFamily="2" charset="2"/>
              <a:buNone/>
            </a:pPr>
            <a:endParaRPr lang="zh-CN" altLang="en-US" b="1" dirty="0"/>
          </a:p>
        </p:txBody>
      </p:sp>
      <p:sp>
        <p:nvSpPr>
          <p:cNvPr id="4" name="Rectangle 3" descr="Rectangle: Click to edit Master text styles&#10;Second level&#10;Third level&#10;Fourth level&#10;Fifth level"/>
          <p:cNvSpPr txBox="1">
            <a:spLocks noChangeArrowheads="1"/>
          </p:cNvSpPr>
          <p:nvPr/>
        </p:nvSpPr>
        <p:spPr bwMode="auto">
          <a:xfrm>
            <a:off x="349250" y="5362891"/>
            <a:ext cx="8183190"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marL="0" indent="0" eaLnBrk="1" hangingPunct="1">
              <a:spcBef>
                <a:spcPts val="0"/>
              </a:spcBef>
              <a:buClr>
                <a:schemeClr val="tx1"/>
              </a:buClr>
            </a:pPr>
            <a:r>
              <a:rPr lang="zh-CN" altLang="en-US" sz="2400" dirty="0">
                <a:latin typeface="+mn-lt"/>
                <a:ea typeface="+mn-ea"/>
              </a:rPr>
              <a:t>（</a:t>
            </a:r>
            <a:r>
              <a:rPr lang="en-US" altLang="zh-CN" sz="2400" dirty="0">
                <a:latin typeface="+mn-lt"/>
                <a:ea typeface="+mn-ea"/>
              </a:rPr>
              <a:t>3</a:t>
            </a:r>
            <a:r>
              <a:rPr lang="zh-CN" altLang="en-US" sz="2400" dirty="0">
                <a:latin typeface="+mn-lt"/>
                <a:ea typeface="+mn-ea"/>
              </a:rPr>
              <a:t>）在单处理机中，</a:t>
            </a:r>
            <a:r>
              <a:rPr lang="zh-CN" altLang="en-US" sz="2400" dirty="0">
                <a:solidFill>
                  <a:srgbClr val="FF0066"/>
                </a:solidFill>
                <a:latin typeface="+mn-lt"/>
                <a:ea typeface="+mn-ea"/>
              </a:rPr>
              <a:t>资源共享</a:t>
            </a:r>
            <a:r>
              <a:rPr lang="zh-CN" altLang="en-US" sz="2400" dirty="0">
                <a:latin typeface="+mn-lt"/>
                <a:ea typeface="+mn-ea"/>
              </a:rPr>
              <a:t>的概念实质上是用单处理机模拟多处理机的功能。</a:t>
            </a:r>
          </a:p>
        </p:txBody>
      </p:sp>
      <p:sp>
        <p:nvSpPr>
          <p:cNvPr id="5" name="Text Box 4">
            <a:extLst>
              <a:ext uri="{FF2B5EF4-FFF2-40B4-BE49-F238E27FC236}">
                <a16:creationId xmlns:a16="http://schemas.microsoft.com/office/drawing/2014/main" id="{8114BA13-5AA4-4B5B-9120-695906725680}"/>
              </a:ext>
            </a:extLst>
          </p:cNvPr>
          <p:cNvSpPr txBox="1">
            <a:spLocks noChangeArrowheads="1"/>
          </p:cNvSpPr>
          <p:nvPr/>
        </p:nvSpPr>
        <p:spPr bwMode="auto">
          <a:xfrm>
            <a:off x="193765" y="260648"/>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600" dirty="0">
                <a:solidFill>
                  <a:srgbClr val="0000CC"/>
                </a:solidFill>
                <a:latin typeface="黑体" panose="02010609060101010101" pitchFamily="49" charset="-122"/>
                <a:ea typeface="黑体" panose="02010609060101010101" pitchFamily="49" charset="-122"/>
              </a:rPr>
              <a:t>单机系统中</a:t>
            </a:r>
            <a:r>
              <a:rPr lang="zh-CN" altLang="en-US" sz="2600" dirty="0">
                <a:solidFill>
                  <a:srgbClr val="0000CC"/>
                </a:solidFill>
                <a:latin typeface="Tahoma" panose="020B0604030504040204" pitchFamily="34" charset="0"/>
                <a:ea typeface="黑体" panose="02010609060101010101" pitchFamily="49" charset="-122"/>
              </a:rPr>
              <a:t>并行性的发展 </a:t>
            </a:r>
          </a:p>
        </p:txBody>
      </p:sp>
      <p:sp>
        <p:nvSpPr>
          <p:cNvPr id="2" name="日期占位符 1">
            <a:extLst>
              <a:ext uri="{FF2B5EF4-FFF2-40B4-BE49-F238E27FC236}">
                <a16:creationId xmlns:a16="http://schemas.microsoft.com/office/drawing/2014/main" id="{BD649BAE-FF48-73AB-0115-9E5411BCE9EC}"/>
              </a:ext>
            </a:extLst>
          </p:cNvPr>
          <p:cNvSpPr>
            <a:spLocks noGrp="1"/>
          </p:cNvSpPr>
          <p:nvPr>
            <p:ph type="dt" sz="half" idx="10"/>
          </p:nvPr>
        </p:nvSpPr>
        <p:spPr/>
        <p:txBody>
          <a:bodyPr/>
          <a:lstStyle/>
          <a:p>
            <a:pPr>
              <a:defRPr/>
            </a:pPr>
            <a:fld id="{BD6D42AC-29FA-4BEF-B07B-861529CAD6CD}"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7939B946-CE6C-EFA2-29C0-F7F0EDFCC458}"/>
              </a:ext>
            </a:extLst>
          </p:cNvPr>
          <p:cNvSpPr>
            <a:spLocks noGrp="1"/>
          </p:cNvSpPr>
          <p:nvPr>
            <p:ph type="sldNum" sz="quarter" idx="12"/>
          </p:nvPr>
        </p:nvSpPr>
        <p:spPr/>
        <p:txBody>
          <a:bodyPr/>
          <a:lstStyle/>
          <a:p>
            <a:pPr>
              <a:defRPr/>
            </a:pPr>
            <a:fld id="{8BCAC33D-D29A-48B3-BCD6-381D3D720D26}" type="slidenum">
              <a:rPr lang="zh-CN" altLang="en-US" smtClean="0"/>
              <a:pPr>
                <a:defRPr/>
              </a:pPr>
              <a:t>37</a:t>
            </a:fld>
            <a:endParaRPr lang="en-US" altLang="zh-CN"/>
          </a:p>
        </p:txBody>
      </p:sp>
      <p:sp>
        <p:nvSpPr>
          <p:cNvPr id="6" name="页脚占位符 5">
            <a:extLst>
              <a:ext uri="{FF2B5EF4-FFF2-40B4-BE49-F238E27FC236}">
                <a16:creationId xmlns:a16="http://schemas.microsoft.com/office/drawing/2014/main" id="{74C2DC75-F201-71F3-2B39-4C8A17B0E26C}"/>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descr="Rectangle: Click to edit Master text styles&#10;Second level&#10;Third level&#10;Fourth level&#10;Fifth level"/>
          <p:cNvSpPr>
            <a:spLocks noGrp="1" noChangeArrowheads="1"/>
          </p:cNvSpPr>
          <p:nvPr>
            <p:ph type="body" idx="1"/>
          </p:nvPr>
        </p:nvSpPr>
        <p:spPr>
          <a:xfrm>
            <a:off x="609600" y="1844675"/>
            <a:ext cx="8281988" cy="3096493"/>
          </a:xfrm>
        </p:spPr>
        <p:txBody>
          <a:bodyPr/>
          <a:lstStyle/>
          <a:p>
            <a:pPr marL="0" indent="0" eaLnBrk="1" hangingPunct="1">
              <a:lnSpc>
                <a:spcPct val="150000"/>
              </a:lnSpc>
              <a:buNone/>
            </a:pPr>
            <a:r>
              <a:rPr lang="zh-CN" altLang="en-US" sz="2400" b="1" dirty="0"/>
              <a:t>        多机系统遵循时间重叠、资源重复、资源共享原理，发展为</a:t>
            </a:r>
            <a:r>
              <a:rPr lang="en-US" altLang="zh-CN" sz="2400" b="1" dirty="0">
                <a:latin typeface="黑体" panose="02010609060101010101" pitchFamily="49" charset="-122"/>
              </a:rPr>
              <a:t>3</a:t>
            </a:r>
            <a:r>
              <a:rPr lang="zh-CN" altLang="en-US" sz="2400" b="1" dirty="0"/>
              <a:t>种不同的多处理机：</a:t>
            </a:r>
            <a:br>
              <a:rPr lang="zh-CN" altLang="en-US" sz="2400" b="1" dirty="0"/>
            </a:br>
            <a:r>
              <a:rPr lang="zh-CN" altLang="en-US" sz="2400" b="1" dirty="0"/>
              <a:t>      </a:t>
            </a:r>
            <a:r>
              <a:rPr lang="zh-CN" altLang="en-US" sz="2400" b="1" dirty="0">
                <a:solidFill>
                  <a:srgbClr val="D60093"/>
                </a:solidFill>
              </a:rPr>
              <a:t>同构型多处理机、异构型多处理机、分布式系统</a:t>
            </a:r>
            <a:endParaRPr lang="en-US" altLang="zh-CN" sz="2400" b="1" dirty="0">
              <a:solidFill>
                <a:srgbClr val="D60093"/>
              </a:solidFill>
            </a:endParaRPr>
          </a:p>
          <a:p>
            <a:pPr marL="0" indent="0" eaLnBrk="1" hangingPunct="1">
              <a:buNone/>
            </a:pPr>
            <a:endParaRPr lang="zh-CN" altLang="en-US" sz="2400" b="1" dirty="0">
              <a:solidFill>
                <a:srgbClr val="D60093"/>
              </a:solidFill>
            </a:endParaRPr>
          </a:p>
          <a:p>
            <a:pPr marL="0" indent="0" eaLnBrk="1" hangingPunct="1">
              <a:buNone/>
            </a:pPr>
            <a:r>
              <a:rPr lang="zh-CN" altLang="en-US" sz="2400" b="1" dirty="0">
                <a:solidFill>
                  <a:srgbClr val="FF0000"/>
                </a:solidFill>
              </a:rPr>
              <a:t>       耦合度</a:t>
            </a:r>
            <a:r>
              <a:rPr lang="zh-CN" altLang="en-US" sz="2400" b="1" dirty="0"/>
              <a:t>  反映多机系统中各机器之间物理连接的紧密程度和交 互作用能力的强弱。</a:t>
            </a:r>
          </a:p>
          <a:p>
            <a:pPr marL="1085850" lvl="1" indent="-457200" eaLnBrk="1" hangingPunct="1">
              <a:buFont typeface="Wingdings" panose="05000000000000000000" pitchFamily="2" charset="2"/>
              <a:buNone/>
            </a:pPr>
            <a:endParaRPr lang="en-US" altLang="zh-CN" sz="2400" b="1" dirty="0"/>
          </a:p>
        </p:txBody>
      </p:sp>
      <p:sp>
        <p:nvSpPr>
          <p:cNvPr id="47107" name="Text Box 4"/>
          <p:cNvSpPr txBox="1">
            <a:spLocks noChangeArrowheads="1"/>
          </p:cNvSpPr>
          <p:nvPr/>
        </p:nvSpPr>
        <p:spPr bwMode="auto">
          <a:xfrm>
            <a:off x="395288" y="1211263"/>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600" dirty="0">
                <a:solidFill>
                  <a:srgbClr val="0000CC"/>
                </a:solidFill>
                <a:latin typeface="黑体" panose="02010609060101010101" pitchFamily="49" charset="-122"/>
                <a:ea typeface="黑体" panose="02010609060101010101" pitchFamily="49" charset="-122"/>
              </a:rPr>
              <a:t>多机系统中</a:t>
            </a:r>
            <a:r>
              <a:rPr lang="zh-CN" altLang="en-US" sz="2600" dirty="0">
                <a:solidFill>
                  <a:srgbClr val="0000CC"/>
                </a:solidFill>
                <a:latin typeface="Tahoma" panose="020B0604030504040204" pitchFamily="34" charset="0"/>
                <a:ea typeface="黑体" panose="02010609060101010101" pitchFamily="49" charset="-122"/>
              </a:rPr>
              <a:t>并行性的发展 </a:t>
            </a:r>
          </a:p>
        </p:txBody>
      </p:sp>
      <p:sp>
        <p:nvSpPr>
          <p:cNvPr id="4" name="Rectangle 2"/>
          <p:cNvSpPr>
            <a:spLocks noGrp="1" noChangeArrowheads="1"/>
          </p:cNvSpPr>
          <p:nvPr>
            <p:ph type="title" idx="4294967295"/>
          </p:nvPr>
        </p:nvSpPr>
        <p:spPr>
          <a:xfrm>
            <a:off x="395536" y="53752"/>
            <a:ext cx="8229600" cy="1143000"/>
          </a:xfrm>
        </p:spPr>
        <p:txBody>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69742F4F-D078-467D-5ABC-F44655BAAEB3}"/>
              </a:ext>
            </a:extLst>
          </p:cNvPr>
          <p:cNvSpPr>
            <a:spLocks noGrp="1"/>
          </p:cNvSpPr>
          <p:nvPr>
            <p:ph type="dt" sz="half" idx="10"/>
          </p:nvPr>
        </p:nvSpPr>
        <p:spPr/>
        <p:txBody>
          <a:bodyPr/>
          <a:lstStyle/>
          <a:p>
            <a:pPr>
              <a:defRPr/>
            </a:pPr>
            <a:fld id="{CFD99F57-FBCE-45F8-89F5-52968196B303}"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201BD921-9BBD-4922-D6EF-9DA7D841B858}"/>
              </a:ext>
            </a:extLst>
          </p:cNvPr>
          <p:cNvSpPr>
            <a:spLocks noGrp="1"/>
          </p:cNvSpPr>
          <p:nvPr>
            <p:ph type="sldNum" sz="quarter" idx="12"/>
          </p:nvPr>
        </p:nvSpPr>
        <p:spPr/>
        <p:txBody>
          <a:bodyPr/>
          <a:lstStyle/>
          <a:p>
            <a:pPr>
              <a:defRPr/>
            </a:pPr>
            <a:fld id="{8BCAC33D-D29A-48B3-BCD6-381D3D720D26}" type="slidenum">
              <a:rPr lang="zh-CN" altLang="en-US" smtClean="0"/>
              <a:pPr>
                <a:defRPr/>
              </a:pPr>
              <a:t>38</a:t>
            </a:fld>
            <a:endParaRPr lang="en-US" altLang="zh-CN"/>
          </a:p>
        </p:txBody>
      </p:sp>
      <p:sp>
        <p:nvSpPr>
          <p:cNvPr id="5" name="页脚占位符 4">
            <a:extLst>
              <a:ext uri="{FF2B5EF4-FFF2-40B4-BE49-F238E27FC236}">
                <a16:creationId xmlns:a16="http://schemas.microsoft.com/office/drawing/2014/main" id="{D646DF18-CC79-EFC8-E6A4-9B5D4C921F26}"/>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descr="Rectangle: Click to edit Master text styles&#10;Second level&#10;Third level&#10;Fourth level&#10;Fifth level"/>
          <p:cNvSpPr>
            <a:spLocks noGrp="1" noChangeArrowheads="1"/>
          </p:cNvSpPr>
          <p:nvPr>
            <p:ph type="body" idx="1"/>
          </p:nvPr>
        </p:nvSpPr>
        <p:spPr>
          <a:xfrm>
            <a:off x="503548" y="692696"/>
            <a:ext cx="8136904" cy="5472608"/>
          </a:xfrm>
        </p:spPr>
        <p:txBody>
          <a:bodyPr/>
          <a:lstStyle/>
          <a:p>
            <a:pPr marL="457200" lvl="1" indent="-457200">
              <a:lnSpc>
                <a:spcPct val="120000"/>
              </a:lnSpc>
              <a:buFont typeface="Wingdings" panose="05000000000000000000" pitchFamily="2" charset="2"/>
              <a:buChar char="p"/>
            </a:pPr>
            <a:r>
              <a:rPr lang="zh-CN" altLang="en-US" sz="2600" b="1" dirty="0">
                <a:solidFill>
                  <a:srgbClr val="C00000"/>
                </a:solidFill>
              </a:rPr>
              <a:t>最低耦合</a:t>
            </a:r>
            <a:r>
              <a:rPr lang="zh-CN" altLang="en-US" sz="2600" b="1" dirty="0"/>
              <a:t>：耦合度最低，除通过某种中间存储介质之外，各计算机之间没有物理连接，也无共享的联机硬件资源。</a:t>
            </a:r>
            <a:endParaRPr lang="en-US" altLang="zh-CN" sz="2600" b="1" dirty="0"/>
          </a:p>
          <a:p>
            <a:pPr marL="457200" lvl="1" indent="-457200">
              <a:lnSpc>
                <a:spcPct val="120000"/>
              </a:lnSpc>
              <a:buFont typeface="Wingdings" panose="05000000000000000000" pitchFamily="2" charset="2"/>
              <a:buChar char="p"/>
            </a:pPr>
            <a:r>
              <a:rPr lang="zh-CN" altLang="en-US" sz="2600" b="1" dirty="0">
                <a:solidFill>
                  <a:srgbClr val="C00000"/>
                </a:solidFill>
              </a:rPr>
              <a:t>松散耦合系统（间接耦合系统）</a:t>
            </a:r>
            <a:r>
              <a:rPr lang="zh-CN" altLang="en-US" sz="2600" b="1" dirty="0"/>
              <a:t>：一般是通过通道或通信线路实现计算机之间的互连，可以共享外存设备（磁盘、磁带等）。机器之间的相互作用是在文件或数据集一级上进行。</a:t>
            </a:r>
            <a:endParaRPr lang="en-US" altLang="zh-CN" sz="2600" b="1" dirty="0">
              <a:solidFill>
                <a:srgbClr val="C00000"/>
              </a:solidFill>
            </a:endParaRPr>
          </a:p>
          <a:p>
            <a:pPr marL="457200" lvl="1" indent="-457200">
              <a:lnSpc>
                <a:spcPct val="120000"/>
              </a:lnSpc>
              <a:buFont typeface="Wingdings" panose="05000000000000000000" pitchFamily="2" charset="2"/>
              <a:buChar char="p"/>
            </a:pPr>
            <a:r>
              <a:rPr lang="zh-CN" altLang="en-US" sz="2600" b="1" dirty="0">
                <a:solidFill>
                  <a:srgbClr val="C00000"/>
                </a:solidFill>
              </a:rPr>
              <a:t>紧密耦合系统（直接耦合系统）</a:t>
            </a:r>
            <a:r>
              <a:rPr lang="zh-CN" altLang="en-US" sz="2600" b="1" dirty="0"/>
              <a:t>：在这种系统中，计算机之间的物理连接的频带较高，一般是通过总线或高速开关互连，可以共享主存。</a:t>
            </a:r>
            <a:endParaRPr lang="en-US" altLang="zh-CN" sz="2600" b="1" dirty="0"/>
          </a:p>
          <a:p>
            <a:pPr marL="457200" lvl="1" indent="-457200">
              <a:buFont typeface="Wingdings" panose="05000000000000000000" pitchFamily="2" charset="2"/>
              <a:buChar char="p"/>
            </a:pPr>
            <a:endParaRPr lang="en-US" altLang="zh-CN" sz="2600" b="1" dirty="0"/>
          </a:p>
        </p:txBody>
      </p:sp>
      <p:sp>
        <p:nvSpPr>
          <p:cNvPr id="2" name="日期占位符 1">
            <a:extLst>
              <a:ext uri="{FF2B5EF4-FFF2-40B4-BE49-F238E27FC236}">
                <a16:creationId xmlns:a16="http://schemas.microsoft.com/office/drawing/2014/main" id="{A7E75DB6-F796-9360-EB5B-F8445AC40371}"/>
              </a:ext>
            </a:extLst>
          </p:cNvPr>
          <p:cNvSpPr>
            <a:spLocks noGrp="1"/>
          </p:cNvSpPr>
          <p:nvPr>
            <p:ph type="dt" sz="half" idx="10"/>
          </p:nvPr>
        </p:nvSpPr>
        <p:spPr/>
        <p:txBody>
          <a:bodyPr/>
          <a:lstStyle/>
          <a:p>
            <a:pPr>
              <a:defRPr/>
            </a:pPr>
            <a:fld id="{D4688CCD-16B4-400C-AA75-D0B2C4374872}"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3D512DDB-9E89-3BE4-BE88-C9D92D9D58A2}"/>
              </a:ext>
            </a:extLst>
          </p:cNvPr>
          <p:cNvSpPr>
            <a:spLocks noGrp="1"/>
          </p:cNvSpPr>
          <p:nvPr>
            <p:ph type="sldNum" sz="quarter" idx="12"/>
          </p:nvPr>
        </p:nvSpPr>
        <p:spPr/>
        <p:txBody>
          <a:bodyPr/>
          <a:lstStyle/>
          <a:p>
            <a:pPr>
              <a:defRPr/>
            </a:pPr>
            <a:fld id="{8BCAC33D-D29A-48B3-BCD6-381D3D720D26}" type="slidenum">
              <a:rPr lang="zh-CN" altLang="en-US" smtClean="0"/>
              <a:pPr>
                <a:defRPr/>
              </a:pPr>
              <a:t>39</a:t>
            </a:fld>
            <a:endParaRPr lang="en-US" altLang="zh-CN"/>
          </a:p>
        </p:txBody>
      </p:sp>
      <p:sp>
        <p:nvSpPr>
          <p:cNvPr id="4" name="页脚占位符 3">
            <a:extLst>
              <a:ext uri="{FF2B5EF4-FFF2-40B4-BE49-F238E27FC236}">
                <a16:creationId xmlns:a16="http://schemas.microsoft.com/office/drawing/2014/main" id="{219F2346-8AB4-980A-62D8-A500F83623BF}"/>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4294967295"/>
          </p:nvPr>
        </p:nvSpPr>
        <p:spPr>
          <a:xfrm>
            <a:off x="395536" y="1412776"/>
            <a:ext cx="8229600" cy="4525963"/>
          </a:xfrm>
        </p:spPr>
        <p:txBody>
          <a:bodyPr/>
          <a:lstStyle/>
          <a:p>
            <a:pPr marL="0" indent="0" eaLnBrk="1" hangingPunct="1">
              <a:lnSpc>
                <a:spcPct val="170000"/>
              </a:lnSpc>
              <a:buNone/>
            </a:pPr>
            <a:r>
              <a:rPr lang="en-US" altLang="zh-CN" sz="2600" b="1" dirty="0">
                <a:latin typeface="黑体" panose="02010609060101010101" pitchFamily="49" charset="-122"/>
                <a:ea typeface="黑体" panose="02010609060101010101" pitchFamily="49" charset="-122"/>
              </a:rPr>
              <a:t>3. </a:t>
            </a:r>
            <a:r>
              <a:rPr lang="zh-CN" altLang="en-US" sz="2600" b="1" dirty="0">
                <a:latin typeface="黑体" panose="02010609060101010101" pitchFamily="49" charset="-122"/>
                <a:ea typeface="黑体" panose="02010609060101010101" pitchFamily="49" charset="-122"/>
              </a:rPr>
              <a:t>并行计算的应用需求</a:t>
            </a:r>
            <a:endParaRPr lang="en-US" altLang="zh-CN" sz="2600" b="1" dirty="0">
              <a:latin typeface="黑体" panose="02010609060101010101" pitchFamily="49" charset="-122"/>
              <a:ea typeface="黑体" panose="02010609060101010101" pitchFamily="49" charset="-122"/>
            </a:endParaRPr>
          </a:p>
          <a:p>
            <a:pPr eaLnBrk="1" hangingPunct="1">
              <a:lnSpc>
                <a:spcPct val="170000"/>
              </a:lnSpc>
            </a:pPr>
            <a:r>
              <a:rPr lang="zh-CN" altLang="en-US" sz="2600" dirty="0">
                <a:latin typeface="Verdana" panose="020B0604030504040204" pitchFamily="34" charset="0"/>
                <a:ea typeface="华文中宋" panose="02010600040101010101" pitchFamily="2" charset="-122"/>
              </a:rPr>
              <a:t>科学计算</a:t>
            </a:r>
            <a:endParaRPr lang="en-US" altLang="zh-CN" sz="2600" dirty="0">
              <a:latin typeface="Verdana" panose="020B0604030504040204" pitchFamily="34" charset="0"/>
              <a:ea typeface="华文中宋" panose="02010600040101010101" pitchFamily="2" charset="-122"/>
            </a:endParaRPr>
          </a:p>
          <a:p>
            <a:pPr eaLnBrk="1" hangingPunct="1">
              <a:lnSpc>
                <a:spcPct val="170000"/>
              </a:lnSpc>
            </a:pPr>
            <a:r>
              <a:rPr lang="zh-CN" altLang="en-US" sz="2600" dirty="0">
                <a:latin typeface="Verdana" panose="020B0604030504040204" pitchFamily="34" charset="0"/>
                <a:ea typeface="华文中宋" panose="02010600040101010101" pitchFamily="2" charset="-122"/>
              </a:rPr>
              <a:t>娱乐业</a:t>
            </a:r>
            <a:endParaRPr lang="en-US" altLang="zh-CN" sz="2600" dirty="0">
              <a:latin typeface="Verdana" panose="020B0604030504040204" pitchFamily="34" charset="0"/>
              <a:ea typeface="华文中宋" panose="02010600040101010101" pitchFamily="2" charset="-122"/>
            </a:endParaRPr>
          </a:p>
          <a:p>
            <a:pPr marL="0" indent="0" eaLnBrk="1" hangingPunct="1">
              <a:lnSpc>
                <a:spcPct val="170000"/>
              </a:lnSpc>
              <a:buNone/>
            </a:pPr>
            <a:r>
              <a:rPr lang="zh-CN" altLang="en-US" sz="2400" dirty="0">
                <a:latin typeface="Verdana" panose="020B0604030504040204" pitchFamily="34" charset="0"/>
                <a:ea typeface="华文中宋" panose="02010600040101010101" pitchFamily="2" charset="-122"/>
              </a:rPr>
              <a:t>对</a:t>
            </a:r>
            <a:r>
              <a:rPr lang="en-US" altLang="zh-CN" sz="2400" dirty="0">
                <a:latin typeface="Verdana" panose="020B0604030504040204" pitchFamily="34" charset="0"/>
                <a:ea typeface="华文中宋" panose="02010600040101010101" pitchFamily="2" charset="-122"/>
              </a:rPr>
              <a:t>ZFLOPS</a:t>
            </a:r>
            <a:r>
              <a:rPr lang="zh-CN" altLang="en-US" sz="2400" dirty="0">
                <a:latin typeface="Verdana" panose="020B0604030504040204" pitchFamily="34" charset="0"/>
                <a:ea typeface="华文中宋" panose="02010600040101010101" pitchFamily="2" charset="-122"/>
              </a:rPr>
              <a:t>计算能力和</a:t>
            </a:r>
            <a:r>
              <a:rPr lang="en-US" altLang="zh-CN" sz="2400" dirty="0">
                <a:latin typeface="Verdana" panose="020B0604030504040204" pitchFamily="34" charset="0"/>
                <a:ea typeface="华文中宋" panose="02010600040101010101" pitchFamily="2" charset="-122"/>
              </a:rPr>
              <a:t>EB</a:t>
            </a:r>
            <a:r>
              <a:rPr lang="zh-CN" altLang="en-US" sz="2400" dirty="0">
                <a:latin typeface="Verdana" panose="020B0604030504040204" pitchFamily="34" charset="0"/>
                <a:ea typeface="华文中宋" panose="02010600040101010101" pitchFamily="2" charset="-122"/>
              </a:rPr>
              <a:t>存储能力需求的领域在不断增多。</a:t>
            </a:r>
            <a:endParaRPr lang="en-US" altLang="zh-CN" sz="2400" dirty="0">
              <a:latin typeface="Verdana" panose="020B0604030504040204" pitchFamily="34" charset="0"/>
              <a:ea typeface="华文中宋" panose="02010600040101010101" pitchFamily="2" charset="-122"/>
            </a:endParaRPr>
          </a:p>
          <a:p>
            <a:pPr eaLnBrk="1" hangingPunct="1">
              <a:lnSpc>
                <a:spcPct val="170000"/>
              </a:lnSpc>
            </a:pPr>
            <a:endParaRPr lang="zh-CN" altLang="en-US" sz="2600" dirty="0">
              <a:latin typeface="Verdana" panose="020B0604030504040204" pitchFamily="34" charset="0"/>
              <a:ea typeface="华文中宋" panose="02010600040101010101" pitchFamily="2" charset="-122"/>
            </a:endParaRPr>
          </a:p>
        </p:txBody>
      </p:sp>
      <p:sp>
        <p:nvSpPr>
          <p:cNvPr id="4" name="Rectangle 2"/>
          <p:cNvSpPr txBox="1">
            <a:spLocks noChangeArrowheads="1"/>
          </p:cNvSpPr>
          <p:nvPr/>
        </p:nvSpPr>
        <p:spPr bwMode="auto">
          <a:xfrm>
            <a:off x="395536" y="12576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EDB094A7-F176-CF3D-F726-736B17FA70C0}"/>
              </a:ext>
            </a:extLst>
          </p:cNvPr>
          <p:cNvSpPr>
            <a:spLocks noGrp="1"/>
          </p:cNvSpPr>
          <p:nvPr>
            <p:ph type="dt" sz="half" idx="10"/>
          </p:nvPr>
        </p:nvSpPr>
        <p:spPr>
          <a:xfrm>
            <a:off x="457200" y="6309320"/>
            <a:ext cx="2133600" cy="365125"/>
          </a:xfrm>
        </p:spPr>
        <p:txBody>
          <a:bodyPr/>
          <a:lstStyle/>
          <a:p>
            <a:pPr>
              <a:defRPr/>
            </a:pPr>
            <a:fld id="{AE87CC17-CF51-44CA-B8C7-DD01988EB8D6}" type="datetime1">
              <a:rPr lang="zh-CN" altLang="en-US" smtClean="0"/>
              <a:t>2025/9/10</a:t>
            </a:fld>
            <a:endParaRPr lang="en-US" altLang="zh-CN"/>
          </a:p>
        </p:txBody>
      </p:sp>
      <p:sp>
        <p:nvSpPr>
          <p:cNvPr id="3" name="灯片编号占位符 3">
            <a:extLst>
              <a:ext uri="{FF2B5EF4-FFF2-40B4-BE49-F238E27FC236}">
                <a16:creationId xmlns:a16="http://schemas.microsoft.com/office/drawing/2014/main" id="{4BB35F90-DE0D-29BC-91FA-9A3C72C42885}"/>
              </a:ext>
            </a:extLst>
          </p:cNvPr>
          <p:cNvSpPr>
            <a:spLocks noGrp="1"/>
          </p:cNvSpPr>
          <p:nvPr>
            <p:ph type="sldNum" sz="quarter" idx="12"/>
          </p:nvPr>
        </p:nvSpPr>
        <p:spPr>
          <a:xfrm>
            <a:off x="6553200" y="6309320"/>
            <a:ext cx="2133600" cy="365125"/>
          </a:xfrm>
        </p:spPr>
        <p:txBody>
          <a:bodyPr/>
          <a:lstStyle/>
          <a:p>
            <a:pPr>
              <a:defRPr/>
            </a:pPr>
            <a:fld id="{8BCAC33D-D29A-48B3-BCD6-381D3D720D26}" type="slidenum">
              <a:rPr lang="zh-CN" altLang="en-US" smtClean="0"/>
              <a:pPr>
                <a:defRPr/>
              </a:pPr>
              <a:t>40</a:t>
            </a:fld>
            <a:endParaRPr lang="en-US" altLang="zh-CN"/>
          </a:p>
        </p:txBody>
      </p:sp>
      <p:sp>
        <p:nvSpPr>
          <p:cNvPr id="5" name="页脚占位符 4">
            <a:extLst>
              <a:ext uri="{FF2B5EF4-FFF2-40B4-BE49-F238E27FC236}">
                <a16:creationId xmlns:a16="http://schemas.microsoft.com/office/drawing/2014/main" id="{355E0037-43B3-5D7A-FB7B-53045A74FF9E}"/>
              </a:ext>
            </a:extLst>
          </p:cNvPr>
          <p:cNvSpPr>
            <a:spLocks noGrp="1"/>
          </p:cNvSpPr>
          <p:nvPr>
            <p:ph type="ftr" sz="quarter" idx="11"/>
          </p:nvPr>
        </p:nvSpPr>
        <p:spPr>
          <a:xfrm>
            <a:off x="3124200" y="6309320"/>
            <a:ext cx="2895600" cy="365125"/>
          </a:xfrm>
        </p:spPr>
        <p:txBody>
          <a:bodyPr/>
          <a:lstStyle/>
          <a:p>
            <a:pPr>
              <a:defRPr/>
            </a:pPr>
            <a:r>
              <a:rPr lang="zh-CN" altLang="en-US"/>
              <a:t>计算机体系结构</a:t>
            </a:r>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txBox="1">
            <a:spLocks noChangeArrowheads="1"/>
          </p:cNvSpPr>
          <p:nvPr/>
        </p:nvSpPr>
        <p:spPr bwMode="auto">
          <a:xfrm>
            <a:off x="457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r>
              <a:rPr lang="zh-CN" altLang="en-US" sz="4000" dirty="0">
                <a:latin typeface="Tahoma" panose="020B0604030504040204" pitchFamily="34" charset="0"/>
                <a:ea typeface="隶书" panose="02010509060101010101" pitchFamily="49" charset="-122"/>
              </a:rPr>
              <a:t>我国的高性能计算机</a:t>
            </a:r>
          </a:p>
        </p:txBody>
      </p:sp>
      <p:sp>
        <p:nvSpPr>
          <p:cNvPr id="62467" name="Rectangle 3"/>
          <p:cNvSpPr txBox="1">
            <a:spLocks noChangeArrowheads="1"/>
          </p:cNvSpPr>
          <p:nvPr/>
        </p:nvSpPr>
        <p:spPr bwMode="auto">
          <a:xfrm>
            <a:off x="838200" y="1447800"/>
            <a:ext cx="7848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9580" indent="-449580"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银河-1(中国第一台大型机)</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银河-2</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银河-3</a:t>
            </a:r>
            <a:endParaRPr lang="en-US" altLang="zh-CN" sz="2400">
              <a:solidFill>
                <a:srgbClr val="E24C05"/>
              </a:solidFill>
              <a:latin typeface="Times New Roman" panose="02020603050405020304" pitchFamily="18" charset="0"/>
              <a:ea typeface="黑体" panose="02010609060101010101" pitchFamily="49" charset="-122"/>
            </a:endParaRP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天河一号</a:t>
            </a:r>
            <a:endParaRPr lang="en-US" altLang="zh-CN" sz="2400">
              <a:solidFill>
                <a:srgbClr val="E24C05"/>
              </a:solidFill>
              <a:latin typeface="Times New Roman" panose="02020603050405020304" pitchFamily="18" charset="0"/>
              <a:ea typeface="黑体" panose="02010609060101010101" pitchFamily="49" charset="-122"/>
            </a:endParaRP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天河二号</a:t>
            </a:r>
            <a:endParaRPr lang="en-US" altLang="zh-CN" sz="2400">
              <a:solidFill>
                <a:srgbClr val="E24C05"/>
              </a:solidFill>
              <a:latin typeface="Times New Roman" panose="02020603050405020304" pitchFamily="18" charset="0"/>
              <a:ea typeface="黑体" panose="02010609060101010101" pitchFamily="49" charset="-122"/>
            </a:endParaRP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神威</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曙光3000</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曙光</a:t>
            </a:r>
            <a:r>
              <a:rPr lang="en-US" altLang="zh-CN" sz="2400">
                <a:solidFill>
                  <a:srgbClr val="E24C05"/>
                </a:solidFill>
                <a:latin typeface="Times New Roman" panose="02020603050405020304" pitchFamily="18" charset="0"/>
                <a:ea typeface="黑体" panose="02010609060101010101" pitchFamily="49" charset="-122"/>
              </a:rPr>
              <a:t>4000</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曙光</a:t>
            </a:r>
            <a:r>
              <a:rPr lang="en-US" altLang="zh-CN" sz="2400">
                <a:solidFill>
                  <a:srgbClr val="E24C05"/>
                </a:solidFill>
                <a:latin typeface="Times New Roman" panose="02020603050405020304" pitchFamily="18" charset="0"/>
                <a:ea typeface="黑体" panose="02010609060101010101" pitchFamily="49" charset="-122"/>
              </a:rPr>
              <a:t>5000A</a:t>
            </a:r>
          </a:p>
        </p:txBody>
      </p:sp>
      <p:sp>
        <p:nvSpPr>
          <p:cNvPr id="2" name="日期占位符 1">
            <a:extLst>
              <a:ext uri="{FF2B5EF4-FFF2-40B4-BE49-F238E27FC236}">
                <a16:creationId xmlns:a16="http://schemas.microsoft.com/office/drawing/2014/main" id="{E4BF0C68-6AA6-6F42-55A1-6EA5DDB47835}"/>
              </a:ext>
            </a:extLst>
          </p:cNvPr>
          <p:cNvSpPr>
            <a:spLocks noGrp="1"/>
          </p:cNvSpPr>
          <p:nvPr>
            <p:ph type="dt" sz="half" idx="10"/>
          </p:nvPr>
        </p:nvSpPr>
        <p:spPr/>
        <p:txBody>
          <a:bodyPr/>
          <a:lstStyle/>
          <a:p>
            <a:pPr>
              <a:defRPr/>
            </a:pPr>
            <a:fld id="{D353D3BA-D44E-401F-A7C3-64BAD6B205BA}"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3FEBD0BD-C70E-FC8D-BF8B-6FB885BE5D71}"/>
              </a:ext>
            </a:extLst>
          </p:cNvPr>
          <p:cNvSpPr>
            <a:spLocks noGrp="1"/>
          </p:cNvSpPr>
          <p:nvPr>
            <p:ph type="sldNum" sz="quarter" idx="12"/>
          </p:nvPr>
        </p:nvSpPr>
        <p:spPr/>
        <p:txBody>
          <a:bodyPr/>
          <a:lstStyle/>
          <a:p>
            <a:pPr>
              <a:defRPr/>
            </a:pPr>
            <a:fld id="{65B7EA61-351E-4105-9AD9-76D38C6E9934}" type="slidenum">
              <a:rPr lang="zh-CN" altLang="en-US" smtClean="0"/>
              <a:pPr>
                <a:defRPr/>
              </a:pPr>
              <a:t>41</a:t>
            </a:fld>
            <a:endParaRPr lang="en-US" altLang="zh-CN"/>
          </a:p>
        </p:txBody>
      </p:sp>
      <p:sp>
        <p:nvSpPr>
          <p:cNvPr id="4" name="页脚占位符 3">
            <a:extLst>
              <a:ext uri="{FF2B5EF4-FFF2-40B4-BE49-F238E27FC236}">
                <a16:creationId xmlns:a16="http://schemas.microsoft.com/office/drawing/2014/main" id="{11384D64-D671-2D10-B703-7376D7C51CB9}"/>
              </a:ext>
            </a:extLst>
          </p:cNvPr>
          <p:cNvSpPr>
            <a:spLocks noGrp="1"/>
          </p:cNvSpPr>
          <p:nvPr>
            <p:ph type="ftr" sz="quarter" idx="11"/>
          </p:nvPr>
        </p:nvSpPr>
        <p:spPr/>
        <p:txBody>
          <a:bodyPr/>
          <a:lstStyle/>
          <a:p>
            <a:pPr>
              <a:defRPr/>
            </a:pPr>
            <a:r>
              <a:rPr lang="zh-CN" altLang="en-US"/>
              <a:t>计算机体系结构</a:t>
            </a:r>
            <a:endParaRPr lang="en-US" altLang="zh-CN"/>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r>
              <a:rPr kumimoji="1" lang="en-US" altLang="zh-CN" sz="4000" b="1" dirty="0">
                <a:latin typeface="+mj-ea"/>
                <a:ea typeface="+mj-ea"/>
                <a:cs typeface="+mn-cs"/>
              </a:rPr>
              <a:t>1.2.7 </a:t>
            </a:r>
            <a:r>
              <a:rPr kumimoji="1" lang="zh-CN" altLang="en-US" sz="4000" b="1" dirty="0">
                <a:latin typeface="+mj-ea"/>
                <a:ea typeface="+mj-ea"/>
                <a:cs typeface="+mn-cs"/>
              </a:rPr>
              <a:t>处理器芯片技术的发展</a:t>
            </a:r>
            <a:br>
              <a:rPr kumimoji="1" lang="zh-CN" altLang="en-US" b="1" dirty="0">
                <a:latin typeface="+mj-ea"/>
              </a:rPr>
            </a:br>
            <a:endParaRPr lang="zh-CN" altLang="en-US" b="1" dirty="0"/>
          </a:p>
        </p:txBody>
      </p:sp>
      <p:sp>
        <p:nvSpPr>
          <p:cNvPr id="18" name="椭圆 17"/>
          <p:cNvSpPr/>
          <p:nvPr/>
        </p:nvSpPr>
        <p:spPr bwMode="auto">
          <a:xfrm>
            <a:off x="3863510" y="2456751"/>
            <a:ext cx="914093" cy="594049"/>
          </a:xfrm>
          <a:prstGeom prst="ellipse">
            <a:avLst/>
          </a:prstGeom>
          <a:solidFill>
            <a:srgbClr val="92D05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050" dirty="0">
                <a:latin typeface="Huawei Sans" panose="020C0503030203020204" pitchFamily="34" charset="0"/>
                <a:ea typeface="方正兰亭黑简体" panose="02000000000000000000" pitchFamily="2" charset="-122"/>
              </a:rPr>
              <a:t>POWER</a:t>
            </a:r>
            <a:endParaRPr lang="zh-CN" altLang="en-US" sz="1050" dirty="0">
              <a:latin typeface="Huawei Sans" panose="020C0503030203020204" pitchFamily="34" charset="0"/>
              <a:ea typeface="方正兰亭黑简体" panose="02000000000000000000" pitchFamily="2" charset="-122"/>
            </a:endParaRPr>
          </a:p>
        </p:txBody>
      </p:sp>
      <p:sp>
        <p:nvSpPr>
          <p:cNvPr id="19" name="椭圆 18"/>
          <p:cNvSpPr/>
          <p:nvPr/>
        </p:nvSpPr>
        <p:spPr bwMode="auto">
          <a:xfrm>
            <a:off x="4399572" y="2834782"/>
            <a:ext cx="648053" cy="1458120"/>
          </a:xfrm>
          <a:prstGeom prst="ellipse">
            <a:avLst/>
          </a:prstGeom>
          <a:solidFill>
            <a:srgbClr val="00B0F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050" dirty="0">
                <a:latin typeface="Huawei Sans" panose="020C0503030203020204" pitchFamily="34" charset="0"/>
                <a:ea typeface="方正兰亭黑简体" panose="02000000000000000000" pitchFamily="2" charset="-122"/>
              </a:rPr>
              <a:t>X86</a:t>
            </a:r>
            <a:endParaRPr lang="zh-CN" altLang="en-US" sz="1050" dirty="0">
              <a:latin typeface="Huawei Sans" panose="020C0503030203020204" pitchFamily="34" charset="0"/>
              <a:ea typeface="方正兰亭黑简体" panose="02000000000000000000" pitchFamily="2" charset="-122"/>
            </a:endParaRPr>
          </a:p>
        </p:txBody>
      </p:sp>
      <p:sp>
        <p:nvSpPr>
          <p:cNvPr id="21" name="椭圆 20"/>
          <p:cNvSpPr/>
          <p:nvPr/>
        </p:nvSpPr>
        <p:spPr bwMode="auto">
          <a:xfrm>
            <a:off x="4615589" y="3993804"/>
            <a:ext cx="739233" cy="407108"/>
          </a:xfrm>
          <a:prstGeom prst="ellipse">
            <a:avLst/>
          </a:prstGeom>
          <a:solidFill>
            <a:schemeClr val="accent1">
              <a:lumMod val="75000"/>
            </a:schemeClr>
          </a:solidFill>
          <a:ln>
            <a:noFill/>
          </a:ln>
          <a:effec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MIPS</a:t>
            </a:r>
            <a:endParaRPr lang="zh-CN" altLang="en-US" sz="900" dirty="0">
              <a:latin typeface="Huawei Sans" panose="020C0503030203020204" pitchFamily="34" charset="0"/>
              <a:ea typeface="方正兰亭黑简体" panose="02000000000000000000" pitchFamily="2" charset="-122"/>
            </a:endParaRPr>
          </a:p>
        </p:txBody>
      </p:sp>
      <p:sp>
        <p:nvSpPr>
          <p:cNvPr id="20" name="椭圆 19"/>
          <p:cNvSpPr/>
          <p:nvPr/>
        </p:nvSpPr>
        <p:spPr bwMode="auto">
          <a:xfrm>
            <a:off x="3995323" y="3745507"/>
            <a:ext cx="674271" cy="925427"/>
          </a:xfrm>
          <a:prstGeom prst="ellipse">
            <a:avLst/>
          </a:prstGeom>
          <a:solidFill>
            <a:srgbClr val="FFFF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050" dirty="0">
                <a:latin typeface="Huawei Sans" panose="020C0503030203020204" pitchFamily="34" charset="0"/>
                <a:ea typeface="方正兰亭黑简体" panose="02000000000000000000" pitchFamily="2" charset="-122"/>
              </a:rPr>
              <a:t>ARM</a:t>
            </a:r>
            <a:endParaRPr lang="zh-CN" altLang="en-US" sz="1050" dirty="0">
              <a:latin typeface="Huawei Sans" panose="020C0503030203020204" pitchFamily="34" charset="0"/>
              <a:ea typeface="方正兰亭黑简体" panose="02000000000000000000" pitchFamily="2" charset="-122"/>
            </a:endParaRPr>
          </a:p>
        </p:txBody>
      </p:sp>
      <p:cxnSp>
        <p:nvCxnSpPr>
          <p:cNvPr id="23" name="直接连接符 22"/>
          <p:cNvCxnSpPr/>
          <p:nvPr/>
        </p:nvCxnSpPr>
        <p:spPr bwMode="auto">
          <a:xfrm>
            <a:off x="1157047" y="4961968"/>
            <a:ext cx="6696551" cy="0"/>
          </a:xfrm>
          <a:prstGeom prst="line">
            <a:avLst/>
          </a:prstGeom>
          <a:noFill/>
          <a:ln w="38100">
            <a:solidFill>
              <a:schemeClr val="tx1"/>
            </a:solidFill>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Box 24"/>
          <p:cNvSpPr txBox="1"/>
          <p:nvPr/>
        </p:nvSpPr>
        <p:spPr>
          <a:xfrm>
            <a:off x="736317" y="2474773"/>
            <a:ext cx="994156"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高端服务器</a:t>
            </a:r>
          </a:p>
        </p:txBody>
      </p:sp>
      <p:sp>
        <p:nvSpPr>
          <p:cNvPr id="26" name="TextBox 25"/>
          <p:cNvSpPr txBox="1"/>
          <p:nvPr/>
        </p:nvSpPr>
        <p:spPr>
          <a:xfrm>
            <a:off x="733581" y="3385528"/>
            <a:ext cx="1023783"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PC &amp; </a:t>
            </a:r>
            <a:r>
              <a:rPr lang="zh-CN" altLang="en-US" sz="1200" dirty="0">
                <a:latin typeface="Huawei Sans" panose="020C0503030203020204" pitchFamily="34" charset="0"/>
                <a:ea typeface="方正兰亭黑简体" panose="02000000000000000000" pitchFamily="2" charset="-122"/>
              </a:rPr>
              <a:t>服务器</a:t>
            </a:r>
          </a:p>
        </p:txBody>
      </p:sp>
      <p:sp>
        <p:nvSpPr>
          <p:cNvPr id="27" name="TextBox 26"/>
          <p:cNvSpPr txBox="1"/>
          <p:nvPr/>
        </p:nvSpPr>
        <p:spPr>
          <a:xfrm>
            <a:off x="733254" y="4311552"/>
            <a:ext cx="1297235" cy="46166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嵌入式</a:t>
            </a:r>
            <a:r>
              <a:rPr lang="en-US" altLang="zh-CN" sz="1200" dirty="0">
                <a:latin typeface="Huawei Sans" panose="020C0503030203020204" pitchFamily="34" charset="0"/>
                <a:ea typeface="方正兰亭黑简体" panose="02000000000000000000" pitchFamily="2" charset="-122"/>
              </a:rPr>
              <a:t>/</a:t>
            </a:r>
          </a:p>
          <a:p>
            <a:r>
              <a:rPr lang="zh-CN" altLang="en-US" sz="1200" dirty="0">
                <a:latin typeface="Huawei Sans" panose="020C0503030203020204" pitchFamily="34" charset="0"/>
                <a:ea typeface="方正兰亭黑简体" panose="02000000000000000000" pitchFamily="2" charset="-122"/>
              </a:rPr>
              <a:t>移动</a:t>
            </a:r>
            <a:r>
              <a:rPr lang="en-US" altLang="zh-CN" sz="1200" dirty="0">
                <a:latin typeface="Huawei Sans" panose="020C0503030203020204" pitchFamily="34" charset="0"/>
                <a:ea typeface="方正兰亭黑简体" panose="02000000000000000000" pitchFamily="2" charset="-122"/>
              </a:rPr>
              <a:t>/</a:t>
            </a:r>
            <a:r>
              <a:rPr lang="zh-CN" altLang="en-US" sz="1200" dirty="0">
                <a:latin typeface="Huawei Sans" panose="020C0503030203020204" pitchFamily="34" charset="0"/>
                <a:ea typeface="方正兰亭黑简体" panose="02000000000000000000" pitchFamily="2" charset="-122"/>
              </a:rPr>
              <a:t>消费</a:t>
            </a:r>
          </a:p>
        </p:txBody>
      </p:sp>
      <p:sp>
        <p:nvSpPr>
          <p:cNvPr id="4" name="椭圆 3"/>
          <p:cNvSpPr/>
          <p:nvPr/>
        </p:nvSpPr>
        <p:spPr bwMode="auto">
          <a:xfrm>
            <a:off x="1657383" y="2317281"/>
            <a:ext cx="1045180" cy="669128"/>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200" dirty="0">
                <a:latin typeface="Huawei Sans" panose="020C0503030203020204" pitchFamily="34" charset="0"/>
                <a:ea typeface="方正兰亭黑简体" panose="02000000000000000000" pitchFamily="2" charset="-122"/>
              </a:rPr>
              <a:t>POWER</a:t>
            </a:r>
            <a:endParaRPr lang="zh-CN" altLang="en-US" sz="1200" dirty="0">
              <a:latin typeface="Huawei Sans" panose="020C0503030203020204" pitchFamily="34" charset="0"/>
              <a:ea typeface="方正兰亭黑简体" panose="02000000000000000000" pitchFamily="2" charset="-122"/>
            </a:endParaRPr>
          </a:p>
        </p:txBody>
      </p:sp>
      <p:sp>
        <p:nvSpPr>
          <p:cNvPr id="5" name="椭圆 4"/>
          <p:cNvSpPr/>
          <p:nvPr/>
        </p:nvSpPr>
        <p:spPr bwMode="auto">
          <a:xfrm>
            <a:off x="2629471" y="2499771"/>
            <a:ext cx="852767" cy="188356"/>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PA-RISC</a:t>
            </a:r>
            <a:endParaRPr lang="zh-CN" altLang="en-US" sz="900" dirty="0">
              <a:latin typeface="Huawei Sans" panose="020C0503030203020204" pitchFamily="34" charset="0"/>
              <a:ea typeface="方正兰亭黑简体" panose="02000000000000000000" pitchFamily="2" charset="-122"/>
            </a:endParaRPr>
          </a:p>
        </p:txBody>
      </p:sp>
      <p:sp>
        <p:nvSpPr>
          <p:cNvPr id="7" name="椭圆 6"/>
          <p:cNvSpPr/>
          <p:nvPr/>
        </p:nvSpPr>
        <p:spPr bwMode="auto">
          <a:xfrm>
            <a:off x="2629471" y="2256452"/>
            <a:ext cx="872108" cy="201815"/>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SPARC</a:t>
            </a:r>
            <a:endParaRPr lang="zh-CN" altLang="en-US" sz="900" dirty="0">
              <a:latin typeface="Huawei Sans" panose="020C0503030203020204" pitchFamily="34" charset="0"/>
              <a:ea typeface="方正兰亭黑简体" panose="02000000000000000000" pitchFamily="2" charset="-122"/>
            </a:endParaRPr>
          </a:p>
        </p:txBody>
      </p:sp>
      <p:sp>
        <p:nvSpPr>
          <p:cNvPr id="8" name="椭圆 7"/>
          <p:cNvSpPr/>
          <p:nvPr/>
        </p:nvSpPr>
        <p:spPr bwMode="auto">
          <a:xfrm>
            <a:off x="2629472" y="2743091"/>
            <a:ext cx="809322" cy="21486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Itanium</a:t>
            </a:r>
            <a:endParaRPr lang="zh-CN" altLang="en-US" sz="900" dirty="0">
              <a:latin typeface="Huawei Sans" panose="020C0503030203020204" pitchFamily="34" charset="0"/>
              <a:ea typeface="方正兰亭黑简体" panose="02000000000000000000" pitchFamily="2" charset="-122"/>
            </a:endParaRPr>
          </a:p>
        </p:txBody>
      </p:sp>
      <p:sp>
        <p:nvSpPr>
          <p:cNvPr id="9" name="椭圆 8"/>
          <p:cNvSpPr/>
          <p:nvPr/>
        </p:nvSpPr>
        <p:spPr bwMode="auto">
          <a:xfrm>
            <a:off x="2660617" y="3768639"/>
            <a:ext cx="809814" cy="304148"/>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Moto 68K</a:t>
            </a:r>
            <a:endParaRPr lang="zh-CN" altLang="en-US" sz="900" dirty="0">
              <a:latin typeface="Huawei Sans" panose="020C0503030203020204" pitchFamily="34" charset="0"/>
              <a:ea typeface="方正兰亭黑简体" panose="02000000000000000000" pitchFamily="2" charset="-122"/>
            </a:endParaRPr>
          </a:p>
        </p:txBody>
      </p:sp>
      <p:sp>
        <p:nvSpPr>
          <p:cNvPr id="10" name="椭圆 9"/>
          <p:cNvSpPr/>
          <p:nvPr/>
        </p:nvSpPr>
        <p:spPr bwMode="auto">
          <a:xfrm>
            <a:off x="1757364" y="3047240"/>
            <a:ext cx="934401" cy="973277"/>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200" dirty="0">
                <a:latin typeface="Huawei Sans" panose="020C0503030203020204" pitchFamily="34" charset="0"/>
                <a:ea typeface="方正兰亭黑简体" panose="02000000000000000000" pitchFamily="2" charset="-122"/>
              </a:rPr>
              <a:t>X86</a:t>
            </a:r>
            <a:endParaRPr lang="zh-CN" altLang="en-US" sz="1200" dirty="0">
              <a:latin typeface="Huawei Sans" panose="020C0503030203020204" pitchFamily="34" charset="0"/>
              <a:ea typeface="方正兰亭黑简体" panose="02000000000000000000" pitchFamily="2" charset="-122"/>
            </a:endParaRPr>
          </a:p>
        </p:txBody>
      </p:sp>
      <p:sp>
        <p:nvSpPr>
          <p:cNvPr id="11" name="椭圆 10"/>
          <p:cNvSpPr/>
          <p:nvPr/>
        </p:nvSpPr>
        <p:spPr bwMode="auto">
          <a:xfrm>
            <a:off x="2754058" y="3473049"/>
            <a:ext cx="622934"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MIPS</a:t>
            </a:r>
            <a:endParaRPr lang="zh-CN" altLang="en-US" sz="900" dirty="0">
              <a:latin typeface="Huawei Sans" panose="020C0503030203020204" pitchFamily="34" charset="0"/>
              <a:ea typeface="方正兰亭黑简体" panose="02000000000000000000" pitchFamily="2" charset="-122"/>
            </a:endParaRPr>
          </a:p>
        </p:txBody>
      </p:sp>
      <p:sp>
        <p:nvSpPr>
          <p:cNvPr id="12" name="椭圆 11"/>
          <p:cNvSpPr/>
          <p:nvPr/>
        </p:nvSpPr>
        <p:spPr bwMode="auto">
          <a:xfrm>
            <a:off x="1944244" y="4081348"/>
            <a:ext cx="622934"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PPC</a:t>
            </a:r>
            <a:endParaRPr lang="zh-CN" altLang="en-US" sz="900" dirty="0">
              <a:latin typeface="Huawei Sans" panose="020C0503030203020204" pitchFamily="34" charset="0"/>
              <a:ea typeface="方正兰亭黑简体" panose="02000000000000000000" pitchFamily="2" charset="-122"/>
            </a:endParaRPr>
          </a:p>
        </p:txBody>
      </p:sp>
      <p:sp>
        <p:nvSpPr>
          <p:cNvPr id="13" name="椭圆 12"/>
          <p:cNvSpPr/>
          <p:nvPr/>
        </p:nvSpPr>
        <p:spPr bwMode="auto">
          <a:xfrm>
            <a:off x="1928451" y="4385497"/>
            <a:ext cx="622934" cy="486638"/>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ARM</a:t>
            </a:r>
            <a:endParaRPr lang="zh-CN" altLang="en-US" sz="900" dirty="0">
              <a:latin typeface="Huawei Sans" panose="020C0503030203020204" pitchFamily="34" charset="0"/>
              <a:ea typeface="方正兰亭黑简体" panose="02000000000000000000" pitchFamily="2" charset="-122"/>
            </a:endParaRPr>
          </a:p>
        </p:txBody>
      </p:sp>
      <p:sp>
        <p:nvSpPr>
          <p:cNvPr id="16" name="椭圆 15"/>
          <p:cNvSpPr/>
          <p:nvPr/>
        </p:nvSpPr>
        <p:spPr bwMode="auto">
          <a:xfrm>
            <a:off x="1819657" y="2061400"/>
            <a:ext cx="747521"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Z</a:t>
            </a:r>
            <a:endParaRPr lang="zh-CN" altLang="en-US" sz="900" dirty="0">
              <a:latin typeface="Huawei Sans" panose="020C0503030203020204" pitchFamily="34" charset="0"/>
              <a:ea typeface="方正兰亭黑简体" panose="02000000000000000000" pitchFamily="2" charset="-122"/>
            </a:endParaRPr>
          </a:p>
        </p:txBody>
      </p:sp>
      <p:sp>
        <p:nvSpPr>
          <p:cNvPr id="28" name="椭圆 27"/>
          <p:cNvSpPr/>
          <p:nvPr/>
        </p:nvSpPr>
        <p:spPr bwMode="auto">
          <a:xfrm>
            <a:off x="2629471" y="4507155"/>
            <a:ext cx="622934"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DSP</a:t>
            </a:r>
            <a:endParaRPr lang="zh-CN" altLang="en-US" sz="900" dirty="0">
              <a:latin typeface="Huawei Sans" panose="020C0503030203020204" pitchFamily="34" charset="0"/>
              <a:ea typeface="方正兰亭黑简体" panose="02000000000000000000" pitchFamily="2" charset="-122"/>
            </a:endParaRPr>
          </a:p>
        </p:txBody>
      </p:sp>
      <p:sp>
        <p:nvSpPr>
          <p:cNvPr id="29" name="椭圆 28"/>
          <p:cNvSpPr/>
          <p:nvPr/>
        </p:nvSpPr>
        <p:spPr bwMode="auto">
          <a:xfrm>
            <a:off x="2629471" y="4203007"/>
            <a:ext cx="622934"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NP</a:t>
            </a:r>
            <a:endParaRPr lang="zh-CN" altLang="en-US" sz="900" dirty="0">
              <a:latin typeface="Huawei Sans" panose="020C0503030203020204" pitchFamily="34" charset="0"/>
              <a:ea typeface="方正兰亭黑简体" panose="02000000000000000000" pitchFamily="2" charset="-122"/>
            </a:endParaRPr>
          </a:p>
        </p:txBody>
      </p:sp>
      <p:cxnSp>
        <p:nvCxnSpPr>
          <p:cNvPr id="32" name="直接连接符 31"/>
          <p:cNvCxnSpPr/>
          <p:nvPr/>
        </p:nvCxnSpPr>
        <p:spPr bwMode="auto">
          <a:xfrm>
            <a:off x="1165728" y="4132895"/>
            <a:ext cx="6737932" cy="0"/>
          </a:xfrm>
          <a:prstGeom prst="line">
            <a:avLst/>
          </a:prstGeom>
          <a:noFill/>
          <a:ln>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p:cNvCxnSpPr/>
          <p:nvPr/>
        </p:nvCxnSpPr>
        <p:spPr bwMode="auto">
          <a:xfrm flipV="1">
            <a:off x="1166360" y="3129786"/>
            <a:ext cx="6803672" cy="29967"/>
          </a:xfrm>
          <a:prstGeom prst="line">
            <a:avLst/>
          </a:prstGeom>
          <a:noFill/>
          <a:ln>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矩形标注 38"/>
          <p:cNvSpPr/>
          <p:nvPr/>
        </p:nvSpPr>
        <p:spPr bwMode="auto">
          <a:xfrm>
            <a:off x="4345566" y="4670933"/>
            <a:ext cx="1468572" cy="194073"/>
          </a:xfrm>
          <a:prstGeom prst="wedgeRectCallout">
            <a:avLst>
              <a:gd name="adj1" fmla="val -37764"/>
              <a:gd name="adj2" fmla="val -124805"/>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t" anchorCtr="0" compatLnSpc="1">
            <a:prstTxWarp prst="textNoShape">
              <a:avLst/>
            </a:prstTxWarp>
          </a:bodyPr>
          <a:lstStyle/>
          <a:p>
            <a:pPr defTabSz="685732">
              <a:buClr>
                <a:srgbClr val="CC9900"/>
              </a:buClr>
            </a:pPr>
            <a:r>
              <a:rPr lang="zh-CN" altLang="en-US" sz="1050" dirty="0">
                <a:latin typeface="Huawei Sans" panose="020C0503030203020204" pitchFamily="34" charset="0"/>
                <a:ea typeface="方正兰亭黑简体" panose="02000000000000000000" pitchFamily="2" charset="-122"/>
              </a:rPr>
              <a:t>完全开放，生态良好</a:t>
            </a:r>
          </a:p>
        </p:txBody>
      </p:sp>
      <p:sp>
        <p:nvSpPr>
          <p:cNvPr id="41" name="TextBox 40"/>
          <p:cNvSpPr txBox="1"/>
          <p:nvPr/>
        </p:nvSpPr>
        <p:spPr>
          <a:xfrm>
            <a:off x="7141483" y="2273216"/>
            <a:ext cx="530915" cy="300082"/>
          </a:xfrm>
          <a:prstGeom prst="rect">
            <a:avLst/>
          </a:prstGeom>
          <a:noFill/>
        </p:spPr>
        <p:txBody>
          <a:bodyPr wrap="none" rtlCol="0">
            <a:spAutoFit/>
          </a:bodyPr>
          <a:lstStyle/>
          <a:p>
            <a:r>
              <a:rPr lang="zh-CN" altLang="en-US" sz="1350" dirty="0">
                <a:solidFill>
                  <a:srgbClr val="990000"/>
                </a:solidFill>
                <a:latin typeface="Huawei Sans" panose="020C0503030203020204" pitchFamily="34" charset="0"/>
                <a:ea typeface="方正兰亭黑简体" panose="02000000000000000000" pitchFamily="2" charset="-122"/>
              </a:rPr>
              <a:t>众核</a:t>
            </a:r>
          </a:p>
        </p:txBody>
      </p:sp>
      <p:sp>
        <p:nvSpPr>
          <p:cNvPr id="42" name="TextBox 41"/>
          <p:cNvSpPr txBox="1"/>
          <p:nvPr/>
        </p:nvSpPr>
        <p:spPr>
          <a:xfrm>
            <a:off x="7203292" y="3299302"/>
            <a:ext cx="530915" cy="300082"/>
          </a:xfrm>
          <a:prstGeom prst="rect">
            <a:avLst/>
          </a:prstGeom>
          <a:noFill/>
        </p:spPr>
        <p:txBody>
          <a:bodyPr wrap="none" rtlCol="0">
            <a:spAutoFit/>
          </a:bodyPr>
          <a:lstStyle/>
          <a:p>
            <a:r>
              <a:rPr lang="zh-CN" altLang="en-US" sz="1350" dirty="0">
                <a:solidFill>
                  <a:srgbClr val="990000"/>
                </a:solidFill>
                <a:latin typeface="Huawei Sans" panose="020C0503030203020204" pitchFamily="34" charset="0"/>
                <a:ea typeface="方正兰亭黑简体" panose="02000000000000000000" pitchFamily="2" charset="-122"/>
              </a:rPr>
              <a:t>异构</a:t>
            </a:r>
          </a:p>
        </p:txBody>
      </p:sp>
      <p:sp>
        <p:nvSpPr>
          <p:cNvPr id="43" name="TextBox 42"/>
          <p:cNvSpPr txBox="1"/>
          <p:nvPr/>
        </p:nvSpPr>
        <p:spPr>
          <a:xfrm>
            <a:off x="7230295" y="4151854"/>
            <a:ext cx="530915" cy="300082"/>
          </a:xfrm>
          <a:prstGeom prst="rect">
            <a:avLst/>
          </a:prstGeom>
          <a:noFill/>
        </p:spPr>
        <p:txBody>
          <a:bodyPr wrap="none" rtlCol="0">
            <a:spAutoFit/>
          </a:bodyPr>
          <a:lstStyle/>
          <a:p>
            <a:r>
              <a:rPr lang="zh-CN" altLang="en-US" sz="1350" dirty="0">
                <a:solidFill>
                  <a:srgbClr val="990000"/>
                </a:solidFill>
                <a:latin typeface="Huawei Sans" panose="020C0503030203020204" pitchFamily="34" charset="0"/>
                <a:ea typeface="方正兰亭黑简体" panose="02000000000000000000" pitchFamily="2" charset="-122"/>
              </a:rPr>
              <a:t>融合</a:t>
            </a:r>
          </a:p>
        </p:txBody>
      </p:sp>
      <p:sp>
        <p:nvSpPr>
          <p:cNvPr id="44" name="矩形标注 43"/>
          <p:cNvSpPr/>
          <p:nvPr/>
        </p:nvSpPr>
        <p:spPr bwMode="auto">
          <a:xfrm>
            <a:off x="4777602" y="4421925"/>
            <a:ext cx="1489529" cy="199484"/>
          </a:xfrm>
          <a:prstGeom prst="wedgeRectCallout">
            <a:avLst>
              <a:gd name="adj1" fmla="val -37764"/>
              <a:gd name="adj2" fmla="val -124805"/>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t" anchorCtr="0" compatLnSpc="1">
            <a:prstTxWarp prst="textNoShape">
              <a:avLst/>
            </a:prstTxWarp>
          </a:bodyPr>
          <a:lstStyle/>
          <a:p>
            <a:pPr defTabSz="685732">
              <a:buClr>
                <a:srgbClr val="CC9900"/>
              </a:buClr>
            </a:pPr>
            <a:r>
              <a:rPr lang="zh-CN" altLang="en-US" sz="1050" dirty="0">
                <a:latin typeface="Huawei Sans" panose="020C0503030203020204" pitchFamily="34" charset="0"/>
                <a:ea typeface="方正兰亭黑简体" panose="02000000000000000000" pitchFamily="2" charset="-122"/>
              </a:rPr>
              <a:t>学习</a:t>
            </a:r>
            <a:r>
              <a:rPr lang="en-US" altLang="zh-CN" sz="1050" dirty="0">
                <a:latin typeface="Huawei Sans" panose="020C0503030203020204" pitchFamily="34" charset="0"/>
                <a:ea typeface="方正兰亭黑简体" panose="02000000000000000000" pitchFamily="2" charset="-122"/>
              </a:rPr>
              <a:t>ARM</a:t>
            </a:r>
            <a:r>
              <a:rPr lang="zh-CN" altLang="en-US" sz="1050" dirty="0">
                <a:latin typeface="Huawei Sans" panose="020C0503030203020204" pitchFamily="34" charset="0"/>
                <a:ea typeface="方正兰亭黑简体" panose="02000000000000000000" pitchFamily="2" charset="-122"/>
              </a:rPr>
              <a:t>，谋求复生</a:t>
            </a:r>
          </a:p>
        </p:txBody>
      </p:sp>
      <p:sp>
        <p:nvSpPr>
          <p:cNvPr id="45" name="矩形标注 44"/>
          <p:cNvSpPr/>
          <p:nvPr/>
        </p:nvSpPr>
        <p:spPr bwMode="auto">
          <a:xfrm>
            <a:off x="4546756" y="2150447"/>
            <a:ext cx="461690" cy="237151"/>
          </a:xfrm>
          <a:prstGeom prst="wedgeRectCallout">
            <a:avLst>
              <a:gd name="adj1" fmla="val -32926"/>
              <a:gd name="adj2" fmla="val 192660"/>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t" anchorCtr="0" compatLnSpc="1">
            <a:prstTxWarp prst="textNoShape">
              <a:avLst/>
            </a:prstTxWarp>
          </a:bodyPr>
          <a:lstStyle/>
          <a:p>
            <a:pPr defTabSz="685732">
              <a:buClr>
                <a:srgbClr val="CC9900"/>
              </a:buClr>
            </a:pPr>
            <a:r>
              <a:rPr lang="zh-CN" altLang="en-US" sz="1050" dirty="0">
                <a:latin typeface="Huawei Sans" panose="020C0503030203020204" pitchFamily="34" charset="0"/>
                <a:ea typeface="方正兰亭黑简体" panose="02000000000000000000" pitchFamily="2" charset="-122"/>
              </a:rPr>
              <a:t>开放</a:t>
            </a:r>
          </a:p>
        </p:txBody>
      </p:sp>
      <p:sp>
        <p:nvSpPr>
          <p:cNvPr id="46" name="矩形标注 45"/>
          <p:cNvSpPr/>
          <p:nvPr/>
        </p:nvSpPr>
        <p:spPr bwMode="auto">
          <a:xfrm>
            <a:off x="5155633" y="3320823"/>
            <a:ext cx="756062" cy="208888"/>
          </a:xfrm>
          <a:prstGeom prst="wedgeRectCallout">
            <a:avLst>
              <a:gd name="adj1" fmla="val -95183"/>
              <a:gd name="adj2" fmla="val 155623"/>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t" anchorCtr="0" compatLnSpc="1">
            <a:prstTxWarp prst="textNoShape">
              <a:avLst/>
            </a:prstTxWarp>
          </a:bodyPr>
          <a:lstStyle/>
          <a:p>
            <a:pPr defTabSz="685732">
              <a:buClr>
                <a:srgbClr val="CC9900"/>
              </a:buClr>
            </a:pPr>
            <a:r>
              <a:rPr lang="zh-CN" altLang="en-US" sz="1050" dirty="0">
                <a:latin typeface="Huawei Sans" panose="020C0503030203020204" pitchFamily="34" charset="0"/>
                <a:ea typeface="方正兰亭黑简体" panose="02000000000000000000" pitchFamily="2" charset="-122"/>
              </a:rPr>
              <a:t>封闭架构</a:t>
            </a:r>
          </a:p>
        </p:txBody>
      </p:sp>
      <p:sp>
        <p:nvSpPr>
          <p:cNvPr id="49" name="TextBox 48"/>
          <p:cNvSpPr txBox="1"/>
          <p:nvPr/>
        </p:nvSpPr>
        <p:spPr>
          <a:xfrm>
            <a:off x="6351182" y="2630938"/>
            <a:ext cx="1912469" cy="46166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内核数量大量增加，处理器互联。</a:t>
            </a:r>
          </a:p>
        </p:txBody>
      </p:sp>
      <p:sp>
        <p:nvSpPr>
          <p:cNvPr id="50" name="TextBox 49"/>
          <p:cNvSpPr txBox="1"/>
          <p:nvPr/>
        </p:nvSpPr>
        <p:spPr>
          <a:xfrm>
            <a:off x="6351181" y="3682051"/>
            <a:ext cx="140615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CPU+GPGPU+FPGA</a:t>
            </a:r>
            <a:endParaRPr lang="zh-CN" altLang="en-US" sz="1200" dirty="0">
              <a:latin typeface="Huawei Sans" panose="020C0503030203020204" pitchFamily="34" charset="0"/>
              <a:ea typeface="方正兰亭黑简体" panose="02000000000000000000" pitchFamily="2" charset="-122"/>
            </a:endParaRPr>
          </a:p>
        </p:txBody>
      </p:sp>
      <p:sp>
        <p:nvSpPr>
          <p:cNvPr id="51" name="TextBox 50"/>
          <p:cNvSpPr txBox="1"/>
          <p:nvPr/>
        </p:nvSpPr>
        <p:spPr>
          <a:xfrm>
            <a:off x="6375138" y="4358699"/>
            <a:ext cx="1872156" cy="646331"/>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内存体系重构，</a:t>
            </a:r>
            <a:r>
              <a:rPr lang="en-US" altLang="zh-CN" sz="1200" dirty="0">
                <a:latin typeface="Huawei Sans" panose="020C0503030203020204" pitchFamily="34" charset="0"/>
                <a:ea typeface="方正兰亭黑简体" panose="02000000000000000000" pitchFamily="2" charset="-122"/>
              </a:rPr>
              <a:t>CPU/</a:t>
            </a:r>
            <a:r>
              <a:rPr lang="zh-CN" altLang="en-US" sz="1200" dirty="0">
                <a:latin typeface="Huawei Sans" panose="020C0503030203020204" pitchFamily="34" charset="0"/>
                <a:ea typeface="方正兰亭黑简体" panose="02000000000000000000" pitchFamily="2" charset="-122"/>
              </a:rPr>
              <a:t>内存深度融合，内存更贴近计算。</a:t>
            </a:r>
          </a:p>
        </p:txBody>
      </p:sp>
      <p:sp>
        <p:nvSpPr>
          <p:cNvPr id="52" name="TextBox 51"/>
          <p:cNvSpPr txBox="1"/>
          <p:nvPr/>
        </p:nvSpPr>
        <p:spPr>
          <a:xfrm>
            <a:off x="1265057" y="5015973"/>
            <a:ext cx="2031325"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rPr>
              <a:t>过去：架构众多，百花齐放</a:t>
            </a:r>
          </a:p>
        </p:txBody>
      </p:sp>
      <p:sp>
        <p:nvSpPr>
          <p:cNvPr id="53" name="TextBox 52"/>
          <p:cNvSpPr txBox="1"/>
          <p:nvPr/>
        </p:nvSpPr>
        <p:spPr>
          <a:xfrm>
            <a:off x="3695256" y="5015973"/>
            <a:ext cx="2031325"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rPr>
              <a:t>现在：生态成熟，架构垄断</a:t>
            </a:r>
          </a:p>
        </p:txBody>
      </p:sp>
      <p:sp>
        <p:nvSpPr>
          <p:cNvPr id="55" name="TextBox 54"/>
          <p:cNvSpPr txBox="1"/>
          <p:nvPr/>
        </p:nvSpPr>
        <p:spPr>
          <a:xfrm>
            <a:off x="5948860" y="5011289"/>
            <a:ext cx="2800767"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rPr>
              <a:t>未来：摩尔定律失效，寻求多方向突破</a:t>
            </a:r>
          </a:p>
        </p:txBody>
      </p:sp>
      <p:pic>
        <p:nvPicPr>
          <p:cNvPr id="38" name="图片 37">
            <a:extLst>
              <a:ext uri="{FF2B5EF4-FFF2-40B4-BE49-F238E27FC236}">
                <a16:creationId xmlns:a16="http://schemas.microsoft.com/office/drawing/2014/main" id="{1226394B-DBDC-4D30-8CAF-2596D6277066}"/>
              </a:ext>
            </a:extLst>
          </p:cNvPr>
          <p:cNvPicPr>
            <a:picLocks noChangeAspect="1"/>
          </p:cNvPicPr>
          <p:nvPr/>
        </p:nvPicPr>
        <p:blipFill>
          <a:blip r:embed="rId3"/>
          <a:stretch>
            <a:fillRect/>
          </a:stretch>
        </p:blipFill>
        <p:spPr>
          <a:xfrm>
            <a:off x="5744218" y="6296232"/>
            <a:ext cx="2676525" cy="228600"/>
          </a:xfrm>
          <a:prstGeom prst="rect">
            <a:avLst/>
          </a:prstGeom>
        </p:spPr>
      </p:pic>
      <p:sp>
        <p:nvSpPr>
          <p:cNvPr id="2" name="日期占位符 1">
            <a:extLst>
              <a:ext uri="{FF2B5EF4-FFF2-40B4-BE49-F238E27FC236}">
                <a16:creationId xmlns:a16="http://schemas.microsoft.com/office/drawing/2014/main" id="{4E9E8624-9857-2DCB-A176-2182891E4838}"/>
              </a:ext>
            </a:extLst>
          </p:cNvPr>
          <p:cNvSpPr>
            <a:spLocks noGrp="1"/>
          </p:cNvSpPr>
          <p:nvPr>
            <p:ph type="dt" sz="half" idx="11"/>
          </p:nvPr>
        </p:nvSpPr>
        <p:spPr/>
        <p:txBody>
          <a:bodyPr/>
          <a:lstStyle/>
          <a:p>
            <a:pPr>
              <a:defRPr/>
            </a:pPr>
            <a:fld id="{B615ECFA-CBAD-4ECC-B27D-A9BAD2E67D1E}" type="datetime1">
              <a:rPr lang="zh-CN" altLang="en-US" smtClean="0"/>
              <a:t>2025/9/10</a:t>
            </a:fld>
            <a:endParaRPr lang="en-US" altLang="zh-CN"/>
          </a:p>
        </p:txBody>
      </p:sp>
      <p:sp>
        <p:nvSpPr>
          <p:cNvPr id="3" name="灯片编号占位符 2">
            <a:extLst>
              <a:ext uri="{FF2B5EF4-FFF2-40B4-BE49-F238E27FC236}">
                <a16:creationId xmlns:a16="http://schemas.microsoft.com/office/drawing/2014/main" id="{E23F19B2-B2D9-70CF-84C6-6203095DB5E1}"/>
              </a:ext>
            </a:extLst>
          </p:cNvPr>
          <p:cNvSpPr>
            <a:spLocks noGrp="1"/>
          </p:cNvSpPr>
          <p:nvPr>
            <p:ph type="sldNum" sz="quarter" idx="13"/>
          </p:nvPr>
        </p:nvSpPr>
        <p:spPr/>
        <p:txBody>
          <a:bodyPr/>
          <a:lstStyle/>
          <a:p>
            <a:pPr>
              <a:defRPr/>
            </a:pPr>
            <a:fld id="{8BCAC33D-D29A-48B3-BCD6-381D3D720D26}" type="slidenum">
              <a:rPr lang="zh-CN" altLang="en-US" smtClean="0"/>
              <a:pPr>
                <a:defRPr/>
              </a:pPr>
              <a:t>42</a:t>
            </a:fld>
            <a:endParaRPr lang="en-US" altLang="zh-CN"/>
          </a:p>
        </p:txBody>
      </p:sp>
      <p:sp>
        <p:nvSpPr>
          <p:cNvPr id="6" name="页脚占位符 5">
            <a:extLst>
              <a:ext uri="{FF2B5EF4-FFF2-40B4-BE49-F238E27FC236}">
                <a16:creationId xmlns:a16="http://schemas.microsoft.com/office/drawing/2014/main" id="{F748578E-88FA-1790-76FA-94B0CAF1DB0E}"/>
              </a:ext>
            </a:extLst>
          </p:cNvPr>
          <p:cNvSpPr>
            <a:spLocks noGrp="1"/>
          </p:cNvSpPr>
          <p:nvPr>
            <p:ph type="ftr" sz="quarter" idx="12"/>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1922298807"/>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noAutofit/>
          </a:bodyPr>
          <a:lstStyle/>
          <a:p>
            <a:r>
              <a:rPr lang="zh-CN" altLang="en-US" sz="3600" b="1" dirty="0">
                <a:latin typeface="Times New Roman" panose="02020603050405020304" pitchFamily="18" charset="0"/>
                <a:ea typeface="+mn-ea"/>
                <a:cs typeface="Times New Roman" panose="02020603050405020304" pitchFamily="18" charset="0"/>
              </a:rPr>
              <a:t>主流</a:t>
            </a:r>
            <a:r>
              <a:rPr lang="en-US" altLang="zh-CN" sz="3600" b="1" dirty="0">
                <a:latin typeface="Times New Roman" panose="02020603050405020304" pitchFamily="18" charset="0"/>
                <a:ea typeface="+mn-ea"/>
                <a:cs typeface="Times New Roman" panose="02020603050405020304" pitchFamily="18" charset="0"/>
              </a:rPr>
              <a:t>CPU</a:t>
            </a:r>
            <a:r>
              <a:rPr lang="zh-CN" altLang="en-US" sz="3600" b="1" dirty="0">
                <a:latin typeface="Times New Roman" panose="02020603050405020304" pitchFamily="18" charset="0"/>
                <a:ea typeface="+mn-ea"/>
                <a:cs typeface="Times New Roman" panose="02020603050405020304" pitchFamily="18" charset="0"/>
              </a:rPr>
              <a:t>发展路径</a:t>
            </a:r>
          </a:p>
        </p:txBody>
      </p:sp>
      <p:cxnSp>
        <p:nvCxnSpPr>
          <p:cNvPr id="7" name="直接箭头连接符 6"/>
          <p:cNvCxnSpPr/>
          <p:nvPr/>
        </p:nvCxnSpPr>
        <p:spPr bwMode="auto">
          <a:xfrm flipV="1">
            <a:off x="1249275" y="1781817"/>
            <a:ext cx="0" cy="35913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直接箭头连接符 9"/>
          <p:cNvCxnSpPr/>
          <p:nvPr/>
        </p:nvCxnSpPr>
        <p:spPr bwMode="auto">
          <a:xfrm>
            <a:off x="1249275" y="5373216"/>
            <a:ext cx="691276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矩形 11"/>
          <p:cNvSpPr/>
          <p:nvPr/>
        </p:nvSpPr>
        <p:spPr bwMode="auto">
          <a:xfrm>
            <a:off x="1412418" y="5397369"/>
            <a:ext cx="810090" cy="21919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1050" b="0" dirty="0">
                <a:latin typeface="Huawei Sans" panose="020C0503030203020204" pitchFamily="34" charset="0"/>
                <a:ea typeface="方正兰亭黑简体" panose="02000000000000000000" pitchFamily="2" charset="-122"/>
              </a:rPr>
              <a:t>1970s</a:t>
            </a:r>
            <a:endParaRPr kumimoji="0" lang="zh-CN" altLang="en-US" sz="1050" b="0" dirty="0">
              <a:latin typeface="Huawei Sans" panose="020C0503030203020204" pitchFamily="34" charset="0"/>
              <a:ea typeface="方正兰亭黑简体" panose="02000000000000000000" pitchFamily="2" charset="-122"/>
            </a:endParaRPr>
          </a:p>
        </p:txBody>
      </p:sp>
      <p:sp>
        <p:nvSpPr>
          <p:cNvPr id="14" name="矩形 13"/>
          <p:cNvSpPr/>
          <p:nvPr/>
        </p:nvSpPr>
        <p:spPr bwMode="auto">
          <a:xfrm>
            <a:off x="3496798" y="5403293"/>
            <a:ext cx="2476910" cy="207132"/>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1050" b="0" dirty="0">
                <a:latin typeface="Huawei Sans" panose="020C0503030203020204" pitchFamily="34" charset="0"/>
                <a:ea typeface="方正兰亭黑简体" panose="02000000000000000000" pitchFamily="2" charset="-122"/>
              </a:rPr>
              <a:t>1990s</a:t>
            </a:r>
          </a:p>
        </p:txBody>
      </p:sp>
      <p:sp>
        <p:nvSpPr>
          <p:cNvPr id="15" name="矩形 14"/>
          <p:cNvSpPr/>
          <p:nvPr/>
        </p:nvSpPr>
        <p:spPr bwMode="auto">
          <a:xfrm>
            <a:off x="2501333" y="5404937"/>
            <a:ext cx="810090" cy="211623"/>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1050" b="0" dirty="0">
                <a:latin typeface="Huawei Sans" panose="020C0503030203020204" pitchFamily="34" charset="0"/>
                <a:ea typeface="方正兰亭黑简体" panose="02000000000000000000" pitchFamily="2" charset="-122"/>
              </a:rPr>
              <a:t>1980s</a:t>
            </a:r>
            <a:endParaRPr kumimoji="0" lang="zh-CN" altLang="en-US" sz="1050" b="0" dirty="0">
              <a:latin typeface="Huawei Sans" panose="020C0503030203020204" pitchFamily="34" charset="0"/>
              <a:ea typeface="方正兰亭黑简体" panose="02000000000000000000" pitchFamily="2" charset="-122"/>
            </a:endParaRPr>
          </a:p>
        </p:txBody>
      </p:sp>
      <p:sp>
        <p:nvSpPr>
          <p:cNvPr id="16" name="矩形 15"/>
          <p:cNvSpPr/>
          <p:nvPr/>
        </p:nvSpPr>
        <p:spPr bwMode="auto">
          <a:xfrm>
            <a:off x="6138859" y="5413144"/>
            <a:ext cx="1942465" cy="207132"/>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lang="en-US" altLang="zh-CN" sz="1050" dirty="0">
                <a:latin typeface="Huawei Sans" panose="020C0503030203020204" pitchFamily="34" charset="0"/>
                <a:ea typeface="方正兰亭黑简体" panose="02000000000000000000" pitchFamily="2" charset="-122"/>
              </a:rPr>
              <a:t>2000s</a:t>
            </a:r>
            <a:endParaRPr kumimoji="0" lang="zh-CN" altLang="en-US" sz="1050" b="0" dirty="0">
              <a:latin typeface="Huawei Sans" panose="020C0503030203020204" pitchFamily="34" charset="0"/>
              <a:ea typeface="方正兰亭黑简体" panose="02000000000000000000" pitchFamily="2" charset="-122"/>
            </a:endParaRPr>
          </a:p>
        </p:txBody>
      </p:sp>
      <p:sp>
        <p:nvSpPr>
          <p:cNvPr id="13" name="矩形 12"/>
          <p:cNvSpPr/>
          <p:nvPr/>
        </p:nvSpPr>
        <p:spPr bwMode="auto">
          <a:xfrm>
            <a:off x="1485536" y="3363282"/>
            <a:ext cx="677079" cy="227737"/>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solidFill>
                  <a:schemeClr val="bg1"/>
                </a:solidFill>
                <a:latin typeface="Huawei Sans" panose="020C0503030203020204" pitchFamily="34" charset="0"/>
                <a:ea typeface="方正兰亭黑简体" panose="02000000000000000000" pitchFamily="2" charset="-122"/>
              </a:rPr>
              <a:t>IBM801</a:t>
            </a:r>
          </a:p>
          <a:p>
            <a:pPr algn="ctr" defTabSz="685800" fontAlgn="t"/>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18" name="矩形 17"/>
          <p:cNvSpPr/>
          <p:nvPr/>
        </p:nvSpPr>
        <p:spPr bwMode="auto">
          <a:xfrm>
            <a:off x="6300739" y="2978326"/>
            <a:ext cx="648516" cy="230594"/>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POWER5</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2" name="矩形 21"/>
          <p:cNvSpPr/>
          <p:nvPr/>
        </p:nvSpPr>
        <p:spPr bwMode="auto">
          <a:xfrm>
            <a:off x="7214498" y="2977118"/>
            <a:ext cx="712709" cy="216359"/>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POWER6</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3" name="矩形 22"/>
          <p:cNvSpPr/>
          <p:nvPr/>
        </p:nvSpPr>
        <p:spPr bwMode="auto">
          <a:xfrm>
            <a:off x="4604592" y="2978326"/>
            <a:ext cx="693702" cy="217240"/>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POWER3</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4" name="矩形 23"/>
          <p:cNvSpPr/>
          <p:nvPr/>
        </p:nvSpPr>
        <p:spPr bwMode="auto">
          <a:xfrm>
            <a:off x="3836941" y="2975502"/>
            <a:ext cx="623012" cy="221549"/>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POWER2</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5" name="矩形 24"/>
          <p:cNvSpPr/>
          <p:nvPr/>
        </p:nvSpPr>
        <p:spPr bwMode="auto">
          <a:xfrm>
            <a:off x="3962618" y="3883232"/>
            <a:ext cx="820067" cy="208450"/>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 e100/e200</a:t>
            </a:r>
            <a:endParaRPr kumimoji="0" lang="zh-CN" altLang="en-US" sz="900" b="0" dirty="0">
              <a:latin typeface="Huawei Sans" panose="020C0503030203020204" pitchFamily="34" charset="0"/>
              <a:ea typeface="方正兰亭黑简体" panose="02000000000000000000" pitchFamily="2" charset="-122"/>
            </a:endParaRPr>
          </a:p>
        </p:txBody>
      </p:sp>
      <p:sp>
        <p:nvSpPr>
          <p:cNvPr id="28" name="椭圆 27"/>
          <p:cNvSpPr/>
          <p:nvPr/>
        </p:nvSpPr>
        <p:spPr bwMode="auto">
          <a:xfrm>
            <a:off x="3418105" y="4874766"/>
            <a:ext cx="716103" cy="30124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lang="en-US" altLang="zh-CN" sz="900" dirty="0">
                <a:latin typeface="Huawei Sans" panose="020C0503030203020204" pitchFamily="34" charset="0"/>
                <a:ea typeface="方正兰亭黑简体" panose="02000000000000000000" pitchFamily="2" charset="-122"/>
              </a:rPr>
              <a:t>ARM7</a:t>
            </a:r>
          </a:p>
        </p:txBody>
      </p:sp>
      <p:cxnSp>
        <p:nvCxnSpPr>
          <p:cNvPr id="30" name="直接连接符 29"/>
          <p:cNvCxnSpPr/>
          <p:nvPr/>
        </p:nvCxnSpPr>
        <p:spPr bwMode="auto">
          <a:xfrm>
            <a:off x="1249275" y="4725144"/>
            <a:ext cx="669674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直接连接符 31"/>
          <p:cNvCxnSpPr/>
          <p:nvPr/>
        </p:nvCxnSpPr>
        <p:spPr bwMode="auto">
          <a:xfrm>
            <a:off x="1249275" y="4158081"/>
            <a:ext cx="6723747"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直接连接符 32"/>
          <p:cNvCxnSpPr/>
          <p:nvPr/>
        </p:nvCxnSpPr>
        <p:spPr bwMode="auto">
          <a:xfrm flipV="1">
            <a:off x="1249275" y="2861937"/>
            <a:ext cx="6794589" cy="2600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6" name="直接连接符 35"/>
          <p:cNvCxnSpPr/>
          <p:nvPr/>
        </p:nvCxnSpPr>
        <p:spPr bwMode="auto">
          <a:xfrm flipV="1">
            <a:off x="6030707" y="1910827"/>
            <a:ext cx="0" cy="3462389"/>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5" name="文本框 34"/>
          <p:cNvSpPr txBox="1"/>
          <p:nvPr/>
        </p:nvSpPr>
        <p:spPr bwMode="auto">
          <a:xfrm>
            <a:off x="698159" y="4932496"/>
            <a:ext cx="664380" cy="228078"/>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pPr algn="ctr"/>
            <a:r>
              <a:rPr lang="en-US" altLang="zh-CN" sz="1050" dirty="0">
                <a:latin typeface="Huawei Sans" panose="020C0503030203020204" pitchFamily="34" charset="0"/>
                <a:ea typeface="方正兰亭黑简体" panose="02000000000000000000" pitchFamily="2" charset="-122"/>
              </a:rPr>
              <a:t>ARM</a:t>
            </a:r>
            <a:endParaRPr lang="zh-CN" altLang="en-US" sz="1050" dirty="0">
              <a:latin typeface="Huawei Sans" panose="020C0503030203020204" pitchFamily="34" charset="0"/>
              <a:ea typeface="方正兰亭黑简体" panose="02000000000000000000" pitchFamily="2" charset="-122"/>
            </a:endParaRPr>
          </a:p>
        </p:txBody>
      </p:sp>
      <p:sp>
        <p:nvSpPr>
          <p:cNvPr id="39" name="文本框 38"/>
          <p:cNvSpPr txBox="1"/>
          <p:nvPr/>
        </p:nvSpPr>
        <p:spPr bwMode="auto">
          <a:xfrm>
            <a:off x="748828" y="3165640"/>
            <a:ext cx="559552" cy="228078"/>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pPr algn="ctr"/>
            <a:r>
              <a:rPr lang="en-US" altLang="zh-CN" sz="1050" dirty="0">
                <a:latin typeface="Huawei Sans" panose="020C0503030203020204" pitchFamily="34" charset="0"/>
                <a:ea typeface="方正兰亭黑简体" panose="02000000000000000000" pitchFamily="2" charset="-122"/>
              </a:rPr>
              <a:t>PPC</a:t>
            </a:r>
            <a:endParaRPr lang="zh-CN" altLang="en-US" sz="1050" dirty="0">
              <a:latin typeface="Huawei Sans" panose="020C0503030203020204" pitchFamily="34" charset="0"/>
              <a:ea typeface="方正兰亭黑简体" panose="02000000000000000000" pitchFamily="2" charset="-122"/>
            </a:endParaRPr>
          </a:p>
        </p:txBody>
      </p:sp>
      <p:sp>
        <p:nvSpPr>
          <p:cNvPr id="40" name="文本框 39"/>
          <p:cNvSpPr txBox="1"/>
          <p:nvPr/>
        </p:nvSpPr>
        <p:spPr bwMode="auto">
          <a:xfrm>
            <a:off x="698159" y="4218179"/>
            <a:ext cx="679122" cy="228078"/>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pPr algn="ctr"/>
            <a:r>
              <a:rPr lang="en-US" altLang="zh-CN" sz="1050" dirty="0">
                <a:latin typeface="Huawei Sans" panose="020C0503030203020204" pitchFamily="34" charset="0"/>
                <a:ea typeface="方正兰亭黑简体" panose="02000000000000000000" pitchFamily="2" charset="-122"/>
              </a:rPr>
              <a:t>MIPS</a:t>
            </a:r>
            <a:endParaRPr lang="zh-CN" altLang="en-US" sz="1050" dirty="0">
              <a:latin typeface="Huawei Sans" panose="020C0503030203020204" pitchFamily="34" charset="0"/>
              <a:ea typeface="方正兰亭黑简体" panose="02000000000000000000" pitchFamily="2" charset="-122"/>
            </a:endParaRPr>
          </a:p>
        </p:txBody>
      </p:sp>
      <p:sp>
        <p:nvSpPr>
          <p:cNvPr id="41" name="文本框 40"/>
          <p:cNvSpPr txBox="1"/>
          <p:nvPr/>
        </p:nvSpPr>
        <p:spPr bwMode="auto">
          <a:xfrm>
            <a:off x="794459" y="2223115"/>
            <a:ext cx="508567" cy="228078"/>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pPr algn="ctr"/>
            <a:r>
              <a:rPr lang="en-US" altLang="zh-CN" sz="1050" dirty="0">
                <a:latin typeface="Huawei Sans" panose="020C0503030203020204" pitchFamily="34" charset="0"/>
                <a:ea typeface="方正兰亭黑简体" panose="02000000000000000000" pitchFamily="2" charset="-122"/>
              </a:rPr>
              <a:t>X86</a:t>
            </a:r>
            <a:endParaRPr lang="zh-CN" altLang="en-US" sz="1050" dirty="0">
              <a:latin typeface="Huawei Sans" panose="020C0503030203020204" pitchFamily="34" charset="0"/>
              <a:ea typeface="方正兰亭黑简体" panose="02000000000000000000" pitchFamily="2" charset="-122"/>
            </a:endParaRPr>
          </a:p>
        </p:txBody>
      </p:sp>
      <p:sp>
        <p:nvSpPr>
          <p:cNvPr id="42" name="椭圆 41"/>
          <p:cNvSpPr/>
          <p:nvPr/>
        </p:nvSpPr>
        <p:spPr bwMode="auto">
          <a:xfrm>
            <a:off x="4235221" y="4874766"/>
            <a:ext cx="716103" cy="30124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ARM9</a:t>
            </a:r>
          </a:p>
        </p:txBody>
      </p:sp>
      <p:sp>
        <p:nvSpPr>
          <p:cNvPr id="43" name="椭圆 42"/>
          <p:cNvSpPr/>
          <p:nvPr/>
        </p:nvSpPr>
        <p:spPr bwMode="auto">
          <a:xfrm>
            <a:off x="5992049" y="4863314"/>
            <a:ext cx="871931" cy="29726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ARM11</a:t>
            </a:r>
            <a:endParaRPr kumimoji="0" lang="zh-CN" altLang="en-US" sz="900" b="0" dirty="0">
              <a:latin typeface="Huawei Sans" panose="020C0503030203020204" pitchFamily="34" charset="0"/>
              <a:ea typeface="方正兰亭黑简体" panose="02000000000000000000" pitchFamily="2" charset="-122"/>
            </a:endParaRPr>
          </a:p>
        </p:txBody>
      </p:sp>
      <p:sp>
        <p:nvSpPr>
          <p:cNvPr id="44" name="椭圆 43"/>
          <p:cNvSpPr/>
          <p:nvPr/>
        </p:nvSpPr>
        <p:spPr bwMode="auto">
          <a:xfrm>
            <a:off x="5042903" y="4874766"/>
            <a:ext cx="792076" cy="30124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ARM10</a:t>
            </a:r>
            <a:endParaRPr kumimoji="0" lang="zh-CN" altLang="en-US" sz="900" b="0" dirty="0">
              <a:latin typeface="Huawei Sans" panose="020C0503030203020204" pitchFamily="34" charset="0"/>
              <a:ea typeface="方正兰亭黑简体" panose="02000000000000000000" pitchFamily="2" charset="-122"/>
            </a:endParaRPr>
          </a:p>
        </p:txBody>
      </p:sp>
      <p:sp>
        <p:nvSpPr>
          <p:cNvPr id="45" name="椭圆 44"/>
          <p:cNvSpPr/>
          <p:nvPr/>
        </p:nvSpPr>
        <p:spPr bwMode="auto">
          <a:xfrm>
            <a:off x="3411575" y="4309337"/>
            <a:ext cx="782643" cy="295790"/>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solidFill>
                  <a:schemeClr val="bg1"/>
                </a:solidFill>
                <a:latin typeface="Huawei Sans" panose="020C0503030203020204" pitchFamily="34" charset="0"/>
                <a:ea typeface="方正兰亭黑简体" panose="02000000000000000000" pitchFamily="2" charset="-122"/>
              </a:rPr>
              <a:t>MIPS3k</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47" name="椭圆 46"/>
          <p:cNvSpPr/>
          <p:nvPr/>
        </p:nvSpPr>
        <p:spPr bwMode="auto">
          <a:xfrm>
            <a:off x="6015717" y="4312264"/>
            <a:ext cx="890273" cy="301242"/>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MIPS10K</a:t>
            </a:r>
          </a:p>
        </p:txBody>
      </p:sp>
      <p:sp>
        <p:nvSpPr>
          <p:cNvPr id="48" name="椭圆 47"/>
          <p:cNvSpPr/>
          <p:nvPr/>
        </p:nvSpPr>
        <p:spPr bwMode="auto">
          <a:xfrm>
            <a:off x="5124225" y="4333974"/>
            <a:ext cx="820984" cy="279532"/>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MIPS5K</a:t>
            </a:r>
          </a:p>
        </p:txBody>
      </p:sp>
      <p:sp>
        <p:nvSpPr>
          <p:cNvPr id="49" name="椭圆 48"/>
          <p:cNvSpPr/>
          <p:nvPr/>
        </p:nvSpPr>
        <p:spPr bwMode="auto">
          <a:xfrm>
            <a:off x="4235702" y="4337896"/>
            <a:ext cx="835071" cy="258595"/>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solidFill>
                  <a:schemeClr val="bg1"/>
                </a:solidFill>
                <a:latin typeface="Huawei Sans" panose="020C0503030203020204" pitchFamily="34" charset="0"/>
                <a:ea typeface="方正兰亭黑简体" panose="02000000000000000000" pitchFamily="2" charset="-122"/>
              </a:rPr>
              <a:t>MIPS4K</a:t>
            </a:r>
          </a:p>
        </p:txBody>
      </p:sp>
      <p:sp>
        <p:nvSpPr>
          <p:cNvPr id="50" name="椭圆 49"/>
          <p:cNvSpPr/>
          <p:nvPr/>
        </p:nvSpPr>
        <p:spPr bwMode="auto">
          <a:xfrm>
            <a:off x="7052147" y="4314794"/>
            <a:ext cx="1203869" cy="313390"/>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MIPS32/64</a:t>
            </a:r>
          </a:p>
        </p:txBody>
      </p:sp>
      <p:sp>
        <p:nvSpPr>
          <p:cNvPr id="51" name="矩形 50"/>
          <p:cNvSpPr/>
          <p:nvPr/>
        </p:nvSpPr>
        <p:spPr bwMode="auto">
          <a:xfrm>
            <a:off x="4917985" y="3286228"/>
            <a:ext cx="836675" cy="21752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PowerPC700</a:t>
            </a:r>
            <a:endParaRPr lang="zh-CN" altLang="en-US" sz="900" dirty="0">
              <a:latin typeface="Huawei Sans" panose="020C0503030203020204" pitchFamily="34" charset="0"/>
              <a:ea typeface="方正兰亭黑简体" panose="02000000000000000000" pitchFamily="2" charset="-122"/>
            </a:endParaRPr>
          </a:p>
        </p:txBody>
      </p:sp>
      <p:sp>
        <p:nvSpPr>
          <p:cNvPr id="52" name="矩形 51"/>
          <p:cNvSpPr/>
          <p:nvPr/>
        </p:nvSpPr>
        <p:spPr bwMode="auto">
          <a:xfrm>
            <a:off x="3929070" y="3294739"/>
            <a:ext cx="898198" cy="20851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PowerPC600</a:t>
            </a:r>
            <a:endParaRPr kumimoji="0" lang="zh-CN" altLang="en-US" sz="900" b="0" dirty="0">
              <a:latin typeface="Huawei Sans" panose="020C0503030203020204" pitchFamily="34" charset="0"/>
              <a:ea typeface="方正兰亭黑简体" panose="02000000000000000000" pitchFamily="2" charset="-122"/>
            </a:endParaRPr>
          </a:p>
        </p:txBody>
      </p:sp>
      <p:sp>
        <p:nvSpPr>
          <p:cNvPr id="54" name="矩形 53"/>
          <p:cNvSpPr/>
          <p:nvPr/>
        </p:nvSpPr>
        <p:spPr bwMode="auto">
          <a:xfrm>
            <a:off x="6917698" y="3295840"/>
            <a:ext cx="784349" cy="23714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BE(cell)</a:t>
            </a:r>
            <a:endParaRPr kumimoji="0" lang="zh-CN" altLang="en-US" sz="900" b="0" dirty="0">
              <a:latin typeface="Huawei Sans" panose="020C0503030203020204" pitchFamily="34" charset="0"/>
              <a:ea typeface="方正兰亭黑简体" panose="02000000000000000000" pitchFamily="2" charset="-122"/>
            </a:endParaRPr>
          </a:p>
        </p:txBody>
      </p:sp>
      <p:sp>
        <p:nvSpPr>
          <p:cNvPr id="55" name="矩形 54"/>
          <p:cNvSpPr/>
          <p:nvPr/>
        </p:nvSpPr>
        <p:spPr bwMode="auto">
          <a:xfrm>
            <a:off x="5039260" y="3598825"/>
            <a:ext cx="610273" cy="194171"/>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MPC750</a:t>
            </a:r>
          </a:p>
        </p:txBody>
      </p:sp>
      <p:sp>
        <p:nvSpPr>
          <p:cNvPr id="38" name="圆角矩形 37"/>
          <p:cNvSpPr/>
          <p:nvPr/>
        </p:nvSpPr>
        <p:spPr bwMode="auto">
          <a:xfrm>
            <a:off x="1331640" y="2115224"/>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4004</a:t>
            </a:r>
            <a:endParaRPr kumimoji="0" lang="zh-CN" altLang="en-US" sz="900" b="0" dirty="0">
              <a:latin typeface="Huawei Sans" panose="020C0503030203020204" pitchFamily="34" charset="0"/>
              <a:ea typeface="方正兰亭黑简体" panose="02000000000000000000" pitchFamily="2" charset="-122"/>
            </a:endParaRPr>
          </a:p>
        </p:txBody>
      </p:sp>
      <p:sp>
        <p:nvSpPr>
          <p:cNvPr id="67" name="圆角矩形 66"/>
          <p:cNvSpPr/>
          <p:nvPr/>
        </p:nvSpPr>
        <p:spPr bwMode="auto">
          <a:xfrm>
            <a:off x="4104930" y="2123808"/>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486</a:t>
            </a:r>
            <a:endParaRPr kumimoji="0" lang="zh-CN" altLang="en-US" sz="900" b="0" dirty="0">
              <a:latin typeface="Huawei Sans" panose="020C0503030203020204" pitchFamily="34" charset="0"/>
              <a:ea typeface="方正兰亭黑简体" panose="02000000000000000000" pitchFamily="2" charset="-122"/>
            </a:endParaRPr>
          </a:p>
        </p:txBody>
      </p:sp>
      <p:sp>
        <p:nvSpPr>
          <p:cNvPr id="68" name="圆角矩形 67"/>
          <p:cNvSpPr/>
          <p:nvPr/>
        </p:nvSpPr>
        <p:spPr bwMode="auto">
          <a:xfrm>
            <a:off x="3557505" y="2132856"/>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386</a:t>
            </a:r>
            <a:endParaRPr kumimoji="0" lang="zh-CN" altLang="en-US" sz="900" b="0" dirty="0">
              <a:latin typeface="Huawei Sans" panose="020C0503030203020204" pitchFamily="34" charset="0"/>
              <a:ea typeface="方正兰亭黑简体" panose="02000000000000000000" pitchFamily="2" charset="-122"/>
            </a:endParaRPr>
          </a:p>
        </p:txBody>
      </p:sp>
      <p:sp>
        <p:nvSpPr>
          <p:cNvPr id="69" name="圆角矩形 68"/>
          <p:cNvSpPr/>
          <p:nvPr/>
        </p:nvSpPr>
        <p:spPr bwMode="auto">
          <a:xfrm>
            <a:off x="2451440" y="2128642"/>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8086</a:t>
            </a:r>
            <a:endParaRPr kumimoji="0" lang="zh-CN" altLang="en-US" sz="900" b="0" dirty="0">
              <a:latin typeface="Huawei Sans" panose="020C0503030203020204" pitchFamily="34" charset="0"/>
              <a:ea typeface="方正兰亭黑简体" panose="02000000000000000000" pitchFamily="2" charset="-122"/>
            </a:endParaRPr>
          </a:p>
        </p:txBody>
      </p:sp>
      <p:sp>
        <p:nvSpPr>
          <p:cNvPr id="71" name="圆角矩形 70"/>
          <p:cNvSpPr/>
          <p:nvPr/>
        </p:nvSpPr>
        <p:spPr bwMode="auto">
          <a:xfrm>
            <a:off x="1875929" y="2128642"/>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8008</a:t>
            </a:r>
            <a:endParaRPr kumimoji="0" lang="zh-CN" altLang="en-US" sz="900" b="0" dirty="0">
              <a:latin typeface="Huawei Sans" panose="020C0503030203020204" pitchFamily="34" charset="0"/>
              <a:ea typeface="方正兰亭黑简体" panose="02000000000000000000" pitchFamily="2" charset="-122"/>
            </a:endParaRPr>
          </a:p>
        </p:txBody>
      </p:sp>
      <p:sp>
        <p:nvSpPr>
          <p:cNvPr id="72" name="圆角矩形 71"/>
          <p:cNvSpPr/>
          <p:nvPr/>
        </p:nvSpPr>
        <p:spPr bwMode="auto">
          <a:xfrm>
            <a:off x="4641102" y="2123808"/>
            <a:ext cx="627958" cy="275873"/>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err="1">
                <a:latin typeface="Huawei Sans" panose="020C0503030203020204" pitchFamily="34" charset="0"/>
                <a:ea typeface="方正兰亭黑简体" panose="02000000000000000000" pitchFamily="2" charset="-122"/>
              </a:rPr>
              <a:t>pentium</a:t>
            </a:r>
            <a:endParaRPr kumimoji="0" lang="zh-CN" altLang="en-US" sz="900" b="0" dirty="0">
              <a:latin typeface="Huawei Sans" panose="020C0503030203020204" pitchFamily="34" charset="0"/>
              <a:ea typeface="方正兰亭黑简体" panose="02000000000000000000" pitchFamily="2" charset="-122"/>
            </a:endParaRPr>
          </a:p>
        </p:txBody>
      </p:sp>
      <p:sp>
        <p:nvSpPr>
          <p:cNvPr id="73" name="圆角矩形 72"/>
          <p:cNvSpPr/>
          <p:nvPr/>
        </p:nvSpPr>
        <p:spPr bwMode="auto">
          <a:xfrm>
            <a:off x="5301081" y="2132856"/>
            <a:ext cx="692228" cy="259812"/>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err="1">
                <a:latin typeface="Huawei Sans" panose="020C0503030203020204" pitchFamily="34" charset="0"/>
                <a:ea typeface="方正兰亭黑简体" panose="02000000000000000000" pitchFamily="2" charset="-122"/>
              </a:rPr>
              <a:t>pentiumII</a:t>
            </a:r>
            <a:endParaRPr kumimoji="0" lang="zh-CN" altLang="en-US" sz="900" b="0" dirty="0">
              <a:latin typeface="Huawei Sans" panose="020C0503030203020204" pitchFamily="34" charset="0"/>
              <a:ea typeface="方正兰亭黑简体" panose="02000000000000000000" pitchFamily="2" charset="-122"/>
            </a:endParaRPr>
          </a:p>
        </p:txBody>
      </p:sp>
      <p:sp>
        <p:nvSpPr>
          <p:cNvPr id="74" name="圆角矩形 73"/>
          <p:cNvSpPr/>
          <p:nvPr/>
        </p:nvSpPr>
        <p:spPr bwMode="auto">
          <a:xfrm>
            <a:off x="6894480" y="2132856"/>
            <a:ext cx="834296" cy="270030"/>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err="1">
                <a:latin typeface="Huawei Sans" panose="020C0503030203020204" pitchFamily="34" charset="0"/>
                <a:ea typeface="方正兰亭黑简体" panose="02000000000000000000" pitchFamily="2" charset="-122"/>
              </a:rPr>
              <a:t>pentiumIV</a:t>
            </a:r>
            <a:endParaRPr lang="en-US" altLang="zh-CN" sz="900" dirty="0">
              <a:latin typeface="Huawei Sans" panose="020C0503030203020204" pitchFamily="34" charset="0"/>
              <a:ea typeface="方正兰亭黑简体" panose="02000000000000000000" pitchFamily="2" charset="-122"/>
            </a:endParaRPr>
          </a:p>
        </p:txBody>
      </p:sp>
      <p:sp>
        <p:nvSpPr>
          <p:cNvPr id="75" name="圆角矩形 74"/>
          <p:cNvSpPr/>
          <p:nvPr/>
        </p:nvSpPr>
        <p:spPr bwMode="auto">
          <a:xfrm>
            <a:off x="6076760" y="2142951"/>
            <a:ext cx="785698" cy="262449"/>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err="1">
                <a:latin typeface="Huawei Sans" panose="020C0503030203020204" pitchFamily="34" charset="0"/>
                <a:ea typeface="方正兰亭黑简体" panose="02000000000000000000" pitchFamily="2" charset="-122"/>
              </a:rPr>
              <a:t>pentiumIII</a:t>
            </a:r>
            <a:endParaRPr lang="zh-CN" altLang="en-US" sz="900" dirty="0">
              <a:latin typeface="Huawei Sans" panose="020C0503030203020204" pitchFamily="34" charset="0"/>
              <a:ea typeface="方正兰亭黑简体" panose="02000000000000000000" pitchFamily="2" charset="-122"/>
            </a:endParaRPr>
          </a:p>
        </p:txBody>
      </p:sp>
      <p:sp>
        <p:nvSpPr>
          <p:cNvPr id="76" name="圆角矩形 75"/>
          <p:cNvSpPr/>
          <p:nvPr/>
        </p:nvSpPr>
        <p:spPr bwMode="auto">
          <a:xfrm>
            <a:off x="7761490" y="2132856"/>
            <a:ext cx="590930"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Core</a:t>
            </a:r>
          </a:p>
        </p:txBody>
      </p:sp>
      <p:sp>
        <p:nvSpPr>
          <p:cNvPr id="81" name="圆角矩形 80"/>
          <p:cNvSpPr/>
          <p:nvPr/>
        </p:nvSpPr>
        <p:spPr bwMode="auto">
          <a:xfrm>
            <a:off x="7308595" y="2477371"/>
            <a:ext cx="58904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K10</a:t>
            </a:r>
            <a:endParaRPr kumimoji="0" lang="zh-CN" altLang="en-US" sz="900" b="0" dirty="0">
              <a:latin typeface="Huawei Sans" panose="020C0503030203020204" pitchFamily="34" charset="0"/>
              <a:ea typeface="方正兰亭黑简体" panose="02000000000000000000" pitchFamily="2" charset="-122"/>
            </a:endParaRPr>
          </a:p>
        </p:txBody>
      </p:sp>
      <p:sp>
        <p:nvSpPr>
          <p:cNvPr id="82" name="圆角矩形 81"/>
          <p:cNvSpPr/>
          <p:nvPr/>
        </p:nvSpPr>
        <p:spPr bwMode="auto">
          <a:xfrm>
            <a:off x="6650589" y="2486590"/>
            <a:ext cx="566821" cy="269189"/>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K8</a:t>
            </a:r>
            <a:endParaRPr kumimoji="0" lang="zh-CN" altLang="en-US" sz="900" b="0" dirty="0">
              <a:latin typeface="Huawei Sans" panose="020C0503030203020204" pitchFamily="34" charset="0"/>
              <a:ea typeface="方正兰亭黑简体" panose="02000000000000000000" pitchFamily="2" charset="-122"/>
            </a:endParaRPr>
          </a:p>
        </p:txBody>
      </p:sp>
      <p:sp>
        <p:nvSpPr>
          <p:cNvPr id="83" name="圆角矩形 82"/>
          <p:cNvSpPr/>
          <p:nvPr/>
        </p:nvSpPr>
        <p:spPr bwMode="auto">
          <a:xfrm>
            <a:off x="5441049" y="2484477"/>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K6</a:t>
            </a:r>
            <a:endParaRPr kumimoji="0" lang="zh-CN" altLang="en-US" sz="900" b="0" dirty="0">
              <a:latin typeface="Huawei Sans" panose="020C0503030203020204" pitchFamily="34" charset="0"/>
              <a:ea typeface="方正兰亭黑简体" panose="02000000000000000000" pitchFamily="2" charset="-122"/>
            </a:endParaRPr>
          </a:p>
        </p:txBody>
      </p:sp>
      <p:sp>
        <p:nvSpPr>
          <p:cNvPr id="84" name="圆角矩形 83"/>
          <p:cNvSpPr/>
          <p:nvPr/>
        </p:nvSpPr>
        <p:spPr bwMode="auto">
          <a:xfrm>
            <a:off x="4862620" y="2485753"/>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K5</a:t>
            </a:r>
            <a:endParaRPr kumimoji="0" lang="zh-CN" altLang="en-US" sz="900" b="0" dirty="0">
              <a:latin typeface="Huawei Sans" panose="020C0503030203020204" pitchFamily="34" charset="0"/>
              <a:ea typeface="方正兰亭黑简体" panose="02000000000000000000" pitchFamily="2" charset="-122"/>
            </a:endParaRPr>
          </a:p>
        </p:txBody>
      </p:sp>
      <p:sp>
        <p:nvSpPr>
          <p:cNvPr id="85" name="圆角矩形 84"/>
          <p:cNvSpPr/>
          <p:nvPr/>
        </p:nvSpPr>
        <p:spPr bwMode="auto">
          <a:xfrm>
            <a:off x="4288790" y="2483980"/>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486</a:t>
            </a:r>
            <a:endParaRPr kumimoji="0" lang="zh-CN" altLang="en-US" sz="900" b="0" dirty="0">
              <a:latin typeface="Huawei Sans" panose="020C0503030203020204" pitchFamily="34" charset="0"/>
              <a:ea typeface="方正兰亭黑简体" panose="02000000000000000000" pitchFamily="2" charset="-122"/>
            </a:endParaRPr>
          </a:p>
        </p:txBody>
      </p:sp>
      <p:sp>
        <p:nvSpPr>
          <p:cNvPr id="86" name="圆角矩形 85"/>
          <p:cNvSpPr/>
          <p:nvPr/>
        </p:nvSpPr>
        <p:spPr bwMode="auto">
          <a:xfrm>
            <a:off x="3736090" y="2479681"/>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386</a:t>
            </a:r>
            <a:endParaRPr kumimoji="0" lang="zh-CN" altLang="en-US" sz="900" b="0" dirty="0">
              <a:latin typeface="Huawei Sans" panose="020C0503030203020204" pitchFamily="34" charset="0"/>
              <a:ea typeface="方正兰亭黑简体" panose="02000000000000000000" pitchFamily="2" charset="-122"/>
            </a:endParaRPr>
          </a:p>
        </p:txBody>
      </p:sp>
      <p:sp>
        <p:nvSpPr>
          <p:cNvPr id="87" name="圆角矩形 86"/>
          <p:cNvSpPr/>
          <p:nvPr/>
        </p:nvSpPr>
        <p:spPr bwMode="auto">
          <a:xfrm>
            <a:off x="6101251" y="2494009"/>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K7</a:t>
            </a:r>
            <a:endParaRPr kumimoji="0" lang="zh-CN" altLang="en-US" sz="900" b="0" dirty="0">
              <a:latin typeface="Huawei Sans" panose="020C0503030203020204" pitchFamily="34" charset="0"/>
              <a:ea typeface="方正兰亭黑简体" panose="02000000000000000000" pitchFamily="2" charset="-122"/>
            </a:endParaRPr>
          </a:p>
        </p:txBody>
      </p:sp>
      <p:cxnSp>
        <p:nvCxnSpPr>
          <p:cNvPr id="37" name="直接连接符 36"/>
          <p:cNvCxnSpPr/>
          <p:nvPr/>
        </p:nvCxnSpPr>
        <p:spPr bwMode="auto">
          <a:xfrm flipV="1">
            <a:off x="3401794" y="1910827"/>
            <a:ext cx="0" cy="346238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flipV="1">
            <a:off x="2427315" y="1910827"/>
            <a:ext cx="0" cy="3462389"/>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35845" name="图片 35844"/>
          <p:cNvPicPr>
            <a:picLocks noChangeAspect="1"/>
          </p:cNvPicPr>
          <p:nvPr/>
        </p:nvPicPr>
        <p:blipFill>
          <a:blip r:embed="rId3"/>
          <a:stretch>
            <a:fillRect/>
          </a:stretch>
        </p:blipFill>
        <p:spPr>
          <a:xfrm>
            <a:off x="1983147" y="2488576"/>
            <a:ext cx="936587" cy="267770"/>
          </a:xfrm>
          <a:prstGeom prst="rect">
            <a:avLst/>
          </a:prstGeom>
        </p:spPr>
      </p:pic>
      <p:pic>
        <p:nvPicPr>
          <p:cNvPr id="35846" name="图片 35845"/>
          <p:cNvPicPr>
            <a:picLocks noChangeAspect="1"/>
          </p:cNvPicPr>
          <p:nvPr/>
        </p:nvPicPr>
        <p:blipFill>
          <a:blip r:embed="rId4"/>
          <a:stretch>
            <a:fillRect/>
          </a:stretch>
        </p:blipFill>
        <p:spPr>
          <a:xfrm>
            <a:off x="1293817" y="2905760"/>
            <a:ext cx="956903" cy="367639"/>
          </a:xfrm>
          <a:prstGeom prst="rect">
            <a:avLst/>
          </a:prstGeom>
        </p:spPr>
      </p:pic>
      <p:pic>
        <p:nvPicPr>
          <p:cNvPr id="35847" name="图片 35846"/>
          <p:cNvPicPr>
            <a:picLocks noChangeAspect="1"/>
          </p:cNvPicPr>
          <p:nvPr/>
        </p:nvPicPr>
        <p:blipFill>
          <a:blip r:embed="rId5"/>
          <a:stretch>
            <a:fillRect/>
          </a:stretch>
        </p:blipFill>
        <p:spPr>
          <a:xfrm>
            <a:off x="2253105" y="3734134"/>
            <a:ext cx="1534333" cy="369446"/>
          </a:xfrm>
          <a:prstGeom prst="rect">
            <a:avLst/>
          </a:prstGeom>
        </p:spPr>
      </p:pic>
      <p:sp>
        <p:nvSpPr>
          <p:cNvPr id="80" name="圆角矩形 79"/>
          <p:cNvSpPr/>
          <p:nvPr/>
        </p:nvSpPr>
        <p:spPr bwMode="auto">
          <a:xfrm>
            <a:off x="3202500" y="2474957"/>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286</a:t>
            </a:r>
            <a:endParaRPr kumimoji="0" lang="zh-CN" altLang="en-US" sz="900" b="0" dirty="0">
              <a:latin typeface="Huawei Sans" panose="020C0503030203020204" pitchFamily="34" charset="0"/>
              <a:ea typeface="方正兰亭黑简体" panose="02000000000000000000" pitchFamily="2" charset="-122"/>
            </a:endParaRPr>
          </a:p>
        </p:txBody>
      </p:sp>
      <p:sp>
        <p:nvSpPr>
          <p:cNvPr id="56" name="矩形 55"/>
          <p:cNvSpPr/>
          <p:nvPr/>
        </p:nvSpPr>
        <p:spPr bwMode="auto">
          <a:xfrm>
            <a:off x="5710603" y="3915391"/>
            <a:ext cx="750250" cy="198683"/>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e300/e500</a:t>
            </a:r>
            <a:endParaRPr lang="zh-CN" altLang="en-US" sz="900" dirty="0">
              <a:latin typeface="Huawei Sans" panose="020C0503030203020204" pitchFamily="34" charset="0"/>
              <a:ea typeface="方正兰亭黑简体" panose="02000000000000000000" pitchFamily="2" charset="-122"/>
            </a:endParaRPr>
          </a:p>
        </p:txBody>
      </p:sp>
      <p:sp>
        <p:nvSpPr>
          <p:cNvPr id="19" name="矩形 18"/>
          <p:cNvSpPr/>
          <p:nvPr/>
        </p:nvSpPr>
        <p:spPr bwMode="auto">
          <a:xfrm>
            <a:off x="5710603" y="3598824"/>
            <a:ext cx="750250" cy="194170"/>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MPC7400</a:t>
            </a:r>
          </a:p>
        </p:txBody>
      </p:sp>
      <p:sp>
        <p:nvSpPr>
          <p:cNvPr id="57" name="矩形 56"/>
          <p:cNvSpPr/>
          <p:nvPr/>
        </p:nvSpPr>
        <p:spPr bwMode="auto">
          <a:xfrm>
            <a:off x="6640366" y="3914722"/>
            <a:ext cx="493895" cy="194879"/>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 e600</a:t>
            </a:r>
            <a:endParaRPr kumimoji="0" lang="zh-CN" altLang="en-US" sz="900" b="0" dirty="0">
              <a:latin typeface="Huawei Sans" panose="020C0503030203020204" pitchFamily="34" charset="0"/>
              <a:ea typeface="方正兰亭黑简体" panose="02000000000000000000" pitchFamily="2" charset="-122"/>
            </a:endParaRPr>
          </a:p>
        </p:txBody>
      </p:sp>
      <p:sp>
        <p:nvSpPr>
          <p:cNvPr id="58" name="矩形 57"/>
          <p:cNvSpPr/>
          <p:nvPr/>
        </p:nvSpPr>
        <p:spPr bwMode="auto">
          <a:xfrm>
            <a:off x="7331680" y="3914722"/>
            <a:ext cx="493895" cy="194879"/>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err="1">
                <a:latin typeface="Huawei Sans" panose="020C0503030203020204" pitchFamily="34" charset="0"/>
                <a:ea typeface="方正兰亭黑简体" panose="02000000000000000000" pitchFamily="2" charset="-122"/>
              </a:rPr>
              <a:t>P</a:t>
            </a:r>
            <a:r>
              <a:rPr lang="en-US" altLang="zh-CN" sz="900" dirty="0" err="1">
                <a:latin typeface="Huawei Sans" panose="020C0503030203020204" pitchFamily="34" charset="0"/>
                <a:ea typeface="方正兰亭黑简体" panose="02000000000000000000" pitchFamily="2" charset="-122"/>
              </a:rPr>
              <a:t>xxxx</a:t>
            </a:r>
            <a:endParaRPr kumimoji="0" lang="en-US" altLang="zh-CN" sz="900" b="0" dirty="0">
              <a:latin typeface="Huawei Sans" panose="020C0503030203020204" pitchFamily="34" charset="0"/>
              <a:ea typeface="方正兰亭黑简体" panose="02000000000000000000" pitchFamily="2" charset="-122"/>
            </a:endParaRPr>
          </a:p>
        </p:txBody>
      </p:sp>
      <p:sp>
        <p:nvSpPr>
          <p:cNvPr id="53" name="矩形 52"/>
          <p:cNvSpPr/>
          <p:nvPr/>
        </p:nvSpPr>
        <p:spPr bwMode="auto">
          <a:xfrm>
            <a:off x="5923803" y="3286228"/>
            <a:ext cx="926675" cy="23087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PowerPC9xx</a:t>
            </a:r>
            <a:endParaRPr lang="zh-CN" altLang="en-US" sz="900" dirty="0">
              <a:latin typeface="Huawei Sans" panose="020C0503030203020204" pitchFamily="34" charset="0"/>
              <a:ea typeface="方正兰亭黑简体" panose="02000000000000000000" pitchFamily="2" charset="-122"/>
            </a:endParaRPr>
          </a:p>
        </p:txBody>
      </p:sp>
      <p:sp>
        <p:nvSpPr>
          <p:cNvPr id="20" name="矩形 19"/>
          <p:cNvSpPr/>
          <p:nvPr/>
        </p:nvSpPr>
        <p:spPr bwMode="auto">
          <a:xfrm>
            <a:off x="5452278" y="2977118"/>
            <a:ext cx="690261" cy="218448"/>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POWER4</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70" name="圆角矩形 69"/>
          <p:cNvSpPr/>
          <p:nvPr/>
        </p:nvSpPr>
        <p:spPr bwMode="auto">
          <a:xfrm>
            <a:off x="2998277" y="2123808"/>
            <a:ext cx="506766" cy="293509"/>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lang="en-US" altLang="zh-CN" sz="900" dirty="0">
                <a:latin typeface="Huawei Sans" panose="020C0503030203020204" pitchFamily="34" charset="0"/>
                <a:ea typeface="方正兰亭黑简体" panose="02000000000000000000" pitchFamily="2" charset="-122"/>
              </a:rPr>
              <a:t>80286</a:t>
            </a:r>
            <a:endParaRPr kumimoji="0" lang="zh-CN" altLang="en-US" sz="900" b="0" dirty="0">
              <a:latin typeface="Huawei Sans" panose="020C0503030203020204" pitchFamily="34" charset="0"/>
              <a:ea typeface="方正兰亭黑简体" panose="02000000000000000000" pitchFamily="2" charset="-122"/>
            </a:endParaRPr>
          </a:p>
        </p:txBody>
      </p:sp>
      <p:sp>
        <p:nvSpPr>
          <p:cNvPr id="21" name="矩形 20"/>
          <p:cNvSpPr/>
          <p:nvPr/>
        </p:nvSpPr>
        <p:spPr bwMode="auto">
          <a:xfrm>
            <a:off x="3040567" y="2979568"/>
            <a:ext cx="650738" cy="213909"/>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solidFill>
                  <a:schemeClr val="bg1"/>
                </a:solidFill>
                <a:latin typeface="Huawei Sans" panose="020C0503030203020204" pitchFamily="34" charset="0"/>
                <a:ea typeface="方正兰亭黑简体" panose="02000000000000000000" pitchFamily="2" charset="-122"/>
              </a:rPr>
              <a:t>POWER1</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 name="文本框 1"/>
          <p:cNvSpPr txBox="1"/>
          <p:nvPr/>
        </p:nvSpPr>
        <p:spPr bwMode="auto">
          <a:xfrm>
            <a:off x="1354827" y="1871551"/>
            <a:ext cx="423070" cy="251161"/>
          </a:xfrm>
          <a:prstGeom prst="rect">
            <a:avLst/>
          </a:prstGeom>
          <a:noFill/>
          <a:ln w="9525" algn="ctr">
            <a:noFill/>
            <a:miter lim="800000"/>
            <a:headEnd/>
            <a:tailEnd/>
          </a:ln>
        </p:spPr>
        <p:txBody>
          <a:bodyPr vert="horz" wrap="none" lIns="65852" tIns="32926" rIns="65852" bIns="32926"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Intel</a:t>
            </a:r>
            <a:endParaRPr lang="zh-CN" altLang="en-US" sz="1200" dirty="0">
              <a:latin typeface="Huawei Sans" panose="020C0503030203020204" pitchFamily="34" charset="0"/>
              <a:ea typeface="方正兰亭黑简体" panose="02000000000000000000" pitchFamily="2" charset="-122"/>
            </a:endParaRPr>
          </a:p>
        </p:txBody>
      </p:sp>
      <p:sp>
        <p:nvSpPr>
          <p:cNvPr id="3" name="日期占位符 2">
            <a:extLst>
              <a:ext uri="{FF2B5EF4-FFF2-40B4-BE49-F238E27FC236}">
                <a16:creationId xmlns:a16="http://schemas.microsoft.com/office/drawing/2014/main" id="{2D0203A5-7B2A-5E6A-FE31-2EF7BFF69ED7}"/>
              </a:ext>
            </a:extLst>
          </p:cNvPr>
          <p:cNvSpPr>
            <a:spLocks noGrp="1"/>
          </p:cNvSpPr>
          <p:nvPr>
            <p:ph type="dt" sz="half" idx="11"/>
          </p:nvPr>
        </p:nvSpPr>
        <p:spPr/>
        <p:txBody>
          <a:bodyPr/>
          <a:lstStyle/>
          <a:p>
            <a:pPr>
              <a:defRPr/>
            </a:pPr>
            <a:fld id="{E613A649-542F-40B9-BE03-94B83D999059}" type="datetime1">
              <a:rPr lang="zh-CN" altLang="en-US" smtClean="0"/>
              <a:t>2025/9/10</a:t>
            </a:fld>
            <a:endParaRPr lang="en-US" altLang="zh-CN"/>
          </a:p>
        </p:txBody>
      </p:sp>
      <p:sp>
        <p:nvSpPr>
          <p:cNvPr id="4" name="灯片编号占位符 3">
            <a:extLst>
              <a:ext uri="{FF2B5EF4-FFF2-40B4-BE49-F238E27FC236}">
                <a16:creationId xmlns:a16="http://schemas.microsoft.com/office/drawing/2014/main" id="{A70FA877-40CF-BCAB-A44A-8B8E8C8124E4}"/>
              </a:ext>
            </a:extLst>
          </p:cNvPr>
          <p:cNvSpPr>
            <a:spLocks noGrp="1"/>
          </p:cNvSpPr>
          <p:nvPr>
            <p:ph type="sldNum" sz="quarter" idx="13"/>
          </p:nvPr>
        </p:nvSpPr>
        <p:spPr/>
        <p:txBody>
          <a:bodyPr/>
          <a:lstStyle/>
          <a:p>
            <a:pPr>
              <a:defRPr/>
            </a:pPr>
            <a:fld id="{8BCAC33D-D29A-48B3-BCD6-381D3D720D26}" type="slidenum">
              <a:rPr lang="zh-CN" altLang="en-US" smtClean="0"/>
              <a:pPr>
                <a:defRPr/>
              </a:pPr>
              <a:t>43</a:t>
            </a:fld>
            <a:endParaRPr lang="en-US" altLang="zh-CN"/>
          </a:p>
        </p:txBody>
      </p:sp>
      <p:sp>
        <p:nvSpPr>
          <p:cNvPr id="5" name="页脚占位符 4">
            <a:extLst>
              <a:ext uri="{FF2B5EF4-FFF2-40B4-BE49-F238E27FC236}">
                <a16:creationId xmlns:a16="http://schemas.microsoft.com/office/drawing/2014/main" id="{DB5F4CC7-4669-D4B7-CDD3-1D1E38EC1BE8}"/>
              </a:ext>
            </a:extLst>
          </p:cNvPr>
          <p:cNvSpPr>
            <a:spLocks noGrp="1"/>
          </p:cNvSpPr>
          <p:nvPr>
            <p:ph type="ftr" sz="quarter" idx="12"/>
          </p:nvPr>
        </p:nvSpPr>
        <p:spPr/>
        <p:txBody>
          <a:bodyPr/>
          <a:lstStyle/>
          <a:p>
            <a:pPr>
              <a:defRPr/>
            </a:pPr>
            <a:r>
              <a:rPr lang="zh-CN" altLang="en-US"/>
              <a:t>计算机体系结构</a:t>
            </a:r>
            <a:endParaRPr lang="en-US" altLang="zh-CN"/>
          </a:p>
        </p:txBody>
      </p:sp>
    </p:spTree>
    <p:extLst>
      <p:ext uri="{BB962C8B-B14F-4D97-AF65-F5344CB8AC3E}">
        <p14:creationId xmlns:p14="http://schemas.microsoft.com/office/powerpoint/2010/main" val="32723829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12747</TotalTime>
  <Words>3309</Words>
  <Application>Microsoft Office PowerPoint</Application>
  <PresentationFormat>全屏显示(4:3)</PresentationFormat>
  <Paragraphs>602</Paragraphs>
  <Slides>43</Slides>
  <Notes>20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7" baseType="lpstr">
      <vt:lpstr>Huawei Sans</vt:lpstr>
      <vt:lpstr>ＭＳ Ｐゴシック</vt:lpstr>
      <vt:lpstr>黑体</vt:lpstr>
      <vt:lpstr>华文中宋</vt:lpstr>
      <vt:lpstr>宋体</vt:lpstr>
      <vt:lpstr>微软雅黑</vt:lpstr>
      <vt:lpstr>Arial</vt:lpstr>
      <vt:lpstr>Calibri</vt:lpstr>
      <vt:lpstr>Tahoma</vt:lpstr>
      <vt:lpstr>Times New Roman</vt:lpstr>
      <vt:lpstr>Verdana</vt:lpstr>
      <vt:lpstr>Wingdings</vt:lpstr>
      <vt:lpstr>Office 主题​​</vt:lpstr>
      <vt:lpstr>图片</vt:lpstr>
      <vt:lpstr>计算机体系结构</vt:lpstr>
      <vt:lpstr>Recap</vt:lpstr>
      <vt:lpstr>程序员所看到的计算机的属性</vt:lpstr>
      <vt:lpstr>ISA vs. Microarchitecture</vt:lpstr>
      <vt:lpstr>PowerPoint 演示文稿</vt:lpstr>
      <vt:lpstr>1.1 计算机体系结构的概念 </vt:lpstr>
      <vt:lpstr>不同年代计算机体系结构研究的变化</vt:lpstr>
      <vt:lpstr>1.1 计算机体系结构的概念 </vt:lpstr>
      <vt:lpstr>1.1.3 系列机和兼容</vt:lpstr>
      <vt:lpstr>系列机(Family machine)</vt:lpstr>
      <vt:lpstr>软件兼容</vt:lpstr>
      <vt:lpstr>兼容机</vt:lpstr>
      <vt:lpstr>兼容性</vt:lpstr>
      <vt:lpstr>Intel公司的x86系列</vt:lpstr>
      <vt:lpstr>兼容对体系结构的影响</vt:lpstr>
      <vt:lpstr>第1章  计算机系统量化分析基础 </vt:lpstr>
      <vt:lpstr>1.2 计算机体系结构的发展</vt:lpstr>
      <vt:lpstr>1.2.1 计算机的分代</vt:lpstr>
      <vt:lpstr>1.2.1 计算机的分代</vt:lpstr>
      <vt:lpstr>1.2.2 软件的发展</vt:lpstr>
      <vt:lpstr>1.2.3 应用的发展</vt:lpstr>
      <vt:lpstr>PowerPoint 演示文稿</vt:lpstr>
      <vt:lpstr>PowerPoint 演示文稿</vt:lpstr>
      <vt:lpstr>1.2.4 相关核心技术的发展</vt:lpstr>
      <vt:lpstr>1.2.4 相关核心技术产品的发展</vt:lpstr>
      <vt:lpstr>1.2.4 相关核心技术产品的发展</vt:lpstr>
      <vt:lpstr>1.2.4 相关核心技术产品的发展</vt:lpstr>
      <vt:lpstr>1.2.5 体系结构的发展</vt:lpstr>
      <vt:lpstr>第1章  计算机系统量化分析基础 </vt:lpstr>
      <vt:lpstr>1.2 计算机体系结构的发展</vt:lpstr>
      <vt:lpstr>1.2.6 并行处理技术的发展</vt:lpstr>
      <vt:lpstr>1.2.6 并行处理技术的发展</vt:lpstr>
      <vt:lpstr>1.2.6 并行处理技术的发展</vt:lpstr>
      <vt:lpstr>1.2.6 并行处理技术的发展</vt:lpstr>
      <vt:lpstr>1.2.6 并行处理技术的发展</vt:lpstr>
      <vt:lpstr>1.2.6 并行处理技术的发展</vt:lpstr>
      <vt:lpstr>PowerPoint 演示文稿</vt:lpstr>
      <vt:lpstr>1.2.6 并行处理技术的发展</vt:lpstr>
      <vt:lpstr>PowerPoint 演示文稿</vt:lpstr>
      <vt:lpstr>PowerPoint 演示文稿</vt:lpstr>
      <vt:lpstr>PowerPoint 演示文稿</vt:lpstr>
      <vt:lpstr>1.2.7 处理器芯片技术的发展 </vt:lpstr>
      <vt:lpstr>主流CPU发展路径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1730</cp:revision>
  <cp:lastPrinted>2018-09-06T02:46:02Z</cp:lastPrinted>
  <dcterms:created xsi:type="dcterms:W3CDTF">1601-01-01T00:00:00Z</dcterms:created>
  <dcterms:modified xsi:type="dcterms:W3CDTF">2025-09-10T07:30:27Z</dcterms:modified>
</cp:coreProperties>
</file>