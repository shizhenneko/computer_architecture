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5"/>
  </p:notesMasterIdLst>
  <p:handoutMasterIdLst>
    <p:handoutMasterId r:id="rId76"/>
  </p:handoutMasterIdLst>
  <p:sldIdLst>
    <p:sldId id="256" r:id="rId2"/>
    <p:sldId id="1033" r:id="rId3"/>
    <p:sldId id="1126" r:id="rId4"/>
    <p:sldId id="2034" r:id="rId5"/>
    <p:sldId id="1125" r:id="rId6"/>
    <p:sldId id="1034" r:id="rId7"/>
    <p:sldId id="1967" r:id="rId8"/>
    <p:sldId id="1853" r:id="rId9"/>
    <p:sldId id="1855" r:id="rId10"/>
    <p:sldId id="1857" r:id="rId11"/>
    <p:sldId id="1906" r:id="rId12"/>
    <p:sldId id="1946" r:id="rId13"/>
    <p:sldId id="632" r:id="rId14"/>
    <p:sldId id="787" r:id="rId15"/>
    <p:sldId id="1907" r:id="rId16"/>
    <p:sldId id="1037" r:id="rId17"/>
    <p:sldId id="1968" r:id="rId18"/>
    <p:sldId id="1969" r:id="rId19"/>
    <p:sldId id="1970" r:id="rId20"/>
    <p:sldId id="1971" r:id="rId21"/>
    <p:sldId id="1972" r:id="rId22"/>
    <p:sldId id="1973" r:id="rId23"/>
    <p:sldId id="1861" r:id="rId24"/>
    <p:sldId id="1862" r:id="rId25"/>
    <p:sldId id="1978" r:id="rId26"/>
    <p:sldId id="1977" r:id="rId27"/>
    <p:sldId id="1975" r:id="rId28"/>
    <p:sldId id="1976" r:id="rId29"/>
    <p:sldId id="2043" r:id="rId30"/>
    <p:sldId id="1917" r:id="rId31"/>
    <p:sldId id="1918" r:id="rId32"/>
    <p:sldId id="1962" r:id="rId33"/>
    <p:sldId id="1921" r:id="rId34"/>
    <p:sldId id="1922" r:id="rId35"/>
    <p:sldId id="1923" r:id="rId36"/>
    <p:sldId id="2035" r:id="rId37"/>
    <p:sldId id="2027" r:id="rId38"/>
    <p:sldId id="2045" r:id="rId39"/>
    <p:sldId id="1963" r:id="rId40"/>
    <p:sldId id="2046" r:id="rId41"/>
    <p:sldId id="2028" r:id="rId42"/>
    <p:sldId id="2029" r:id="rId43"/>
    <p:sldId id="2030" r:id="rId44"/>
    <p:sldId id="2031" r:id="rId45"/>
    <p:sldId id="2032" r:id="rId46"/>
    <p:sldId id="2001" r:id="rId47"/>
    <p:sldId id="2002" r:id="rId48"/>
    <p:sldId id="1854" r:id="rId49"/>
    <p:sldId id="487" r:id="rId50"/>
    <p:sldId id="488" r:id="rId51"/>
    <p:sldId id="2048" r:id="rId52"/>
    <p:sldId id="1941" r:id="rId53"/>
    <p:sldId id="1942" r:id="rId54"/>
    <p:sldId id="1943" r:id="rId55"/>
    <p:sldId id="1950" r:id="rId56"/>
    <p:sldId id="1944" r:id="rId57"/>
    <p:sldId id="1951" r:id="rId58"/>
    <p:sldId id="1952" r:id="rId59"/>
    <p:sldId id="1953" r:id="rId60"/>
    <p:sldId id="1954" r:id="rId61"/>
    <p:sldId id="1955" r:id="rId62"/>
    <p:sldId id="1957" r:id="rId63"/>
    <p:sldId id="1960" r:id="rId64"/>
    <p:sldId id="1961" r:id="rId65"/>
    <p:sldId id="884" r:id="rId66"/>
    <p:sldId id="1914" r:id="rId67"/>
    <p:sldId id="1915" r:id="rId68"/>
    <p:sldId id="1916" r:id="rId69"/>
    <p:sldId id="2037" r:id="rId70"/>
    <p:sldId id="2038" r:id="rId71"/>
    <p:sldId id="1956" r:id="rId72"/>
    <p:sldId id="1958" r:id="rId73"/>
    <p:sldId id="1959" r:id="rId74"/>
  </p:sldIdLst>
  <p:sldSz cx="9144000" cy="6858000" type="screen4x3"/>
  <p:notesSz cx="6797675" cy="9925050"/>
  <p:kinsoku lang="zh-CN" invalStChars="!),.:;?]}、。—ˇ¨〃々～‖…’”〕〉》」』〗】∶！＂＇），．：；？］｀｜｝·" invalEndChars="([{‘“〔〈《「『〖【（［｛．·"/>
  <p:defaultTextStyle>
    <a:defPPr>
      <a:defRPr lang="en-US"/>
    </a:defPPr>
    <a:lvl1pPr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0"/>
      </a:spcBef>
      <a:spcAft>
        <a:spcPct val="0"/>
      </a:spcAft>
      <a:defRPr kumimoji="1" sz="800" b="1"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6pPr>
    <a:lvl7pPr marL="27432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7pPr>
    <a:lvl8pPr marL="32004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8pPr>
    <a:lvl9pPr marL="3657600" algn="l" defTabSz="914400" rtl="0" eaLnBrk="1" latinLnBrk="0" hangingPunct="1">
      <a:defRPr kumimoji="1" sz="800" b="1" kern="120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66FF"/>
    <a:srgbClr val="003399"/>
    <a:srgbClr val="3366FF"/>
    <a:srgbClr val="C28F3E"/>
    <a:srgbClr val="BC7D3E"/>
    <a:srgbClr val="B0753A"/>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9" autoAdjust="0"/>
    <p:restoredTop sz="80735" autoAdjust="0"/>
  </p:normalViewPr>
  <p:slideViewPr>
    <p:cSldViewPr>
      <p:cViewPr varScale="1">
        <p:scale>
          <a:sx n="71" d="100"/>
          <a:sy n="71" d="100"/>
        </p:scale>
        <p:origin x="1365" y="42"/>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45862" cy="495714"/>
          </a:xfrm>
          <a:prstGeom prst="rect">
            <a:avLst/>
          </a:prstGeom>
        </p:spPr>
        <p:txBody>
          <a:bodyPr vert="horz" lIns="95549" tIns="47774" rIns="95549" bIns="47774" rtlCol="0"/>
          <a:lstStyle>
            <a:lvl1pPr algn="l">
              <a:defRPr sz="1400">
                <a:latin typeface="宋体" panose="02010600030101010101" pitchFamily="2" charset="-122"/>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3850295" y="1"/>
            <a:ext cx="2945862" cy="495714"/>
          </a:xfrm>
          <a:prstGeom prst="rect">
            <a:avLst/>
          </a:prstGeom>
        </p:spPr>
        <p:txBody>
          <a:bodyPr vert="horz" lIns="95549" tIns="47774" rIns="95549" bIns="47774" rtlCol="0"/>
          <a:lstStyle>
            <a:lvl1pPr algn="r">
              <a:defRPr sz="1400">
                <a:latin typeface="宋体" panose="02010600030101010101" pitchFamily="2" charset="-122"/>
                <a:ea typeface="宋体" panose="02010600030101010101" pitchFamily="2" charset="-122"/>
              </a:defRPr>
            </a:lvl1pPr>
          </a:lstStyle>
          <a:p>
            <a:pPr>
              <a:defRPr/>
            </a:pPr>
            <a:fld id="{5C9833CB-0817-44DC-BDA6-97E8269B2A4B}" type="datetimeFigureOut">
              <a:rPr lang="zh-CN" altLang="en-US"/>
              <a:t>2025/10/28</a:t>
            </a:fld>
            <a:endParaRPr lang="zh-CN" altLang="en-US"/>
          </a:p>
        </p:txBody>
      </p:sp>
      <p:sp>
        <p:nvSpPr>
          <p:cNvPr id="4" name="页脚占位符 3"/>
          <p:cNvSpPr>
            <a:spLocks noGrp="1"/>
          </p:cNvSpPr>
          <p:nvPr>
            <p:ph type="ftr" sz="quarter" idx="2"/>
          </p:nvPr>
        </p:nvSpPr>
        <p:spPr>
          <a:xfrm>
            <a:off x="0" y="9427798"/>
            <a:ext cx="2945862" cy="495714"/>
          </a:xfrm>
          <a:prstGeom prst="rect">
            <a:avLst/>
          </a:prstGeom>
        </p:spPr>
        <p:txBody>
          <a:bodyPr vert="horz" lIns="95549" tIns="47774" rIns="95549" bIns="47774" rtlCol="0" anchor="b"/>
          <a:lstStyle>
            <a:lvl1pPr algn="l">
              <a:defRPr sz="1400">
                <a:latin typeface="宋体" panose="02010600030101010101" pitchFamily="2" charset="-122"/>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3850295" y="9427798"/>
            <a:ext cx="2945862" cy="495714"/>
          </a:xfrm>
          <a:prstGeom prst="rect">
            <a:avLst/>
          </a:prstGeom>
        </p:spPr>
        <p:txBody>
          <a:bodyPr vert="horz" lIns="95549" tIns="47774" rIns="95549" bIns="47774" rtlCol="0" anchor="b"/>
          <a:lstStyle>
            <a:lvl1pPr algn="r">
              <a:defRPr sz="1400">
                <a:latin typeface="宋体" panose="02010600030101010101" pitchFamily="2" charset="-122"/>
                <a:ea typeface="宋体" panose="02010600030101010101" pitchFamily="2" charset="-122"/>
              </a:defRPr>
            </a:lvl1pPr>
          </a:lstStyle>
          <a:p>
            <a:pPr>
              <a:defRPr/>
            </a:pPr>
            <a:fld id="{78BBD55E-9969-4143-865D-25DDD65926A5}" type="slidenum">
              <a:rPr lang="zh-CN" altLang="en-US"/>
              <a:t>‹#›</a:t>
            </a:fld>
            <a:endParaRPr lang="zh-CN" altLang="en-US"/>
          </a:p>
        </p:txBody>
      </p:sp>
    </p:spTree>
    <p:extLst>
      <p:ext uri="{BB962C8B-B14F-4D97-AF65-F5344CB8AC3E}">
        <p14:creationId xmlns:p14="http://schemas.microsoft.com/office/powerpoint/2010/main" val="32362760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1"/>
            <a:ext cx="2945862" cy="495714"/>
          </a:xfrm>
          <a:prstGeom prst="rect">
            <a:avLst/>
          </a:prstGeom>
          <a:noFill/>
          <a:ln w="9525">
            <a:noFill/>
            <a:miter lim="800000"/>
          </a:ln>
          <a:effectLst/>
        </p:spPr>
        <p:txBody>
          <a:bodyPr vert="horz" wrap="square" lIns="95549" tIns="47774" rIns="95549" bIns="47774" numCol="1" anchor="t" anchorCtr="0" compatLnSpc="1"/>
          <a:lstStyle>
            <a:lvl1pPr>
              <a:spcBef>
                <a:spcPct val="20000"/>
              </a:spcBef>
              <a:defRPr sz="1400">
                <a:latin typeface="宋体" panose="02010600030101010101" pitchFamily="2" charset="-122"/>
                <a:ea typeface="宋体" panose="02010600030101010101" pitchFamily="2" charset="-122"/>
              </a:defRPr>
            </a:lvl1pPr>
          </a:lstStyle>
          <a:p>
            <a:pPr>
              <a:defRPr/>
            </a:pPr>
            <a:endParaRPr lang="zh-CN" altLang="en-US"/>
          </a:p>
        </p:txBody>
      </p:sp>
      <p:sp>
        <p:nvSpPr>
          <p:cNvPr id="51203" name="Rectangle 3"/>
          <p:cNvSpPr>
            <a:spLocks noGrp="1" noChangeArrowheads="1"/>
          </p:cNvSpPr>
          <p:nvPr>
            <p:ph type="dt" idx="1"/>
          </p:nvPr>
        </p:nvSpPr>
        <p:spPr bwMode="auto">
          <a:xfrm>
            <a:off x="3851815" y="1"/>
            <a:ext cx="2945862" cy="495714"/>
          </a:xfrm>
          <a:prstGeom prst="rect">
            <a:avLst/>
          </a:prstGeom>
          <a:noFill/>
          <a:ln w="9525">
            <a:noFill/>
            <a:miter lim="800000"/>
          </a:ln>
          <a:effectLst/>
        </p:spPr>
        <p:txBody>
          <a:bodyPr vert="horz" wrap="square" lIns="95549" tIns="47774" rIns="95549" bIns="47774" numCol="1" anchor="t" anchorCtr="0" compatLnSpc="1"/>
          <a:lstStyle>
            <a:lvl1pPr algn="r">
              <a:spcBef>
                <a:spcPct val="20000"/>
              </a:spcBef>
              <a:defRPr sz="1400">
                <a:latin typeface="宋体" panose="02010600030101010101" pitchFamily="2" charset="-122"/>
                <a:ea typeface="宋体" panose="02010600030101010101" pitchFamily="2" charset="-122"/>
              </a:defRPr>
            </a:lvl1pPr>
          </a:lstStyle>
          <a:p>
            <a:pPr>
              <a:defRPr/>
            </a:pPr>
            <a:endParaRPr lang="en-US" altLang="zh-CN"/>
          </a:p>
        </p:txBody>
      </p:sp>
      <p:sp>
        <p:nvSpPr>
          <p:cNvPr id="44036" name="Rectangle 4"/>
          <p:cNvSpPr>
            <a:spLocks noGrp="1" noRot="1" noChangeAspect="1" noChangeArrowheads="1" noTextEdit="1"/>
          </p:cNvSpPr>
          <p:nvPr>
            <p:ph type="sldImg" idx="2"/>
          </p:nvPr>
        </p:nvSpPr>
        <p:spPr bwMode="auto">
          <a:xfrm>
            <a:off x="917575" y="742950"/>
            <a:ext cx="4962525" cy="37226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51205" name="Rectangle 5"/>
          <p:cNvSpPr>
            <a:spLocks noGrp="1" noChangeArrowheads="1"/>
          </p:cNvSpPr>
          <p:nvPr>
            <p:ph type="body" sz="quarter" idx="3"/>
          </p:nvPr>
        </p:nvSpPr>
        <p:spPr bwMode="auto">
          <a:xfrm>
            <a:off x="905953" y="4713900"/>
            <a:ext cx="4985773" cy="4466042"/>
          </a:xfrm>
          <a:prstGeom prst="rect">
            <a:avLst/>
          </a:prstGeom>
          <a:noFill/>
          <a:ln w="9525">
            <a:noFill/>
            <a:miter lim="800000"/>
          </a:ln>
          <a:effectLst/>
        </p:spPr>
        <p:txBody>
          <a:bodyPr vert="horz" wrap="square" lIns="95549" tIns="47774" rIns="95549" bIns="47774"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06" name="Rectangle 6"/>
          <p:cNvSpPr>
            <a:spLocks noGrp="1" noChangeArrowheads="1"/>
          </p:cNvSpPr>
          <p:nvPr>
            <p:ph type="ftr" sz="quarter" idx="4"/>
          </p:nvPr>
        </p:nvSpPr>
        <p:spPr bwMode="auto">
          <a:xfrm>
            <a:off x="0" y="9429337"/>
            <a:ext cx="2945862" cy="495714"/>
          </a:xfrm>
          <a:prstGeom prst="rect">
            <a:avLst/>
          </a:prstGeom>
          <a:noFill/>
          <a:ln w="9525">
            <a:noFill/>
            <a:miter lim="800000"/>
          </a:ln>
          <a:effectLst/>
        </p:spPr>
        <p:txBody>
          <a:bodyPr vert="horz" wrap="square" lIns="95549" tIns="47774" rIns="95549" bIns="47774" numCol="1" anchor="b" anchorCtr="0" compatLnSpc="1"/>
          <a:lstStyle>
            <a:lvl1pPr>
              <a:spcBef>
                <a:spcPct val="20000"/>
              </a:spcBef>
              <a:defRPr sz="1400">
                <a:latin typeface="宋体" panose="02010600030101010101" pitchFamily="2" charset="-122"/>
                <a:ea typeface="宋体" panose="02010600030101010101" pitchFamily="2" charset="-122"/>
              </a:defRPr>
            </a:lvl1pPr>
          </a:lstStyle>
          <a:p>
            <a:pPr>
              <a:defRPr/>
            </a:pPr>
            <a:endParaRPr lang="en-US" altLang="zh-CN"/>
          </a:p>
        </p:txBody>
      </p:sp>
      <p:sp>
        <p:nvSpPr>
          <p:cNvPr id="51207" name="Rectangle 7"/>
          <p:cNvSpPr>
            <a:spLocks noGrp="1" noChangeArrowheads="1"/>
          </p:cNvSpPr>
          <p:nvPr>
            <p:ph type="sldNum" sz="quarter" idx="5"/>
          </p:nvPr>
        </p:nvSpPr>
        <p:spPr bwMode="auto">
          <a:xfrm>
            <a:off x="3851815" y="9429337"/>
            <a:ext cx="2945862" cy="495714"/>
          </a:xfrm>
          <a:prstGeom prst="rect">
            <a:avLst/>
          </a:prstGeom>
          <a:noFill/>
          <a:ln w="9525">
            <a:noFill/>
            <a:miter lim="800000"/>
          </a:ln>
          <a:effectLst/>
        </p:spPr>
        <p:txBody>
          <a:bodyPr vert="horz" wrap="square" lIns="95549" tIns="47774" rIns="95549" bIns="47774" numCol="1" anchor="b" anchorCtr="0" compatLnSpc="1"/>
          <a:lstStyle>
            <a:lvl1pPr algn="r">
              <a:spcBef>
                <a:spcPct val="20000"/>
              </a:spcBef>
              <a:defRPr sz="1400">
                <a:latin typeface="宋体" panose="02010600030101010101" pitchFamily="2" charset="-122"/>
                <a:ea typeface="宋体" panose="02010600030101010101" pitchFamily="2" charset="-122"/>
              </a:defRPr>
            </a:lvl1pPr>
          </a:lstStyle>
          <a:p>
            <a:pPr>
              <a:defRPr/>
            </a:pPr>
            <a:fld id="{E900B983-0E40-4C29-87BA-CE566D420E22}" type="slidenum">
              <a:rPr lang="zh-CN" altLang="en-US"/>
              <a:t>‹#›</a:t>
            </a:fld>
            <a:endParaRPr lang="en-US" altLang="zh-CN"/>
          </a:p>
        </p:txBody>
      </p:sp>
    </p:spTree>
    <p:extLst>
      <p:ext uri="{BB962C8B-B14F-4D97-AF65-F5344CB8AC3E}">
        <p14:creationId xmlns:p14="http://schemas.microsoft.com/office/powerpoint/2010/main" val="31672892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1</a:t>
            </a:fld>
            <a:endParaRPr lang="en-US" altLang="zh-CN"/>
          </a:p>
        </p:txBody>
      </p:sp>
    </p:spTree>
    <p:extLst>
      <p:ext uri="{BB962C8B-B14F-4D97-AF65-F5344CB8AC3E}">
        <p14:creationId xmlns:p14="http://schemas.microsoft.com/office/powerpoint/2010/main" val="1003212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E900B983-0E40-4C29-87BA-CE566D420E22}" type="slidenum">
              <a:rPr lang="zh-CN" altLang="en-US" smtClean="0"/>
              <a:t>2</a:t>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4</a:t>
            </a:fld>
            <a:endParaRPr lang="en-US" altLang="zh-CN"/>
          </a:p>
        </p:txBody>
      </p:sp>
    </p:spTree>
    <p:extLst>
      <p:ext uri="{BB962C8B-B14F-4D97-AF65-F5344CB8AC3E}">
        <p14:creationId xmlns:p14="http://schemas.microsoft.com/office/powerpoint/2010/main" val="852604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8159" indent="-287754" eaLnBrk="0" hangingPunct="0">
              <a:defRPr b="1">
                <a:solidFill>
                  <a:schemeClr val="tx1"/>
                </a:solidFill>
                <a:latin typeface="Verdana" panose="020B0604030504040204" pitchFamily="34" charset="0"/>
                <a:ea typeface="宋体" panose="02010600030101010101" pitchFamily="2" charset="-122"/>
              </a:defRPr>
            </a:lvl2pPr>
            <a:lvl3pPr marL="1151013" indent="-230203" eaLnBrk="0" hangingPunct="0">
              <a:defRPr b="1">
                <a:solidFill>
                  <a:schemeClr val="tx1"/>
                </a:solidFill>
                <a:latin typeface="Verdana" panose="020B0604030504040204" pitchFamily="34" charset="0"/>
                <a:ea typeface="宋体" panose="02010600030101010101" pitchFamily="2" charset="-122"/>
              </a:defRPr>
            </a:lvl3pPr>
            <a:lvl4pPr marL="1611418" indent="-230203" eaLnBrk="0" hangingPunct="0">
              <a:defRPr b="1">
                <a:solidFill>
                  <a:schemeClr val="tx1"/>
                </a:solidFill>
                <a:latin typeface="Verdana" panose="020B0604030504040204" pitchFamily="34" charset="0"/>
                <a:ea typeface="宋体" panose="02010600030101010101" pitchFamily="2" charset="-122"/>
              </a:defRPr>
            </a:lvl4pPr>
            <a:lvl5pPr marL="2071824" indent="-230203" eaLnBrk="0" hangingPunct="0">
              <a:defRPr b="1">
                <a:solidFill>
                  <a:schemeClr val="tx1"/>
                </a:solidFill>
                <a:latin typeface="Verdana" panose="020B0604030504040204" pitchFamily="34" charset="0"/>
                <a:ea typeface="宋体" panose="02010600030101010101" pitchFamily="2" charset="-122"/>
              </a:defRPr>
            </a:lvl5pPr>
            <a:lvl6pPr marL="2532228"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92633"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53039"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913444"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30A763F4-D5B0-4F5B-A970-138A4F7B7C7D}" type="slidenum">
              <a:rPr lang="en-US" altLang="zh-CN" b="0">
                <a:latin typeface="Times New Roman" panose="02020603050405020304" pitchFamily="18" charset="0"/>
              </a:rPr>
              <a:pPr eaLnBrk="1" hangingPunct="1"/>
              <a:t>8</a:t>
            </a:fld>
            <a:endParaRPr lang="en-US" altLang="zh-CN" b="0">
              <a:latin typeface="Times New Roman" panose="02020603050405020304" pitchFamily="18" charset="0"/>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6775179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11</a:t>
            </a:fld>
            <a:endParaRPr lang="en-US" altLang="zh-CN"/>
          </a:p>
        </p:txBody>
      </p:sp>
    </p:spTree>
    <p:extLst>
      <p:ext uri="{BB962C8B-B14F-4D97-AF65-F5344CB8AC3E}">
        <p14:creationId xmlns:p14="http://schemas.microsoft.com/office/powerpoint/2010/main" val="58346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幻灯片图像占位符 1">
            <a:extLst>
              <a:ext uri="{FF2B5EF4-FFF2-40B4-BE49-F238E27FC236}">
                <a16:creationId xmlns:a16="http://schemas.microsoft.com/office/drawing/2014/main" id="{4D181CE2-C810-43C3-839D-935D8FD53694}"/>
              </a:ext>
            </a:extLst>
          </p:cNvPr>
          <p:cNvSpPr>
            <a:spLocks noGrp="1" noRot="1" noChangeAspect="1" noTextEdit="1"/>
          </p:cNvSpPr>
          <p:nvPr>
            <p:ph type="sldImg"/>
          </p:nvPr>
        </p:nvSpPr>
        <p:spPr>
          <a:ln/>
        </p:spPr>
      </p:sp>
      <p:sp>
        <p:nvSpPr>
          <p:cNvPr id="14338" name="备注占位符 2">
            <a:extLst>
              <a:ext uri="{FF2B5EF4-FFF2-40B4-BE49-F238E27FC236}">
                <a16:creationId xmlns:a16="http://schemas.microsoft.com/office/drawing/2014/main" id="{86D7800E-2B5E-4875-9629-65C8BE95C0D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4339" name="灯片编号占位符 3">
            <a:extLst>
              <a:ext uri="{FF2B5EF4-FFF2-40B4-BE49-F238E27FC236}">
                <a16:creationId xmlns:a16="http://schemas.microsoft.com/office/drawing/2014/main" id="{900DAE87-5706-4EC3-B996-D3DB49C1A5D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74919" indent="-297103">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93009" indent="-237377">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70825" indent="-237377">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148641" indent="-237377">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89701" indent="-237377"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3030762" indent="-237377"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71823" indent="-237377"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912884" indent="-237377"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13B27ECD-B993-4BD4-8214-0405B50ACDDE}" type="slidenum">
              <a:rPr lang="en-US" altLang="zh-CN" sz="1300"/>
              <a:pPr>
                <a:spcBef>
                  <a:spcPct val="0"/>
                </a:spcBef>
              </a:pPr>
              <a:t>13</a:t>
            </a:fld>
            <a:endParaRPr lang="en-US" altLang="zh-CN" sz="13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a:ln/>
        </p:spPr>
      </p:sp>
      <p:sp>
        <p:nvSpPr>
          <p:cNvPr id="266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66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808907" indent="-31013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245333" indent="-247788">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744105" indent="-247788">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242877" indent="-247788">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703282" indent="-247788"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3163688" indent="-247788"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624092" indent="-247788"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4084498" indent="-247788"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DD55C020-47A6-49FD-A259-EB864C99010F}" type="slidenum">
              <a:rPr lang="en-US" altLang="zh-CN" sz="1400"/>
              <a:pPr>
                <a:spcBef>
                  <a:spcPct val="0"/>
                </a:spcBef>
              </a:pPr>
              <a:t>15</a:t>
            </a:fld>
            <a:endParaRPr lang="en-US" altLang="zh-CN" sz="1400"/>
          </a:p>
        </p:txBody>
      </p:sp>
    </p:spTree>
    <p:extLst>
      <p:ext uri="{BB962C8B-B14F-4D97-AF65-F5344CB8AC3E}">
        <p14:creationId xmlns:p14="http://schemas.microsoft.com/office/powerpoint/2010/main" val="1539400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D93255D-89C1-4D8E-89F1-25E097D8E03C}" type="slidenum">
              <a:rPr lang="en-US" altLang="zh-CN" smtClean="0"/>
              <a:pPr/>
              <a:t>16</a:t>
            </a:fld>
            <a:endParaRPr lang="en-US" altLang="zh-CN"/>
          </a:p>
        </p:txBody>
      </p:sp>
    </p:spTree>
    <p:extLst>
      <p:ext uri="{BB962C8B-B14F-4D97-AF65-F5344CB8AC3E}">
        <p14:creationId xmlns:p14="http://schemas.microsoft.com/office/powerpoint/2010/main" val="2197372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幻灯片图像占位符 1">
            <a:extLst>
              <a:ext uri="{FF2B5EF4-FFF2-40B4-BE49-F238E27FC236}">
                <a16:creationId xmlns:a16="http://schemas.microsoft.com/office/drawing/2014/main" id="{7D5C2ED5-3DCD-43A3-BB49-4C2F4719BD35}"/>
              </a:ext>
            </a:extLst>
          </p:cNvPr>
          <p:cNvSpPr>
            <a:spLocks noGrp="1" noRot="1" noChangeAspect="1" noTextEdit="1"/>
          </p:cNvSpPr>
          <p:nvPr>
            <p:ph type="sldImg"/>
          </p:nvPr>
        </p:nvSpPr>
        <p:spPr>
          <a:ln/>
        </p:spPr>
      </p:sp>
      <p:sp>
        <p:nvSpPr>
          <p:cNvPr id="18434" name="备注占位符 2">
            <a:extLst>
              <a:ext uri="{FF2B5EF4-FFF2-40B4-BE49-F238E27FC236}">
                <a16:creationId xmlns:a16="http://schemas.microsoft.com/office/drawing/2014/main" id="{388FCFBC-7A9B-46A8-B939-6D3BD8BA630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8435" name="灯片编号占位符 3">
            <a:extLst>
              <a:ext uri="{FF2B5EF4-FFF2-40B4-BE49-F238E27FC236}">
                <a16:creationId xmlns:a16="http://schemas.microsoft.com/office/drawing/2014/main" id="{2C0417F9-BBA9-4610-805D-C31C2F6F49A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300">
                <a:solidFill>
                  <a:schemeClr val="tx1"/>
                </a:solidFill>
                <a:latin typeface="Tahoma" panose="020B0604030504040204" pitchFamily="34" charset="0"/>
                <a:ea typeface="黑体" panose="02010609060101010101" pitchFamily="49" charset="-122"/>
              </a:defRPr>
            </a:lvl1pPr>
            <a:lvl2pPr marL="774919" indent="-297103">
              <a:defRPr kumimoji="1" sz="2300">
                <a:solidFill>
                  <a:schemeClr val="tx1"/>
                </a:solidFill>
                <a:latin typeface="Tahoma" panose="020B0604030504040204" pitchFamily="34" charset="0"/>
                <a:ea typeface="黑体" panose="02010609060101010101" pitchFamily="49" charset="-122"/>
              </a:defRPr>
            </a:lvl2pPr>
            <a:lvl3pPr marL="1193009" indent="-237377">
              <a:defRPr kumimoji="1" sz="2300">
                <a:solidFill>
                  <a:schemeClr val="tx1"/>
                </a:solidFill>
                <a:latin typeface="Tahoma" panose="020B0604030504040204" pitchFamily="34" charset="0"/>
                <a:ea typeface="黑体" panose="02010609060101010101" pitchFamily="49" charset="-122"/>
              </a:defRPr>
            </a:lvl3pPr>
            <a:lvl4pPr marL="1670825" indent="-237377">
              <a:defRPr kumimoji="1" sz="2300">
                <a:solidFill>
                  <a:schemeClr val="tx1"/>
                </a:solidFill>
                <a:latin typeface="Tahoma" panose="020B0604030504040204" pitchFamily="34" charset="0"/>
                <a:ea typeface="黑体" panose="02010609060101010101" pitchFamily="49" charset="-122"/>
              </a:defRPr>
            </a:lvl4pPr>
            <a:lvl5pPr marL="2148641" indent="-237377">
              <a:defRPr kumimoji="1" sz="2300">
                <a:solidFill>
                  <a:schemeClr val="tx1"/>
                </a:solidFill>
                <a:latin typeface="Tahoma" panose="020B0604030504040204" pitchFamily="34" charset="0"/>
                <a:ea typeface="黑体" panose="02010609060101010101" pitchFamily="49" charset="-122"/>
              </a:defRPr>
            </a:lvl5pPr>
            <a:lvl6pPr marL="2589701" indent="-237377" eaLnBrk="0" fontAlgn="base" hangingPunct="0">
              <a:spcBef>
                <a:spcPct val="0"/>
              </a:spcBef>
              <a:spcAft>
                <a:spcPct val="0"/>
              </a:spcAft>
              <a:defRPr kumimoji="1" sz="2300">
                <a:solidFill>
                  <a:schemeClr val="tx1"/>
                </a:solidFill>
                <a:latin typeface="Tahoma" panose="020B0604030504040204" pitchFamily="34" charset="0"/>
                <a:ea typeface="黑体" panose="02010609060101010101" pitchFamily="49" charset="-122"/>
              </a:defRPr>
            </a:lvl6pPr>
            <a:lvl7pPr marL="3030762" indent="-237377" eaLnBrk="0" fontAlgn="base" hangingPunct="0">
              <a:spcBef>
                <a:spcPct val="0"/>
              </a:spcBef>
              <a:spcAft>
                <a:spcPct val="0"/>
              </a:spcAft>
              <a:defRPr kumimoji="1" sz="2300">
                <a:solidFill>
                  <a:schemeClr val="tx1"/>
                </a:solidFill>
                <a:latin typeface="Tahoma" panose="020B0604030504040204" pitchFamily="34" charset="0"/>
                <a:ea typeface="黑体" panose="02010609060101010101" pitchFamily="49" charset="-122"/>
              </a:defRPr>
            </a:lvl7pPr>
            <a:lvl8pPr marL="3471823" indent="-237377" eaLnBrk="0" fontAlgn="base" hangingPunct="0">
              <a:spcBef>
                <a:spcPct val="0"/>
              </a:spcBef>
              <a:spcAft>
                <a:spcPct val="0"/>
              </a:spcAft>
              <a:defRPr kumimoji="1" sz="2300">
                <a:solidFill>
                  <a:schemeClr val="tx1"/>
                </a:solidFill>
                <a:latin typeface="Tahoma" panose="020B0604030504040204" pitchFamily="34" charset="0"/>
                <a:ea typeface="黑体" panose="02010609060101010101" pitchFamily="49" charset="-122"/>
              </a:defRPr>
            </a:lvl8pPr>
            <a:lvl9pPr marL="3912884" indent="-237377" eaLnBrk="0" fontAlgn="base" hangingPunct="0">
              <a:spcBef>
                <a:spcPct val="0"/>
              </a:spcBef>
              <a:spcAft>
                <a:spcPct val="0"/>
              </a:spcAft>
              <a:defRPr kumimoji="1" sz="2300">
                <a:solidFill>
                  <a:schemeClr val="tx1"/>
                </a:solidFill>
                <a:latin typeface="Tahoma" panose="020B0604030504040204" pitchFamily="34" charset="0"/>
                <a:ea typeface="黑体" panose="02010609060101010101" pitchFamily="49" charset="-122"/>
              </a:defRPr>
            </a:lvl9pPr>
          </a:lstStyle>
          <a:p>
            <a:fld id="{D4B39159-500B-46E6-A00D-F713172FE4F8}" type="slidenum">
              <a:rPr lang="en-US" altLang="zh-CN" sz="1300">
                <a:latin typeface="Times New Roman" panose="02020603050405020304" pitchFamily="18" charset="0"/>
                <a:ea typeface="宋体" panose="02010600030101010101" pitchFamily="2" charset="-122"/>
              </a:rPr>
              <a:pPr/>
              <a:t>18</a:t>
            </a:fld>
            <a:endParaRPr lang="en-US" altLang="zh-CN" sz="1300">
              <a:latin typeface="Times New Roman" panose="02020603050405020304" pitchFamily="18"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19</a:t>
            </a:fld>
            <a:endParaRPr lang="en-US" altLang="zh-CN"/>
          </a:p>
        </p:txBody>
      </p:sp>
    </p:spTree>
    <p:extLst>
      <p:ext uri="{BB962C8B-B14F-4D97-AF65-F5344CB8AC3E}">
        <p14:creationId xmlns:p14="http://schemas.microsoft.com/office/powerpoint/2010/main" val="27803452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a:extLst>
              <a:ext uri="{FF2B5EF4-FFF2-40B4-BE49-F238E27FC236}">
                <a16:creationId xmlns:a16="http://schemas.microsoft.com/office/drawing/2014/main" id="{4CAA5855-D1D3-4FAF-9140-1ED56843BA36}"/>
              </a:ext>
            </a:extLst>
          </p:cNvPr>
          <p:cNvSpPr>
            <a:spLocks noGrp="1" noRot="1" noChangeAspect="1" noTextEdit="1"/>
          </p:cNvSpPr>
          <p:nvPr>
            <p:ph type="sldImg"/>
          </p:nvPr>
        </p:nvSpPr>
        <p:spPr>
          <a:ln/>
        </p:spPr>
      </p:sp>
      <p:sp>
        <p:nvSpPr>
          <p:cNvPr id="21506" name="备注占位符 2">
            <a:extLst>
              <a:ext uri="{FF2B5EF4-FFF2-40B4-BE49-F238E27FC236}">
                <a16:creationId xmlns:a16="http://schemas.microsoft.com/office/drawing/2014/main" id="{4ACBD37F-B2F5-4A04-8330-E35A357869B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21507" name="灯片编号占位符 3">
            <a:extLst>
              <a:ext uri="{FF2B5EF4-FFF2-40B4-BE49-F238E27FC236}">
                <a16:creationId xmlns:a16="http://schemas.microsoft.com/office/drawing/2014/main" id="{496A399A-F16A-4C76-BE5A-102B5DD5A4A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74919" indent="-297103">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93009" indent="-237377">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70825" indent="-237377">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148641" indent="-237377">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89701" indent="-237377"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3030762" indent="-237377"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71823" indent="-237377"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912884" indent="-237377"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EB5A945-3169-42E4-9A0B-184E2E1D24C6}" type="slidenum">
              <a:rPr lang="en-US" altLang="zh-CN" sz="1300"/>
              <a:pPr>
                <a:spcBef>
                  <a:spcPct val="0"/>
                </a:spcBef>
              </a:pPr>
              <a:t>20</a:t>
            </a:fld>
            <a:endParaRPr lang="en-US" altLang="zh-CN" sz="13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21</a:t>
            </a:fld>
            <a:endParaRPr lang="en-US" altLang="zh-CN"/>
          </a:p>
        </p:txBody>
      </p:sp>
    </p:spTree>
    <p:extLst>
      <p:ext uri="{BB962C8B-B14F-4D97-AF65-F5344CB8AC3E}">
        <p14:creationId xmlns:p14="http://schemas.microsoft.com/office/powerpoint/2010/main" val="2047524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22</a:t>
            </a:fld>
            <a:endParaRPr lang="en-US" altLang="zh-CN"/>
          </a:p>
        </p:txBody>
      </p:sp>
    </p:spTree>
    <p:extLst>
      <p:ext uri="{BB962C8B-B14F-4D97-AF65-F5344CB8AC3E}">
        <p14:creationId xmlns:p14="http://schemas.microsoft.com/office/powerpoint/2010/main" val="24786817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8159" indent="-287754" eaLnBrk="0" hangingPunct="0">
              <a:defRPr b="1">
                <a:solidFill>
                  <a:schemeClr val="tx1"/>
                </a:solidFill>
                <a:latin typeface="Verdana" panose="020B0604030504040204" pitchFamily="34" charset="0"/>
                <a:ea typeface="宋体" panose="02010600030101010101" pitchFamily="2" charset="-122"/>
              </a:defRPr>
            </a:lvl2pPr>
            <a:lvl3pPr marL="1151013" indent="-230203" eaLnBrk="0" hangingPunct="0">
              <a:defRPr b="1">
                <a:solidFill>
                  <a:schemeClr val="tx1"/>
                </a:solidFill>
                <a:latin typeface="Verdana" panose="020B0604030504040204" pitchFamily="34" charset="0"/>
                <a:ea typeface="宋体" panose="02010600030101010101" pitchFamily="2" charset="-122"/>
              </a:defRPr>
            </a:lvl3pPr>
            <a:lvl4pPr marL="1611418" indent="-230203" eaLnBrk="0" hangingPunct="0">
              <a:defRPr b="1">
                <a:solidFill>
                  <a:schemeClr val="tx1"/>
                </a:solidFill>
                <a:latin typeface="Verdana" panose="020B0604030504040204" pitchFamily="34" charset="0"/>
                <a:ea typeface="宋体" panose="02010600030101010101" pitchFamily="2" charset="-122"/>
              </a:defRPr>
            </a:lvl4pPr>
            <a:lvl5pPr marL="2071824" indent="-230203" eaLnBrk="0" hangingPunct="0">
              <a:defRPr b="1">
                <a:solidFill>
                  <a:schemeClr val="tx1"/>
                </a:solidFill>
                <a:latin typeface="Verdana" panose="020B0604030504040204" pitchFamily="34" charset="0"/>
                <a:ea typeface="宋体" panose="02010600030101010101" pitchFamily="2" charset="-122"/>
              </a:defRPr>
            </a:lvl5pPr>
            <a:lvl6pPr marL="2532228"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92633"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53039"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913444"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5B91052A-5AC0-4554-A29A-3464F37E595B}" type="slidenum">
              <a:rPr lang="en-US" altLang="zh-CN" b="0">
                <a:latin typeface="Times New Roman" panose="02020603050405020304" pitchFamily="18" charset="0"/>
              </a:rPr>
              <a:pPr eaLnBrk="1" hangingPunct="1"/>
              <a:t>23</a:t>
            </a:fld>
            <a:endParaRPr lang="en-US" altLang="zh-CN" b="0">
              <a:latin typeface="Times New Roman" panose="02020603050405020304" pitchFamily="18" charset="0"/>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4248829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8159" indent="-287754" eaLnBrk="0" hangingPunct="0">
              <a:defRPr b="1">
                <a:solidFill>
                  <a:schemeClr val="tx1"/>
                </a:solidFill>
                <a:latin typeface="Verdana" panose="020B0604030504040204" pitchFamily="34" charset="0"/>
                <a:ea typeface="宋体" panose="02010600030101010101" pitchFamily="2" charset="-122"/>
              </a:defRPr>
            </a:lvl2pPr>
            <a:lvl3pPr marL="1151013" indent="-230203" eaLnBrk="0" hangingPunct="0">
              <a:defRPr b="1">
                <a:solidFill>
                  <a:schemeClr val="tx1"/>
                </a:solidFill>
                <a:latin typeface="Verdana" panose="020B0604030504040204" pitchFamily="34" charset="0"/>
                <a:ea typeface="宋体" panose="02010600030101010101" pitchFamily="2" charset="-122"/>
              </a:defRPr>
            </a:lvl3pPr>
            <a:lvl4pPr marL="1611418" indent="-230203" eaLnBrk="0" hangingPunct="0">
              <a:defRPr b="1">
                <a:solidFill>
                  <a:schemeClr val="tx1"/>
                </a:solidFill>
                <a:latin typeface="Verdana" panose="020B0604030504040204" pitchFamily="34" charset="0"/>
                <a:ea typeface="宋体" panose="02010600030101010101" pitchFamily="2" charset="-122"/>
              </a:defRPr>
            </a:lvl4pPr>
            <a:lvl5pPr marL="2071824" indent="-230203" eaLnBrk="0" hangingPunct="0">
              <a:defRPr b="1">
                <a:solidFill>
                  <a:schemeClr val="tx1"/>
                </a:solidFill>
                <a:latin typeface="Verdana" panose="020B0604030504040204" pitchFamily="34" charset="0"/>
                <a:ea typeface="宋体" panose="02010600030101010101" pitchFamily="2" charset="-122"/>
              </a:defRPr>
            </a:lvl5pPr>
            <a:lvl6pPr marL="2532228"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92633"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53039"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913444"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0C66EC43-163F-4706-B1DA-B71EEBB247A0}" type="slidenum">
              <a:rPr lang="en-US" altLang="zh-CN" b="0">
                <a:latin typeface="Times New Roman" panose="02020603050405020304" pitchFamily="18" charset="0"/>
              </a:rPr>
              <a:pPr eaLnBrk="1" hangingPunct="1"/>
              <a:t>24</a:t>
            </a:fld>
            <a:endParaRPr lang="en-US" altLang="zh-CN" b="0">
              <a:latin typeface="Times New Roman" panose="02020603050405020304" pitchFamily="18"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385838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27</a:t>
            </a:fld>
            <a:endParaRPr lang="en-US" altLang="zh-CN"/>
          </a:p>
        </p:txBody>
      </p:sp>
    </p:spTree>
    <p:extLst>
      <p:ext uri="{BB962C8B-B14F-4D97-AF65-F5344CB8AC3E}">
        <p14:creationId xmlns:p14="http://schemas.microsoft.com/office/powerpoint/2010/main" val="37978711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Alpha 21064 is a </a:t>
            </a:r>
            <a:r>
              <a:rPr lang="en-US" altLang="zh-CN" dirty="0" err="1"/>
              <a:t>superpipelined</a:t>
            </a:r>
            <a:r>
              <a:rPr lang="en-US" altLang="zh-CN" dirty="0"/>
              <a:t> dual-issue superscalar microprocessor that executes instructions in-order. It is capable of issuing up to two instructions every clock cycle to four functional units: an integer unit, a floating-point unit (FPU), an address unit, and a branch unit. The integer pipeline is seven stages long, and the floating-point pipeline ten stages.</a:t>
            </a:r>
          </a:p>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29</a:t>
            </a:fld>
            <a:endParaRPr lang="en-US" altLang="zh-CN"/>
          </a:p>
        </p:txBody>
      </p:sp>
    </p:spTree>
    <p:extLst>
      <p:ext uri="{BB962C8B-B14F-4D97-AF65-F5344CB8AC3E}">
        <p14:creationId xmlns:p14="http://schemas.microsoft.com/office/powerpoint/2010/main" val="27685676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22470" indent="-277873" eaLnBrk="0" hangingPunct="0">
              <a:defRPr b="1">
                <a:solidFill>
                  <a:schemeClr val="tx1"/>
                </a:solidFill>
                <a:latin typeface="Verdana" panose="020B0604030504040204" pitchFamily="34" charset="0"/>
                <a:ea typeface="宋体" panose="02010600030101010101" pitchFamily="2" charset="-122"/>
              </a:defRPr>
            </a:lvl2pPr>
            <a:lvl3pPr marL="1111491" indent="-222298" eaLnBrk="0" hangingPunct="0">
              <a:defRPr b="1">
                <a:solidFill>
                  <a:schemeClr val="tx1"/>
                </a:solidFill>
                <a:latin typeface="Verdana" panose="020B0604030504040204" pitchFamily="34" charset="0"/>
                <a:ea typeface="宋体" panose="02010600030101010101" pitchFamily="2" charset="-122"/>
              </a:defRPr>
            </a:lvl3pPr>
            <a:lvl4pPr marL="1556087" indent="-222298" eaLnBrk="0" hangingPunct="0">
              <a:defRPr b="1">
                <a:solidFill>
                  <a:schemeClr val="tx1"/>
                </a:solidFill>
                <a:latin typeface="Verdana" panose="020B0604030504040204" pitchFamily="34" charset="0"/>
                <a:ea typeface="宋体" panose="02010600030101010101" pitchFamily="2" charset="-122"/>
              </a:defRPr>
            </a:lvl4pPr>
            <a:lvl5pPr marL="2000685" indent="-222298" eaLnBrk="0" hangingPunct="0">
              <a:defRPr b="1">
                <a:solidFill>
                  <a:schemeClr val="tx1"/>
                </a:solidFill>
                <a:latin typeface="Verdana" panose="020B0604030504040204" pitchFamily="34" charset="0"/>
                <a:ea typeface="宋体" panose="02010600030101010101" pitchFamily="2" charset="-122"/>
              </a:defRPr>
            </a:lvl5pPr>
            <a:lvl6pPr marL="2445280"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889877"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334473"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779069"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95DD200D-379D-4780-9FBA-9F4B5DC2E51B}" type="slidenum">
              <a:rPr lang="en-US" altLang="zh-CN" b="0">
                <a:latin typeface="Times New Roman" panose="02020603050405020304" pitchFamily="18" charset="0"/>
              </a:rPr>
              <a:pPr eaLnBrk="1" hangingPunct="1"/>
              <a:t>30</a:t>
            </a:fld>
            <a:endParaRPr lang="en-US" altLang="zh-CN" b="0">
              <a:latin typeface="Times New Roman" panose="02020603050405020304" pitchFamily="18"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dirty="0"/>
              <a:t>The 21064 has two on-die primary caches: an 8 KB data cache (known as the D-cache) using a write-through write policy and an 8 KB instruction cache (known as the I-cache). Both caches are direct-mapped for single-cycle access and have 32-byte line size. The caches are built with six-transistor static random access memory (SRAM) cells that have an area of 98 μm2. </a:t>
            </a:r>
            <a:endParaRPr lang="zh-CN" altLang="en-US" dirty="0"/>
          </a:p>
        </p:txBody>
      </p:sp>
    </p:spTree>
    <p:extLst>
      <p:ext uri="{BB962C8B-B14F-4D97-AF65-F5344CB8AC3E}">
        <p14:creationId xmlns:p14="http://schemas.microsoft.com/office/powerpoint/2010/main" val="24729050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a:ln/>
        </p:spPr>
      </p:sp>
      <p:sp>
        <p:nvSpPr>
          <p:cNvPr id="901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01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81131" indent="-29948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202572" indent="-239279">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84219" indent="-239279">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165864" indent="-239279">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610461"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3055057"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99653"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944249"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31D6AAD-CB49-4729-AF68-03CC03BDD10A}" type="slidenum">
              <a:rPr lang="en-US" altLang="zh-CN" sz="1300"/>
              <a:pPr>
                <a:spcBef>
                  <a:spcPct val="0"/>
                </a:spcBef>
              </a:pPr>
              <a:t>31</a:t>
            </a:fld>
            <a:endParaRPr lang="en-US" altLang="zh-CN" sz="1300"/>
          </a:p>
        </p:txBody>
      </p:sp>
    </p:spTree>
    <p:extLst>
      <p:ext uri="{BB962C8B-B14F-4D97-AF65-F5344CB8AC3E}">
        <p14:creationId xmlns:p14="http://schemas.microsoft.com/office/powerpoint/2010/main" val="3600597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31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81131" indent="-29948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202572" indent="-239279">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84219" indent="-239279">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165864" indent="-239279">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610461"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3055057"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99653"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944249"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0B516D8-E88F-4DC4-AAAB-5B9929D2A95C}" type="slidenum">
              <a:rPr lang="en-US" altLang="zh-CN" sz="1300"/>
              <a:pPr>
                <a:spcBef>
                  <a:spcPct val="0"/>
                </a:spcBef>
              </a:pPr>
              <a:t>32</a:t>
            </a:fld>
            <a:endParaRPr lang="en-US" altLang="zh-CN" sz="1300"/>
          </a:p>
        </p:txBody>
      </p:sp>
    </p:spTree>
    <p:extLst>
      <p:ext uri="{BB962C8B-B14F-4D97-AF65-F5344CB8AC3E}">
        <p14:creationId xmlns:p14="http://schemas.microsoft.com/office/powerpoint/2010/main" val="2857894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a:ln/>
        </p:spPr>
      </p:sp>
      <p:sp>
        <p:nvSpPr>
          <p:cNvPr id="962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62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81131" indent="-29948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202572" indent="-239279">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84219" indent="-239279">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165864" indent="-239279">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610461"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3055057"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99653"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944249"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E7BF1023-8EC3-4EB6-8A3B-12A499498F6B}" type="slidenum">
              <a:rPr lang="en-US" altLang="zh-CN" sz="1300"/>
              <a:pPr>
                <a:spcBef>
                  <a:spcPct val="0"/>
                </a:spcBef>
              </a:pPr>
              <a:t>34</a:t>
            </a:fld>
            <a:endParaRPr lang="en-US" altLang="zh-CN" sz="1300"/>
          </a:p>
        </p:txBody>
      </p:sp>
    </p:spTree>
    <p:extLst>
      <p:ext uri="{BB962C8B-B14F-4D97-AF65-F5344CB8AC3E}">
        <p14:creationId xmlns:p14="http://schemas.microsoft.com/office/powerpoint/2010/main" val="22864939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a:ln/>
        </p:spPr>
      </p:sp>
      <p:sp>
        <p:nvSpPr>
          <p:cNvPr id="983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983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81131" indent="-29948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202572" indent="-239279">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84219" indent="-239279">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165864" indent="-239279">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610461"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3055057"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99653"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944249"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97C59D3-818F-4B7D-943F-CE5DDCB4CA7D}" type="slidenum">
              <a:rPr lang="en-US" altLang="zh-CN" sz="1300"/>
              <a:pPr>
                <a:spcBef>
                  <a:spcPct val="0"/>
                </a:spcBef>
              </a:pPr>
              <a:t>35</a:t>
            </a:fld>
            <a:endParaRPr lang="en-US" altLang="zh-CN" sz="1300"/>
          </a:p>
        </p:txBody>
      </p:sp>
    </p:spTree>
    <p:extLst>
      <p:ext uri="{BB962C8B-B14F-4D97-AF65-F5344CB8AC3E}">
        <p14:creationId xmlns:p14="http://schemas.microsoft.com/office/powerpoint/2010/main" val="18769338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22470" indent="-277873" eaLnBrk="0" hangingPunct="0">
              <a:defRPr b="1">
                <a:solidFill>
                  <a:schemeClr val="tx1"/>
                </a:solidFill>
                <a:latin typeface="Verdana" panose="020B0604030504040204" pitchFamily="34" charset="0"/>
                <a:ea typeface="宋体" panose="02010600030101010101" pitchFamily="2" charset="-122"/>
              </a:defRPr>
            </a:lvl2pPr>
            <a:lvl3pPr marL="1111491" indent="-222298" eaLnBrk="0" hangingPunct="0">
              <a:defRPr b="1">
                <a:solidFill>
                  <a:schemeClr val="tx1"/>
                </a:solidFill>
                <a:latin typeface="Verdana" panose="020B0604030504040204" pitchFamily="34" charset="0"/>
                <a:ea typeface="宋体" panose="02010600030101010101" pitchFamily="2" charset="-122"/>
              </a:defRPr>
            </a:lvl3pPr>
            <a:lvl4pPr marL="1556087" indent="-222298" eaLnBrk="0" hangingPunct="0">
              <a:defRPr b="1">
                <a:solidFill>
                  <a:schemeClr val="tx1"/>
                </a:solidFill>
                <a:latin typeface="Verdana" panose="020B0604030504040204" pitchFamily="34" charset="0"/>
                <a:ea typeface="宋体" panose="02010600030101010101" pitchFamily="2" charset="-122"/>
              </a:defRPr>
            </a:lvl4pPr>
            <a:lvl5pPr marL="2000685" indent="-222298" eaLnBrk="0" hangingPunct="0">
              <a:defRPr b="1">
                <a:solidFill>
                  <a:schemeClr val="tx1"/>
                </a:solidFill>
                <a:latin typeface="Verdana" panose="020B0604030504040204" pitchFamily="34" charset="0"/>
                <a:ea typeface="宋体" panose="02010600030101010101" pitchFamily="2" charset="-122"/>
              </a:defRPr>
            </a:lvl5pPr>
            <a:lvl6pPr marL="2445280"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889877"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334473"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779069"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41448D70-C594-44D0-A2E7-E1638EBBABC1}" type="slidenum">
              <a:rPr lang="en-US" altLang="zh-CN" b="0">
                <a:latin typeface="Times New Roman" panose="02020603050405020304" pitchFamily="18" charset="0"/>
              </a:rPr>
              <a:pPr eaLnBrk="1" hangingPunct="1"/>
              <a:t>36</a:t>
            </a:fld>
            <a:endParaRPr lang="en-US" altLang="zh-CN" b="0">
              <a:latin typeface="Times New Roman" panose="02020603050405020304" pitchFamily="18"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2519897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a:ln/>
        </p:spPr>
      </p:sp>
      <p:sp>
        <p:nvSpPr>
          <p:cNvPr id="1054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54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81131" indent="-29948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202572" indent="-239279">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84219" indent="-239279">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165864" indent="-239279">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610461"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3055057"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99653"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944249"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9AD4228-31D5-45DB-8407-86A0BD526D4B}" type="slidenum">
              <a:rPr lang="en-US" altLang="zh-CN" sz="1300"/>
              <a:pPr>
                <a:spcBef>
                  <a:spcPct val="0"/>
                </a:spcBef>
              </a:pPr>
              <a:t>37</a:t>
            </a:fld>
            <a:endParaRPr lang="en-US" altLang="zh-CN" sz="1300"/>
          </a:p>
        </p:txBody>
      </p:sp>
    </p:spTree>
    <p:extLst>
      <p:ext uri="{BB962C8B-B14F-4D97-AF65-F5344CB8AC3E}">
        <p14:creationId xmlns:p14="http://schemas.microsoft.com/office/powerpoint/2010/main" val="19274037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a:ln/>
        </p:spPr>
      </p:sp>
      <p:sp>
        <p:nvSpPr>
          <p:cNvPr id="1075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075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81131" indent="-29948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202572" indent="-239279">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84219" indent="-239279">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165864" indent="-239279">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610461"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3055057"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99653"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944249"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26C05551-CD1B-4EBD-8FA6-BF8B5282FCCD}" type="slidenum">
              <a:rPr lang="en-US" altLang="zh-CN" sz="1300"/>
              <a:pPr>
                <a:spcBef>
                  <a:spcPct val="0"/>
                </a:spcBef>
              </a:pPr>
              <a:t>38</a:t>
            </a:fld>
            <a:endParaRPr lang="en-US" altLang="zh-CN" sz="1300"/>
          </a:p>
        </p:txBody>
      </p:sp>
    </p:spTree>
    <p:extLst>
      <p:ext uri="{BB962C8B-B14F-4D97-AF65-F5344CB8AC3E}">
        <p14:creationId xmlns:p14="http://schemas.microsoft.com/office/powerpoint/2010/main" val="32030035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a:ln/>
        </p:spPr>
      </p:sp>
      <p:sp>
        <p:nvSpPr>
          <p:cNvPr id="1126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1126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81131" indent="-29948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202572" indent="-239279">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84219" indent="-239279">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165864" indent="-239279">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610461"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3055057"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99653"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944249"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06A945BA-0ABD-4B98-AED3-20CFB040583E}" type="slidenum">
              <a:rPr lang="en-US" altLang="zh-CN" sz="1300"/>
              <a:pPr>
                <a:spcBef>
                  <a:spcPct val="0"/>
                </a:spcBef>
              </a:pPr>
              <a:t>39</a:t>
            </a:fld>
            <a:endParaRPr lang="en-US" altLang="zh-CN" sz="1300"/>
          </a:p>
        </p:txBody>
      </p:sp>
    </p:spTree>
    <p:extLst>
      <p:ext uri="{BB962C8B-B14F-4D97-AF65-F5344CB8AC3E}">
        <p14:creationId xmlns:p14="http://schemas.microsoft.com/office/powerpoint/2010/main" val="42222392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22470" indent="-277873" eaLnBrk="0" hangingPunct="0">
              <a:defRPr b="1">
                <a:solidFill>
                  <a:schemeClr val="tx1"/>
                </a:solidFill>
                <a:latin typeface="Verdana" panose="020B0604030504040204" pitchFamily="34" charset="0"/>
                <a:ea typeface="宋体" panose="02010600030101010101" pitchFamily="2" charset="-122"/>
              </a:defRPr>
            </a:lvl2pPr>
            <a:lvl3pPr marL="1111491" indent="-222298" eaLnBrk="0" hangingPunct="0">
              <a:defRPr b="1">
                <a:solidFill>
                  <a:schemeClr val="tx1"/>
                </a:solidFill>
                <a:latin typeface="Verdana" panose="020B0604030504040204" pitchFamily="34" charset="0"/>
                <a:ea typeface="宋体" panose="02010600030101010101" pitchFamily="2" charset="-122"/>
              </a:defRPr>
            </a:lvl3pPr>
            <a:lvl4pPr marL="1556087" indent="-222298" eaLnBrk="0" hangingPunct="0">
              <a:defRPr b="1">
                <a:solidFill>
                  <a:schemeClr val="tx1"/>
                </a:solidFill>
                <a:latin typeface="Verdana" panose="020B0604030504040204" pitchFamily="34" charset="0"/>
                <a:ea typeface="宋体" panose="02010600030101010101" pitchFamily="2" charset="-122"/>
              </a:defRPr>
            </a:lvl4pPr>
            <a:lvl5pPr marL="2000685" indent="-222298" eaLnBrk="0" hangingPunct="0">
              <a:defRPr b="1">
                <a:solidFill>
                  <a:schemeClr val="tx1"/>
                </a:solidFill>
                <a:latin typeface="Verdana" panose="020B0604030504040204" pitchFamily="34" charset="0"/>
                <a:ea typeface="宋体" panose="02010600030101010101" pitchFamily="2" charset="-122"/>
              </a:defRPr>
            </a:lvl5pPr>
            <a:lvl6pPr marL="2445280"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889877"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334473"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779069"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32AD70A4-EFF1-4E86-8DD6-DE086FBB8BC4}" type="slidenum">
              <a:rPr lang="en-US" altLang="zh-CN" b="0">
                <a:latin typeface="Times New Roman" panose="02020603050405020304" pitchFamily="18" charset="0"/>
              </a:rPr>
              <a:pPr eaLnBrk="1" hangingPunct="1"/>
              <a:t>40</a:t>
            </a:fld>
            <a:endParaRPr lang="en-US" altLang="zh-CN" b="0">
              <a:latin typeface="Times New Roman" panose="02020603050405020304" pitchFamily="18"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40355642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22470" indent="-277873" eaLnBrk="0" hangingPunct="0">
              <a:defRPr b="1">
                <a:solidFill>
                  <a:schemeClr val="tx1"/>
                </a:solidFill>
                <a:latin typeface="Verdana" panose="020B0604030504040204" pitchFamily="34" charset="0"/>
                <a:ea typeface="宋体" panose="02010600030101010101" pitchFamily="2" charset="-122"/>
              </a:defRPr>
            </a:lvl2pPr>
            <a:lvl3pPr marL="1111491" indent="-222298" eaLnBrk="0" hangingPunct="0">
              <a:defRPr b="1">
                <a:solidFill>
                  <a:schemeClr val="tx1"/>
                </a:solidFill>
                <a:latin typeface="Verdana" panose="020B0604030504040204" pitchFamily="34" charset="0"/>
                <a:ea typeface="宋体" panose="02010600030101010101" pitchFamily="2" charset="-122"/>
              </a:defRPr>
            </a:lvl3pPr>
            <a:lvl4pPr marL="1556087" indent="-222298" eaLnBrk="0" hangingPunct="0">
              <a:defRPr b="1">
                <a:solidFill>
                  <a:schemeClr val="tx1"/>
                </a:solidFill>
                <a:latin typeface="Verdana" panose="020B0604030504040204" pitchFamily="34" charset="0"/>
                <a:ea typeface="宋体" panose="02010600030101010101" pitchFamily="2" charset="-122"/>
              </a:defRPr>
            </a:lvl4pPr>
            <a:lvl5pPr marL="2000685" indent="-222298" eaLnBrk="0" hangingPunct="0">
              <a:defRPr b="1">
                <a:solidFill>
                  <a:schemeClr val="tx1"/>
                </a:solidFill>
                <a:latin typeface="Verdana" panose="020B0604030504040204" pitchFamily="34" charset="0"/>
                <a:ea typeface="宋体" panose="02010600030101010101" pitchFamily="2" charset="-122"/>
              </a:defRPr>
            </a:lvl5pPr>
            <a:lvl6pPr marL="2445280"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889877"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334473"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779069"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75498D2C-03A4-4C24-96BF-04EB378BEE18}" type="slidenum">
              <a:rPr lang="en-US" altLang="zh-CN" b="0">
                <a:latin typeface="Times New Roman" panose="02020603050405020304" pitchFamily="18" charset="0"/>
              </a:rPr>
              <a:pPr eaLnBrk="1" hangingPunct="1"/>
              <a:t>41</a:t>
            </a:fld>
            <a:endParaRPr lang="en-US" altLang="zh-CN" b="0">
              <a:latin typeface="Times New Roman" panose="02020603050405020304" pitchFamily="18"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0048752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22470" indent="-277873" eaLnBrk="0" hangingPunct="0">
              <a:defRPr b="1">
                <a:solidFill>
                  <a:schemeClr val="tx1"/>
                </a:solidFill>
                <a:latin typeface="Verdana" panose="020B0604030504040204" pitchFamily="34" charset="0"/>
                <a:ea typeface="宋体" panose="02010600030101010101" pitchFamily="2" charset="-122"/>
              </a:defRPr>
            </a:lvl2pPr>
            <a:lvl3pPr marL="1111491" indent="-222298" eaLnBrk="0" hangingPunct="0">
              <a:defRPr b="1">
                <a:solidFill>
                  <a:schemeClr val="tx1"/>
                </a:solidFill>
                <a:latin typeface="Verdana" panose="020B0604030504040204" pitchFamily="34" charset="0"/>
                <a:ea typeface="宋体" panose="02010600030101010101" pitchFamily="2" charset="-122"/>
              </a:defRPr>
            </a:lvl3pPr>
            <a:lvl4pPr marL="1556087" indent="-222298" eaLnBrk="0" hangingPunct="0">
              <a:defRPr b="1">
                <a:solidFill>
                  <a:schemeClr val="tx1"/>
                </a:solidFill>
                <a:latin typeface="Verdana" panose="020B0604030504040204" pitchFamily="34" charset="0"/>
                <a:ea typeface="宋体" panose="02010600030101010101" pitchFamily="2" charset="-122"/>
              </a:defRPr>
            </a:lvl4pPr>
            <a:lvl5pPr marL="2000685" indent="-222298" eaLnBrk="0" hangingPunct="0">
              <a:defRPr b="1">
                <a:solidFill>
                  <a:schemeClr val="tx1"/>
                </a:solidFill>
                <a:latin typeface="Verdana" panose="020B0604030504040204" pitchFamily="34" charset="0"/>
                <a:ea typeface="宋体" panose="02010600030101010101" pitchFamily="2" charset="-122"/>
              </a:defRPr>
            </a:lvl5pPr>
            <a:lvl6pPr marL="2445280"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889877"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334473"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779069"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C26FE084-FD6D-41D5-88DF-1FD1F4FA67DE}" type="slidenum">
              <a:rPr lang="en-US" altLang="zh-CN" b="0">
                <a:latin typeface="Times New Roman" panose="02020603050405020304" pitchFamily="18" charset="0"/>
              </a:rPr>
              <a:pPr eaLnBrk="1" hangingPunct="1"/>
              <a:t>42</a:t>
            </a:fld>
            <a:endParaRPr lang="en-US" altLang="zh-CN" b="0">
              <a:latin typeface="Times New Roman" panose="02020603050405020304" pitchFamily="18"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312754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a:ln/>
        </p:spPr>
      </p:sp>
      <p:sp>
        <p:nvSpPr>
          <p:cNvPr id="1228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28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81131" indent="-299485">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202572" indent="-239279">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84219" indent="-239279">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165864" indent="-239279">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610461"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3055057"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99653"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944249" indent="-239279"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57FF622-67F4-47AB-B147-7A37CBD03137}" type="slidenum">
              <a:rPr lang="en-US" altLang="zh-CN" sz="1300"/>
              <a:pPr>
                <a:spcBef>
                  <a:spcPct val="0"/>
                </a:spcBef>
              </a:pPr>
              <a:t>43</a:t>
            </a:fld>
            <a:endParaRPr lang="en-US" altLang="zh-CN" sz="1300"/>
          </a:p>
        </p:txBody>
      </p:sp>
    </p:spTree>
    <p:extLst>
      <p:ext uri="{BB962C8B-B14F-4D97-AF65-F5344CB8AC3E}">
        <p14:creationId xmlns:p14="http://schemas.microsoft.com/office/powerpoint/2010/main" val="33615548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44</a:t>
            </a:fld>
            <a:endParaRPr lang="en-US" altLang="zh-CN"/>
          </a:p>
        </p:txBody>
      </p:sp>
    </p:spTree>
    <p:extLst>
      <p:ext uri="{BB962C8B-B14F-4D97-AF65-F5344CB8AC3E}">
        <p14:creationId xmlns:p14="http://schemas.microsoft.com/office/powerpoint/2010/main" val="25694138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a:ln/>
        </p:spPr>
      </p:sp>
      <p:sp>
        <p:nvSpPr>
          <p:cNvPr id="1259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25956" name="幻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300">
                <a:solidFill>
                  <a:schemeClr val="tx1"/>
                </a:solidFill>
                <a:latin typeface="Tahoma" panose="020B0604030504040204" pitchFamily="34" charset="0"/>
                <a:ea typeface="黑体" panose="02010609060101010101" pitchFamily="49" charset="-122"/>
              </a:defRPr>
            </a:lvl1pPr>
            <a:lvl2pPr marL="781131" indent="-299485">
              <a:defRPr kumimoji="1" sz="2300">
                <a:solidFill>
                  <a:schemeClr val="tx1"/>
                </a:solidFill>
                <a:latin typeface="Tahoma" panose="020B0604030504040204" pitchFamily="34" charset="0"/>
                <a:ea typeface="黑体" panose="02010609060101010101" pitchFamily="49" charset="-122"/>
              </a:defRPr>
            </a:lvl2pPr>
            <a:lvl3pPr marL="1202572" indent="-239279">
              <a:defRPr kumimoji="1" sz="2300">
                <a:solidFill>
                  <a:schemeClr val="tx1"/>
                </a:solidFill>
                <a:latin typeface="Tahoma" panose="020B0604030504040204" pitchFamily="34" charset="0"/>
                <a:ea typeface="黑体" panose="02010609060101010101" pitchFamily="49" charset="-122"/>
              </a:defRPr>
            </a:lvl3pPr>
            <a:lvl4pPr marL="1684219" indent="-239279">
              <a:defRPr kumimoji="1" sz="2300">
                <a:solidFill>
                  <a:schemeClr val="tx1"/>
                </a:solidFill>
                <a:latin typeface="Tahoma" panose="020B0604030504040204" pitchFamily="34" charset="0"/>
                <a:ea typeface="黑体" panose="02010609060101010101" pitchFamily="49" charset="-122"/>
              </a:defRPr>
            </a:lvl4pPr>
            <a:lvl5pPr marL="2165864" indent="-239279">
              <a:defRPr kumimoji="1" sz="2300">
                <a:solidFill>
                  <a:schemeClr val="tx1"/>
                </a:solidFill>
                <a:latin typeface="Tahoma" panose="020B0604030504040204" pitchFamily="34" charset="0"/>
                <a:ea typeface="黑体" panose="02010609060101010101" pitchFamily="49" charset="-122"/>
              </a:defRPr>
            </a:lvl5pPr>
            <a:lvl6pPr marL="2610461" indent="-239279" eaLnBrk="0" fontAlgn="base" hangingPunct="0">
              <a:spcBef>
                <a:spcPct val="0"/>
              </a:spcBef>
              <a:spcAft>
                <a:spcPct val="0"/>
              </a:spcAft>
              <a:defRPr kumimoji="1" sz="2300">
                <a:solidFill>
                  <a:schemeClr val="tx1"/>
                </a:solidFill>
                <a:latin typeface="Tahoma" panose="020B0604030504040204" pitchFamily="34" charset="0"/>
                <a:ea typeface="黑体" panose="02010609060101010101" pitchFamily="49" charset="-122"/>
              </a:defRPr>
            </a:lvl6pPr>
            <a:lvl7pPr marL="3055057" indent="-239279" eaLnBrk="0" fontAlgn="base" hangingPunct="0">
              <a:spcBef>
                <a:spcPct val="0"/>
              </a:spcBef>
              <a:spcAft>
                <a:spcPct val="0"/>
              </a:spcAft>
              <a:defRPr kumimoji="1" sz="2300">
                <a:solidFill>
                  <a:schemeClr val="tx1"/>
                </a:solidFill>
                <a:latin typeface="Tahoma" panose="020B0604030504040204" pitchFamily="34" charset="0"/>
                <a:ea typeface="黑体" panose="02010609060101010101" pitchFamily="49" charset="-122"/>
              </a:defRPr>
            </a:lvl7pPr>
            <a:lvl8pPr marL="3499653" indent="-239279" eaLnBrk="0" fontAlgn="base" hangingPunct="0">
              <a:spcBef>
                <a:spcPct val="0"/>
              </a:spcBef>
              <a:spcAft>
                <a:spcPct val="0"/>
              </a:spcAft>
              <a:defRPr kumimoji="1" sz="2300">
                <a:solidFill>
                  <a:schemeClr val="tx1"/>
                </a:solidFill>
                <a:latin typeface="Tahoma" panose="020B0604030504040204" pitchFamily="34" charset="0"/>
                <a:ea typeface="黑体" panose="02010609060101010101" pitchFamily="49" charset="-122"/>
              </a:defRPr>
            </a:lvl8pPr>
            <a:lvl9pPr marL="3944249" indent="-239279" eaLnBrk="0" fontAlgn="base" hangingPunct="0">
              <a:spcBef>
                <a:spcPct val="0"/>
              </a:spcBef>
              <a:spcAft>
                <a:spcPct val="0"/>
              </a:spcAft>
              <a:defRPr kumimoji="1" sz="2300">
                <a:solidFill>
                  <a:schemeClr val="tx1"/>
                </a:solidFill>
                <a:latin typeface="Tahoma" panose="020B0604030504040204" pitchFamily="34" charset="0"/>
                <a:ea typeface="黑体" panose="02010609060101010101" pitchFamily="49" charset="-122"/>
              </a:defRPr>
            </a:lvl9pPr>
          </a:lstStyle>
          <a:p>
            <a:fld id="{83BA1D17-6C4D-4D51-9689-C5473AC37EE7}" type="slidenum">
              <a:rPr lang="en-US" altLang="zh-CN" sz="1300">
                <a:latin typeface="Times New Roman" panose="02020603050405020304" pitchFamily="18" charset="0"/>
                <a:ea typeface="宋体" panose="02010600030101010101" pitchFamily="2" charset="-122"/>
              </a:rPr>
              <a:pPr/>
              <a:t>45</a:t>
            </a:fld>
            <a:endParaRPr lang="en-US" altLang="zh-CN" sz="130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0348488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22470" indent="-277873" eaLnBrk="0" hangingPunct="0">
              <a:defRPr b="1">
                <a:solidFill>
                  <a:schemeClr val="tx1"/>
                </a:solidFill>
                <a:latin typeface="Verdana" panose="020B0604030504040204" pitchFamily="34" charset="0"/>
                <a:ea typeface="宋体" panose="02010600030101010101" pitchFamily="2" charset="-122"/>
              </a:defRPr>
            </a:lvl2pPr>
            <a:lvl3pPr marL="1111491" indent="-222298" eaLnBrk="0" hangingPunct="0">
              <a:defRPr b="1">
                <a:solidFill>
                  <a:schemeClr val="tx1"/>
                </a:solidFill>
                <a:latin typeface="Verdana" panose="020B0604030504040204" pitchFamily="34" charset="0"/>
                <a:ea typeface="宋体" panose="02010600030101010101" pitchFamily="2" charset="-122"/>
              </a:defRPr>
            </a:lvl3pPr>
            <a:lvl4pPr marL="1556087" indent="-222298" eaLnBrk="0" hangingPunct="0">
              <a:defRPr b="1">
                <a:solidFill>
                  <a:schemeClr val="tx1"/>
                </a:solidFill>
                <a:latin typeface="Verdana" panose="020B0604030504040204" pitchFamily="34" charset="0"/>
                <a:ea typeface="宋体" panose="02010600030101010101" pitchFamily="2" charset="-122"/>
              </a:defRPr>
            </a:lvl4pPr>
            <a:lvl5pPr marL="2000685" indent="-222298" eaLnBrk="0" hangingPunct="0">
              <a:defRPr b="1">
                <a:solidFill>
                  <a:schemeClr val="tx1"/>
                </a:solidFill>
                <a:latin typeface="Verdana" panose="020B0604030504040204" pitchFamily="34" charset="0"/>
                <a:ea typeface="宋体" panose="02010600030101010101" pitchFamily="2" charset="-122"/>
              </a:defRPr>
            </a:lvl5pPr>
            <a:lvl6pPr marL="2445280"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889877"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334473"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779069"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2BC33EDA-20FF-409B-B5D3-6E72FCABCA29}" type="slidenum">
              <a:rPr lang="en-US" altLang="zh-CN" b="0">
                <a:latin typeface="Times New Roman" panose="02020603050405020304" pitchFamily="18" charset="0"/>
              </a:rPr>
              <a:pPr eaLnBrk="1" hangingPunct="1"/>
              <a:t>46</a:t>
            </a:fld>
            <a:endParaRPr lang="en-US" altLang="zh-CN" b="0">
              <a:latin typeface="Times New Roman" panose="02020603050405020304" pitchFamily="18" charset="0"/>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175204330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8159" indent="-287754" eaLnBrk="0" hangingPunct="0">
              <a:defRPr b="1">
                <a:solidFill>
                  <a:schemeClr val="tx1"/>
                </a:solidFill>
                <a:latin typeface="Verdana" panose="020B0604030504040204" pitchFamily="34" charset="0"/>
                <a:ea typeface="宋体" panose="02010600030101010101" pitchFamily="2" charset="-122"/>
              </a:defRPr>
            </a:lvl2pPr>
            <a:lvl3pPr marL="1151013" indent="-230203" eaLnBrk="0" hangingPunct="0">
              <a:defRPr b="1">
                <a:solidFill>
                  <a:schemeClr val="tx1"/>
                </a:solidFill>
                <a:latin typeface="Verdana" panose="020B0604030504040204" pitchFamily="34" charset="0"/>
                <a:ea typeface="宋体" panose="02010600030101010101" pitchFamily="2" charset="-122"/>
              </a:defRPr>
            </a:lvl3pPr>
            <a:lvl4pPr marL="1611418" indent="-230203" eaLnBrk="0" hangingPunct="0">
              <a:defRPr b="1">
                <a:solidFill>
                  <a:schemeClr val="tx1"/>
                </a:solidFill>
                <a:latin typeface="Verdana" panose="020B0604030504040204" pitchFamily="34" charset="0"/>
                <a:ea typeface="宋体" panose="02010600030101010101" pitchFamily="2" charset="-122"/>
              </a:defRPr>
            </a:lvl4pPr>
            <a:lvl5pPr marL="2071824" indent="-230203" eaLnBrk="0" hangingPunct="0">
              <a:defRPr b="1">
                <a:solidFill>
                  <a:schemeClr val="tx1"/>
                </a:solidFill>
                <a:latin typeface="Verdana" panose="020B0604030504040204" pitchFamily="34" charset="0"/>
                <a:ea typeface="宋体" panose="02010600030101010101" pitchFamily="2" charset="-122"/>
              </a:defRPr>
            </a:lvl5pPr>
            <a:lvl6pPr marL="2532228"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92633"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53039"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913444"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67D509E5-D321-4620-8116-92B5BE03AFD9}" type="slidenum">
              <a:rPr lang="en-US" altLang="zh-CN" b="0">
                <a:latin typeface="Times New Roman" panose="02020603050405020304" pitchFamily="18" charset="0"/>
              </a:rPr>
              <a:pPr eaLnBrk="1" hangingPunct="1"/>
              <a:t>48</a:t>
            </a:fld>
            <a:endParaRPr lang="en-US" altLang="zh-CN" b="0">
              <a:latin typeface="Times New Roman" panose="02020603050405020304" pitchFamily="18" charset="0"/>
            </a:endParaRPr>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xfrm>
            <a:off x="693708" y="4367852"/>
            <a:ext cx="5533624" cy="413796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5555697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8159" indent="-287754" eaLnBrk="0" hangingPunct="0">
              <a:defRPr b="1">
                <a:solidFill>
                  <a:schemeClr val="tx1"/>
                </a:solidFill>
                <a:latin typeface="Verdana" panose="020B0604030504040204" pitchFamily="34" charset="0"/>
                <a:ea typeface="宋体" panose="02010600030101010101" pitchFamily="2" charset="-122"/>
              </a:defRPr>
            </a:lvl2pPr>
            <a:lvl3pPr marL="1151013" indent="-230203" eaLnBrk="0" hangingPunct="0">
              <a:defRPr b="1">
                <a:solidFill>
                  <a:schemeClr val="tx1"/>
                </a:solidFill>
                <a:latin typeface="Verdana" panose="020B0604030504040204" pitchFamily="34" charset="0"/>
                <a:ea typeface="宋体" panose="02010600030101010101" pitchFamily="2" charset="-122"/>
              </a:defRPr>
            </a:lvl3pPr>
            <a:lvl4pPr marL="1611418" indent="-230203" eaLnBrk="0" hangingPunct="0">
              <a:defRPr b="1">
                <a:solidFill>
                  <a:schemeClr val="tx1"/>
                </a:solidFill>
                <a:latin typeface="Verdana" panose="020B0604030504040204" pitchFamily="34" charset="0"/>
                <a:ea typeface="宋体" panose="02010600030101010101" pitchFamily="2" charset="-122"/>
              </a:defRPr>
            </a:lvl4pPr>
            <a:lvl5pPr marL="2071824" indent="-230203" eaLnBrk="0" hangingPunct="0">
              <a:defRPr b="1">
                <a:solidFill>
                  <a:schemeClr val="tx1"/>
                </a:solidFill>
                <a:latin typeface="Verdana" panose="020B0604030504040204" pitchFamily="34" charset="0"/>
                <a:ea typeface="宋体" panose="02010600030101010101" pitchFamily="2" charset="-122"/>
              </a:defRPr>
            </a:lvl5pPr>
            <a:lvl6pPr marL="2532228"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92633"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53039"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913444"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7411C2B8-99EE-4ABC-84FC-6254054F20AD}" type="slidenum">
              <a:rPr lang="en-US" altLang="zh-CN" b="0">
                <a:latin typeface="Times New Roman" panose="02020603050405020304" pitchFamily="18" charset="0"/>
              </a:rPr>
              <a:pPr eaLnBrk="1" hangingPunct="1"/>
              <a:t>52</a:t>
            </a:fld>
            <a:endParaRPr lang="en-US" altLang="zh-CN" b="0">
              <a:latin typeface="Times New Roman" panose="02020603050405020304" pitchFamily="18"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8716054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8159" indent="-287754" eaLnBrk="0" hangingPunct="0">
              <a:defRPr b="1">
                <a:solidFill>
                  <a:schemeClr val="tx1"/>
                </a:solidFill>
                <a:latin typeface="Verdana" panose="020B0604030504040204" pitchFamily="34" charset="0"/>
                <a:ea typeface="宋体" panose="02010600030101010101" pitchFamily="2" charset="-122"/>
              </a:defRPr>
            </a:lvl2pPr>
            <a:lvl3pPr marL="1151013" indent="-230203" eaLnBrk="0" hangingPunct="0">
              <a:defRPr b="1">
                <a:solidFill>
                  <a:schemeClr val="tx1"/>
                </a:solidFill>
                <a:latin typeface="Verdana" panose="020B0604030504040204" pitchFamily="34" charset="0"/>
                <a:ea typeface="宋体" panose="02010600030101010101" pitchFamily="2" charset="-122"/>
              </a:defRPr>
            </a:lvl3pPr>
            <a:lvl4pPr marL="1611418" indent="-230203" eaLnBrk="0" hangingPunct="0">
              <a:defRPr b="1">
                <a:solidFill>
                  <a:schemeClr val="tx1"/>
                </a:solidFill>
                <a:latin typeface="Verdana" panose="020B0604030504040204" pitchFamily="34" charset="0"/>
                <a:ea typeface="宋体" panose="02010600030101010101" pitchFamily="2" charset="-122"/>
              </a:defRPr>
            </a:lvl4pPr>
            <a:lvl5pPr marL="2071824" indent="-230203" eaLnBrk="0" hangingPunct="0">
              <a:defRPr b="1">
                <a:solidFill>
                  <a:schemeClr val="tx1"/>
                </a:solidFill>
                <a:latin typeface="Verdana" panose="020B0604030504040204" pitchFamily="34" charset="0"/>
                <a:ea typeface="宋体" panose="02010600030101010101" pitchFamily="2" charset="-122"/>
              </a:defRPr>
            </a:lvl5pPr>
            <a:lvl6pPr marL="2532228"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92633"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53039"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913444"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C4B8EE4B-5E51-4868-A7AB-C8D3E22F3BA9}" type="slidenum">
              <a:rPr lang="en-US" altLang="zh-CN" b="0">
                <a:latin typeface="Times New Roman" panose="02020603050405020304" pitchFamily="18" charset="0"/>
              </a:rPr>
              <a:pPr eaLnBrk="1" hangingPunct="1"/>
              <a:t>54</a:t>
            </a:fld>
            <a:endParaRPr lang="en-US" altLang="zh-CN" b="0">
              <a:latin typeface="Times New Roman" panose="02020603050405020304" pitchFamily="18"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147435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8159" indent="-287754" eaLnBrk="0" hangingPunct="0">
              <a:defRPr b="1">
                <a:solidFill>
                  <a:schemeClr val="tx1"/>
                </a:solidFill>
                <a:latin typeface="Verdana" panose="020B0604030504040204" pitchFamily="34" charset="0"/>
                <a:ea typeface="宋体" panose="02010600030101010101" pitchFamily="2" charset="-122"/>
              </a:defRPr>
            </a:lvl2pPr>
            <a:lvl3pPr marL="1151013" indent="-230203" eaLnBrk="0" hangingPunct="0">
              <a:defRPr b="1">
                <a:solidFill>
                  <a:schemeClr val="tx1"/>
                </a:solidFill>
                <a:latin typeface="Verdana" panose="020B0604030504040204" pitchFamily="34" charset="0"/>
                <a:ea typeface="宋体" panose="02010600030101010101" pitchFamily="2" charset="-122"/>
              </a:defRPr>
            </a:lvl3pPr>
            <a:lvl4pPr marL="1611418" indent="-230203" eaLnBrk="0" hangingPunct="0">
              <a:defRPr b="1">
                <a:solidFill>
                  <a:schemeClr val="tx1"/>
                </a:solidFill>
                <a:latin typeface="Verdana" panose="020B0604030504040204" pitchFamily="34" charset="0"/>
                <a:ea typeface="宋体" panose="02010600030101010101" pitchFamily="2" charset="-122"/>
              </a:defRPr>
            </a:lvl4pPr>
            <a:lvl5pPr marL="2071824" indent="-230203" eaLnBrk="0" hangingPunct="0">
              <a:defRPr b="1">
                <a:solidFill>
                  <a:schemeClr val="tx1"/>
                </a:solidFill>
                <a:latin typeface="Verdana" panose="020B0604030504040204" pitchFamily="34" charset="0"/>
                <a:ea typeface="宋体" panose="02010600030101010101" pitchFamily="2" charset="-122"/>
              </a:defRPr>
            </a:lvl5pPr>
            <a:lvl6pPr marL="2532228"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92633"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53039"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913444"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1E651080-69C6-466C-83F2-7CC2327D42E6}" type="slidenum">
              <a:rPr lang="en-US" altLang="zh-CN" b="0">
                <a:latin typeface="Times New Roman" panose="02020603050405020304" pitchFamily="18" charset="0"/>
              </a:rPr>
              <a:pPr eaLnBrk="1" hangingPunct="1"/>
              <a:t>56</a:t>
            </a:fld>
            <a:endParaRPr lang="en-US" altLang="zh-CN" b="0">
              <a:latin typeface="Times New Roman" panose="02020603050405020304" pitchFamily="18" charset="0"/>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40676489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8159" indent="-287754" eaLnBrk="0" hangingPunct="0">
              <a:defRPr b="1">
                <a:solidFill>
                  <a:schemeClr val="tx1"/>
                </a:solidFill>
                <a:latin typeface="Verdana" panose="020B0604030504040204" pitchFamily="34" charset="0"/>
                <a:ea typeface="宋体" panose="02010600030101010101" pitchFamily="2" charset="-122"/>
              </a:defRPr>
            </a:lvl2pPr>
            <a:lvl3pPr marL="1151013" indent="-230203" eaLnBrk="0" hangingPunct="0">
              <a:defRPr b="1">
                <a:solidFill>
                  <a:schemeClr val="tx1"/>
                </a:solidFill>
                <a:latin typeface="Verdana" panose="020B0604030504040204" pitchFamily="34" charset="0"/>
                <a:ea typeface="宋体" panose="02010600030101010101" pitchFamily="2" charset="-122"/>
              </a:defRPr>
            </a:lvl3pPr>
            <a:lvl4pPr marL="1611418" indent="-230203" eaLnBrk="0" hangingPunct="0">
              <a:defRPr b="1">
                <a:solidFill>
                  <a:schemeClr val="tx1"/>
                </a:solidFill>
                <a:latin typeface="Verdana" panose="020B0604030504040204" pitchFamily="34" charset="0"/>
                <a:ea typeface="宋体" panose="02010600030101010101" pitchFamily="2" charset="-122"/>
              </a:defRPr>
            </a:lvl4pPr>
            <a:lvl5pPr marL="2071824" indent="-230203" eaLnBrk="0" hangingPunct="0">
              <a:defRPr b="1">
                <a:solidFill>
                  <a:schemeClr val="tx1"/>
                </a:solidFill>
                <a:latin typeface="Verdana" panose="020B0604030504040204" pitchFamily="34" charset="0"/>
                <a:ea typeface="宋体" panose="02010600030101010101" pitchFamily="2" charset="-122"/>
              </a:defRPr>
            </a:lvl5pPr>
            <a:lvl6pPr marL="2532228"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92633"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53039"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913444"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B9A712DB-6016-4BA4-B23D-89473782310E}" type="slidenum">
              <a:rPr lang="en-US" altLang="zh-CN" b="0">
                <a:latin typeface="Times New Roman" panose="02020603050405020304" pitchFamily="18" charset="0"/>
              </a:rPr>
              <a:pPr eaLnBrk="1" hangingPunct="1"/>
              <a:t>57</a:t>
            </a:fld>
            <a:endParaRPr lang="en-US" altLang="zh-CN" b="0">
              <a:latin typeface="Times New Roman" panose="02020603050405020304" pitchFamily="18" charset="0"/>
            </a:endParaRPr>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4405052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8159" indent="-287754" eaLnBrk="0" hangingPunct="0">
              <a:defRPr b="1">
                <a:solidFill>
                  <a:schemeClr val="tx1"/>
                </a:solidFill>
                <a:latin typeface="Verdana" panose="020B0604030504040204" pitchFamily="34" charset="0"/>
                <a:ea typeface="宋体" panose="02010600030101010101" pitchFamily="2" charset="-122"/>
              </a:defRPr>
            </a:lvl2pPr>
            <a:lvl3pPr marL="1151013" indent="-230203" eaLnBrk="0" hangingPunct="0">
              <a:defRPr b="1">
                <a:solidFill>
                  <a:schemeClr val="tx1"/>
                </a:solidFill>
                <a:latin typeface="Verdana" panose="020B0604030504040204" pitchFamily="34" charset="0"/>
                <a:ea typeface="宋体" panose="02010600030101010101" pitchFamily="2" charset="-122"/>
              </a:defRPr>
            </a:lvl3pPr>
            <a:lvl4pPr marL="1611418" indent="-230203" eaLnBrk="0" hangingPunct="0">
              <a:defRPr b="1">
                <a:solidFill>
                  <a:schemeClr val="tx1"/>
                </a:solidFill>
                <a:latin typeface="Verdana" panose="020B0604030504040204" pitchFamily="34" charset="0"/>
                <a:ea typeface="宋体" panose="02010600030101010101" pitchFamily="2" charset="-122"/>
              </a:defRPr>
            </a:lvl4pPr>
            <a:lvl5pPr marL="2071824" indent="-230203" eaLnBrk="0" hangingPunct="0">
              <a:defRPr b="1">
                <a:solidFill>
                  <a:schemeClr val="tx1"/>
                </a:solidFill>
                <a:latin typeface="Verdana" panose="020B0604030504040204" pitchFamily="34" charset="0"/>
                <a:ea typeface="宋体" panose="02010600030101010101" pitchFamily="2" charset="-122"/>
              </a:defRPr>
            </a:lvl5pPr>
            <a:lvl6pPr marL="2532228"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92633"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53039"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913444"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BE084F3F-1EB6-4BB3-9234-2358056C8255}" type="slidenum">
              <a:rPr lang="en-US" altLang="zh-CN" b="0">
                <a:latin typeface="Times New Roman" panose="02020603050405020304" pitchFamily="18" charset="0"/>
              </a:rPr>
              <a:pPr eaLnBrk="1" hangingPunct="1"/>
              <a:t>59</a:t>
            </a:fld>
            <a:endParaRPr lang="en-US" altLang="zh-CN" b="0">
              <a:latin typeface="Times New Roman" panose="02020603050405020304" pitchFamily="18"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0227966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61</a:t>
            </a:fld>
            <a:endParaRPr lang="en-US" altLang="zh-CN"/>
          </a:p>
        </p:txBody>
      </p:sp>
    </p:spTree>
    <p:extLst>
      <p:ext uri="{BB962C8B-B14F-4D97-AF65-F5344CB8AC3E}">
        <p14:creationId xmlns:p14="http://schemas.microsoft.com/office/powerpoint/2010/main" val="31781364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8159" indent="-287754" eaLnBrk="0" hangingPunct="0">
              <a:defRPr b="1">
                <a:solidFill>
                  <a:schemeClr val="tx1"/>
                </a:solidFill>
                <a:latin typeface="Verdana" panose="020B0604030504040204" pitchFamily="34" charset="0"/>
                <a:ea typeface="宋体" panose="02010600030101010101" pitchFamily="2" charset="-122"/>
              </a:defRPr>
            </a:lvl2pPr>
            <a:lvl3pPr marL="1151013" indent="-230203" eaLnBrk="0" hangingPunct="0">
              <a:defRPr b="1">
                <a:solidFill>
                  <a:schemeClr val="tx1"/>
                </a:solidFill>
                <a:latin typeface="Verdana" panose="020B0604030504040204" pitchFamily="34" charset="0"/>
                <a:ea typeface="宋体" panose="02010600030101010101" pitchFamily="2" charset="-122"/>
              </a:defRPr>
            </a:lvl3pPr>
            <a:lvl4pPr marL="1611418" indent="-230203" eaLnBrk="0" hangingPunct="0">
              <a:defRPr b="1">
                <a:solidFill>
                  <a:schemeClr val="tx1"/>
                </a:solidFill>
                <a:latin typeface="Verdana" panose="020B0604030504040204" pitchFamily="34" charset="0"/>
                <a:ea typeface="宋体" panose="02010600030101010101" pitchFamily="2" charset="-122"/>
              </a:defRPr>
            </a:lvl4pPr>
            <a:lvl5pPr marL="2071824" indent="-230203" eaLnBrk="0" hangingPunct="0">
              <a:defRPr b="1">
                <a:solidFill>
                  <a:schemeClr val="tx1"/>
                </a:solidFill>
                <a:latin typeface="Verdana" panose="020B0604030504040204" pitchFamily="34" charset="0"/>
                <a:ea typeface="宋体" panose="02010600030101010101" pitchFamily="2" charset="-122"/>
              </a:defRPr>
            </a:lvl5pPr>
            <a:lvl6pPr marL="2532228"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92633"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53039"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913444"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6E71DFA2-3CBC-4679-835F-6F0BB1C432EC}" type="slidenum">
              <a:rPr lang="en-US" altLang="zh-CN" b="0">
                <a:latin typeface="Times New Roman" panose="02020603050405020304" pitchFamily="18" charset="0"/>
              </a:rPr>
              <a:pPr eaLnBrk="1" hangingPunct="1"/>
              <a:t>62</a:t>
            </a:fld>
            <a:endParaRPr lang="en-US" altLang="zh-CN" b="0">
              <a:latin typeface="Times New Roman" panose="02020603050405020304" pitchFamily="18"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9633468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8159" indent="-287754" eaLnBrk="0" hangingPunct="0">
              <a:defRPr b="1">
                <a:solidFill>
                  <a:schemeClr val="tx1"/>
                </a:solidFill>
                <a:latin typeface="Verdana" panose="020B0604030504040204" pitchFamily="34" charset="0"/>
                <a:ea typeface="宋体" panose="02010600030101010101" pitchFamily="2" charset="-122"/>
              </a:defRPr>
            </a:lvl2pPr>
            <a:lvl3pPr marL="1151013" indent="-230203" eaLnBrk="0" hangingPunct="0">
              <a:defRPr b="1">
                <a:solidFill>
                  <a:schemeClr val="tx1"/>
                </a:solidFill>
                <a:latin typeface="Verdana" panose="020B0604030504040204" pitchFamily="34" charset="0"/>
                <a:ea typeface="宋体" panose="02010600030101010101" pitchFamily="2" charset="-122"/>
              </a:defRPr>
            </a:lvl3pPr>
            <a:lvl4pPr marL="1611418" indent="-230203" eaLnBrk="0" hangingPunct="0">
              <a:defRPr b="1">
                <a:solidFill>
                  <a:schemeClr val="tx1"/>
                </a:solidFill>
                <a:latin typeface="Verdana" panose="020B0604030504040204" pitchFamily="34" charset="0"/>
                <a:ea typeface="宋体" panose="02010600030101010101" pitchFamily="2" charset="-122"/>
              </a:defRPr>
            </a:lvl4pPr>
            <a:lvl5pPr marL="2071824" indent="-230203" eaLnBrk="0" hangingPunct="0">
              <a:defRPr b="1">
                <a:solidFill>
                  <a:schemeClr val="tx1"/>
                </a:solidFill>
                <a:latin typeface="Verdana" panose="020B0604030504040204" pitchFamily="34" charset="0"/>
                <a:ea typeface="宋体" panose="02010600030101010101" pitchFamily="2" charset="-122"/>
              </a:defRPr>
            </a:lvl5pPr>
            <a:lvl6pPr marL="2532228"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92633"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53039"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913444" indent="-230203"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70A8FF57-F869-430B-A5BA-6A54D4E718DF}" type="slidenum">
              <a:rPr lang="en-US" altLang="zh-CN" b="0">
                <a:latin typeface="Times New Roman" panose="02020603050405020304" pitchFamily="18" charset="0"/>
              </a:rPr>
              <a:pPr eaLnBrk="1" hangingPunct="1"/>
              <a:t>63</a:t>
            </a:fld>
            <a:endParaRPr lang="en-US" altLang="zh-CN" b="0">
              <a:latin typeface="Times New Roman" panose="02020603050405020304" pitchFamily="18"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425957778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幻灯片图像占位符 1">
            <a:extLst>
              <a:ext uri="{FF2B5EF4-FFF2-40B4-BE49-F238E27FC236}">
                <a16:creationId xmlns:a16="http://schemas.microsoft.com/office/drawing/2014/main" id="{67E0CEE9-2DA3-4C24-B3E8-F44752419542}"/>
              </a:ext>
            </a:extLst>
          </p:cNvPr>
          <p:cNvSpPr>
            <a:spLocks noGrp="1" noRot="1" noChangeAspect="1" noTextEdit="1"/>
          </p:cNvSpPr>
          <p:nvPr>
            <p:ph type="sldImg"/>
          </p:nvPr>
        </p:nvSpPr>
        <p:spPr>
          <a:ln/>
        </p:spPr>
      </p:sp>
      <p:sp>
        <p:nvSpPr>
          <p:cNvPr id="53250" name="备注占位符 2">
            <a:extLst>
              <a:ext uri="{FF2B5EF4-FFF2-40B4-BE49-F238E27FC236}">
                <a16:creationId xmlns:a16="http://schemas.microsoft.com/office/drawing/2014/main" id="{03391282-D641-4898-A1CA-8B37A51B82E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53251" name="灯片编号占位符 3">
            <a:extLst>
              <a:ext uri="{FF2B5EF4-FFF2-40B4-BE49-F238E27FC236}">
                <a16:creationId xmlns:a16="http://schemas.microsoft.com/office/drawing/2014/main" id="{F9ACD9A4-C6FF-488A-9F20-F596F795138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74919" indent="-297103">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93009" indent="-237377">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70825" indent="-237377">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148641" indent="-237377">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89701" indent="-237377"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3030762" indent="-237377"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71823" indent="-237377"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912884" indent="-237377"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4DAFAAA7-9E67-42F7-827B-006AACD00996}" type="slidenum">
              <a:rPr lang="en-US" altLang="zh-CN" sz="1300"/>
              <a:pPr>
                <a:spcBef>
                  <a:spcPct val="0"/>
                </a:spcBef>
              </a:pPr>
              <a:t>65</a:t>
            </a:fld>
            <a:endParaRPr lang="en-US" altLang="zh-CN" sz="1300"/>
          </a:p>
        </p:txBody>
      </p:sp>
    </p:spTree>
    <p:extLst>
      <p:ext uri="{BB962C8B-B14F-4D97-AF65-F5344CB8AC3E}">
        <p14:creationId xmlns:p14="http://schemas.microsoft.com/office/powerpoint/2010/main" val="21579645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22470" indent="-277873" eaLnBrk="0" hangingPunct="0">
              <a:defRPr b="1">
                <a:solidFill>
                  <a:schemeClr val="tx1"/>
                </a:solidFill>
                <a:latin typeface="Verdana" panose="020B0604030504040204" pitchFamily="34" charset="0"/>
                <a:ea typeface="宋体" panose="02010600030101010101" pitchFamily="2" charset="-122"/>
              </a:defRPr>
            </a:lvl2pPr>
            <a:lvl3pPr marL="1111491" indent="-222298" eaLnBrk="0" hangingPunct="0">
              <a:defRPr b="1">
                <a:solidFill>
                  <a:schemeClr val="tx1"/>
                </a:solidFill>
                <a:latin typeface="Verdana" panose="020B0604030504040204" pitchFamily="34" charset="0"/>
                <a:ea typeface="宋体" panose="02010600030101010101" pitchFamily="2" charset="-122"/>
              </a:defRPr>
            </a:lvl3pPr>
            <a:lvl4pPr marL="1556087" indent="-222298" eaLnBrk="0" hangingPunct="0">
              <a:defRPr b="1">
                <a:solidFill>
                  <a:schemeClr val="tx1"/>
                </a:solidFill>
                <a:latin typeface="Verdana" panose="020B0604030504040204" pitchFamily="34" charset="0"/>
                <a:ea typeface="宋体" panose="02010600030101010101" pitchFamily="2" charset="-122"/>
              </a:defRPr>
            </a:lvl4pPr>
            <a:lvl5pPr marL="2000685" indent="-222298" eaLnBrk="0" hangingPunct="0">
              <a:defRPr b="1">
                <a:solidFill>
                  <a:schemeClr val="tx1"/>
                </a:solidFill>
                <a:latin typeface="Verdana" panose="020B0604030504040204" pitchFamily="34" charset="0"/>
                <a:ea typeface="宋体" panose="02010600030101010101" pitchFamily="2" charset="-122"/>
              </a:defRPr>
            </a:lvl5pPr>
            <a:lvl6pPr marL="2445280"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889877"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334473"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779069"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0F609D0C-77A7-457B-B256-3F96A65DB19F}" type="slidenum">
              <a:rPr lang="en-US" altLang="zh-CN" b="0">
                <a:latin typeface="Times New Roman" panose="02020603050405020304" pitchFamily="18" charset="0"/>
              </a:rPr>
              <a:pPr eaLnBrk="1" hangingPunct="1"/>
              <a:t>66</a:t>
            </a:fld>
            <a:endParaRPr lang="en-US" altLang="zh-CN" b="0">
              <a:latin typeface="Times New Roman" panose="02020603050405020304" pitchFamily="18"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3809701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22470" indent="-277873" eaLnBrk="0" hangingPunct="0">
              <a:defRPr b="1">
                <a:solidFill>
                  <a:schemeClr val="tx1"/>
                </a:solidFill>
                <a:latin typeface="Verdana" panose="020B0604030504040204" pitchFamily="34" charset="0"/>
                <a:ea typeface="宋体" panose="02010600030101010101" pitchFamily="2" charset="-122"/>
              </a:defRPr>
            </a:lvl2pPr>
            <a:lvl3pPr marL="1111491" indent="-222298" eaLnBrk="0" hangingPunct="0">
              <a:defRPr b="1">
                <a:solidFill>
                  <a:schemeClr val="tx1"/>
                </a:solidFill>
                <a:latin typeface="Verdana" panose="020B0604030504040204" pitchFamily="34" charset="0"/>
                <a:ea typeface="宋体" panose="02010600030101010101" pitchFamily="2" charset="-122"/>
              </a:defRPr>
            </a:lvl3pPr>
            <a:lvl4pPr marL="1556087" indent="-222298" eaLnBrk="0" hangingPunct="0">
              <a:defRPr b="1">
                <a:solidFill>
                  <a:schemeClr val="tx1"/>
                </a:solidFill>
                <a:latin typeface="Verdana" panose="020B0604030504040204" pitchFamily="34" charset="0"/>
                <a:ea typeface="宋体" panose="02010600030101010101" pitchFamily="2" charset="-122"/>
              </a:defRPr>
            </a:lvl4pPr>
            <a:lvl5pPr marL="2000685" indent="-222298" eaLnBrk="0" hangingPunct="0">
              <a:defRPr b="1">
                <a:solidFill>
                  <a:schemeClr val="tx1"/>
                </a:solidFill>
                <a:latin typeface="Verdana" panose="020B0604030504040204" pitchFamily="34" charset="0"/>
                <a:ea typeface="宋体" panose="02010600030101010101" pitchFamily="2" charset="-122"/>
              </a:defRPr>
            </a:lvl5pPr>
            <a:lvl6pPr marL="2445280"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889877"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334473"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779069"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70E9C866-7837-4C26-BEAD-7271C71800C3}" type="slidenum">
              <a:rPr lang="en-US" altLang="zh-CN" b="0">
                <a:latin typeface="Times New Roman" panose="02020603050405020304" pitchFamily="18" charset="0"/>
              </a:rPr>
              <a:pPr eaLnBrk="1" hangingPunct="1"/>
              <a:t>67</a:t>
            </a:fld>
            <a:endParaRPr lang="en-US" altLang="zh-CN" b="0">
              <a:latin typeface="Times New Roman" panose="02020603050405020304" pitchFamily="18" charset="0"/>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Tree>
    <p:extLst>
      <p:ext uri="{BB962C8B-B14F-4D97-AF65-F5344CB8AC3E}">
        <p14:creationId xmlns:p14="http://schemas.microsoft.com/office/powerpoint/2010/main" val="25186609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22470" indent="-277873" eaLnBrk="0" hangingPunct="0">
              <a:defRPr b="1">
                <a:solidFill>
                  <a:schemeClr val="tx1"/>
                </a:solidFill>
                <a:latin typeface="Verdana" panose="020B0604030504040204" pitchFamily="34" charset="0"/>
                <a:ea typeface="宋体" panose="02010600030101010101" pitchFamily="2" charset="-122"/>
              </a:defRPr>
            </a:lvl2pPr>
            <a:lvl3pPr marL="1111491" indent="-222298" eaLnBrk="0" hangingPunct="0">
              <a:defRPr b="1">
                <a:solidFill>
                  <a:schemeClr val="tx1"/>
                </a:solidFill>
                <a:latin typeface="Verdana" panose="020B0604030504040204" pitchFamily="34" charset="0"/>
                <a:ea typeface="宋体" panose="02010600030101010101" pitchFamily="2" charset="-122"/>
              </a:defRPr>
            </a:lvl3pPr>
            <a:lvl4pPr marL="1556087" indent="-222298" eaLnBrk="0" hangingPunct="0">
              <a:defRPr b="1">
                <a:solidFill>
                  <a:schemeClr val="tx1"/>
                </a:solidFill>
                <a:latin typeface="Verdana" panose="020B0604030504040204" pitchFamily="34" charset="0"/>
                <a:ea typeface="宋体" panose="02010600030101010101" pitchFamily="2" charset="-122"/>
              </a:defRPr>
            </a:lvl4pPr>
            <a:lvl5pPr marL="2000685" indent="-222298" eaLnBrk="0" hangingPunct="0">
              <a:defRPr b="1">
                <a:solidFill>
                  <a:schemeClr val="tx1"/>
                </a:solidFill>
                <a:latin typeface="Verdana" panose="020B0604030504040204" pitchFamily="34" charset="0"/>
                <a:ea typeface="宋体" panose="02010600030101010101" pitchFamily="2" charset="-122"/>
              </a:defRPr>
            </a:lvl5pPr>
            <a:lvl6pPr marL="2445280"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889877"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334473"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779069" indent="-222298"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fld id="{1329A2D5-06C7-4CF5-92B6-5B09F4C1F4CE}" type="slidenum">
              <a:rPr lang="en-US" altLang="zh-CN" b="0">
                <a:latin typeface="Times New Roman" panose="02020603050405020304" pitchFamily="18" charset="0"/>
              </a:rPr>
              <a:pPr eaLnBrk="1" hangingPunct="1"/>
              <a:t>68</a:t>
            </a:fld>
            <a:endParaRPr lang="en-US" altLang="zh-CN" b="0">
              <a:latin typeface="Times New Roman" panose="02020603050405020304" pitchFamily="18"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extLst>
      <p:ext uri="{BB962C8B-B14F-4D97-AF65-F5344CB8AC3E}">
        <p14:creationId xmlns:p14="http://schemas.microsoft.com/office/powerpoint/2010/main" val="42173081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E900B983-0E40-4C29-87BA-CE566D420E22}" type="slidenum">
              <a:rPr lang="zh-CN" altLang="en-US" smtClean="0"/>
              <a:t>69</a:t>
            </a:fld>
            <a:endParaRPr lang="en-US" altLang="zh-CN"/>
          </a:p>
        </p:txBody>
      </p:sp>
    </p:spTree>
    <p:extLst>
      <p:ext uri="{BB962C8B-B14F-4D97-AF65-F5344CB8AC3E}">
        <p14:creationId xmlns:p14="http://schemas.microsoft.com/office/powerpoint/2010/main" val="1901090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C730FAD4-D08D-4D6E-BD83-2F180504F98F}" type="datetime1">
              <a:rPr lang="zh-CN" altLang="en-US" smtClean="0"/>
              <a:t>2025/10/28</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5AE633C-541A-4E3F-A22A-3C4C63E8EF5F}" type="slidenum">
              <a:rPr lang="zh-CN" altLang="en-US"/>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55DE8BE4-0664-4717-B5EA-DAA5448735A1}" type="datetime1">
              <a:rPr lang="zh-CN" altLang="en-US" smtClean="0"/>
              <a:t>2025/10/28</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8BCAC33D-D29A-48B3-BCD6-381D3D720D26}"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0D61B6CE-6789-4C59-8443-783D352639DE}" type="datetime1">
              <a:rPr lang="zh-CN" altLang="en-US" smtClean="0"/>
              <a:t>2025/10/28</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0836AFD5-B4CE-4309-A85F-E56CFD431173}"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8ADBC063-20B0-4889-9E65-A4E8AC86C666}" type="datetime1">
              <a:rPr lang="zh-CN" altLang="en-US" smtClean="0"/>
              <a:t>2025/10/28</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B3CCC3E9-608E-4023-AA79-77ECC6312F57}" type="slidenum">
              <a:rPr lang="zh-CN" altLang="en-US"/>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B59C014F-BE2B-495B-8882-408BF6F408B4}" type="datetime1">
              <a:rPr lang="zh-CN" altLang="en-US" smtClean="0"/>
              <a:t>2025/10/28</a:t>
            </a:fld>
            <a:endParaRPr lang="en-US" altLang="zh-CN"/>
          </a:p>
        </p:txBody>
      </p:sp>
      <p:sp>
        <p:nvSpPr>
          <p:cNvPr id="8"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CD980664-B5A2-458D-9781-BDBB3E444617}" type="slidenum">
              <a:rPr lang="zh-CN" altLang="en-US"/>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0C2C9231-C6DF-400F-B314-6D7C522548A5}" type="datetime1">
              <a:rPr lang="zh-CN" altLang="en-US" smtClean="0"/>
              <a:t>2025/10/28</a:t>
            </a:fld>
            <a:endParaRPr lang="en-US" altLang="zh-CN"/>
          </a:p>
        </p:txBody>
      </p:sp>
      <p:sp>
        <p:nvSpPr>
          <p:cNvPr id="4"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3342FEDC-7E89-472C-BFD5-D857A9C78A6E}" type="slidenum">
              <a:rPr lang="zh-CN" altLang="en-US"/>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96B9A9DA-85E3-4910-858F-75A6D49622A9}" type="datetime1">
              <a:rPr lang="zh-CN" altLang="en-US" smtClean="0"/>
              <a:t>2025/10/28</a:t>
            </a:fld>
            <a:endParaRPr lang="en-US" altLang="zh-CN"/>
          </a:p>
        </p:txBody>
      </p:sp>
      <p:sp>
        <p:nvSpPr>
          <p:cNvPr id="3"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65B7EA61-351E-4105-9AD9-76D38C6E9934}" type="slidenum">
              <a:rPr lang="zh-CN" altLang="en-US"/>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AF6E51AA-C9C6-4A19-A6F8-A0527A56A091}" type="datetime1">
              <a:rPr lang="zh-CN" altLang="en-US" smtClean="0"/>
              <a:t>2025/10/28</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AFC75736-67D3-4C0D-9AD3-EBB1133B7A15}" type="slidenum">
              <a:rPr lang="zh-CN" altLang="en-US"/>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A8E2EDE0-EE8D-4828-9722-4541BE910498}" type="datetime1">
              <a:rPr lang="zh-CN" altLang="en-US" smtClean="0"/>
              <a:t>2025/10/28</a:t>
            </a:fld>
            <a:endParaRPr lang="en-US" altLang="zh-CN"/>
          </a:p>
        </p:txBody>
      </p:sp>
      <p:sp>
        <p:nvSpPr>
          <p:cNvPr id="6"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6B43B5C7-14AB-4EB9-8E35-9962854618D2}" type="slidenum">
              <a:rPr lang="zh-CN" altLang="en-US"/>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5FAB09B-B3DB-435F-AAE0-9045E2C66835}" type="datetime1">
              <a:rPr lang="zh-CN" altLang="en-US" smtClean="0"/>
              <a:t>2025/10/28</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739E446-6F6B-46FF-A641-54E99657CB0F}" type="slidenum">
              <a:rPr lang="zh-CN" altLang="en-US"/>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EB6EF8F8-B139-4051-A971-006824250DFB}" type="datetime1">
              <a:rPr lang="zh-CN" altLang="en-US" smtClean="0"/>
              <a:t>2025/10/28</a:t>
            </a:fld>
            <a:endParaRPr lang="en-US" altLang="zh-CN"/>
          </a:p>
        </p:txBody>
      </p:sp>
      <p:sp>
        <p:nvSpPr>
          <p:cNvPr id="5" name="页脚占位符 4"/>
          <p:cNvSpPr>
            <a:spLocks noGrp="1"/>
          </p:cNvSpPr>
          <p:nvPr>
            <p:ph type="ftr" sz="quarter" idx="11"/>
          </p:nvPr>
        </p:nvSpPr>
        <p:spPr/>
        <p:txBody>
          <a:bodyPr/>
          <a:lstStyle>
            <a:lvl1pPr>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C295BA35-14E5-4401-B968-D9FCFD45D966}" type="slidenum">
              <a:rPr lang="zh-CN" altLang="en-US"/>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无动画">
    <p:spTree>
      <p:nvGrpSpPr>
        <p:cNvPr id="1" name=""/>
        <p:cNvGrpSpPr/>
        <p:nvPr/>
      </p:nvGrpSpPr>
      <p:grpSpPr>
        <a:xfrm>
          <a:off x="0" y="0"/>
          <a:ext cx="0" cy="0"/>
          <a:chOff x="0" y="0"/>
          <a:chExt cx="0" cy="0"/>
        </a:xfrm>
      </p:grpSpPr>
      <p:sp>
        <p:nvSpPr>
          <p:cNvPr id="3" name="Content Placeholder 2"/>
          <p:cNvSpPr>
            <a:spLocks noGrp="1"/>
          </p:cNvSpPr>
          <p:nvPr>
            <p:ph idx="1"/>
          </p:nvPr>
        </p:nvSpPr>
        <p:spPr>
          <a:xfrm>
            <a:off x="396875" y="1362074"/>
            <a:ext cx="8594725" cy="5267325"/>
          </a:xfrm>
        </p:spPr>
        <p:txBody>
          <a:bodyPr/>
          <a:lstStyle>
            <a:lvl1pPr>
              <a:defRPr b="0">
                <a:latin typeface="Times New Roman" panose="02020603050405020304" pitchFamily="18" charset="0"/>
                <a:cs typeface="Times New Roman" panose="02020603050405020304" pitchFamily="18" charset="0"/>
              </a:defRPr>
            </a:lvl1pPr>
            <a:lvl2pPr>
              <a:defRPr b="0">
                <a:latin typeface="Times New Roman" panose="02020603050405020304" pitchFamily="18" charset="0"/>
                <a:cs typeface="Times New Roman" panose="02020603050405020304" pitchFamily="18" charset="0"/>
              </a:defRPr>
            </a:lvl2pPr>
            <a:lvl3pPr>
              <a:defRPr b="0">
                <a:latin typeface="Times New Roman" panose="02020603050405020304" pitchFamily="18" charset="0"/>
                <a:cs typeface="Times New Roman" panose="02020603050405020304" pitchFamily="18" charset="0"/>
              </a:defRPr>
            </a:lvl3pPr>
            <a:lvl4pPr>
              <a:defRPr b="0">
                <a:latin typeface="Times New Roman" panose="02020603050405020304" pitchFamily="18" charset="0"/>
                <a:cs typeface="Times New Roman" panose="02020603050405020304" pitchFamily="18" charset="0"/>
              </a:defRPr>
            </a:lvl4pPr>
            <a:lvl5pPr>
              <a:defRPr b="0">
                <a:latin typeface="Times New Roman" panose="02020603050405020304" pitchFamily="18" charset="0"/>
                <a:cs typeface="Times New Roman" panose="02020603050405020304" pitchFamily="18" charset="0"/>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Rectangle 2"/>
          <p:cNvSpPr>
            <a:spLocks noGrp="1" noChangeArrowheads="1"/>
          </p:cNvSpPr>
          <p:nvPr>
            <p:ph type="title"/>
          </p:nvPr>
        </p:nvSpPr>
        <p:spPr bwMode="auto">
          <a:xfrm>
            <a:off x="374090" y="371182"/>
            <a:ext cx="8693710" cy="762000"/>
          </a:xfrm>
          <a:prstGeom prst="rect">
            <a:avLst/>
          </a:prstGeom>
          <a:noFill/>
          <a:ln w="9525">
            <a:noFill/>
            <a:miter lim="800000"/>
            <a:headEnd/>
            <a:tailEnd/>
          </a:ln>
        </p:spPr>
        <p:txBody>
          <a:bodyPr/>
          <a:lstStyle/>
          <a:p>
            <a:pPr lvl="0"/>
            <a:r>
              <a:rPr lang="zh-CN" altLang="en-US"/>
              <a:t>单击此处编辑母版标题样式</a:t>
            </a:r>
            <a:endParaRPr lang="en-US" dirty="0"/>
          </a:p>
        </p:txBody>
      </p:sp>
    </p:spTree>
    <p:extLst>
      <p:ext uri="{BB962C8B-B14F-4D97-AF65-F5344CB8AC3E}">
        <p14:creationId xmlns:p14="http://schemas.microsoft.com/office/powerpoint/2010/main" val="39575992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886200" y="247650"/>
            <a:ext cx="5105400" cy="381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219200"/>
            <a:ext cx="3810000" cy="4953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19200"/>
            <a:ext cx="3810000" cy="49530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29">
            <a:extLst>
              <a:ext uri="{FF2B5EF4-FFF2-40B4-BE49-F238E27FC236}">
                <a16:creationId xmlns:a16="http://schemas.microsoft.com/office/drawing/2014/main" id="{488190B6-DAAB-43A7-9646-0AF02F376B8B}"/>
              </a:ext>
            </a:extLst>
          </p:cNvPr>
          <p:cNvSpPr>
            <a:spLocks noGrp="1" noChangeArrowheads="1"/>
          </p:cNvSpPr>
          <p:nvPr>
            <p:ph type="dt" sz="half" idx="10"/>
          </p:nvPr>
        </p:nvSpPr>
        <p:spPr>
          <a:ln/>
        </p:spPr>
        <p:txBody>
          <a:bodyPr/>
          <a:lstStyle>
            <a:lvl1pPr>
              <a:defRPr/>
            </a:lvl1pPr>
          </a:lstStyle>
          <a:p>
            <a:pPr>
              <a:defRPr/>
            </a:pPr>
            <a:fld id="{D1D6EA97-C3BD-44E0-B0D3-21ACF8B3429E}" type="datetime1">
              <a:rPr lang="zh-CN" altLang="en-US" smtClean="0"/>
              <a:t>2025/10/28</a:t>
            </a:fld>
            <a:endParaRPr lang="en-US" altLang="zh-CN"/>
          </a:p>
        </p:txBody>
      </p:sp>
      <p:sp>
        <p:nvSpPr>
          <p:cNvPr id="6" name="Rectangle 1030">
            <a:extLst>
              <a:ext uri="{FF2B5EF4-FFF2-40B4-BE49-F238E27FC236}">
                <a16:creationId xmlns:a16="http://schemas.microsoft.com/office/drawing/2014/main" id="{0B953BEB-F2E1-4236-9D10-32B4FD812AA7}"/>
              </a:ext>
            </a:extLst>
          </p:cNvPr>
          <p:cNvSpPr>
            <a:spLocks noGrp="1" noChangeArrowheads="1"/>
          </p:cNvSpPr>
          <p:nvPr>
            <p:ph type="ftr" sz="quarter" idx="11"/>
          </p:nvPr>
        </p:nvSpPr>
        <p:spPr>
          <a:ln/>
        </p:spPr>
        <p:txBody>
          <a:bodyPr/>
          <a:lstStyle>
            <a:lvl1pPr>
              <a:defRPr/>
            </a:lvl1pPr>
          </a:lstStyle>
          <a:p>
            <a:pPr>
              <a:defRPr/>
            </a:pPr>
            <a:r>
              <a:rPr lang="zh-CN" altLang="en-US"/>
              <a:t>计算学部 计算机体系结构 刘宏伟</a:t>
            </a:r>
            <a:endParaRPr lang="en-US" altLang="zh-CN"/>
          </a:p>
        </p:txBody>
      </p:sp>
      <p:sp>
        <p:nvSpPr>
          <p:cNvPr id="7" name="Rectangle 1031">
            <a:extLst>
              <a:ext uri="{FF2B5EF4-FFF2-40B4-BE49-F238E27FC236}">
                <a16:creationId xmlns:a16="http://schemas.microsoft.com/office/drawing/2014/main" id="{FE4FAA04-BD32-4222-AB3B-52A3254CBB29}"/>
              </a:ext>
            </a:extLst>
          </p:cNvPr>
          <p:cNvSpPr>
            <a:spLocks noGrp="1" noChangeArrowheads="1"/>
          </p:cNvSpPr>
          <p:nvPr>
            <p:ph type="sldNum" sz="quarter" idx="12"/>
          </p:nvPr>
        </p:nvSpPr>
        <p:spPr>
          <a:ln/>
        </p:spPr>
        <p:txBody>
          <a:bodyPr/>
          <a:lstStyle>
            <a:lvl1pPr>
              <a:defRPr/>
            </a:lvl1pPr>
          </a:lstStyle>
          <a:p>
            <a:pPr>
              <a:defRPr/>
            </a:pPr>
            <a:fld id="{396D679E-57F5-4175-9854-A039894B7CE4}" type="slidenum">
              <a:rPr lang="en-US" altLang="zh-CN"/>
              <a:pPr>
                <a:defRPr/>
              </a:pPr>
              <a:t>‹#›</a:t>
            </a:fld>
            <a:endParaRPr lang="en-US" altLang="zh-CN"/>
          </a:p>
        </p:txBody>
      </p:sp>
    </p:spTree>
    <p:extLst>
      <p:ext uri="{BB962C8B-B14F-4D97-AF65-F5344CB8AC3E}">
        <p14:creationId xmlns:p14="http://schemas.microsoft.com/office/powerpoint/2010/main" val="2440128739"/>
      </p:ext>
    </p:extLst>
  </p:cSld>
  <p:clrMapOvr>
    <a:masterClrMapping/>
  </p:clrMapOvr>
  <p:transition>
    <p:pull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8CBF54AE-13B1-40EC-9B0A-D7FC19AF826E}" type="datetime1">
              <a:rPr lang="zh-CN" altLang="en-US" smtClean="0"/>
              <a:t>2025/10/28</a:t>
            </a:fld>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r>
              <a:rPr lang="zh-CN" altLang="en-US"/>
              <a:t>计算学部 计算机体系结构 刘宏伟</a:t>
            </a: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spcBef>
                <a:spcPct val="20000"/>
              </a:spcBef>
              <a:defRPr sz="1200">
                <a:solidFill>
                  <a:schemeClr val="tx1">
                    <a:tint val="75000"/>
                  </a:schemeClr>
                </a:solidFill>
                <a:latin typeface="宋体" panose="02010600030101010101" pitchFamily="2" charset="-122"/>
                <a:ea typeface="宋体" panose="02010600030101010101" pitchFamily="2" charset="-122"/>
              </a:defRPr>
            </a:lvl1pPr>
          </a:lstStyle>
          <a:p>
            <a:pPr>
              <a:defRPr/>
            </a:pPr>
            <a:fld id="{2CE38698-3FD2-4DD5-AB6F-61E8F41EBC15}" type="slidenum">
              <a:rPr lang="zh-CN" altLang="en-US"/>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5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48.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8.wmf"/></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player/Play.exe%20nta/arch5114.nta%200%200%200%20800%20600%200%200%200%20314"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 Target="slide5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0.wmf"/></Relationships>
</file>

<file path=ppt/slides/_rels/slide28.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4.bin"/><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 Target="slide4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wmf"/><Relationship Id="rId4" Type="http://schemas.openxmlformats.org/officeDocument/2006/relationships/oleObject" Target="../embeddings/oleObject5.bin"/></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 Target="slide33.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 Target="slide34.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 Target="slide71.xml"/><Relationship Id="rId1" Type="http://schemas.openxmlformats.org/officeDocument/2006/relationships/slideLayout" Target="../slideLayouts/slideLayout13.xml"/><Relationship Id="rId4" Type="http://schemas.openxmlformats.org/officeDocument/2006/relationships/image" Target="../media/image23.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3.wmf"/></Relationships>
</file>

<file path=ppt/slides/_rels/slide62.xml.rels><?xml version="1.0" encoding="UTF-8" standalone="yes"?>
<Relationships xmlns="http://schemas.openxmlformats.org/package/2006/relationships"><Relationship Id="rId3" Type="http://schemas.openxmlformats.org/officeDocument/2006/relationships/slide" Target="slide72.xml"/><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slide" Target="slide7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 Target="slide6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 Target="slide6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 Target="slide6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1870311" y="1412776"/>
            <a:ext cx="5760566" cy="1143000"/>
          </a:xfrm>
        </p:spPr>
        <p:txBody>
          <a:bodyPr/>
          <a:lstStyle/>
          <a:p>
            <a:pPr algn="dist" eaLnBrk="1" hangingPunct="1"/>
            <a:r>
              <a:rPr lang="zh-CN" altLang="en-US" sz="5400" b="1" dirty="0"/>
              <a:t>计算机体系结构</a:t>
            </a:r>
          </a:p>
        </p:txBody>
      </p:sp>
      <p:sp>
        <p:nvSpPr>
          <p:cNvPr id="2051" name="Text Box 7"/>
          <p:cNvSpPr txBox="1">
            <a:spLocks noChangeArrowheads="1"/>
          </p:cNvSpPr>
          <p:nvPr/>
        </p:nvSpPr>
        <p:spPr bwMode="auto">
          <a:xfrm>
            <a:off x="3714750" y="5072063"/>
            <a:ext cx="2951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dirty="0"/>
              <a:t> 刘宏伟</a:t>
            </a:r>
          </a:p>
        </p:txBody>
      </p:sp>
      <p:sp>
        <p:nvSpPr>
          <p:cNvPr id="2052" name="Text Box 7"/>
          <p:cNvSpPr txBox="1">
            <a:spLocks noChangeArrowheads="1"/>
          </p:cNvSpPr>
          <p:nvPr/>
        </p:nvSpPr>
        <p:spPr bwMode="auto">
          <a:xfrm>
            <a:off x="2571750" y="4500563"/>
            <a:ext cx="4357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anose="02010600030101010101" pitchFamily="2" charset="-122"/>
                <a:ea typeface="宋体" panose="02010600030101010101" pitchFamily="2" charset="-122"/>
              </a:defRPr>
            </a:lvl1pPr>
            <a:lvl2pPr marL="742950" indent="-285750" eaLnBrk="0" hangingPunct="0">
              <a:defRPr kumimoji="1" sz="800" b="1">
                <a:solidFill>
                  <a:schemeClr val="tx1"/>
                </a:solidFill>
                <a:latin typeface="宋体" panose="02010600030101010101" pitchFamily="2" charset="-122"/>
                <a:ea typeface="宋体" panose="02010600030101010101" pitchFamily="2" charset="-122"/>
              </a:defRPr>
            </a:lvl2pPr>
            <a:lvl3pPr marL="1143000" indent="-228600" eaLnBrk="0" hangingPunct="0">
              <a:defRPr kumimoji="1" sz="800" b="1">
                <a:solidFill>
                  <a:schemeClr val="tx1"/>
                </a:solidFill>
                <a:latin typeface="宋体" panose="02010600030101010101" pitchFamily="2" charset="-122"/>
                <a:ea typeface="宋体" panose="02010600030101010101" pitchFamily="2" charset="-122"/>
              </a:defRPr>
            </a:lvl3pPr>
            <a:lvl4pPr marL="1600200" indent="-228600" eaLnBrk="0" hangingPunct="0">
              <a:defRPr kumimoji="1" sz="800" b="1">
                <a:solidFill>
                  <a:schemeClr val="tx1"/>
                </a:solidFill>
                <a:latin typeface="宋体" panose="02010600030101010101" pitchFamily="2" charset="-122"/>
                <a:ea typeface="宋体" panose="02010600030101010101" pitchFamily="2" charset="-122"/>
              </a:defRPr>
            </a:lvl4pPr>
            <a:lvl5pPr marL="2057400" indent="-228600" eaLnBrk="0" hangingPunct="0">
              <a:defRPr kumimoji="1" sz="800" b="1">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800" b="1">
                <a:solidFill>
                  <a:schemeClr val="tx1"/>
                </a:solidFill>
                <a:latin typeface="宋体" panose="02010600030101010101" pitchFamily="2" charset="-122"/>
                <a:ea typeface="宋体" panose="02010600030101010101" pitchFamily="2" charset="-122"/>
              </a:defRPr>
            </a:lvl9pPr>
          </a:lstStyle>
          <a:p>
            <a:pPr eaLnBrk="1" hangingPunct="1">
              <a:spcBef>
                <a:spcPct val="50000"/>
              </a:spcBef>
            </a:pPr>
            <a:r>
              <a:rPr lang="zh-CN" altLang="en-US" sz="2800"/>
              <a:t> 计算机科学与技术学院</a:t>
            </a:r>
          </a:p>
        </p:txBody>
      </p:sp>
      <p:sp>
        <p:nvSpPr>
          <p:cNvPr id="5" name="Rectangle 2"/>
          <p:cNvSpPr txBox="1">
            <a:spLocks noChangeArrowheads="1"/>
          </p:cNvSpPr>
          <p:nvPr/>
        </p:nvSpPr>
        <p:spPr bwMode="auto">
          <a:xfrm>
            <a:off x="1714500" y="3071813"/>
            <a:ext cx="5673725" cy="1143000"/>
          </a:xfrm>
          <a:prstGeom prst="rect">
            <a:avLst/>
          </a:prstGeom>
          <a:noFill/>
          <a:ln w="9525">
            <a:noFill/>
            <a:miter lim="800000"/>
          </a:ln>
          <a:effectLst/>
        </p:spPr>
        <p:txBody>
          <a:bodyPr lIns="92075" tIns="46038" rIns="92075" bIns="46038" anchor="ctr"/>
          <a:lstStyle/>
          <a:p>
            <a:pPr algn="ctr">
              <a:defRPr/>
            </a:pPr>
            <a:r>
              <a:rPr lang="zh-CN" altLang="en-US" sz="4000" kern="0" dirty="0">
                <a:effectLst>
                  <a:outerShdw blurRad="38100" dist="38100" dir="2700000" algn="tl">
                    <a:srgbClr val="000000"/>
                  </a:outerShdw>
                </a:effectLst>
                <a:latin typeface="+mj-lt"/>
                <a:ea typeface="+mj-ea"/>
                <a:cs typeface="+mj-cs"/>
              </a:rPr>
              <a:t>第十五讲</a:t>
            </a:r>
          </a:p>
        </p:txBody>
      </p:sp>
      <p:sp>
        <p:nvSpPr>
          <p:cNvPr id="2" name="日期占位符 1">
            <a:extLst>
              <a:ext uri="{FF2B5EF4-FFF2-40B4-BE49-F238E27FC236}">
                <a16:creationId xmlns:a16="http://schemas.microsoft.com/office/drawing/2014/main" id="{0DC27658-53F0-54A2-3E84-B5CDB2695541}"/>
              </a:ext>
            </a:extLst>
          </p:cNvPr>
          <p:cNvSpPr>
            <a:spLocks noGrp="1"/>
          </p:cNvSpPr>
          <p:nvPr>
            <p:ph type="dt" sz="half" idx="10"/>
          </p:nvPr>
        </p:nvSpPr>
        <p:spPr/>
        <p:txBody>
          <a:bodyPr/>
          <a:lstStyle/>
          <a:p>
            <a:pPr>
              <a:defRPr/>
            </a:pPr>
            <a:fld id="{57C1F374-68FD-4097-9806-BF4E20112A25}"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C1905AD7-2A8D-B06D-7596-9E64EF032B7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FC120FAF-A16C-6B07-6184-979E5FF091C5}"/>
              </a:ext>
            </a:extLst>
          </p:cNvPr>
          <p:cNvSpPr>
            <a:spLocks noGrp="1"/>
          </p:cNvSpPr>
          <p:nvPr>
            <p:ph type="sldNum" sz="quarter" idx="12"/>
          </p:nvPr>
        </p:nvSpPr>
        <p:spPr/>
        <p:txBody>
          <a:bodyPr/>
          <a:lstStyle/>
          <a:p>
            <a:pPr>
              <a:defRPr/>
            </a:pPr>
            <a:fld id="{8BCAC33D-D29A-48B3-BCD6-381D3D720D26}" type="slidenum">
              <a:rPr lang="zh-CN" altLang="en-US" smtClean="0"/>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title"/>
          </p:nvPr>
        </p:nvSpPr>
        <p:spPr>
          <a:xfrm>
            <a:off x="685800" y="122907"/>
            <a:ext cx="7772400" cy="785813"/>
          </a:xfrm>
        </p:spPr>
        <p:txBody>
          <a:bodyPr/>
          <a:lstStyle/>
          <a:p>
            <a:pPr eaLnBrk="1" hangingPunct="1"/>
            <a:r>
              <a:rPr lang="en-US" altLang="zh-CN" b="1" dirty="0"/>
              <a:t>Recap</a:t>
            </a:r>
            <a:endParaRPr lang="zh-CN" altLang="en-US" b="1" dirty="0"/>
          </a:p>
        </p:txBody>
      </p:sp>
      <p:sp>
        <p:nvSpPr>
          <p:cNvPr id="3" name="内容占位符 2"/>
          <p:cNvSpPr>
            <a:spLocks noGrp="1"/>
          </p:cNvSpPr>
          <p:nvPr>
            <p:ph idx="1"/>
          </p:nvPr>
        </p:nvSpPr>
        <p:spPr>
          <a:xfrm>
            <a:off x="251520" y="1139006"/>
            <a:ext cx="8352927" cy="5718994"/>
          </a:xfrm>
        </p:spPr>
        <p:txBody>
          <a:bodyPr rtlCol="0">
            <a:noAutofit/>
          </a:bodyPr>
          <a:lstStyle/>
          <a:p>
            <a:pPr lvl="1" eaLnBrk="1" fontAlgn="auto" hangingPunct="1">
              <a:lnSpc>
                <a:spcPct val="130000"/>
              </a:lnSpc>
              <a:spcAft>
                <a:spcPts val="0"/>
              </a:spcAft>
              <a:defRPr/>
            </a:pPr>
            <a:r>
              <a:rPr lang="zh-CN" altLang="en-US" sz="2400" b="1" dirty="0"/>
              <a:t>乱序执行算法</a:t>
            </a:r>
            <a:endParaRPr lang="en-US" altLang="zh-CN" sz="2400" b="1" dirty="0"/>
          </a:p>
          <a:p>
            <a:pPr marL="1101600" lvl="1" eaLnBrk="1" hangingPunct="1">
              <a:lnSpc>
                <a:spcPct val="130000"/>
              </a:lnSpc>
              <a:buFont typeface="Wingdings" panose="05000000000000000000" pitchFamily="2" charset="2"/>
              <a:buChar char="ü"/>
              <a:defRPr/>
            </a:pPr>
            <a:r>
              <a:rPr lang="zh-CN" altLang="en-US" sz="2400" b="1" dirty="0"/>
              <a:t>分支目标缓冲</a:t>
            </a:r>
            <a:r>
              <a:rPr lang="en-US" altLang="zh-CN" sz="2400" b="1" dirty="0"/>
              <a:t>BTB</a:t>
            </a:r>
          </a:p>
          <a:p>
            <a:pPr marL="1101600" lvl="1" eaLnBrk="1" hangingPunct="1">
              <a:lnSpc>
                <a:spcPct val="130000"/>
              </a:lnSpc>
              <a:buFont typeface="Wingdings" panose="05000000000000000000" pitchFamily="2" charset="2"/>
              <a:buChar char="ü"/>
              <a:defRPr/>
            </a:pPr>
            <a:r>
              <a:rPr lang="zh-CN" altLang="en-US" sz="2400" b="1" dirty="0"/>
              <a:t>前瞻执行</a:t>
            </a:r>
            <a:endParaRPr lang="en-US" altLang="zh-CN" sz="2400" b="1" dirty="0"/>
          </a:p>
          <a:p>
            <a:pPr lvl="1" eaLnBrk="1" fontAlgn="auto" hangingPunct="1">
              <a:lnSpc>
                <a:spcPct val="130000"/>
              </a:lnSpc>
              <a:spcAft>
                <a:spcPts val="0"/>
              </a:spcAft>
              <a:defRPr/>
            </a:pPr>
            <a:r>
              <a:rPr lang="zh-CN" altLang="en-US" sz="2400" b="1" dirty="0"/>
              <a:t>指令多流出技术</a:t>
            </a:r>
            <a:endParaRPr lang="en-US" altLang="zh-CN" sz="2400" b="1" dirty="0"/>
          </a:p>
          <a:p>
            <a:pPr marL="1101600" lvl="1" eaLnBrk="1" fontAlgn="auto" hangingPunct="1">
              <a:lnSpc>
                <a:spcPct val="130000"/>
              </a:lnSpc>
              <a:spcAft>
                <a:spcPts val="0"/>
              </a:spcAft>
              <a:buFont typeface="Wingdings" panose="05000000000000000000" pitchFamily="2" charset="2"/>
              <a:buChar char="ü"/>
              <a:defRPr/>
            </a:pPr>
            <a:r>
              <a:rPr lang="zh-CN" altLang="en-US" sz="2400" b="1" dirty="0"/>
              <a:t>静态超标量</a:t>
            </a:r>
            <a:endParaRPr lang="en-US" altLang="zh-CN" sz="2400" b="1" dirty="0"/>
          </a:p>
          <a:p>
            <a:pPr marL="1101600" lvl="1" eaLnBrk="1" fontAlgn="auto" hangingPunct="1">
              <a:lnSpc>
                <a:spcPct val="130000"/>
              </a:lnSpc>
              <a:spcAft>
                <a:spcPts val="0"/>
              </a:spcAft>
              <a:buFont typeface="Wingdings" panose="05000000000000000000" pitchFamily="2" charset="2"/>
              <a:buChar char="ü"/>
              <a:defRPr/>
            </a:pPr>
            <a:r>
              <a:rPr lang="zh-CN" altLang="en-US" sz="2400" b="1" dirty="0"/>
              <a:t>动态超标量</a:t>
            </a:r>
            <a:endParaRPr lang="en-US" altLang="zh-CN" sz="2400" b="1" dirty="0"/>
          </a:p>
          <a:p>
            <a:pPr marL="1101600" lvl="1" eaLnBrk="1" fontAlgn="auto" hangingPunct="1">
              <a:lnSpc>
                <a:spcPct val="130000"/>
              </a:lnSpc>
              <a:spcAft>
                <a:spcPts val="0"/>
              </a:spcAft>
              <a:buFont typeface="Wingdings" panose="05000000000000000000" pitchFamily="2" charset="2"/>
              <a:buChar char="ü"/>
              <a:defRPr/>
            </a:pPr>
            <a:r>
              <a:rPr lang="zh-CN" altLang="en-US" sz="2400" b="1" dirty="0"/>
              <a:t>超长指令字</a:t>
            </a:r>
            <a:endParaRPr lang="en-US" altLang="zh-CN" sz="2400" b="1" dirty="0"/>
          </a:p>
          <a:p>
            <a:pPr lvl="1" eaLnBrk="1" fontAlgn="auto" hangingPunct="1">
              <a:lnSpc>
                <a:spcPct val="130000"/>
              </a:lnSpc>
              <a:spcAft>
                <a:spcPts val="0"/>
              </a:spcAft>
              <a:defRPr/>
            </a:pPr>
            <a:r>
              <a:rPr lang="zh-CN" altLang="en-US" sz="2400" b="1" dirty="0">
                <a:latin typeface="+mj-lt"/>
              </a:rPr>
              <a:t>多核系统简介</a:t>
            </a:r>
            <a:endParaRPr lang="en-US" altLang="zh-CN" sz="2400" b="1" dirty="0">
              <a:latin typeface="+mj-lt"/>
            </a:endParaRPr>
          </a:p>
        </p:txBody>
      </p:sp>
      <p:sp>
        <p:nvSpPr>
          <p:cNvPr id="2" name="日期占位符 1">
            <a:extLst>
              <a:ext uri="{FF2B5EF4-FFF2-40B4-BE49-F238E27FC236}">
                <a16:creationId xmlns:a16="http://schemas.microsoft.com/office/drawing/2014/main" id="{2BF89E72-E20C-DD33-49B5-27B81680499A}"/>
              </a:ext>
            </a:extLst>
          </p:cNvPr>
          <p:cNvSpPr>
            <a:spLocks noGrp="1"/>
          </p:cNvSpPr>
          <p:nvPr>
            <p:ph type="dt" sz="half" idx="10"/>
          </p:nvPr>
        </p:nvSpPr>
        <p:spPr/>
        <p:txBody>
          <a:bodyPr/>
          <a:lstStyle/>
          <a:p>
            <a:pPr>
              <a:defRPr/>
            </a:pPr>
            <a:fld id="{C89EFF57-5C0B-4455-8CC8-8BEACA8C74CE}"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5317AF0F-AFD6-3366-48AB-0C4670C98F90}"/>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9AECCF5E-0006-91D3-7ABC-D0709A02F2FF}"/>
              </a:ext>
            </a:extLst>
          </p:cNvPr>
          <p:cNvSpPr>
            <a:spLocks noGrp="1"/>
          </p:cNvSpPr>
          <p:nvPr>
            <p:ph type="sldNum" sz="quarter" idx="12"/>
          </p:nvPr>
        </p:nvSpPr>
        <p:spPr/>
        <p:txBody>
          <a:bodyPr/>
          <a:lstStyle/>
          <a:p>
            <a:pPr>
              <a:defRPr/>
            </a:pPr>
            <a:fld id="{8BCAC33D-D29A-48B3-BCD6-381D3D720D26}" type="slidenum">
              <a:rPr lang="zh-CN" altLang="en-US" smtClean="0"/>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9" name="Rectangle 7"/>
          <p:cNvSpPr>
            <a:spLocks noChangeArrowheads="1"/>
          </p:cNvSpPr>
          <p:nvPr/>
        </p:nvSpPr>
        <p:spPr bwMode="auto">
          <a:xfrm>
            <a:off x="2339975" y="1212826"/>
            <a:ext cx="5832425" cy="592138"/>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第 </a:t>
            </a:r>
            <a:r>
              <a:rPr lang="en-US" altLang="zh-CN"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1 </a:t>
            </a:r>
            <a:r>
              <a:rPr lang="zh-CN" altLang="en-US"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章  计算机体系结构的基本概念</a:t>
            </a:r>
          </a:p>
        </p:txBody>
      </p:sp>
      <p:sp>
        <p:nvSpPr>
          <p:cNvPr id="658440" name="Rectangle 8"/>
          <p:cNvSpPr>
            <a:spLocks noChangeArrowheads="1"/>
          </p:cNvSpPr>
          <p:nvPr/>
        </p:nvSpPr>
        <p:spPr bwMode="auto">
          <a:xfrm>
            <a:off x="2360613" y="2420914"/>
            <a:ext cx="5256212" cy="592137"/>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第 </a:t>
            </a:r>
            <a:r>
              <a:rPr lang="en-US" altLang="zh-CN"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3 </a:t>
            </a:r>
            <a:r>
              <a:rPr lang="zh-CN" altLang="en-US"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章  流水线技术</a:t>
            </a:r>
          </a:p>
        </p:txBody>
      </p:sp>
      <p:sp>
        <p:nvSpPr>
          <p:cNvPr id="658441" name="Rectangle 9"/>
          <p:cNvSpPr>
            <a:spLocks noChangeArrowheads="1"/>
          </p:cNvSpPr>
          <p:nvPr/>
        </p:nvSpPr>
        <p:spPr bwMode="auto">
          <a:xfrm>
            <a:off x="2339975" y="3036864"/>
            <a:ext cx="5256213" cy="592137"/>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第 </a:t>
            </a:r>
            <a:r>
              <a:rPr lang="en-US" altLang="zh-CN"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4 </a:t>
            </a:r>
            <a:r>
              <a:rPr lang="zh-CN" altLang="en-US"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章   指令级并行</a:t>
            </a:r>
          </a:p>
        </p:txBody>
      </p:sp>
      <p:sp>
        <p:nvSpPr>
          <p:cNvPr id="658442" name="Rectangle 10"/>
          <p:cNvSpPr>
            <a:spLocks noChangeArrowheads="1"/>
          </p:cNvSpPr>
          <p:nvPr/>
        </p:nvSpPr>
        <p:spPr bwMode="auto">
          <a:xfrm>
            <a:off x="2339975" y="3652814"/>
            <a:ext cx="5256213" cy="592137"/>
          </a:xfrm>
          <a:prstGeom prst="rect">
            <a:avLst/>
          </a:prstGeom>
          <a:noFill/>
          <a:ln w="9525">
            <a:noFill/>
            <a:miter lim="800000"/>
            <a:headEnd/>
            <a:tailEnd/>
          </a:ln>
          <a:effectLst/>
        </p:spPr>
        <p:txBody>
          <a:bodyPr lIns="92075" tIns="46038" rIns="92075" bIns="46038" anchor="ctr"/>
          <a:lstStyle/>
          <a:p>
            <a:pPr>
              <a:defRPr/>
            </a:pPr>
            <a:r>
              <a:rPr lang="zh-CN" altLang="en-US" sz="2800" u="sng"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第 </a:t>
            </a:r>
            <a:r>
              <a:rPr lang="en-US" altLang="zh-CN" sz="2800" u="sng"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5 </a:t>
            </a:r>
            <a:r>
              <a:rPr lang="zh-CN" altLang="en-US" sz="2800" u="sng"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章  存储层次</a:t>
            </a:r>
          </a:p>
        </p:txBody>
      </p:sp>
      <p:sp>
        <p:nvSpPr>
          <p:cNvPr id="658443" name="Rectangle 11"/>
          <p:cNvSpPr>
            <a:spLocks noChangeArrowheads="1"/>
          </p:cNvSpPr>
          <p:nvPr/>
        </p:nvSpPr>
        <p:spPr bwMode="auto">
          <a:xfrm>
            <a:off x="2339975" y="4268764"/>
            <a:ext cx="5256213" cy="592137"/>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第 </a:t>
            </a:r>
            <a:r>
              <a:rPr lang="en-US" altLang="zh-CN"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6 </a:t>
            </a:r>
            <a:r>
              <a:rPr lang="zh-CN" altLang="en-US"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章   输入输出系统</a:t>
            </a:r>
          </a:p>
        </p:txBody>
      </p:sp>
      <p:sp>
        <p:nvSpPr>
          <p:cNvPr id="13" name="Rectangle 8"/>
          <p:cNvSpPr>
            <a:spLocks noChangeArrowheads="1"/>
          </p:cNvSpPr>
          <p:nvPr/>
        </p:nvSpPr>
        <p:spPr bwMode="auto">
          <a:xfrm>
            <a:off x="2339975" y="1828776"/>
            <a:ext cx="5256213" cy="592138"/>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第 </a:t>
            </a:r>
            <a:r>
              <a:rPr lang="en-US" altLang="zh-CN"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2 </a:t>
            </a:r>
            <a:r>
              <a:rPr lang="zh-CN" altLang="en-US"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章  指令系统</a:t>
            </a:r>
          </a:p>
        </p:txBody>
      </p:sp>
      <p:sp>
        <p:nvSpPr>
          <p:cNvPr id="12" name="Rectangle 7"/>
          <p:cNvSpPr>
            <a:spLocks noChangeArrowheads="1"/>
          </p:cNvSpPr>
          <p:nvPr/>
        </p:nvSpPr>
        <p:spPr bwMode="auto">
          <a:xfrm>
            <a:off x="2339752" y="620688"/>
            <a:ext cx="5616575" cy="592138"/>
          </a:xfrm>
          <a:prstGeom prst="rect">
            <a:avLst/>
          </a:prstGeom>
          <a:noFill/>
          <a:ln w="9525">
            <a:noFill/>
            <a:miter lim="800000"/>
            <a:headEnd/>
            <a:tailEnd/>
          </a:ln>
          <a:effectLst/>
        </p:spPr>
        <p:txBody>
          <a:bodyPr lIns="92075" tIns="46038" rIns="92075" bIns="46038" anchor="ctr"/>
          <a:lstStyle/>
          <a:p>
            <a:pPr>
              <a:defRPr/>
            </a:pPr>
            <a:r>
              <a:rPr lang="zh-CN" altLang="en-US"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第 </a:t>
            </a:r>
            <a:r>
              <a:rPr lang="en-US" altLang="zh-CN"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0 </a:t>
            </a:r>
            <a:r>
              <a:rPr lang="zh-CN" altLang="en-US" sz="2800" dirty="0">
                <a:solidFill>
                  <a:schemeClr val="tx2"/>
                </a:solidFill>
                <a:effectLst>
                  <a:outerShdw blurRad="38100" dist="38100" dir="2700000" algn="tl">
                    <a:srgbClr val="000000"/>
                  </a:outerShdw>
                </a:effectLst>
                <a:latin typeface="Times New Roman" panose="02020603050405020304" pitchFamily="18" charset="0"/>
                <a:cs typeface="Times New Roman" panose="02020603050405020304" pitchFamily="18" charset="0"/>
              </a:rPr>
              <a:t>章  前言</a:t>
            </a:r>
          </a:p>
        </p:txBody>
      </p:sp>
      <p:sp>
        <p:nvSpPr>
          <p:cNvPr id="2" name="日期占位符 1">
            <a:extLst>
              <a:ext uri="{FF2B5EF4-FFF2-40B4-BE49-F238E27FC236}">
                <a16:creationId xmlns:a16="http://schemas.microsoft.com/office/drawing/2014/main" id="{7133C0DD-1654-0D7B-D415-B48C4488004A}"/>
              </a:ext>
            </a:extLst>
          </p:cNvPr>
          <p:cNvSpPr>
            <a:spLocks noGrp="1"/>
          </p:cNvSpPr>
          <p:nvPr>
            <p:ph type="dt" sz="half" idx="10"/>
          </p:nvPr>
        </p:nvSpPr>
        <p:spPr/>
        <p:txBody>
          <a:bodyPr/>
          <a:lstStyle/>
          <a:p>
            <a:pPr>
              <a:defRPr/>
            </a:pPr>
            <a:fld id="{BF4E492F-017C-4044-9085-512784FB4383}"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A919FFA7-9BC8-FD94-AF31-DCF77FEBF25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FC6F987A-4881-6CC5-C6F0-3F4D50401EA4}"/>
              </a:ext>
            </a:extLst>
          </p:cNvPr>
          <p:cNvSpPr>
            <a:spLocks noGrp="1"/>
          </p:cNvSpPr>
          <p:nvPr>
            <p:ph type="sldNum" sz="quarter" idx="12"/>
          </p:nvPr>
        </p:nvSpPr>
        <p:spPr/>
        <p:txBody>
          <a:bodyPr/>
          <a:lstStyle/>
          <a:p>
            <a:pPr>
              <a:defRPr/>
            </a:pPr>
            <a:fld id="{8BCAC33D-D29A-48B3-BCD6-381D3D720D26}" type="slidenum">
              <a:rPr lang="zh-CN" altLang="en-US" smtClean="0"/>
              <a:t>3</a:t>
            </a:fld>
            <a:endParaRPr lang="en-US" altLang="zh-CN"/>
          </a:p>
        </p:txBody>
      </p:sp>
    </p:spTree>
    <p:extLst>
      <p:ext uri="{BB962C8B-B14F-4D97-AF65-F5344CB8AC3E}">
        <p14:creationId xmlns:p14="http://schemas.microsoft.com/office/powerpoint/2010/main" val="2368169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descr="Rectangle: Click to edit Master text styles&#10;Second level&#10;Third level&#10;Fourth level&#10;Fifth level">
            <a:extLst>
              <a:ext uri="{FF2B5EF4-FFF2-40B4-BE49-F238E27FC236}">
                <a16:creationId xmlns:a16="http://schemas.microsoft.com/office/drawing/2014/main" id="{ADD5ED5F-B28F-45CC-A73D-0F62E9E4A7B2}"/>
              </a:ext>
            </a:extLst>
          </p:cNvPr>
          <p:cNvSpPr>
            <a:spLocks noChangeArrowheads="1"/>
          </p:cNvSpPr>
          <p:nvPr/>
        </p:nvSpPr>
        <p:spPr bwMode="auto">
          <a:xfrm>
            <a:off x="611560" y="1268760"/>
            <a:ext cx="77724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ahoma" panose="020B0604030504040204" pitchFamily="34" charset="0"/>
                <a:ea typeface="黑体" panose="02010609060101010101" pitchFamily="49" charset="-122"/>
              </a:defRPr>
            </a:lvl1pPr>
            <a:lvl2pPr marL="742950" indent="-285750">
              <a:defRPr kumimoji="1" sz="2400">
                <a:solidFill>
                  <a:schemeClr val="tx1"/>
                </a:solidFill>
                <a:latin typeface="Tahoma" panose="020B0604030504040204" pitchFamily="34" charset="0"/>
                <a:ea typeface="黑体" panose="02010609060101010101" pitchFamily="49" charset="-122"/>
              </a:defRPr>
            </a:lvl2pPr>
            <a:lvl3pPr marL="1143000" indent="-228600">
              <a:defRPr kumimoji="1" sz="2400">
                <a:solidFill>
                  <a:schemeClr val="tx1"/>
                </a:solidFill>
                <a:latin typeface="Tahoma" panose="020B0604030504040204" pitchFamily="34" charset="0"/>
                <a:ea typeface="黑体" panose="02010609060101010101" pitchFamily="49" charset="-122"/>
              </a:defRPr>
            </a:lvl3pPr>
            <a:lvl4pPr marL="1600200" indent="-228600">
              <a:defRPr kumimoji="1" sz="2400">
                <a:solidFill>
                  <a:schemeClr val="tx1"/>
                </a:solidFill>
                <a:latin typeface="Tahoma" panose="020B0604030504040204" pitchFamily="34" charset="0"/>
                <a:ea typeface="黑体" panose="02010609060101010101" pitchFamily="49" charset="-122"/>
              </a:defRPr>
            </a:lvl4pPr>
            <a:lvl5pPr marL="2057400" indent="-228600">
              <a:defRPr kumimoji="1" sz="24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黑体" panose="02010609060101010101" pitchFamily="49" charset="-122"/>
              </a:defRPr>
            </a:lvl9pPr>
          </a:lstStyle>
          <a:p>
            <a:pPr eaLnBrk="1" hangingPunct="1"/>
            <a:endParaRPr lang="en-US" altLang="zh-CN" sz="2000" dirty="0">
              <a:latin typeface="Times New Roman" panose="02020603050405020304" pitchFamily="18" charset="0"/>
              <a:cs typeface="Times New Roman" panose="02020603050405020304" pitchFamily="18" charset="0"/>
            </a:endParaRPr>
          </a:p>
          <a:p>
            <a:pPr eaLnBrk="1" hangingPunct="1"/>
            <a:endParaRPr lang="en-US" altLang="zh-CN" sz="2000" dirty="0">
              <a:latin typeface="Times New Roman" panose="02020603050405020304" pitchFamily="18" charset="0"/>
              <a:cs typeface="Times New Roman" panose="02020603050405020304" pitchFamily="18" charset="0"/>
            </a:endParaRPr>
          </a:p>
          <a:p>
            <a:pPr algn="just" eaLnBrk="1" hangingPunct="1"/>
            <a:r>
              <a:rPr lang="en-US" altLang="zh-CN" sz="2200" dirty="0">
                <a:latin typeface="Times New Roman" panose="02020603050405020304" pitchFamily="18" charset="0"/>
                <a:ea typeface="华文中宋" panose="02010600040101010101" pitchFamily="2" charset="-122"/>
                <a:cs typeface="Times New Roman" panose="02020603050405020304" pitchFamily="18" charset="0"/>
              </a:rPr>
              <a:t>Ideally one would desire an indefinitely large memory capacity such that any particular … word would be immediately available … We are … forced to recognize the possibility of constructing a hierarchy of memories, each of which has greater capacity than the preceding but which is less quickly accessible.</a:t>
            </a:r>
          </a:p>
          <a:p>
            <a:pPr eaLnBrk="1" hangingPunct="1"/>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 </a:t>
            </a:r>
            <a:endParaRPr lang="zh-CN" altLang="en-US" sz="2000" dirty="0">
              <a:latin typeface="Times New Roman" panose="02020603050405020304" pitchFamily="18" charset="0"/>
              <a:ea typeface="华文中宋" panose="02010600040101010101" pitchFamily="2" charset="-122"/>
              <a:cs typeface="Times New Roman" panose="02020603050405020304" pitchFamily="18" charset="0"/>
            </a:endParaRPr>
          </a:p>
          <a:p>
            <a:pPr eaLnBrk="1" hangingPunct="1"/>
            <a:r>
              <a:rPr lang="en-US" altLang="zh-CN" sz="2000" b="1"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200" dirty="0" err="1">
                <a:latin typeface="Times New Roman" panose="02020603050405020304" pitchFamily="18" charset="0"/>
                <a:ea typeface="华文中宋" panose="02010600040101010101" pitchFamily="2" charset="-122"/>
                <a:cs typeface="Times New Roman" panose="02020603050405020304" pitchFamily="18" charset="0"/>
              </a:rPr>
              <a:t>A.W.Burks</a:t>
            </a:r>
            <a:r>
              <a:rPr lang="zh-CN" altLang="en-US" sz="2200"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200" dirty="0" err="1">
                <a:latin typeface="Times New Roman" panose="02020603050405020304" pitchFamily="18" charset="0"/>
                <a:ea typeface="华文中宋" panose="02010600040101010101" pitchFamily="2" charset="-122"/>
                <a:cs typeface="Times New Roman" panose="02020603050405020304" pitchFamily="18" charset="0"/>
              </a:rPr>
              <a:t>H.H.Goldstine</a:t>
            </a:r>
            <a:r>
              <a:rPr lang="zh-CN" altLang="en-US" sz="2200"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200" dirty="0">
                <a:latin typeface="Times New Roman" panose="02020603050405020304" pitchFamily="18" charset="0"/>
                <a:ea typeface="华文中宋" panose="02010600040101010101" pitchFamily="2" charset="-122"/>
                <a:cs typeface="Times New Roman" panose="02020603050405020304" pitchFamily="18" charset="0"/>
              </a:rPr>
              <a:t>and </a:t>
            </a:r>
            <a:r>
              <a:rPr lang="en-US" altLang="zh-CN" sz="2200" dirty="0" err="1">
                <a:latin typeface="Times New Roman" panose="02020603050405020304" pitchFamily="18" charset="0"/>
                <a:ea typeface="华文中宋" panose="02010600040101010101" pitchFamily="2" charset="-122"/>
                <a:cs typeface="Times New Roman" panose="02020603050405020304" pitchFamily="18" charset="0"/>
              </a:rPr>
              <a:t>J.von</a:t>
            </a:r>
            <a:r>
              <a:rPr lang="en-US" altLang="zh-CN" sz="2200" dirty="0">
                <a:latin typeface="Times New Roman" panose="02020603050405020304" pitchFamily="18" charset="0"/>
                <a:ea typeface="华文中宋" panose="02010600040101010101" pitchFamily="2" charset="-122"/>
                <a:cs typeface="Times New Roman" panose="02020603050405020304" pitchFamily="18" charset="0"/>
              </a:rPr>
              <a:t> Neumann</a:t>
            </a:r>
            <a:endParaRPr lang="zh-CN" altLang="en-US" sz="2200" dirty="0">
              <a:latin typeface="Times New Roman" panose="02020603050405020304" pitchFamily="18" charset="0"/>
              <a:ea typeface="华文中宋" panose="02010600040101010101" pitchFamily="2" charset="-122"/>
              <a:cs typeface="Times New Roman" panose="02020603050405020304" pitchFamily="18" charset="0"/>
            </a:endParaRPr>
          </a:p>
          <a:p>
            <a:pPr eaLnBrk="1" hangingPunct="1"/>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	</a:t>
            </a:r>
            <a:r>
              <a:rPr lang="en-US" altLang="zh-CN" sz="2000" b="0" i="1" dirty="0">
                <a:latin typeface="Times New Roman" panose="02020603050405020304" pitchFamily="18" charset="0"/>
                <a:ea typeface="华文中宋" panose="02010600040101010101" pitchFamily="2" charset="-122"/>
                <a:cs typeface="Times New Roman" panose="02020603050405020304" pitchFamily="18" charset="0"/>
              </a:rPr>
              <a:t>     Preliminary Discussion of the Logical Design of an Electronic</a:t>
            </a:r>
          </a:p>
          <a:p>
            <a:pPr eaLnBrk="1" hangingPunct="1"/>
            <a:r>
              <a:rPr lang="en-US" altLang="zh-CN" sz="2000" b="0" i="1" dirty="0">
                <a:latin typeface="Times New Roman" panose="02020603050405020304" pitchFamily="18" charset="0"/>
                <a:ea typeface="华文中宋" panose="02010600040101010101" pitchFamily="2" charset="-122"/>
                <a:cs typeface="Times New Roman" panose="02020603050405020304" pitchFamily="18" charset="0"/>
              </a:rPr>
              <a:t>                   Computing Instrument (1946)</a:t>
            </a:r>
            <a:endParaRPr lang="zh-CN" altLang="en-US" sz="3200" b="0" i="1" dirty="0">
              <a:solidFill>
                <a:srgbClr val="D60093"/>
              </a:solidFill>
              <a:latin typeface="Times New Roman" panose="02020603050405020304" pitchFamily="18" charset="0"/>
              <a:cs typeface="Times New Roman" panose="02020603050405020304" pitchFamily="18" charset="0"/>
            </a:endParaRPr>
          </a:p>
          <a:p>
            <a:pPr eaLnBrk="1" hangingPunct="1">
              <a:lnSpc>
                <a:spcPct val="110000"/>
              </a:lnSpc>
              <a:spcBef>
                <a:spcPct val="20000"/>
              </a:spcBef>
              <a:buClr>
                <a:schemeClr val="tx1"/>
              </a:buClr>
              <a:buFont typeface="Wingdings" panose="05000000000000000000" pitchFamily="2" charset="2"/>
              <a:buNone/>
            </a:pPr>
            <a:endParaRPr lang="zh-CN" altLang="en-US" sz="2800" b="0" i="1" dirty="0">
              <a:solidFill>
                <a:srgbClr val="3C92E8"/>
              </a:solidFill>
              <a:latin typeface="Times New Roman" panose="02020603050405020304" pitchFamily="18" charset="0"/>
              <a:cs typeface="Times New Roman" panose="02020603050405020304" pitchFamily="18" charset="0"/>
            </a:endParaRPr>
          </a:p>
          <a:p>
            <a:pPr algn="ctr" eaLnBrk="1" hangingPunct="1">
              <a:lnSpc>
                <a:spcPct val="70000"/>
              </a:lnSpc>
              <a:spcBef>
                <a:spcPct val="20000"/>
              </a:spcBef>
              <a:buClr>
                <a:schemeClr val="tx1"/>
              </a:buClr>
              <a:buFont typeface="Wingdings" panose="05000000000000000000" pitchFamily="2" charset="2"/>
              <a:buNone/>
            </a:pPr>
            <a:endParaRPr lang="zh-CN" altLang="en-US" sz="2800"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723B85B2-0515-417A-B1F3-FD1AB1EB0CB5}"/>
              </a:ext>
            </a:extLst>
          </p:cNvPr>
          <p:cNvSpPr>
            <a:spLocks noGrp="1" noChangeArrowheads="1"/>
          </p:cNvSpPr>
          <p:nvPr>
            <p:ph type="title"/>
          </p:nvPr>
        </p:nvSpPr>
        <p:spPr>
          <a:xfrm>
            <a:off x="539552" y="309190"/>
            <a:ext cx="8229600" cy="1143000"/>
          </a:xfrm>
        </p:spPr>
        <p:txBody>
          <a:bodyPr>
            <a:normAutofit/>
          </a:bodyPr>
          <a:lstStyle/>
          <a:p>
            <a:pPr eaLnBrk="1" hangingPunct="1"/>
            <a:r>
              <a:rPr kumimoji="1" lang="zh-CN" altLang="en-US" sz="4000" b="1" dirty="0">
                <a:effectLst>
                  <a:outerShdw blurRad="38100" dist="38100" dir="2700000" algn="tl">
                    <a:srgbClr val="C0C0C0"/>
                  </a:outerShdw>
                </a:effectLst>
                <a:latin typeface="Times New Roman" pitchFamily="18" charset="0"/>
                <a:ea typeface="华文中宋" pitchFamily="2" charset="-122"/>
                <a:cs typeface="+mn-cs"/>
              </a:rPr>
              <a:t>第 </a:t>
            </a:r>
            <a:r>
              <a:rPr kumimoji="1" lang="en-US" altLang="zh-CN" sz="4000" b="1" dirty="0">
                <a:effectLst>
                  <a:outerShdw blurRad="38100" dist="38100" dir="2700000" algn="tl">
                    <a:srgbClr val="C0C0C0"/>
                  </a:outerShdw>
                </a:effectLst>
                <a:latin typeface="Times New Roman" pitchFamily="18" charset="0"/>
                <a:ea typeface="华文中宋" pitchFamily="2" charset="-122"/>
                <a:cs typeface="+mn-cs"/>
              </a:rPr>
              <a:t>5 </a:t>
            </a:r>
            <a:r>
              <a:rPr kumimoji="1" lang="zh-CN" altLang="en-US" sz="4000" b="1" dirty="0">
                <a:effectLst>
                  <a:outerShdw blurRad="38100" dist="38100" dir="2700000" algn="tl">
                    <a:srgbClr val="C0C0C0"/>
                  </a:outerShdw>
                </a:effectLst>
                <a:latin typeface="Times New Roman" pitchFamily="18" charset="0"/>
                <a:ea typeface="华文中宋" pitchFamily="2" charset="-122"/>
                <a:cs typeface="+mn-cs"/>
              </a:rPr>
              <a:t>章  存储层次</a:t>
            </a:r>
            <a:endParaRPr lang="zh-CN" altLang="en-US" sz="4000" b="1" dirty="0"/>
          </a:p>
        </p:txBody>
      </p:sp>
      <p:sp>
        <p:nvSpPr>
          <p:cNvPr id="2" name="日期占位符 1">
            <a:extLst>
              <a:ext uri="{FF2B5EF4-FFF2-40B4-BE49-F238E27FC236}">
                <a16:creationId xmlns:a16="http://schemas.microsoft.com/office/drawing/2014/main" id="{6A7FD64E-6266-AA01-AF80-DDFACE5DA88C}"/>
              </a:ext>
            </a:extLst>
          </p:cNvPr>
          <p:cNvSpPr>
            <a:spLocks noGrp="1"/>
          </p:cNvSpPr>
          <p:nvPr>
            <p:ph type="dt" sz="half" idx="10"/>
          </p:nvPr>
        </p:nvSpPr>
        <p:spPr/>
        <p:txBody>
          <a:bodyPr/>
          <a:lstStyle/>
          <a:p>
            <a:pPr>
              <a:defRPr/>
            </a:pPr>
            <a:fld id="{E17B7F9D-BA03-42E8-B585-ECAA1937FD64}"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E2776861-FD0F-80A3-043F-22F74BFE474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6" name="灯片编号占位符 5">
            <a:extLst>
              <a:ext uri="{FF2B5EF4-FFF2-40B4-BE49-F238E27FC236}">
                <a16:creationId xmlns:a16="http://schemas.microsoft.com/office/drawing/2014/main" id="{D01C7DE8-DF05-BED3-A92D-158028D046B9}"/>
              </a:ext>
            </a:extLst>
          </p:cNvPr>
          <p:cNvSpPr>
            <a:spLocks noGrp="1"/>
          </p:cNvSpPr>
          <p:nvPr>
            <p:ph type="sldNum" sz="quarter" idx="12"/>
          </p:nvPr>
        </p:nvSpPr>
        <p:spPr/>
        <p:txBody>
          <a:bodyPr/>
          <a:lstStyle/>
          <a:p>
            <a:pPr>
              <a:defRPr/>
            </a:pPr>
            <a:fld id="{8BCAC33D-D29A-48B3-BCD6-381D3D720D26}" type="slidenum">
              <a:rPr lang="zh-CN" altLang="en-US" smtClean="0"/>
              <a:t>4</a:t>
            </a:fld>
            <a:endParaRPr lang="en-US" altLang="zh-CN"/>
          </a:p>
        </p:txBody>
      </p:sp>
    </p:spTree>
    <p:extLst>
      <p:ext uri="{BB962C8B-B14F-4D97-AF65-F5344CB8AC3E}">
        <p14:creationId xmlns:p14="http://schemas.microsoft.com/office/powerpoint/2010/main" val="1858092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30238" y="-9947"/>
            <a:ext cx="8229600" cy="1143000"/>
          </a:xfrm>
        </p:spPr>
        <p:txBody>
          <a:bodyPr>
            <a:normAutofit/>
          </a:bodyPr>
          <a:lstStyle/>
          <a:p>
            <a:pPr eaLnBrk="1" hangingPunct="1"/>
            <a:r>
              <a:rPr kumimoji="1" lang="zh-CN" altLang="en-US" sz="4000" b="1" dirty="0">
                <a:effectLst>
                  <a:outerShdw blurRad="38100" dist="38100" dir="2700000" algn="tl">
                    <a:srgbClr val="C0C0C0"/>
                  </a:outerShdw>
                </a:effectLst>
                <a:latin typeface="Times New Roman" pitchFamily="18" charset="0"/>
                <a:ea typeface="华文中宋" pitchFamily="2" charset="-122"/>
                <a:cs typeface="+mn-cs"/>
              </a:rPr>
              <a:t>第 </a:t>
            </a:r>
            <a:r>
              <a:rPr kumimoji="1" lang="en-US" altLang="zh-CN" sz="4000" b="1" dirty="0">
                <a:effectLst>
                  <a:outerShdw blurRad="38100" dist="38100" dir="2700000" algn="tl">
                    <a:srgbClr val="C0C0C0"/>
                  </a:outerShdw>
                </a:effectLst>
                <a:latin typeface="Times New Roman" pitchFamily="18" charset="0"/>
                <a:ea typeface="华文中宋" pitchFamily="2" charset="-122"/>
                <a:cs typeface="+mn-cs"/>
              </a:rPr>
              <a:t>5 </a:t>
            </a:r>
            <a:r>
              <a:rPr kumimoji="1" lang="zh-CN" altLang="en-US" sz="4000" b="1" dirty="0">
                <a:effectLst>
                  <a:outerShdw blurRad="38100" dist="38100" dir="2700000" algn="tl">
                    <a:srgbClr val="C0C0C0"/>
                  </a:outerShdw>
                </a:effectLst>
                <a:latin typeface="Times New Roman" pitchFamily="18" charset="0"/>
                <a:ea typeface="华文中宋" pitchFamily="2" charset="-122"/>
                <a:cs typeface="+mn-cs"/>
              </a:rPr>
              <a:t>章  存储层次</a:t>
            </a:r>
            <a:endParaRPr lang="zh-CN" altLang="en-US" sz="4000" b="1" dirty="0"/>
          </a:p>
        </p:txBody>
      </p:sp>
      <p:sp>
        <p:nvSpPr>
          <p:cNvPr id="7" name="Text Box 6">
            <a:extLst>
              <a:ext uri="{FF2B5EF4-FFF2-40B4-BE49-F238E27FC236}">
                <a16:creationId xmlns:a16="http://schemas.microsoft.com/office/drawing/2014/main" id="{82A5BEA6-7CED-462F-8F3E-E7570126A511}"/>
              </a:ext>
            </a:extLst>
          </p:cNvPr>
          <p:cNvSpPr txBox="1">
            <a:spLocks noChangeArrowheads="1"/>
          </p:cNvSpPr>
          <p:nvPr/>
        </p:nvSpPr>
        <p:spPr bwMode="auto">
          <a:xfrm>
            <a:off x="2697634" y="1971253"/>
            <a:ext cx="5029200" cy="519113"/>
          </a:xfrm>
          <a:prstGeom prst="rect">
            <a:avLst/>
          </a:prstGeom>
          <a:noFill/>
          <a:ln>
            <a:noFill/>
          </a:ln>
          <a:effectLst/>
        </p:spPr>
        <p:txBody>
          <a:bodyPr>
            <a:spAutoFit/>
          </a:bodyPr>
          <a:lstStyle/>
          <a:p>
            <a:pPr>
              <a:spcBef>
                <a:spcPct val="50000"/>
              </a:spcBef>
              <a:defRPr/>
            </a:pPr>
            <a:r>
              <a:rPr kumimoji="1" lang="en-US" altLang="zh-CN" sz="2800" dirty="0">
                <a:latin typeface="Times New Roman" pitchFamily="18" charset="0"/>
                <a:ea typeface="华文中宋" pitchFamily="2" charset="-122"/>
              </a:rPr>
              <a:t>5.2</a:t>
            </a:r>
            <a:r>
              <a:rPr kumimoji="1" lang="zh-CN" altLang="en-US" sz="2800" dirty="0">
                <a:latin typeface="Times New Roman" pitchFamily="18" charset="0"/>
                <a:ea typeface="华文中宋" pitchFamily="2" charset="-122"/>
              </a:rPr>
              <a:t>　</a:t>
            </a:r>
            <a:r>
              <a:rPr kumimoji="1" lang="en-US" altLang="zh-CN" sz="2800" dirty="0">
                <a:latin typeface="Times New Roman" pitchFamily="18" charset="0"/>
                <a:ea typeface="华文中宋" pitchFamily="2" charset="-122"/>
              </a:rPr>
              <a:t>Cache</a:t>
            </a:r>
            <a:r>
              <a:rPr kumimoji="1" lang="zh-CN" altLang="en-US" sz="2800" dirty="0">
                <a:latin typeface="Times New Roman" pitchFamily="18" charset="0"/>
                <a:ea typeface="华文中宋" pitchFamily="2" charset="-122"/>
              </a:rPr>
              <a:t>基本知识</a:t>
            </a:r>
          </a:p>
        </p:txBody>
      </p:sp>
      <p:sp>
        <p:nvSpPr>
          <p:cNvPr id="8" name="Text Box 7">
            <a:extLst>
              <a:ext uri="{FF2B5EF4-FFF2-40B4-BE49-F238E27FC236}">
                <a16:creationId xmlns:a16="http://schemas.microsoft.com/office/drawing/2014/main" id="{5A464274-E486-4D80-9BCD-80B258C792EC}"/>
              </a:ext>
            </a:extLst>
          </p:cNvPr>
          <p:cNvSpPr txBox="1">
            <a:spLocks noChangeArrowheads="1"/>
          </p:cNvSpPr>
          <p:nvPr/>
        </p:nvSpPr>
        <p:spPr bwMode="auto">
          <a:xfrm>
            <a:off x="2697634" y="2504653"/>
            <a:ext cx="5743575" cy="519113"/>
          </a:xfrm>
          <a:prstGeom prst="rect">
            <a:avLst/>
          </a:prstGeom>
          <a:noFill/>
          <a:ln>
            <a:noFill/>
          </a:ln>
          <a:effectLst/>
        </p:spPr>
        <p:txBody>
          <a:bodyPr>
            <a:spAutoFit/>
          </a:bodyPr>
          <a:lstStyle/>
          <a:p>
            <a:pPr>
              <a:spcBef>
                <a:spcPct val="50000"/>
              </a:spcBef>
              <a:defRPr/>
            </a:pPr>
            <a:r>
              <a:rPr kumimoji="1" lang="en-US" altLang="zh-CN" sz="2800" dirty="0">
                <a:latin typeface="Times New Roman" pitchFamily="18" charset="0"/>
                <a:ea typeface="华文中宋" pitchFamily="2" charset="-122"/>
              </a:rPr>
              <a:t>5.3    </a:t>
            </a:r>
            <a:r>
              <a:rPr kumimoji="1" lang="zh-CN" altLang="en-US" sz="2800" dirty="0">
                <a:latin typeface="Times New Roman" pitchFamily="18" charset="0"/>
                <a:ea typeface="华文中宋" pitchFamily="2" charset="-122"/>
              </a:rPr>
              <a:t>降低</a:t>
            </a:r>
            <a:r>
              <a:rPr kumimoji="1" lang="en-US" altLang="zh-CN" sz="2800" dirty="0">
                <a:latin typeface="Times New Roman" pitchFamily="18" charset="0"/>
                <a:ea typeface="华文中宋" pitchFamily="2" charset="-122"/>
              </a:rPr>
              <a:t>Cache</a:t>
            </a:r>
            <a:r>
              <a:rPr kumimoji="1" lang="zh-CN" altLang="en-US" sz="2800" dirty="0">
                <a:latin typeface="Times New Roman" pitchFamily="18" charset="0"/>
                <a:ea typeface="华文中宋" pitchFamily="2" charset="-122"/>
              </a:rPr>
              <a:t>失效率的方法</a:t>
            </a:r>
          </a:p>
        </p:txBody>
      </p:sp>
      <p:sp>
        <p:nvSpPr>
          <p:cNvPr id="9" name="Text Box 10">
            <a:extLst>
              <a:ext uri="{FF2B5EF4-FFF2-40B4-BE49-F238E27FC236}">
                <a16:creationId xmlns:a16="http://schemas.microsoft.com/office/drawing/2014/main" id="{E73DEC4E-3C4F-40BD-92E0-743E088D95FF}"/>
              </a:ext>
            </a:extLst>
          </p:cNvPr>
          <p:cNvSpPr txBox="1">
            <a:spLocks noChangeArrowheads="1"/>
          </p:cNvSpPr>
          <p:nvPr/>
        </p:nvSpPr>
        <p:spPr bwMode="auto">
          <a:xfrm>
            <a:off x="2697634" y="3038053"/>
            <a:ext cx="5226050" cy="519113"/>
          </a:xfrm>
          <a:prstGeom prst="rect">
            <a:avLst/>
          </a:prstGeom>
          <a:noFill/>
          <a:ln>
            <a:noFill/>
          </a:ln>
          <a:effectLst/>
        </p:spPr>
        <p:txBody>
          <a:bodyPr>
            <a:spAutoFit/>
          </a:bodyPr>
          <a:lstStyle/>
          <a:p>
            <a:pPr>
              <a:spcBef>
                <a:spcPct val="50000"/>
              </a:spcBef>
              <a:defRPr/>
            </a:pPr>
            <a:r>
              <a:rPr kumimoji="1" lang="en-US" altLang="zh-CN" sz="2800" dirty="0">
                <a:latin typeface="Times New Roman" pitchFamily="18" charset="0"/>
                <a:ea typeface="华文中宋" pitchFamily="2" charset="-122"/>
              </a:rPr>
              <a:t>5.4</a:t>
            </a:r>
            <a:r>
              <a:rPr kumimoji="1" lang="zh-CN" altLang="en-US" sz="2800" dirty="0">
                <a:latin typeface="Times New Roman" pitchFamily="18" charset="0"/>
                <a:ea typeface="华文中宋" pitchFamily="2" charset="-122"/>
              </a:rPr>
              <a:t>　减少</a:t>
            </a:r>
            <a:r>
              <a:rPr kumimoji="1" lang="en-US" altLang="zh-CN" sz="2800" dirty="0">
                <a:latin typeface="Times New Roman" pitchFamily="18" charset="0"/>
                <a:ea typeface="华文中宋" pitchFamily="2" charset="-122"/>
              </a:rPr>
              <a:t>Cache</a:t>
            </a:r>
            <a:r>
              <a:rPr kumimoji="1" lang="zh-CN" altLang="en-US" sz="2800" dirty="0">
                <a:latin typeface="Times New Roman" pitchFamily="18" charset="0"/>
                <a:ea typeface="华文中宋" pitchFamily="2" charset="-122"/>
              </a:rPr>
              <a:t>失效开销</a:t>
            </a:r>
          </a:p>
        </p:txBody>
      </p:sp>
      <p:sp>
        <p:nvSpPr>
          <p:cNvPr id="10" name="Text Box 12">
            <a:extLst>
              <a:ext uri="{FF2B5EF4-FFF2-40B4-BE49-F238E27FC236}">
                <a16:creationId xmlns:a16="http://schemas.microsoft.com/office/drawing/2014/main" id="{0F4898E9-C4F0-4F68-83D8-A70F1477FCCA}"/>
              </a:ext>
            </a:extLst>
          </p:cNvPr>
          <p:cNvSpPr txBox="1">
            <a:spLocks noChangeArrowheads="1"/>
          </p:cNvSpPr>
          <p:nvPr/>
        </p:nvSpPr>
        <p:spPr bwMode="auto">
          <a:xfrm>
            <a:off x="2697634" y="1437853"/>
            <a:ext cx="4832350" cy="519113"/>
          </a:xfrm>
          <a:prstGeom prst="rect">
            <a:avLst/>
          </a:prstGeom>
          <a:noFill/>
          <a:ln w="9525">
            <a:noFill/>
            <a:miter lim="800000"/>
            <a:headEnd/>
            <a:tailEnd/>
          </a:ln>
          <a:effectLst/>
        </p:spPr>
        <p:txBody>
          <a:bodyPr lIns="92075" tIns="46038" rIns="92075" bIns="46038" anchor="ctr"/>
          <a:lstStyle>
            <a:defPPr>
              <a:defRPr lang="en-US"/>
            </a:defPPr>
            <a:lvl1pPr>
              <a:defRPr sz="2800" u="sng">
                <a:solidFill>
                  <a:schemeClr val="tx2"/>
                </a:solidFill>
                <a:effectLst>
                  <a:outerShdw blurRad="38100" dist="38100" dir="2700000" algn="tl">
                    <a:srgbClr val="000000"/>
                  </a:outerShdw>
                </a:effectLst>
                <a:latin typeface="Arial" charset="0"/>
              </a:defRPr>
            </a:lvl1pPr>
          </a:lstStyle>
          <a:p>
            <a:r>
              <a:rPr lang="en-US" altLang="zh-CN" dirty="0">
                <a:solidFill>
                  <a:schemeClr val="tx1"/>
                </a:solidFill>
                <a:effectLst/>
                <a:latin typeface="Times New Roman" panose="02020603050405020304" pitchFamily="18" charset="0"/>
                <a:cs typeface="Times New Roman" panose="02020603050405020304" pitchFamily="18" charset="0"/>
              </a:rPr>
              <a:t>5.1</a:t>
            </a:r>
            <a:r>
              <a:rPr lang="zh-CN" altLang="en-US" dirty="0">
                <a:solidFill>
                  <a:schemeClr val="tx1"/>
                </a:solidFill>
                <a:effectLst/>
              </a:rPr>
              <a:t>　</a:t>
            </a:r>
            <a:r>
              <a:rPr lang="zh-CN" altLang="en-US" dirty="0">
                <a:solidFill>
                  <a:schemeClr val="tx1"/>
                </a:solidFill>
                <a:effectLst/>
                <a:latin typeface="华文中宋" panose="02010600040101010101" pitchFamily="2" charset="-122"/>
                <a:ea typeface="华文中宋" panose="02010600040101010101" pitchFamily="2" charset="-122"/>
              </a:rPr>
              <a:t>存储器的层次结构</a:t>
            </a:r>
            <a:endParaRPr lang="zh-CN" altLang="en-US" dirty="0">
              <a:solidFill>
                <a:schemeClr val="tx1"/>
              </a:solidFill>
              <a:effectLst/>
              <a:latin typeface="华文中宋" panose="02010600040101010101" pitchFamily="2" charset="-122"/>
              <a:ea typeface="华文中宋" panose="02010600040101010101" pitchFamily="2" charset="-122"/>
              <a:hlinkClick r:id="rId2" action="ppaction://hlinksldjump">
                <a:extLst>
                  <a:ext uri="{A12FA001-AC4F-418D-AE19-62706E023703}">
                    <ahyp:hlinkClr xmlns:ahyp="http://schemas.microsoft.com/office/drawing/2018/hyperlinkcolor" val="tx"/>
                  </a:ext>
                </a:extLst>
              </a:hlinkClick>
            </a:endParaRPr>
          </a:p>
        </p:txBody>
      </p:sp>
      <p:sp>
        <p:nvSpPr>
          <p:cNvPr id="11" name="Text Box 13">
            <a:extLst>
              <a:ext uri="{FF2B5EF4-FFF2-40B4-BE49-F238E27FC236}">
                <a16:creationId xmlns:a16="http://schemas.microsoft.com/office/drawing/2014/main" id="{FE55A58C-D019-4973-BBAC-B882ADD9A135}"/>
              </a:ext>
            </a:extLst>
          </p:cNvPr>
          <p:cNvSpPr txBox="1">
            <a:spLocks noChangeArrowheads="1"/>
          </p:cNvSpPr>
          <p:nvPr/>
        </p:nvSpPr>
        <p:spPr bwMode="auto">
          <a:xfrm>
            <a:off x="2716684" y="3571453"/>
            <a:ext cx="5226050" cy="519113"/>
          </a:xfrm>
          <a:prstGeom prst="rect">
            <a:avLst/>
          </a:prstGeom>
          <a:noFill/>
          <a:ln>
            <a:noFill/>
          </a:ln>
          <a:effectLst/>
        </p:spPr>
        <p:txBody>
          <a:bodyPr>
            <a:spAutoFit/>
          </a:bodyPr>
          <a:lstStyle/>
          <a:p>
            <a:pPr>
              <a:spcBef>
                <a:spcPct val="50000"/>
              </a:spcBef>
              <a:defRPr/>
            </a:pPr>
            <a:r>
              <a:rPr kumimoji="1" lang="en-US" altLang="zh-CN" sz="2800" dirty="0">
                <a:latin typeface="Times New Roman" pitchFamily="18" charset="0"/>
                <a:ea typeface="华文中宋" pitchFamily="2" charset="-122"/>
              </a:rPr>
              <a:t>5.5</a:t>
            </a:r>
            <a:r>
              <a:rPr kumimoji="1" lang="zh-CN" altLang="en-US" sz="2800" dirty="0">
                <a:latin typeface="Times New Roman" pitchFamily="18" charset="0"/>
                <a:ea typeface="华文中宋" pitchFamily="2" charset="-122"/>
              </a:rPr>
              <a:t>　减少命中时间</a:t>
            </a:r>
          </a:p>
        </p:txBody>
      </p:sp>
      <p:sp>
        <p:nvSpPr>
          <p:cNvPr id="12" name="Text Box 14">
            <a:extLst>
              <a:ext uri="{FF2B5EF4-FFF2-40B4-BE49-F238E27FC236}">
                <a16:creationId xmlns:a16="http://schemas.microsoft.com/office/drawing/2014/main" id="{B3394BD0-7A70-4854-BF2B-F2F83E27DB01}"/>
              </a:ext>
            </a:extLst>
          </p:cNvPr>
          <p:cNvSpPr txBox="1">
            <a:spLocks noChangeArrowheads="1"/>
          </p:cNvSpPr>
          <p:nvPr/>
        </p:nvSpPr>
        <p:spPr bwMode="auto">
          <a:xfrm>
            <a:off x="2716684" y="4104853"/>
            <a:ext cx="5226050" cy="519113"/>
          </a:xfrm>
          <a:prstGeom prst="rect">
            <a:avLst/>
          </a:prstGeom>
          <a:noFill/>
          <a:ln>
            <a:noFill/>
          </a:ln>
          <a:effectLst/>
        </p:spPr>
        <p:txBody>
          <a:bodyPr>
            <a:spAutoFit/>
          </a:bodyPr>
          <a:lstStyle/>
          <a:p>
            <a:pPr>
              <a:spcBef>
                <a:spcPct val="50000"/>
              </a:spcBef>
              <a:defRPr/>
            </a:pPr>
            <a:r>
              <a:rPr kumimoji="1" lang="en-US" altLang="zh-CN" sz="2800" dirty="0">
                <a:latin typeface="Times New Roman" pitchFamily="18" charset="0"/>
                <a:ea typeface="华文中宋" pitchFamily="2" charset="-122"/>
              </a:rPr>
              <a:t>5.6</a:t>
            </a:r>
            <a:r>
              <a:rPr kumimoji="1" lang="zh-CN" altLang="en-US" sz="2800" dirty="0">
                <a:latin typeface="Times New Roman" pitchFamily="18" charset="0"/>
                <a:ea typeface="华文中宋" pitchFamily="2" charset="-122"/>
              </a:rPr>
              <a:t>　主存</a:t>
            </a:r>
          </a:p>
        </p:txBody>
      </p:sp>
      <p:sp>
        <p:nvSpPr>
          <p:cNvPr id="13" name="Text Box 15">
            <a:extLst>
              <a:ext uri="{FF2B5EF4-FFF2-40B4-BE49-F238E27FC236}">
                <a16:creationId xmlns:a16="http://schemas.microsoft.com/office/drawing/2014/main" id="{4C94A4A4-B7BA-444C-AC9D-0DA36C5C550C}"/>
              </a:ext>
            </a:extLst>
          </p:cNvPr>
          <p:cNvSpPr txBox="1">
            <a:spLocks noChangeArrowheads="1"/>
          </p:cNvSpPr>
          <p:nvPr/>
        </p:nvSpPr>
        <p:spPr bwMode="auto">
          <a:xfrm>
            <a:off x="2716684" y="4638253"/>
            <a:ext cx="5226050" cy="519113"/>
          </a:xfrm>
          <a:prstGeom prst="rect">
            <a:avLst/>
          </a:prstGeom>
          <a:noFill/>
          <a:ln>
            <a:noFill/>
          </a:ln>
          <a:effectLst/>
        </p:spPr>
        <p:txBody>
          <a:bodyPr>
            <a:spAutoFit/>
          </a:bodyPr>
          <a:lstStyle/>
          <a:p>
            <a:pPr>
              <a:spcBef>
                <a:spcPct val="50000"/>
              </a:spcBef>
              <a:defRPr/>
            </a:pPr>
            <a:r>
              <a:rPr kumimoji="1" lang="en-US" altLang="zh-CN" sz="2800" dirty="0">
                <a:latin typeface="Times New Roman" pitchFamily="18" charset="0"/>
                <a:ea typeface="华文中宋" pitchFamily="2" charset="-122"/>
              </a:rPr>
              <a:t>5.7</a:t>
            </a:r>
            <a:r>
              <a:rPr kumimoji="1" lang="zh-CN" altLang="en-US" sz="2800" dirty="0">
                <a:latin typeface="Times New Roman" pitchFamily="18" charset="0"/>
                <a:ea typeface="华文中宋" pitchFamily="2" charset="-122"/>
              </a:rPr>
              <a:t>　虚拟存储器</a:t>
            </a:r>
            <a:endParaRPr kumimoji="1" lang="zh-CN" altLang="en-US" sz="2800" dirty="0">
              <a:latin typeface="Times New Roman" pitchFamily="18" charset="0"/>
              <a:ea typeface="华文中宋" pitchFamily="2" charset="-122"/>
              <a:hlinkClick r:id="" action="ppaction://noaction">
                <a:extLst>
                  <a:ext uri="{A12FA001-AC4F-418D-AE19-62706E023703}">
                    <ahyp:hlinkClr xmlns:ahyp="http://schemas.microsoft.com/office/drawing/2018/hyperlinkcolor" val="tx"/>
                  </a:ext>
                </a:extLst>
              </a:hlinkClick>
            </a:endParaRPr>
          </a:p>
        </p:txBody>
      </p:sp>
      <p:sp>
        <p:nvSpPr>
          <p:cNvPr id="14" name="Text Box 15">
            <a:extLst>
              <a:ext uri="{FF2B5EF4-FFF2-40B4-BE49-F238E27FC236}">
                <a16:creationId xmlns:a16="http://schemas.microsoft.com/office/drawing/2014/main" id="{0EE57336-28E3-4052-832A-5B869E0CC333}"/>
              </a:ext>
            </a:extLst>
          </p:cNvPr>
          <p:cNvSpPr txBox="1">
            <a:spLocks noChangeArrowheads="1"/>
          </p:cNvSpPr>
          <p:nvPr/>
        </p:nvSpPr>
        <p:spPr bwMode="auto">
          <a:xfrm>
            <a:off x="2686562" y="5181975"/>
            <a:ext cx="5226050" cy="519113"/>
          </a:xfrm>
          <a:prstGeom prst="rect">
            <a:avLst/>
          </a:prstGeom>
          <a:noFill/>
          <a:ln>
            <a:noFill/>
          </a:ln>
          <a:effectLst/>
        </p:spPr>
        <p:txBody>
          <a:bodyPr>
            <a:spAutoFit/>
          </a:bodyPr>
          <a:lstStyle/>
          <a:p>
            <a:pPr>
              <a:spcBef>
                <a:spcPct val="50000"/>
              </a:spcBef>
              <a:defRPr/>
            </a:pPr>
            <a:r>
              <a:rPr kumimoji="1" lang="en-US" altLang="zh-CN" sz="2800" dirty="0">
                <a:latin typeface="Times New Roman" pitchFamily="18" charset="0"/>
                <a:ea typeface="华文中宋" pitchFamily="2" charset="-122"/>
              </a:rPr>
              <a:t>5.8</a:t>
            </a:r>
            <a:r>
              <a:rPr kumimoji="1" lang="zh-CN" altLang="en-US" sz="2800" dirty="0">
                <a:latin typeface="Times New Roman" pitchFamily="18" charset="0"/>
                <a:ea typeface="华文中宋" pitchFamily="2" charset="-122"/>
              </a:rPr>
              <a:t>　虚拟保护和虚存实例</a:t>
            </a:r>
            <a:endParaRPr kumimoji="1" lang="zh-CN" altLang="en-US" sz="2800" dirty="0">
              <a:latin typeface="Times New Roman" pitchFamily="18" charset="0"/>
              <a:ea typeface="华文中宋" pitchFamily="2" charset="-122"/>
              <a:hlinkClick r:id="" action="ppaction://noaction">
                <a:extLst>
                  <a:ext uri="{A12FA001-AC4F-418D-AE19-62706E023703}">
                    <ahyp:hlinkClr xmlns:ahyp="http://schemas.microsoft.com/office/drawing/2018/hyperlinkcolor" val="tx"/>
                  </a:ext>
                </a:extLst>
              </a:hlinkClick>
            </a:endParaRPr>
          </a:p>
        </p:txBody>
      </p:sp>
      <p:sp>
        <p:nvSpPr>
          <p:cNvPr id="15" name="Text Box 15">
            <a:extLst>
              <a:ext uri="{FF2B5EF4-FFF2-40B4-BE49-F238E27FC236}">
                <a16:creationId xmlns:a16="http://schemas.microsoft.com/office/drawing/2014/main" id="{8106C331-E33F-4272-98E1-EE98B0C340AF}"/>
              </a:ext>
            </a:extLst>
          </p:cNvPr>
          <p:cNvSpPr txBox="1">
            <a:spLocks noChangeArrowheads="1"/>
          </p:cNvSpPr>
          <p:nvPr/>
        </p:nvSpPr>
        <p:spPr bwMode="auto">
          <a:xfrm>
            <a:off x="2697634" y="5744864"/>
            <a:ext cx="5226050" cy="519113"/>
          </a:xfrm>
          <a:prstGeom prst="rect">
            <a:avLst/>
          </a:prstGeom>
          <a:noFill/>
          <a:ln>
            <a:noFill/>
          </a:ln>
          <a:effectLst/>
        </p:spPr>
        <p:txBody>
          <a:bodyPr>
            <a:spAutoFit/>
          </a:bodyPr>
          <a:lstStyle/>
          <a:p>
            <a:pPr>
              <a:spcBef>
                <a:spcPct val="50000"/>
              </a:spcBef>
              <a:defRPr/>
            </a:pPr>
            <a:r>
              <a:rPr kumimoji="1" lang="en-US" altLang="zh-CN" sz="2800" dirty="0">
                <a:latin typeface="Times New Roman" pitchFamily="18" charset="0"/>
                <a:ea typeface="华文中宋" pitchFamily="2" charset="-122"/>
              </a:rPr>
              <a:t>5.9</a:t>
            </a:r>
            <a:r>
              <a:rPr kumimoji="1" lang="zh-CN" altLang="en-US" sz="2800" dirty="0">
                <a:latin typeface="Times New Roman" pitchFamily="18" charset="0"/>
                <a:ea typeface="华文中宋" pitchFamily="2" charset="-122"/>
              </a:rPr>
              <a:t>　综合实例</a:t>
            </a:r>
            <a:endParaRPr kumimoji="1" lang="zh-CN" altLang="en-US" sz="2800" dirty="0">
              <a:latin typeface="Times New Roman" pitchFamily="18" charset="0"/>
              <a:ea typeface="华文中宋" pitchFamily="2" charset="-122"/>
              <a:hlinkClick r:id="" action="ppaction://noaction">
                <a:extLst>
                  <a:ext uri="{A12FA001-AC4F-418D-AE19-62706E023703}">
                    <ahyp:hlinkClr xmlns:ahyp="http://schemas.microsoft.com/office/drawing/2018/hyperlinkcolor" val="tx"/>
                  </a:ext>
                </a:extLst>
              </a:hlinkClick>
            </a:endParaRPr>
          </a:p>
        </p:txBody>
      </p:sp>
      <p:sp>
        <p:nvSpPr>
          <p:cNvPr id="2" name="日期占位符 1">
            <a:extLst>
              <a:ext uri="{FF2B5EF4-FFF2-40B4-BE49-F238E27FC236}">
                <a16:creationId xmlns:a16="http://schemas.microsoft.com/office/drawing/2014/main" id="{0126C02D-41DE-D19A-2FAD-8B6535D102BC}"/>
              </a:ext>
            </a:extLst>
          </p:cNvPr>
          <p:cNvSpPr>
            <a:spLocks noGrp="1"/>
          </p:cNvSpPr>
          <p:nvPr>
            <p:ph type="dt" sz="half" idx="10"/>
          </p:nvPr>
        </p:nvSpPr>
        <p:spPr/>
        <p:txBody>
          <a:bodyPr/>
          <a:lstStyle/>
          <a:p>
            <a:pPr>
              <a:defRPr/>
            </a:pPr>
            <a:fld id="{DF56C742-B4FF-49B0-AF22-F8C33C458557}"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BB03FC92-212C-0EE2-AE0C-E6FF28245146}"/>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E2EAD5F9-636C-F87C-1E58-BA2B7FD30106}"/>
              </a:ext>
            </a:extLst>
          </p:cNvPr>
          <p:cNvSpPr>
            <a:spLocks noGrp="1"/>
          </p:cNvSpPr>
          <p:nvPr>
            <p:ph type="sldNum" sz="quarter" idx="12"/>
          </p:nvPr>
        </p:nvSpPr>
        <p:spPr/>
        <p:txBody>
          <a:bodyPr/>
          <a:lstStyle/>
          <a:p>
            <a:pPr>
              <a:defRPr/>
            </a:pPr>
            <a:fld id="{8BCAC33D-D29A-48B3-BCD6-381D3D720D26}" type="slidenum">
              <a:rPr lang="zh-CN" altLang="en-US" smtClean="0"/>
              <a:t>5</a:t>
            </a:fld>
            <a:endParaRPr lang="en-US" altLang="zh-CN"/>
          </a:p>
        </p:txBody>
      </p:sp>
    </p:spTree>
    <p:extLst>
      <p:ext uri="{BB962C8B-B14F-4D97-AF65-F5344CB8AC3E}">
        <p14:creationId xmlns:p14="http://schemas.microsoft.com/office/powerpoint/2010/main" val="1890174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60363" y="651959"/>
            <a:ext cx="8229600" cy="1143000"/>
          </a:xfrm>
        </p:spPr>
        <p:txBody>
          <a:bodyPr>
            <a:normAutofit fontScale="90000"/>
          </a:bodyPr>
          <a:lstStyle/>
          <a:p>
            <a:pPr eaLnBrk="1" hangingPunct="1"/>
            <a:r>
              <a:rPr lang="en-US" altLang="zh-CN" sz="4000" b="1" dirty="0">
                <a:latin typeface="Times New Roman" panose="02020603050405020304" pitchFamily="18" charset="0"/>
                <a:ea typeface="华文中宋" panose="02010600040101010101" pitchFamily="2" charset="-122"/>
                <a:cs typeface="Times New Roman" panose="02020603050405020304" pitchFamily="18" charset="0"/>
              </a:rPr>
              <a:t>5.1</a:t>
            </a:r>
            <a:r>
              <a:rPr lang="en-US" altLang="zh-CN" sz="4000" b="1" dirty="0">
                <a:latin typeface="华文中宋" panose="02010600040101010101" pitchFamily="2" charset="-122"/>
                <a:ea typeface="华文中宋" panose="02010600040101010101" pitchFamily="2" charset="-122"/>
                <a:cs typeface="Times New Roman" panose="02020603050405020304" pitchFamily="18" charset="0"/>
              </a:rPr>
              <a:t> </a:t>
            </a:r>
            <a:r>
              <a:rPr lang="zh-CN" altLang="en-US" sz="4000" b="1" dirty="0">
                <a:latin typeface="华文中宋" panose="02010600040101010101" pitchFamily="2" charset="-122"/>
                <a:ea typeface="华文中宋" panose="02010600040101010101" pitchFamily="2" charset="-122"/>
                <a:cs typeface="Times New Roman" panose="02020603050405020304" pitchFamily="18" charset="0"/>
              </a:rPr>
              <a:t>存储器的层次结构</a:t>
            </a:r>
            <a:br>
              <a:rPr lang="zh-CN" altLang="en-US" sz="4000" dirty="0">
                <a:solidFill>
                  <a:srgbClr val="3366FF"/>
                </a:solidFill>
                <a:latin typeface="华文中宋" panose="02010600040101010101" pitchFamily="2" charset="-122"/>
                <a:ea typeface="华文中宋" panose="02010600040101010101" pitchFamily="2" charset="-122"/>
                <a:cs typeface="Times New Roman" panose="02020603050405020304" pitchFamily="18" charset="0"/>
              </a:rPr>
            </a:br>
            <a:endParaRPr lang="zh-CN" altLang="en-US" sz="4000" b="1"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7171" name="Text Box 3"/>
          <p:cNvSpPr txBox="1">
            <a:spLocks noChangeArrowheads="1"/>
          </p:cNvSpPr>
          <p:nvPr/>
        </p:nvSpPr>
        <p:spPr bwMode="auto">
          <a:xfrm>
            <a:off x="1832796" y="3548889"/>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en-US" altLang="zh-CN" sz="3000" dirty="0">
                <a:latin typeface="Times New Roman" panose="02020603050405020304" pitchFamily="18" charset="0"/>
                <a:ea typeface="华文中宋" pitchFamily="2" charset="-122"/>
                <a:cs typeface="Times New Roman" panose="02020603050405020304" pitchFamily="18" charset="0"/>
              </a:rPr>
              <a:t>5</a:t>
            </a:r>
            <a:r>
              <a:rPr lang="zh-CN" altLang="en-US" sz="3000" dirty="0">
                <a:latin typeface="Times New Roman" panose="02020603050405020304" pitchFamily="18" charset="0"/>
                <a:ea typeface="华文中宋" pitchFamily="2" charset="-122"/>
                <a:cs typeface="Times New Roman" panose="02020603050405020304" pitchFamily="18" charset="0"/>
              </a:rPr>
              <a:t>.</a:t>
            </a:r>
            <a:r>
              <a:rPr lang="en-US" altLang="zh-CN" sz="3000" dirty="0">
                <a:latin typeface="Times New Roman" panose="02020603050405020304" pitchFamily="18" charset="0"/>
                <a:ea typeface="华文中宋" pitchFamily="2" charset="-122"/>
                <a:cs typeface="Times New Roman" panose="02020603050405020304" pitchFamily="18" charset="0"/>
              </a:rPr>
              <a:t>1.</a:t>
            </a:r>
            <a:r>
              <a:rPr lang="zh-CN" altLang="en-US" sz="3000" dirty="0">
                <a:latin typeface="Times New Roman" panose="02020603050405020304" pitchFamily="18" charset="0"/>
                <a:ea typeface="华文中宋" pitchFamily="2" charset="-122"/>
                <a:cs typeface="Times New Roman" panose="02020603050405020304" pitchFamily="18" charset="0"/>
              </a:rPr>
              <a:t>3 两种存储层次关系</a:t>
            </a:r>
          </a:p>
        </p:txBody>
      </p:sp>
      <p:sp>
        <p:nvSpPr>
          <p:cNvPr id="7172" name="Text Box 4"/>
          <p:cNvSpPr txBox="1">
            <a:spLocks noChangeArrowheads="1"/>
          </p:cNvSpPr>
          <p:nvPr/>
        </p:nvSpPr>
        <p:spPr bwMode="auto">
          <a:xfrm>
            <a:off x="1115616" y="2671924"/>
            <a:ext cx="71863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marL="471488" lvl="1" indent="250825"/>
            <a:r>
              <a:rPr lang="en-US" altLang="zh-CN" sz="3000" dirty="0">
                <a:latin typeface="Times New Roman" panose="02020603050405020304" pitchFamily="18" charset="0"/>
                <a:ea typeface="华文中宋" pitchFamily="2" charset="-122"/>
                <a:cs typeface="Times New Roman" panose="02020603050405020304" pitchFamily="18" charset="0"/>
              </a:rPr>
              <a:t>5</a:t>
            </a:r>
            <a:r>
              <a:rPr lang="zh-CN" altLang="en-US" sz="3000" dirty="0">
                <a:latin typeface="Times New Roman" panose="02020603050405020304" pitchFamily="18" charset="0"/>
                <a:ea typeface="华文中宋" pitchFamily="2" charset="-122"/>
                <a:cs typeface="Times New Roman" panose="02020603050405020304" pitchFamily="18" charset="0"/>
              </a:rPr>
              <a:t>.</a:t>
            </a:r>
            <a:r>
              <a:rPr lang="en-US" altLang="zh-CN" sz="3000" dirty="0">
                <a:latin typeface="Times New Roman" panose="02020603050405020304" pitchFamily="18" charset="0"/>
                <a:ea typeface="华文中宋" pitchFamily="2" charset="-122"/>
                <a:cs typeface="Times New Roman" panose="02020603050405020304" pitchFamily="18" charset="0"/>
              </a:rPr>
              <a:t>1.</a:t>
            </a:r>
            <a:r>
              <a:rPr lang="zh-CN" altLang="en-US" sz="3000" dirty="0">
                <a:latin typeface="Times New Roman" panose="02020603050405020304" pitchFamily="18" charset="0"/>
                <a:ea typeface="华文中宋" pitchFamily="2" charset="-122"/>
                <a:cs typeface="Times New Roman" panose="02020603050405020304" pitchFamily="18" charset="0"/>
              </a:rPr>
              <a:t>2 存储层次的性能参数</a:t>
            </a:r>
          </a:p>
        </p:txBody>
      </p:sp>
      <p:sp>
        <p:nvSpPr>
          <p:cNvPr id="7173" name="Text Box 5"/>
          <p:cNvSpPr txBox="1">
            <a:spLocks noChangeArrowheads="1"/>
          </p:cNvSpPr>
          <p:nvPr/>
        </p:nvSpPr>
        <p:spPr bwMode="auto">
          <a:xfrm>
            <a:off x="1102858" y="1840927"/>
            <a:ext cx="683186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sz="800" b="1">
                <a:solidFill>
                  <a:schemeClr val="tx1"/>
                </a:solidFill>
                <a:latin typeface="宋体" pitchFamily="2" charset="-122"/>
                <a:ea typeface="宋体" pitchFamily="2" charset="-122"/>
              </a:defRPr>
            </a:lvl1pPr>
            <a:lvl2pPr marL="471488" indent="250825"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lvl="1">
              <a:buFont typeface="Wingdings" pitchFamily="2" charset="2"/>
              <a:buNone/>
            </a:pPr>
            <a:r>
              <a:rPr lang="en-US" altLang="zh-CN" sz="3000" dirty="0">
                <a:latin typeface="Times New Roman" panose="02020603050405020304" pitchFamily="18" charset="0"/>
                <a:ea typeface="华文中宋" pitchFamily="2" charset="-122"/>
                <a:cs typeface="Times New Roman" panose="02020603050405020304" pitchFamily="18" charset="0"/>
              </a:rPr>
              <a:t>5.1.1 </a:t>
            </a:r>
            <a:r>
              <a:rPr lang="zh-CN" altLang="en-US" sz="3000" dirty="0">
                <a:latin typeface="Times New Roman" panose="02020603050405020304" pitchFamily="18" charset="0"/>
                <a:ea typeface="华文中宋" pitchFamily="2" charset="-122"/>
                <a:cs typeface="Times New Roman" panose="02020603050405020304" pitchFamily="18" charset="0"/>
              </a:rPr>
              <a:t>多级存储层次</a:t>
            </a:r>
          </a:p>
        </p:txBody>
      </p:sp>
      <p:sp>
        <p:nvSpPr>
          <p:cNvPr id="7" name="Text Box 3">
            <a:extLst>
              <a:ext uri="{FF2B5EF4-FFF2-40B4-BE49-F238E27FC236}">
                <a16:creationId xmlns:a16="http://schemas.microsoft.com/office/drawing/2014/main" id="{A3DE16BF-B491-46C4-B73A-E76A9AE4835E}"/>
              </a:ext>
            </a:extLst>
          </p:cNvPr>
          <p:cNvSpPr txBox="1">
            <a:spLocks noChangeArrowheads="1"/>
          </p:cNvSpPr>
          <p:nvPr/>
        </p:nvSpPr>
        <p:spPr bwMode="auto">
          <a:xfrm>
            <a:off x="1832796" y="4425854"/>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en-US" altLang="zh-CN" sz="3000" dirty="0">
                <a:latin typeface="Times New Roman" panose="02020603050405020304" pitchFamily="18" charset="0"/>
                <a:ea typeface="华文中宋" pitchFamily="2" charset="-122"/>
                <a:cs typeface="Times New Roman" panose="02020603050405020304" pitchFamily="18" charset="0"/>
              </a:rPr>
              <a:t>5</a:t>
            </a:r>
            <a:r>
              <a:rPr lang="zh-CN" altLang="en-US" sz="3000" dirty="0">
                <a:latin typeface="Times New Roman" panose="02020603050405020304" pitchFamily="18" charset="0"/>
                <a:ea typeface="华文中宋" pitchFamily="2" charset="-122"/>
                <a:cs typeface="Times New Roman" panose="02020603050405020304" pitchFamily="18" charset="0"/>
              </a:rPr>
              <a:t>.</a:t>
            </a:r>
            <a:r>
              <a:rPr lang="en-US" altLang="zh-CN" sz="3000" dirty="0">
                <a:latin typeface="Times New Roman" panose="02020603050405020304" pitchFamily="18" charset="0"/>
                <a:ea typeface="华文中宋" pitchFamily="2" charset="-122"/>
                <a:cs typeface="Times New Roman" panose="02020603050405020304" pitchFamily="18" charset="0"/>
              </a:rPr>
              <a:t>1.4</a:t>
            </a:r>
            <a:r>
              <a:rPr lang="zh-CN" altLang="en-US" sz="3000" dirty="0">
                <a:latin typeface="Times New Roman" panose="02020603050405020304" pitchFamily="18" charset="0"/>
                <a:ea typeface="华文中宋" pitchFamily="2" charset="-122"/>
                <a:cs typeface="Times New Roman" panose="02020603050405020304" pitchFamily="18" charset="0"/>
              </a:rPr>
              <a:t> 存储层次的四个问题</a:t>
            </a:r>
          </a:p>
        </p:txBody>
      </p:sp>
      <p:sp>
        <p:nvSpPr>
          <p:cNvPr id="2" name="日期占位符 1">
            <a:extLst>
              <a:ext uri="{FF2B5EF4-FFF2-40B4-BE49-F238E27FC236}">
                <a16:creationId xmlns:a16="http://schemas.microsoft.com/office/drawing/2014/main" id="{509B9550-085A-9202-DD65-62E89C26B5BA}"/>
              </a:ext>
            </a:extLst>
          </p:cNvPr>
          <p:cNvSpPr>
            <a:spLocks noGrp="1"/>
          </p:cNvSpPr>
          <p:nvPr>
            <p:ph type="dt" sz="half" idx="10"/>
          </p:nvPr>
        </p:nvSpPr>
        <p:spPr/>
        <p:txBody>
          <a:bodyPr/>
          <a:lstStyle/>
          <a:p>
            <a:pPr>
              <a:defRPr/>
            </a:pPr>
            <a:fld id="{FB9B8A94-79EB-451C-BFB3-F382E2C91173}"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95D5D2C2-AF7B-94C3-0A7B-34AD786997D6}"/>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49B68BD4-B393-8BF6-1738-468142FF645A}"/>
              </a:ext>
            </a:extLst>
          </p:cNvPr>
          <p:cNvSpPr>
            <a:spLocks noGrp="1"/>
          </p:cNvSpPr>
          <p:nvPr>
            <p:ph type="sldNum" sz="quarter" idx="12"/>
          </p:nvPr>
        </p:nvSpPr>
        <p:spPr/>
        <p:txBody>
          <a:bodyPr/>
          <a:lstStyle/>
          <a:p>
            <a:pPr>
              <a:defRPr/>
            </a:pPr>
            <a:fld id="{8BCAC33D-D29A-48B3-BCD6-381D3D720D26}" type="slidenum">
              <a:rPr lang="zh-CN" altLang="en-US" smtClean="0"/>
              <a:t>6</a:t>
            </a:fld>
            <a:endParaRPr lang="en-US" altLang="zh-CN"/>
          </a:p>
        </p:txBody>
      </p:sp>
    </p:spTree>
    <p:extLst>
      <p:ext uri="{BB962C8B-B14F-4D97-AF65-F5344CB8AC3E}">
        <p14:creationId xmlns:p14="http://schemas.microsoft.com/office/powerpoint/2010/main" val="1414653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descr="Rectangle: Click to edit Master text styles&#10;Second level&#10;Third level&#10;Fourth level&#10;Fifth level">
            <a:extLst>
              <a:ext uri="{FF2B5EF4-FFF2-40B4-BE49-F238E27FC236}">
                <a16:creationId xmlns:a16="http://schemas.microsoft.com/office/drawing/2014/main" id="{93FD8FC5-88F5-4703-8E62-56C851825F53}"/>
              </a:ext>
            </a:extLst>
          </p:cNvPr>
          <p:cNvSpPr>
            <a:spLocks noGrp="1" noChangeArrowheads="1"/>
          </p:cNvSpPr>
          <p:nvPr>
            <p:ph type="body" idx="1"/>
          </p:nvPr>
        </p:nvSpPr>
        <p:spPr>
          <a:xfrm>
            <a:off x="452264" y="1517650"/>
            <a:ext cx="8229600" cy="4719662"/>
          </a:xfrm>
        </p:spPr>
        <p:txBody>
          <a:bodyPr/>
          <a:lstStyle/>
          <a:p>
            <a:pPr marL="0" indent="0" eaLnBrk="1" hangingPunct="1">
              <a:lnSpc>
                <a:spcPct val="100000"/>
              </a:lnSpc>
              <a:buNone/>
            </a:pPr>
            <a:r>
              <a:rPr lang="en-US" altLang="zh-CN" sz="2800" b="1" dirty="0">
                <a:latin typeface="Times New Roman" panose="02020603050405020304" pitchFamily="18" charset="0"/>
                <a:cs typeface="Times New Roman" panose="02020603050405020304" pitchFamily="18" charset="0"/>
              </a:rPr>
              <a:t>1. </a:t>
            </a:r>
            <a:r>
              <a:rPr lang="zh-CN" altLang="en-US" sz="2800" b="1" dirty="0">
                <a:latin typeface="Times New Roman" panose="02020603050405020304" pitchFamily="18" charset="0"/>
                <a:cs typeface="Times New Roman" panose="02020603050405020304" pitchFamily="18" charset="0"/>
              </a:rPr>
              <a:t>计算机系统结构设计中</a:t>
            </a:r>
            <a:r>
              <a:rPr lang="zh-CN" altLang="en-US" sz="2800" b="1" dirty="0">
                <a:solidFill>
                  <a:srgbClr val="C00000"/>
                </a:solidFill>
                <a:latin typeface="Times New Roman" panose="02020603050405020304" pitchFamily="18" charset="0"/>
                <a:cs typeface="Times New Roman" panose="02020603050405020304" pitchFamily="18" charset="0"/>
              </a:rPr>
              <a:t>关键的问题之一 ：</a:t>
            </a:r>
          </a:p>
          <a:p>
            <a:pPr marL="784800" lvl="1" indent="-230400" eaLnBrk="1" hangingPunct="1">
              <a:lnSpc>
                <a:spcPct val="110000"/>
              </a:lnSpc>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 如何以合理的价格，设计容量和速度都满足计算机系统要求的存储器系统？ </a:t>
            </a:r>
          </a:p>
          <a:p>
            <a:pPr marL="0" indent="0" eaLnBrk="1" hangingPunct="1">
              <a:lnSpc>
                <a:spcPct val="100000"/>
              </a:lnSpc>
              <a:buNone/>
            </a:pPr>
            <a:r>
              <a:rPr lang="en-US" altLang="zh-CN" sz="2800" b="1" dirty="0">
                <a:latin typeface="Times New Roman" panose="02020603050405020304" pitchFamily="18" charset="0"/>
                <a:cs typeface="Times New Roman" panose="02020603050405020304" pitchFamily="18" charset="0"/>
              </a:rPr>
              <a:t>2. </a:t>
            </a:r>
            <a:r>
              <a:rPr lang="zh-CN" altLang="en-US" sz="2800" b="1" dirty="0">
                <a:latin typeface="Times New Roman" panose="02020603050405020304" pitchFamily="18" charset="0"/>
                <a:cs typeface="Times New Roman" panose="02020603050405020304" pitchFamily="18" charset="0"/>
              </a:rPr>
              <a:t>人们对这三个指标的要求</a:t>
            </a:r>
          </a:p>
          <a:p>
            <a:pPr marL="1085850" lvl="1" indent="-457200" eaLnBrk="1" hangingPunct="1">
              <a:lnSpc>
                <a:spcPct val="100000"/>
              </a:lnSpc>
              <a:buFont typeface="Wingdings" panose="05000000000000000000" pitchFamily="2" charset="2"/>
              <a:buNone/>
            </a:pPr>
            <a:r>
              <a:rPr lang="zh-CN" altLang="en-US" b="1" dirty="0">
                <a:solidFill>
                  <a:srgbClr val="000000"/>
                </a:solidFill>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容量大、速度快、价格低</a:t>
            </a:r>
          </a:p>
          <a:p>
            <a:pPr marL="0" indent="0" eaLnBrk="1" hangingPunct="1">
              <a:lnSpc>
                <a:spcPct val="100000"/>
              </a:lnSpc>
              <a:buNone/>
            </a:pPr>
            <a:r>
              <a:rPr lang="en-US" altLang="zh-CN" sz="2800" b="1" dirty="0">
                <a:latin typeface="Times New Roman" panose="02020603050405020304" pitchFamily="18" charset="0"/>
                <a:cs typeface="Times New Roman" panose="02020603050405020304" pitchFamily="18" charset="0"/>
              </a:rPr>
              <a:t>3. </a:t>
            </a:r>
            <a:r>
              <a:rPr lang="zh-CN" altLang="en-US" sz="2800" b="1" dirty="0">
                <a:solidFill>
                  <a:srgbClr val="C00000"/>
                </a:solidFill>
                <a:latin typeface="Times New Roman" panose="02020603050405020304" pitchFamily="18" charset="0"/>
                <a:cs typeface="Times New Roman" panose="02020603050405020304" pitchFamily="18" charset="0"/>
              </a:rPr>
              <a:t>三个要求是相互矛盾的</a:t>
            </a:r>
          </a:p>
          <a:p>
            <a:pPr marL="784800" lvl="2" eaLnBrk="1" hangingPunct="1">
              <a:lnSpc>
                <a:spcPct val="100000"/>
              </a:lnSpc>
            </a:pPr>
            <a:r>
              <a:rPr lang="zh-CN" altLang="en-US" b="1" dirty="0">
                <a:latin typeface="Times New Roman" panose="02020603050405020304" pitchFamily="18" charset="0"/>
                <a:cs typeface="Times New Roman" panose="02020603050405020304" pitchFamily="18" charset="0"/>
              </a:rPr>
              <a:t>速度越快，每位价格就越高；</a:t>
            </a:r>
          </a:p>
          <a:p>
            <a:pPr marL="784800" lvl="2" eaLnBrk="1" hangingPunct="1">
              <a:lnSpc>
                <a:spcPct val="100000"/>
              </a:lnSpc>
            </a:pPr>
            <a:r>
              <a:rPr lang="zh-CN" altLang="en-US" b="1" dirty="0">
                <a:latin typeface="Times New Roman" panose="02020603050405020304" pitchFamily="18" charset="0"/>
                <a:cs typeface="Times New Roman" panose="02020603050405020304" pitchFamily="18" charset="0"/>
              </a:rPr>
              <a:t>容量越大，速度越慢；</a:t>
            </a:r>
          </a:p>
          <a:p>
            <a:pPr marL="784800" lvl="2" eaLnBrk="1" hangingPunct="1">
              <a:lnSpc>
                <a:spcPct val="100000"/>
              </a:lnSpc>
            </a:pPr>
            <a:r>
              <a:rPr lang="zh-CN" altLang="en-US" b="1" dirty="0">
                <a:latin typeface="Times New Roman" panose="02020603050405020304" pitchFamily="18" charset="0"/>
                <a:cs typeface="Times New Roman" panose="02020603050405020304" pitchFamily="18" charset="0"/>
              </a:rPr>
              <a:t>容量越大，每位价格就越低。</a:t>
            </a:r>
          </a:p>
        </p:txBody>
      </p:sp>
      <p:sp>
        <p:nvSpPr>
          <p:cNvPr id="7172" name="Rectangle 6">
            <a:extLst>
              <a:ext uri="{FF2B5EF4-FFF2-40B4-BE49-F238E27FC236}">
                <a16:creationId xmlns:a16="http://schemas.microsoft.com/office/drawing/2014/main" id="{E5228888-CD6F-4895-A57C-9E2B1B547EE7}"/>
              </a:ext>
            </a:extLst>
          </p:cNvPr>
          <p:cNvSpPr>
            <a:spLocks noGrp="1" noChangeArrowheads="1"/>
          </p:cNvSpPr>
          <p:nvPr>
            <p:ph type="title"/>
          </p:nvPr>
        </p:nvSpPr>
        <p:spPr/>
        <p:txBody>
          <a:bodyPr/>
          <a:lstStyle/>
          <a:p>
            <a:pPr eaLnBrk="1" hangingPunct="1"/>
            <a:r>
              <a:rPr lang="en-US" altLang="zh-CN" sz="3600" b="1" dirty="0">
                <a:latin typeface="Times New Roman" panose="02020603050405020304" pitchFamily="18" charset="0"/>
                <a:cs typeface="Times New Roman" panose="02020603050405020304" pitchFamily="18" charset="0"/>
              </a:rPr>
              <a:t>5.1.1 </a:t>
            </a:r>
            <a:r>
              <a:rPr lang="zh-CN" altLang="en-US" sz="3600" b="1" dirty="0">
                <a:latin typeface="Times New Roman" panose="02020603050405020304" pitchFamily="18" charset="0"/>
                <a:cs typeface="Times New Roman" panose="02020603050405020304" pitchFamily="18" charset="0"/>
              </a:rPr>
              <a:t>多级存储层次</a:t>
            </a:r>
            <a:endParaRPr lang="zh-CN" altLang="zh-CN" sz="3600" dirty="0"/>
          </a:p>
        </p:txBody>
      </p:sp>
      <p:sp>
        <p:nvSpPr>
          <p:cNvPr id="2" name="日期占位符 1">
            <a:extLst>
              <a:ext uri="{FF2B5EF4-FFF2-40B4-BE49-F238E27FC236}">
                <a16:creationId xmlns:a16="http://schemas.microsoft.com/office/drawing/2014/main" id="{6E91846D-43B7-0110-857C-6FDDBC82C1B9}"/>
              </a:ext>
            </a:extLst>
          </p:cNvPr>
          <p:cNvSpPr>
            <a:spLocks noGrp="1"/>
          </p:cNvSpPr>
          <p:nvPr>
            <p:ph type="dt" sz="half" idx="10"/>
          </p:nvPr>
        </p:nvSpPr>
        <p:spPr/>
        <p:txBody>
          <a:bodyPr/>
          <a:lstStyle/>
          <a:p>
            <a:pPr>
              <a:defRPr/>
            </a:pPr>
            <a:fld id="{78B8BF99-38AB-41E8-9DD1-3C30D15E2946}"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CC044CE2-7E1B-6FF2-8983-B8D843A2D3A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E772238C-6633-787B-EB5C-C1597E4E5A96}"/>
              </a:ext>
            </a:extLst>
          </p:cNvPr>
          <p:cNvSpPr>
            <a:spLocks noGrp="1"/>
          </p:cNvSpPr>
          <p:nvPr>
            <p:ph type="sldNum" sz="quarter" idx="12"/>
          </p:nvPr>
        </p:nvSpPr>
        <p:spPr/>
        <p:txBody>
          <a:bodyPr/>
          <a:lstStyle/>
          <a:p>
            <a:pPr>
              <a:defRPr/>
            </a:pPr>
            <a:fld id="{8BCAC33D-D29A-48B3-BCD6-381D3D720D26}" type="slidenum">
              <a:rPr lang="zh-CN" altLang="en-US" smtClean="0"/>
              <a:t>7</a:t>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3"/>
          <p:cNvSpPr>
            <a:spLocks noGrp="1"/>
          </p:cNvSpPr>
          <p:nvPr>
            <p:ph type="title"/>
          </p:nvPr>
        </p:nvSpPr>
        <p:spPr/>
        <p:txBody>
          <a:bodyPr/>
          <a:lstStyle/>
          <a:p>
            <a:r>
              <a:rPr lang="en-US" altLang="zh-CN" sz="3600" b="1" dirty="0">
                <a:latin typeface="Times New Roman" panose="02020603050405020304" pitchFamily="18" charset="0"/>
                <a:cs typeface="Times New Roman" panose="02020603050405020304" pitchFamily="18" charset="0"/>
              </a:rPr>
              <a:t>5.1.1 </a:t>
            </a:r>
            <a:r>
              <a:rPr lang="zh-CN" altLang="en-US" sz="3600" b="1" dirty="0">
                <a:latin typeface="Times New Roman" panose="02020603050405020304" pitchFamily="18" charset="0"/>
                <a:cs typeface="Times New Roman" panose="02020603050405020304" pitchFamily="18" charset="0"/>
              </a:rPr>
              <a:t>多级存储层次</a:t>
            </a:r>
          </a:p>
        </p:txBody>
      </p:sp>
      <p:sp>
        <p:nvSpPr>
          <p:cNvPr id="5" name="内容占位符 4"/>
          <p:cNvSpPr>
            <a:spLocks noGrp="1"/>
          </p:cNvSpPr>
          <p:nvPr>
            <p:ph idx="1"/>
          </p:nvPr>
        </p:nvSpPr>
        <p:spPr>
          <a:xfrm>
            <a:off x="539750" y="1341438"/>
            <a:ext cx="8001000" cy="4679950"/>
          </a:xfrm>
        </p:spPr>
        <p:txBody>
          <a:bodyPr/>
          <a:lstStyle/>
          <a:p>
            <a:pPr marL="0" indent="0">
              <a:lnSpc>
                <a:spcPct val="130000"/>
              </a:lnSpc>
              <a:spcBef>
                <a:spcPct val="0"/>
              </a:spcBef>
              <a:buNone/>
            </a:pPr>
            <a:r>
              <a:rPr lang="en-US" altLang="zh-CN" sz="2800" b="1" dirty="0">
                <a:latin typeface="Times New Roman" panose="02020603050405020304" pitchFamily="18" charset="0"/>
                <a:cs typeface="Times New Roman" panose="02020603050405020304" pitchFamily="18" charset="0"/>
              </a:rPr>
              <a:t>4. </a:t>
            </a:r>
            <a:r>
              <a:rPr lang="zh-CN" altLang="en-US" sz="2800" b="1" dirty="0">
                <a:latin typeface="Times New Roman" panose="02020603050405020304" pitchFamily="18" charset="0"/>
                <a:cs typeface="Times New Roman" panose="02020603050405020304" pitchFamily="18" charset="0"/>
              </a:rPr>
              <a:t>从单级存储器到多级存储器</a:t>
            </a:r>
            <a:endParaRPr lang="en-US" altLang="zh-CN" sz="2800" b="1" dirty="0">
              <a:latin typeface="Times New Roman" panose="02020603050405020304" pitchFamily="18" charset="0"/>
              <a:cs typeface="Times New Roman" panose="02020603050405020304" pitchFamily="18" charset="0"/>
            </a:endParaRPr>
          </a:p>
          <a:p>
            <a:pPr lvl="1">
              <a:lnSpc>
                <a:spcPct val="130000"/>
              </a:lnSpc>
              <a:spcBef>
                <a:spcPct val="0"/>
              </a:spcBef>
            </a:pPr>
            <a:r>
              <a:rPr lang="zh-CN" altLang="en-US" sz="2800" b="1" dirty="0">
                <a:latin typeface="Times New Roman" panose="02020603050405020304" pitchFamily="18" charset="0"/>
                <a:cs typeface="Times New Roman" panose="02020603050405020304" pitchFamily="18" charset="0"/>
              </a:rPr>
              <a:t>主存储器与</a:t>
            </a:r>
            <a:r>
              <a:rPr lang="en-US" altLang="zh-CN" sz="2800" b="1" dirty="0">
                <a:latin typeface="Times New Roman" panose="02020603050405020304" pitchFamily="18" charset="0"/>
                <a:cs typeface="Times New Roman" panose="02020603050405020304" pitchFamily="18" charset="0"/>
              </a:rPr>
              <a:t>CPU</a:t>
            </a:r>
            <a:r>
              <a:rPr lang="zh-CN" altLang="en-US" sz="2800" b="1" dirty="0">
                <a:latin typeface="Times New Roman" panose="02020603050405020304" pitchFamily="18" charset="0"/>
                <a:cs typeface="Times New Roman" panose="02020603050405020304" pitchFamily="18" charset="0"/>
              </a:rPr>
              <a:t>速度差距越来越大，存储墙问题严重制约着计算机性能的提升  </a:t>
            </a:r>
            <a:r>
              <a:rPr lang="zh-CN" altLang="en-US" sz="2800" b="1" dirty="0">
                <a:solidFill>
                  <a:srgbClr val="0033CC"/>
                </a:solidFill>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val="tx"/>
                    </a:ext>
                  </a:extLst>
                </a:hlinkClick>
              </a:rPr>
              <a:t>如图</a:t>
            </a:r>
            <a:endParaRPr lang="en-US" altLang="zh-CN" sz="2800" b="1" dirty="0">
              <a:solidFill>
                <a:srgbClr val="0033CC"/>
              </a:solidFill>
              <a:latin typeface="Times New Roman" panose="02020603050405020304" pitchFamily="18" charset="0"/>
              <a:cs typeface="Times New Roman" panose="02020603050405020304" pitchFamily="18" charset="0"/>
            </a:endParaRPr>
          </a:p>
          <a:p>
            <a:pPr lvl="1">
              <a:lnSpc>
                <a:spcPct val="130000"/>
              </a:lnSpc>
              <a:spcBef>
                <a:spcPct val="0"/>
              </a:spcBef>
            </a:pPr>
            <a:r>
              <a:rPr lang="zh-CN" altLang="en-US" sz="2800" b="1" dirty="0">
                <a:latin typeface="Times New Roman" panose="02020603050405020304" pitchFamily="18" charset="0"/>
                <a:cs typeface="Times New Roman" panose="02020603050405020304" pitchFamily="18" charset="0"/>
              </a:rPr>
              <a:t>系统与应用的规模不断扩大，需要更大的存储器来支撑程序的运行</a:t>
            </a:r>
            <a:endParaRPr lang="en-US" altLang="zh-CN" sz="2800" b="1" dirty="0">
              <a:latin typeface="Times New Roman" panose="02020603050405020304" pitchFamily="18" charset="0"/>
              <a:cs typeface="Times New Roman" panose="02020603050405020304" pitchFamily="18" charset="0"/>
            </a:endParaRPr>
          </a:p>
          <a:p>
            <a:pPr lvl="1">
              <a:lnSpc>
                <a:spcPct val="130000"/>
              </a:lnSpc>
              <a:spcBef>
                <a:spcPct val="0"/>
              </a:spcBef>
            </a:pPr>
            <a:r>
              <a:rPr lang="zh-CN" altLang="en-US" sz="2800" b="1" dirty="0">
                <a:latin typeface="Times New Roman" panose="02020603050405020304" pitchFamily="18" charset="0"/>
                <a:cs typeface="Times New Roman" panose="02020603050405020304" pitchFamily="18" charset="0"/>
              </a:rPr>
              <a:t>各类存储器的</a:t>
            </a:r>
            <a:r>
              <a:rPr lang="zh-CN" altLang="en-US" sz="2800" b="1" dirty="0">
                <a:solidFill>
                  <a:srgbClr val="C00000"/>
                </a:solidFill>
                <a:latin typeface="Times New Roman" panose="02020603050405020304" pitchFamily="18" charset="0"/>
                <a:cs typeface="Times New Roman" panose="02020603050405020304" pitchFamily="18" charset="0"/>
              </a:rPr>
              <a:t>容量</a:t>
            </a:r>
            <a:r>
              <a:rPr lang="en-US" altLang="zh-CN" sz="2800" b="1" dirty="0">
                <a:solidFill>
                  <a:srgbClr val="C00000"/>
                </a:solidFill>
                <a:latin typeface="Times New Roman" panose="02020603050405020304" pitchFamily="18" charset="0"/>
                <a:cs typeface="Times New Roman" panose="02020603050405020304" pitchFamily="18" charset="0"/>
              </a:rPr>
              <a:t>/</a:t>
            </a:r>
            <a:r>
              <a:rPr lang="zh-CN" altLang="en-US" sz="2800" b="1" dirty="0">
                <a:solidFill>
                  <a:srgbClr val="C00000"/>
                </a:solidFill>
                <a:latin typeface="Times New Roman" panose="02020603050405020304" pitchFamily="18" charset="0"/>
                <a:cs typeface="Times New Roman" panose="02020603050405020304" pitchFamily="18" charset="0"/>
              </a:rPr>
              <a:t>速度</a:t>
            </a:r>
            <a:r>
              <a:rPr lang="en-US" altLang="zh-CN" sz="2800" b="1" dirty="0">
                <a:solidFill>
                  <a:srgbClr val="C00000"/>
                </a:solidFill>
                <a:latin typeface="Times New Roman" panose="02020603050405020304" pitchFamily="18" charset="0"/>
                <a:cs typeface="Times New Roman" panose="02020603050405020304" pitchFamily="18" charset="0"/>
              </a:rPr>
              <a:t>/</a:t>
            </a:r>
            <a:r>
              <a:rPr lang="zh-CN" altLang="en-US" sz="2800" b="1" dirty="0">
                <a:solidFill>
                  <a:srgbClr val="C00000"/>
                </a:solidFill>
                <a:latin typeface="Times New Roman" panose="02020603050405020304" pitchFamily="18" charset="0"/>
                <a:cs typeface="Times New Roman" panose="02020603050405020304" pitchFamily="18" charset="0"/>
              </a:rPr>
              <a:t>价格</a:t>
            </a:r>
            <a:r>
              <a:rPr lang="zh-CN" altLang="en-US" sz="2800" b="1" dirty="0">
                <a:latin typeface="Times New Roman" panose="02020603050405020304" pitchFamily="18" charset="0"/>
                <a:cs typeface="Times New Roman" panose="02020603050405020304" pitchFamily="18" charset="0"/>
              </a:rPr>
              <a:t>不可兼得，如</a:t>
            </a:r>
            <a:r>
              <a:rPr lang="en-US" altLang="zh-CN" sz="2800" b="1" dirty="0">
                <a:latin typeface="Times New Roman" panose="02020603050405020304" pitchFamily="18" charset="0"/>
                <a:cs typeface="Times New Roman" panose="02020603050405020304" pitchFamily="18" charset="0"/>
              </a:rPr>
              <a:t>SRAM</a:t>
            </a:r>
            <a:r>
              <a:rPr lang="zh-CN" altLang="en-US" sz="2800" b="1" dirty="0">
                <a:latin typeface="Times New Roman" panose="02020603050405020304" pitchFamily="18" charset="0"/>
                <a:cs typeface="Times New Roman" panose="02020603050405020304" pitchFamily="18" charset="0"/>
              </a:rPr>
              <a:t>、</a:t>
            </a:r>
            <a:r>
              <a:rPr lang="en-US" altLang="zh-CN" sz="2800" b="1" dirty="0">
                <a:latin typeface="Times New Roman" panose="02020603050405020304" pitchFamily="18" charset="0"/>
                <a:cs typeface="Times New Roman" panose="02020603050405020304" pitchFamily="18" charset="0"/>
              </a:rPr>
              <a:t>DRAM</a:t>
            </a:r>
            <a:r>
              <a:rPr lang="zh-CN" altLang="en-US" sz="2800" b="1" dirty="0">
                <a:latin typeface="Times New Roman" panose="02020603050405020304" pitchFamily="18" charset="0"/>
                <a:cs typeface="Times New Roman" panose="02020603050405020304" pitchFamily="18" charset="0"/>
              </a:rPr>
              <a:t>、磁盘等，凭现有单种存储器件，无法构建一个可行的存储系统</a:t>
            </a:r>
          </a:p>
        </p:txBody>
      </p:sp>
      <p:sp>
        <p:nvSpPr>
          <p:cNvPr id="2" name="日期占位符 1">
            <a:extLst>
              <a:ext uri="{FF2B5EF4-FFF2-40B4-BE49-F238E27FC236}">
                <a16:creationId xmlns:a16="http://schemas.microsoft.com/office/drawing/2014/main" id="{2782B3DE-60B3-8445-B3E1-874392B3DF85}"/>
              </a:ext>
            </a:extLst>
          </p:cNvPr>
          <p:cNvSpPr>
            <a:spLocks noGrp="1"/>
          </p:cNvSpPr>
          <p:nvPr>
            <p:ph type="dt" sz="half" idx="10"/>
          </p:nvPr>
        </p:nvSpPr>
        <p:spPr/>
        <p:txBody>
          <a:bodyPr/>
          <a:lstStyle/>
          <a:p>
            <a:pPr>
              <a:defRPr/>
            </a:pPr>
            <a:fld id="{FD86AE23-A50E-4F59-8E8C-FEC982FC8FB4}"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34DCB92D-8038-6F37-4C43-E111C8062D0F}"/>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74BC0250-5377-48BD-5D5E-BFAA9FB23B9F}"/>
              </a:ext>
            </a:extLst>
          </p:cNvPr>
          <p:cNvSpPr>
            <a:spLocks noGrp="1"/>
          </p:cNvSpPr>
          <p:nvPr>
            <p:ph type="sldNum" sz="quarter" idx="12"/>
          </p:nvPr>
        </p:nvSpPr>
        <p:spPr/>
        <p:txBody>
          <a:bodyPr/>
          <a:lstStyle/>
          <a:p>
            <a:pPr>
              <a:defRPr/>
            </a:pPr>
            <a:fld id="{8BCAC33D-D29A-48B3-BCD6-381D3D720D26}" type="slidenum">
              <a:rPr lang="zh-CN" altLang="en-US" smtClean="0"/>
              <a:t>8</a:t>
            </a:fld>
            <a:endParaRPr lang="en-US" altLang="zh-CN"/>
          </a:p>
        </p:txBody>
      </p:sp>
    </p:spTree>
    <p:extLst>
      <p:ext uri="{BB962C8B-B14F-4D97-AF65-F5344CB8AC3E}">
        <p14:creationId xmlns:p14="http://schemas.microsoft.com/office/powerpoint/2010/main" val="2515245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en-US" altLang="zh-CN" sz="3600" b="1" dirty="0">
                <a:latin typeface="Times New Roman" panose="02020603050405020304" pitchFamily="18" charset="0"/>
                <a:cs typeface="Times New Roman" panose="02020603050405020304" pitchFamily="18" charset="0"/>
              </a:rPr>
              <a:t>5.1.1 </a:t>
            </a:r>
            <a:r>
              <a:rPr lang="zh-CN" altLang="en-US" sz="3600" b="1" dirty="0">
                <a:latin typeface="Times New Roman" panose="02020603050405020304" pitchFamily="18" charset="0"/>
                <a:cs typeface="Times New Roman" panose="02020603050405020304" pitchFamily="18" charset="0"/>
              </a:rPr>
              <a:t>多级存储层次</a:t>
            </a:r>
          </a:p>
        </p:txBody>
      </p:sp>
      <p:sp>
        <p:nvSpPr>
          <p:cNvPr id="8195" name="内容占位符 2"/>
          <p:cNvSpPr>
            <a:spLocks noGrp="1"/>
          </p:cNvSpPr>
          <p:nvPr>
            <p:ph idx="1"/>
          </p:nvPr>
        </p:nvSpPr>
        <p:spPr>
          <a:xfrm>
            <a:off x="457200" y="1417638"/>
            <a:ext cx="8229600" cy="4525963"/>
          </a:xfrm>
        </p:spPr>
        <p:txBody>
          <a:bodyPr/>
          <a:lstStyle/>
          <a:p>
            <a:pPr marL="0" indent="0">
              <a:lnSpc>
                <a:spcPct val="130000"/>
              </a:lnSpc>
              <a:spcBef>
                <a:spcPct val="0"/>
              </a:spcBef>
              <a:buNone/>
            </a:pPr>
            <a:r>
              <a:rPr lang="en-US" altLang="zh-CN" sz="2800" b="1" dirty="0">
                <a:latin typeface="Times New Roman" panose="02020603050405020304" pitchFamily="18" charset="0"/>
                <a:cs typeface="Times New Roman" panose="02020603050405020304" pitchFamily="18" charset="0"/>
              </a:rPr>
              <a:t>5. </a:t>
            </a:r>
            <a:r>
              <a:rPr lang="zh-CN" altLang="en-US" sz="2800" b="1" dirty="0">
                <a:latin typeface="Times New Roman" panose="02020603050405020304" pitchFamily="18" charset="0"/>
                <a:cs typeface="Times New Roman" panose="02020603050405020304" pitchFamily="18" charset="0"/>
              </a:rPr>
              <a:t>解决办法</a:t>
            </a:r>
            <a:endParaRPr lang="en-US" altLang="zh-CN" sz="2800" b="1" dirty="0">
              <a:latin typeface="Times New Roman" panose="02020603050405020304" pitchFamily="18" charset="0"/>
              <a:cs typeface="Times New Roman" panose="02020603050405020304" pitchFamily="18" charset="0"/>
            </a:endParaRPr>
          </a:p>
          <a:p>
            <a:pPr lvl="1">
              <a:lnSpc>
                <a:spcPct val="130000"/>
              </a:lnSpc>
              <a:spcBef>
                <a:spcPct val="0"/>
              </a:spcBef>
            </a:pPr>
            <a:r>
              <a:rPr lang="zh-CN" altLang="en-US" sz="2800" b="1" dirty="0">
                <a:latin typeface="Times New Roman" panose="02020603050405020304" pitchFamily="18" charset="0"/>
                <a:cs typeface="Times New Roman" panose="02020603050405020304" pitchFamily="18" charset="0"/>
              </a:rPr>
              <a:t>利用多种存储器件，取长补短，构建层次式存储系统</a:t>
            </a:r>
            <a:endParaRPr lang="en-US" altLang="zh-CN" sz="2800" b="1" dirty="0">
              <a:latin typeface="Times New Roman" panose="02020603050405020304" pitchFamily="18" charset="0"/>
              <a:cs typeface="Times New Roman" panose="02020603050405020304" pitchFamily="18" charset="0"/>
            </a:endParaRPr>
          </a:p>
          <a:p>
            <a:pPr lvl="2" algn="just">
              <a:lnSpc>
                <a:spcPct val="130000"/>
              </a:lnSpc>
              <a:spcBef>
                <a:spcPct val="0"/>
              </a:spcBef>
            </a:pPr>
            <a:r>
              <a:rPr lang="zh-CN" altLang="en-US" sz="2800" b="1" dirty="0">
                <a:latin typeface="Times New Roman" panose="02020603050405020304" pitchFamily="18" charset="0"/>
                <a:cs typeface="Times New Roman" panose="02020603050405020304" pitchFamily="18" charset="0"/>
              </a:rPr>
              <a:t>快速但昂贵的存储器：容量少点，尽量让</a:t>
            </a:r>
            <a:r>
              <a:rPr lang="en-US" altLang="zh-CN" sz="2800" b="1" dirty="0">
                <a:latin typeface="Times New Roman" panose="02020603050405020304" pitchFamily="18" charset="0"/>
                <a:cs typeface="Times New Roman" panose="02020603050405020304" pitchFamily="18" charset="0"/>
              </a:rPr>
              <a:t>CPU</a:t>
            </a:r>
            <a:r>
              <a:rPr lang="zh-CN" altLang="en-US" sz="2800" b="1" dirty="0">
                <a:latin typeface="Times New Roman" panose="02020603050405020304" pitchFamily="18" charset="0"/>
                <a:cs typeface="Times New Roman" panose="02020603050405020304" pitchFamily="18" charset="0"/>
              </a:rPr>
              <a:t>多访问</a:t>
            </a:r>
            <a:endParaRPr lang="en-US" altLang="zh-CN" sz="2800" b="1" dirty="0">
              <a:latin typeface="Times New Roman" panose="02020603050405020304" pitchFamily="18" charset="0"/>
              <a:cs typeface="Times New Roman" panose="02020603050405020304" pitchFamily="18" charset="0"/>
            </a:endParaRPr>
          </a:p>
          <a:p>
            <a:pPr lvl="2">
              <a:lnSpc>
                <a:spcPct val="130000"/>
              </a:lnSpc>
              <a:spcBef>
                <a:spcPct val="0"/>
              </a:spcBef>
            </a:pPr>
            <a:r>
              <a:rPr lang="zh-CN" altLang="en-US" sz="2800" b="1" dirty="0">
                <a:latin typeface="Times New Roman" panose="02020603050405020304" pitchFamily="18" charset="0"/>
                <a:cs typeface="Times New Roman" panose="02020603050405020304" pitchFamily="18" charset="0"/>
              </a:rPr>
              <a:t>慢速但容量大的存储器：容量大点，</a:t>
            </a:r>
            <a:r>
              <a:rPr lang="en-US" altLang="zh-CN" sz="2800" b="1" dirty="0">
                <a:latin typeface="Times New Roman" panose="02020603050405020304" pitchFamily="18" charset="0"/>
                <a:cs typeface="Times New Roman" panose="02020603050405020304" pitchFamily="18" charset="0"/>
              </a:rPr>
              <a:t>CPU</a:t>
            </a:r>
            <a:r>
              <a:rPr lang="zh-CN" altLang="en-US" sz="2800" b="1" dirty="0">
                <a:latin typeface="Times New Roman" panose="02020603050405020304" pitchFamily="18" charset="0"/>
                <a:cs typeface="Times New Roman" panose="02020603050405020304" pitchFamily="18" charset="0"/>
              </a:rPr>
              <a:t>尽可能少访问</a:t>
            </a:r>
            <a:endParaRPr lang="en-US" altLang="zh-CN" sz="2800" b="1" dirty="0">
              <a:latin typeface="Times New Roman" panose="02020603050405020304" pitchFamily="18" charset="0"/>
              <a:cs typeface="Times New Roman" panose="02020603050405020304" pitchFamily="18" charset="0"/>
            </a:endParaRPr>
          </a:p>
          <a:p>
            <a:endParaRPr lang="zh-CN" altLang="en-US"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4BE8677A-E5C9-0000-507A-B4BC41943C73}"/>
              </a:ext>
            </a:extLst>
          </p:cNvPr>
          <p:cNvSpPr>
            <a:spLocks noGrp="1"/>
          </p:cNvSpPr>
          <p:nvPr>
            <p:ph type="dt" sz="half" idx="10"/>
          </p:nvPr>
        </p:nvSpPr>
        <p:spPr/>
        <p:txBody>
          <a:bodyPr/>
          <a:lstStyle/>
          <a:p>
            <a:pPr>
              <a:defRPr/>
            </a:pPr>
            <a:fld id="{8CF6B47D-ED20-403C-80B0-D6939872A30A}"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CCEE66B7-187F-FA9A-729F-76F3AC126AC2}"/>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BCA055B6-E07C-2A36-CAE4-C71DEE7BAF9E}"/>
              </a:ext>
            </a:extLst>
          </p:cNvPr>
          <p:cNvSpPr>
            <a:spLocks noGrp="1"/>
          </p:cNvSpPr>
          <p:nvPr>
            <p:ph type="sldNum" sz="quarter" idx="12"/>
          </p:nvPr>
        </p:nvSpPr>
        <p:spPr/>
        <p:txBody>
          <a:bodyPr/>
          <a:lstStyle/>
          <a:p>
            <a:pPr>
              <a:defRPr/>
            </a:pPr>
            <a:fld id="{8BCAC33D-D29A-48B3-BCD6-381D3D720D26}" type="slidenum">
              <a:rPr lang="zh-CN" altLang="en-US" smtClean="0"/>
              <a:t>9</a:t>
            </a:fld>
            <a:endParaRPr lang="en-US" altLang="zh-CN"/>
          </a:p>
        </p:txBody>
      </p:sp>
    </p:spTree>
    <p:extLst>
      <p:ext uri="{BB962C8B-B14F-4D97-AF65-F5344CB8AC3E}">
        <p14:creationId xmlns:p14="http://schemas.microsoft.com/office/powerpoint/2010/main" val="1569479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43" name="内容占位符 2"/>
          <p:cNvSpPr>
            <a:spLocks noGrp="1"/>
          </p:cNvSpPr>
          <p:nvPr>
            <p:ph idx="1"/>
          </p:nvPr>
        </p:nvSpPr>
        <p:spPr>
          <a:xfrm>
            <a:off x="539552" y="1484784"/>
            <a:ext cx="7560840" cy="4824412"/>
          </a:xfrm>
        </p:spPr>
        <p:txBody>
          <a:bodyPr/>
          <a:lstStyle/>
          <a:p>
            <a:pPr marL="0" indent="0" algn="just">
              <a:lnSpc>
                <a:spcPct val="130000"/>
              </a:lnSpc>
              <a:spcBef>
                <a:spcPct val="0"/>
              </a:spcBef>
              <a:buNone/>
            </a:pPr>
            <a:r>
              <a:rPr lang="en-US" altLang="zh-CN" sz="2800" b="1" dirty="0">
                <a:latin typeface="Times New Roman" panose="02020603050405020304" pitchFamily="18" charset="0"/>
                <a:cs typeface="Times New Roman" panose="02020603050405020304" pitchFamily="18" charset="0"/>
              </a:rPr>
              <a:t>6. </a:t>
            </a:r>
            <a:r>
              <a:rPr lang="zh-CN" altLang="en-US" sz="2800" b="1" dirty="0">
                <a:latin typeface="Times New Roman" panose="02020603050405020304" pitchFamily="18" charset="0"/>
                <a:cs typeface="Times New Roman" panose="02020603050405020304" pitchFamily="18" charset="0"/>
              </a:rPr>
              <a:t>预期效果</a:t>
            </a:r>
            <a:endParaRPr lang="en-US" altLang="zh-CN" sz="2800" b="1" dirty="0">
              <a:latin typeface="Times New Roman" panose="02020603050405020304" pitchFamily="18" charset="0"/>
              <a:cs typeface="Times New Roman" panose="02020603050405020304" pitchFamily="18" charset="0"/>
            </a:endParaRPr>
          </a:p>
          <a:p>
            <a:pPr lvl="1" algn="just">
              <a:lnSpc>
                <a:spcPct val="130000"/>
              </a:lnSpc>
              <a:spcBef>
                <a:spcPct val="0"/>
              </a:spcBef>
            </a:pPr>
            <a:r>
              <a:rPr lang="zh-CN" altLang="en-US" b="1" dirty="0">
                <a:solidFill>
                  <a:srgbClr val="C00000"/>
                </a:solidFill>
                <a:latin typeface="Times New Roman" panose="02020603050405020304" pitchFamily="18" charset="0"/>
                <a:cs typeface="Times New Roman" panose="02020603050405020304" pitchFamily="18" charset="0"/>
              </a:rPr>
              <a:t>访问速度方面：</a:t>
            </a:r>
            <a:r>
              <a:rPr lang="zh-CN" altLang="en-US" b="1" dirty="0">
                <a:latin typeface="Times New Roman" panose="02020603050405020304" pitchFamily="18" charset="0"/>
                <a:cs typeface="Times New Roman" panose="02020603050405020304" pitchFamily="18" charset="0"/>
              </a:rPr>
              <a:t>采用快速存储器，尽量让</a:t>
            </a:r>
            <a:r>
              <a:rPr lang="en-US" altLang="zh-CN" b="1" dirty="0">
                <a:latin typeface="Times New Roman" panose="02020603050405020304" pitchFamily="18" charset="0"/>
                <a:cs typeface="Times New Roman" panose="02020603050405020304" pitchFamily="18" charset="0"/>
              </a:rPr>
              <a:t>CPU</a:t>
            </a:r>
            <a:r>
              <a:rPr lang="zh-CN" altLang="en-US" b="1" dirty="0">
                <a:latin typeface="Times New Roman" panose="02020603050405020304" pitchFamily="18" charset="0"/>
                <a:cs typeface="Times New Roman" panose="02020603050405020304" pitchFamily="18" charset="0"/>
              </a:rPr>
              <a:t>多访问快速存储器中的内容（增加</a:t>
            </a:r>
            <a:r>
              <a:rPr lang="en-US" altLang="zh-CN" b="1" dirty="0">
                <a:latin typeface="Times New Roman" panose="02020603050405020304" pitchFamily="18" charset="0"/>
                <a:cs typeface="Times New Roman" panose="02020603050405020304" pitchFamily="18" charset="0"/>
              </a:rPr>
              <a:t>Cache</a:t>
            </a:r>
            <a:r>
              <a:rPr lang="zh-CN" altLang="en-US" b="1" dirty="0">
                <a:latin typeface="Times New Roman" panose="02020603050405020304" pitchFamily="18" charset="0"/>
                <a:cs typeface="Times New Roman" panose="02020603050405020304" pitchFamily="18" charset="0"/>
              </a:rPr>
              <a:t>层次）</a:t>
            </a:r>
            <a:endParaRPr lang="en-US" altLang="zh-CN" b="1" dirty="0">
              <a:latin typeface="Times New Roman" panose="02020603050405020304" pitchFamily="18" charset="0"/>
              <a:cs typeface="Times New Roman" panose="02020603050405020304" pitchFamily="18" charset="0"/>
            </a:endParaRPr>
          </a:p>
          <a:p>
            <a:pPr lvl="1" algn="just">
              <a:lnSpc>
                <a:spcPct val="130000"/>
              </a:lnSpc>
              <a:spcBef>
                <a:spcPct val="0"/>
              </a:spcBef>
            </a:pPr>
            <a:r>
              <a:rPr lang="zh-CN" altLang="en-US" b="1" dirty="0">
                <a:solidFill>
                  <a:srgbClr val="C00000"/>
                </a:solidFill>
                <a:latin typeface="Times New Roman" panose="02020603050405020304" pitchFamily="18" charset="0"/>
                <a:cs typeface="Times New Roman" panose="02020603050405020304" pitchFamily="18" charset="0"/>
              </a:rPr>
              <a:t>容量方面：</a:t>
            </a:r>
            <a:r>
              <a:rPr lang="zh-CN" altLang="en-US" b="1" dirty="0">
                <a:latin typeface="Times New Roman" panose="02020603050405020304" pitchFamily="18" charset="0"/>
                <a:cs typeface="Times New Roman" panose="02020603050405020304" pitchFamily="18" charset="0"/>
              </a:rPr>
              <a:t>采用慢速但容量大的存储器，内存不够时数据可以放到外存中（增加辅存层次）</a:t>
            </a:r>
            <a:endParaRPr lang="en-US" altLang="zh-CN" b="1" dirty="0">
              <a:latin typeface="Times New Roman" panose="02020603050405020304" pitchFamily="18" charset="0"/>
              <a:cs typeface="Times New Roman" panose="02020603050405020304" pitchFamily="18" charset="0"/>
            </a:endParaRPr>
          </a:p>
          <a:p>
            <a:pPr algn="just"/>
            <a:endParaRPr lang="zh-CN" altLang="en-US" b="1" dirty="0">
              <a:latin typeface="Times New Roman" panose="02020603050405020304" pitchFamily="18" charset="0"/>
              <a:cs typeface="Times New Roman" panose="02020603050405020304" pitchFamily="18" charset="0"/>
            </a:endParaRPr>
          </a:p>
        </p:txBody>
      </p:sp>
      <p:sp>
        <p:nvSpPr>
          <p:cNvPr id="6" name="标题 1">
            <a:extLst>
              <a:ext uri="{FF2B5EF4-FFF2-40B4-BE49-F238E27FC236}">
                <a16:creationId xmlns:a16="http://schemas.microsoft.com/office/drawing/2014/main" id="{02F010DD-2C1C-4AD5-AE05-F7BA73476D4E}"/>
              </a:ext>
            </a:extLst>
          </p:cNvPr>
          <p:cNvSpPr>
            <a:spLocks noGrp="1"/>
          </p:cNvSpPr>
          <p:nvPr>
            <p:ph type="title"/>
          </p:nvPr>
        </p:nvSpPr>
        <p:spPr>
          <a:xfrm>
            <a:off x="457200" y="260648"/>
            <a:ext cx="8229600" cy="1143000"/>
          </a:xfrm>
        </p:spPr>
        <p:txBody>
          <a:bodyPr/>
          <a:lstStyle/>
          <a:p>
            <a:r>
              <a:rPr lang="en-US" altLang="zh-CN" sz="3600" b="1" dirty="0">
                <a:latin typeface="Times New Roman" panose="02020603050405020304" pitchFamily="18" charset="0"/>
                <a:cs typeface="Times New Roman" panose="02020603050405020304" pitchFamily="18" charset="0"/>
              </a:rPr>
              <a:t>5.1.1  </a:t>
            </a:r>
            <a:r>
              <a:rPr lang="zh-CN" altLang="en-US" sz="3600" b="1" dirty="0">
                <a:latin typeface="Times New Roman" panose="02020603050405020304" pitchFamily="18" charset="0"/>
                <a:cs typeface="Times New Roman" panose="02020603050405020304" pitchFamily="18" charset="0"/>
              </a:rPr>
              <a:t>多级存储层次</a:t>
            </a:r>
            <a:endParaRPr lang="zh-CN" altLang="en-US" sz="3600" b="1" dirty="0">
              <a:solidFill>
                <a:schemeClr val="tx2"/>
              </a:solidFill>
            </a:endParaRPr>
          </a:p>
        </p:txBody>
      </p:sp>
      <p:sp>
        <p:nvSpPr>
          <p:cNvPr id="2" name="日期占位符 1">
            <a:extLst>
              <a:ext uri="{FF2B5EF4-FFF2-40B4-BE49-F238E27FC236}">
                <a16:creationId xmlns:a16="http://schemas.microsoft.com/office/drawing/2014/main" id="{A2814739-4D47-E46F-8F7B-564BFDC9B2F1}"/>
              </a:ext>
            </a:extLst>
          </p:cNvPr>
          <p:cNvSpPr>
            <a:spLocks noGrp="1"/>
          </p:cNvSpPr>
          <p:nvPr>
            <p:ph type="dt" sz="half" idx="10"/>
          </p:nvPr>
        </p:nvSpPr>
        <p:spPr/>
        <p:txBody>
          <a:bodyPr/>
          <a:lstStyle/>
          <a:p>
            <a:pPr>
              <a:defRPr/>
            </a:pPr>
            <a:fld id="{DD214DFD-0EB2-4418-ACE7-C707388C12A4}"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906F620C-B849-5205-8B50-FE1015B41AB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1CF8E7A-F965-7E66-CD86-AF3BCD9F3C64}"/>
              </a:ext>
            </a:extLst>
          </p:cNvPr>
          <p:cNvSpPr>
            <a:spLocks noGrp="1"/>
          </p:cNvSpPr>
          <p:nvPr>
            <p:ph type="sldNum" sz="quarter" idx="12"/>
          </p:nvPr>
        </p:nvSpPr>
        <p:spPr/>
        <p:txBody>
          <a:bodyPr/>
          <a:lstStyle/>
          <a:p>
            <a:pPr>
              <a:defRPr/>
            </a:pPr>
            <a:fld id="{8BCAC33D-D29A-48B3-BCD6-381D3D720D26}" type="slidenum">
              <a:rPr lang="zh-CN" altLang="en-US" smtClean="0"/>
              <a:t>10</a:t>
            </a:fld>
            <a:endParaRPr lang="en-US" altLang="zh-CN"/>
          </a:p>
        </p:txBody>
      </p:sp>
    </p:spTree>
    <p:extLst>
      <p:ext uri="{BB962C8B-B14F-4D97-AF65-F5344CB8AC3E}">
        <p14:creationId xmlns:p14="http://schemas.microsoft.com/office/powerpoint/2010/main" val="1414544845"/>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4" descr="Rectangle: Click to edit Master text styles&#10;Second level&#10;Third level&#10;Fourth level&#10;Fifth level"/>
          <p:cNvSpPr>
            <a:spLocks noGrp="1" noChangeArrowheads="1"/>
          </p:cNvSpPr>
          <p:nvPr>
            <p:ph type="body" idx="1"/>
          </p:nvPr>
        </p:nvSpPr>
        <p:spPr>
          <a:xfrm>
            <a:off x="179512" y="1219200"/>
            <a:ext cx="8280276" cy="5306144"/>
          </a:xfrm>
          <a:noFill/>
        </p:spPr>
        <p:txBody>
          <a:bodyPr/>
          <a:lstStyle/>
          <a:p>
            <a:pPr marL="270000" lvl="1" indent="0" eaLnBrk="1" hangingPunct="1">
              <a:lnSpc>
                <a:spcPct val="130000"/>
              </a:lnSpc>
              <a:buNone/>
            </a:pPr>
            <a:r>
              <a:rPr lang="en-US" altLang="zh-CN" b="1" dirty="0">
                <a:latin typeface="Times New Roman" panose="02020603050405020304" pitchFamily="18" charset="0"/>
                <a:cs typeface="Times New Roman" panose="02020603050405020304" pitchFamily="18" charset="0"/>
              </a:rPr>
              <a:t>7.</a:t>
            </a:r>
            <a:r>
              <a:rPr lang="zh-CN" altLang="en-US" b="1" dirty="0">
                <a:latin typeface="Times New Roman" panose="02020603050405020304" pitchFamily="18" charset="0"/>
                <a:cs typeface="Times New Roman" panose="02020603050405020304" pitchFamily="18" charset="0"/>
              </a:rPr>
              <a:t> </a:t>
            </a:r>
            <a:r>
              <a:rPr lang="zh-CN" altLang="en-US" b="1" dirty="0"/>
              <a:t>能否达到？</a:t>
            </a:r>
            <a:endParaRPr lang="en-US" altLang="zh-CN" b="1" dirty="0"/>
          </a:p>
          <a:p>
            <a:pPr marL="971550" lvl="1" indent="-342900" eaLnBrk="1" hangingPunct="1">
              <a:lnSpc>
                <a:spcPct val="130000"/>
              </a:lnSpc>
              <a:buFont typeface="Wingdings" panose="05000000000000000000" pitchFamily="2" charset="2"/>
              <a:buChar char="ü"/>
            </a:pPr>
            <a:r>
              <a:rPr lang="zh-CN" altLang="en-US" sz="2400" b="1" dirty="0">
                <a:solidFill>
                  <a:srgbClr val="C00000"/>
                </a:solidFill>
              </a:rPr>
              <a:t>程序访问的局部性原理：</a:t>
            </a:r>
            <a:r>
              <a:rPr lang="zh-CN" altLang="en-US" sz="2400" b="1" dirty="0"/>
              <a:t>对于绝大多数程序来说，程序所访问的指令和数据在地址上不是均匀分布的，而是相对簇聚的。</a:t>
            </a:r>
            <a:endParaRPr lang="en-US" altLang="zh-CN" sz="2400" b="1" dirty="0"/>
          </a:p>
          <a:p>
            <a:pPr marL="270000" lvl="1" indent="0" eaLnBrk="1" hangingPunct="1">
              <a:lnSpc>
                <a:spcPct val="130000"/>
              </a:lnSpc>
              <a:buNone/>
            </a:pPr>
            <a:r>
              <a:rPr lang="zh-CN" altLang="en-US" sz="2400" b="1" dirty="0"/>
              <a:t>      程序访问的局部性包含两个方面 </a:t>
            </a:r>
          </a:p>
          <a:p>
            <a:pPr marL="1260000" lvl="2" indent="-342900" eaLnBrk="1" hangingPunct="1">
              <a:lnSpc>
                <a:spcPct val="130000"/>
              </a:lnSpc>
            </a:pPr>
            <a:r>
              <a:rPr lang="zh-CN" altLang="en-US" b="1" dirty="0">
                <a:solidFill>
                  <a:srgbClr val="C00000"/>
                </a:solidFill>
              </a:rPr>
              <a:t>时间局部性：</a:t>
            </a:r>
            <a:r>
              <a:rPr lang="zh-CN" altLang="en-US" b="1" dirty="0"/>
              <a:t>程序马上将要用到的信息很可能就是现在正在使用的信息。</a:t>
            </a:r>
          </a:p>
          <a:p>
            <a:pPr marL="1260000" lvl="2" indent="-342900" eaLnBrk="1" hangingPunct="1">
              <a:lnSpc>
                <a:spcPct val="130000"/>
              </a:lnSpc>
            </a:pPr>
            <a:r>
              <a:rPr lang="zh-CN" altLang="en-US" b="1" dirty="0">
                <a:solidFill>
                  <a:srgbClr val="C00000"/>
                </a:solidFill>
              </a:rPr>
              <a:t>空间局部性：</a:t>
            </a:r>
            <a:r>
              <a:rPr lang="zh-CN" altLang="en-US" b="1" dirty="0"/>
              <a:t>程序马上将要用到的信息很可能与现在正在使用的信息在存储空间上是相邻的。 </a:t>
            </a:r>
          </a:p>
        </p:txBody>
      </p:sp>
      <p:sp>
        <p:nvSpPr>
          <p:cNvPr id="5" name="标题 1"/>
          <p:cNvSpPr>
            <a:spLocks noGrp="1"/>
          </p:cNvSpPr>
          <p:nvPr>
            <p:ph type="title"/>
          </p:nvPr>
        </p:nvSpPr>
        <p:spPr>
          <a:xfrm>
            <a:off x="458788" y="0"/>
            <a:ext cx="8229600" cy="1143000"/>
          </a:xfrm>
        </p:spPr>
        <p:txBody>
          <a:bodyPr/>
          <a:lstStyle/>
          <a:p>
            <a:r>
              <a:rPr lang="en-US" altLang="zh-CN" sz="3600" b="1" dirty="0">
                <a:latin typeface="Times New Roman" panose="02020603050405020304" pitchFamily="18" charset="0"/>
                <a:cs typeface="Times New Roman" panose="02020603050405020304" pitchFamily="18" charset="0"/>
              </a:rPr>
              <a:t>5.1.1  </a:t>
            </a:r>
            <a:r>
              <a:rPr lang="zh-CN" altLang="en-US" sz="3600" b="1" dirty="0">
                <a:latin typeface="Times New Roman" panose="02020603050405020304" pitchFamily="18" charset="0"/>
                <a:cs typeface="Times New Roman" panose="02020603050405020304" pitchFamily="18" charset="0"/>
              </a:rPr>
              <a:t>多级存储层次</a:t>
            </a:r>
            <a:endParaRPr lang="zh-CN" altLang="en-US" sz="3600" b="1" dirty="0">
              <a:solidFill>
                <a:schemeClr val="tx2"/>
              </a:solidFill>
            </a:endParaRPr>
          </a:p>
        </p:txBody>
      </p:sp>
      <p:sp>
        <p:nvSpPr>
          <p:cNvPr id="2" name="日期占位符 1">
            <a:extLst>
              <a:ext uri="{FF2B5EF4-FFF2-40B4-BE49-F238E27FC236}">
                <a16:creationId xmlns:a16="http://schemas.microsoft.com/office/drawing/2014/main" id="{65B8E303-3506-D2FC-8A11-211DD28522A0}"/>
              </a:ext>
            </a:extLst>
          </p:cNvPr>
          <p:cNvSpPr>
            <a:spLocks noGrp="1"/>
          </p:cNvSpPr>
          <p:nvPr>
            <p:ph type="dt" sz="half" idx="10"/>
          </p:nvPr>
        </p:nvSpPr>
        <p:spPr/>
        <p:txBody>
          <a:bodyPr/>
          <a:lstStyle/>
          <a:p>
            <a:pPr>
              <a:defRPr/>
            </a:pPr>
            <a:fld id="{97A7B047-A294-4271-8E10-F7F0F3C70B15}"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1D966760-F596-E8B8-56BC-DE064348EFA6}"/>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A1B65DA1-A4B1-FF4B-731C-0626E3C85218}"/>
              </a:ext>
            </a:extLst>
          </p:cNvPr>
          <p:cNvSpPr>
            <a:spLocks noGrp="1"/>
          </p:cNvSpPr>
          <p:nvPr>
            <p:ph type="sldNum" sz="quarter" idx="12"/>
          </p:nvPr>
        </p:nvSpPr>
        <p:spPr/>
        <p:txBody>
          <a:bodyPr/>
          <a:lstStyle/>
          <a:p>
            <a:pPr>
              <a:defRPr/>
            </a:pPr>
            <a:fld id="{8BCAC33D-D29A-48B3-BCD6-381D3D720D26}" type="slidenum">
              <a:rPr lang="zh-CN" altLang="en-US" smtClean="0"/>
              <a:t>11</a:t>
            </a:fld>
            <a:endParaRPr lang="en-US" altLang="zh-CN"/>
          </a:p>
        </p:txBody>
      </p:sp>
    </p:spTree>
    <p:extLst>
      <p:ext uri="{BB962C8B-B14F-4D97-AF65-F5344CB8AC3E}">
        <p14:creationId xmlns:p14="http://schemas.microsoft.com/office/powerpoint/2010/main" val="409171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059832" y="221407"/>
            <a:ext cx="3206750" cy="676275"/>
          </a:xfrm>
        </p:spPr>
        <p:txBody>
          <a:bodyPr lIns="0" tIns="0" rIns="0" bIns="0" rtlCol="0">
            <a:spAutoFit/>
          </a:bodyPr>
          <a:lstStyle/>
          <a:p>
            <a:pPr marL="12700">
              <a:defRPr/>
            </a:pPr>
            <a:r>
              <a:rPr lang="zh-CN" altLang="en-US" b="1" dirty="0"/>
              <a:t>局部性举例</a:t>
            </a:r>
            <a:endParaRPr b="1" spc="-5" dirty="0"/>
          </a:p>
        </p:txBody>
      </p:sp>
      <p:sp>
        <p:nvSpPr>
          <p:cNvPr id="4" name="object 4"/>
          <p:cNvSpPr txBox="1"/>
          <p:nvPr/>
        </p:nvSpPr>
        <p:spPr>
          <a:xfrm>
            <a:off x="476250" y="2971800"/>
            <a:ext cx="2378075" cy="369888"/>
          </a:xfrm>
          <a:prstGeom prst="rect">
            <a:avLst/>
          </a:prstGeom>
        </p:spPr>
        <p:txBody>
          <a:bodyPr lIns="0" tIns="0" rIns="0" bIns="0">
            <a:spAutoFit/>
          </a:bodyPr>
          <a:lstStyle/>
          <a:p>
            <a:pPr marL="355600" indent="-342900">
              <a:buClr>
                <a:srgbClr val="8D171A"/>
              </a:buClr>
              <a:buSzPct val="58333"/>
              <a:buFont typeface="Wingdings 2"/>
              <a:buChar char=""/>
              <a:tabLst>
                <a:tab pos="355600" algn="l"/>
              </a:tabLst>
              <a:defRPr/>
            </a:pPr>
            <a:r>
              <a:rPr lang="zh-CN" altLang="en-US" sz="2400" spc="-5" dirty="0">
                <a:cs typeface="Calibri"/>
              </a:rPr>
              <a:t>对数据的引用</a:t>
            </a:r>
            <a:endParaRPr sz="2400" dirty="0">
              <a:cs typeface="Calibri"/>
            </a:endParaRPr>
          </a:p>
        </p:txBody>
      </p:sp>
      <p:sp>
        <p:nvSpPr>
          <p:cNvPr id="5" name="object 5"/>
          <p:cNvSpPr txBox="1">
            <a:spLocks noChangeArrowheads="1"/>
          </p:cNvSpPr>
          <p:nvPr/>
        </p:nvSpPr>
        <p:spPr bwMode="auto">
          <a:xfrm>
            <a:off x="935038" y="3402013"/>
            <a:ext cx="4705350"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98450" indent="-285750">
              <a:tabLst>
                <a:tab pos="298450" algn="l"/>
              </a:tabLst>
              <a:defRPr kumimoji="1" sz="1600" b="1">
                <a:solidFill>
                  <a:schemeClr val="tx1"/>
                </a:solidFill>
                <a:latin typeface="Arial" panose="020B0604020202020204" pitchFamily="34" charset="0"/>
                <a:ea typeface="宋体" panose="02010600030101010101" pitchFamily="2" charset="-122"/>
              </a:defRPr>
            </a:lvl1pPr>
            <a:lvl2pPr marL="742950" indent="-285750">
              <a:tabLst>
                <a:tab pos="298450" algn="l"/>
              </a:tabLst>
              <a:defRPr kumimoji="1" sz="1600" b="1">
                <a:solidFill>
                  <a:schemeClr val="tx1"/>
                </a:solidFill>
                <a:latin typeface="Arial" panose="020B0604020202020204" pitchFamily="34" charset="0"/>
                <a:ea typeface="宋体" panose="02010600030101010101" pitchFamily="2" charset="-122"/>
              </a:defRPr>
            </a:lvl2pPr>
            <a:lvl3pPr marL="1143000" indent="-228600">
              <a:tabLst>
                <a:tab pos="298450" algn="l"/>
              </a:tabLst>
              <a:defRPr kumimoji="1" sz="1600" b="1">
                <a:solidFill>
                  <a:schemeClr val="tx1"/>
                </a:solidFill>
                <a:latin typeface="Arial" panose="020B0604020202020204" pitchFamily="34" charset="0"/>
                <a:ea typeface="宋体" panose="02010600030101010101" pitchFamily="2" charset="-122"/>
              </a:defRPr>
            </a:lvl3pPr>
            <a:lvl4pPr marL="1600200" indent="-228600">
              <a:tabLst>
                <a:tab pos="298450" algn="l"/>
              </a:tabLst>
              <a:defRPr kumimoji="1" sz="1600" b="1">
                <a:solidFill>
                  <a:schemeClr val="tx1"/>
                </a:solidFill>
                <a:latin typeface="Arial" panose="020B0604020202020204" pitchFamily="34" charset="0"/>
                <a:ea typeface="宋体" panose="02010600030101010101" pitchFamily="2" charset="-122"/>
              </a:defRPr>
            </a:lvl4pPr>
            <a:lvl5pPr marL="2057400" indent="-228600">
              <a:tabLst>
                <a:tab pos="298450" algn="l"/>
              </a:tabLst>
              <a:defRPr kumimoji="1"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298450" algn="l"/>
              </a:tabLst>
              <a:defRPr kumimoji="1"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298450" algn="l"/>
              </a:tabLst>
              <a:defRPr kumimoji="1"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298450" algn="l"/>
              </a:tabLst>
              <a:defRPr kumimoji="1"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298450" algn="l"/>
              </a:tabLst>
              <a:defRPr kumimoji="1" sz="1600" b="1">
                <a:solidFill>
                  <a:schemeClr val="tx1"/>
                </a:solidFill>
                <a:latin typeface="Arial" panose="020B0604020202020204" pitchFamily="34" charset="0"/>
                <a:ea typeface="宋体" panose="02010600030101010101" pitchFamily="2" charset="-122"/>
              </a:defRPr>
            </a:lvl9pPr>
          </a:lstStyle>
          <a:p>
            <a:pPr>
              <a:buClr>
                <a:srgbClr val="8D171A"/>
              </a:buClr>
              <a:buSzPct val="110000"/>
              <a:buFont typeface="Wingdings" panose="05000000000000000000" pitchFamily="2" charset="2"/>
              <a:buChar char=""/>
            </a:pPr>
            <a:r>
              <a:rPr lang="zh-CN" altLang="en-US" sz="2000" dirty="0"/>
              <a:t>顺序访问数组元素</a:t>
            </a:r>
            <a:endParaRPr lang="en-US" altLang="zh-CN" sz="2000" dirty="0"/>
          </a:p>
          <a:p>
            <a:pPr>
              <a:buClr>
                <a:srgbClr val="8D171A"/>
              </a:buClr>
              <a:buSzPct val="110000"/>
            </a:pPr>
            <a:r>
              <a:rPr lang="en-US" altLang="zh-CN" sz="2000" dirty="0"/>
              <a:t>	</a:t>
            </a:r>
            <a:r>
              <a:rPr lang="zh-CN" altLang="zh-CN" sz="2000" dirty="0"/>
              <a:t>(</a:t>
            </a:r>
            <a:r>
              <a:rPr lang="zh-CN" altLang="en-US" sz="2000" dirty="0"/>
              <a:t>步长为</a:t>
            </a:r>
            <a:r>
              <a:rPr lang="en-US" altLang="zh-CN" sz="2000" dirty="0"/>
              <a:t>1</a:t>
            </a:r>
            <a:r>
              <a:rPr lang="zh-CN" altLang="en-US" sz="2000" dirty="0"/>
              <a:t>的引用模式</a:t>
            </a:r>
            <a:r>
              <a:rPr lang="zh-CN" altLang="zh-CN" sz="2000" dirty="0"/>
              <a:t>)</a:t>
            </a:r>
          </a:p>
          <a:p>
            <a:pPr>
              <a:spcBef>
                <a:spcPts val="400"/>
              </a:spcBef>
              <a:buClr>
                <a:srgbClr val="8D171A"/>
              </a:buClr>
              <a:buSzPct val="110000"/>
              <a:buFont typeface="Wingdings" panose="05000000000000000000" pitchFamily="2" charset="2"/>
              <a:buChar char=""/>
            </a:pPr>
            <a:r>
              <a:rPr lang="zh-CN" altLang="en-US" sz="2000" dirty="0">
                <a:cs typeface="Courier New" panose="02070309020205020404" pitchFamily="49" charset="0"/>
              </a:rPr>
              <a:t>变量</a:t>
            </a:r>
            <a:r>
              <a:rPr lang="zh-CN" altLang="zh-CN" sz="2000" dirty="0">
                <a:latin typeface="Courier New" panose="02070309020205020404" pitchFamily="49" charset="0"/>
                <a:cs typeface="Courier New" panose="02070309020205020404" pitchFamily="49" charset="0"/>
              </a:rPr>
              <a:t>sum</a:t>
            </a:r>
            <a:r>
              <a:rPr lang="zh-CN" altLang="en-US" sz="2000" dirty="0">
                <a:latin typeface="Courier New" panose="02070309020205020404" pitchFamily="49" charset="0"/>
                <a:cs typeface="Courier New" panose="02070309020205020404" pitchFamily="49" charset="0"/>
              </a:rPr>
              <a:t>在每次循环迭代中被引用一次</a:t>
            </a:r>
            <a:endParaRPr lang="zh-CN" altLang="zh-CN" sz="2000" dirty="0"/>
          </a:p>
        </p:txBody>
      </p:sp>
      <p:sp>
        <p:nvSpPr>
          <p:cNvPr id="6" name="object 6"/>
          <p:cNvSpPr txBox="1"/>
          <p:nvPr/>
        </p:nvSpPr>
        <p:spPr>
          <a:xfrm>
            <a:off x="476250" y="4940300"/>
            <a:ext cx="3155950" cy="369888"/>
          </a:xfrm>
          <a:prstGeom prst="rect">
            <a:avLst/>
          </a:prstGeom>
        </p:spPr>
        <p:txBody>
          <a:bodyPr lIns="0" tIns="0" rIns="0" bIns="0">
            <a:spAutoFit/>
          </a:bodyPr>
          <a:lstStyle/>
          <a:p>
            <a:pPr marL="355600" indent="-342900">
              <a:buClr>
                <a:srgbClr val="8D171A"/>
              </a:buClr>
              <a:buSzPct val="58333"/>
              <a:buFont typeface="Wingdings 2"/>
              <a:buChar char=""/>
              <a:tabLst>
                <a:tab pos="355600" algn="l"/>
              </a:tabLst>
              <a:defRPr/>
            </a:pPr>
            <a:r>
              <a:rPr lang="zh-CN" altLang="en-US" sz="2400" spc="-5" dirty="0">
                <a:cs typeface="Calibri"/>
              </a:rPr>
              <a:t>对指令的引用</a:t>
            </a:r>
            <a:endParaRPr sz="2400" dirty="0">
              <a:cs typeface="Calibri"/>
            </a:endParaRPr>
          </a:p>
        </p:txBody>
      </p:sp>
      <p:sp>
        <p:nvSpPr>
          <p:cNvPr id="7" name="object 7"/>
          <p:cNvSpPr txBox="1"/>
          <p:nvPr/>
        </p:nvSpPr>
        <p:spPr>
          <a:xfrm>
            <a:off x="933450" y="5370513"/>
            <a:ext cx="4000500" cy="696912"/>
          </a:xfrm>
          <a:prstGeom prst="rect">
            <a:avLst/>
          </a:prstGeom>
        </p:spPr>
        <p:txBody>
          <a:bodyPr lIns="0" tIns="0" rIns="0" bIns="0">
            <a:spAutoFit/>
          </a:bodyPr>
          <a:lstStyle/>
          <a:p>
            <a:pPr marL="299085" indent="-286385">
              <a:buClr>
                <a:srgbClr val="8D171A"/>
              </a:buClr>
              <a:buSzPct val="110000"/>
              <a:buFont typeface="Wingdings"/>
              <a:buChar char=""/>
              <a:tabLst>
                <a:tab pos="299085" algn="l"/>
                <a:tab pos="299720" algn="l"/>
              </a:tabLst>
              <a:defRPr/>
            </a:pPr>
            <a:r>
              <a:rPr lang="zh-CN" altLang="en-US" sz="2000" spc="-5" dirty="0">
                <a:cs typeface="Calibri"/>
              </a:rPr>
              <a:t>顺序读取指令</a:t>
            </a:r>
            <a:endParaRPr sz="2000" dirty="0">
              <a:cs typeface="Calibri"/>
            </a:endParaRPr>
          </a:p>
          <a:p>
            <a:pPr marL="299085" indent="-286385">
              <a:spcBef>
                <a:spcPts val="480"/>
              </a:spcBef>
              <a:buClr>
                <a:srgbClr val="8D171A"/>
              </a:buClr>
              <a:buSzPct val="110000"/>
              <a:buFont typeface="Wingdings"/>
              <a:buChar char=""/>
              <a:tabLst>
                <a:tab pos="299085" algn="l"/>
                <a:tab pos="299720" algn="l"/>
              </a:tabLst>
              <a:defRPr/>
            </a:pPr>
            <a:r>
              <a:rPr lang="zh-CN" altLang="en-US" sz="2000" spc="-5" dirty="0">
                <a:cs typeface="Calibri"/>
              </a:rPr>
              <a:t>重复循环执行</a:t>
            </a:r>
            <a:r>
              <a:rPr lang="en-US" altLang="zh-CN" sz="2000" spc="-5" dirty="0">
                <a:cs typeface="Calibri"/>
              </a:rPr>
              <a:t>for</a:t>
            </a:r>
            <a:r>
              <a:rPr lang="zh-CN" altLang="en-US" sz="2000" spc="-5" dirty="0">
                <a:cs typeface="Calibri"/>
              </a:rPr>
              <a:t>循环体</a:t>
            </a:r>
            <a:endParaRPr sz="2000" dirty="0">
              <a:cs typeface="Calibri"/>
            </a:endParaRPr>
          </a:p>
        </p:txBody>
      </p:sp>
      <p:sp>
        <p:nvSpPr>
          <p:cNvPr id="38920" name="object 8"/>
          <p:cNvSpPr txBox="1">
            <a:spLocks noChangeArrowheads="1"/>
          </p:cNvSpPr>
          <p:nvPr/>
        </p:nvSpPr>
        <p:spPr bwMode="auto">
          <a:xfrm>
            <a:off x="847725" y="1231900"/>
            <a:ext cx="4103688" cy="1492250"/>
          </a:xfrm>
          <a:prstGeom prst="rect">
            <a:avLst/>
          </a:prstGeom>
          <a:solidFill>
            <a:srgbClr val="F7F5CD"/>
          </a:solidFill>
          <a:ln w="12700">
            <a:solidFill>
              <a:srgbClr val="000000"/>
            </a:solidFill>
            <a:miter lim="800000"/>
            <a:headEnd/>
            <a:tailEnd/>
          </a:ln>
        </p:spPr>
        <p:txBody>
          <a:bodyPr lIns="0" tIns="14604" rIns="0" bIns="0">
            <a:spAutoFit/>
          </a:bodyPr>
          <a:lstStyle>
            <a:lvl1pPr marL="82550">
              <a:defRPr kumimoji="1" sz="1600" b="1">
                <a:solidFill>
                  <a:schemeClr val="tx1"/>
                </a:solidFill>
                <a:latin typeface="Arial" panose="020B0604020202020204" pitchFamily="34" charset="0"/>
                <a:ea typeface="宋体" panose="02010600030101010101" pitchFamily="2" charset="-122"/>
              </a:defRPr>
            </a:lvl1pPr>
            <a:lvl2pPr marL="742950" indent="-285750">
              <a:defRPr kumimoji="1" sz="1600" b="1">
                <a:solidFill>
                  <a:schemeClr val="tx1"/>
                </a:solidFill>
                <a:latin typeface="Arial" panose="020B0604020202020204" pitchFamily="34" charset="0"/>
                <a:ea typeface="宋体" panose="02010600030101010101" pitchFamily="2" charset="-122"/>
              </a:defRPr>
            </a:lvl2pPr>
            <a:lvl3pPr marL="1143000" indent="-228600">
              <a:defRPr kumimoji="1" sz="1600" b="1">
                <a:solidFill>
                  <a:schemeClr val="tx1"/>
                </a:solidFill>
                <a:latin typeface="Arial" panose="020B0604020202020204" pitchFamily="34" charset="0"/>
                <a:ea typeface="宋体" panose="02010600030101010101" pitchFamily="2" charset="-122"/>
              </a:defRPr>
            </a:lvl3pPr>
            <a:lvl4pPr marL="1600200" indent="-228600">
              <a:defRPr kumimoji="1" sz="1600" b="1">
                <a:solidFill>
                  <a:schemeClr val="tx1"/>
                </a:solidFill>
                <a:latin typeface="Arial" panose="020B0604020202020204" pitchFamily="34" charset="0"/>
                <a:ea typeface="宋体" panose="02010600030101010101" pitchFamily="2" charset="-122"/>
              </a:defRPr>
            </a:lvl4pPr>
            <a:lvl5pPr marL="2057400" indent="-228600">
              <a:defRPr kumimoji="1"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600" b="1">
                <a:solidFill>
                  <a:schemeClr val="tx1"/>
                </a:solidFill>
                <a:latin typeface="Arial" panose="020B0604020202020204" pitchFamily="34" charset="0"/>
                <a:ea typeface="宋体" panose="02010600030101010101" pitchFamily="2" charset="-122"/>
              </a:defRPr>
            </a:lvl9pPr>
          </a:lstStyle>
          <a:p>
            <a:pPr>
              <a:spcBef>
                <a:spcPts val="113"/>
              </a:spcBef>
            </a:pPr>
            <a:r>
              <a:rPr lang="zh-CN" altLang="zh-CN" sz="2400">
                <a:latin typeface="Times New Roman" panose="02020603050405020304" pitchFamily="18" charset="0"/>
                <a:cs typeface="Times New Roman" panose="02020603050405020304" pitchFamily="18" charset="0"/>
              </a:rPr>
              <a:t>sum = 0;</a:t>
            </a:r>
          </a:p>
          <a:p>
            <a:r>
              <a:rPr lang="zh-CN" altLang="zh-CN" sz="2400">
                <a:latin typeface="Times New Roman" panose="02020603050405020304" pitchFamily="18" charset="0"/>
                <a:cs typeface="Times New Roman" panose="02020603050405020304" pitchFamily="18" charset="0"/>
              </a:rPr>
              <a:t>for (i = 0; i &lt; n; i++)  </a:t>
            </a:r>
            <a:endParaRPr lang="en-US" altLang="zh-CN" sz="2400">
              <a:latin typeface="Times New Roman" panose="02020603050405020304" pitchFamily="18" charset="0"/>
              <a:cs typeface="Times New Roman" panose="02020603050405020304" pitchFamily="18" charset="0"/>
            </a:endParaRPr>
          </a:p>
          <a:p>
            <a:r>
              <a:rPr lang="en-US" altLang="zh-CN" sz="2400">
                <a:latin typeface="Times New Roman" panose="02020603050405020304" pitchFamily="18" charset="0"/>
                <a:cs typeface="Times New Roman" panose="02020603050405020304" pitchFamily="18" charset="0"/>
              </a:rPr>
              <a:t>    </a:t>
            </a:r>
            <a:r>
              <a:rPr lang="zh-CN" altLang="zh-CN" sz="2400">
                <a:latin typeface="Times New Roman" panose="02020603050405020304" pitchFamily="18" charset="0"/>
                <a:cs typeface="Times New Roman" panose="02020603050405020304" pitchFamily="18" charset="0"/>
              </a:rPr>
              <a:t>sum += a[i];</a:t>
            </a:r>
          </a:p>
          <a:p>
            <a:r>
              <a:rPr lang="zh-CN" altLang="zh-CN" sz="2400">
                <a:latin typeface="Times New Roman" panose="02020603050405020304" pitchFamily="18" charset="0"/>
                <a:cs typeface="Times New Roman" panose="02020603050405020304" pitchFamily="18" charset="0"/>
              </a:rPr>
              <a:t>return sum;</a:t>
            </a:r>
          </a:p>
        </p:txBody>
      </p:sp>
      <p:sp>
        <p:nvSpPr>
          <p:cNvPr id="9" name="object 9"/>
          <p:cNvSpPr txBox="1">
            <a:spLocks noChangeArrowheads="1"/>
          </p:cNvSpPr>
          <p:nvPr/>
        </p:nvSpPr>
        <p:spPr bwMode="auto">
          <a:xfrm>
            <a:off x="5794375" y="3490913"/>
            <a:ext cx="2189163" cy="88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kumimoji="1" sz="1600" b="1">
                <a:solidFill>
                  <a:schemeClr val="tx1"/>
                </a:solidFill>
                <a:latin typeface="Arial" panose="020B0604020202020204" pitchFamily="34" charset="0"/>
                <a:ea typeface="宋体" panose="02010600030101010101" pitchFamily="2" charset="-122"/>
              </a:defRPr>
            </a:lvl1pPr>
            <a:lvl2pPr marL="742950" indent="-285750">
              <a:defRPr kumimoji="1" sz="1600" b="1">
                <a:solidFill>
                  <a:schemeClr val="tx1"/>
                </a:solidFill>
                <a:latin typeface="Arial" panose="020B0604020202020204" pitchFamily="34" charset="0"/>
                <a:ea typeface="宋体" panose="02010600030101010101" pitchFamily="2" charset="-122"/>
              </a:defRPr>
            </a:lvl2pPr>
            <a:lvl3pPr marL="1143000" indent="-228600">
              <a:defRPr kumimoji="1" sz="1600" b="1">
                <a:solidFill>
                  <a:schemeClr val="tx1"/>
                </a:solidFill>
                <a:latin typeface="Arial" panose="020B0604020202020204" pitchFamily="34" charset="0"/>
                <a:ea typeface="宋体" panose="02010600030101010101" pitchFamily="2" charset="-122"/>
              </a:defRPr>
            </a:lvl3pPr>
            <a:lvl4pPr marL="1600200" indent="-228600">
              <a:defRPr kumimoji="1" sz="1600" b="1">
                <a:solidFill>
                  <a:schemeClr val="tx1"/>
                </a:solidFill>
                <a:latin typeface="Arial" panose="020B0604020202020204" pitchFamily="34" charset="0"/>
                <a:ea typeface="宋体" panose="02010600030101010101" pitchFamily="2" charset="-122"/>
              </a:defRPr>
            </a:lvl4pPr>
            <a:lvl5pPr marL="2057400" indent="-228600">
              <a:defRPr kumimoji="1"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600" b="1">
                <a:solidFill>
                  <a:schemeClr val="tx1"/>
                </a:solidFill>
                <a:latin typeface="Arial" panose="020B0604020202020204" pitchFamily="34" charset="0"/>
                <a:ea typeface="宋体" panose="02010600030101010101" pitchFamily="2" charset="-122"/>
              </a:defRPr>
            </a:lvl9pPr>
          </a:lstStyle>
          <a:p>
            <a:pPr>
              <a:lnSpc>
                <a:spcPct val="126000"/>
              </a:lnSpc>
            </a:pPr>
            <a:r>
              <a:rPr lang="zh-CN" altLang="en-US" sz="2400"/>
              <a:t>空间局部性</a:t>
            </a:r>
            <a:r>
              <a:rPr lang="zh-CN" altLang="zh-CN" sz="2400"/>
              <a:t>  </a:t>
            </a:r>
            <a:endParaRPr lang="en-US" altLang="zh-CN" sz="2400"/>
          </a:p>
          <a:p>
            <a:pPr>
              <a:lnSpc>
                <a:spcPct val="126000"/>
              </a:lnSpc>
            </a:pPr>
            <a:r>
              <a:rPr lang="zh-CN" altLang="en-US" sz="2400"/>
              <a:t>时间局部性</a:t>
            </a:r>
            <a:endParaRPr lang="zh-CN" altLang="zh-CN" sz="2400"/>
          </a:p>
        </p:txBody>
      </p:sp>
      <p:sp>
        <p:nvSpPr>
          <p:cNvPr id="10" name="object 10"/>
          <p:cNvSpPr txBox="1">
            <a:spLocks noChangeArrowheads="1"/>
          </p:cNvSpPr>
          <p:nvPr/>
        </p:nvSpPr>
        <p:spPr bwMode="auto">
          <a:xfrm>
            <a:off x="5794375" y="5287963"/>
            <a:ext cx="2189163" cy="771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12700">
              <a:defRPr kumimoji="1" sz="1600" b="1">
                <a:solidFill>
                  <a:schemeClr val="tx1"/>
                </a:solidFill>
                <a:latin typeface="Arial" panose="020B0604020202020204" pitchFamily="34" charset="0"/>
                <a:ea typeface="宋体" panose="02010600030101010101" pitchFamily="2" charset="-122"/>
              </a:defRPr>
            </a:lvl1pPr>
            <a:lvl2pPr marL="742950" indent="-285750">
              <a:defRPr kumimoji="1" sz="1600" b="1">
                <a:solidFill>
                  <a:schemeClr val="tx1"/>
                </a:solidFill>
                <a:latin typeface="Arial" panose="020B0604020202020204" pitchFamily="34" charset="0"/>
                <a:ea typeface="宋体" panose="02010600030101010101" pitchFamily="2" charset="-122"/>
              </a:defRPr>
            </a:lvl2pPr>
            <a:lvl3pPr marL="1143000" indent="-228600">
              <a:defRPr kumimoji="1" sz="1600" b="1">
                <a:solidFill>
                  <a:schemeClr val="tx1"/>
                </a:solidFill>
                <a:latin typeface="Arial" panose="020B0604020202020204" pitchFamily="34" charset="0"/>
                <a:ea typeface="宋体" panose="02010600030101010101" pitchFamily="2" charset="-122"/>
              </a:defRPr>
            </a:lvl3pPr>
            <a:lvl4pPr marL="1600200" indent="-228600">
              <a:defRPr kumimoji="1" sz="1600" b="1">
                <a:solidFill>
                  <a:schemeClr val="tx1"/>
                </a:solidFill>
                <a:latin typeface="Arial" panose="020B0604020202020204" pitchFamily="34" charset="0"/>
                <a:ea typeface="宋体" panose="02010600030101010101" pitchFamily="2" charset="-122"/>
              </a:defRPr>
            </a:lvl4pPr>
            <a:lvl5pPr marL="2057400" indent="-228600">
              <a:defRPr kumimoji="1" sz="16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16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16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16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1600" b="1">
                <a:solidFill>
                  <a:schemeClr val="tx1"/>
                </a:solidFill>
                <a:latin typeface="Arial" panose="020B0604020202020204" pitchFamily="34" charset="0"/>
                <a:ea typeface="宋体" panose="02010600030101010101" pitchFamily="2" charset="-122"/>
              </a:defRPr>
            </a:lvl9pPr>
          </a:lstStyle>
          <a:p>
            <a:pPr>
              <a:lnSpc>
                <a:spcPct val="109000"/>
              </a:lnSpc>
            </a:pPr>
            <a:r>
              <a:rPr lang="zh-CN" altLang="en-US" sz="2400"/>
              <a:t>空间局部性</a:t>
            </a:r>
            <a:r>
              <a:rPr lang="zh-CN" altLang="zh-CN" sz="2400"/>
              <a:t>  </a:t>
            </a:r>
            <a:endParaRPr lang="en-US" altLang="zh-CN" sz="2400"/>
          </a:p>
          <a:p>
            <a:pPr>
              <a:lnSpc>
                <a:spcPct val="109000"/>
              </a:lnSpc>
            </a:pPr>
            <a:r>
              <a:rPr lang="zh-CN" altLang="en-US" sz="2400"/>
              <a:t>时间局部性</a:t>
            </a:r>
            <a:endParaRPr lang="zh-CN" altLang="zh-CN" sz="2400"/>
          </a:p>
        </p:txBody>
      </p:sp>
    </p:spTree>
    <p:extLst>
      <p:ext uri="{BB962C8B-B14F-4D97-AF65-F5344CB8AC3E}">
        <p14:creationId xmlns:p14="http://schemas.microsoft.com/office/powerpoint/2010/main" val="27785664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3" name="Picture 4" descr="5-11">
            <a:extLst>
              <a:ext uri="{FF2B5EF4-FFF2-40B4-BE49-F238E27FC236}">
                <a16:creationId xmlns:a16="http://schemas.microsoft.com/office/drawing/2014/main" id="{4A406744-CBED-448C-A91F-9FA15597D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4112" y="548680"/>
            <a:ext cx="6835775" cy="3943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矩形 6">
            <a:extLst>
              <a:ext uri="{FF2B5EF4-FFF2-40B4-BE49-F238E27FC236}">
                <a16:creationId xmlns:a16="http://schemas.microsoft.com/office/drawing/2014/main" id="{D94DC1D0-292B-4B35-A26F-4832E5AD0DBB}"/>
              </a:ext>
            </a:extLst>
          </p:cNvPr>
          <p:cNvSpPr>
            <a:spLocks noChangeArrowheads="1"/>
          </p:cNvSpPr>
          <p:nvPr/>
        </p:nvSpPr>
        <p:spPr bwMode="auto">
          <a:xfrm>
            <a:off x="899592" y="4869160"/>
            <a:ext cx="77152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marL="360000" indent="-457200" eaLnBrk="1" hangingPunct="1">
              <a:lnSpc>
                <a:spcPct val="100000"/>
              </a:lnSpc>
              <a:spcBef>
                <a:spcPct val="0"/>
              </a:spcBef>
              <a:buClrTx/>
              <a:buFont typeface="Wingdings" panose="05000000000000000000" pitchFamily="2" charset="2"/>
              <a:buChar char="Ø"/>
            </a:pPr>
            <a:r>
              <a:rPr lang="zh-CN" altLang="en-US" dirty="0">
                <a:solidFill>
                  <a:schemeClr val="tx1"/>
                </a:solidFill>
                <a:latin typeface="Times New Roman" panose="02020603050405020304" pitchFamily="18" charset="0"/>
                <a:ea typeface="宋体" panose="02010600030101010101" pitchFamily="2" charset="-122"/>
              </a:rPr>
              <a:t>层次结构中的各层之间通常是</a:t>
            </a:r>
            <a:r>
              <a:rPr lang="zh-CN" altLang="en-US" b="1" dirty="0">
                <a:solidFill>
                  <a:schemeClr val="tx1"/>
                </a:solidFill>
                <a:latin typeface="Times New Roman" panose="02020603050405020304" pitchFamily="18" charset="0"/>
                <a:ea typeface="宋体" panose="02010600030101010101" pitchFamily="2" charset="-122"/>
              </a:rPr>
              <a:t>子集关系</a:t>
            </a:r>
            <a:endParaRPr lang="en-US" altLang="zh-CN" b="1" dirty="0">
              <a:solidFill>
                <a:schemeClr val="tx1"/>
              </a:solidFill>
              <a:latin typeface="Times New Roman" panose="02020603050405020304" pitchFamily="18" charset="0"/>
              <a:ea typeface="宋体" panose="02010600030101010101" pitchFamily="2" charset="-122"/>
            </a:endParaRPr>
          </a:p>
          <a:p>
            <a:pPr marL="360000" indent="-457200" eaLnBrk="1" hangingPunct="1">
              <a:lnSpc>
                <a:spcPct val="100000"/>
              </a:lnSpc>
              <a:spcBef>
                <a:spcPct val="0"/>
              </a:spcBef>
              <a:buClrTx/>
              <a:buFont typeface="Wingdings" panose="05000000000000000000" pitchFamily="2" charset="2"/>
              <a:buChar char="Ø"/>
            </a:pPr>
            <a:r>
              <a:rPr lang="zh-CN" altLang="en-US" dirty="0">
                <a:solidFill>
                  <a:schemeClr val="tx1"/>
                </a:solidFill>
                <a:latin typeface="Times New Roman" panose="02020603050405020304" pitchFamily="18" charset="0"/>
                <a:ea typeface="宋体" panose="02010600030101010101" pitchFamily="2" charset="-122"/>
              </a:rPr>
              <a:t>每一层都要从一个较大的存储器空间中把地址映射到一个较小、但是更快的、位于上一层的存储器中</a:t>
            </a:r>
            <a:endParaRPr lang="zh-CN" altLang="en-US" dirty="0">
              <a:solidFill>
                <a:schemeClr val="tx1"/>
              </a:solidFill>
            </a:endParaRPr>
          </a:p>
        </p:txBody>
      </p:sp>
      <p:sp>
        <p:nvSpPr>
          <p:cNvPr id="2" name="日期占位符 1">
            <a:extLst>
              <a:ext uri="{FF2B5EF4-FFF2-40B4-BE49-F238E27FC236}">
                <a16:creationId xmlns:a16="http://schemas.microsoft.com/office/drawing/2014/main" id="{0C69C7F3-0328-A66A-0C26-8679167093BA}"/>
              </a:ext>
            </a:extLst>
          </p:cNvPr>
          <p:cNvSpPr>
            <a:spLocks noGrp="1"/>
          </p:cNvSpPr>
          <p:nvPr>
            <p:ph type="dt" sz="half" idx="10"/>
          </p:nvPr>
        </p:nvSpPr>
        <p:spPr/>
        <p:txBody>
          <a:bodyPr/>
          <a:lstStyle/>
          <a:p>
            <a:pPr>
              <a:defRPr/>
            </a:pPr>
            <a:fld id="{AAD794F6-4B20-428D-BDE0-E891322AE2F0}"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CF240BCC-46DC-DF93-82F0-7490308AEDA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406CF8EF-9C4A-F1AC-1F17-89358C2CBF24}"/>
              </a:ext>
            </a:extLst>
          </p:cNvPr>
          <p:cNvSpPr>
            <a:spLocks noGrp="1"/>
          </p:cNvSpPr>
          <p:nvPr>
            <p:ph type="sldNum" sz="quarter" idx="12"/>
          </p:nvPr>
        </p:nvSpPr>
        <p:spPr/>
        <p:txBody>
          <a:bodyPr/>
          <a:lstStyle/>
          <a:p>
            <a:pPr>
              <a:defRPr/>
            </a:pPr>
            <a:fld id="{8BCAC33D-D29A-48B3-BCD6-381D3D720D26}" type="slidenum">
              <a:rPr lang="zh-CN" altLang="en-US" smtClean="0"/>
              <a:t>13</a:t>
            </a:fld>
            <a:endParaRPr lang="en-US" altLang="zh-C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descr="Rectangle: Click to edit Master text styles&#10;Second level&#10;Third level&#10;Fourth level&#10;Fifth level">
            <a:extLst>
              <a:ext uri="{FF2B5EF4-FFF2-40B4-BE49-F238E27FC236}">
                <a16:creationId xmlns:a16="http://schemas.microsoft.com/office/drawing/2014/main" id="{250CCCC8-F0B2-4B93-93DD-A63B126F51EF}"/>
              </a:ext>
            </a:extLst>
          </p:cNvPr>
          <p:cNvSpPr>
            <a:spLocks noGrp="1" noChangeArrowheads="1"/>
          </p:cNvSpPr>
          <p:nvPr>
            <p:ph type="body" idx="1"/>
          </p:nvPr>
        </p:nvSpPr>
        <p:spPr>
          <a:xfrm>
            <a:off x="107504" y="1390708"/>
            <a:ext cx="8496944" cy="5089525"/>
          </a:xfrm>
        </p:spPr>
        <p:txBody>
          <a:bodyPr/>
          <a:lstStyle/>
          <a:p>
            <a:pPr marL="1085850" lvl="1" indent="-457200" algn="just" eaLnBrk="1" hangingPunct="1">
              <a:buFont typeface="Wingdings" panose="05000000000000000000" pitchFamily="2" charset="2"/>
              <a:buChar char="Ø"/>
            </a:pPr>
            <a:r>
              <a:rPr lang="zh-CN" altLang="en-US" b="1" dirty="0">
                <a:latin typeface="Times New Roman" panose="02020603050405020304" pitchFamily="18" charset="0"/>
              </a:rPr>
              <a:t>假设第</a:t>
            </a:r>
            <a:r>
              <a:rPr lang="en-US" altLang="zh-CN" i="1" dirty="0" err="1">
                <a:solidFill>
                  <a:srgbClr val="9933FF"/>
                </a:solidFill>
                <a:latin typeface="Times New Roman" panose="02020603050405020304" pitchFamily="18" charset="0"/>
              </a:rPr>
              <a:t>i</a:t>
            </a:r>
            <a:r>
              <a:rPr lang="zh-CN" altLang="en-US" b="1" dirty="0">
                <a:latin typeface="Times New Roman" panose="02020603050405020304" pitchFamily="18" charset="0"/>
              </a:rPr>
              <a:t>个存储器</a:t>
            </a:r>
            <a:r>
              <a:rPr lang="en-US" altLang="zh-CN" b="1" i="1" dirty="0">
                <a:solidFill>
                  <a:srgbClr val="9933FF"/>
                </a:solidFill>
                <a:latin typeface="Times New Roman" panose="02020603050405020304" pitchFamily="18" charset="0"/>
              </a:rPr>
              <a:t>M</a:t>
            </a:r>
            <a:r>
              <a:rPr lang="en-US" altLang="zh-CN" b="1" i="1" baseline="-25000" dirty="0">
                <a:solidFill>
                  <a:srgbClr val="9933FF"/>
                </a:solidFill>
                <a:latin typeface="Times New Roman" panose="02020603050405020304" pitchFamily="18" charset="0"/>
              </a:rPr>
              <a:t>i</a:t>
            </a:r>
            <a:r>
              <a:rPr lang="zh-CN" altLang="en-US" b="1" dirty="0">
                <a:latin typeface="Times New Roman" panose="02020603050405020304" pitchFamily="18" charset="0"/>
              </a:rPr>
              <a:t>的访问时间为</a:t>
            </a:r>
            <a:r>
              <a:rPr lang="en-US" altLang="zh-CN" b="1" i="1" dirty="0" err="1">
                <a:solidFill>
                  <a:srgbClr val="9933FF"/>
                </a:solidFill>
                <a:latin typeface="Times New Roman" panose="02020603050405020304" pitchFamily="18" charset="0"/>
              </a:rPr>
              <a:t>T</a:t>
            </a:r>
            <a:r>
              <a:rPr lang="en-US" altLang="zh-CN" b="1" i="1" baseline="-25000" dirty="0" err="1">
                <a:solidFill>
                  <a:srgbClr val="9933FF"/>
                </a:solidFill>
                <a:latin typeface="Times New Roman" panose="02020603050405020304" pitchFamily="18" charset="0"/>
              </a:rPr>
              <a:t>i</a:t>
            </a:r>
            <a:r>
              <a:rPr lang="zh-CN" altLang="en-US" b="1" dirty="0">
                <a:latin typeface="Times New Roman" panose="02020603050405020304" pitchFamily="18" charset="0"/>
              </a:rPr>
              <a:t>，容量为</a:t>
            </a:r>
            <a:r>
              <a:rPr lang="en-US" altLang="zh-CN" b="1" i="1" dirty="0">
                <a:solidFill>
                  <a:srgbClr val="9933FF"/>
                </a:solidFill>
                <a:latin typeface="Times New Roman" panose="02020603050405020304" pitchFamily="18" charset="0"/>
              </a:rPr>
              <a:t>S</a:t>
            </a:r>
            <a:r>
              <a:rPr lang="en-US" altLang="zh-CN" b="1" i="1" baseline="-25000" dirty="0">
                <a:solidFill>
                  <a:srgbClr val="9933FF"/>
                </a:solidFill>
                <a:latin typeface="Times New Roman" panose="02020603050405020304" pitchFamily="18" charset="0"/>
              </a:rPr>
              <a:t>i</a:t>
            </a:r>
            <a:r>
              <a:rPr lang="zh-CN" altLang="en-US" b="1" dirty="0">
                <a:latin typeface="Times New Roman" panose="02020603050405020304" pitchFamily="18" charset="0"/>
              </a:rPr>
              <a:t>，平均每位价格为</a:t>
            </a:r>
            <a:r>
              <a:rPr lang="en-US" altLang="zh-CN" b="1" i="1" dirty="0">
                <a:solidFill>
                  <a:srgbClr val="9933FF"/>
                </a:solidFill>
                <a:latin typeface="Times New Roman" panose="02020603050405020304" pitchFamily="18" charset="0"/>
              </a:rPr>
              <a:t>C</a:t>
            </a:r>
            <a:r>
              <a:rPr lang="en-US" altLang="zh-CN" b="1" i="1" baseline="-25000" dirty="0">
                <a:solidFill>
                  <a:srgbClr val="9933FF"/>
                </a:solidFill>
                <a:latin typeface="Times New Roman" panose="02020603050405020304" pitchFamily="18" charset="0"/>
              </a:rPr>
              <a:t>i</a:t>
            </a:r>
            <a:r>
              <a:rPr lang="zh-CN" altLang="en-US" b="1" dirty="0">
                <a:latin typeface="Times New Roman" panose="02020603050405020304" pitchFamily="18" charset="0"/>
              </a:rPr>
              <a:t>，则</a:t>
            </a:r>
          </a:p>
          <a:p>
            <a:pPr marL="1504800" lvl="2" eaLnBrk="1" hangingPunct="1"/>
            <a:r>
              <a:rPr lang="zh-CN" altLang="en-US" b="1" dirty="0">
                <a:latin typeface="Times New Roman" panose="02020603050405020304" pitchFamily="18" charset="0"/>
              </a:rPr>
              <a:t>访问时间：         </a:t>
            </a:r>
            <a:r>
              <a:rPr lang="en-US" altLang="zh-CN" b="1" i="1" dirty="0">
                <a:solidFill>
                  <a:srgbClr val="D60093"/>
                </a:solidFill>
                <a:latin typeface="Times New Roman" panose="02020603050405020304" pitchFamily="18" charset="0"/>
              </a:rPr>
              <a:t>T</a:t>
            </a:r>
            <a:r>
              <a:rPr lang="en-US" altLang="zh-CN" b="1" i="1" baseline="-25000" dirty="0">
                <a:solidFill>
                  <a:srgbClr val="D60093"/>
                </a:solidFill>
                <a:latin typeface="Times New Roman" panose="02020603050405020304" pitchFamily="18" charset="0"/>
              </a:rPr>
              <a:t>1</a:t>
            </a:r>
            <a:r>
              <a:rPr lang="en-US" altLang="zh-CN" b="1" i="1" dirty="0">
                <a:solidFill>
                  <a:srgbClr val="D60093"/>
                </a:solidFill>
                <a:latin typeface="Times New Roman" panose="02020603050405020304" pitchFamily="18" charset="0"/>
              </a:rPr>
              <a:t> &lt; T</a:t>
            </a:r>
            <a:r>
              <a:rPr lang="en-US" altLang="zh-CN" b="1" i="1" baseline="-25000" dirty="0">
                <a:solidFill>
                  <a:srgbClr val="D60093"/>
                </a:solidFill>
                <a:latin typeface="Times New Roman" panose="02020603050405020304" pitchFamily="18" charset="0"/>
              </a:rPr>
              <a:t>2 </a:t>
            </a:r>
            <a:r>
              <a:rPr lang="en-US" altLang="zh-CN" b="1" i="1" dirty="0">
                <a:solidFill>
                  <a:srgbClr val="D60093"/>
                </a:solidFill>
                <a:latin typeface="Times New Roman" panose="02020603050405020304" pitchFamily="18" charset="0"/>
              </a:rPr>
              <a:t>&lt; … &lt; T</a:t>
            </a:r>
            <a:r>
              <a:rPr lang="en-US" altLang="zh-CN" b="1" i="1" baseline="-25000" dirty="0">
                <a:solidFill>
                  <a:srgbClr val="D60093"/>
                </a:solidFill>
                <a:latin typeface="Times New Roman" panose="02020603050405020304" pitchFamily="18" charset="0"/>
              </a:rPr>
              <a:t>n</a:t>
            </a:r>
          </a:p>
          <a:p>
            <a:pPr marL="1504800" lvl="2" eaLnBrk="1" hangingPunct="1"/>
            <a:r>
              <a:rPr lang="zh-CN" altLang="en-US" b="1" dirty="0">
                <a:latin typeface="Times New Roman" panose="02020603050405020304" pitchFamily="18" charset="0"/>
              </a:rPr>
              <a:t>容量：                 </a:t>
            </a:r>
            <a:r>
              <a:rPr lang="en-US" altLang="zh-CN" b="1" i="1" dirty="0">
                <a:solidFill>
                  <a:srgbClr val="D60093"/>
                </a:solidFill>
                <a:latin typeface="Times New Roman" panose="02020603050405020304" pitchFamily="18" charset="0"/>
              </a:rPr>
              <a:t>S</a:t>
            </a:r>
            <a:r>
              <a:rPr lang="en-US" altLang="zh-CN" b="1" i="1" baseline="-25000" dirty="0">
                <a:solidFill>
                  <a:srgbClr val="D60093"/>
                </a:solidFill>
                <a:latin typeface="Times New Roman" panose="02020603050405020304" pitchFamily="18" charset="0"/>
              </a:rPr>
              <a:t>1</a:t>
            </a:r>
            <a:r>
              <a:rPr lang="en-US" altLang="zh-CN" b="1" i="1" dirty="0">
                <a:solidFill>
                  <a:srgbClr val="D60093"/>
                </a:solidFill>
                <a:latin typeface="Times New Roman" panose="02020603050405020304" pitchFamily="18" charset="0"/>
              </a:rPr>
              <a:t> &lt; S</a:t>
            </a:r>
            <a:r>
              <a:rPr lang="en-US" altLang="zh-CN" b="1" i="1" baseline="-25000" dirty="0">
                <a:solidFill>
                  <a:srgbClr val="D60093"/>
                </a:solidFill>
                <a:latin typeface="Times New Roman" panose="02020603050405020304" pitchFamily="18" charset="0"/>
              </a:rPr>
              <a:t>2 </a:t>
            </a:r>
            <a:r>
              <a:rPr lang="en-US" altLang="zh-CN" b="1" i="1" dirty="0">
                <a:solidFill>
                  <a:srgbClr val="D60093"/>
                </a:solidFill>
                <a:latin typeface="Times New Roman" panose="02020603050405020304" pitchFamily="18" charset="0"/>
              </a:rPr>
              <a:t>&lt; … &lt; S</a:t>
            </a:r>
            <a:r>
              <a:rPr lang="en-US" altLang="zh-CN" b="1" i="1" baseline="-25000" dirty="0">
                <a:solidFill>
                  <a:srgbClr val="D60093"/>
                </a:solidFill>
                <a:latin typeface="Times New Roman" panose="02020603050405020304" pitchFamily="18" charset="0"/>
              </a:rPr>
              <a:t>n</a:t>
            </a:r>
          </a:p>
          <a:p>
            <a:pPr marL="1504800" lvl="2" eaLnBrk="1" hangingPunct="1"/>
            <a:r>
              <a:rPr lang="zh-CN" altLang="en-US" b="1" dirty="0">
                <a:latin typeface="Times New Roman" panose="02020603050405020304" pitchFamily="18" charset="0"/>
              </a:rPr>
              <a:t>平均每位价格： </a:t>
            </a:r>
            <a:r>
              <a:rPr lang="en-US" altLang="zh-CN" b="1" i="1" dirty="0">
                <a:solidFill>
                  <a:srgbClr val="D60093"/>
                </a:solidFill>
                <a:latin typeface="Times New Roman" panose="02020603050405020304" pitchFamily="18" charset="0"/>
              </a:rPr>
              <a:t>C</a:t>
            </a:r>
            <a:r>
              <a:rPr lang="en-US" altLang="zh-CN" b="1" i="1" baseline="-25000" dirty="0">
                <a:solidFill>
                  <a:srgbClr val="D60093"/>
                </a:solidFill>
                <a:latin typeface="Times New Roman" panose="02020603050405020304" pitchFamily="18" charset="0"/>
              </a:rPr>
              <a:t>1</a:t>
            </a:r>
            <a:r>
              <a:rPr lang="en-US" altLang="zh-CN" b="1" i="1" dirty="0">
                <a:solidFill>
                  <a:srgbClr val="D60093"/>
                </a:solidFill>
                <a:latin typeface="Times New Roman" panose="02020603050405020304" pitchFamily="18" charset="0"/>
              </a:rPr>
              <a:t> &gt; C</a:t>
            </a:r>
            <a:r>
              <a:rPr lang="en-US" altLang="zh-CN" b="1" i="1" baseline="-25000" dirty="0">
                <a:solidFill>
                  <a:srgbClr val="D60093"/>
                </a:solidFill>
                <a:latin typeface="Times New Roman" panose="02020603050405020304" pitchFamily="18" charset="0"/>
              </a:rPr>
              <a:t>2</a:t>
            </a:r>
            <a:r>
              <a:rPr lang="en-US" altLang="zh-CN" b="1" i="1" dirty="0">
                <a:solidFill>
                  <a:srgbClr val="D60093"/>
                </a:solidFill>
                <a:latin typeface="Times New Roman" panose="02020603050405020304" pitchFamily="18" charset="0"/>
              </a:rPr>
              <a:t> &gt; … &gt; C</a:t>
            </a:r>
            <a:r>
              <a:rPr lang="en-US" altLang="zh-CN" b="1" i="1" baseline="-25000" dirty="0">
                <a:solidFill>
                  <a:srgbClr val="D60093"/>
                </a:solidFill>
                <a:latin typeface="Times New Roman" panose="02020603050405020304" pitchFamily="18" charset="0"/>
              </a:rPr>
              <a:t>n</a:t>
            </a:r>
            <a:r>
              <a:rPr lang="en-US" altLang="zh-CN" b="1" i="1" dirty="0">
                <a:latin typeface="Times New Roman" panose="02020603050405020304" pitchFamily="18" charset="0"/>
              </a:rPr>
              <a:t> </a:t>
            </a:r>
          </a:p>
          <a:p>
            <a:pPr marL="1085850" lvl="1" indent="-457200" algn="just" eaLnBrk="1" hangingPunct="1">
              <a:buFont typeface="Wingdings" panose="05000000000000000000" pitchFamily="2" charset="2"/>
              <a:buChar char="Ø"/>
            </a:pPr>
            <a:r>
              <a:rPr lang="zh-CN" altLang="en-US" b="1" dirty="0">
                <a:latin typeface="Times New Roman" panose="02020603050405020304" pitchFamily="18" charset="0"/>
              </a:rPr>
              <a:t>整个存储系统要</a:t>
            </a:r>
            <a:r>
              <a:rPr lang="zh-CN" altLang="en-US" b="1" dirty="0">
                <a:solidFill>
                  <a:srgbClr val="D60093"/>
                </a:solidFill>
                <a:latin typeface="Times New Roman" panose="02020603050405020304" pitchFamily="18" charset="0"/>
              </a:rPr>
              <a:t>达到的目标</a:t>
            </a:r>
            <a:r>
              <a:rPr lang="zh-CN" altLang="en-US" b="1" dirty="0">
                <a:latin typeface="Times New Roman" panose="02020603050405020304" pitchFamily="18" charset="0"/>
              </a:rPr>
              <a:t>：从</a:t>
            </a:r>
            <a:r>
              <a:rPr lang="en-US" altLang="zh-CN" b="1" dirty="0">
                <a:latin typeface="Times New Roman" panose="02020603050405020304" pitchFamily="18" charset="0"/>
              </a:rPr>
              <a:t>CPU</a:t>
            </a:r>
            <a:r>
              <a:rPr lang="zh-CN" altLang="en-US" b="1" dirty="0">
                <a:latin typeface="Times New Roman" panose="02020603050405020304" pitchFamily="18" charset="0"/>
              </a:rPr>
              <a:t>来看，该存储系统的速度接近于</a:t>
            </a:r>
            <a:r>
              <a:rPr lang="en-US" altLang="zh-CN" b="1" i="1" dirty="0">
                <a:solidFill>
                  <a:srgbClr val="9933FF"/>
                </a:solidFill>
                <a:latin typeface="Times New Roman" panose="02020603050405020304" pitchFamily="18" charset="0"/>
              </a:rPr>
              <a:t>M</a:t>
            </a:r>
            <a:r>
              <a:rPr lang="en-US" altLang="zh-CN" b="1" i="1" baseline="-25000" dirty="0">
                <a:solidFill>
                  <a:srgbClr val="9933FF"/>
                </a:solidFill>
                <a:latin typeface="Times New Roman" panose="02020603050405020304" pitchFamily="18" charset="0"/>
              </a:rPr>
              <a:t>1</a:t>
            </a:r>
            <a:r>
              <a:rPr lang="zh-CN" altLang="en-US" b="1" dirty="0">
                <a:latin typeface="Times New Roman" panose="02020603050405020304" pitchFamily="18" charset="0"/>
              </a:rPr>
              <a:t>的，而容量和每位价格都接近于</a:t>
            </a:r>
            <a:r>
              <a:rPr lang="en-US" altLang="zh-CN" b="1" i="1" dirty="0">
                <a:solidFill>
                  <a:srgbClr val="9933FF"/>
                </a:solidFill>
                <a:latin typeface="Times New Roman" panose="02020603050405020304" pitchFamily="18" charset="0"/>
              </a:rPr>
              <a:t>M</a:t>
            </a:r>
            <a:r>
              <a:rPr lang="en-US" altLang="zh-CN" b="1" i="1" baseline="-25000" dirty="0">
                <a:solidFill>
                  <a:srgbClr val="9933FF"/>
                </a:solidFill>
                <a:latin typeface="Times New Roman" panose="02020603050405020304" pitchFamily="18" charset="0"/>
              </a:rPr>
              <a:t>n</a:t>
            </a:r>
            <a:r>
              <a:rPr lang="zh-CN" altLang="en-US" b="1" dirty="0">
                <a:latin typeface="Times New Roman" panose="02020603050405020304" pitchFamily="18" charset="0"/>
              </a:rPr>
              <a:t>的。</a:t>
            </a:r>
          </a:p>
          <a:p>
            <a:pPr marL="1504800" lvl="2" eaLnBrk="1" hangingPunct="1"/>
            <a:r>
              <a:rPr lang="zh-CN" altLang="en-US" b="1" dirty="0">
                <a:latin typeface="Times New Roman" panose="02020603050405020304" pitchFamily="18" charset="0"/>
              </a:rPr>
              <a:t>存储器越靠近</a:t>
            </a:r>
            <a:r>
              <a:rPr lang="en-US" altLang="zh-CN" b="1" dirty="0">
                <a:latin typeface="Times New Roman" panose="02020603050405020304" pitchFamily="18" charset="0"/>
              </a:rPr>
              <a:t>CPU</a:t>
            </a:r>
            <a:r>
              <a:rPr lang="zh-CN" altLang="en-US" b="1" dirty="0">
                <a:latin typeface="Times New Roman" panose="02020603050405020304" pitchFamily="18" charset="0"/>
              </a:rPr>
              <a:t>，则</a:t>
            </a:r>
            <a:r>
              <a:rPr lang="en-US" altLang="zh-CN" b="1" dirty="0">
                <a:latin typeface="Times New Roman" panose="02020603050405020304" pitchFamily="18" charset="0"/>
              </a:rPr>
              <a:t>CPU</a:t>
            </a:r>
            <a:r>
              <a:rPr lang="zh-CN" altLang="en-US" b="1" dirty="0">
                <a:latin typeface="Times New Roman" panose="02020603050405020304" pitchFamily="18" charset="0"/>
              </a:rPr>
              <a:t>对它的访问频度越高，而且最好大多数的访问都能在</a:t>
            </a:r>
            <a:r>
              <a:rPr lang="en-US" altLang="zh-CN" b="1" i="1" dirty="0">
                <a:latin typeface="Times New Roman" panose="02020603050405020304" pitchFamily="18" charset="0"/>
              </a:rPr>
              <a:t>M</a:t>
            </a:r>
            <a:r>
              <a:rPr lang="en-US" altLang="zh-CN" b="1" i="1" baseline="-25000" dirty="0">
                <a:latin typeface="Times New Roman" panose="02020603050405020304" pitchFamily="18" charset="0"/>
              </a:rPr>
              <a:t>1</a:t>
            </a:r>
            <a:r>
              <a:rPr lang="zh-CN" altLang="en-US" b="1" dirty="0">
                <a:latin typeface="Times New Roman" panose="02020603050405020304" pitchFamily="18" charset="0"/>
              </a:rPr>
              <a:t>完成。</a:t>
            </a:r>
          </a:p>
        </p:txBody>
      </p:sp>
      <p:sp>
        <p:nvSpPr>
          <p:cNvPr id="6" name="标题 1">
            <a:extLst>
              <a:ext uri="{FF2B5EF4-FFF2-40B4-BE49-F238E27FC236}">
                <a16:creationId xmlns:a16="http://schemas.microsoft.com/office/drawing/2014/main" id="{1C23EBAD-6B46-40F7-9CB4-18A3185636DC}"/>
              </a:ext>
            </a:extLst>
          </p:cNvPr>
          <p:cNvSpPr>
            <a:spLocks noGrp="1"/>
          </p:cNvSpPr>
          <p:nvPr>
            <p:ph type="title"/>
          </p:nvPr>
        </p:nvSpPr>
        <p:spPr>
          <a:xfrm>
            <a:off x="457200" y="260648"/>
            <a:ext cx="8229600" cy="1143000"/>
          </a:xfrm>
        </p:spPr>
        <p:txBody>
          <a:bodyPr/>
          <a:lstStyle/>
          <a:p>
            <a:r>
              <a:rPr lang="en-US" altLang="zh-CN" sz="3600" b="1" dirty="0">
                <a:latin typeface="Times New Roman" panose="02020603050405020304" pitchFamily="18" charset="0"/>
                <a:cs typeface="Times New Roman" panose="02020603050405020304" pitchFamily="18" charset="0"/>
              </a:rPr>
              <a:t>5.1.1  </a:t>
            </a:r>
            <a:r>
              <a:rPr lang="zh-CN" altLang="en-US" sz="3600" b="1" dirty="0">
                <a:latin typeface="华文中宋" panose="02010600040101010101" pitchFamily="2" charset="-122"/>
                <a:ea typeface="华文中宋" panose="02010600040101010101" pitchFamily="2" charset="-122"/>
                <a:cs typeface="Times New Roman" panose="02020603050405020304" pitchFamily="18" charset="0"/>
              </a:rPr>
              <a:t>多级存储层次</a:t>
            </a:r>
            <a:endParaRPr lang="zh-CN" altLang="en-US" sz="3600" b="1" dirty="0">
              <a:solidFill>
                <a:schemeClr val="tx2"/>
              </a:solidFill>
              <a:latin typeface="华文中宋" panose="02010600040101010101" pitchFamily="2" charset="-122"/>
              <a:ea typeface="华文中宋" panose="02010600040101010101" pitchFamily="2" charset="-122"/>
            </a:endParaRPr>
          </a:p>
        </p:txBody>
      </p:sp>
      <p:sp>
        <p:nvSpPr>
          <p:cNvPr id="2" name="日期占位符 1">
            <a:extLst>
              <a:ext uri="{FF2B5EF4-FFF2-40B4-BE49-F238E27FC236}">
                <a16:creationId xmlns:a16="http://schemas.microsoft.com/office/drawing/2014/main" id="{B97BC48E-E0BC-1DCD-9748-45E21CE8C5EC}"/>
              </a:ext>
            </a:extLst>
          </p:cNvPr>
          <p:cNvSpPr>
            <a:spLocks noGrp="1"/>
          </p:cNvSpPr>
          <p:nvPr>
            <p:ph type="dt" sz="half" idx="10"/>
          </p:nvPr>
        </p:nvSpPr>
        <p:spPr/>
        <p:txBody>
          <a:bodyPr/>
          <a:lstStyle/>
          <a:p>
            <a:pPr>
              <a:defRPr/>
            </a:pPr>
            <a:fld id="{0C65550B-1FF5-4AA4-ADEA-DEEB71C500E4}"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E4F44F66-C8DF-4A57-CF43-3238A0FAF89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1B8983D3-2F20-EB09-F922-72C965BF22F6}"/>
              </a:ext>
            </a:extLst>
          </p:cNvPr>
          <p:cNvSpPr>
            <a:spLocks noGrp="1"/>
          </p:cNvSpPr>
          <p:nvPr>
            <p:ph type="sldNum" sz="quarter" idx="12"/>
          </p:nvPr>
        </p:nvSpPr>
        <p:spPr/>
        <p:txBody>
          <a:bodyPr/>
          <a:lstStyle/>
          <a:p>
            <a:pPr>
              <a:defRPr/>
            </a:pPr>
            <a:fld id="{8BCAC33D-D29A-48B3-BCD6-381D3D720D26}" type="slidenum">
              <a:rPr lang="zh-CN" altLang="en-US" smtClean="0"/>
              <a:t>14</a:t>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3"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052736"/>
            <a:ext cx="7293342" cy="482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AD609C96-04AC-5026-0CE3-F1E43EE45D4F}"/>
              </a:ext>
            </a:extLst>
          </p:cNvPr>
          <p:cNvSpPr>
            <a:spLocks noGrp="1"/>
          </p:cNvSpPr>
          <p:nvPr>
            <p:ph type="dt" sz="half" idx="10"/>
          </p:nvPr>
        </p:nvSpPr>
        <p:spPr/>
        <p:txBody>
          <a:bodyPr/>
          <a:lstStyle/>
          <a:p>
            <a:pPr>
              <a:defRPr/>
            </a:pPr>
            <a:fld id="{3FF84FB3-4F56-40A5-BE12-205B61CE42EA}"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2A493528-9932-50D6-17B4-7AA79FA0DCF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F9422F32-86B8-AF02-1417-3FDD9BF86955}"/>
              </a:ext>
            </a:extLst>
          </p:cNvPr>
          <p:cNvSpPr>
            <a:spLocks noGrp="1"/>
          </p:cNvSpPr>
          <p:nvPr>
            <p:ph type="sldNum" sz="quarter" idx="12"/>
          </p:nvPr>
        </p:nvSpPr>
        <p:spPr/>
        <p:txBody>
          <a:bodyPr/>
          <a:lstStyle/>
          <a:p>
            <a:pPr>
              <a:defRPr/>
            </a:pPr>
            <a:fld id="{65B7EA61-351E-4105-9AD9-76D38C6E9934}" type="slidenum">
              <a:rPr lang="zh-CN" altLang="en-US" smtClean="0"/>
              <a:t>15</a:t>
            </a:fld>
            <a:endParaRPr lang="en-US" altLang="zh-CN"/>
          </a:p>
        </p:txBody>
      </p:sp>
    </p:spTree>
    <p:extLst>
      <p:ext uri="{BB962C8B-B14F-4D97-AF65-F5344CB8AC3E}">
        <p14:creationId xmlns:p14="http://schemas.microsoft.com/office/powerpoint/2010/main" val="821202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98961A26-3D0E-4BA5-800C-4B8C5C656A4F}"/>
              </a:ext>
            </a:extLst>
          </p:cNvPr>
          <p:cNvSpPr>
            <a:spLocks noGrp="1"/>
          </p:cNvSpPr>
          <p:nvPr>
            <p:ph type="title"/>
          </p:nvPr>
        </p:nvSpPr>
        <p:spPr>
          <a:xfrm>
            <a:off x="457200" y="75579"/>
            <a:ext cx="8229600" cy="1143000"/>
          </a:xfrm>
        </p:spPr>
        <p:txBody>
          <a:bodyPr/>
          <a:lstStyle/>
          <a:p>
            <a:r>
              <a:rPr lang="en-US" altLang="zh-CN" sz="3600" b="1" dirty="0">
                <a:latin typeface="Times New Roman" panose="02020603050405020304" pitchFamily="18" charset="0"/>
                <a:cs typeface="Times New Roman" panose="02020603050405020304" pitchFamily="18" charset="0"/>
              </a:rPr>
              <a:t>Memory in a Modern System</a:t>
            </a:r>
          </a:p>
        </p:txBody>
      </p:sp>
      <p:pic>
        <p:nvPicPr>
          <p:cNvPr id="49156" name="Content Placeholder 6" descr="barcelona-die-photo-color.jpg">
            <a:extLst>
              <a:ext uri="{FF2B5EF4-FFF2-40B4-BE49-F238E27FC236}">
                <a16:creationId xmlns:a16="http://schemas.microsoft.com/office/drawing/2014/main" id="{0B65C15D-75FA-4746-AB6B-00DE10DDC1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38263" y="1343992"/>
            <a:ext cx="487680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7" name="Rounded Rectangle 33">
            <a:extLst>
              <a:ext uri="{FF2B5EF4-FFF2-40B4-BE49-F238E27FC236}">
                <a16:creationId xmlns:a16="http://schemas.microsoft.com/office/drawing/2014/main" id="{0529A889-F85B-41E6-8300-475AF38A8E45}"/>
              </a:ext>
            </a:extLst>
          </p:cNvPr>
          <p:cNvSpPr>
            <a:spLocks noChangeArrowheads="1"/>
          </p:cNvSpPr>
          <p:nvPr/>
        </p:nvSpPr>
        <p:spPr bwMode="auto">
          <a:xfrm rot="5400000">
            <a:off x="4213225" y="2080593"/>
            <a:ext cx="1603375" cy="1219200"/>
          </a:xfrm>
          <a:prstGeom prst="roundRect">
            <a:avLst>
              <a:gd name="adj" fmla="val 16667"/>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zh-CN" altLang="zh-CN" sz="1800"/>
          </a:p>
        </p:txBody>
      </p:sp>
      <p:sp>
        <p:nvSpPr>
          <p:cNvPr id="49158" name="TextBox 34">
            <a:extLst>
              <a:ext uri="{FF2B5EF4-FFF2-40B4-BE49-F238E27FC236}">
                <a16:creationId xmlns:a16="http://schemas.microsoft.com/office/drawing/2014/main" id="{214CC368-7872-43FB-8E10-A70A82FE33B5}"/>
              </a:ext>
            </a:extLst>
          </p:cNvPr>
          <p:cNvSpPr txBox="1">
            <a:spLocks noChangeArrowheads="1"/>
          </p:cNvSpPr>
          <p:nvPr/>
        </p:nvSpPr>
        <p:spPr bwMode="auto">
          <a:xfrm>
            <a:off x="4400550" y="2498105"/>
            <a:ext cx="1233488" cy="430212"/>
          </a:xfrm>
          <a:prstGeom prst="rect">
            <a:avLst/>
          </a:prstGeom>
          <a:solidFill>
            <a:srgbClr val="C0C0C0">
              <a:alpha val="5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zh-CN" sz="2200" b="1">
                <a:solidFill>
                  <a:schemeClr val="bg1"/>
                </a:solidFill>
                <a:cs typeface="Arial" panose="020B0604020202020204" pitchFamily="34" charset="0"/>
              </a:rPr>
              <a:t>CORE 1</a:t>
            </a:r>
          </a:p>
        </p:txBody>
      </p:sp>
      <p:sp>
        <p:nvSpPr>
          <p:cNvPr id="49159" name="Rectangle 35">
            <a:extLst>
              <a:ext uri="{FF2B5EF4-FFF2-40B4-BE49-F238E27FC236}">
                <a16:creationId xmlns:a16="http://schemas.microsoft.com/office/drawing/2014/main" id="{19EE9E35-4E00-40FB-A015-287B9EC8F125}"/>
              </a:ext>
            </a:extLst>
          </p:cNvPr>
          <p:cNvSpPr>
            <a:spLocks noChangeArrowheads="1"/>
          </p:cNvSpPr>
          <p:nvPr/>
        </p:nvSpPr>
        <p:spPr bwMode="auto">
          <a:xfrm rot="5400000">
            <a:off x="2880519" y="2471911"/>
            <a:ext cx="1603375" cy="427037"/>
          </a:xfrm>
          <a:prstGeom prst="rect">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zh-CN" altLang="zh-CN" sz="1800"/>
          </a:p>
        </p:txBody>
      </p:sp>
      <p:sp>
        <p:nvSpPr>
          <p:cNvPr id="49160" name="TextBox 36">
            <a:extLst>
              <a:ext uri="{FF2B5EF4-FFF2-40B4-BE49-F238E27FC236}">
                <a16:creationId xmlns:a16="http://schemas.microsoft.com/office/drawing/2014/main" id="{856C6364-39C8-4F47-A85D-2B41BDDE9A1A}"/>
              </a:ext>
            </a:extLst>
          </p:cNvPr>
          <p:cNvSpPr txBox="1">
            <a:spLocks noChangeArrowheads="1"/>
          </p:cNvSpPr>
          <p:nvPr/>
        </p:nvSpPr>
        <p:spPr bwMode="auto">
          <a:xfrm rot="5400000">
            <a:off x="2920206" y="2511599"/>
            <a:ext cx="1531937" cy="368300"/>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zh-CN" sz="1800" b="1" dirty="0">
                <a:solidFill>
                  <a:schemeClr val="bg1"/>
                </a:solidFill>
                <a:cs typeface="Arial" panose="020B0604020202020204" pitchFamily="34" charset="0"/>
              </a:rPr>
              <a:t>L2 CACHE 0</a:t>
            </a:r>
          </a:p>
        </p:txBody>
      </p:sp>
      <p:sp>
        <p:nvSpPr>
          <p:cNvPr id="49161" name="Rectangle 37">
            <a:extLst>
              <a:ext uri="{FF2B5EF4-FFF2-40B4-BE49-F238E27FC236}">
                <a16:creationId xmlns:a16="http://schemas.microsoft.com/office/drawing/2014/main" id="{6400B902-AB4B-4FE1-B492-5C38FD8D0047}"/>
              </a:ext>
            </a:extLst>
          </p:cNvPr>
          <p:cNvSpPr>
            <a:spLocks noChangeArrowheads="1"/>
          </p:cNvSpPr>
          <p:nvPr/>
        </p:nvSpPr>
        <p:spPr bwMode="auto">
          <a:xfrm rot="5400000">
            <a:off x="-568325" y="3363292"/>
            <a:ext cx="4756150" cy="717550"/>
          </a:xfrm>
          <a:prstGeom prst="rect">
            <a:avLst/>
          </a:prstGeom>
          <a:noFill/>
          <a:ln w="508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zh-CN" altLang="zh-CN" sz="1800"/>
          </a:p>
        </p:txBody>
      </p:sp>
      <p:sp>
        <p:nvSpPr>
          <p:cNvPr id="49162" name="TextBox 38">
            <a:extLst>
              <a:ext uri="{FF2B5EF4-FFF2-40B4-BE49-F238E27FC236}">
                <a16:creationId xmlns:a16="http://schemas.microsoft.com/office/drawing/2014/main" id="{EE2091BD-3DFE-4573-8AA8-53FD2E661270}"/>
              </a:ext>
            </a:extLst>
          </p:cNvPr>
          <p:cNvSpPr txBox="1">
            <a:spLocks noChangeArrowheads="1"/>
          </p:cNvSpPr>
          <p:nvPr/>
        </p:nvSpPr>
        <p:spPr bwMode="auto">
          <a:xfrm rot="5400000">
            <a:off x="246063" y="3480767"/>
            <a:ext cx="3113087" cy="461963"/>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zh-CN" b="1">
                <a:solidFill>
                  <a:schemeClr val="bg1"/>
                </a:solidFill>
                <a:cs typeface="Arial" panose="020B0604020202020204" pitchFamily="34" charset="0"/>
              </a:rPr>
              <a:t>SHARED L3 CACHE</a:t>
            </a:r>
          </a:p>
        </p:txBody>
      </p:sp>
      <p:sp>
        <p:nvSpPr>
          <p:cNvPr id="49163" name="Rectangle 39">
            <a:extLst>
              <a:ext uri="{FF2B5EF4-FFF2-40B4-BE49-F238E27FC236}">
                <a16:creationId xmlns:a16="http://schemas.microsoft.com/office/drawing/2014/main" id="{002CC1F7-371A-4754-9B63-64F5CC710701}"/>
              </a:ext>
            </a:extLst>
          </p:cNvPr>
          <p:cNvSpPr>
            <a:spLocks noChangeArrowheads="1"/>
          </p:cNvSpPr>
          <p:nvPr/>
        </p:nvSpPr>
        <p:spPr bwMode="auto">
          <a:xfrm rot="5400000">
            <a:off x="3513138" y="3495054"/>
            <a:ext cx="4756150" cy="454025"/>
          </a:xfrm>
          <a:prstGeom prst="rect">
            <a:avLst/>
          </a:prstGeom>
          <a:noFill/>
          <a:ln w="508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zh-CN" altLang="zh-CN" sz="1800"/>
          </a:p>
        </p:txBody>
      </p:sp>
      <p:sp>
        <p:nvSpPr>
          <p:cNvPr id="49164" name="TextBox 40">
            <a:extLst>
              <a:ext uri="{FF2B5EF4-FFF2-40B4-BE49-F238E27FC236}">
                <a16:creationId xmlns:a16="http://schemas.microsoft.com/office/drawing/2014/main" id="{F02CDDD1-A27F-4CA9-BBDE-9BE8CECEC825}"/>
              </a:ext>
            </a:extLst>
          </p:cNvPr>
          <p:cNvSpPr txBox="1">
            <a:spLocks noChangeArrowheads="1"/>
          </p:cNvSpPr>
          <p:nvPr/>
        </p:nvSpPr>
        <p:spPr bwMode="auto">
          <a:xfrm rot="5400000">
            <a:off x="4415632" y="3483148"/>
            <a:ext cx="2940050" cy="461963"/>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zh-CN" b="1">
                <a:solidFill>
                  <a:schemeClr val="bg1"/>
                </a:solidFill>
                <a:cs typeface="Arial" panose="020B0604020202020204" pitchFamily="34" charset="0"/>
              </a:rPr>
              <a:t>DRAM INTERFACE</a:t>
            </a:r>
          </a:p>
        </p:txBody>
      </p:sp>
      <p:pic>
        <p:nvPicPr>
          <p:cNvPr id="49165" name="Picture 37" descr="samsung-dimm-better.jpg">
            <a:extLst>
              <a:ext uri="{FF2B5EF4-FFF2-40B4-BE49-F238E27FC236}">
                <a16:creationId xmlns:a16="http://schemas.microsoft.com/office/drawing/2014/main" id="{1B790B12-BCBC-4046-906E-E7054AB44E4F}"/>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30975" y="1155080"/>
            <a:ext cx="1312863" cy="519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6" name="Rounded Rectangle 42">
            <a:extLst>
              <a:ext uri="{FF2B5EF4-FFF2-40B4-BE49-F238E27FC236}">
                <a16:creationId xmlns:a16="http://schemas.microsoft.com/office/drawing/2014/main" id="{0BCDD3A6-6AC8-4E5A-9C81-42F3223491BE}"/>
              </a:ext>
            </a:extLst>
          </p:cNvPr>
          <p:cNvSpPr>
            <a:spLocks noChangeArrowheads="1"/>
          </p:cNvSpPr>
          <p:nvPr/>
        </p:nvSpPr>
        <p:spPr bwMode="auto">
          <a:xfrm rot="5400000">
            <a:off x="2004219" y="2071861"/>
            <a:ext cx="1601788" cy="1219200"/>
          </a:xfrm>
          <a:prstGeom prst="roundRect">
            <a:avLst>
              <a:gd name="adj" fmla="val 16667"/>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zh-CN" altLang="zh-CN" sz="1800"/>
          </a:p>
        </p:txBody>
      </p:sp>
      <p:sp>
        <p:nvSpPr>
          <p:cNvPr id="49167" name="TextBox 43">
            <a:extLst>
              <a:ext uri="{FF2B5EF4-FFF2-40B4-BE49-F238E27FC236}">
                <a16:creationId xmlns:a16="http://schemas.microsoft.com/office/drawing/2014/main" id="{4D5676C4-2C96-4EBB-8E16-D22152E0BBC3}"/>
              </a:ext>
            </a:extLst>
          </p:cNvPr>
          <p:cNvSpPr txBox="1">
            <a:spLocks noChangeArrowheads="1"/>
          </p:cNvSpPr>
          <p:nvPr/>
        </p:nvSpPr>
        <p:spPr bwMode="auto">
          <a:xfrm>
            <a:off x="2190750" y="2490167"/>
            <a:ext cx="1235075" cy="430213"/>
          </a:xfrm>
          <a:prstGeom prst="rect">
            <a:avLst/>
          </a:prstGeom>
          <a:solidFill>
            <a:srgbClr val="C0C0C0">
              <a:alpha val="5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zh-CN" sz="2200" b="1">
                <a:solidFill>
                  <a:schemeClr val="bg1"/>
                </a:solidFill>
                <a:cs typeface="Arial" panose="020B0604020202020204" pitchFamily="34" charset="0"/>
              </a:rPr>
              <a:t>CORE 0</a:t>
            </a:r>
          </a:p>
        </p:txBody>
      </p:sp>
      <p:sp>
        <p:nvSpPr>
          <p:cNvPr id="49168" name="Rounded Rectangle 44">
            <a:extLst>
              <a:ext uri="{FF2B5EF4-FFF2-40B4-BE49-F238E27FC236}">
                <a16:creationId xmlns:a16="http://schemas.microsoft.com/office/drawing/2014/main" id="{B0C2C9A1-3867-4159-90C2-AB541916C81C}"/>
              </a:ext>
            </a:extLst>
          </p:cNvPr>
          <p:cNvSpPr>
            <a:spLocks noChangeArrowheads="1"/>
          </p:cNvSpPr>
          <p:nvPr/>
        </p:nvSpPr>
        <p:spPr bwMode="auto">
          <a:xfrm rot="5400000">
            <a:off x="2014537" y="4258643"/>
            <a:ext cx="1603375" cy="1219200"/>
          </a:xfrm>
          <a:prstGeom prst="roundRect">
            <a:avLst>
              <a:gd name="adj" fmla="val 16667"/>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zh-CN" altLang="zh-CN" sz="1800"/>
          </a:p>
        </p:txBody>
      </p:sp>
      <p:sp>
        <p:nvSpPr>
          <p:cNvPr id="49169" name="TextBox 45">
            <a:extLst>
              <a:ext uri="{FF2B5EF4-FFF2-40B4-BE49-F238E27FC236}">
                <a16:creationId xmlns:a16="http://schemas.microsoft.com/office/drawing/2014/main" id="{A6915EB6-CFA1-43B2-8953-38E16D19845F}"/>
              </a:ext>
            </a:extLst>
          </p:cNvPr>
          <p:cNvSpPr txBox="1">
            <a:spLocks noChangeArrowheads="1"/>
          </p:cNvSpPr>
          <p:nvPr/>
        </p:nvSpPr>
        <p:spPr bwMode="auto">
          <a:xfrm>
            <a:off x="2201863" y="4676155"/>
            <a:ext cx="1235075" cy="430212"/>
          </a:xfrm>
          <a:prstGeom prst="rect">
            <a:avLst/>
          </a:prstGeom>
          <a:solidFill>
            <a:srgbClr val="C0C0C0">
              <a:alpha val="5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zh-CN" sz="2200" b="1">
                <a:solidFill>
                  <a:schemeClr val="bg1"/>
                </a:solidFill>
                <a:cs typeface="Arial" panose="020B0604020202020204" pitchFamily="34" charset="0"/>
              </a:rPr>
              <a:t>CORE 2</a:t>
            </a:r>
          </a:p>
        </p:txBody>
      </p:sp>
      <p:sp>
        <p:nvSpPr>
          <p:cNvPr id="49170" name="Rounded Rectangle 46">
            <a:extLst>
              <a:ext uri="{FF2B5EF4-FFF2-40B4-BE49-F238E27FC236}">
                <a16:creationId xmlns:a16="http://schemas.microsoft.com/office/drawing/2014/main" id="{6268993E-0D6C-4854-89C5-504B744C8D21}"/>
              </a:ext>
            </a:extLst>
          </p:cNvPr>
          <p:cNvSpPr>
            <a:spLocks noChangeArrowheads="1"/>
          </p:cNvSpPr>
          <p:nvPr/>
        </p:nvSpPr>
        <p:spPr bwMode="auto">
          <a:xfrm rot="5400000">
            <a:off x="4202112" y="4253880"/>
            <a:ext cx="1603375" cy="1219200"/>
          </a:xfrm>
          <a:prstGeom prst="roundRect">
            <a:avLst>
              <a:gd name="adj" fmla="val 16667"/>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zh-CN" altLang="zh-CN" sz="1800"/>
          </a:p>
        </p:txBody>
      </p:sp>
      <p:sp>
        <p:nvSpPr>
          <p:cNvPr id="49171" name="TextBox 47">
            <a:extLst>
              <a:ext uri="{FF2B5EF4-FFF2-40B4-BE49-F238E27FC236}">
                <a16:creationId xmlns:a16="http://schemas.microsoft.com/office/drawing/2014/main" id="{75471CE7-1972-4875-887A-410DB5F8CB46}"/>
              </a:ext>
            </a:extLst>
          </p:cNvPr>
          <p:cNvSpPr txBox="1">
            <a:spLocks noChangeArrowheads="1"/>
          </p:cNvSpPr>
          <p:nvPr/>
        </p:nvSpPr>
        <p:spPr bwMode="auto">
          <a:xfrm>
            <a:off x="4389438" y="4671392"/>
            <a:ext cx="1235075" cy="430213"/>
          </a:xfrm>
          <a:prstGeom prst="rect">
            <a:avLst/>
          </a:prstGeom>
          <a:solidFill>
            <a:srgbClr val="C0C0C0">
              <a:alpha val="54117"/>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zh-CN" sz="2200" b="1">
                <a:solidFill>
                  <a:schemeClr val="bg1"/>
                </a:solidFill>
                <a:cs typeface="Arial" panose="020B0604020202020204" pitchFamily="34" charset="0"/>
              </a:rPr>
              <a:t>CORE 3</a:t>
            </a:r>
          </a:p>
        </p:txBody>
      </p:sp>
      <p:sp>
        <p:nvSpPr>
          <p:cNvPr id="49172" name="Rectangle 48">
            <a:extLst>
              <a:ext uri="{FF2B5EF4-FFF2-40B4-BE49-F238E27FC236}">
                <a16:creationId xmlns:a16="http://schemas.microsoft.com/office/drawing/2014/main" id="{6C960C2F-CAAE-458B-9D45-9349299FA669}"/>
              </a:ext>
            </a:extLst>
          </p:cNvPr>
          <p:cNvSpPr>
            <a:spLocks noChangeArrowheads="1"/>
          </p:cNvSpPr>
          <p:nvPr/>
        </p:nvSpPr>
        <p:spPr bwMode="auto">
          <a:xfrm rot="5400000">
            <a:off x="3364707" y="2471911"/>
            <a:ext cx="1601787" cy="428625"/>
          </a:xfrm>
          <a:prstGeom prst="rect">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zh-CN" altLang="zh-CN" sz="1800"/>
          </a:p>
        </p:txBody>
      </p:sp>
      <p:sp>
        <p:nvSpPr>
          <p:cNvPr id="49173" name="TextBox 49">
            <a:extLst>
              <a:ext uri="{FF2B5EF4-FFF2-40B4-BE49-F238E27FC236}">
                <a16:creationId xmlns:a16="http://schemas.microsoft.com/office/drawing/2014/main" id="{12377E4D-36A7-4AE8-AAD6-C65E4CC704A4}"/>
              </a:ext>
            </a:extLst>
          </p:cNvPr>
          <p:cNvSpPr txBox="1">
            <a:spLocks noChangeArrowheads="1"/>
          </p:cNvSpPr>
          <p:nvPr/>
        </p:nvSpPr>
        <p:spPr bwMode="auto">
          <a:xfrm rot="5400000">
            <a:off x="3404394" y="2502073"/>
            <a:ext cx="1530350" cy="369888"/>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zh-CN" sz="1800" b="1">
                <a:solidFill>
                  <a:schemeClr val="bg1"/>
                </a:solidFill>
                <a:cs typeface="Arial" panose="020B0604020202020204" pitchFamily="34" charset="0"/>
              </a:rPr>
              <a:t>L2 CACHE 1</a:t>
            </a:r>
          </a:p>
        </p:txBody>
      </p:sp>
      <p:sp>
        <p:nvSpPr>
          <p:cNvPr id="49174" name="Rectangle 50">
            <a:extLst>
              <a:ext uri="{FF2B5EF4-FFF2-40B4-BE49-F238E27FC236}">
                <a16:creationId xmlns:a16="http://schemas.microsoft.com/office/drawing/2014/main" id="{4CD6FF5B-D134-4745-9660-35F0B532AA08}"/>
              </a:ext>
            </a:extLst>
          </p:cNvPr>
          <p:cNvSpPr>
            <a:spLocks noChangeArrowheads="1"/>
          </p:cNvSpPr>
          <p:nvPr/>
        </p:nvSpPr>
        <p:spPr bwMode="auto">
          <a:xfrm rot="5400000">
            <a:off x="2881313" y="4644405"/>
            <a:ext cx="1601787" cy="427037"/>
          </a:xfrm>
          <a:prstGeom prst="rect">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zh-CN" altLang="zh-CN" sz="1800"/>
          </a:p>
        </p:txBody>
      </p:sp>
      <p:sp>
        <p:nvSpPr>
          <p:cNvPr id="49175" name="TextBox 51">
            <a:extLst>
              <a:ext uri="{FF2B5EF4-FFF2-40B4-BE49-F238E27FC236}">
                <a16:creationId xmlns:a16="http://schemas.microsoft.com/office/drawing/2014/main" id="{8DCDEF8A-A431-419C-9680-CD98E17CA62C}"/>
              </a:ext>
            </a:extLst>
          </p:cNvPr>
          <p:cNvSpPr txBox="1">
            <a:spLocks noChangeArrowheads="1"/>
          </p:cNvSpPr>
          <p:nvPr/>
        </p:nvSpPr>
        <p:spPr bwMode="auto">
          <a:xfrm rot="5400000">
            <a:off x="2921000" y="4674567"/>
            <a:ext cx="1530350" cy="368300"/>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zh-CN" sz="1800" b="1">
                <a:solidFill>
                  <a:schemeClr val="bg1"/>
                </a:solidFill>
                <a:cs typeface="Arial" panose="020B0604020202020204" pitchFamily="34" charset="0"/>
              </a:rPr>
              <a:t>L2 CACHE 2</a:t>
            </a:r>
          </a:p>
        </p:txBody>
      </p:sp>
      <p:sp>
        <p:nvSpPr>
          <p:cNvPr id="49176" name="Rectangle 52">
            <a:extLst>
              <a:ext uri="{FF2B5EF4-FFF2-40B4-BE49-F238E27FC236}">
                <a16:creationId xmlns:a16="http://schemas.microsoft.com/office/drawing/2014/main" id="{09902E66-EB0A-4E51-8EC5-B78364048AB2}"/>
              </a:ext>
            </a:extLst>
          </p:cNvPr>
          <p:cNvSpPr>
            <a:spLocks noChangeArrowheads="1"/>
          </p:cNvSpPr>
          <p:nvPr/>
        </p:nvSpPr>
        <p:spPr bwMode="auto">
          <a:xfrm rot="5400000">
            <a:off x="3354388" y="4644405"/>
            <a:ext cx="1601787" cy="427037"/>
          </a:xfrm>
          <a:prstGeom prst="rect">
            <a:avLst/>
          </a:prstGeom>
          <a:noFill/>
          <a:ln w="444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zh-CN" altLang="zh-CN" sz="1800"/>
          </a:p>
        </p:txBody>
      </p:sp>
      <p:sp>
        <p:nvSpPr>
          <p:cNvPr id="49177" name="TextBox 53">
            <a:extLst>
              <a:ext uri="{FF2B5EF4-FFF2-40B4-BE49-F238E27FC236}">
                <a16:creationId xmlns:a16="http://schemas.microsoft.com/office/drawing/2014/main" id="{8BE6EF42-F81E-4D9A-9437-74F649532619}"/>
              </a:ext>
            </a:extLst>
          </p:cNvPr>
          <p:cNvSpPr txBox="1">
            <a:spLocks noChangeArrowheads="1"/>
          </p:cNvSpPr>
          <p:nvPr/>
        </p:nvSpPr>
        <p:spPr bwMode="auto">
          <a:xfrm rot="5400000">
            <a:off x="3394075" y="4674567"/>
            <a:ext cx="1530350" cy="368300"/>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zh-CN" sz="1800" b="1">
                <a:solidFill>
                  <a:schemeClr val="bg1"/>
                </a:solidFill>
                <a:cs typeface="Arial" panose="020B0604020202020204" pitchFamily="34" charset="0"/>
              </a:rPr>
              <a:t>L2 CACHE 3</a:t>
            </a:r>
          </a:p>
        </p:txBody>
      </p:sp>
      <p:sp>
        <p:nvSpPr>
          <p:cNvPr id="49178" name="Rectangle 54">
            <a:extLst>
              <a:ext uri="{FF2B5EF4-FFF2-40B4-BE49-F238E27FC236}">
                <a16:creationId xmlns:a16="http://schemas.microsoft.com/office/drawing/2014/main" id="{006C5A56-01F1-4E80-85D8-54BCFAC773AC}"/>
              </a:ext>
            </a:extLst>
          </p:cNvPr>
          <p:cNvSpPr>
            <a:spLocks noChangeArrowheads="1"/>
          </p:cNvSpPr>
          <p:nvPr/>
        </p:nvSpPr>
        <p:spPr bwMode="auto">
          <a:xfrm rot="5400000">
            <a:off x="4795837" y="3139455"/>
            <a:ext cx="354013" cy="1258888"/>
          </a:xfrm>
          <a:prstGeom prst="rect">
            <a:avLst/>
          </a:prstGeom>
          <a:noFill/>
          <a:ln w="381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zh-CN" altLang="zh-CN" sz="1800"/>
          </a:p>
        </p:txBody>
      </p:sp>
      <p:cxnSp>
        <p:nvCxnSpPr>
          <p:cNvPr id="49179" name="Straight Arrow Connector 48">
            <a:extLst>
              <a:ext uri="{FF2B5EF4-FFF2-40B4-BE49-F238E27FC236}">
                <a16:creationId xmlns:a16="http://schemas.microsoft.com/office/drawing/2014/main" id="{3BC1E9C6-B7E5-49D2-A818-12935F16BB08}"/>
              </a:ext>
            </a:extLst>
          </p:cNvPr>
          <p:cNvCxnSpPr>
            <a:cxnSpLocks noChangeShapeType="1"/>
          </p:cNvCxnSpPr>
          <p:nvPr/>
        </p:nvCxnSpPr>
        <p:spPr bwMode="auto">
          <a:xfrm>
            <a:off x="6215063" y="3591892"/>
            <a:ext cx="420687" cy="1588"/>
          </a:xfrm>
          <a:prstGeom prst="straightConnector1">
            <a:avLst/>
          </a:prstGeom>
          <a:noFill/>
          <a:ln w="381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sp>
        <p:nvSpPr>
          <p:cNvPr id="49180" name="Rectangle 56">
            <a:extLst>
              <a:ext uri="{FF2B5EF4-FFF2-40B4-BE49-F238E27FC236}">
                <a16:creationId xmlns:a16="http://schemas.microsoft.com/office/drawing/2014/main" id="{BBE94B6A-094B-49BB-B0F6-01F5F4A17E4E}"/>
              </a:ext>
            </a:extLst>
          </p:cNvPr>
          <p:cNvSpPr>
            <a:spLocks noChangeArrowheads="1"/>
          </p:cNvSpPr>
          <p:nvPr/>
        </p:nvSpPr>
        <p:spPr bwMode="auto">
          <a:xfrm rot="5400000">
            <a:off x="4894263" y="3388692"/>
            <a:ext cx="4756150" cy="666750"/>
          </a:xfrm>
          <a:prstGeom prst="rect">
            <a:avLst/>
          </a:prstGeom>
          <a:noFill/>
          <a:ln w="508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zh-CN" altLang="zh-CN" sz="1800"/>
          </a:p>
        </p:txBody>
      </p:sp>
      <p:sp>
        <p:nvSpPr>
          <p:cNvPr id="49181" name="TextBox 57">
            <a:extLst>
              <a:ext uri="{FF2B5EF4-FFF2-40B4-BE49-F238E27FC236}">
                <a16:creationId xmlns:a16="http://schemas.microsoft.com/office/drawing/2014/main" id="{FF72394E-CA3A-4427-BCA8-2E9C9FCA0C48}"/>
              </a:ext>
            </a:extLst>
          </p:cNvPr>
          <p:cNvSpPr txBox="1">
            <a:spLocks noChangeArrowheads="1"/>
          </p:cNvSpPr>
          <p:nvPr/>
        </p:nvSpPr>
        <p:spPr bwMode="auto">
          <a:xfrm rot="5400000">
            <a:off x="5968206" y="3538711"/>
            <a:ext cx="2640013" cy="523875"/>
          </a:xfrm>
          <a:prstGeom prst="rect">
            <a:avLst/>
          </a:prstGeom>
          <a:solidFill>
            <a:srgbClr val="C0C0C0">
              <a:alpha val="4901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r>
              <a:rPr lang="en-US" altLang="zh-CN" sz="2800" b="1">
                <a:solidFill>
                  <a:schemeClr val="bg1"/>
                </a:solidFill>
                <a:cs typeface="Arial" panose="020B0604020202020204" pitchFamily="34" charset="0"/>
              </a:rPr>
              <a:t>DRAM BANKS</a:t>
            </a:r>
          </a:p>
        </p:txBody>
      </p:sp>
      <p:sp>
        <p:nvSpPr>
          <p:cNvPr id="49182" name="Rectangle 58">
            <a:extLst>
              <a:ext uri="{FF2B5EF4-FFF2-40B4-BE49-F238E27FC236}">
                <a16:creationId xmlns:a16="http://schemas.microsoft.com/office/drawing/2014/main" id="{DF5AD4C9-0F42-4FDC-A432-9FD0BA4DF3E8}"/>
              </a:ext>
            </a:extLst>
          </p:cNvPr>
          <p:cNvSpPr>
            <a:spLocks noChangeArrowheads="1"/>
          </p:cNvSpPr>
          <p:nvPr/>
        </p:nvSpPr>
        <p:spPr bwMode="auto">
          <a:xfrm rot="5400000">
            <a:off x="6284912" y="3264868"/>
            <a:ext cx="320675" cy="654050"/>
          </a:xfrm>
          <a:prstGeom prst="rect">
            <a:avLst/>
          </a:prstGeom>
          <a:noFill/>
          <a:ln w="50800">
            <a:solidFill>
              <a:srgbClr val="00FF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zh-CN" altLang="zh-CN" sz="1800"/>
          </a:p>
        </p:txBody>
      </p:sp>
      <p:sp>
        <p:nvSpPr>
          <p:cNvPr id="61" name="TextBox 60">
            <a:extLst>
              <a:ext uri="{FF2B5EF4-FFF2-40B4-BE49-F238E27FC236}">
                <a16:creationId xmlns:a16="http://schemas.microsoft.com/office/drawing/2014/main" id="{B395A6E2-5649-4AB0-BEFB-2737274F4E06}"/>
              </a:ext>
            </a:extLst>
          </p:cNvPr>
          <p:cNvSpPr txBox="1"/>
          <p:nvPr/>
        </p:nvSpPr>
        <p:spPr>
          <a:xfrm>
            <a:off x="4310063" y="3547442"/>
            <a:ext cx="1417637" cy="365125"/>
          </a:xfrm>
          <a:prstGeom prst="rect">
            <a:avLst/>
          </a:prstGeom>
          <a:solidFill>
            <a:srgbClr val="C0C0C0">
              <a:alpha val="51000"/>
            </a:srgbClr>
          </a:solidFill>
        </p:spPr>
        <p:txBody>
          <a:bodyPr>
            <a:spAutoFit/>
          </a:bodyPr>
          <a:lstStyle/>
          <a:p>
            <a:pPr>
              <a:defRPr/>
            </a:pPr>
            <a:r>
              <a:rPr lang="en-US" sz="1250" b="1" dirty="0">
                <a:solidFill>
                  <a:schemeClr val="bg1"/>
                </a:solidFill>
                <a:latin typeface="Arial" charset="0"/>
                <a:ea typeface="+mn-ea"/>
              </a:rPr>
              <a:t>DRAM MEMORY CONTROLLER</a:t>
            </a:r>
          </a:p>
        </p:txBody>
      </p:sp>
      <p:sp>
        <p:nvSpPr>
          <p:cNvPr id="2" name="日期占位符 1">
            <a:extLst>
              <a:ext uri="{FF2B5EF4-FFF2-40B4-BE49-F238E27FC236}">
                <a16:creationId xmlns:a16="http://schemas.microsoft.com/office/drawing/2014/main" id="{7390E64F-4289-17B9-FE40-0F8F9367F37F}"/>
              </a:ext>
            </a:extLst>
          </p:cNvPr>
          <p:cNvSpPr>
            <a:spLocks noGrp="1"/>
          </p:cNvSpPr>
          <p:nvPr>
            <p:ph type="dt" sz="half" idx="10"/>
          </p:nvPr>
        </p:nvSpPr>
        <p:spPr/>
        <p:txBody>
          <a:bodyPr/>
          <a:lstStyle/>
          <a:p>
            <a:pPr>
              <a:defRPr/>
            </a:pPr>
            <a:fld id="{89F9F241-AC10-4326-B541-0874C1FEAD72}"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41636F25-235B-5726-2909-D04D0B157053}"/>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91EE0027-6908-74E2-A5EE-308585AD2C6E}"/>
              </a:ext>
            </a:extLst>
          </p:cNvPr>
          <p:cNvSpPr>
            <a:spLocks noGrp="1"/>
          </p:cNvSpPr>
          <p:nvPr>
            <p:ph type="sldNum" sz="quarter" idx="12"/>
          </p:nvPr>
        </p:nvSpPr>
        <p:spPr/>
        <p:txBody>
          <a:bodyPr/>
          <a:lstStyle/>
          <a:p>
            <a:pPr>
              <a:defRPr/>
            </a:pPr>
            <a:fld id="{8BCAC33D-D29A-48B3-BCD6-381D3D720D26}" type="slidenum">
              <a:rPr lang="zh-CN" altLang="en-US" smtClean="0"/>
              <a:t>16</a:t>
            </a:fld>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descr="Rectangle: Click to edit Master text styles&#10;Second level&#10;Third level&#10;Fourth level&#10;Fifth level">
            <a:extLst>
              <a:ext uri="{FF2B5EF4-FFF2-40B4-BE49-F238E27FC236}">
                <a16:creationId xmlns:a16="http://schemas.microsoft.com/office/drawing/2014/main" id="{BAF24D7E-35A7-427F-8F0D-ACA5A2DF9C47}"/>
              </a:ext>
            </a:extLst>
          </p:cNvPr>
          <p:cNvSpPr>
            <a:spLocks noGrp="1" noChangeArrowheads="1"/>
          </p:cNvSpPr>
          <p:nvPr>
            <p:ph type="body" sz="half" idx="1"/>
          </p:nvPr>
        </p:nvSpPr>
        <p:spPr>
          <a:xfrm>
            <a:off x="467544" y="1682467"/>
            <a:ext cx="7594054" cy="2138363"/>
          </a:xfrm>
        </p:spPr>
        <p:txBody>
          <a:bodyPr/>
          <a:lstStyle/>
          <a:p>
            <a:pPr marL="1085850" lvl="1" indent="-457200" eaLnBrk="1" hangingPunct="1">
              <a:buFont typeface="Wingdings" panose="05000000000000000000" pitchFamily="2" charset="2"/>
              <a:buNone/>
            </a:pPr>
            <a:r>
              <a:rPr lang="zh-CN" altLang="en-US" b="1" dirty="0">
                <a:latin typeface="Times New Roman" panose="02020603050405020304" pitchFamily="18" charset="0"/>
                <a:cs typeface="Times New Roman" panose="02020603050405020304" pitchFamily="18" charset="0"/>
              </a:rPr>
              <a:t>下面仅考虑由</a:t>
            </a:r>
            <a:r>
              <a:rPr lang="en-US" altLang="zh-CN" b="1" i="1" dirty="0">
                <a:latin typeface="Times New Roman" panose="02020603050405020304" pitchFamily="18" charset="0"/>
                <a:cs typeface="Times New Roman" panose="02020603050405020304" pitchFamily="18" charset="0"/>
              </a:rPr>
              <a:t>M</a:t>
            </a:r>
            <a:r>
              <a:rPr lang="en-US" altLang="zh-CN" b="1" i="1" baseline="-25000"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和</a:t>
            </a:r>
            <a:r>
              <a:rPr lang="en-US" altLang="zh-CN" b="1" i="1" dirty="0">
                <a:latin typeface="Times New Roman" panose="02020603050405020304" pitchFamily="18" charset="0"/>
                <a:cs typeface="Times New Roman" panose="02020603050405020304" pitchFamily="18" charset="0"/>
              </a:rPr>
              <a:t>M</a:t>
            </a:r>
            <a:r>
              <a:rPr lang="en-US" altLang="zh-CN" b="1" i="1" baseline="-25000"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构成的两级存储层次：</a:t>
            </a:r>
          </a:p>
          <a:p>
            <a:pPr lvl="2" eaLnBrk="1" hangingPunct="1"/>
            <a:r>
              <a:rPr lang="en-US" altLang="zh-CN" b="1" dirty="0">
                <a:latin typeface="Times New Roman" panose="02020603050405020304" pitchFamily="18" charset="0"/>
                <a:cs typeface="Times New Roman" panose="02020603050405020304" pitchFamily="18" charset="0"/>
              </a:rPr>
              <a:t> M</a:t>
            </a:r>
            <a:r>
              <a:rPr lang="en-US" altLang="zh-CN" b="1" baseline="-25000"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的参数：</a:t>
            </a:r>
            <a:r>
              <a:rPr lang="en-US" altLang="zh-CN" b="1" dirty="0">
                <a:solidFill>
                  <a:srgbClr val="D60093"/>
                </a:solidFill>
                <a:latin typeface="Times New Roman" panose="02020603050405020304" pitchFamily="18" charset="0"/>
                <a:cs typeface="Times New Roman" panose="02020603050405020304" pitchFamily="18" charset="0"/>
              </a:rPr>
              <a:t>S</a:t>
            </a:r>
            <a:r>
              <a:rPr lang="en-US" altLang="zh-CN" b="1" baseline="-25000" dirty="0">
                <a:solidFill>
                  <a:srgbClr val="D60093"/>
                </a:solidFill>
                <a:latin typeface="Times New Roman" panose="02020603050405020304" pitchFamily="18" charset="0"/>
                <a:cs typeface="Times New Roman" panose="02020603050405020304" pitchFamily="18" charset="0"/>
              </a:rPr>
              <a:t>1</a:t>
            </a:r>
            <a:r>
              <a:rPr lang="zh-CN" altLang="en-US" b="1" dirty="0">
                <a:solidFill>
                  <a:srgbClr val="D60093"/>
                </a:solidFill>
                <a:latin typeface="Times New Roman" panose="02020603050405020304" pitchFamily="18" charset="0"/>
                <a:cs typeface="Times New Roman" panose="02020603050405020304" pitchFamily="18" charset="0"/>
              </a:rPr>
              <a:t>，</a:t>
            </a:r>
            <a:r>
              <a:rPr lang="en-US" altLang="zh-CN" b="1" dirty="0">
                <a:solidFill>
                  <a:srgbClr val="D60093"/>
                </a:solidFill>
                <a:latin typeface="Times New Roman" panose="02020603050405020304" pitchFamily="18" charset="0"/>
                <a:cs typeface="Times New Roman" panose="02020603050405020304" pitchFamily="18" charset="0"/>
              </a:rPr>
              <a:t>T</a:t>
            </a:r>
            <a:r>
              <a:rPr lang="en-US" altLang="zh-CN" b="1" baseline="-25000" dirty="0">
                <a:solidFill>
                  <a:srgbClr val="D60093"/>
                </a:solidFill>
                <a:latin typeface="Times New Roman" panose="02020603050405020304" pitchFamily="18" charset="0"/>
                <a:cs typeface="Times New Roman" panose="02020603050405020304" pitchFamily="18" charset="0"/>
              </a:rPr>
              <a:t>1</a:t>
            </a:r>
            <a:r>
              <a:rPr lang="zh-CN" altLang="en-US" b="1" dirty="0">
                <a:solidFill>
                  <a:srgbClr val="D60093"/>
                </a:solidFill>
                <a:latin typeface="Times New Roman" panose="02020603050405020304" pitchFamily="18" charset="0"/>
                <a:cs typeface="Times New Roman" panose="02020603050405020304" pitchFamily="18" charset="0"/>
              </a:rPr>
              <a:t>，</a:t>
            </a:r>
            <a:r>
              <a:rPr lang="en-US" altLang="zh-CN" b="1" dirty="0">
                <a:solidFill>
                  <a:srgbClr val="D60093"/>
                </a:solidFill>
                <a:latin typeface="Times New Roman" panose="02020603050405020304" pitchFamily="18" charset="0"/>
                <a:cs typeface="Times New Roman" panose="02020603050405020304" pitchFamily="18" charset="0"/>
              </a:rPr>
              <a:t>C</a:t>
            </a:r>
            <a:r>
              <a:rPr lang="en-US" altLang="zh-CN" b="1" baseline="-25000" dirty="0">
                <a:solidFill>
                  <a:srgbClr val="D60093"/>
                </a:solidFill>
                <a:latin typeface="Times New Roman" panose="02020603050405020304" pitchFamily="18" charset="0"/>
                <a:cs typeface="Times New Roman" panose="02020603050405020304" pitchFamily="18" charset="0"/>
              </a:rPr>
              <a:t>1</a:t>
            </a:r>
          </a:p>
          <a:p>
            <a:pPr lvl="2" eaLnBrk="1" hangingPunct="1"/>
            <a:r>
              <a:rPr lang="en-US" altLang="zh-CN" b="1" dirty="0">
                <a:latin typeface="Times New Roman" panose="02020603050405020304" pitchFamily="18" charset="0"/>
                <a:cs typeface="Times New Roman" panose="02020603050405020304" pitchFamily="18" charset="0"/>
              </a:rPr>
              <a:t> M</a:t>
            </a:r>
            <a:r>
              <a:rPr lang="en-US" altLang="zh-CN" b="1" baseline="-25000"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的参数：</a:t>
            </a:r>
            <a:r>
              <a:rPr lang="en-US" altLang="zh-CN" b="1" dirty="0">
                <a:solidFill>
                  <a:srgbClr val="D60093"/>
                </a:solidFill>
                <a:latin typeface="Times New Roman" panose="02020603050405020304" pitchFamily="18" charset="0"/>
                <a:cs typeface="Times New Roman" panose="02020603050405020304" pitchFamily="18" charset="0"/>
              </a:rPr>
              <a:t>S</a:t>
            </a:r>
            <a:r>
              <a:rPr lang="en-US" altLang="zh-CN" b="1" baseline="-25000" dirty="0">
                <a:solidFill>
                  <a:srgbClr val="D60093"/>
                </a:solidFill>
                <a:latin typeface="Times New Roman" panose="02020603050405020304" pitchFamily="18" charset="0"/>
                <a:cs typeface="Times New Roman" panose="02020603050405020304" pitchFamily="18" charset="0"/>
              </a:rPr>
              <a:t>2</a:t>
            </a:r>
            <a:r>
              <a:rPr lang="zh-CN" altLang="en-US" b="1" dirty="0">
                <a:solidFill>
                  <a:srgbClr val="D60093"/>
                </a:solidFill>
                <a:latin typeface="Times New Roman" panose="02020603050405020304" pitchFamily="18" charset="0"/>
                <a:cs typeface="Times New Roman" panose="02020603050405020304" pitchFamily="18" charset="0"/>
              </a:rPr>
              <a:t>，</a:t>
            </a:r>
            <a:r>
              <a:rPr lang="en-US" altLang="zh-CN" b="1" dirty="0">
                <a:solidFill>
                  <a:srgbClr val="D60093"/>
                </a:solidFill>
                <a:latin typeface="Times New Roman" panose="02020603050405020304" pitchFamily="18" charset="0"/>
                <a:cs typeface="Times New Roman" panose="02020603050405020304" pitchFamily="18" charset="0"/>
              </a:rPr>
              <a:t>T</a:t>
            </a:r>
            <a:r>
              <a:rPr lang="en-US" altLang="zh-CN" b="1" baseline="-25000" dirty="0">
                <a:solidFill>
                  <a:srgbClr val="D60093"/>
                </a:solidFill>
                <a:latin typeface="Times New Roman" panose="02020603050405020304" pitchFamily="18" charset="0"/>
                <a:cs typeface="Times New Roman" panose="02020603050405020304" pitchFamily="18" charset="0"/>
              </a:rPr>
              <a:t>2</a:t>
            </a:r>
            <a:r>
              <a:rPr lang="zh-CN" altLang="en-US" b="1" dirty="0">
                <a:solidFill>
                  <a:srgbClr val="D60093"/>
                </a:solidFill>
                <a:latin typeface="Times New Roman" panose="02020603050405020304" pitchFamily="18" charset="0"/>
                <a:cs typeface="Times New Roman" panose="02020603050405020304" pitchFamily="18" charset="0"/>
              </a:rPr>
              <a:t>，</a:t>
            </a:r>
            <a:r>
              <a:rPr lang="en-US" altLang="zh-CN" b="1" dirty="0">
                <a:solidFill>
                  <a:srgbClr val="D60093"/>
                </a:solidFill>
                <a:latin typeface="Times New Roman" panose="02020603050405020304" pitchFamily="18" charset="0"/>
                <a:cs typeface="Times New Roman" panose="02020603050405020304" pitchFamily="18" charset="0"/>
              </a:rPr>
              <a:t>C</a:t>
            </a:r>
            <a:r>
              <a:rPr lang="en-US" altLang="zh-CN" b="1" baseline="-25000" dirty="0">
                <a:solidFill>
                  <a:srgbClr val="D60093"/>
                </a:solidFill>
                <a:latin typeface="Times New Roman" panose="02020603050405020304" pitchFamily="18" charset="0"/>
                <a:cs typeface="Times New Roman" panose="02020603050405020304" pitchFamily="18" charset="0"/>
              </a:rPr>
              <a:t>2</a:t>
            </a:r>
          </a:p>
        </p:txBody>
      </p:sp>
      <p:graphicFrame>
        <p:nvGraphicFramePr>
          <p:cNvPr id="16388" name="Object 2">
            <a:extLst>
              <a:ext uri="{FF2B5EF4-FFF2-40B4-BE49-F238E27FC236}">
                <a16:creationId xmlns:a16="http://schemas.microsoft.com/office/drawing/2014/main" id="{058E486E-C089-4389-93C5-C9AB6343C57A}"/>
              </a:ext>
            </a:extLst>
          </p:cNvPr>
          <p:cNvGraphicFramePr>
            <a:graphicFrameLocks noGrp="1" noChangeAspect="1"/>
          </p:cNvGraphicFramePr>
          <p:nvPr>
            <p:ph sz="half" idx="2"/>
            <p:extLst>
              <p:ext uri="{D42A27DB-BD31-4B8C-83A1-F6EECF244321}">
                <p14:modId xmlns:p14="http://schemas.microsoft.com/office/powerpoint/2010/main" val="3293289084"/>
              </p:ext>
            </p:extLst>
          </p:nvPr>
        </p:nvGraphicFramePr>
        <p:xfrm>
          <a:off x="1835696" y="3234692"/>
          <a:ext cx="3960440" cy="1172276"/>
        </p:xfrm>
        <a:graphic>
          <a:graphicData uri="http://schemas.openxmlformats.org/presentationml/2006/ole">
            <mc:AlternateContent xmlns:mc="http://schemas.openxmlformats.org/markup-compatibility/2006">
              <mc:Choice xmlns:v="urn:schemas-microsoft-com:vml" Requires="v">
                <p:oleObj name="图片" r:id="rId2" imgW="1609344" imgH="478536" progId="Word.Picture.8">
                  <p:embed/>
                </p:oleObj>
              </mc:Choice>
              <mc:Fallback>
                <p:oleObj name="图片" r:id="rId2" imgW="1609344" imgH="478536" progId="Word.Picture.8">
                  <p:embed/>
                  <p:pic>
                    <p:nvPicPr>
                      <p:cNvPr id="16388" name="Object 2">
                        <a:extLst>
                          <a:ext uri="{FF2B5EF4-FFF2-40B4-BE49-F238E27FC236}">
                            <a16:creationId xmlns:a16="http://schemas.microsoft.com/office/drawing/2014/main" id="{058E486E-C089-4389-93C5-C9AB6343C5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3234692"/>
                        <a:ext cx="3960440" cy="1172276"/>
                      </a:xfrm>
                      <a:prstGeom prst="rect">
                        <a:avLst/>
                      </a:prstGeom>
                      <a:noFill/>
                      <a:ln>
                        <a:noFill/>
                      </a:ln>
                      <a:effectLst/>
                    </p:spPr>
                  </p:pic>
                </p:oleObj>
              </mc:Fallback>
            </mc:AlternateContent>
          </a:graphicData>
        </a:graphic>
      </p:graphicFrame>
      <p:sp>
        <p:nvSpPr>
          <p:cNvPr id="8" name="Rectangle 9">
            <a:extLst>
              <a:ext uri="{FF2B5EF4-FFF2-40B4-BE49-F238E27FC236}">
                <a16:creationId xmlns:a16="http://schemas.microsoft.com/office/drawing/2014/main" id="{4BDF9DF4-C559-4006-8533-C8B7ADCE31F7}"/>
              </a:ext>
            </a:extLst>
          </p:cNvPr>
          <p:cNvSpPr>
            <a:spLocks noChangeArrowheads="1"/>
          </p:cNvSpPr>
          <p:nvPr/>
        </p:nvSpPr>
        <p:spPr bwMode="auto">
          <a:xfrm>
            <a:off x="1043608" y="692696"/>
            <a:ext cx="7165975" cy="676275"/>
          </a:xfrm>
          <a:prstGeom prst="rect">
            <a:avLst/>
          </a:prstGeom>
          <a:noFill/>
          <a:ln>
            <a:noFill/>
          </a:ln>
          <a:effectLst/>
        </p:spPr>
        <p:txBody>
          <a:bodyPr anchor="b"/>
          <a:lstStyle/>
          <a:p>
            <a:pPr algn="ctr" eaLnBrk="0" hangingPunct="0">
              <a:defRPr/>
            </a:pPr>
            <a:r>
              <a:rPr lang="en-US" altLang="zh-CN" sz="3600" dirty="0">
                <a:latin typeface="Times New Roman" panose="02020603050405020304" pitchFamily="18" charset="0"/>
                <a:ea typeface="+mj-ea"/>
                <a:cs typeface="Times New Roman" panose="02020603050405020304" pitchFamily="18" charset="0"/>
              </a:rPr>
              <a:t>5.1.2 </a:t>
            </a:r>
            <a:r>
              <a:rPr lang="en-US" altLang="zh-CN" sz="3600" dirty="0">
                <a:latin typeface="+mj-lt"/>
                <a:ea typeface="+mj-ea"/>
                <a:cs typeface="+mj-cs"/>
              </a:rPr>
              <a:t>   </a:t>
            </a:r>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存储层次的性能参数</a:t>
            </a:r>
          </a:p>
        </p:txBody>
      </p:sp>
      <p:sp>
        <p:nvSpPr>
          <p:cNvPr id="2" name="矩形 1">
            <a:extLst>
              <a:ext uri="{FF2B5EF4-FFF2-40B4-BE49-F238E27FC236}">
                <a16:creationId xmlns:a16="http://schemas.microsoft.com/office/drawing/2014/main" id="{32346E52-1495-4A38-B7D8-07BA5FDA1B93}"/>
              </a:ext>
            </a:extLst>
          </p:cNvPr>
          <p:cNvSpPr/>
          <p:nvPr/>
        </p:nvSpPr>
        <p:spPr>
          <a:xfrm>
            <a:off x="1619672" y="4713868"/>
            <a:ext cx="2954655" cy="1200329"/>
          </a:xfrm>
          <a:prstGeom prst="rect">
            <a:avLst/>
          </a:prstGeom>
        </p:spPr>
        <p:txBody>
          <a:bodyPr wrap="none">
            <a:spAutoFit/>
          </a:bodyPr>
          <a:lstStyle/>
          <a:p>
            <a:r>
              <a:rPr lang="zh-CN" altLang="en-US" sz="2400" dirty="0">
                <a:latin typeface="Times New Roman" panose="02020603050405020304" pitchFamily="18" charset="0"/>
                <a:cs typeface="Times New Roman" panose="02020603050405020304" pitchFamily="18" charset="0"/>
              </a:rPr>
              <a:t>其中，</a:t>
            </a:r>
            <a:r>
              <a:rPr lang="en-US" altLang="zh-CN" sz="2400" dirty="0">
                <a:latin typeface="Times New Roman" panose="02020603050405020304" pitchFamily="18" charset="0"/>
                <a:cs typeface="Times New Roman" panose="02020603050405020304" pitchFamily="18" charset="0"/>
              </a:rPr>
              <a:t>S</a:t>
            </a:r>
            <a:r>
              <a:rPr lang="zh-CN" altLang="en-US" sz="2400" dirty="0">
                <a:latin typeface="Times New Roman" panose="02020603050405020304" pitchFamily="18" charset="0"/>
                <a:cs typeface="Times New Roman" panose="02020603050405020304" pitchFamily="18" charset="0"/>
              </a:rPr>
              <a:t>： 存储容量</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T</a:t>
            </a:r>
            <a:r>
              <a:rPr lang="zh-CN" altLang="en-US" sz="2400" dirty="0">
                <a:latin typeface="Times New Roman" panose="02020603050405020304" pitchFamily="18" charset="0"/>
                <a:cs typeface="Times New Roman" panose="02020603050405020304" pitchFamily="18" charset="0"/>
              </a:rPr>
              <a:t>： 访问时间</a:t>
            </a:r>
            <a:endParaRPr lang="en-US" altLang="zh-CN" sz="2400" dirty="0">
              <a:latin typeface="Times New Roman" panose="02020603050405020304" pitchFamily="18" charset="0"/>
              <a:cs typeface="Times New Roman" panose="02020603050405020304" pitchFamily="18" charset="0"/>
            </a:endParaRPr>
          </a:p>
          <a:p>
            <a:r>
              <a:rPr lang="en-US" altLang="zh-CN" sz="2400" dirty="0">
                <a:latin typeface="Times New Roman" panose="02020603050405020304" pitchFamily="18" charset="0"/>
                <a:cs typeface="Times New Roman" panose="02020603050405020304" pitchFamily="18" charset="0"/>
              </a:rPr>
              <a:t>            C</a:t>
            </a:r>
            <a:r>
              <a:rPr lang="zh-CN" altLang="en-US" sz="2400" dirty="0">
                <a:latin typeface="Times New Roman" panose="02020603050405020304" pitchFamily="18" charset="0"/>
                <a:cs typeface="Times New Roman" panose="02020603050405020304" pitchFamily="18" charset="0"/>
              </a:rPr>
              <a:t>： 每位价格</a:t>
            </a:r>
            <a:endParaRPr lang="zh-CN" altLang="en-US" sz="2400" dirty="0"/>
          </a:p>
        </p:txBody>
      </p:sp>
      <p:sp>
        <p:nvSpPr>
          <p:cNvPr id="3" name="日期占位符 2">
            <a:extLst>
              <a:ext uri="{FF2B5EF4-FFF2-40B4-BE49-F238E27FC236}">
                <a16:creationId xmlns:a16="http://schemas.microsoft.com/office/drawing/2014/main" id="{C5CCB379-7F0C-1FDA-A7E5-F2EA6B73B029}"/>
              </a:ext>
            </a:extLst>
          </p:cNvPr>
          <p:cNvSpPr>
            <a:spLocks noGrp="1"/>
          </p:cNvSpPr>
          <p:nvPr>
            <p:ph type="dt" sz="half" idx="10"/>
          </p:nvPr>
        </p:nvSpPr>
        <p:spPr/>
        <p:txBody>
          <a:bodyPr/>
          <a:lstStyle/>
          <a:p>
            <a:pPr>
              <a:defRPr/>
            </a:pPr>
            <a:fld id="{88739CA7-0A40-409C-B1DE-ED0D6DA48D7E}"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AA2D6EA8-DB89-B199-5977-4718AC3196B6}"/>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553C73DF-4027-656E-034B-FEFE6B58D377}"/>
              </a:ext>
            </a:extLst>
          </p:cNvPr>
          <p:cNvSpPr>
            <a:spLocks noGrp="1"/>
          </p:cNvSpPr>
          <p:nvPr>
            <p:ph type="sldNum" sz="quarter" idx="12"/>
          </p:nvPr>
        </p:nvSpPr>
        <p:spPr/>
        <p:txBody>
          <a:bodyPr/>
          <a:lstStyle/>
          <a:p>
            <a:pPr>
              <a:defRPr/>
            </a:pPr>
            <a:fld id="{396D679E-57F5-4175-9854-A039894B7CE4}" type="slidenum">
              <a:rPr lang="en-US" altLang="zh-CN" smtClean="0"/>
              <a:pPr>
                <a:defRPr/>
              </a:pPr>
              <a:t>17</a:t>
            </a:fld>
            <a:endParaRPr lang="en-US" altLang="zh-CN"/>
          </a:p>
        </p:txBody>
      </p:sp>
    </p:spTree>
  </p:cSld>
  <p:clrMapOvr>
    <a:masterClrMapping/>
  </p:clrMapOvr>
  <p:transition>
    <p:pull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descr="Rectangle: Click to edit Master text styles&#10;Second level&#10;Third level&#10;Fourth level&#10;Fifth level">
            <a:extLst>
              <a:ext uri="{FF2B5EF4-FFF2-40B4-BE49-F238E27FC236}">
                <a16:creationId xmlns:a16="http://schemas.microsoft.com/office/drawing/2014/main" id="{18C5CA2B-30A2-4901-96D2-C380927EF19E}"/>
              </a:ext>
            </a:extLst>
          </p:cNvPr>
          <p:cNvSpPr>
            <a:spLocks noGrp="1" noChangeArrowheads="1"/>
          </p:cNvSpPr>
          <p:nvPr>
            <p:ph type="body" idx="1"/>
          </p:nvPr>
        </p:nvSpPr>
        <p:spPr>
          <a:xfrm>
            <a:off x="685800" y="1571625"/>
            <a:ext cx="7772400" cy="4378325"/>
          </a:xfrm>
        </p:spPr>
        <p:txBody>
          <a:bodyPr/>
          <a:lstStyle/>
          <a:p>
            <a:pPr marL="0" indent="0" eaLnBrk="1" hangingPunct="1">
              <a:buNone/>
            </a:pPr>
            <a:r>
              <a:rPr lang="en-US" altLang="zh-CN" sz="2800" b="1" dirty="0">
                <a:latin typeface="Times New Roman" panose="02020603050405020304" pitchFamily="18" charset="0"/>
                <a:cs typeface="Times New Roman" panose="02020603050405020304" pitchFamily="18" charset="0"/>
              </a:rPr>
              <a:t>1. </a:t>
            </a:r>
            <a:r>
              <a:rPr lang="zh-CN" altLang="en-US" sz="2800" b="1" dirty="0">
                <a:latin typeface="Times New Roman" panose="02020603050405020304" pitchFamily="18" charset="0"/>
                <a:cs typeface="Times New Roman" panose="02020603050405020304" pitchFamily="18" charset="0"/>
              </a:rPr>
              <a:t>存储容量 </a:t>
            </a:r>
            <a:r>
              <a:rPr lang="en-US" altLang="zh-CN" sz="2800" b="1" i="1" dirty="0">
                <a:latin typeface="Times New Roman" panose="02020603050405020304" pitchFamily="18" charset="0"/>
                <a:cs typeface="Times New Roman" panose="02020603050405020304" pitchFamily="18" charset="0"/>
              </a:rPr>
              <a:t>S</a:t>
            </a:r>
          </a:p>
          <a:p>
            <a:pPr marL="1085850" lvl="1" indent="-457200" eaLnBrk="1" hangingPunct="1"/>
            <a:r>
              <a:rPr lang="zh-CN" altLang="en-US" b="1" dirty="0">
                <a:latin typeface="Times New Roman" panose="02020603050405020304" pitchFamily="18" charset="0"/>
                <a:cs typeface="Times New Roman" panose="02020603050405020304" pitchFamily="18" charset="0"/>
              </a:rPr>
              <a:t>一般来说，整个存储系统的容量即是第二级存储器</a:t>
            </a:r>
            <a:r>
              <a:rPr lang="en-US" altLang="zh-CN" b="1" i="1" dirty="0">
                <a:latin typeface="Times New Roman" panose="02020603050405020304" pitchFamily="18" charset="0"/>
                <a:cs typeface="Times New Roman" panose="02020603050405020304" pitchFamily="18" charset="0"/>
              </a:rPr>
              <a:t>M</a:t>
            </a:r>
            <a:r>
              <a:rPr lang="en-US" altLang="zh-CN" b="1" i="1" baseline="-25000"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的容量，即</a:t>
            </a:r>
            <a:r>
              <a:rPr lang="en-US" altLang="zh-CN" b="1" i="1" dirty="0">
                <a:solidFill>
                  <a:srgbClr val="9933FF"/>
                </a:solidFill>
                <a:latin typeface="Times New Roman" panose="02020603050405020304" pitchFamily="18" charset="0"/>
                <a:cs typeface="Times New Roman" panose="02020603050405020304" pitchFamily="18" charset="0"/>
              </a:rPr>
              <a:t>S=S</a:t>
            </a:r>
            <a:r>
              <a:rPr lang="en-US" altLang="zh-CN" b="1" i="1" baseline="-25000" dirty="0">
                <a:solidFill>
                  <a:srgbClr val="9933FF"/>
                </a:solidFill>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pPr marL="628650" lvl="1" indent="0" eaLnBrk="1" hangingPunct="1">
              <a:buNone/>
            </a:pPr>
            <a:endParaRPr lang="zh-CN" altLang="en-US" b="1" dirty="0">
              <a:latin typeface="Times New Roman" panose="02020603050405020304" pitchFamily="18" charset="0"/>
              <a:cs typeface="Times New Roman" panose="02020603050405020304" pitchFamily="18" charset="0"/>
            </a:endParaRPr>
          </a:p>
          <a:p>
            <a:pPr marL="0" indent="0" eaLnBrk="1" hangingPunct="1">
              <a:buNone/>
            </a:pPr>
            <a:r>
              <a:rPr lang="en-US" altLang="zh-CN" sz="2800" b="1" dirty="0">
                <a:latin typeface="Times New Roman" panose="02020603050405020304" pitchFamily="18" charset="0"/>
                <a:cs typeface="Times New Roman" panose="02020603050405020304" pitchFamily="18" charset="0"/>
              </a:rPr>
              <a:t>2. </a:t>
            </a:r>
            <a:r>
              <a:rPr lang="zh-CN" altLang="en-US" sz="2800" b="1" dirty="0">
                <a:latin typeface="Times New Roman" panose="02020603050405020304" pitchFamily="18" charset="0"/>
                <a:cs typeface="Times New Roman" panose="02020603050405020304" pitchFamily="18" charset="0"/>
              </a:rPr>
              <a:t>每位价格 </a:t>
            </a:r>
            <a:r>
              <a:rPr lang="en-US" altLang="zh-CN" sz="2800" b="1" i="1" dirty="0">
                <a:latin typeface="Times New Roman" panose="02020603050405020304" pitchFamily="18" charset="0"/>
                <a:cs typeface="Times New Roman" panose="02020603050405020304" pitchFamily="18" charset="0"/>
              </a:rPr>
              <a:t>C</a:t>
            </a:r>
          </a:p>
          <a:p>
            <a:pPr marL="457200" indent="-457200" eaLnBrk="1" hangingPunct="1"/>
            <a:endParaRPr lang="en-US" altLang="zh-CN" dirty="0">
              <a:solidFill>
                <a:schemeClr val="bg1"/>
              </a:solidFill>
              <a:latin typeface="Times New Roman" panose="02020603050405020304" pitchFamily="18" charset="0"/>
              <a:cs typeface="Times New Roman" panose="02020603050405020304" pitchFamily="18" charset="0"/>
            </a:endParaRPr>
          </a:p>
          <a:p>
            <a:pPr marL="0" indent="0" eaLnBrk="1" hangingPunct="1">
              <a:buNone/>
            </a:pPr>
            <a:endParaRPr lang="en-US" altLang="zh-CN" dirty="0">
              <a:solidFill>
                <a:schemeClr val="bg1"/>
              </a:solidFill>
              <a:latin typeface="Times New Roman" panose="02020603050405020304" pitchFamily="18" charset="0"/>
              <a:cs typeface="Times New Roman" panose="02020603050405020304" pitchFamily="18" charset="0"/>
            </a:endParaRPr>
          </a:p>
          <a:p>
            <a:pPr lvl="2" eaLnBrk="1" hangingPunct="1">
              <a:buFont typeface="Wingdings" panose="05000000000000000000" pitchFamily="2" charset="2"/>
              <a:buNone/>
            </a:pPr>
            <a:r>
              <a:rPr lang="zh-CN" altLang="en-US" dirty="0">
                <a:latin typeface="Times New Roman" panose="02020603050405020304" pitchFamily="18" charset="0"/>
                <a:cs typeface="Times New Roman" panose="02020603050405020304" pitchFamily="18" charset="0"/>
              </a:rPr>
              <a:t>当</a:t>
            </a:r>
            <a:r>
              <a:rPr lang="en-US" altLang="zh-CN" i="1" dirty="0">
                <a:latin typeface="Times New Roman" panose="02020603050405020304" pitchFamily="18" charset="0"/>
                <a:cs typeface="Times New Roman" panose="02020603050405020304" pitchFamily="18" charset="0"/>
              </a:rPr>
              <a:t>S</a:t>
            </a:r>
            <a:r>
              <a:rPr lang="en-US" altLang="zh-CN" baseline="-25000" dirty="0">
                <a:latin typeface="Times New Roman" panose="02020603050405020304" pitchFamily="18" charset="0"/>
                <a:cs typeface="Times New Roman" panose="02020603050405020304" pitchFamily="18" charset="0"/>
              </a:rPr>
              <a:t>1</a:t>
            </a:r>
            <a:r>
              <a:rPr lang="en-US" altLang="zh-CN" dirty="0">
                <a:latin typeface="Times New Roman" panose="02020603050405020304" pitchFamily="18" charset="0"/>
                <a:cs typeface="Times New Roman" panose="02020603050405020304" pitchFamily="18" charset="0"/>
              </a:rPr>
              <a:t>&lt;&lt;</a:t>
            </a:r>
            <a:r>
              <a:rPr lang="en-US" altLang="zh-CN" i="1" dirty="0">
                <a:latin typeface="Times New Roman" panose="02020603050405020304" pitchFamily="18" charset="0"/>
                <a:cs typeface="Times New Roman" panose="02020603050405020304" pitchFamily="18" charset="0"/>
              </a:rPr>
              <a:t>S</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时，</a:t>
            </a:r>
            <a:r>
              <a:rPr lang="en-US" altLang="zh-CN" i="1" dirty="0">
                <a:latin typeface="Times New Roman" panose="02020603050405020304" pitchFamily="18" charset="0"/>
                <a:cs typeface="Times New Roman" panose="02020603050405020304" pitchFamily="18" charset="0"/>
              </a:rPr>
              <a:t>C</a:t>
            </a:r>
            <a:r>
              <a:rPr lang="en-US" altLang="zh-CN"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C</a:t>
            </a:r>
            <a:r>
              <a:rPr lang="en-US" altLang="zh-CN" baseline="-25000"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 </a:t>
            </a:r>
          </a:p>
        </p:txBody>
      </p:sp>
      <p:pic>
        <p:nvPicPr>
          <p:cNvPr id="17411" name="Picture 5">
            <a:extLst>
              <a:ext uri="{FF2B5EF4-FFF2-40B4-BE49-F238E27FC236}">
                <a16:creationId xmlns:a16="http://schemas.microsoft.com/office/drawing/2014/main" id="{EF3CF847-2A9D-48BE-AC64-3CBA344B14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5856" y="4149080"/>
            <a:ext cx="2232025" cy="8937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7" name="Rectangle 9">
            <a:extLst>
              <a:ext uri="{FF2B5EF4-FFF2-40B4-BE49-F238E27FC236}">
                <a16:creationId xmlns:a16="http://schemas.microsoft.com/office/drawing/2014/main" id="{10A65B43-F296-4F31-AA77-35465AF0E2D5}"/>
              </a:ext>
            </a:extLst>
          </p:cNvPr>
          <p:cNvSpPr>
            <a:spLocks noChangeArrowheads="1"/>
          </p:cNvSpPr>
          <p:nvPr/>
        </p:nvSpPr>
        <p:spPr bwMode="auto">
          <a:xfrm>
            <a:off x="989012" y="404664"/>
            <a:ext cx="7165975" cy="676275"/>
          </a:xfrm>
          <a:prstGeom prst="rect">
            <a:avLst/>
          </a:prstGeom>
          <a:noFill/>
          <a:ln>
            <a:noFill/>
          </a:ln>
          <a:effectLst/>
        </p:spPr>
        <p:txBody>
          <a:bodyPr anchor="b"/>
          <a:lstStyle/>
          <a:p>
            <a:pPr algn="ctr" eaLnBrk="0" hangingPunct="0">
              <a:defRPr/>
            </a:pPr>
            <a:r>
              <a:rPr lang="en-US" altLang="zh-CN" sz="3600" dirty="0">
                <a:latin typeface="Times New Roman" panose="02020603050405020304" pitchFamily="18" charset="0"/>
                <a:ea typeface="+mj-ea"/>
                <a:cs typeface="Times New Roman" panose="02020603050405020304" pitchFamily="18" charset="0"/>
              </a:rPr>
              <a:t>5.1.2</a:t>
            </a:r>
            <a:r>
              <a:rPr lang="en-US" altLang="zh-CN" sz="3600" dirty="0">
                <a:latin typeface="+mj-lt"/>
                <a:ea typeface="+mj-ea"/>
                <a:cs typeface="+mj-cs"/>
              </a:rPr>
              <a:t>    </a:t>
            </a:r>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存储层次的性能参数</a:t>
            </a:r>
          </a:p>
        </p:txBody>
      </p:sp>
      <p:sp>
        <p:nvSpPr>
          <p:cNvPr id="2" name="日期占位符 1">
            <a:extLst>
              <a:ext uri="{FF2B5EF4-FFF2-40B4-BE49-F238E27FC236}">
                <a16:creationId xmlns:a16="http://schemas.microsoft.com/office/drawing/2014/main" id="{4E5F3942-36BC-6F87-C36C-D4D3225A9378}"/>
              </a:ext>
            </a:extLst>
          </p:cNvPr>
          <p:cNvSpPr>
            <a:spLocks noGrp="1"/>
          </p:cNvSpPr>
          <p:nvPr>
            <p:ph type="dt" sz="half" idx="10"/>
          </p:nvPr>
        </p:nvSpPr>
        <p:spPr/>
        <p:txBody>
          <a:bodyPr/>
          <a:lstStyle/>
          <a:p>
            <a:pPr>
              <a:defRPr/>
            </a:pPr>
            <a:fld id="{1FAE8FB8-C32B-4C29-BCB3-BEDC50D72BD4}"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F24FD769-6C68-7F9A-4742-CF55E83C8987}"/>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7D974C3B-45F9-BBA9-22B3-B376EFCB8F16}"/>
              </a:ext>
            </a:extLst>
          </p:cNvPr>
          <p:cNvSpPr>
            <a:spLocks noGrp="1"/>
          </p:cNvSpPr>
          <p:nvPr>
            <p:ph type="sldNum" sz="quarter" idx="12"/>
          </p:nvPr>
        </p:nvSpPr>
        <p:spPr/>
        <p:txBody>
          <a:bodyPr/>
          <a:lstStyle/>
          <a:p>
            <a:pPr>
              <a:defRPr/>
            </a:pPr>
            <a:fld id="{8BCAC33D-D29A-48B3-BCD6-381D3D720D26}" type="slidenum">
              <a:rPr lang="zh-CN" altLang="en-US" smtClean="0"/>
              <a:t>18</a:t>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descr="Rectangle: Click to edit Master text styles&#10;Second level&#10;Third level&#10;Fourth level&#10;Fifth level">
            <a:extLst>
              <a:ext uri="{FF2B5EF4-FFF2-40B4-BE49-F238E27FC236}">
                <a16:creationId xmlns:a16="http://schemas.microsoft.com/office/drawing/2014/main" id="{D66298B0-1350-4679-939A-D6DB7BB5CAE6}"/>
              </a:ext>
            </a:extLst>
          </p:cNvPr>
          <p:cNvSpPr>
            <a:spLocks noGrp="1" noChangeArrowheads="1"/>
          </p:cNvSpPr>
          <p:nvPr>
            <p:ph type="body" idx="1"/>
          </p:nvPr>
        </p:nvSpPr>
        <p:spPr>
          <a:xfrm>
            <a:off x="685799" y="1331094"/>
            <a:ext cx="7772400" cy="4953000"/>
          </a:xfrm>
        </p:spPr>
        <p:txBody>
          <a:bodyPr/>
          <a:lstStyle/>
          <a:p>
            <a:pPr marL="0" indent="0" eaLnBrk="1" hangingPunct="1">
              <a:buNone/>
            </a:pPr>
            <a:r>
              <a:rPr lang="en-US" altLang="zh-CN" sz="2800" b="1" dirty="0">
                <a:latin typeface="Times New Roman" panose="02020603050405020304" pitchFamily="18" charset="0"/>
                <a:cs typeface="Times New Roman" panose="02020603050405020304" pitchFamily="18" charset="0"/>
              </a:rPr>
              <a:t>3. </a:t>
            </a:r>
            <a:r>
              <a:rPr lang="zh-CN" altLang="en-US" sz="2800" b="1" dirty="0">
                <a:latin typeface="Times New Roman" panose="02020603050405020304" pitchFamily="18" charset="0"/>
                <a:cs typeface="Times New Roman" panose="02020603050405020304" pitchFamily="18" charset="0"/>
              </a:rPr>
              <a:t>命中率 </a:t>
            </a:r>
            <a:r>
              <a:rPr lang="en-US" altLang="zh-CN" sz="2800" b="1" i="1" dirty="0">
                <a:latin typeface="Times New Roman" panose="02020603050405020304" pitchFamily="18" charset="0"/>
                <a:cs typeface="Times New Roman" panose="02020603050405020304" pitchFamily="18" charset="0"/>
              </a:rPr>
              <a:t>H </a:t>
            </a:r>
            <a:r>
              <a:rPr lang="zh-CN" altLang="en-US" sz="2800" b="1" dirty="0">
                <a:latin typeface="Times New Roman" panose="02020603050405020304" pitchFamily="18" charset="0"/>
                <a:cs typeface="Times New Roman" panose="02020603050405020304" pitchFamily="18" charset="0"/>
              </a:rPr>
              <a:t>和失效率 </a:t>
            </a:r>
            <a:r>
              <a:rPr lang="en-US" altLang="zh-CN" sz="2800" b="1" i="1" dirty="0">
                <a:latin typeface="Times New Roman" panose="02020603050405020304" pitchFamily="18" charset="0"/>
                <a:cs typeface="Times New Roman" panose="02020603050405020304" pitchFamily="18" charset="0"/>
              </a:rPr>
              <a:t>F</a:t>
            </a:r>
          </a:p>
          <a:p>
            <a:pPr marL="727200" lvl="1" indent="-457200" eaLnBrk="1" hangingPunct="1">
              <a:buFont typeface="Wingdings" panose="05000000000000000000" pitchFamily="2" charset="2"/>
              <a:buChar char="Ø"/>
            </a:pPr>
            <a:r>
              <a:rPr lang="zh-CN" altLang="en-US" b="1" dirty="0">
                <a:latin typeface="Times New Roman" panose="02020603050405020304" pitchFamily="18" charset="0"/>
                <a:cs typeface="Times New Roman" panose="02020603050405020304" pitchFamily="18" charset="0"/>
              </a:rPr>
              <a:t>命中率：</a:t>
            </a:r>
            <a:r>
              <a:rPr lang="en-US" altLang="zh-CN" b="1" dirty="0">
                <a:latin typeface="Times New Roman" panose="02020603050405020304" pitchFamily="18" charset="0"/>
                <a:cs typeface="Times New Roman" panose="02020603050405020304" pitchFamily="18" charset="0"/>
              </a:rPr>
              <a:t>CPU</a:t>
            </a:r>
            <a:r>
              <a:rPr lang="zh-CN" altLang="en-US" b="1" dirty="0">
                <a:latin typeface="Times New Roman" panose="02020603050405020304" pitchFamily="18" charset="0"/>
                <a:cs typeface="Times New Roman" panose="02020603050405020304" pitchFamily="18" charset="0"/>
              </a:rPr>
              <a:t>访问存储系统时，在</a:t>
            </a:r>
            <a:r>
              <a:rPr lang="en-US" altLang="zh-CN" b="1" i="1" dirty="0">
                <a:latin typeface="Times New Roman" panose="02020603050405020304" pitchFamily="18" charset="0"/>
                <a:cs typeface="Times New Roman" panose="02020603050405020304" pitchFamily="18" charset="0"/>
              </a:rPr>
              <a:t>M</a:t>
            </a:r>
            <a:r>
              <a:rPr lang="en-US" altLang="zh-CN" b="1" i="1" baseline="-25000"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中找到所需信息的概率。</a:t>
            </a:r>
          </a:p>
          <a:p>
            <a:pPr marL="1085850" lvl="1" indent="-457200" eaLnBrk="1" hangingPunct="1"/>
            <a:endParaRPr lang="zh-CN" altLang="en-US" b="1" dirty="0">
              <a:latin typeface="Times New Roman" panose="02020603050405020304" pitchFamily="18" charset="0"/>
              <a:cs typeface="Times New Roman" panose="02020603050405020304" pitchFamily="18" charset="0"/>
            </a:endParaRPr>
          </a:p>
          <a:p>
            <a:pPr marL="1085850" lvl="1" indent="-457200" eaLnBrk="1" hangingPunct="1"/>
            <a:endParaRPr lang="zh-CN" altLang="en-US" b="1" dirty="0">
              <a:latin typeface="Times New Roman" panose="02020603050405020304" pitchFamily="18" charset="0"/>
              <a:cs typeface="Times New Roman" panose="02020603050405020304" pitchFamily="18" charset="0"/>
            </a:endParaRPr>
          </a:p>
          <a:p>
            <a:pPr lvl="2" eaLnBrk="1" hangingPunct="1"/>
            <a:r>
              <a:rPr lang="en-US" altLang="zh-CN" b="1" dirty="0">
                <a:solidFill>
                  <a:srgbClr val="9933FF"/>
                </a:solidFill>
                <a:latin typeface="Times New Roman" panose="02020603050405020304" pitchFamily="18" charset="0"/>
                <a:cs typeface="Times New Roman" panose="02020603050405020304" pitchFamily="18" charset="0"/>
              </a:rPr>
              <a:t>N</a:t>
            </a:r>
            <a:r>
              <a:rPr lang="en-US" altLang="zh-CN" b="1" baseline="-25000" dirty="0">
                <a:solidFill>
                  <a:srgbClr val="9933FF"/>
                </a:solidFill>
                <a:latin typeface="Times New Roman" panose="02020603050405020304" pitchFamily="18" charset="0"/>
                <a:cs typeface="Times New Roman" panose="02020603050405020304" pitchFamily="18" charset="0"/>
              </a:rPr>
              <a:t>1</a:t>
            </a:r>
            <a:r>
              <a:rPr lang="en-US" altLang="zh-CN" b="1" dirty="0">
                <a:solidFill>
                  <a:srgbClr val="D60093"/>
                </a:solidFill>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访问</a:t>
            </a:r>
            <a:r>
              <a:rPr lang="en-US" altLang="zh-CN" b="1" dirty="0">
                <a:latin typeface="Times New Roman" panose="02020603050405020304" pitchFamily="18" charset="0"/>
                <a:cs typeface="Times New Roman" panose="02020603050405020304" pitchFamily="18" charset="0"/>
              </a:rPr>
              <a:t>M</a:t>
            </a:r>
            <a:r>
              <a:rPr lang="en-US" altLang="zh-CN" b="1" baseline="-25000"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的次数</a:t>
            </a:r>
          </a:p>
          <a:p>
            <a:pPr lvl="2" eaLnBrk="1" hangingPunct="1">
              <a:spcAft>
                <a:spcPts val="600"/>
              </a:spcAft>
            </a:pPr>
            <a:r>
              <a:rPr lang="en-US" altLang="zh-CN" b="1" dirty="0">
                <a:solidFill>
                  <a:srgbClr val="9933FF"/>
                </a:solidFill>
                <a:latin typeface="Times New Roman" panose="02020603050405020304" pitchFamily="18" charset="0"/>
                <a:cs typeface="Times New Roman" panose="02020603050405020304" pitchFamily="18" charset="0"/>
              </a:rPr>
              <a:t>N</a:t>
            </a:r>
            <a:r>
              <a:rPr lang="en-US" altLang="zh-CN" b="1" baseline="-25000" dirty="0">
                <a:solidFill>
                  <a:srgbClr val="9933FF"/>
                </a:solidFill>
                <a:latin typeface="Times New Roman" panose="02020603050405020304" pitchFamily="18" charset="0"/>
                <a:cs typeface="Times New Roman" panose="02020603050405020304" pitchFamily="18" charset="0"/>
              </a:rPr>
              <a:t>2 </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访问</a:t>
            </a:r>
            <a:r>
              <a:rPr lang="en-US" altLang="zh-CN" b="1" dirty="0">
                <a:latin typeface="Times New Roman" panose="02020603050405020304" pitchFamily="18" charset="0"/>
                <a:cs typeface="Times New Roman" panose="02020603050405020304" pitchFamily="18" charset="0"/>
              </a:rPr>
              <a:t>M</a:t>
            </a:r>
            <a:r>
              <a:rPr lang="en-US" altLang="zh-CN" b="1" baseline="-25000" dirty="0">
                <a:latin typeface="Times New Roman" panose="02020603050405020304" pitchFamily="18" charset="0"/>
                <a:cs typeface="Times New Roman" panose="02020603050405020304" pitchFamily="18" charset="0"/>
              </a:rPr>
              <a:t>2</a:t>
            </a:r>
            <a:r>
              <a:rPr lang="zh-CN" altLang="en-US" b="1" dirty="0">
                <a:latin typeface="Times New Roman" panose="02020603050405020304" pitchFamily="18" charset="0"/>
                <a:cs typeface="Times New Roman" panose="02020603050405020304" pitchFamily="18" charset="0"/>
              </a:rPr>
              <a:t>的次数</a:t>
            </a:r>
            <a:endParaRPr lang="en-US" altLang="zh-CN" b="1" dirty="0">
              <a:latin typeface="Times New Roman" panose="02020603050405020304" pitchFamily="18" charset="0"/>
              <a:cs typeface="Times New Roman" panose="02020603050405020304" pitchFamily="18" charset="0"/>
            </a:endParaRPr>
          </a:p>
          <a:p>
            <a:pPr marL="914400" lvl="2" indent="0" eaLnBrk="1" hangingPunct="1">
              <a:buNone/>
            </a:pPr>
            <a:endParaRPr lang="zh-CN" altLang="en-US" b="1" dirty="0">
              <a:latin typeface="Times New Roman" panose="02020603050405020304" pitchFamily="18" charset="0"/>
              <a:cs typeface="Times New Roman" panose="02020603050405020304" pitchFamily="18" charset="0"/>
            </a:endParaRPr>
          </a:p>
          <a:p>
            <a:pPr marL="727200" lvl="1" indent="-457200" eaLnBrk="1" hangingPunct="1">
              <a:buFont typeface="Wingdings" panose="05000000000000000000" pitchFamily="2" charset="2"/>
              <a:buChar char="Ø"/>
            </a:pPr>
            <a:r>
              <a:rPr lang="zh-CN" altLang="en-US" b="1" dirty="0">
                <a:latin typeface="Times New Roman" panose="02020603050405020304" pitchFamily="18" charset="0"/>
                <a:cs typeface="Times New Roman" panose="02020603050405020304" pitchFamily="18" charset="0"/>
              </a:rPr>
              <a:t> 失效率 ：</a:t>
            </a:r>
            <a:r>
              <a:rPr lang="en-US" altLang="zh-CN" b="1" i="1" dirty="0">
                <a:solidFill>
                  <a:srgbClr val="000000"/>
                </a:solidFill>
                <a:latin typeface="Times New Roman" panose="02020603050405020304" pitchFamily="18" charset="0"/>
                <a:cs typeface="Times New Roman" panose="02020603050405020304" pitchFamily="18" charset="0"/>
              </a:rPr>
              <a:t>F</a:t>
            </a:r>
            <a:r>
              <a:rPr lang="zh-CN" altLang="en-US" b="1" dirty="0">
                <a:solidFill>
                  <a:srgbClr val="000000"/>
                </a:solidFill>
                <a:latin typeface="Times New Roman" panose="02020603050405020304" pitchFamily="18" charset="0"/>
                <a:cs typeface="Times New Roman" panose="02020603050405020304" pitchFamily="18" charset="0"/>
              </a:rPr>
              <a:t>＝</a:t>
            </a:r>
            <a:r>
              <a:rPr lang="en-US" altLang="zh-CN" b="1" dirty="0">
                <a:solidFill>
                  <a:srgbClr val="000000"/>
                </a:solidFill>
                <a:latin typeface="Times New Roman" panose="02020603050405020304" pitchFamily="18" charset="0"/>
                <a:cs typeface="Times New Roman" panose="02020603050405020304" pitchFamily="18" charset="0"/>
              </a:rPr>
              <a:t>1</a:t>
            </a:r>
            <a:r>
              <a:rPr lang="zh-CN" altLang="en-US" b="1" dirty="0">
                <a:solidFill>
                  <a:srgbClr val="000000"/>
                </a:solidFill>
                <a:latin typeface="Times New Roman" panose="02020603050405020304" pitchFamily="18" charset="0"/>
                <a:cs typeface="Times New Roman" panose="02020603050405020304" pitchFamily="18" charset="0"/>
              </a:rPr>
              <a:t>－</a:t>
            </a:r>
            <a:r>
              <a:rPr lang="en-US" altLang="zh-CN" b="1" i="1" dirty="0">
                <a:solidFill>
                  <a:srgbClr val="000000"/>
                </a:solidFill>
                <a:latin typeface="Times New Roman" panose="02020603050405020304" pitchFamily="18" charset="0"/>
                <a:cs typeface="Times New Roman" panose="02020603050405020304" pitchFamily="18" charset="0"/>
              </a:rPr>
              <a:t>H</a:t>
            </a:r>
          </a:p>
        </p:txBody>
      </p:sp>
      <p:pic>
        <p:nvPicPr>
          <p:cNvPr id="19459" name="Picture 5">
            <a:extLst>
              <a:ext uri="{FF2B5EF4-FFF2-40B4-BE49-F238E27FC236}">
                <a16:creationId xmlns:a16="http://schemas.microsoft.com/office/drawing/2014/main" id="{323D8CF3-C7BA-42DD-9BBE-68E1128A3BE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35896" y="2924944"/>
            <a:ext cx="1655762" cy="88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9">
            <a:extLst>
              <a:ext uri="{FF2B5EF4-FFF2-40B4-BE49-F238E27FC236}">
                <a16:creationId xmlns:a16="http://schemas.microsoft.com/office/drawing/2014/main" id="{1E8A1C39-D5C4-4812-A2E6-1AF315135C68}"/>
              </a:ext>
            </a:extLst>
          </p:cNvPr>
          <p:cNvSpPr>
            <a:spLocks noChangeArrowheads="1"/>
          </p:cNvSpPr>
          <p:nvPr/>
        </p:nvSpPr>
        <p:spPr bwMode="auto">
          <a:xfrm>
            <a:off x="989011" y="332656"/>
            <a:ext cx="7165975" cy="676275"/>
          </a:xfrm>
          <a:prstGeom prst="rect">
            <a:avLst/>
          </a:prstGeom>
          <a:noFill/>
          <a:ln>
            <a:noFill/>
          </a:ln>
          <a:effectLst/>
        </p:spPr>
        <p:txBody>
          <a:bodyPr anchor="b"/>
          <a:lstStyle/>
          <a:p>
            <a:pPr algn="ctr" eaLnBrk="0" hangingPunct="0">
              <a:defRPr/>
            </a:pPr>
            <a:r>
              <a:rPr lang="en-US" altLang="zh-CN" sz="3600" dirty="0">
                <a:latin typeface="Times New Roman" panose="02020603050405020304" pitchFamily="18" charset="0"/>
                <a:ea typeface="+mj-ea"/>
                <a:cs typeface="Times New Roman" panose="02020603050405020304" pitchFamily="18" charset="0"/>
              </a:rPr>
              <a:t>5.1.2 </a:t>
            </a:r>
            <a:r>
              <a:rPr lang="en-US" altLang="zh-CN" sz="3600" dirty="0">
                <a:latin typeface="+mj-lt"/>
                <a:ea typeface="+mj-ea"/>
                <a:cs typeface="+mj-cs"/>
              </a:rPr>
              <a:t>   </a:t>
            </a:r>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存储层次的性能参数</a:t>
            </a:r>
          </a:p>
        </p:txBody>
      </p:sp>
      <p:sp>
        <p:nvSpPr>
          <p:cNvPr id="2" name="日期占位符 1">
            <a:extLst>
              <a:ext uri="{FF2B5EF4-FFF2-40B4-BE49-F238E27FC236}">
                <a16:creationId xmlns:a16="http://schemas.microsoft.com/office/drawing/2014/main" id="{FD164C85-BAD4-C308-EBDB-8F623B02415F}"/>
              </a:ext>
            </a:extLst>
          </p:cNvPr>
          <p:cNvSpPr>
            <a:spLocks noGrp="1"/>
          </p:cNvSpPr>
          <p:nvPr>
            <p:ph type="dt" sz="half" idx="10"/>
          </p:nvPr>
        </p:nvSpPr>
        <p:spPr/>
        <p:txBody>
          <a:bodyPr/>
          <a:lstStyle/>
          <a:p>
            <a:pPr>
              <a:defRPr/>
            </a:pPr>
            <a:fld id="{0FE7E407-4BD5-4C93-A580-CE5ECFE54D9E}"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9F194CA2-D215-BE63-F109-A1126288C77F}"/>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DA66093-F287-B5DF-2A64-CE58D91794A1}"/>
              </a:ext>
            </a:extLst>
          </p:cNvPr>
          <p:cNvSpPr>
            <a:spLocks noGrp="1"/>
          </p:cNvSpPr>
          <p:nvPr>
            <p:ph type="sldNum" sz="quarter" idx="12"/>
          </p:nvPr>
        </p:nvSpPr>
        <p:spPr/>
        <p:txBody>
          <a:bodyPr/>
          <a:lstStyle/>
          <a:p>
            <a:pPr>
              <a:defRPr/>
            </a:pPr>
            <a:fld id="{8BCAC33D-D29A-48B3-BCD6-381D3D720D26}" type="slidenum">
              <a:rPr lang="zh-CN" altLang="en-US" smtClean="0"/>
              <a:t>19</a:t>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descr="Rectangle: Click to edit Master text styles&#10;Second level&#10;Third level&#10;Fourth level&#10;Fifth level">
            <a:extLst>
              <a:ext uri="{FF2B5EF4-FFF2-40B4-BE49-F238E27FC236}">
                <a16:creationId xmlns:a16="http://schemas.microsoft.com/office/drawing/2014/main" id="{3DEE8A54-3E3F-403D-A16C-BAED5BEE8BFB}"/>
              </a:ext>
            </a:extLst>
          </p:cNvPr>
          <p:cNvSpPr>
            <a:spLocks noGrp="1" noChangeArrowheads="1"/>
          </p:cNvSpPr>
          <p:nvPr>
            <p:ph type="body" idx="1"/>
          </p:nvPr>
        </p:nvSpPr>
        <p:spPr>
          <a:xfrm>
            <a:off x="107503" y="908720"/>
            <a:ext cx="8928992" cy="5688632"/>
          </a:xfrm>
        </p:spPr>
        <p:txBody>
          <a:bodyPr/>
          <a:lstStyle/>
          <a:p>
            <a:pPr marL="36000" indent="0" eaLnBrk="1" hangingPunct="1">
              <a:buNone/>
              <a:tabLst>
                <a:tab pos="2381250" algn="l"/>
              </a:tabLst>
            </a:pPr>
            <a:r>
              <a:rPr lang="en-US" altLang="zh-CN" sz="2800" b="1" dirty="0">
                <a:latin typeface="Times New Roman" panose="02020603050405020304" pitchFamily="18" charset="0"/>
                <a:cs typeface="Times New Roman" panose="02020603050405020304" pitchFamily="18" charset="0"/>
              </a:rPr>
              <a:t>4. </a:t>
            </a:r>
            <a:r>
              <a:rPr lang="zh-CN" altLang="en-US" sz="2800" b="1" dirty="0">
                <a:latin typeface="Times New Roman" panose="02020603050405020304" pitchFamily="18" charset="0"/>
                <a:cs typeface="Times New Roman" panose="02020603050405020304" pitchFamily="18" charset="0"/>
              </a:rPr>
              <a:t>平均访问时间</a:t>
            </a:r>
            <a:r>
              <a:rPr lang="en-US" altLang="zh-CN" sz="2800" b="1" dirty="0">
                <a:latin typeface="Times New Roman" panose="02020603050405020304" pitchFamily="18" charset="0"/>
                <a:cs typeface="Times New Roman" panose="02020603050405020304" pitchFamily="18" charset="0"/>
              </a:rPr>
              <a:t>T</a:t>
            </a:r>
            <a:r>
              <a:rPr lang="en-US" altLang="zh-CN" sz="2400" b="1" baseline="-25000" dirty="0">
                <a:latin typeface="Times New Roman" panose="02020603050405020304" pitchFamily="18" charset="0"/>
                <a:cs typeface="Times New Roman" panose="02020603050405020304" pitchFamily="18" charset="0"/>
              </a:rPr>
              <a:t>A</a:t>
            </a:r>
          </a:p>
          <a:p>
            <a:pPr marL="36000" lvl="1" indent="0" eaLnBrk="1" hangingPunct="1">
              <a:buFont typeface="Wingdings" panose="05000000000000000000" pitchFamily="2" charset="2"/>
              <a:buNone/>
              <a:tabLst>
                <a:tab pos="2381250" algn="l"/>
              </a:tabLst>
            </a:pPr>
            <a:r>
              <a:rPr lang="en-US" altLang="zh-CN" sz="2200" dirty="0">
                <a:latin typeface="Times New Roman" panose="02020603050405020304" pitchFamily="18" charset="0"/>
                <a:cs typeface="Times New Roman" panose="02020603050405020304" pitchFamily="18" charset="0"/>
              </a:rPr>
              <a:t>                             </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200" b="1"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HT</a:t>
            </a:r>
            <a:r>
              <a:rPr lang="en-US" altLang="zh-CN" sz="2200" b="1"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H</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200" b="1"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200" b="1"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M</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p>
          <a:p>
            <a:pPr marL="36000" lvl="1" indent="0" eaLnBrk="1" hangingPunct="1">
              <a:lnSpc>
                <a:spcPct val="90000"/>
              </a:lnSpc>
              <a:buFont typeface="Wingdings" panose="05000000000000000000" pitchFamily="2" charset="2"/>
              <a:buNone/>
              <a:tabLst>
                <a:tab pos="2381250" algn="l"/>
              </a:tabLst>
            </a:pP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 </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200" b="1"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H</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200" b="1"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M</a:t>
            </a:r>
          </a:p>
          <a:p>
            <a:pPr marL="36000" lvl="1" indent="0" eaLnBrk="1" hangingPunct="1">
              <a:lnSpc>
                <a:spcPct val="90000"/>
              </a:lnSpc>
              <a:buFont typeface="Wingdings" panose="05000000000000000000" pitchFamily="2" charset="2"/>
              <a:buNone/>
              <a:tabLst>
                <a:tab pos="2381250" algn="l"/>
              </a:tabLst>
            </a:pPr>
            <a:r>
              <a:rPr lang="en-US" altLang="zh-CN" sz="22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sz="2200" b="1" dirty="0">
                <a:latin typeface="Times New Roman" panose="02020603050405020304" pitchFamily="18" charset="0"/>
                <a:ea typeface="宋体" panose="02010600030101010101" pitchFamily="2" charset="-122"/>
                <a:cs typeface="Times New Roman" panose="02020603050405020304" pitchFamily="18" charset="0"/>
              </a:rPr>
              <a:t>或             </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200" b="1"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T</a:t>
            </a:r>
            <a:r>
              <a:rPr lang="en-US" altLang="zh-CN" sz="2200" b="1"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FT</a:t>
            </a:r>
            <a:r>
              <a:rPr lang="en-US" altLang="zh-CN" sz="2200" b="1" baseline="-250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M</a:t>
            </a:r>
            <a:endParaRPr lang="en-US" altLang="zh-CN" sz="2200" b="1"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marL="738000" lvl="1" indent="-342900" eaLnBrk="1" hangingPunct="1">
              <a:lnSpc>
                <a:spcPct val="120000"/>
              </a:lnSpc>
              <a:buFont typeface="Wingdings" panose="05000000000000000000" pitchFamily="2" charset="2"/>
              <a:buChar char="Ø"/>
              <a:tabLst>
                <a:tab pos="2381250" algn="l"/>
              </a:tabLst>
            </a:pPr>
            <a:r>
              <a:rPr lang="zh-CN" altLang="en-US" sz="2400" b="1" dirty="0">
                <a:latin typeface="Times New Roman" panose="02020603050405020304" pitchFamily="18" charset="0"/>
                <a:cs typeface="Times New Roman" panose="02020603050405020304" pitchFamily="18" charset="0"/>
              </a:rPr>
              <a:t>分两种情况来考虑</a:t>
            </a:r>
            <a:r>
              <a:rPr lang="en-US" altLang="zh-CN" sz="2400" b="1" dirty="0">
                <a:latin typeface="Times New Roman" panose="02020603050405020304" pitchFamily="18" charset="0"/>
                <a:cs typeface="Times New Roman" panose="02020603050405020304" pitchFamily="18" charset="0"/>
              </a:rPr>
              <a:t>CPU</a:t>
            </a:r>
            <a:r>
              <a:rPr lang="zh-CN" altLang="en-US" sz="2400" b="1" dirty="0">
                <a:latin typeface="Times New Roman" panose="02020603050405020304" pitchFamily="18" charset="0"/>
                <a:cs typeface="Times New Roman" panose="02020603050405020304" pitchFamily="18" charset="0"/>
              </a:rPr>
              <a:t>的一次访存：</a:t>
            </a:r>
          </a:p>
          <a:p>
            <a:pPr marL="720000" lvl="2" indent="0" eaLnBrk="1" hangingPunct="1">
              <a:tabLst>
                <a:tab pos="2381250" algn="l"/>
              </a:tabLst>
            </a:pPr>
            <a:r>
              <a:rPr lang="zh-CN" altLang="en-US" b="1" dirty="0">
                <a:latin typeface="Times New Roman" panose="02020603050405020304" pitchFamily="18" charset="0"/>
                <a:cs typeface="Times New Roman" panose="02020603050405020304" pitchFamily="18" charset="0"/>
              </a:rPr>
              <a:t>  当命中时，访问时间即为</a:t>
            </a:r>
            <a:r>
              <a:rPr lang="en-US" altLang="zh-CN" b="1" dirty="0">
                <a:latin typeface="Times New Roman" panose="02020603050405020304" pitchFamily="18" charset="0"/>
                <a:cs typeface="Times New Roman" panose="02020603050405020304" pitchFamily="18" charset="0"/>
              </a:rPr>
              <a:t>T</a:t>
            </a:r>
            <a:r>
              <a:rPr lang="en-US" altLang="zh-CN" b="1" baseline="-25000" dirty="0">
                <a:latin typeface="Times New Roman" panose="02020603050405020304" pitchFamily="18" charset="0"/>
                <a:cs typeface="Times New Roman" panose="02020603050405020304" pitchFamily="18" charset="0"/>
              </a:rPr>
              <a:t>1</a:t>
            </a:r>
            <a:r>
              <a:rPr lang="zh-CN" altLang="en-US" b="1" dirty="0">
                <a:latin typeface="Times New Roman" panose="02020603050405020304" pitchFamily="18" charset="0"/>
                <a:cs typeface="Times New Roman" panose="02020603050405020304" pitchFamily="18" charset="0"/>
              </a:rPr>
              <a:t>（</a:t>
            </a:r>
            <a:r>
              <a:rPr lang="zh-CN" altLang="en-US" b="1" dirty="0">
                <a:solidFill>
                  <a:srgbClr val="C00000"/>
                </a:solidFill>
                <a:latin typeface="Times New Roman" panose="02020603050405020304" pitchFamily="18" charset="0"/>
                <a:cs typeface="Times New Roman" panose="02020603050405020304" pitchFamily="18" charset="0"/>
              </a:rPr>
              <a:t>命中时间</a:t>
            </a:r>
            <a:r>
              <a:rPr lang="en-US" altLang="zh-CN" b="1" dirty="0">
                <a:solidFill>
                  <a:srgbClr val="C00000"/>
                </a:solidFill>
                <a:latin typeface="Times New Roman" panose="02020603050405020304" pitchFamily="18" charset="0"/>
                <a:cs typeface="Times New Roman" panose="02020603050405020304" pitchFamily="18" charset="0"/>
              </a:rPr>
              <a:t>, Hit Time</a:t>
            </a:r>
            <a:r>
              <a:rPr lang="zh-CN" altLang="en-US" b="1" dirty="0">
                <a:latin typeface="Times New Roman" panose="02020603050405020304" pitchFamily="18" charset="0"/>
                <a:cs typeface="Times New Roman" panose="02020603050405020304" pitchFamily="18" charset="0"/>
              </a:rPr>
              <a:t>）</a:t>
            </a:r>
          </a:p>
          <a:p>
            <a:pPr marL="720000" lvl="2" indent="0" eaLnBrk="1" hangingPunct="1">
              <a:tabLst>
                <a:tab pos="2381250" algn="l"/>
              </a:tabLst>
            </a:pPr>
            <a:r>
              <a:rPr lang="zh-CN" altLang="en-US" b="1" dirty="0">
                <a:latin typeface="Times New Roman" panose="02020603050405020304" pitchFamily="18" charset="0"/>
                <a:cs typeface="Times New Roman" panose="02020603050405020304" pitchFamily="18" charset="0"/>
              </a:rPr>
              <a:t>  当不命中时，情况比较复杂。</a:t>
            </a:r>
          </a:p>
          <a:p>
            <a:pPr marL="36000" lvl="2" indent="0" eaLnBrk="1" hangingPunct="1">
              <a:buFont typeface="Wingdings" panose="05000000000000000000" pitchFamily="2" charset="2"/>
              <a:buNone/>
              <a:tabLst>
                <a:tab pos="2381250" algn="l"/>
              </a:tabLst>
            </a:pPr>
            <a:r>
              <a:rPr lang="zh-CN" altLang="en-US" b="1" dirty="0">
                <a:latin typeface="Times New Roman" panose="02020603050405020304" pitchFamily="18" charset="0"/>
                <a:cs typeface="Times New Roman" panose="02020603050405020304" pitchFamily="18" charset="0"/>
              </a:rPr>
              <a:t>            不命中时的访问时间为：</a:t>
            </a:r>
            <a:r>
              <a:rPr lang="sv-SE" altLang="zh-CN" b="1" dirty="0">
                <a:latin typeface="Times New Roman" panose="02020603050405020304" pitchFamily="18" charset="0"/>
                <a:cs typeface="Times New Roman" panose="02020603050405020304" pitchFamily="18" charset="0"/>
              </a:rPr>
              <a:t>T</a:t>
            </a:r>
            <a:r>
              <a:rPr lang="sv-SE" altLang="zh-CN" b="1" baseline="-25000" dirty="0">
                <a:latin typeface="Times New Roman" panose="02020603050405020304" pitchFamily="18" charset="0"/>
                <a:cs typeface="Times New Roman" panose="02020603050405020304" pitchFamily="18" charset="0"/>
              </a:rPr>
              <a:t>1</a:t>
            </a:r>
            <a:r>
              <a:rPr lang="zh-CN" altLang="en-US" sz="1800" b="1" dirty="0">
                <a:latin typeface="Times New Roman" panose="02020603050405020304" pitchFamily="18" charset="0"/>
                <a:cs typeface="Times New Roman" panose="02020603050405020304" pitchFamily="18" charset="0"/>
              </a:rPr>
              <a:t>＋</a:t>
            </a:r>
            <a:r>
              <a:rPr lang="sv-SE" altLang="zh-CN" b="1" dirty="0">
                <a:latin typeface="Times New Roman" panose="02020603050405020304" pitchFamily="18" charset="0"/>
                <a:cs typeface="Times New Roman" panose="02020603050405020304" pitchFamily="18" charset="0"/>
              </a:rPr>
              <a:t>T</a:t>
            </a:r>
            <a:r>
              <a:rPr lang="sv-SE" altLang="zh-CN" b="1" baseline="-25000" dirty="0">
                <a:latin typeface="Times New Roman" panose="02020603050405020304" pitchFamily="18" charset="0"/>
                <a:cs typeface="Times New Roman" panose="02020603050405020304" pitchFamily="18" charset="0"/>
              </a:rPr>
              <a:t>M</a:t>
            </a:r>
            <a:r>
              <a:rPr lang="sv-SE" altLang="zh-CN" b="1" dirty="0">
                <a:latin typeface="Times New Roman" panose="02020603050405020304" pitchFamily="18" charset="0"/>
                <a:cs typeface="Times New Roman" panose="02020603050405020304" pitchFamily="18" charset="0"/>
              </a:rPr>
              <a:t>  </a:t>
            </a:r>
          </a:p>
          <a:p>
            <a:pPr marL="36000" lvl="2" indent="0" eaLnBrk="1" hangingPunct="1">
              <a:buFont typeface="Wingdings" panose="05000000000000000000" pitchFamily="2" charset="2"/>
              <a:buNone/>
              <a:tabLst>
                <a:tab pos="2381250" algn="l"/>
              </a:tabLst>
            </a:pPr>
            <a:r>
              <a:rPr lang="en-US" altLang="zh-CN" b="1" dirty="0">
                <a:latin typeface="Times New Roman" panose="02020603050405020304" pitchFamily="18" charset="0"/>
                <a:cs typeface="Times New Roman" panose="02020603050405020304" pitchFamily="18" charset="0"/>
              </a:rPr>
              <a:t>                         </a:t>
            </a:r>
            <a:r>
              <a:rPr lang="en-US" altLang="zh-CN" sz="1000" b="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T</a:t>
            </a:r>
            <a:r>
              <a:rPr lang="en-US" altLang="zh-CN" b="1" baseline="-25000" dirty="0">
                <a:latin typeface="Times New Roman" panose="02020603050405020304" pitchFamily="18" charset="0"/>
                <a:cs typeface="Times New Roman" panose="02020603050405020304" pitchFamily="18" charset="0"/>
              </a:rPr>
              <a:t>M </a:t>
            </a:r>
            <a:r>
              <a:rPr lang="zh-CN" altLang="sv-SE"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T</a:t>
            </a:r>
            <a:r>
              <a:rPr lang="en-US" altLang="zh-CN" b="1" baseline="-25000" dirty="0">
                <a:latin typeface="Times New Roman" panose="02020603050405020304" pitchFamily="18" charset="0"/>
                <a:cs typeface="Times New Roman" panose="02020603050405020304" pitchFamily="18" charset="0"/>
              </a:rPr>
              <a:t>2</a:t>
            </a:r>
            <a:r>
              <a:rPr lang="zh-CN" altLang="en-US" sz="1800"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T</a:t>
            </a:r>
            <a:r>
              <a:rPr lang="en-US" altLang="zh-CN" b="1" baseline="-25000" dirty="0">
                <a:latin typeface="Times New Roman" panose="02020603050405020304" pitchFamily="18" charset="0"/>
                <a:cs typeface="Times New Roman" panose="02020603050405020304" pitchFamily="18" charset="0"/>
              </a:rPr>
              <a:t>B</a:t>
            </a:r>
          </a:p>
          <a:p>
            <a:pPr marL="1458000" lvl="2" indent="-342900" eaLnBrk="1" hangingPunct="1">
              <a:buFont typeface="Wingdings" panose="05000000000000000000" pitchFamily="2" charset="2"/>
              <a:buChar char="ü"/>
              <a:tabLst>
                <a:tab pos="2381250" algn="l"/>
              </a:tabLst>
            </a:pPr>
            <a:r>
              <a:rPr lang="en-US" altLang="zh-CN" sz="2200" b="1" dirty="0">
                <a:latin typeface="Times New Roman" panose="02020603050405020304" pitchFamily="18" charset="0"/>
                <a:cs typeface="Times New Roman" panose="02020603050405020304" pitchFamily="18" charset="0"/>
              </a:rPr>
              <a:t>T</a:t>
            </a:r>
            <a:r>
              <a:rPr lang="en-US" altLang="zh-CN" sz="2200" b="1" baseline="-25000" dirty="0">
                <a:latin typeface="Times New Roman" panose="02020603050405020304" pitchFamily="18" charset="0"/>
                <a:cs typeface="Times New Roman" panose="02020603050405020304" pitchFamily="18" charset="0"/>
              </a:rPr>
              <a:t>M</a:t>
            </a:r>
            <a:r>
              <a:rPr lang="zh-CN" altLang="en-US" sz="2200" b="1" dirty="0">
                <a:latin typeface="Times New Roman" panose="02020603050405020304" pitchFamily="18" charset="0"/>
                <a:cs typeface="Times New Roman" panose="02020603050405020304" pitchFamily="18" charset="0"/>
              </a:rPr>
              <a:t>：</a:t>
            </a:r>
            <a:r>
              <a:rPr lang="zh-CN" altLang="en-US" sz="2200" b="1" dirty="0">
                <a:solidFill>
                  <a:srgbClr val="C00000"/>
                </a:solidFill>
                <a:latin typeface="Times New Roman" panose="02020603050405020304" pitchFamily="18" charset="0"/>
                <a:cs typeface="Times New Roman" panose="02020603050405020304" pitchFamily="18" charset="0"/>
              </a:rPr>
              <a:t>失效开销</a:t>
            </a:r>
            <a:r>
              <a:rPr lang="en-US" altLang="zh-CN" sz="2200" b="1" dirty="0">
                <a:solidFill>
                  <a:srgbClr val="C00000"/>
                </a:solidFill>
                <a:latin typeface="Times New Roman" panose="02020603050405020304" pitchFamily="18" charset="0"/>
                <a:cs typeface="Times New Roman" panose="02020603050405020304" pitchFamily="18" charset="0"/>
              </a:rPr>
              <a:t>(Miss Penalty)</a:t>
            </a:r>
            <a:r>
              <a:rPr lang="zh-CN" altLang="en-US" sz="2200" b="1" dirty="0">
                <a:latin typeface="Times New Roman" panose="02020603050405020304" pitchFamily="18" charset="0"/>
                <a:cs typeface="Times New Roman" panose="02020603050405020304" pitchFamily="18" charset="0"/>
              </a:rPr>
              <a:t>，从向</a:t>
            </a:r>
            <a:r>
              <a:rPr lang="en-US" altLang="zh-CN" sz="2200" b="1" dirty="0">
                <a:latin typeface="Times New Roman" panose="02020603050405020304" pitchFamily="18" charset="0"/>
                <a:cs typeface="Times New Roman" panose="02020603050405020304" pitchFamily="18" charset="0"/>
              </a:rPr>
              <a:t>M</a:t>
            </a:r>
            <a:r>
              <a:rPr lang="en-US" altLang="zh-CN" sz="2200" b="1" baseline="-25000" dirty="0">
                <a:latin typeface="Times New Roman" panose="02020603050405020304" pitchFamily="18" charset="0"/>
                <a:cs typeface="Times New Roman" panose="02020603050405020304" pitchFamily="18" charset="0"/>
              </a:rPr>
              <a:t>2</a:t>
            </a:r>
            <a:r>
              <a:rPr lang="zh-CN" altLang="en-US" sz="2200" b="1" dirty="0">
                <a:latin typeface="Times New Roman" panose="02020603050405020304" pitchFamily="18" charset="0"/>
                <a:cs typeface="Times New Roman" panose="02020603050405020304" pitchFamily="18" charset="0"/>
              </a:rPr>
              <a:t>发出访问请求到</a:t>
            </a:r>
            <a:endParaRPr lang="en-US" altLang="zh-CN" sz="2200" b="1" dirty="0">
              <a:latin typeface="Times New Roman" panose="02020603050405020304" pitchFamily="18" charset="0"/>
              <a:cs typeface="Times New Roman" panose="02020603050405020304" pitchFamily="18" charset="0"/>
            </a:endParaRPr>
          </a:p>
          <a:p>
            <a:pPr marL="1115100" lvl="2" indent="0" eaLnBrk="1" hangingPunct="1">
              <a:buNone/>
              <a:tabLst>
                <a:tab pos="2381250" algn="l"/>
              </a:tabLst>
            </a:pPr>
            <a:r>
              <a:rPr lang="en-US" altLang="zh-CN" sz="2200" b="1" dirty="0">
                <a:latin typeface="Times New Roman" panose="02020603050405020304" pitchFamily="18" charset="0"/>
                <a:cs typeface="Times New Roman" panose="02020603050405020304" pitchFamily="18" charset="0"/>
              </a:rPr>
              <a:t>              </a:t>
            </a:r>
            <a:r>
              <a:rPr lang="zh-CN" altLang="en-US" sz="2200" b="1" dirty="0">
                <a:latin typeface="Times New Roman" panose="02020603050405020304" pitchFamily="18" charset="0"/>
                <a:cs typeface="Times New Roman" panose="02020603050405020304" pitchFamily="18" charset="0"/>
              </a:rPr>
              <a:t>把整个数据块调入</a:t>
            </a:r>
            <a:r>
              <a:rPr lang="en-US" altLang="zh-CN" sz="2200" b="1" dirty="0">
                <a:latin typeface="Times New Roman" panose="02020603050405020304" pitchFamily="18" charset="0"/>
                <a:cs typeface="Times New Roman" panose="02020603050405020304" pitchFamily="18" charset="0"/>
              </a:rPr>
              <a:t>M</a:t>
            </a:r>
            <a:r>
              <a:rPr lang="en-US" altLang="zh-CN" sz="2200" b="1" baseline="-25000" dirty="0">
                <a:latin typeface="Times New Roman" panose="02020603050405020304" pitchFamily="18" charset="0"/>
                <a:cs typeface="Times New Roman" panose="02020603050405020304" pitchFamily="18" charset="0"/>
              </a:rPr>
              <a:t>1</a:t>
            </a:r>
            <a:r>
              <a:rPr lang="zh-CN" altLang="en-US" sz="2200" b="1" dirty="0">
                <a:latin typeface="Times New Roman" panose="02020603050405020304" pitchFamily="18" charset="0"/>
                <a:cs typeface="Times New Roman" panose="02020603050405020304" pitchFamily="18" charset="0"/>
              </a:rPr>
              <a:t>中所需的时间</a:t>
            </a:r>
            <a:endParaRPr lang="en-US" altLang="zh-CN" sz="2200" b="1" dirty="0">
              <a:latin typeface="Times New Roman" panose="02020603050405020304" pitchFamily="18" charset="0"/>
              <a:cs typeface="Times New Roman" panose="02020603050405020304" pitchFamily="18" charset="0"/>
            </a:endParaRPr>
          </a:p>
          <a:p>
            <a:pPr marL="1458000" lvl="2" indent="-342900" eaLnBrk="1" hangingPunct="1">
              <a:buFont typeface="Wingdings" panose="05000000000000000000" pitchFamily="2" charset="2"/>
              <a:buChar char="ü"/>
              <a:tabLst>
                <a:tab pos="2381250" algn="l"/>
              </a:tabLst>
            </a:pPr>
            <a:r>
              <a:rPr lang="en-US" altLang="zh-CN" sz="2200" b="1" dirty="0">
                <a:latin typeface="Times New Roman" panose="02020603050405020304" pitchFamily="18" charset="0"/>
                <a:cs typeface="Times New Roman" panose="02020603050405020304" pitchFamily="18" charset="0"/>
              </a:rPr>
              <a:t>T</a:t>
            </a:r>
            <a:r>
              <a:rPr lang="en-US" altLang="zh-CN" sz="2200" b="1" baseline="-25000" dirty="0">
                <a:latin typeface="Times New Roman" panose="02020603050405020304" pitchFamily="18" charset="0"/>
                <a:cs typeface="Times New Roman" panose="02020603050405020304" pitchFamily="18" charset="0"/>
              </a:rPr>
              <a:t>2</a:t>
            </a:r>
            <a:r>
              <a:rPr lang="zh-CN" altLang="en-US" sz="2200" b="1" dirty="0">
                <a:latin typeface="Times New Roman" panose="02020603050405020304" pitchFamily="18" charset="0"/>
                <a:cs typeface="Times New Roman" panose="02020603050405020304" pitchFamily="18" charset="0"/>
              </a:rPr>
              <a:t>： </a:t>
            </a:r>
            <a:r>
              <a:rPr lang="en-US" altLang="zh-CN" sz="2200" b="1" dirty="0">
                <a:latin typeface="Times New Roman" panose="02020603050405020304" pitchFamily="18" charset="0"/>
                <a:cs typeface="Times New Roman" panose="02020603050405020304" pitchFamily="18" charset="0"/>
              </a:rPr>
              <a:t>M</a:t>
            </a:r>
            <a:r>
              <a:rPr lang="en-US" altLang="zh-CN" sz="2200" b="1" baseline="-25000" dirty="0">
                <a:latin typeface="Times New Roman" panose="02020603050405020304" pitchFamily="18" charset="0"/>
                <a:cs typeface="Times New Roman" panose="02020603050405020304" pitchFamily="18" charset="0"/>
              </a:rPr>
              <a:t>2</a:t>
            </a:r>
            <a:r>
              <a:rPr lang="zh-CN" altLang="en-US" sz="2200" b="1" dirty="0">
                <a:latin typeface="Times New Roman" panose="02020603050405020304" pitchFamily="18" charset="0"/>
                <a:cs typeface="Times New Roman" panose="02020603050405020304" pitchFamily="18" charset="0"/>
              </a:rPr>
              <a:t>访问时间</a:t>
            </a:r>
            <a:endParaRPr lang="en-US" altLang="zh-CN" sz="2200" b="1" dirty="0">
              <a:latin typeface="Times New Roman" panose="02020603050405020304" pitchFamily="18" charset="0"/>
              <a:cs typeface="Times New Roman" panose="02020603050405020304" pitchFamily="18" charset="0"/>
            </a:endParaRPr>
          </a:p>
          <a:p>
            <a:pPr marL="1458000" lvl="2" indent="-342900" eaLnBrk="1" hangingPunct="1">
              <a:buFont typeface="Wingdings" panose="05000000000000000000" pitchFamily="2" charset="2"/>
              <a:buChar char="ü"/>
              <a:tabLst>
                <a:tab pos="2381250" algn="l"/>
              </a:tabLst>
            </a:pPr>
            <a:r>
              <a:rPr lang="en-US" altLang="zh-CN" sz="2200" b="1" dirty="0">
                <a:latin typeface="Times New Roman" panose="02020603050405020304" pitchFamily="18" charset="0"/>
                <a:cs typeface="Times New Roman" panose="02020603050405020304" pitchFamily="18" charset="0"/>
              </a:rPr>
              <a:t>T</a:t>
            </a:r>
            <a:r>
              <a:rPr lang="en-US" altLang="zh-CN" sz="2200" b="1" baseline="-25000" dirty="0">
                <a:latin typeface="Times New Roman" panose="02020603050405020304" pitchFamily="18" charset="0"/>
                <a:cs typeface="Times New Roman" panose="02020603050405020304" pitchFamily="18" charset="0"/>
              </a:rPr>
              <a:t>B </a:t>
            </a:r>
            <a:r>
              <a:rPr lang="zh-CN" altLang="en-US" sz="2200" b="1" dirty="0">
                <a:latin typeface="Times New Roman" panose="02020603050405020304" pitchFamily="18" charset="0"/>
                <a:cs typeface="Times New Roman" panose="02020603050405020304" pitchFamily="18" charset="0"/>
              </a:rPr>
              <a:t>：从</a:t>
            </a:r>
            <a:r>
              <a:rPr lang="en-US" altLang="zh-CN" sz="2200" b="1" dirty="0">
                <a:latin typeface="Times New Roman" panose="02020603050405020304" pitchFamily="18" charset="0"/>
                <a:cs typeface="Times New Roman" panose="02020603050405020304" pitchFamily="18" charset="0"/>
              </a:rPr>
              <a:t>M</a:t>
            </a:r>
            <a:r>
              <a:rPr lang="en-US" altLang="zh-CN" sz="2200" b="1" baseline="-25000" dirty="0">
                <a:latin typeface="Times New Roman" panose="02020603050405020304" pitchFamily="18" charset="0"/>
                <a:cs typeface="Times New Roman" panose="02020603050405020304" pitchFamily="18" charset="0"/>
              </a:rPr>
              <a:t>2</a:t>
            </a:r>
            <a:r>
              <a:rPr lang="zh-CN" altLang="en-US" sz="2200" b="1" dirty="0">
                <a:latin typeface="Times New Roman" panose="02020603050405020304" pitchFamily="18" charset="0"/>
                <a:cs typeface="Times New Roman" panose="02020603050405020304" pitchFamily="18" charset="0"/>
              </a:rPr>
              <a:t>传送一个信息块到</a:t>
            </a:r>
            <a:r>
              <a:rPr lang="en-US" altLang="zh-CN" sz="2200" b="1" dirty="0">
                <a:latin typeface="Times New Roman" panose="02020603050405020304" pitchFamily="18" charset="0"/>
                <a:cs typeface="Times New Roman" panose="02020603050405020304" pitchFamily="18" charset="0"/>
              </a:rPr>
              <a:t>M</a:t>
            </a:r>
            <a:r>
              <a:rPr lang="en-US" altLang="zh-CN" sz="2200" b="1" baseline="-25000" dirty="0">
                <a:latin typeface="Times New Roman" panose="02020603050405020304" pitchFamily="18" charset="0"/>
                <a:cs typeface="Times New Roman" panose="02020603050405020304" pitchFamily="18" charset="0"/>
              </a:rPr>
              <a:t>1</a:t>
            </a:r>
            <a:r>
              <a:rPr lang="zh-CN" altLang="en-US" sz="2200" b="1" dirty="0">
                <a:latin typeface="Times New Roman" panose="02020603050405020304" pitchFamily="18" charset="0"/>
                <a:cs typeface="Times New Roman" panose="02020603050405020304" pitchFamily="18" charset="0"/>
              </a:rPr>
              <a:t>所需的时间。 </a:t>
            </a:r>
          </a:p>
        </p:txBody>
      </p:sp>
      <p:sp>
        <p:nvSpPr>
          <p:cNvPr id="6" name="Rectangle 9">
            <a:extLst>
              <a:ext uri="{FF2B5EF4-FFF2-40B4-BE49-F238E27FC236}">
                <a16:creationId xmlns:a16="http://schemas.microsoft.com/office/drawing/2014/main" id="{230754AE-4B8E-46C2-9594-AEF7B4417C49}"/>
              </a:ext>
            </a:extLst>
          </p:cNvPr>
          <p:cNvSpPr>
            <a:spLocks noChangeArrowheads="1"/>
          </p:cNvSpPr>
          <p:nvPr/>
        </p:nvSpPr>
        <p:spPr bwMode="auto">
          <a:xfrm>
            <a:off x="989012" y="116632"/>
            <a:ext cx="7165975" cy="676275"/>
          </a:xfrm>
          <a:prstGeom prst="rect">
            <a:avLst/>
          </a:prstGeom>
          <a:noFill/>
          <a:ln>
            <a:noFill/>
          </a:ln>
          <a:effectLst/>
        </p:spPr>
        <p:txBody>
          <a:bodyPr anchor="b"/>
          <a:lstStyle/>
          <a:p>
            <a:pPr algn="ctr" eaLnBrk="0" hangingPunct="0">
              <a:defRPr/>
            </a:pPr>
            <a:r>
              <a:rPr lang="en-US" altLang="zh-CN" sz="3600" dirty="0">
                <a:latin typeface="Times New Roman" panose="02020603050405020304" pitchFamily="18" charset="0"/>
                <a:ea typeface="+mj-ea"/>
                <a:cs typeface="Times New Roman" panose="02020603050405020304" pitchFamily="18" charset="0"/>
              </a:rPr>
              <a:t>5.1.2</a:t>
            </a:r>
            <a:r>
              <a:rPr lang="en-US" altLang="zh-CN" sz="3600" dirty="0">
                <a:latin typeface="+mj-lt"/>
                <a:ea typeface="+mj-ea"/>
                <a:cs typeface="+mj-cs"/>
              </a:rPr>
              <a:t>    </a:t>
            </a:r>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存储层次的性能参数</a:t>
            </a:r>
          </a:p>
        </p:txBody>
      </p:sp>
      <p:sp>
        <p:nvSpPr>
          <p:cNvPr id="2" name="日期占位符 1">
            <a:extLst>
              <a:ext uri="{FF2B5EF4-FFF2-40B4-BE49-F238E27FC236}">
                <a16:creationId xmlns:a16="http://schemas.microsoft.com/office/drawing/2014/main" id="{A6B1D286-B325-1C6E-DB70-73E3BAA222A5}"/>
              </a:ext>
            </a:extLst>
          </p:cNvPr>
          <p:cNvSpPr>
            <a:spLocks noGrp="1"/>
          </p:cNvSpPr>
          <p:nvPr>
            <p:ph type="dt" sz="half" idx="10"/>
          </p:nvPr>
        </p:nvSpPr>
        <p:spPr/>
        <p:txBody>
          <a:bodyPr/>
          <a:lstStyle/>
          <a:p>
            <a:pPr>
              <a:defRPr/>
            </a:pPr>
            <a:fld id="{4742F6C5-FB75-4529-9756-0133B8407827}"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6A54F783-0FDC-5AB0-27F2-BA596FDE6E2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422869CF-DEF1-40F1-28B2-F0A34AF18B68}"/>
              </a:ext>
            </a:extLst>
          </p:cNvPr>
          <p:cNvSpPr>
            <a:spLocks noGrp="1"/>
          </p:cNvSpPr>
          <p:nvPr>
            <p:ph type="sldNum" sz="quarter" idx="12"/>
          </p:nvPr>
        </p:nvSpPr>
        <p:spPr/>
        <p:txBody>
          <a:bodyPr/>
          <a:lstStyle/>
          <a:p>
            <a:pPr>
              <a:defRPr/>
            </a:pPr>
            <a:fld id="{8BCAC33D-D29A-48B3-BCD6-381D3D720D26}" type="slidenum">
              <a:rPr lang="zh-CN" altLang="en-US" smtClean="0"/>
              <a:t>20</a:t>
            </a:fld>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descr="Rectangle: Click to edit Master text styles&#10;Second level&#10;Third level&#10;Fourth level&#10;Fifth level">
            <a:extLst>
              <a:ext uri="{FF2B5EF4-FFF2-40B4-BE49-F238E27FC236}">
                <a16:creationId xmlns:a16="http://schemas.microsoft.com/office/drawing/2014/main" id="{72CE6CBA-25E6-4214-8EFF-8EBC41F2485D}"/>
              </a:ext>
            </a:extLst>
          </p:cNvPr>
          <p:cNvSpPr>
            <a:spLocks noGrp="1" noChangeArrowheads="1"/>
          </p:cNvSpPr>
          <p:nvPr>
            <p:ph type="body" sz="half" idx="1"/>
          </p:nvPr>
        </p:nvSpPr>
        <p:spPr>
          <a:xfrm>
            <a:off x="381000" y="1100137"/>
            <a:ext cx="7773987" cy="2930525"/>
          </a:xfrm>
        </p:spPr>
        <p:txBody>
          <a:bodyPr/>
          <a:lstStyle/>
          <a:p>
            <a:pPr marL="727200" lvl="1" indent="-457200" eaLnBrk="1" hangingPunct="1">
              <a:lnSpc>
                <a:spcPct val="110000"/>
              </a:lnSpc>
              <a:buFont typeface="Wingdings" panose="05000000000000000000" pitchFamily="2" charset="2"/>
              <a:buChar char="Ø"/>
            </a:pPr>
            <a:r>
              <a:rPr lang="zh-CN" altLang="en-US" b="1" dirty="0">
                <a:latin typeface="Times New Roman" panose="02020603050405020304" pitchFamily="18" charset="0"/>
                <a:cs typeface="Times New Roman" panose="02020603050405020304" pitchFamily="18" charset="0"/>
              </a:rPr>
              <a:t>三级存储系统</a:t>
            </a:r>
          </a:p>
          <a:p>
            <a:pPr lvl="2" eaLnBrk="1" hangingPunct="1">
              <a:lnSpc>
                <a:spcPct val="110000"/>
              </a:lnSpc>
            </a:pPr>
            <a:r>
              <a:rPr lang="en-US" altLang="zh-CN" b="1" dirty="0">
                <a:latin typeface="Times New Roman" panose="02020603050405020304" pitchFamily="18" charset="0"/>
                <a:cs typeface="Times New Roman" panose="02020603050405020304" pitchFamily="18" charset="0"/>
              </a:rPr>
              <a:t>Cache</a:t>
            </a:r>
            <a:r>
              <a:rPr lang="zh-CN" altLang="en-US" b="1" dirty="0">
                <a:latin typeface="Times New Roman" panose="02020603050405020304" pitchFamily="18" charset="0"/>
                <a:cs typeface="Times New Roman" panose="02020603050405020304" pitchFamily="18" charset="0"/>
              </a:rPr>
              <a:t>（高速缓冲存储器）</a:t>
            </a:r>
          </a:p>
          <a:p>
            <a:pPr lvl="2" eaLnBrk="1" hangingPunct="1">
              <a:lnSpc>
                <a:spcPct val="110000"/>
              </a:lnSpc>
            </a:pPr>
            <a:r>
              <a:rPr lang="zh-CN" altLang="en-US" b="1" dirty="0">
                <a:latin typeface="Times New Roman" panose="02020603050405020304" pitchFamily="18" charset="0"/>
                <a:cs typeface="Times New Roman" panose="02020603050405020304" pitchFamily="18" charset="0"/>
              </a:rPr>
              <a:t>主存储器</a:t>
            </a:r>
          </a:p>
          <a:p>
            <a:pPr lvl="2" eaLnBrk="1" hangingPunct="1">
              <a:lnSpc>
                <a:spcPct val="110000"/>
              </a:lnSpc>
            </a:pPr>
            <a:r>
              <a:rPr lang="zh-CN" altLang="en-US" b="1" dirty="0">
                <a:latin typeface="Times New Roman" panose="02020603050405020304" pitchFamily="18" charset="0"/>
                <a:cs typeface="Times New Roman" panose="02020603050405020304" pitchFamily="18" charset="0"/>
              </a:rPr>
              <a:t>磁盘存储器（辅存）</a:t>
            </a:r>
          </a:p>
          <a:p>
            <a:pPr marL="727200" lvl="1" indent="-457200" eaLnBrk="1" hangingPunct="1">
              <a:lnSpc>
                <a:spcPct val="110000"/>
              </a:lnSpc>
              <a:buFont typeface="Wingdings" panose="05000000000000000000" pitchFamily="2" charset="2"/>
              <a:buChar char="Ø"/>
            </a:pPr>
            <a:r>
              <a:rPr lang="zh-CN" altLang="en-US" b="1" dirty="0">
                <a:latin typeface="Times New Roman" panose="02020603050405020304" pitchFamily="18" charset="0"/>
                <a:cs typeface="Times New Roman" panose="02020603050405020304" pitchFamily="18" charset="0"/>
              </a:rPr>
              <a:t>可以看成是由“</a:t>
            </a:r>
            <a:r>
              <a:rPr lang="en-US" altLang="zh-CN" b="1" dirty="0">
                <a:solidFill>
                  <a:srgbClr val="C00000"/>
                </a:solidFill>
                <a:latin typeface="Times New Roman" panose="02020603050405020304" pitchFamily="18" charset="0"/>
                <a:cs typeface="Times New Roman" panose="02020603050405020304" pitchFamily="18" charset="0"/>
              </a:rPr>
              <a:t>Cache—</a:t>
            </a:r>
            <a:r>
              <a:rPr lang="zh-CN" altLang="en-US" b="1" dirty="0">
                <a:solidFill>
                  <a:srgbClr val="C00000"/>
                </a:solidFill>
                <a:latin typeface="Times New Roman" panose="02020603050405020304" pitchFamily="18" charset="0"/>
                <a:cs typeface="Times New Roman" panose="02020603050405020304" pitchFamily="18" charset="0"/>
              </a:rPr>
              <a:t>主存</a:t>
            </a:r>
            <a:r>
              <a:rPr lang="zh-CN" altLang="en-US" b="1" dirty="0">
                <a:latin typeface="Times New Roman" panose="02020603050405020304" pitchFamily="18" charset="0"/>
                <a:cs typeface="Times New Roman" panose="02020603050405020304" pitchFamily="18" charset="0"/>
              </a:rPr>
              <a:t>”层次和“</a:t>
            </a:r>
            <a:r>
              <a:rPr lang="zh-CN" altLang="en-US" b="1" dirty="0">
                <a:solidFill>
                  <a:srgbClr val="C00000"/>
                </a:solidFill>
                <a:latin typeface="Times New Roman" panose="02020603050405020304" pitchFamily="18" charset="0"/>
                <a:cs typeface="Times New Roman" panose="02020603050405020304" pitchFamily="18" charset="0"/>
              </a:rPr>
              <a:t>主存</a:t>
            </a:r>
            <a:r>
              <a:rPr lang="en-US" altLang="zh-CN" b="1" dirty="0">
                <a:solidFill>
                  <a:srgbClr val="C00000"/>
                </a:solidFill>
                <a:latin typeface="Times New Roman" panose="02020603050405020304" pitchFamily="18" charset="0"/>
                <a:cs typeface="Times New Roman" panose="02020603050405020304" pitchFamily="18" charset="0"/>
              </a:rPr>
              <a:t>—</a:t>
            </a:r>
            <a:r>
              <a:rPr lang="zh-CN" altLang="en-US" b="1" dirty="0">
                <a:solidFill>
                  <a:srgbClr val="C00000"/>
                </a:solidFill>
                <a:latin typeface="Times New Roman" panose="02020603050405020304" pitchFamily="18" charset="0"/>
                <a:cs typeface="Times New Roman" panose="02020603050405020304" pitchFamily="18" charset="0"/>
              </a:rPr>
              <a:t>辅存</a:t>
            </a:r>
            <a:r>
              <a:rPr lang="zh-CN" altLang="en-US" b="1" dirty="0">
                <a:latin typeface="Times New Roman" panose="02020603050405020304" pitchFamily="18" charset="0"/>
                <a:cs typeface="Times New Roman" panose="02020603050405020304" pitchFamily="18" charset="0"/>
              </a:rPr>
              <a:t>”层次构成的系统。</a:t>
            </a:r>
          </a:p>
        </p:txBody>
      </p:sp>
      <p:graphicFrame>
        <p:nvGraphicFramePr>
          <p:cNvPr id="22532" name="Object 5">
            <a:extLst>
              <a:ext uri="{FF2B5EF4-FFF2-40B4-BE49-F238E27FC236}">
                <a16:creationId xmlns:a16="http://schemas.microsoft.com/office/drawing/2014/main" id="{929A0A9F-4690-4BC9-BABC-A7CD7B60A930}"/>
              </a:ext>
            </a:extLst>
          </p:cNvPr>
          <p:cNvGraphicFramePr>
            <a:graphicFrameLocks noGrp="1" noChangeAspect="1"/>
          </p:cNvGraphicFramePr>
          <p:nvPr>
            <p:ph sz="half" idx="2"/>
            <p:extLst>
              <p:ext uri="{D42A27DB-BD31-4B8C-83A1-F6EECF244321}">
                <p14:modId xmlns:p14="http://schemas.microsoft.com/office/powerpoint/2010/main" val="3212614092"/>
              </p:ext>
            </p:extLst>
          </p:nvPr>
        </p:nvGraphicFramePr>
        <p:xfrm>
          <a:off x="2123728" y="4293096"/>
          <a:ext cx="4537075" cy="1620838"/>
        </p:xfrm>
        <a:graphic>
          <a:graphicData uri="http://schemas.openxmlformats.org/presentationml/2006/ole">
            <mc:AlternateContent xmlns:mc="http://schemas.openxmlformats.org/markup-compatibility/2006">
              <mc:Choice xmlns:v="urn:schemas-microsoft-com:vml" Requires="v">
                <p:oleObj name="图片" r:id="rId3" imgW="2542032" imgH="911352" progId="Word.Picture.8">
                  <p:embed/>
                </p:oleObj>
              </mc:Choice>
              <mc:Fallback>
                <p:oleObj name="图片" r:id="rId3" imgW="2542032" imgH="911352" progId="Word.Picture.8">
                  <p:embed/>
                  <p:pic>
                    <p:nvPicPr>
                      <p:cNvPr id="22532" name="Object 5">
                        <a:extLst>
                          <a:ext uri="{FF2B5EF4-FFF2-40B4-BE49-F238E27FC236}">
                            <a16:creationId xmlns:a16="http://schemas.microsoft.com/office/drawing/2014/main" id="{929A0A9F-4690-4BC9-BABC-A7CD7B60A9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728" y="4293096"/>
                        <a:ext cx="4537075" cy="1620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Rectangle 9">
            <a:extLst>
              <a:ext uri="{FF2B5EF4-FFF2-40B4-BE49-F238E27FC236}">
                <a16:creationId xmlns:a16="http://schemas.microsoft.com/office/drawing/2014/main" id="{36B767A8-EAAB-4A9F-ACB0-AA70C2F0EE67}"/>
              </a:ext>
            </a:extLst>
          </p:cNvPr>
          <p:cNvSpPr>
            <a:spLocks noChangeArrowheads="1"/>
          </p:cNvSpPr>
          <p:nvPr/>
        </p:nvSpPr>
        <p:spPr bwMode="auto">
          <a:xfrm>
            <a:off x="989012" y="260648"/>
            <a:ext cx="7165975" cy="676275"/>
          </a:xfrm>
          <a:prstGeom prst="rect">
            <a:avLst/>
          </a:prstGeom>
          <a:noFill/>
          <a:ln>
            <a:noFill/>
          </a:ln>
          <a:effectLst/>
        </p:spPr>
        <p:txBody>
          <a:bodyPr anchor="b"/>
          <a:lstStyle/>
          <a:p>
            <a:pPr algn="ctr" eaLnBrk="0" hangingPunct="0">
              <a:defRPr/>
            </a:pPr>
            <a:r>
              <a:rPr lang="en-US" altLang="zh-CN" sz="3600" dirty="0">
                <a:latin typeface="Times New Roman" panose="02020603050405020304" pitchFamily="18" charset="0"/>
                <a:ea typeface="+mj-ea"/>
                <a:cs typeface="Times New Roman" panose="02020603050405020304" pitchFamily="18" charset="0"/>
              </a:rPr>
              <a:t>5.1.3    </a:t>
            </a:r>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两种存储层次关系</a:t>
            </a:r>
          </a:p>
        </p:txBody>
      </p:sp>
      <p:sp>
        <p:nvSpPr>
          <p:cNvPr id="2" name="日期占位符 1">
            <a:extLst>
              <a:ext uri="{FF2B5EF4-FFF2-40B4-BE49-F238E27FC236}">
                <a16:creationId xmlns:a16="http://schemas.microsoft.com/office/drawing/2014/main" id="{5C78DF3D-4783-A3CB-8798-432A2B999B0B}"/>
              </a:ext>
            </a:extLst>
          </p:cNvPr>
          <p:cNvSpPr>
            <a:spLocks noGrp="1"/>
          </p:cNvSpPr>
          <p:nvPr>
            <p:ph type="dt" sz="half" idx="10"/>
          </p:nvPr>
        </p:nvSpPr>
        <p:spPr/>
        <p:txBody>
          <a:bodyPr/>
          <a:lstStyle/>
          <a:p>
            <a:pPr>
              <a:defRPr/>
            </a:pPr>
            <a:fld id="{58AC333D-D898-45AA-BD1E-2C447AB58BD3}"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8C3FAFAD-CD24-9E05-97CD-1CA26F89491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6493B96-7AFD-0B60-A1BF-7B1B2DDBCD5C}"/>
              </a:ext>
            </a:extLst>
          </p:cNvPr>
          <p:cNvSpPr>
            <a:spLocks noGrp="1"/>
          </p:cNvSpPr>
          <p:nvPr>
            <p:ph type="sldNum" sz="quarter" idx="12"/>
          </p:nvPr>
        </p:nvSpPr>
        <p:spPr/>
        <p:txBody>
          <a:bodyPr/>
          <a:lstStyle/>
          <a:p>
            <a:pPr>
              <a:defRPr/>
            </a:pPr>
            <a:fld id="{396D679E-57F5-4175-9854-A039894B7CE4}" type="slidenum">
              <a:rPr lang="en-US" altLang="zh-CN" smtClean="0"/>
              <a:pPr>
                <a:defRPr/>
              </a:pPr>
              <a:t>21</a:t>
            </a:fld>
            <a:endParaRPr lang="en-US" altLang="zh-CN"/>
          </a:p>
        </p:txBody>
      </p:sp>
    </p:spTree>
  </p:cSld>
  <p:clrMapOvr>
    <a:masterClrMapping/>
  </p:clrMapOvr>
  <p:transition>
    <p:pull dir="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descr="Rectangle: Click to edit Master text styles&#10;Second level&#10;Third level&#10;Fourth level&#10;Fifth level">
            <a:extLst>
              <a:ext uri="{FF2B5EF4-FFF2-40B4-BE49-F238E27FC236}">
                <a16:creationId xmlns:a16="http://schemas.microsoft.com/office/drawing/2014/main" id="{994D3A4A-76B4-41F1-AFF3-BDE956DD9DDC}"/>
              </a:ext>
            </a:extLst>
          </p:cNvPr>
          <p:cNvSpPr>
            <a:spLocks noGrp="1" noChangeArrowheads="1"/>
          </p:cNvSpPr>
          <p:nvPr>
            <p:ph type="body" idx="1"/>
          </p:nvPr>
        </p:nvSpPr>
        <p:spPr>
          <a:xfrm>
            <a:off x="395536" y="1124744"/>
            <a:ext cx="7848475" cy="3744913"/>
          </a:xfrm>
        </p:spPr>
        <p:txBody>
          <a:bodyPr/>
          <a:lstStyle/>
          <a:p>
            <a:pPr eaLnBrk="1" hangingPunct="1">
              <a:buFont typeface="Wingdings" panose="05000000000000000000" pitchFamily="2" charset="2"/>
              <a:buChar char="Ø"/>
            </a:pPr>
            <a:r>
              <a:rPr lang="zh-CN" altLang="en-US" sz="2800" b="1" dirty="0">
                <a:latin typeface="Times New Roman" panose="02020603050405020304" pitchFamily="18" charset="0"/>
                <a:cs typeface="Times New Roman" panose="02020603050405020304" pitchFamily="18" charset="0"/>
              </a:rPr>
              <a:t>从主存的角度看</a:t>
            </a:r>
          </a:p>
          <a:p>
            <a:pPr lvl="2" eaLnBrk="1" hangingPunct="1"/>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Cache</a:t>
            </a:r>
            <a:r>
              <a:rPr lang="zh-CN" altLang="en-US" b="1" dirty="0">
                <a:latin typeface="Times New Roman" panose="02020603050405020304" pitchFamily="18" charset="0"/>
                <a:cs typeface="Times New Roman" panose="02020603050405020304" pitchFamily="18" charset="0"/>
              </a:rPr>
              <a:t>－主存”层次：弥补主存</a:t>
            </a:r>
            <a:r>
              <a:rPr lang="zh-CN" altLang="en-US" b="1" dirty="0">
                <a:solidFill>
                  <a:srgbClr val="D60093"/>
                </a:solidFill>
                <a:latin typeface="Times New Roman" panose="02020603050405020304" pitchFamily="18" charset="0"/>
                <a:cs typeface="Times New Roman" panose="02020603050405020304" pitchFamily="18" charset="0"/>
              </a:rPr>
              <a:t>速度的不足</a:t>
            </a:r>
          </a:p>
          <a:p>
            <a:pPr lvl="2" eaLnBrk="1" hangingPunct="1"/>
            <a:r>
              <a:rPr lang="zh-CN" altLang="en-US" b="1" dirty="0">
                <a:latin typeface="Times New Roman" panose="02020603050405020304" pitchFamily="18" charset="0"/>
                <a:cs typeface="Times New Roman" panose="02020603050405020304" pitchFamily="18" charset="0"/>
              </a:rPr>
              <a:t>“主存－辅存”层次： 弥补主存</a:t>
            </a:r>
            <a:r>
              <a:rPr lang="zh-CN" altLang="en-US" b="1" dirty="0">
                <a:solidFill>
                  <a:srgbClr val="D60093"/>
                </a:solidFill>
                <a:latin typeface="Times New Roman" panose="02020603050405020304" pitchFamily="18" charset="0"/>
                <a:cs typeface="Times New Roman" panose="02020603050405020304" pitchFamily="18" charset="0"/>
              </a:rPr>
              <a:t>容量的不足</a:t>
            </a:r>
          </a:p>
          <a:p>
            <a:pPr marL="1085850" lvl="1" indent="-457200" eaLnBrk="1" hangingPunct="1"/>
            <a:endParaRPr lang="en-US" altLang="zh-CN" b="1" dirty="0">
              <a:solidFill>
                <a:schemeClr val="bg1"/>
              </a:solidFill>
              <a:latin typeface="Times New Roman" panose="02020603050405020304" pitchFamily="18" charset="0"/>
              <a:cs typeface="Times New Roman" panose="02020603050405020304" pitchFamily="18" charset="0"/>
            </a:endParaRPr>
          </a:p>
        </p:txBody>
      </p:sp>
      <p:sp>
        <p:nvSpPr>
          <p:cNvPr id="6" name="Rectangle 9">
            <a:extLst>
              <a:ext uri="{FF2B5EF4-FFF2-40B4-BE49-F238E27FC236}">
                <a16:creationId xmlns:a16="http://schemas.microsoft.com/office/drawing/2014/main" id="{80448D83-96A1-46F5-85A3-32E8865510A4}"/>
              </a:ext>
            </a:extLst>
          </p:cNvPr>
          <p:cNvSpPr>
            <a:spLocks noChangeArrowheads="1"/>
          </p:cNvSpPr>
          <p:nvPr/>
        </p:nvSpPr>
        <p:spPr bwMode="auto">
          <a:xfrm>
            <a:off x="989012" y="260648"/>
            <a:ext cx="7165975" cy="676275"/>
          </a:xfrm>
          <a:prstGeom prst="rect">
            <a:avLst/>
          </a:prstGeom>
          <a:noFill/>
          <a:ln>
            <a:noFill/>
          </a:ln>
          <a:effectLst/>
        </p:spPr>
        <p:txBody>
          <a:bodyPr anchor="b"/>
          <a:lstStyle/>
          <a:p>
            <a:pPr algn="ctr" eaLnBrk="0" hangingPunct="0">
              <a:defRPr/>
            </a:pPr>
            <a:r>
              <a:rPr lang="en-US" altLang="zh-CN" sz="3600" dirty="0">
                <a:latin typeface="Times New Roman" panose="02020603050405020304" pitchFamily="18" charset="0"/>
                <a:ea typeface="+mj-ea"/>
                <a:cs typeface="Times New Roman" panose="02020603050405020304" pitchFamily="18" charset="0"/>
              </a:rPr>
              <a:t>5.1.3    </a:t>
            </a:r>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两种存储层次关系</a:t>
            </a:r>
          </a:p>
        </p:txBody>
      </p:sp>
      <p:pic>
        <p:nvPicPr>
          <p:cNvPr id="4" name="Picture 4" descr="5-3-2">
            <a:extLst>
              <a:ext uri="{FF2B5EF4-FFF2-40B4-BE49-F238E27FC236}">
                <a16:creationId xmlns:a16="http://schemas.microsoft.com/office/drawing/2014/main" id="{FD5CBC05-DEC8-4DB5-89F3-9A62EEB453D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9752" y="2708920"/>
            <a:ext cx="3456384" cy="3852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BED2E037-B260-1640-4762-E2997E38274A}"/>
              </a:ext>
            </a:extLst>
          </p:cNvPr>
          <p:cNvSpPr>
            <a:spLocks noGrp="1"/>
          </p:cNvSpPr>
          <p:nvPr>
            <p:ph type="dt" sz="half" idx="10"/>
          </p:nvPr>
        </p:nvSpPr>
        <p:spPr/>
        <p:txBody>
          <a:bodyPr/>
          <a:lstStyle/>
          <a:p>
            <a:pPr>
              <a:defRPr/>
            </a:pPr>
            <a:fld id="{851EBD73-3AC0-4921-ACD0-97EA4915F723}"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EAC7BC4A-B0DC-B49C-2D56-B54B286EF070}"/>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53A370E7-CF40-4B3D-82E5-D8F01DE96BCD}"/>
              </a:ext>
            </a:extLst>
          </p:cNvPr>
          <p:cNvSpPr>
            <a:spLocks noGrp="1"/>
          </p:cNvSpPr>
          <p:nvPr>
            <p:ph type="sldNum" sz="quarter" idx="12"/>
          </p:nvPr>
        </p:nvSpPr>
        <p:spPr/>
        <p:txBody>
          <a:bodyPr/>
          <a:lstStyle/>
          <a:p>
            <a:pPr>
              <a:defRPr/>
            </a:pPr>
            <a:fld id="{8BCAC33D-D29A-48B3-BCD6-381D3D720D26}" type="slidenum">
              <a:rPr lang="zh-CN" altLang="en-US" smtClean="0"/>
              <a:t>22</a:t>
            </a:fld>
            <a:endParaRPr lang="en-US" altLang="zh-C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838200" y="2133600"/>
            <a:ext cx="7837488" cy="3657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1800"/>
          </a:p>
        </p:txBody>
      </p:sp>
      <p:sp>
        <p:nvSpPr>
          <p:cNvPr id="14339" name="Rectangle 3"/>
          <p:cNvSpPr>
            <a:spLocks noChangeArrowheads="1"/>
          </p:cNvSpPr>
          <p:nvPr/>
        </p:nvSpPr>
        <p:spPr bwMode="auto">
          <a:xfrm>
            <a:off x="611188" y="2133600"/>
            <a:ext cx="2360612" cy="3657600"/>
          </a:xfrm>
          <a:prstGeom prst="rect">
            <a:avLst/>
          </a:prstGeom>
          <a:solidFill>
            <a:srgbClr val="FEF3C2"/>
          </a:solidFill>
          <a:ln w="9525">
            <a:solidFill>
              <a:schemeClr val="tx1"/>
            </a:solidFill>
            <a:miter lim="800000"/>
            <a:headEnd/>
            <a:tailEnd/>
          </a:ln>
        </p:spPr>
        <p:txBody>
          <a:bodyPr wrap="none" anchor="ct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1800"/>
          </a:p>
        </p:txBody>
      </p:sp>
      <p:sp>
        <p:nvSpPr>
          <p:cNvPr id="14340" name="Rectangle 4"/>
          <p:cNvSpPr>
            <a:spLocks noChangeArrowheads="1"/>
          </p:cNvSpPr>
          <p:nvPr/>
        </p:nvSpPr>
        <p:spPr bwMode="auto">
          <a:xfrm>
            <a:off x="611188" y="1371600"/>
            <a:ext cx="8064500" cy="762000"/>
          </a:xfrm>
          <a:prstGeom prst="rect">
            <a:avLst/>
          </a:prstGeom>
          <a:solidFill>
            <a:srgbClr val="FEF3C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endParaRPr lang="zh-CN" altLang="en-US" sz="1800"/>
          </a:p>
        </p:txBody>
      </p:sp>
      <p:grpSp>
        <p:nvGrpSpPr>
          <p:cNvPr id="14341" name="Group 41"/>
          <p:cNvGrpSpPr>
            <a:grpSpLocks/>
          </p:cNvGrpSpPr>
          <p:nvPr/>
        </p:nvGrpSpPr>
        <p:grpSpPr bwMode="auto">
          <a:xfrm>
            <a:off x="611188" y="1371600"/>
            <a:ext cx="8064500" cy="762000"/>
            <a:chOff x="528" y="864"/>
            <a:chExt cx="4752" cy="480"/>
          </a:xfrm>
        </p:grpSpPr>
        <p:sp>
          <p:nvSpPr>
            <p:cNvPr id="14376" name="Line 5"/>
            <p:cNvSpPr>
              <a:spLocks noChangeShapeType="1"/>
            </p:cNvSpPr>
            <p:nvPr/>
          </p:nvSpPr>
          <p:spPr bwMode="auto">
            <a:xfrm>
              <a:off x="528" y="864"/>
              <a:ext cx="47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zh-CN" altLang="en-US" sz="1800"/>
            </a:p>
          </p:txBody>
        </p:sp>
        <p:sp>
          <p:nvSpPr>
            <p:cNvPr id="14377" name="Line 6"/>
            <p:cNvSpPr>
              <a:spLocks noChangeShapeType="1"/>
            </p:cNvSpPr>
            <p:nvPr/>
          </p:nvSpPr>
          <p:spPr bwMode="auto">
            <a:xfrm>
              <a:off x="528" y="1344"/>
              <a:ext cx="475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zh-CN" altLang="en-US" sz="1800"/>
            </a:p>
          </p:txBody>
        </p:sp>
      </p:grpSp>
      <p:sp>
        <p:nvSpPr>
          <p:cNvPr id="14342" name="Line 7"/>
          <p:cNvSpPr>
            <a:spLocks noChangeShapeType="1"/>
          </p:cNvSpPr>
          <p:nvPr/>
        </p:nvSpPr>
        <p:spPr bwMode="auto">
          <a:xfrm>
            <a:off x="611188" y="2667000"/>
            <a:ext cx="80645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zh-CN" altLang="en-US" sz="1800"/>
          </a:p>
        </p:txBody>
      </p:sp>
      <p:sp>
        <p:nvSpPr>
          <p:cNvPr id="14343" name="Line 8"/>
          <p:cNvSpPr>
            <a:spLocks noChangeShapeType="1"/>
          </p:cNvSpPr>
          <p:nvPr/>
        </p:nvSpPr>
        <p:spPr bwMode="auto">
          <a:xfrm>
            <a:off x="611188" y="3200400"/>
            <a:ext cx="80645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zh-CN" altLang="en-US" sz="1800"/>
          </a:p>
        </p:txBody>
      </p:sp>
      <p:sp>
        <p:nvSpPr>
          <p:cNvPr id="14344" name="Line 9"/>
          <p:cNvSpPr>
            <a:spLocks noChangeShapeType="1"/>
          </p:cNvSpPr>
          <p:nvPr/>
        </p:nvSpPr>
        <p:spPr bwMode="auto">
          <a:xfrm>
            <a:off x="611188" y="4114800"/>
            <a:ext cx="80645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zh-CN" altLang="en-US" sz="1800"/>
          </a:p>
        </p:txBody>
      </p:sp>
      <p:sp>
        <p:nvSpPr>
          <p:cNvPr id="14345" name="Line 10"/>
          <p:cNvSpPr>
            <a:spLocks noChangeShapeType="1"/>
          </p:cNvSpPr>
          <p:nvPr/>
        </p:nvSpPr>
        <p:spPr bwMode="auto">
          <a:xfrm>
            <a:off x="611188" y="4648200"/>
            <a:ext cx="80645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zh-CN" altLang="en-US" sz="1800"/>
          </a:p>
        </p:txBody>
      </p:sp>
      <p:sp>
        <p:nvSpPr>
          <p:cNvPr id="14346" name="Line 11"/>
          <p:cNvSpPr>
            <a:spLocks noChangeShapeType="1"/>
          </p:cNvSpPr>
          <p:nvPr/>
        </p:nvSpPr>
        <p:spPr bwMode="auto">
          <a:xfrm>
            <a:off x="611188" y="5295900"/>
            <a:ext cx="80645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zh-CN" altLang="en-US" sz="1800"/>
          </a:p>
        </p:txBody>
      </p:sp>
      <p:sp>
        <p:nvSpPr>
          <p:cNvPr id="14347" name="Line 12"/>
          <p:cNvSpPr>
            <a:spLocks noChangeShapeType="1"/>
          </p:cNvSpPr>
          <p:nvPr/>
        </p:nvSpPr>
        <p:spPr bwMode="auto">
          <a:xfrm>
            <a:off x="611188" y="5805488"/>
            <a:ext cx="80645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zh-CN" altLang="en-US" sz="1800"/>
          </a:p>
        </p:txBody>
      </p:sp>
      <p:sp>
        <p:nvSpPr>
          <p:cNvPr id="14348" name="Text Box 13"/>
          <p:cNvSpPr txBox="1">
            <a:spLocks noChangeArrowheads="1"/>
          </p:cNvSpPr>
          <p:nvPr/>
        </p:nvSpPr>
        <p:spPr bwMode="auto">
          <a:xfrm>
            <a:off x="1763713" y="1385888"/>
            <a:ext cx="12461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dirty="0">
                <a:latin typeface="楷体_GB2312" pitchFamily="49" charset="-122"/>
                <a:ea typeface="楷体_GB2312" pitchFamily="49" charset="-122"/>
              </a:rPr>
              <a:t>存储层次</a:t>
            </a:r>
          </a:p>
        </p:txBody>
      </p:sp>
      <p:sp>
        <p:nvSpPr>
          <p:cNvPr id="14349" name="Text Box 14"/>
          <p:cNvSpPr txBox="1">
            <a:spLocks noChangeArrowheads="1"/>
          </p:cNvSpPr>
          <p:nvPr/>
        </p:nvSpPr>
        <p:spPr bwMode="auto">
          <a:xfrm>
            <a:off x="855662" y="4648199"/>
            <a:ext cx="219868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1800" dirty="0">
                <a:latin typeface="楷体_GB2312" pitchFamily="49" charset="-122"/>
                <a:ea typeface="楷体_GB2312" pitchFamily="49" charset="-122"/>
              </a:rPr>
              <a:t>CPU</a:t>
            </a:r>
            <a:r>
              <a:rPr kumimoji="1" lang="zh-CN" altLang="zh-CN" sz="1800" dirty="0">
                <a:latin typeface="楷体_GB2312" pitchFamily="49" charset="-122"/>
                <a:ea typeface="楷体_GB2312" pitchFamily="49" charset="-122"/>
              </a:rPr>
              <a:t>对第二级的</a:t>
            </a:r>
            <a:br>
              <a:rPr kumimoji="1" lang="zh-CN" altLang="zh-CN" sz="1800" dirty="0">
                <a:latin typeface="楷体_GB2312" pitchFamily="49" charset="-122"/>
                <a:ea typeface="楷体_GB2312" pitchFamily="49" charset="-122"/>
              </a:rPr>
            </a:br>
            <a:r>
              <a:rPr kumimoji="1" lang="zh-CN" altLang="zh-CN" sz="1800" dirty="0">
                <a:latin typeface="楷体_GB2312" pitchFamily="49" charset="-122"/>
                <a:ea typeface="楷体_GB2312" pitchFamily="49" charset="-122"/>
              </a:rPr>
              <a:t>访问方式</a:t>
            </a:r>
            <a:endParaRPr kumimoji="1" lang="zh-CN" altLang="en-US" sz="1800" dirty="0">
              <a:latin typeface="楷体_GB2312" pitchFamily="49" charset="-122"/>
              <a:ea typeface="楷体_GB2312" pitchFamily="49" charset="-122"/>
            </a:endParaRPr>
          </a:p>
        </p:txBody>
      </p:sp>
      <p:sp>
        <p:nvSpPr>
          <p:cNvPr id="14350" name="Line 15"/>
          <p:cNvSpPr>
            <a:spLocks noChangeShapeType="1"/>
          </p:cNvSpPr>
          <p:nvPr/>
        </p:nvSpPr>
        <p:spPr bwMode="auto">
          <a:xfrm>
            <a:off x="2971800" y="1371600"/>
            <a:ext cx="0" cy="441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zh-CN" altLang="en-US" sz="1800"/>
          </a:p>
        </p:txBody>
      </p:sp>
      <p:sp>
        <p:nvSpPr>
          <p:cNvPr id="14351" name="Text Box 16"/>
          <p:cNvSpPr txBox="1">
            <a:spLocks noChangeArrowheads="1"/>
          </p:cNvSpPr>
          <p:nvPr/>
        </p:nvSpPr>
        <p:spPr bwMode="auto">
          <a:xfrm>
            <a:off x="819150" y="1752600"/>
            <a:ext cx="12382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a:latin typeface="楷体_GB2312" pitchFamily="49" charset="-122"/>
                <a:ea typeface="楷体_GB2312" pitchFamily="49" charset="-122"/>
              </a:rPr>
              <a:t>比较项目</a:t>
            </a:r>
          </a:p>
        </p:txBody>
      </p:sp>
      <p:sp>
        <p:nvSpPr>
          <p:cNvPr id="14352" name="Line 17"/>
          <p:cNvSpPr>
            <a:spLocks noChangeShapeType="1"/>
          </p:cNvSpPr>
          <p:nvPr/>
        </p:nvSpPr>
        <p:spPr bwMode="auto">
          <a:xfrm>
            <a:off x="611188" y="1412875"/>
            <a:ext cx="2360612"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zh-CN" altLang="en-US" sz="1800"/>
          </a:p>
        </p:txBody>
      </p:sp>
      <p:sp>
        <p:nvSpPr>
          <p:cNvPr id="14353" name="Text Box 18"/>
          <p:cNvSpPr txBox="1">
            <a:spLocks noChangeArrowheads="1"/>
          </p:cNvSpPr>
          <p:nvPr/>
        </p:nvSpPr>
        <p:spPr bwMode="auto">
          <a:xfrm>
            <a:off x="1295400" y="2224088"/>
            <a:ext cx="1676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a:latin typeface="楷体_GB2312" pitchFamily="49" charset="-122"/>
                <a:ea typeface="楷体_GB2312" pitchFamily="49" charset="-122"/>
              </a:rPr>
              <a:t>目　　的</a:t>
            </a:r>
          </a:p>
        </p:txBody>
      </p:sp>
      <p:sp>
        <p:nvSpPr>
          <p:cNvPr id="14354" name="Text Box 19"/>
          <p:cNvSpPr txBox="1">
            <a:spLocks noChangeArrowheads="1"/>
          </p:cNvSpPr>
          <p:nvPr/>
        </p:nvSpPr>
        <p:spPr bwMode="auto">
          <a:xfrm>
            <a:off x="1066800" y="2757488"/>
            <a:ext cx="177641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a:latin typeface="楷体_GB2312" pitchFamily="49" charset="-122"/>
                <a:ea typeface="楷体_GB2312" pitchFamily="49" charset="-122"/>
              </a:rPr>
              <a:t>存储管理实现</a:t>
            </a:r>
          </a:p>
        </p:txBody>
      </p:sp>
      <p:sp>
        <p:nvSpPr>
          <p:cNvPr id="14355" name="Text Box 20"/>
          <p:cNvSpPr txBox="1">
            <a:spLocks noChangeArrowheads="1"/>
          </p:cNvSpPr>
          <p:nvPr/>
        </p:nvSpPr>
        <p:spPr bwMode="auto">
          <a:xfrm>
            <a:off x="755650" y="3397250"/>
            <a:ext cx="221773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1800">
                <a:latin typeface="楷体_GB2312" pitchFamily="49" charset="-122"/>
                <a:ea typeface="楷体_GB2312" pitchFamily="49" charset="-122"/>
              </a:rPr>
              <a:t> </a:t>
            </a:r>
            <a:r>
              <a:rPr kumimoji="1" lang="zh-CN" altLang="en-US" sz="1800">
                <a:latin typeface="楷体_GB2312" pitchFamily="49" charset="-122"/>
                <a:ea typeface="楷体_GB2312" pitchFamily="49" charset="-122"/>
              </a:rPr>
              <a:t>访问速度的比值</a:t>
            </a:r>
            <a:br>
              <a:rPr kumimoji="1" lang="zh-CN" altLang="en-US" sz="1800">
                <a:latin typeface="楷体_GB2312" pitchFamily="49" charset="-122"/>
                <a:ea typeface="楷体_GB2312" pitchFamily="49" charset="-122"/>
              </a:rPr>
            </a:br>
            <a:r>
              <a:rPr kumimoji="1" lang="en-US" altLang="zh-CN" sz="1800">
                <a:latin typeface="楷体_GB2312" pitchFamily="49" charset="-122"/>
                <a:ea typeface="楷体_GB2312" pitchFamily="49" charset="-122"/>
              </a:rPr>
              <a:t>(</a:t>
            </a:r>
            <a:r>
              <a:rPr kumimoji="1" lang="zh-CN" altLang="en-US" sz="1800">
                <a:latin typeface="楷体_GB2312" pitchFamily="49" charset="-122"/>
                <a:ea typeface="楷体_GB2312" pitchFamily="49" charset="-122"/>
              </a:rPr>
              <a:t>第一级和第二级</a:t>
            </a:r>
            <a:r>
              <a:rPr kumimoji="1" lang="en-US" altLang="zh-CN" sz="1800">
                <a:latin typeface="楷体_GB2312" pitchFamily="49" charset="-122"/>
                <a:ea typeface="楷体_GB2312" pitchFamily="49" charset="-122"/>
              </a:rPr>
              <a:t>)</a:t>
            </a:r>
          </a:p>
        </p:txBody>
      </p:sp>
      <p:sp>
        <p:nvSpPr>
          <p:cNvPr id="14356" name="Text Box 21"/>
          <p:cNvSpPr txBox="1">
            <a:spLocks noChangeArrowheads="1"/>
          </p:cNvSpPr>
          <p:nvPr/>
        </p:nvSpPr>
        <p:spPr bwMode="auto">
          <a:xfrm>
            <a:off x="755650" y="4210050"/>
            <a:ext cx="22891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a:latin typeface="楷体_GB2312" pitchFamily="49" charset="-122"/>
                <a:ea typeface="楷体_GB2312" pitchFamily="49" charset="-122"/>
              </a:rPr>
              <a:t>典型的块</a:t>
            </a:r>
            <a:r>
              <a:rPr kumimoji="1" lang="en-US" altLang="zh-CN" sz="1800">
                <a:latin typeface="楷体_GB2312" pitchFamily="49" charset="-122"/>
                <a:ea typeface="楷体_GB2312" pitchFamily="49" charset="-122"/>
              </a:rPr>
              <a:t>(</a:t>
            </a:r>
            <a:r>
              <a:rPr kumimoji="1" lang="zh-CN" altLang="en-US" sz="1800">
                <a:latin typeface="楷体_GB2312" pitchFamily="49" charset="-122"/>
                <a:ea typeface="楷体_GB2312" pitchFamily="49" charset="-122"/>
              </a:rPr>
              <a:t>页</a:t>
            </a:r>
            <a:r>
              <a:rPr kumimoji="1" lang="en-US" altLang="zh-CN" sz="1800">
                <a:latin typeface="楷体_GB2312" pitchFamily="49" charset="-122"/>
                <a:ea typeface="楷体_GB2312" pitchFamily="49" charset="-122"/>
              </a:rPr>
              <a:t>)</a:t>
            </a:r>
            <a:r>
              <a:rPr kumimoji="1" lang="zh-CN" altLang="en-US" sz="1800">
                <a:latin typeface="楷体_GB2312" pitchFamily="49" charset="-122"/>
                <a:ea typeface="楷体_GB2312" pitchFamily="49" charset="-122"/>
              </a:rPr>
              <a:t>大小</a:t>
            </a:r>
          </a:p>
        </p:txBody>
      </p:sp>
      <p:sp>
        <p:nvSpPr>
          <p:cNvPr id="14357" name="Text Box 22"/>
          <p:cNvSpPr txBox="1">
            <a:spLocks noChangeArrowheads="1"/>
          </p:cNvSpPr>
          <p:nvPr/>
        </p:nvSpPr>
        <p:spPr bwMode="auto">
          <a:xfrm>
            <a:off x="520701" y="5366615"/>
            <a:ext cx="26876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dirty="0">
                <a:latin typeface="楷体_GB2312" pitchFamily="49" charset="-122"/>
                <a:ea typeface="楷体_GB2312" pitchFamily="49" charset="-122"/>
              </a:rPr>
              <a:t>失效时</a:t>
            </a:r>
            <a:r>
              <a:rPr kumimoji="1" lang="en-US" altLang="zh-CN" sz="1800" dirty="0">
                <a:latin typeface="楷体_GB2312" pitchFamily="49" charset="-122"/>
                <a:ea typeface="楷体_GB2312" pitchFamily="49" charset="-122"/>
              </a:rPr>
              <a:t>CPU</a:t>
            </a:r>
            <a:r>
              <a:rPr kumimoji="1" lang="zh-CN" altLang="en-US" sz="1800" dirty="0">
                <a:latin typeface="楷体_GB2312" pitchFamily="49" charset="-122"/>
                <a:ea typeface="楷体_GB2312" pitchFamily="49" charset="-122"/>
              </a:rPr>
              <a:t>是否切换</a:t>
            </a:r>
          </a:p>
        </p:txBody>
      </p:sp>
      <p:sp>
        <p:nvSpPr>
          <p:cNvPr id="14358" name="Text Box 23"/>
          <p:cNvSpPr txBox="1">
            <a:spLocks noChangeArrowheads="1"/>
          </p:cNvSpPr>
          <p:nvPr/>
        </p:nvSpPr>
        <p:spPr bwMode="auto">
          <a:xfrm>
            <a:off x="2924175" y="1557338"/>
            <a:ext cx="2800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1800">
                <a:latin typeface="楷体_GB2312" pitchFamily="49" charset="-122"/>
                <a:ea typeface="楷体_GB2312" pitchFamily="49" charset="-122"/>
              </a:rPr>
              <a:t>“Cache </a:t>
            </a:r>
            <a:r>
              <a:rPr kumimoji="1" lang="zh-CN" altLang="en-US" sz="1800">
                <a:latin typeface="楷体_GB2312" pitchFamily="49" charset="-122"/>
                <a:ea typeface="楷体_GB2312" pitchFamily="49" charset="-122"/>
              </a:rPr>
              <a:t>－主存”层次</a:t>
            </a:r>
          </a:p>
        </p:txBody>
      </p:sp>
      <p:sp>
        <p:nvSpPr>
          <p:cNvPr id="14359" name="Text Box 24"/>
          <p:cNvSpPr txBox="1">
            <a:spLocks noChangeArrowheads="1"/>
          </p:cNvSpPr>
          <p:nvPr/>
        </p:nvSpPr>
        <p:spPr bwMode="auto">
          <a:xfrm>
            <a:off x="5724525" y="1557338"/>
            <a:ext cx="25066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1800">
                <a:latin typeface="楷体_GB2312" pitchFamily="49" charset="-122"/>
                <a:ea typeface="楷体_GB2312" pitchFamily="49" charset="-122"/>
              </a:rPr>
              <a:t>“</a:t>
            </a:r>
            <a:r>
              <a:rPr kumimoji="1" lang="zh-CN" altLang="en-US" sz="1800">
                <a:latin typeface="楷体_GB2312" pitchFamily="49" charset="-122"/>
                <a:ea typeface="楷体_GB2312" pitchFamily="49" charset="-122"/>
              </a:rPr>
              <a:t>主存－辅存”层次</a:t>
            </a:r>
          </a:p>
        </p:txBody>
      </p:sp>
      <p:sp>
        <p:nvSpPr>
          <p:cNvPr id="14360" name="Line 25"/>
          <p:cNvSpPr>
            <a:spLocks noChangeShapeType="1"/>
          </p:cNvSpPr>
          <p:nvPr/>
        </p:nvSpPr>
        <p:spPr bwMode="auto">
          <a:xfrm>
            <a:off x="5695950" y="1371600"/>
            <a:ext cx="0" cy="441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zh-CN" altLang="en-US" sz="1800"/>
          </a:p>
        </p:txBody>
      </p:sp>
      <p:sp>
        <p:nvSpPr>
          <p:cNvPr id="14361" name="Text Box 26"/>
          <p:cNvSpPr txBox="1">
            <a:spLocks noChangeArrowheads="1"/>
          </p:cNvSpPr>
          <p:nvPr/>
        </p:nvSpPr>
        <p:spPr bwMode="auto">
          <a:xfrm>
            <a:off x="2901951" y="2238375"/>
            <a:ext cx="30210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dirty="0">
                <a:solidFill>
                  <a:schemeClr val="accent2"/>
                </a:solidFill>
                <a:latin typeface="楷体_GB2312" pitchFamily="49" charset="-122"/>
                <a:ea typeface="楷体_GB2312" pitchFamily="49" charset="-122"/>
              </a:rPr>
              <a:t>为了弥补主存速度的不足</a:t>
            </a:r>
            <a:endParaRPr kumimoji="1" lang="zh-CN" altLang="en-US" sz="1800" dirty="0">
              <a:solidFill>
                <a:srgbClr val="003399"/>
              </a:solidFill>
              <a:latin typeface="楷体_GB2312" pitchFamily="49" charset="-122"/>
              <a:ea typeface="楷体_GB2312" pitchFamily="49" charset="-122"/>
            </a:endParaRPr>
          </a:p>
        </p:txBody>
      </p:sp>
      <p:sp>
        <p:nvSpPr>
          <p:cNvPr id="14362" name="Text Box 27"/>
          <p:cNvSpPr txBox="1">
            <a:spLocks noChangeArrowheads="1"/>
          </p:cNvSpPr>
          <p:nvPr/>
        </p:nvSpPr>
        <p:spPr bwMode="auto">
          <a:xfrm>
            <a:off x="5695950" y="2209800"/>
            <a:ext cx="305276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a:solidFill>
                  <a:schemeClr val="accent2"/>
                </a:solidFill>
                <a:latin typeface="楷体_GB2312" pitchFamily="49" charset="-122"/>
                <a:ea typeface="楷体_GB2312" pitchFamily="49" charset="-122"/>
              </a:rPr>
              <a:t>为了弥补主存容量的不足</a:t>
            </a:r>
          </a:p>
        </p:txBody>
      </p:sp>
      <p:sp>
        <p:nvSpPr>
          <p:cNvPr id="14363" name="Text Box 28"/>
          <p:cNvSpPr txBox="1">
            <a:spLocks noChangeArrowheads="1"/>
          </p:cNvSpPr>
          <p:nvPr/>
        </p:nvSpPr>
        <p:spPr bwMode="auto">
          <a:xfrm>
            <a:off x="3132138" y="2776062"/>
            <a:ext cx="261461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dirty="0">
                <a:solidFill>
                  <a:schemeClr val="accent2"/>
                </a:solidFill>
                <a:latin typeface="楷体_GB2312" pitchFamily="49" charset="-122"/>
                <a:ea typeface="楷体_GB2312" pitchFamily="49" charset="-122"/>
              </a:rPr>
              <a:t>主要由专用硬件实现</a:t>
            </a:r>
          </a:p>
        </p:txBody>
      </p:sp>
      <p:sp>
        <p:nvSpPr>
          <p:cNvPr id="14364" name="Text Box 29"/>
          <p:cNvSpPr txBox="1">
            <a:spLocks noChangeArrowheads="1"/>
          </p:cNvSpPr>
          <p:nvPr/>
        </p:nvSpPr>
        <p:spPr bwMode="auto">
          <a:xfrm>
            <a:off x="6248400" y="2743200"/>
            <a:ext cx="2438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a:solidFill>
                  <a:schemeClr val="accent2"/>
                </a:solidFill>
                <a:latin typeface="楷体_GB2312" pitchFamily="49" charset="-122"/>
                <a:ea typeface="楷体_GB2312" pitchFamily="49" charset="-122"/>
              </a:rPr>
              <a:t>主要由软件实现</a:t>
            </a:r>
          </a:p>
        </p:txBody>
      </p:sp>
      <p:sp>
        <p:nvSpPr>
          <p:cNvPr id="14365" name="Text Box 30"/>
          <p:cNvSpPr txBox="1">
            <a:spLocks noChangeArrowheads="1"/>
          </p:cNvSpPr>
          <p:nvPr/>
        </p:nvSpPr>
        <p:spPr bwMode="auto">
          <a:xfrm>
            <a:off x="3905250" y="3486150"/>
            <a:ext cx="1143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a:solidFill>
                  <a:schemeClr val="accent2"/>
                </a:solidFill>
                <a:latin typeface="楷体_GB2312" pitchFamily="49" charset="-122"/>
                <a:ea typeface="楷体_GB2312" pitchFamily="49" charset="-122"/>
              </a:rPr>
              <a:t>几比一</a:t>
            </a:r>
          </a:p>
        </p:txBody>
      </p:sp>
      <p:sp>
        <p:nvSpPr>
          <p:cNvPr id="14366" name="Text Box 31"/>
          <p:cNvSpPr txBox="1">
            <a:spLocks noChangeArrowheads="1"/>
          </p:cNvSpPr>
          <p:nvPr/>
        </p:nvSpPr>
        <p:spPr bwMode="auto">
          <a:xfrm>
            <a:off x="6553200" y="3481388"/>
            <a:ext cx="14033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dirty="0">
                <a:solidFill>
                  <a:schemeClr val="accent2"/>
                </a:solidFill>
                <a:latin typeface="楷体_GB2312" pitchFamily="49" charset="-122"/>
                <a:ea typeface="楷体_GB2312" pitchFamily="49" charset="-122"/>
              </a:rPr>
              <a:t>几百比一</a:t>
            </a:r>
          </a:p>
        </p:txBody>
      </p:sp>
      <p:sp>
        <p:nvSpPr>
          <p:cNvPr id="14367" name="Text Box 32"/>
          <p:cNvSpPr txBox="1">
            <a:spLocks noChangeArrowheads="1"/>
          </p:cNvSpPr>
          <p:nvPr/>
        </p:nvSpPr>
        <p:spPr bwMode="auto">
          <a:xfrm>
            <a:off x="3733800" y="4191000"/>
            <a:ext cx="1600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a:solidFill>
                  <a:schemeClr val="accent2"/>
                </a:solidFill>
                <a:latin typeface="楷体_GB2312" pitchFamily="49" charset="-122"/>
                <a:ea typeface="楷体_GB2312" pitchFamily="49" charset="-122"/>
              </a:rPr>
              <a:t>几十个字节</a:t>
            </a:r>
          </a:p>
        </p:txBody>
      </p:sp>
      <p:sp>
        <p:nvSpPr>
          <p:cNvPr id="14368" name="Text Box 33"/>
          <p:cNvSpPr txBox="1">
            <a:spLocks noChangeArrowheads="1"/>
          </p:cNvSpPr>
          <p:nvPr/>
        </p:nvSpPr>
        <p:spPr bwMode="auto">
          <a:xfrm>
            <a:off x="6076950" y="4191000"/>
            <a:ext cx="2438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a:solidFill>
                  <a:schemeClr val="accent2"/>
                </a:solidFill>
                <a:latin typeface="楷体_GB2312" pitchFamily="49" charset="-122"/>
                <a:ea typeface="楷体_GB2312" pitchFamily="49" charset="-122"/>
              </a:rPr>
              <a:t>几百到几千个字节</a:t>
            </a:r>
          </a:p>
        </p:txBody>
      </p:sp>
      <p:sp>
        <p:nvSpPr>
          <p:cNvPr id="14369" name="Text Box 34"/>
          <p:cNvSpPr txBox="1">
            <a:spLocks noChangeArrowheads="1"/>
          </p:cNvSpPr>
          <p:nvPr/>
        </p:nvSpPr>
        <p:spPr bwMode="auto">
          <a:xfrm>
            <a:off x="3733800" y="4781550"/>
            <a:ext cx="1701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a:solidFill>
                  <a:schemeClr val="accent2"/>
                </a:solidFill>
                <a:latin typeface="楷体_GB2312" pitchFamily="49" charset="-122"/>
                <a:ea typeface="楷体_GB2312" pitchFamily="49" charset="-122"/>
              </a:rPr>
              <a:t>可直接访问</a:t>
            </a:r>
          </a:p>
        </p:txBody>
      </p:sp>
      <p:sp>
        <p:nvSpPr>
          <p:cNvPr id="14370" name="Text Box 35"/>
          <p:cNvSpPr txBox="1">
            <a:spLocks noChangeArrowheads="1"/>
          </p:cNvSpPr>
          <p:nvPr/>
        </p:nvSpPr>
        <p:spPr bwMode="auto">
          <a:xfrm>
            <a:off x="6324600" y="4800600"/>
            <a:ext cx="1905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a:solidFill>
                  <a:schemeClr val="accent2"/>
                </a:solidFill>
                <a:latin typeface="楷体_GB2312" pitchFamily="49" charset="-122"/>
                <a:ea typeface="楷体_GB2312" pitchFamily="49" charset="-122"/>
              </a:rPr>
              <a:t>均通过第一级</a:t>
            </a:r>
          </a:p>
        </p:txBody>
      </p:sp>
      <p:sp>
        <p:nvSpPr>
          <p:cNvPr id="14371" name="Text Box 36"/>
          <p:cNvSpPr txBox="1">
            <a:spLocks noChangeArrowheads="1"/>
          </p:cNvSpPr>
          <p:nvPr/>
        </p:nvSpPr>
        <p:spPr bwMode="auto">
          <a:xfrm>
            <a:off x="3886200" y="5348288"/>
            <a:ext cx="1295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a:solidFill>
                  <a:schemeClr val="accent2"/>
                </a:solidFill>
                <a:latin typeface="楷体_GB2312" pitchFamily="49" charset="-122"/>
                <a:ea typeface="楷体_GB2312" pitchFamily="49" charset="-122"/>
              </a:rPr>
              <a:t>不切换</a:t>
            </a:r>
          </a:p>
        </p:txBody>
      </p:sp>
      <p:sp>
        <p:nvSpPr>
          <p:cNvPr id="14372" name="Text Box 37"/>
          <p:cNvSpPr txBox="1">
            <a:spLocks noChangeArrowheads="1"/>
          </p:cNvSpPr>
          <p:nvPr/>
        </p:nvSpPr>
        <p:spPr bwMode="auto">
          <a:xfrm>
            <a:off x="6172200" y="5353050"/>
            <a:ext cx="2438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zh-CN" altLang="en-US" sz="1800">
                <a:solidFill>
                  <a:schemeClr val="accent2"/>
                </a:solidFill>
                <a:latin typeface="楷体_GB2312" pitchFamily="49" charset="-122"/>
                <a:ea typeface="楷体_GB2312" pitchFamily="49" charset="-122"/>
              </a:rPr>
              <a:t>切换到其他进程</a:t>
            </a:r>
          </a:p>
        </p:txBody>
      </p:sp>
      <p:sp>
        <p:nvSpPr>
          <p:cNvPr id="14373" name="Text Box 38"/>
          <p:cNvSpPr txBox="1">
            <a:spLocks noChangeArrowheads="1"/>
          </p:cNvSpPr>
          <p:nvPr/>
        </p:nvSpPr>
        <p:spPr bwMode="auto">
          <a:xfrm>
            <a:off x="653256" y="419019"/>
            <a:ext cx="7837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ctr" eaLnBrk="1" hangingPunct="1">
              <a:spcBef>
                <a:spcPct val="50000"/>
              </a:spcBef>
            </a:pPr>
            <a:r>
              <a:rPr kumimoji="1" lang="en-US" altLang="zh-CN" sz="2800" dirty="0">
                <a:solidFill>
                  <a:schemeClr val="tx2"/>
                </a:solidFill>
                <a:latin typeface="楷体_GB2312" pitchFamily="49" charset="-122"/>
                <a:ea typeface="楷体_GB2312" pitchFamily="49" charset="-122"/>
              </a:rPr>
              <a:t>“Cache</a:t>
            </a:r>
            <a:r>
              <a:rPr kumimoji="1" lang="zh-CN" altLang="en-US" sz="2800" dirty="0">
                <a:solidFill>
                  <a:schemeClr val="tx2"/>
                </a:solidFill>
                <a:latin typeface="楷体_GB2312" pitchFamily="49" charset="-122"/>
                <a:ea typeface="楷体_GB2312" pitchFamily="49" charset="-122"/>
              </a:rPr>
              <a:t>－主存”与“主存－辅存”层次的区别</a:t>
            </a:r>
          </a:p>
        </p:txBody>
      </p:sp>
      <p:sp>
        <p:nvSpPr>
          <p:cNvPr id="14374" name="Line 15"/>
          <p:cNvSpPr>
            <a:spLocks noChangeShapeType="1"/>
          </p:cNvSpPr>
          <p:nvPr/>
        </p:nvSpPr>
        <p:spPr bwMode="auto">
          <a:xfrm>
            <a:off x="611188" y="1385888"/>
            <a:ext cx="0" cy="441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zh-CN" altLang="en-US" sz="1800"/>
          </a:p>
        </p:txBody>
      </p:sp>
      <p:sp>
        <p:nvSpPr>
          <p:cNvPr id="14375" name="Line 15"/>
          <p:cNvSpPr>
            <a:spLocks noChangeShapeType="1"/>
          </p:cNvSpPr>
          <p:nvPr/>
        </p:nvSpPr>
        <p:spPr bwMode="auto">
          <a:xfrm>
            <a:off x="8675688" y="1385888"/>
            <a:ext cx="0" cy="4419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algn="ctr"/>
            <a:endParaRPr lang="zh-CN" altLang="en-US" sz="1800"/>
          </a:p>
        </p:txBody>
      </p:sp>
      <p:sp>
        <p:nvSpPr>
          <p:cNvPr id="2" name="日期占位符 1">
            <a:extLst>
              <a:ext uri="{FF2B5EF4-FFF2-40B4-BE49-F238E27FC236}">
                <a16:creationId xmlns:a16="http://schemas.microsoft.com/office/drawing/2014/main" id="{D687425A-AE1B-5AC5-ED3A-861BF3B5AEAF}"/>
              </a:ext>
            </a:extLst>
          </p:cNvPr>
          <p:cNvSpPr>
            <a:spLocks noGrp="1"/>
          </p:cNvSpPr>
          <p:nvPr>
            <p:ph type="dt" sz="half" idx="10"/>
          </p:nvPr>
        </p:nvSpPr>
        <p:spPr/>
        <p:txBody>
          <a:bodyPr/>
          <a:lstStyle/>
          <a:p>
            <a:pPr>
              <a:defRPr/>
            </a:pPr>
            <a:fld id="{098A216E-2B7A-4B01-83C7-65DB58F431D7}"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D1014B3C-5A01-2BCD-5C58-4023B2BABE23}"/>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6FE00E9-6AB2-3F35-4DCA-73BDA2FA33EF}"/>
              </a:ext>
            </a:extLst>
          </p:cNvPr>
          <p:cNvSpPr>
            <a:spLocks noGrp="1"/>
          </p:cNvSpPr>
          <p:nvPr>
            <p:ph type="sldNum" sz="quarter" idx="12"/>
          </p:nvPr>
        </p:nvSpPr>
        <p:spPr/>
        <p:txBody>
          <a:bodyPr/>
          <a:lstStyle/>
          <a:p>
            <a:pPr>
              <a:defRPr/>
            </a:pPr>
            <a:fld id="{65B7EA61-351E-4105-9AD9-76D38C6E9934}" type="slidenum">
              <a:rPr lang="zh-CN" altLang="en-US" smtClean="0"/>
              <a:t>23</a:t>
            </a:fld>
            <a:endParaRPr lang="en-US" altLang="zh-CN"/>
          </a:p>
        </p:txBody>
      </p:sp>
    </p:spTree>
    <p:extLst>
      <p:ext uri="{BB962C8B-B14F-4D97-AF65-F5344CB8AC3E}">
        <p14:creationId xmlns:p14="http://schemas.microsoft.com/office/powerpoint/2010/main" val="2778905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4"/>
          <p:cNvSpPr txBox="1">
            <a:spLocks noChangeArrowheads="1"/>
          </p:cNvSpPr>
          <p:nvPr/>
        </p:nvSpPr>
        <p:spPr bwMode="auto">
          <a:xfrm>
            <a:off x="1141413" y="1133475"/>
            <a:ext cx="7175500" cy="1531938"/>
          </a:xfrm>
          <a:prstGeom prst="rect">
            <a:avLst/>
          </a:prstGeom>
          <a:noFill/>
          <a:ln w="9525">
            <a:noFill/>
            <a:miter lim="800000"/>
            <a:headEnd/>
            <a:tailEnd/>
          </a:ln>
        </p:spPr>
        <p:txBody>
          <a:bodyPr>
            <a:spAutoFit/>
          </a:bodyPr>
          <a:lstStyle/>
          <a:p>
            <a:pPr>
              <a:lnSpc>
                <a:spcPct val="130000"/>
              </a:lnSpc>
              <a:defRPr/>
            </a:pPr>
            <a:r>
              <a:rPr kumimoji="1" lang="zh-CN" altLang="en-US" sz="2400" dirty="0">
                <a:latin typeface="Times New Roman" panose="02020603050405020304" pitchFamily="18" charset="0"/>
                <a:ea typeface="华文中宋" pitchFamily="2" charset="-122"/>
                <a:cs typeface="Times New Roman" panose="02020603050405020304" pitchFamily="18" charset="0"/>
              </a:rPr>
              <a:t>当把一个块调入高一层</a:t>
            </a:r>
            <a:r>
              <a:rPr kumimoji="1" lang="en-US" altLang="zh-CN" sz="2400" dirty="0">
                <a:latin typeface="Times New Roman" panose="02020603050405020304" pitchFamily="18" charset="0"/>
                <a:ea typeface="华文中宋" pitchFamily="2" charset="-122"/>
                <a:cs typeface="Times New Roman" panose="02020603050405020304" pitchFamily="18" charset="0"/>
              </a:rPr>
              <a:t>(</a:t>
            </a:r>
            <a:r>
              <a:rPr kumimoji="1" lang="zh-CN" altLang="en-US" sz="2400" dirty="0">
                <a:latin typeface="Times New Roman" panose="02020603050405020304" pitchFamily="18" charset="0"/>
                <a:ea typeface="华文中宋" pitchFamily="2" charset="-122"/>
                <a:cs typeface="Times New Roman" panose="02020603050405020304" pitchFamily="18" charset="0"/>
              </a:rPr>
              <a:t>靠近</a:t>
            </a:r>
            <a:r>
              <a:rPr kumimoji="1" lang="en-US" altLang="zh-CN" sz="2400" dirty="0">
                <a:latin typeface="Times New Roman" panose="02020603050405020304" pitchFamily="18" charset="0"/>
                <a:ea typeface="华文中宋" pitchFamily="2" charset="-122"/>
                <a:cs typeface="Times New Roman" panose="02020603050405020304" pitchFamily="18" charset="0"/>
              </a:rPr>
              <a:t>CPU)</a:t>
            </a:r>
            <a:r>
              <a:rPr kumimoji="1" lang="zh-CN" altLang="en-US" sz="2400" dirty="0">
                <a:latin typeface="Times New Roman" panose="02020603050405020304" pitchFamily="18" charset="0"/>
                <a:ea typeface="华文中宋" pitchFamily="2" charset="-122"/>
                <a:cs typeface="Times New Roman" panose="02020603050405020304" pitchFamily="18" charset="0"/>
              </a:rPr>
              <a:t>存储器时，可以放在哪些位置上</a:t>
            </a:r>
            <a:r>
              <a:rPr kumimoji="1" lang="en-US" altLang="zh-CN" sz="2400" dirty="0">
                <a:latin typeface="Times New Roman" panose="02020603050405020304" pitchFamily="18" charset="0"/>
                <a:ea typeface="华文中宋" pitchFamily="2" charset="-122"/>
                <a:cs typeface="Times New Roman" panose="02020603050405020304" pitchFamily="18" charset="0"/>
              </a:rPr>
              <a:t>?</a:t>
            </a:r>
            <a:endParaRPr kumimoji="1" lang="en-US" altLang="zh-CN" sz="2400" dirty="0">
              <a:latin typeface="Times New Roman" panose="02020603050405020304" pitchFamily="18" charset="0"/>
              <a:ea typeface="华文中宋" pitchFamily="2" charset="-122"/>
              <a:cs typeface="Times New Roman" panose="02020603050405020304" pitchFamily="18" charset="0"/>
              <a:hlinkClick r:id="rId3" action="ppaction://program">
                <a:extLst>
                  <a:ext uri="{A12FA001-AC4F-418D-AE19-62706E023703}">
                    <ahyp:hlinkClr xmlns:ahyp="http://schemas.microsoft.com/office/drawing/2018/hyperlinkcolor" val="tx"/>
                  </a:ext>
                </a:extLst>
              </a:hlinkClick>
            </a:endParaRPr>
          </a:p>
          <a:p>
            <a:pPr>
              <a:lnSpc>
                <a:spcPct val="130000"/>
              </a:lnSpc>
              <a:defRPr/>
            </a:pPr>
            <a:r>
              <a:rPr kumimoji="1" lang="en-US" altLang="zh-CN" sz="2400" dirty="0">
                <a:latin typeface="Times New Roman" panose="02020603050405020304" pitchFamily="18" charset="0"/>
                <a:ea typeface="华文中宋" pitchFamily="2" charset="-122"/>
                <a:cs typeface="Times New Roman" panose="02020603050405020304" pitchFamily="18" charset="0"/>
              </a:rPr>
              <a:t>(</a:t>
            </a:r>
            <a:r>
              <a:rPr kumimoji="1" lang="zh-CN" altLang="en-US" sz="2400" dirty="0">
                <a:solidFill>
                  <a:srgbClr val="C00000"/>
                </a:solidFill>
                <a:latin typeface="Times New Roman" panose="02020603050405020304" pitchFamily="18" charset="0"/>
                <a:ea typeface="华文中宋" pitchFamily="2" charset="-122"/>
                <a:cs typeface="Times New Roman" panose="02020603050405020304" pitchFamily="18" charset="0"/>
              </a:rPr>
              <a:t>映象规则     </a:t>
            </a:r>
            <a:r>
              <a:rPr kumimoji="1" lang="zh-CN" altLang="en-US" sz="2400" dirty="0">
                <a:solidFill>
                  <a:srgbClr val="0033CC"/>
                </a:solidFill>
                <a:latin typeface="Times New Roman" panose="02020603050405020304" pitchFamily="18" charset="0"/>
                <a:ea typeface="华文中宋" pitchFamily="2" charset="-122"/>
                <a:cs typeface="Times New Roman" panose="02020603050405020304" pitchFamily="18" charset="0"/>
              </a:rPr>
              <a:t>调入块可以放在哪些位置</a:t>
            </a:r>
            <a:r>
              <a:rPr kumimoji="1" lang="en-US" altLang="zh-CN" sz="2400" dirty="0">
                <a:latin typeface="Times New Roman" panose="02020603050405020304" pitchFamily="18" charset="0"/>
                <a:ea typeface="华文中宋" pitchFamily="2" charset="-122"/>
                <a:cs typeface="Times New Roman" panose="02020603050405020304" pitchFamily="18" charset="0"/>
              </a:rPr>
              <a:t>)</a:t>
            </a:r>
            <a:endParaRPr kumimoji="1" lang="en-US" altLang="zh-CN" sz="2400" b="0" dirty="0">
              <a:latin typeface="Times New Roman" panose="02020603050405020304" pitchFamily="18" charset="0"/>
              <a:ea typeface="华文中宋" pitchFamily="2" charset="-122"/>
              <a:cs typeface="Times New Roman" panose="02020603050405020304" pitchFamily="18" charset="0"/>
            </a:endParaRPr>
          </a:p>
        </p:txBody>
      </p:sp>
      <p:sp>
        <p:nvSpPr>
          <p:cNvPr id="23555" name="Rectangle 6"/>
          <p:cNvSpPr>
            <a:spLocks noChangeArrowheads="1"/>
          </p:cNvSpPr>
          <p:nvPr/>
        </p:nvSpPr>
        <p:spPr bwMode="auto">
          <a:xfrm>
            <a:off x="1141413" y="2774128"/>
            <a:ext cx="7369175" cy="1005468"/>
          </a:xfrm>
          <a:prstGeom prst="rect">
            <a:avLst/>
          </a:prstGeom>
          <a:noFill/>
          <a:ln w="9525">
            <a:noFill/>
            <a:miter lim="800000"/>
            <a:headEnd/>
            <a:tailEnd/>
          </a:ln>
        </p:spPr>
        <p:txBody>
          <a:bodyPr wrap="square">
            <a:spAutoFit/>
          </a:bodyPr>
          <a:lstStyle/>
          <a:p>
            <a:pPr>
              <a:lnSpc>
                <a:spcPct val="130000"/>
              </a:lnSpc>
              <a:defRPr/>
            </a:pPr>
            <a:r>
              <a:rPr kumimoji="1" lang="zh-CN" altLang="en-US" sz="2400" dirty="0">
                <a:latin typeface="Times New Roman" panose="02020603050405020304" pitchFamily="18" charset="0"/>
                <a:ea typeface="华文中宋" pitchFamily="2" charset="-122"/>
                <a:cs typeface="Times New Roman" panose="02020603050405020304" pitchFamily="18" charset="0"/>
              </a:rPr>
              <a:t>当所要访问的块在高一层存储器中时，如何找到该块</a:t>
            </a:r>
            <a:r>
              <a:rPr kumimoji="1" lang="en-US" altLang="zh-CN" sz="2400" dirty="0">
                <a:latin typeface="Times New Roman" panose="02020603050405020304" pitchFamily="18" charset="0"/>
                <a:ea typeface="华文中宋" pitchFamily="2" charset="-122"/>
                <a:cs typeface="Times New Roman" panose="02020603050405020304" pitchFamily="18" charset="0"/>
              </a:rPr>
              <a:t>?</a:t>
            </a:r>
            <a:br>
              <a:rPr kumimoji="1" lang="en-US" altLang="zh-CN" sz="2400" b="0" dirty="0">
                <a:latin typeface="Times New Roman" panose="02020603050405020304" pitchFamily="18" charset="0"/>
                <a:ea typeface="华文中宋" pitchFamily="2" charset="-122"/>
                <a:cs typeface="Times New Roman" panose="02020603050405020304" pitchFamily="18" charset="0"/>
              </a:rPr>
            </a:br>
            <a:r>
              <a:rPr kumimoji="1" lang="en-US" altLang="zh-CN" sz="2400" dirty="0">
                <a:latin typeface="Times New Roman" panose="02020603050405020304" pitchFamily="18" charset="0"/>
                <a:ea typeface="华文中宋" pitchFamily="2" charset="-122"/>
                <a:cs typeface="Times New Roman" panose="02020603050405020304" pitchFamily="18" charset="0"/>
              </a:rPr>
              <a:t>(</a:t>
            </a:r>
            <a:r>
              <a:rPr kumimoji="1" lang="zh-CN" altLang="en-US" sz="2400" dirty="0">
                <a:solidFill>
                  <a:srgbClr val="C00000"/>
                </a:solidFill>
                <a:latin typeface="Times New Roman" panose="02020603050405020304" pitchFamily="18" charset="0"/>
                <a:ea typeface="华文中宋" pitchFamily="2" charset="-122"/>
                <a:cs typeface="Times New Roman" panose="02020603050405020304" pitchFamily="18" charset="0"/>
              </a:rPr>
              <a:t>查找算法   </a:t>
            </a:r>
            <a:r>
              <a:rPr kumimoji="1" lang="zh-CN" altLang="en-US" sz="2400" dirty="0">
                <a:solidFill>
                  <a:srgbClr val="0033CC"/>
                </a:solidFill>
                <a:latin typeface="Times New Roman" panose="02020603050405020304" pitchFamily="18" charset="0"/>
                <a:ea typeface="华文中宋" pitchFamily="2" charset="-122"/>
                <a:cs typeface="Times New Roman" panose="02020603050405020304" pitchFamily="18" charset="0"/>
              </a:rPr>
              <a:t>如何在映象规则规定的候选位置查找</a:t>
            </a:r>
            <a:r>
              <a:rPr kumimoji="1" lang="en-US" altLang="zh-CN" sz="2400" dirty="0">
                <a:latin typeface="Times New Roman" panose="02020603050405020304" pitchFamily="18" charset="0"/>
                <a:ea typeface="华文中宋" pitchFamily="2" charset="-122"/>
                <a:cs typeface="Times New Roman" panose="02020603050405020304" pitchFamily="18" charset="0"/>
              </a:rPr>
              <a:t>)</a:t>
            </a:r>
          </a:p>
        </p:txBody>
      </p:sp>
      <p:sp>
        <p:nvSpPr>
          <p:cNvPr id="23556" name="Rectangle 7"/>
          <p:cNvSpPr>
            <a:spLocks noChangeArrowheads="1"/>
          </p:cNvSpPr>
          <p:nvPr/>
        </p:nvSpPr>
        <p:spPr bwMode="auto">
          <a:xfrm>
            <a:off x="684213" y="3972167"/>
            <a:ext cx="7848600" cy="1005468"/>
          </a:xfrm>
          <a:prstGeom prst="rect">
            <a:avLst/>
          </a:prstGeom>
          <a:noFill/>
          <a:ln w="9525">
            <a:noFill/>
            <a:miter lim="800000"/>
            <a:headEnd/>
            <a:tailEnd/>
          </a:ln>
        </p:spPr>
        <p:txBody>
          <a:bodyPr>
            <a:spAutoFit/>
          </a:bodyPr>
          <a:lstStyle/>
          <a:p>
            <a:pPr>
              <a:lnSpc>
                <a:spcPct val="130000"/>
              </a:lnSpc>
              <a:defRPr/>
            </a:pPr>
            <a:r>
              <a:rPr kumimoji="1" lang="en-US" altLang="zh-CN" sz="2400" dirty="0">
                <a:latin typeface="Times New Roman" panose="02020603050405020304" pitchFamily="18" charset="0"/>
                <a:ea typeface="华文中宋" pitchFamily="2" charset="-122"/>
                <a:cs typeface="Times New Roman" panose="02020603050405020304" pitchFamily="18" charset="0"/>
              </a:rPr>
              <a:t>3.   </a:t>
            </a:r>
            <a:r>
              <a:rPr kumimoji="1" lang="zh-CN" altLang="en-US" sz="2400" dirty="0">
                <a:latin typeface="Times New Roman" panose="02020603050405020304" pitchFamily="18" charset="0"/>
                <a:ea typeface="华文中宋" pitchFamily="2" charset="-122"/>
                <a:cs typeface="Times New Roman" panose="02020603050405020304" pitchFamily="18" charset="0"/>
              </a:rPr>
              <a:t>当发生失效时，应替换哪一块？</a:t>
            </a:r>
            <a:br>
              <a:rPr kumimoji="1" lang="zh-CN" altLang="en-US" sz="2400" b="0" dirty="0">
                <a:latin typeface="Times New Roman" panose="02020603050405020304" pitchFamily="18" charset="0"/>
                <a:ea typeface="华文中宋" pitchFamily="2" charset="-122"/>
                <a:cs typeface="Times New Roman" panose="02020603050405020304" pitchFamily="18" charset="0"/>
              </a:rPr>
            </a:br>
            <a:r>
              <a:rPr kumimoji="1" lang="zh-CN" altLang="en-US" sz="2400" dirty="0">
                <a:latin typeface="Times New Roman" panose="02020603050405020304" pitchFamily="18" charset="0"/>
                <a:ea typeface="华文中宋" pitchFamily="2" charset="-122"/>
                <a:cs typeface="Times New Roman" panose="02020603050405020304" pitchFamily="18" charset="0"/>
              </a:rPr>
              <a:t>       </a:t>
            </a:r>
            <a:r>
              <a:rPr kumimoji="1" lang="en-US" altLang="zh-CN" sz="2400" dirty="0">
                <a:latin typeface="Times New Roman" panose="02020603050405020304" pitchFamily="18" charset="0"/>
                <a:ea typeface="华文中宋" pitchFamily="2" charset="-122"/>
                <a:cs typeface="Times New Roman" panose="02020603050405020304" pitchFamily="18" charset="0"/>
              </a:rPr>
              <a:t>(</a:t>
            </a:r>
            <a:r>
              <a:rPr kumimoji="1" lang="zh-CN" altLang="en-US" sz="2400" dirty="0">
                <a:solidFill>
                  <a:srgbClr val="C00000"/>
                </a:solidFill>
                <a:latin typeface="Times New Roman" panose="02020603050405020304" pitchFamily="18" charset="0"/>
                <a:ea typeface="华文中宋" pitchFamily="2" charset="-122"/>
                <a:cs typeface="Times New Roman" panose="02020603050405020304" pitchFamily="18" charset="0"/>
              </a:rPr>
              <a:t>替换算法  </a:t>
            </a:r>
            <a:r>
              <a:rPr kumimoji="1" lang="zh-CN" altLang="en-US" sz="2400" dirty="0">
                <a:solidFill>
                  <a:srgbClr val="0033CC"/>
                </a:solidFill>
                <a:latin typeface="Times New Roman" panose="02020603050405020304" pitchFamily="18" charset="0"/>
                <a:ea typeface="华文中宋" pitchFamily="2" charset="-122"/>
                <a:cs typeface="Times New Roman" panose="02020603050405020304" pitchFamily="18" charset="0"/>
              </a:rPr>
              <a:t>规定的候选位置均被别的块占用</a:t>
            </a:r>
            <a:r>
              <a:rPr kumimoji="1" lang="en-US" altLang="zh-CN" sz="2400" dirty="0">
                <a:latin typeface="Times New Roman" panose="02020603050405020304" pitchFamily="18" charset="0"/>
                <a:ea typeface="华文中宋" pitchFamily="2" charset="-122"/>
                <a:cs typeface="Times New Roman" panose="02020603050405020304" pitchFamily="18" charset="0"/>
              </a:rPr>
              <a:t>)</a:t>
            </a:r>
            <a:endParaRPr kumimoji="1" lang="en-US" altLang="zh-CN" sz="2400" b="0" dirty="0">
              <a:latin typeface="Times New Roman" panose="02020603050405020304" pitchFamily="18" charset="0"/>
              <a:ea typeface="华文中宋" pitchFamily="2" charset="-122"/>
              <a:cs typeface="Times New Roman" panose="02020603050405020304" pitchFamily="18" charset="0"/>
            </a:endParaRPr>
          </a:p>
        </p:txBody>
      </p:sp>
      <p:sp>
        <p:nvSpPr>
          <p:cNvPr id="15365" name="Rectangle 8"/>
          <p:cNvSpPr>
            <a:spLocks noChangeArrowheads="1"/>
          </p:cNvSpPr>
          <p:nvPr/>
        </p:nvSpPr>
        <p:spPr bwMode="auto">
          <a:xfrm>
            <a:off x="684213" y="5086350"/>
            <a:ext cx="6264275" cy="1005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30000"/>
              </a:lnSpc>
            </a:pPr>
            <a:r>
              <a:rPr kumimoji="1" lang="en-US" altLang="zh-CN" sz="2400" dirty="0">
                <a:latin typeface="Times New Roman" panose="02020603050405020304" pitchFamily="18" charset="0"/>
                <a:ea typeface="华文中宋" panose="02010600040101010101" pitchFamily="2" charset="-122"/>
                <a:cs typeface="Times New Roman" panose="02020603050405020304" pitchFamily="18" charset="0"/>
              </a:rPr>
              <a:t>4. </a:t>
            </a:r>
            <a:r>
              <a:rPr kumimoji="1" lang="zh-CN" altLang="en-US" sz="2400" dirty="0">
                <a:latin typeface="Times New Roman" panose="02020603050405020304" pitchFamily="18" charset="0"/>
                <a:ea typeface="华文中宋" panose="02010600040101010101" pitchFamily="2" charset="-122"/>
                <a:cs typeface="Times New Roman" panose="02020603050405020304" pitchFamily="18" charset="0"/>
              </a:rPr>
              <a:t>当进行写访问时，应进行哪些操作</a:t>
            </a:r>
            <a:r>
              <a:rPr kumimoji="1" lang="en-US" altLang="zh-CN" sz="2400" dirty="0">
                <a:latin typeface="Times New Roman" panose="02020603050405020304" pitchFamily="18" charset="0"/>
                <a:ea typeface="华文中宋" panose="02010600040101010101" pitchFamily="2" charset="-122"/>
                <a:cs typeface="Times New Roman" panose="02020603050405020304" pitchFamily="18" charset="0"/>
              </a:rPr>
              <a:t>?</a:t>
            </a:r>
            <a:br>
              <a:rPr kumimoji="1" lang="en-US" altLang="zh-CN" sz="2400" dirty="0">
                <a:latin typeface="Times New Roman" panose="02020603050405020304" pitchFamily="18" charset="0"/>
                <a:ea typeface="华文中宋" panose="02010600040101010101" pitchFamily="2" charset="-122"/>
                <a:cs typeface="Times New Roman" panose="02020603050405020304" pitchFamily="18" charset="0"/>
              </a:rPr>
            </a:br>
            <a:r>
              <a:rPr kumimoji="1" lang="en-US" altLang="zh-CN" sz="2400" dirty="0">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写策略  </a:t>
            </a:r>
            <a:r>
              <a:rPr kumimoji="1" lang="zh-CN" altLang="en-US" sz="2400" dirty="0">
                <a:solidFill>
                  <a:srgbClr val="0033CC"/>
                </a:solidFill>
                <a:latin typeface="Times New Roman" panose="02020603050405020304" pitchFamily="18" charset="0"/>
                <a:ea typeface="华文中宋" panose="02010600040101010101" pitchFamily="2" charset="-122"/>
                <a:cs typeface="Times New Roman" panose="02020603050405020304" pitchFamily="18" charset="0"/>
              </a:rPr>
              <a:t>如何处理写操作</a:t>
            </a:r>
            <a:r>
              <a:rPr kumimoji="1" lang="en-US" altLang="zh-CN" sz="2400" dirty="0">
                <a:latin typeface="Times New Roman" panose="02020603050405020304" pitchFamily="18" charset="0"/>
                <a:ea typeface="华文中宋" panose="02010600040101010101" pitchFamily="2" charset="-122"/>
                <a:cs typeface="Times New Roman" panose="02020603050405020304" pitchFamily="18" charset="0"/>
              </a:rPr>
              <a:t>)</a:t>
            </a:r>
            <a:endParaRPr kumimoji="1" lang="en-US" altLang="zh-CN" sz="2400" b="0"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5366" name="Text Box 10"/>
          <p:cNvSpPr txBox="1">
            <a:spLocks noChangeArrowheads="1"/>
          </p:cNvSpPr>
          <p:nvPr/>
        </p:nvSpPr>
        <p:spPr bwMode="auto">
          <a:xfrm>
            <a:off x="684213" y="1125538"/>
            <a:ext cx="533400" cy="524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30000"/>
              </a:lnSpc>
            </a:pPr>
            <a:r>
              <a:rPr kumimoji="1" lang="en-US" altLang="zh-CN" sz="2400">
                <a:latin typeface="Times New Roman" panose="02020603050405020304" pitchFamily="18" charset="0"/>
                <a:ea typeface="华文中宋" panose="02010600040101010101" pitchFamily="2" charset="-122"/>
                <a:cs typeface="Times New Roman" panose="02020603050405020304" pitchFamily="18" charset="0"/>
              </a:rPr>
              <a:t>1. </a:t>
            </a:r>
            <a:endParaRPr kumimoji="1" lang="en-US" altLang="zh-CN" sz="2400" b="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15367" name="Rectangle 11"/>
          <p:cNvSpPr>
            <a:spLocks noChangeArrowheads="1"/>
          </p:cNvSpPr>
          <p:nvPr/>
        </p:nvSpPr>
        <p:spPr bwMode="auto">
          <a:xfrm>
            <a:off x="684213" y="2810313"/>
            <a:ext cx="415498" cy="524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30000"/>
              </a:lnSpc>
            </a:pPr>
            <a:r>
              <a:rPr kumimoji="1" lang="en-US" altLang="zh-CN" sz="2400">
                <a:latin typeface="Times New Roman" panose="02020603050405020304" pitchFamily="18" charset="0"/>
                <a:ea typeface="华文中宋" panose="02010600040101010101" pitchFamily="2" charset="-122"/>
                <a:cs typeface="Times New Roman" panose="02020603050405020304" pitchFamily="18" charset="0"/>
              </a:rPr>
              <a:t>2.</a:t>
            </a:r>
          </a:p>
        </p:txBody>
      </p:sp>
      <p:sp>
        <p:nvSpPr>
          <p:cNvPr id="9" name="Rectangle 9">
            <a:extLst>
              <a:ext uri="{FF2B5EF4-FFF2-40B4-BE49-F238E27FC236}">
                <a16:creationId xmlns:a16="http://schemas.microsoft.com/office/drawing/2014/main" id="{C282D258-6E2C-4FFB-8D78-55455297E981}"/>
              </a:ext>
            </a:extLst>
          </p:cNvPr>
          <p:cNvSpPr>
            <a:spLocks noChangeArrowheads="1"/>
          </p:cNvSpPr>
          <p:nvPr/>
        </p:nvSpPr>
        <p:spPr bwMode="auto">
          <a:xfrm>
            <a:off x="989012" y="260648"/>
            <a:ext cx="7165975" cy="676275"/>
          </a:xfrm>
          <a:prstGeom prst="rect">
            <a:avLst/>
          </a:prstGeom>
          <a:noFill/>
          <a:ln>
            <a:noFill/>
          </a:ln>
          <a:effectLst/>
        </p:spPr>
        <p:txBody>
          <a:bodyPr anchor="b"/>
          <a:lstStyle/>
          <a:p>
            <a:pPr algn="ctr" eaLnBrk="0" hangingPunct="0">
              <a:defRPr/>
            </a:pPr>
            <a:r>
              <a:rPr lang="en-US" altLang="zh-CN" sz="3600" dirty="0">
                <a:latin typeface="Times New Roman" panose="02020603050405020304" pitchFamily="18" charset="0"/>
                <a:ea typeface="+mj-ea"/>
                <a:cs typeface="Times New Roman" panose="02020603050405020304" pitchFamily="18" charset="0"/>
              </a:rPr>
              <a:t>5.1.4    </a:t>
            </a:r>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存储层次的四个问题</a:t>
            </a:r>
          </a:p>
        </p:txBody>
      </p:sp>
      <p:sp>
        <p:nvSpPr>
          <p:cNvPr id="2" name="日期占位符 1">
            <a:extLst>
              <a:ext uri="{FF2B5EF4-FFF2-40B4-BE49-F238E27FC236}">
                <a16:creationId xmlns:a16="http://schemas.microsoft.com/office/drawing/2014/main" id="{700E62F7-7534-CC4E-7C08-1CA12B1D63C6}"/>
              </a:ext>
            </a:extLst>
          </p:cNvPr>
          <p:cNvSpPr>
            <a:spLocks noGrp="1"/>
          </p:cNvSpPr>
          <p:nvPr>
            <p:ph type="dt" sz="half" idx="10"/>
          </p:nvPr>
        </p:nvSpPr>
        <p:spPr/>
        <p:txBody>
          <a:bodyPr/>
          <a:lstStyle/>
          <a:p>
            <a:pPr>
              <a:defRPr/>
            </a:pPr>
            <a:fld id="{A0CB4ACD-4FED-457D-AF8D-675059DCE53A}"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1B333F82-E3A4-67A0-2A30-4EBF782D556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F42FC1B3-305F-75D1-39CF-CE5A6D28B2AA}"/>
              </a:ext>
            </a:extLst>
          </p:cNvPr>
          <p:cNvSpPr>
            <a:spLocks noGrp="1"/>
          </p:cNvSpPr>
          <p:nvPr>
            <p:ph type="sldNum" sz="quarter" idx="12"/>
          </p:nvPr>
        </p:nvSpPr>
        <p:spPr/>
        <p:txBody>
          <a:bodyPr/>
          <a:lstStyle/>
          <a:p>
            <a:pPr>
              <a:defRPr/>
            </a:pPr>
            <a:fld id="{65B7EA61-351E-4105-9AD9-76D38C6E9934}" type="slidenum">
              <a:rPr lang="zh-CN" altLang="en-US" smtClean="0"/>
              <a:t>24</a:t>
            </a:fld>
            <a:endParaRPr lang="en-US" altLang="zh-CN"/>
          </a:p>
        </p:txBody>
      </p:sp>
    </p:spTree>
    <p:extLst>
      <p:ext uri="{BB962C8B-B14F-4D97-AF65-F5344CB8AC3E}">
        <p14:creationId xmlns:p14="http://schemas.microsoft.com/office/powerpoint/2010/main" val="28114008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30238" y="-9947"/>
            <a:ext cx="8229600" cy="1143000"/>
          </a:xfrm>
        </p:spPr>
        <p:txBody>
          <a:bodyPr>
            <a:normAutofit/>
          </a:bodyPr>
          <a:lstStyle/>
          <a:p>
            <a:pPr eaLnBrk="1" hangingPunct="1"/>
            <a:r>
              <a:rPr kumimoji="1" lang="zh-CN" altLang="en-US" sz="4000" b="1" dirty="0">
                <a:effectLst>
                  <a:outerShdw blurRad="38100" dist="38100" dir="2700000" algn="tl">
                    <a:srgbClr val="C0C0C0"/>
                  </a:outerShdw>
                </a:effectLst>
                <a:latin typeface="Times New Roman" pitchFamily="18" charset="0"/>
                <a:ea typeface="华文中宋" pitchFamily="2" charset="-122"/>
                <a:cs typeface="+mn-cs"/>
              </a:rPr>
              <a:t>第 </a:t>
            </a:r>
            <a:r>
              <a:rPr kumimoji="1" lang="en-US" altLang="zh-CN" sz="4000" b="1" dirty="0">
                <a:effectLst>
                  <a:outerShdw blurRad="38100" dist="38100" dir="2700000" algn="tl">
                    <a:srgbClr val="C0C0C0"/>
                  </a:outerShdw>
                </a:effectLst>
                <a:latin typeface="Times New Roman" pitchFamily="18" charset="0"/>
                <a:ea typeface="华文中宋" pitchFamily="2" charset="-122"/>
                <a:cs typeface="+mn-cs"/>
              </a:rPr>
              <a:t>5 </a:t>
            </a:r>
            <a:r>
              <a:rPr kumimoji="1" lang="zh-CN" altLang="en-US" sz="4000" b="1" dirty="0">
                <a:effectLst>
                  <a:outerShdw blurRad="38100" dist="38100" dir="2700000" algn="tl">
                    <a:srgbClr val="C0C0C0"/>
                  </a:outerShdw>
                </a:effectLst>
                <a:latin typeface="Times New Roman" pitchFamily="18" charset="0"/>
                <a:ea typeface="华文中宋" pitchFamily="2" charset="-122"/>
                <a:cs typeface="+mn-cs"/>
              </a:rPr>
              <a:t>章  存储层次</a:t>
            </a:r>
            <a:endParaRPr lang="zh-CN" altLang="en-US" sz="4000" b="1" dirty="0"/>
          </a:p>
        </p:txBody>
      </p:sp>
      <p:sp>
        <p:nvSpPr>
          <p:cNvPr id="7" name="Text Box 6">
            <a:extLst>
              <a:ext uri="{FF2B5EF4-FFF2-40B4-BE49-F238E27FC236}">
                <a16:creationId xmlns:a16="http://schemas.microsoft.com/office/drawing/2014/main" id="{82A5BEA6-7CED-462F-8F3E-E7570126A511}"/>
              </a:ext>
            </a:extLst>
          </p:cNvPr>
          <p:cNvSpPr txBox="1">
            <a:spLocks noChangeArrowheads="1"/>
          </p:cNvSpPr>
          <p:nvPr/>
        </p:nvSpPr>
        <p:spPr bwMode="auto">
          <a:xfrm>
            <a:off x="2697634" y="1971253"/>
            <a:ext cx="5029200" cy="519113"/>
          </a:xfrm>
          <a:prstGeom prst="rect">
            <a:avLst/>
          </a:prstGeom>
          <a:noFill/>
          <a:ln>
            <a:noFill/>
          </a:ln>
          <a:effectLst/>
        </p:spPr>
        <p:txBody>
          <a:bodyPr>
            <a:spAutoFit/>
          </a:bodyPr>
          <a:lstStyle/>
          <a:p>
            <a:pPr>
              <a:spcBef>
                <a:spcPct val="50000"/>
              </a:spcBef>
              <a:defRPr/>
            </a:pPr>
            <a:r>
              <a:rPr kumimoji="1" lang="en-US" altLang="zh-CN" sz="2800" u="sng" dirty="0">
                <a:latin typeface="Times New Roman" pitchFamily="18" charset="0"/>
                <a:ea typeface="华文中宋" pitchFamily="2" charset="-122"/>
              </a:rPr>
              <a:t>5.2</a:t>
            </a:r>
            <a:r>
              <a:rPr kumimoji="1" lang="zh-CN" altLang="en-US" sz="2800" u="sng" dirty="0">
                <a:latin typeface="Times New Roman" pitchFamily="18" charset="0"/>
                <a:ea typeface="华文中宋" pitchFamily="2" charset="-122"/>
              </a:rPr>
              <a:t>　</a:t>
            </a:r>
            <a:r>
              <a:rPr kumimoji="1" lang="en-US" altLang="zh-CN" sz="2800" u="sng" dirty="0">
                <a:latin typeface="Times New Roman" pitchFamily="18" charset="0"/>
                <a:ea typeface="华文中宋" pitchFamily="2" charset="-122"/>
              </a:rPr>
              <a:t>Cache</a:t>
            </a:r>
            <a:r>
              <a:rPr kumimoji="1" lang="zh-CN" altLang="en-US" sz="2800" u="sng" dirty="0">
                <a:latin typeface="Times New Roman" pitchFamily="18" charset="0"/>
                <a:ea typeface="华文中宋" pitchFamily="2" charset="-122"/>
              </a:rPr>
              <a:t>基本知识</a:t>
            </a:r>
          </a:p>
        </p:txBody>
      </p:sp>
      <p:sp>
        <p:nvSpPr>
          <p:cNvPr id="8" name="Text Box 7">
            <a:extLst>
              <a:ext uri="{FF2B5EF4-FFF2-40B4-BE49-F238E27FC236}">
                <a16:creationId xmlns:a16="http://schemas.microsoft.com/office/drawing/2014/main" id="{5A464274-E486-4D80-9BCD-80B258C792EC}"/>
              </a:ext>
            </a:extLst>
          </p:cNvPr>
          <p:cNvSpPr txBox="1">
            <a:spLocks noChangeArrowheads="1"/>
          </p:cNvSpPr>
          <p:nvPr/>
        </p:nvSpPr>
        <p:spPr bwMode="auto">
          <a:xfrm>
            <a:off x="2697634" y="2504653"/>
            <a:ext cx="5743575" cy="519113"/>
          </a:xfrm>
          <a:prstGeom prst="rect">
            <a:avLst/>
          </a:prstGeom>
          <a:noFill/>
          <a:ln>
            <a:noFill/>
          </a:ln>
          <a:effectLst/>
        </p:spPr>
        <p:txBody>
          <a:bodyPr>
            <a:spAutoFit/>
          </a:bodyPr>
          <a:lstStyle/>
          <a:p>
            <a:pPr>
              <a:spcBef>
                <a:spcPct val="50000"/>
              </a:spcBef>
              <a:defRPr/>
            </a:pPr>
            <a:r>
              <a:rPr kumimoji="1" lang="en-US" altLang="zh-CN" sz="2800" dirty="0">
                <a:latin typeface="Times New Roman" pitchFamily="18" charset="0"/>
                <a:ea typeface="华文中宋" pitchFamily="2" charset="-122"/>
              </a:rPr>
              <a:t>5.3    </a:t>
            </a:r>
            <a:r>
              <a:rPr kumimoji="1" lang="zh-CN" altLang="en-US" sz="2800" dirty="0">
                <a:latin typeface="Times New Roman" pitchFamily="18" charset="0"/>
                <a:ea typeface="华文中宋" pitchFamily="2" charset="-122"/>
              </a:rPr>
              <a:t>降低</a:t>
            </a:r>
            <a:r>
              <a:rPr kumimoji="1" lang="en-US" altLang="zh-CN" sz="2800" dirty="0">
                <a:latin typeface="Times New Roman" pitchFamily="18" charset="0"/>
                <a:ea typeface="华文中宋" pitchFamily="2" charset="-122"/>
              </a:rPr>
              <a:t>Cache</a:t>
            </a:r>
            <a:r>
              <a:rPr kumimoji="1" lang="zh-CN" altLang="en-US" sz="2800" dirty="0">
                <a:latin typeface="Times New Roman" pitchFamily="18" charset="0"/>
                <a:ea typeface="华文中宋" pitchFamily="2" charset="-122"/>
              </a:rPr>
              <a:t>失效率的方法</a:t>
            </a:r>
          </a:p>
        </p:txBody>
      </p:sp>
      <p:sp>
        <p:nvSpPr>
          <p:cNvPr id="9" name="Text Box 10">
            <a:extLst>
              <a:ext uri="{FF2B5EF4-FFF2-40B4-BE49-F238E27FC236}">
                <a16:creationId xmlns:a16="http://schemas.microsoft.com/office/drawing/2014/main" id="{E73DEC4E-3C4F-40BD-92E0-743E088D95FF}"/>
              </a:ext>
            </a:extLst>
          </p:cNvPr>
          <p:cNvSpPr txBox="1">
            <a:spLocks noChangeArrowheads="1"/>
          </p:cNvSpPr>
          <p:nvPr/>
        </p:nvSpPr>
        <p:spPr bwMode="auto">
          <a:xfrm>
            <a:off x="2697634" y="3038053"/>
            <a:ext cx="5226050" cy="519113"/>
          </a:xfrm>
          <a:prstGeom prst="rect">
            <a:avLst/>
          </a:prstGeom>
          <a:noFill/>
          <a:ln>
            <a:noFill/>
          </a:ln>
          <a:effectLst/>
        </p:spPr>
        <p:txBody>
          <a:bodyPr>
            <a:spAutoFit/>
          </a:bodyPr>
          <a:lstStyle/>
          <a:p>
            <a:pPr>
              <a:spcBef>
                <a:spcPct val="50000"/>
              </a:spcBef>
              <a:defRPr/>
            </a:pPr>
            <a:r>
              <a:rPr kumimoji="1" lang="en-US" altLang="zh-CN" sz="2800" dirty="0">
                <a:latin typeface="Times New Roman" pitchFamily="18" charset="0"/>
                <a:ea typeface="华文中宋" pitchFamily="2" charset="-122"/>
              </a:rPr>
              <a:t>5.4</a:t>
            </a:r>
            <a:r>
              <a:rPr kumimoji="1" lang="zh-CN" altLang="en-US" sz="2800" dirty="0">
                <a:latin typeface="Times New Roman" pitchFamily="18" charset="0"/>
                <a:ea typeface="华文中宋" pitchFamily="2" charset="-122"/>
              </a:rPr>
              <a:t>　减少</a:t>
            </a:r>
            <a:r>
              <a:rPr kumimoji="1" lang="en-US" altLang="zh-CN" sz="2800" dirty="0">
                <a:latin typeface="Times New Roman" pitchFamily="18" charset="0"/>
                <a:ea typeface="华文中宋" pitchFamily="2" charset="-122"/>
              </a:rPr>
              <a:t>Cache</a:t>
            </a:r>
            <a:r>
              <a:rPr kumimoji="1" lang="zh-CN" altLang="en-US" sz="2800" dirty="0">
                <a:latin typeface="Times New Roman" pitchFamily="18" charset="0"/>
                <a:ea typeface="华文中宋" pitchFamily="2" charset="-122"/>
              </a:rPr>
              <a:t>失效开销</a:t>
            </a:r>
          </a:p>
        </p:txBody>
      </p:sp>
      <p:sp>
        <p:nvSpPr>
          <p:cNvPr id="10" name="Text Box 12">
            <a:extLst>
              <a:ext uri="{FF2B5EF4-FFF2-40B4-BE49-F238E27FC236}">
                <a16:creationId xmlns:a16="http://schemas.microsoft.com/office/drawing/2014/main" id="{0F4898E9-C4F0-4F68-83D8-A70F1477FCCA}"/>
              </a:ext>
            </a:extLst>
          </p:cNvPr>
          <p:cNvSpPr txBox="1">
            <a:spLocks noChangeArrowheads="1"/>
          </p:cNvSpPr>
          <p:nvPr/>
        </p:nvSpPr>
        <p:spPr bwMode="auto">
          <a:xfrm>
            <a:off x="2697634" y="1437853"/>
            <a:ext cx="4832350" cy="519113"/>
          </a:xfrm>
          <a:prstGeom prst="rect">
            <a:avLst/>
          </a:prstGeom>
          <a:noFill/>
          <a:ln w="9525">
            <a:noFill/>
            <a:miter lim="800000"/>
            <a:headEnd/>
            <a:tailEnd/>
          </a:ln>
          <a:effectLst/>
        </p:spPr>
        <p:txBody>
          <a:bodyPr lIns="92075" tIns="46038" rIns="92075" bIns="46038" anchor="ctr"/>
          <a:lstStyle>
            <a:defPPr>
              <a:defRPr lang="en-US"/>
            </a:defPPr>
            <a:lvl1pPr>
              <a:defRPr sz="2800" u="sng">
                <a:solidFill>
                  <a:schemeClr val="tx2"/>
                </a:solidFill>
                <a:effectLst>
                  <a:outerShdw blurRad="38100" dist="38100" dir="2700000" algn="tl">
                    <a:srgbClr val="000000"/>
                  </a:outerShdw>
                </a:effectLst>
                <a:latin typeface="Arial" charset="0"/>
              </a:defRPr>
            </a:lvl1pPr>
          </a:lstStyle>
          <a:p>
            <a:r>
              <a:rPr lang="en-US" altLang="zh-CN" u="none" dirty="0">
                <a:solidFill>
                  <a:schemeClr val="tx1"/>
                </a:solidFill>
                <a:effectLst/>
                <a:latin typeface="Times New Roman" panose="02020603050405020304" pitchFamily="18" charset="0"/>
                <a:cs typeface="Times New Roman" panose="02020603050405020304" pitchFamily="18" charset="0"/>
              </a:rPr>
              <a:t>5.1</a:t>
            </a:r>
            <a:r>
              <a:rPr lang="zh-CN" altLang="en-US" u="none" dirty="0">
                <a:solidFill>
                  <a:schemeClr val="tx1"/>
                </a:solidFill>
                <a:effectLst/>
              </a:rPr>
              <a:t>　</a:t>
            </a:r>
            <a:r>
              <a:rPr lang="zh-CN" altLang="en-US" u="none" dirty="0">
                <a:solidFill>
                  <a:schemeClr val="tx1"/>
                </a:solidFill>
                <a:effectLst/>
                <a:latin typeface="华文中宋" panose="02010600040101010101" pitchFamily="2" charset="-122"/>
                <a:ea typeface="华文中宋" panose="02010600040101010101" pitchFamily="2" charset="-122"/>
              </a:rPr>
              <a:t>存储器的层次结构</a:t>
            </a:r>
            <a:endParaRPr lang="zh-CN" altLang="en-US" u="none" dirty="0">
              <a:solidFill>
                <a:schemeClr val="tx1"/>
              </a:solidFill>
              <a:effectLst/>
              <a:latin typeface="华文中宋" panose="02010600040101010101" pitchFamily="2" charset="-122"/>
              <a:ea typeface="华文中宋" panose="02010600040101010101" pitchFamily="2" charset="-122"/>
              <a:hlinkClick r:id="rId2" action="ppaction://hlinksldjump">
                <a:extLst>
                  <a:ext uri="{A12FA001-AC4F-418D-AE19-62706E023703}">
                    <ahyp:hlinkClr xmlns:ahyp="http://schemas.microsoft.com/office/drawing/2018/hyperlinkcolor" val="tx"/>
                  </a:ext>
                </a:extLst>
              </a:hlinkClick>
            </a:endParaRPr>
          </a:p>
        </p:txBody>
      </p:sp>
      <p:sp>
        <p:nvSpPr>
          <p:cNvPr id="11" name="Text Box 13">
            <a:extLst>
              <a:ext uri="{FF2B5EF4-FFF2-40B4-BE49-F238E27FC236}">
                <a16:creationId xmlns:a16="http://schemas.microsoft.com/office/drawing/2014/main" id="{FE55A58C-D019-4973-BBAC-B882ADD9A135}"/>
              </a:ext>
            </a:extLst>
          </p:cNvPr>
          <p:cNvSpPr txBox="1">
            <a:spLocks noChangeArrowheads="1"/>
          </p:cNvSpPr>
          <p:nvPr/>
        </p:nvSpPr>
        <p:spPr bwMode="auto">
          <a:xfrm>
            <a:off x="2716684" y="3571453"/>
            <a:ext cx="5226050" cy="519113"/>
          </a:xfrm>
          <a:prstGeom prst="rect">
            <a:avLst/>
          </a:prstGeom>
          <a:noFill/>
          <a:ln>
            <a:noFill/>
          </a:ln>
          <a:effectLst/>
        </p:spPr>
        <p:txBody>
          <a:bodyPr>
            <a:spAutoFit/>
          </a:bodyPr>
          <a:lstStyle/>
          <a:p>
            <a:pPr>
              <a:spcBef>
                <a:spcPct val="50000"/>
              </a:spcBef>
              <a:defRPr/>
            </a:pPr>
            <a:r>
              <a:rPr kumimoji="1" lang="en-US" altLang="zh-CN" sz="2800" dirty="0">
                <a:latin typeface="Times New Roman" pitchFamily="18" charset="0"/>
                <a:ea typeface="华文中宋" pitchFamily="2" charset="-122"/>
              </a:rPr>
              <a:t>5.5</a:t>
            </a:r>
            <a:r>
              <a:rPr kumimoji="1" lang="zh-CN" altLang="en-US" sz="2800" dirty="0">
                <a:latin typeface="Times New Roman" pitchFamily="18" charset="0"/>
                <a:ea typeface="华文中宋" pitchFamily="2" charset="-122"/>
              </a:rPr>
              <a:t>　减少命中时间</a:t>
            </a:r>
          </a:p>
        </p:txBody>
      </p:sp>
      <p:sp>
        <p:nvSpPr>
          <p:cNvPr id="12" name="Text Box 14">
            <a:extLst>
              <a:ext uri="{FF2B5EF4-FFF2-40B4-BE49-F238E27FC236}">
                <a16:creationId xmlns:a16="http://schemas.microsoft.com/office/drawing/2014/main" id="{B3394BD0-7A70-4854-BF2B-F2F83E27DB01}"/>
              </a:ext>
            </a:extLst>
          </p:cNvPr>
          <p:cNvSpPr txBox="1">
            <a:spLocks noChangeArrowheads="1"/>
          </p:cNvSpPr>
          <p:nvPr/>
        </p:nvSpPr>
        <p:spPr bwMode="auto">
          <a:xfrm>
            <a:off x="2716684" y="4104853"/>
            <a:ext cx="5226050" cy="519113"/>
          </a:xfrm>
          <a:prstGeom prst="rect">
            <a:avLst/>
          </a:prstGeom>
          <a:noFill/>
          <a:ln>
            <a:noFill/>
          </a:ln>
          <a:effectLst/>
        </p:spPr>
        <p:txBody>
          <a:bodyPr>
            <a:spAutoFit/>
          </a:bodyPr>
          <a:lstStyle/>
          <a:p>
            <a:pPr>
              <a:spcBef>
                <a:spcPct val="50000"/>
              </a:spcBef>
              <a:defRPr/>
            </a:pPr>
            <a:r>
              <a:rPr kumimoji="1" lang="en-US" altLang="zh-CN" sz="2800" dirty="0">
                <a:latin typeface="Times New Roman" pitchFamily="18" charset="0"/>
                <a:ea typeface="华文中宋" pitchFamily="2" charset="-122"/>
              </a:rPr>
              <a:t>5.6</a:t>
            </a:r>
            <a:r>
              <a:rPr kumimoji="1" lang="zh-CN" altLang="en-US" sz="2800" dirty="0">
                <a:latin typeface="Times New Roman" pitchFamily="18" charset="0"/>
                <a:ea typeface="华文中宋" pitchFamily="2" charset="-122"/>
              </a:rPr>
              <a:t>　主存</a:t>
            </a:r>
          </a:p>
        </p:txBody>
      </p:sp>
      <p:sp>
        <p:nvSpPr>
          <p:cNvPr id="13" name="Text Box 15">
            <a:extLst>
              <a:ext uri="{FF2B5EF4-FFF2-40B4-BE49-F238E27FC236}">
                <a16:creationId xmlns:a16="http://schemas.microsoft.com/office/drawing/2014/main" id="{4C94A4A4-B7BA-444C-AC9D-0DA36C5C550C}"/>
              </a:ext>
            </a:extLst>
          </p:cNvPr>
          <p:cNvSpPr txBox="1">
            <a:spLocks noChangeArrowheads="1"/>
          </p:cNvSpPr>
          <p:nvPr/>
        </p:nvSpPr>
        <p:spPr bwMode="auto">
          <a:xfrm>
            <a:off x="2716684" y="4638253"/>
            <a:ext cx="5226050" cy="519113"/>
          </a:xfrm>
          <a:prstGeom prst="rect">
            <a:avLst/>
          </a:prstGeom>
          <a:noFill/>
          <a:ln>
            <a:noFill/>
          </a:ln>
          <a:effectLst/>
        </p:spPr>
        <p:txBody>
          <a:bodyPr>
            <a:spAutoFit/>
          </a:bodyPr>
          <a:lstStyle/>
          <a:p>
            <a:pPr>
              <a:spcBef>
                <a:spcPct val="50000"/>
              </a:spcBef>
              <a:defRPr/>
            </a:pPr>
            <a:r>
              <a:rPr kumimoji="1" lang="en-US" altLang="zh-CN" sz="2800" dirty="0">
                <a:latin typeface="Times New Roman" pitchFamily="18" charset="0"/>
                <a:ea typeface="华文中宋" pitchFamily="2" charset="-122"/>
              </a:rPr>
              <a:t>5.7</a:t>
            </a:r>
            <a:r>
              <a:rPr kumimoji="1" lang="zh-CN" altLang="en-US" sz="2800" dirty="0">
                <a:latin typeface="Times New Roman" pitchFamily="18" charset="0"/>
                <a:ea typeface="华文中宋" pitchFamily="2" charset="-122"/>
              </a:rPr>
              <a:t>　虚拟存储器</a:t>
            </a:r>
            <a:endParaRPr kumimoji="1" lang="zh-CN" altLang="en-US" sz="2800" dirty="0">
              <a:latin typeface="Times New Roman" pitchFamily="18" charset="0"/>
              <a:ea typeface="华文中宋" pitchFamily="2" charset="-122"/>
              <a:hlinkClick r:id="" action="ppaction://noaction">
                <a:extLst>
                  <a:ext uri="{A12FA001-AC4F-418D-AE19-62706E023703}">
                    <ahyp:hlinkClr xmlns:ahyp="http://schemas.microsoft.com/office/drawing/2018/hyperlinkcolor" val="tx"/>
                  </a:ext>
                </a:extLst>
              </a:hlinkClick>
            </a:endParaRPr>
          </a:p>
        </p:txBody>
      </p:sp>
      <p:sp>
        <p:nvSpPr>
          <p:cNvPr id="14" name="Text Box 15">
            <a:extLst>
              <a:ext uri="{FF2B5EF4-FFF2-40B4-BE49-F238E27FC236}">
                <a16:creationId xmlns:a16="http://schemas.microsoft.com/office/drawing/2014/main" id="{0EE57336-28E3-4052-832A-5B869E0CC333}"/>
              </a:ext>
            </a:extLst>
          </p:cNvPr>
          <p:cNvSpPr txBox="1">
            <a:spLocks noChangeArrowheads="1"/>
          </p:cNvSpPr>
          <p:nvPr/>
        </p:nvSpPr>
        <p:spPr bwMode="auto">
          <a:xfrm>
            <a:off x="2697634" y="5157366"/>
            <a:ext cx="5226050" cy="519113"/>
          </a:xfrm>
          <a:prstGeom prst="rect">
            <a:avLst/>
          </a:prstGeom>
          <a:noFill/>
          <a:ln>
            <a:noFill/>
          </a:ln>
          <a:effectLst/>
        </p:spPr>
        <p:txBody>
          <a:bodyPr>
            <a:spAutoFit/>
          </a:bodyPr>
          <a:lstStyle/>
          <a:p>
            <a:pPr>
              <a:spcBef>
                <a:spcPct val="50000"/>
              </a:spcBef>
              <a:defRPr/>
            </a:pPr>
            <a:r>
              <a:rPr kumimoji="1" lang="en-US" altLang="zh-CN" sz="2800" dirty="0">
                <a:latin typeface="Times New Roman" pitchFamily="18" charset="0"/>
                <a:ea typeface="华文中宋" pitchFamily="2" charset="-122"/>
              </a:rPr>
              <a:t>5.8</a:t>
            </a:r>
            <a:r>
              <a:rPr kumimoji="1" lang="zh-CN" altLang="en-US" sz="2800" dirty="0">
                <a:latin typeface="Times New Roman" pitchFamily="18" charset="0"/>
                <a:ea typeface="华文中宋" pitchFamily="2" charset="-122"/>
              </a:rPr>
              <a:t>　虚拟保护和虚存实例</a:t>
            </a:r>
            <a:endParaRPr kumimoji="1" lang="zh-CN" altLang="en-US" sz="2800" dirty="0">
              <a:latin typeface="Times New Roman" pitchFamily="18" charset="0"/>
              <a:ea typeface="华文中宋" pitchFamily="2" charset="-122"/>
              <a:hlinkClick r:id="" action="ppaction://noaction">
                <a:extLst>
                  <a:ext uri="{A12FA001-AC4F-418D-AE19-62706E023703}">
                    <ahyp:hlinkClr xmlns:ahyp="http://schemas.microsoft.com/office/drawing/2018/hyperlinkcolor" val="tx"/>
                  </a:ext>
                </a:extLst>
              </a:hlinkClick>
            </a:endParaRPr>
          </a:p>
        </p:txBody>
      </p:sp>
      <p:sp>
        <p:nvSpPr>
          <p:cNvPr id="15" name="Text Box 15">
            <a:extLst>
              <a:ext uri="{FF2B5EF4-FFF2-40B4-BE49-F238E27FC236}">
                <a16:creationId xmlns:a16="http://schemas.microsoft.com/office/drawing/2014/main" id="{8106C331-E33F-4272-98E1-EE98B0C340AF}"/>
              </a:ext>
            </a:extLst>
          </p:cNvPr>
          <p:cNvSpPr txBox="1">
            <a:spLocks noChangeArrowheads="1"/>
          </p:cNvSpPr>
          <p:nvPr/>
        </p:nvSpPr>
        <p:spPr bwMode="auto">
          <a:xfrm>
            <a:off x="2697634" y="5744864"/>
            <a:ext cx="5226050" cy="519113"/>
          </a:xfrm>
          <a:prstGeom prst="rect">
            <a:avLst/>
          </a:prstGeom>
          <a:noFill/>
          <a:ln>
            <a:noFill/>
          </a:ln>
          <a:effectLst/>
        </p:spPr>
        <p:txBody>
          <a:bodyPr>
            <a:spAutoFit/>
          </a:bodyPr>
          <a:lstStyle/>
          <a:p>
            <a:pPr>
              <a:spcBef>
                <a:spcPct val="50000"/>
              </a:spcBef>
              <a:defRPr/>
            </a:pPr>
            <a:r>
              <a:rPr kumimoji="1" lang="en-US" altLang="zh-CN" sz="2800" dirty="0">
                <a:latin typeface="Times New Roman" pitchFamily="18" charset="0"/>
                <a:ea typeface="华文中宋" pitchFamily="2" charset="-122"/>
              </a:rPr>
              <a:t>5.9</a:t>
            </a:r>
            <a:r>
              <a:rPr kumimoji="1" lang="zh-CN" altLang="en-US" sz="2800" dirty="0">
                <a:latin typeface="Times New Roman" pitchFamily="18" charset="0"/>
                <a:ea typeface="华文中宋" pitchFamily="2" charset="-122"/>
              </a:rPr>
              <a:t>　综合实例</a:t>
            </a:r>
            <a:endParaRPr kumimoji="1" lang="zh-CN" altLang="en-US" sz="2800" dirty="0">
              <a:latin typeface="Times New Roman" pitchFamily="18" charset="0"/>
              <a:ea typeface="华文中宋" pitchFamily="2" charset="-122"/>
              <a:hlinkClick r:id="" action="ppaction://noaction">
                <a:extLst>
                  <a:ext uri="{A12FA001-AC4F-418D-AE19-62706E023703}">
                    <ahyp:hlinkClr xmlns:ahyp="http://schemas.microsoft.com/office/drawing/2018/hyperlinkcolor" val="tx"/>
                  </a:ext>
                </a:extLst>
              </a:hlinkClick>
            </a:endParaRPr>
          </a:p>
        </p:txBody>
      </p:sp>
      <p:sp>
        <p:nvSpPr>
          <p:cNvPr id="2" name="日期占位符 1">
            <a:extLst>
              <a:ext uri="{FF2B5EF4-FFF2-40B4-BE49-F238E27FC236}">
                <a16:creationId xmlns:a16="http://schemas.microsoft.com/office/drawing/2014/main" id="{9A6B67CA-D53A-58F3-330F-4BE78F442C5A}"/>
              </a:ext>
            </a:extLst>
          </p:cNvPr>
          <p:cNvSpPr>
            <a:spLocks noGrp="1"/>
          </p:cNvSpPr>
          <p:nvPr>
            <p:ph type="dt" sz="half" idx="10"/>
          </p:nvPr>
        </p:nvSpPr>
        <p:spPr/>
        <p:txBody>
          <a:bodyPr/>
          <a:lstStyle/>
          <a:p>
            <a:pPr>
              <a:defRPr/>
            </a:pPr>
            <a:fld id="{B0CFF169-E5D1-474A-8100-F0D7ABA79723}"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D21B7503-BAE7-8CA3-5632-71AF460B3BA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61BA29B-CC25-2752-7AB5-F014AA6CA669}"/>
              </a:ext>
            </a:extLst>
          </p:cNvPr>
          <p:cNvSpPr>
            <a:spLocks noGrp="1"/>
          </p:cNvSpPr>
          <p:nvPr>
            <p:ph type="sldNum" sz="quarter" idx="12"/>
          </p:nvPr>
        </p:nvSpPr>
        <p:spPr/>
        <p:txBody>
          <a:bodyPr/>
          <a:lstStyle/>
          <a:p>
            <a:pPr>
              <a:defRPr/>
            </a:pPr>
            <a:fld id="{8BCAC33D-D29A-48B3-BCD6-381D3D720D26}" type="slidenum">
              <a:rPr lang="zh-CN" altLang="en-US" smtClean="0"/>
              <a:t>25</a:t>
            </a:fld>
            <a:endParaRPr lang="en-US" altLang="zh-CN"/>
          </a:p>
        </p:txBody>
      </p:sp>
    </p:spTree>
    <p:extLst>
      <p:ext uri="{BB962C8B-B14F-4D97-AF65-F5344CB8AC3E}">
        <p14:creationId xmlns:p14="http://schemas.microsoft.com/office/powerpoint/2010/main" val="3365084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395536" y="116632"/>
            <a:ext cx="8229600" cy="1143000"/>
          </a:xfrm>
        </p:spPr>
        <p:txBody>
          <a:bodyPr>
            <a:normAutofit/>
          </a:bodyPr>
          <a:lstStyle/>
          <a:p>
            <a:pPr eaLnBrk="1" hangingPunct="1"/>
            <a:r>
              <a:rPr lang="en-US" altLang="zh-CN" sz="4000" b="1" dirty="0">
                <a:latin typeface="Times New Roman" panose="02020603050405020304" pitchFamily="18" charset="0"/>
                <a:cs typeface="Times New Roman" panose="02020603050405020304" pitchFamily="18" charset="0"/>
              </a:rPr>
              <a:t>5.2 Cache</a:t>
            </a:r>
            <a:r>
              <a:rPr lang="zh-CN" altLang="en-US" sz="4000" b="1" dirty="0">
                <a:latin typeface="华文中宋" panose="02010600040101010101" pitchFamily="2" charset="-122"/>
                <a:ea typeface="华文中宋" panose="02010600040101010101" pitchFamily="2" charset="-122"/>
                <a:cs typeface="Times New Roman" panose="02020603050405020304" pitchFamily="18" charset="0"/>
              </a:rPr>
              <a:t>基本知识</a:t>
            </a:r>
            <a:endParaRPr lang="zh-CN" altLang="en-US" sz="4000" b="1" dirty="0">
              <a:latin typeface="Times New Roman" panose="02020603050405020304" pitchFamily="18" charset="0"/>
              <a:cs typeface="Times New Roman" panose="02020603050405020304" pitchFamily="18" charset="0"/>
            </a:endParaRPr>
          </a:p>
        </p:txBody>
      </p:sp>
      <p:sp>
        <p:nvSpPr>
          <p:cNvPr id="7171" name="Text Box 3"/>
          <p:cNvSpPr txBox="1">
            <a:spLocks noChangeArrowheads="1"/>
          </p:cNvSpPr>
          <p:nvPr/>
        </p:nvSpPr>
        <p:spPr bwMode="auto">
          <a:xfrm>
            <a:off x="2840908" y="2763669"/>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en-US" altLang="zh-CN" sz="3000" dirty="0">
                <a:latin typeface="Times New Roman" panose="02020603050405020304" pitchFamily="18" charset="0"/>
                <a:ea typeface="华文中宋" pitchFamily="2" charset="-122"/>
                <a:cs typeface="Times New Roman" panose="02020603050405020304" pitchFamily="18" charset="0"/>
              </a:rPr>
              <a:t>5</a:t>
            </a:r>
            <a:r>
              <a:rPr lang="zh-CN" altLang="en-US" sz="3000" dirty="0">
                <a:latin typeface="Times New Roman" panose="02020603050405020304" pitchFamily="18" charset="0"/>
                <a:ea typeface="华文中宋" pitchFamily="2" charset="-122"/>
                <a:cs typeface="Times New Roman" panose="02020603050405020304" pitchFamily="18" charset="0"/>
              </a:rPr>
              <a:t>.</a:t>
            </a:r>
            <a:r>
              <a:rPr lang="en-US" altLang="zh-CN" sz="3000" dirty="0">
                <a:latin typeface="Times New Roman" panose="02020603050405020304" pitchFamily="18" charset="0"/>
                <a:ea typeface="华文中宋" pitchFamily="2" charset="-122"/>
                <a:cs typeface="Times New Roman" panose="02020603050405020304" pitchFamily="18" charset="0"/>
              </a:rPr>
              <a:t>2.</a:t>
            </a:r>
            <a:r>
              <a:rPr lang="zh-CN" altLang="en-US" sz="3000" dirty="0">
                <a:latin typeface="Times New Roman" panose="02020603050405020304" pitchFamily="18" charset="0"/>
                <a:ea typeface="华文中宋" pitchFamily="2" charset="-122"/>
                <a:cs typeface="Times New Roman" panose="02020603050405020304" pitchFamily="18" charset="0"/>
              </a:rPr>
              <a:t>3 替换算法（</a:t>
            </a:r>
            <a:r>
              <a:rPr lang="en-US" altLang="zh-CN" sz="3000" i="1" dirty="0">
                <a:latin typeface="Times New Roman" panose="02020603050405020304" pitchFamily="18" charset="0"/>
                <a:ea typeface="华文中宋" pitchFamily="2" charset="-122"/>
                <a:cs typeface="Times New Roman" panose="02020603050405020304" pitchFamily="18" charset="0"/>
              </a:rPr>
              <a:t>SKIP</a:t>
            </a:r>
            <a:r>
              <a:rPr lang="zh-CN" altLang="en-US" sz="3000" dirty="0">
                <a:latin typeface="Times New Roman" panose="02020603050405020304" pitchFamily="18" charset="0"/>
                <a:ea typeface="华文中宋" pitchFamily="2" charset="-122"/>
                <a:cs typeface="Times New Roman" panose="02020603050405020304" pitchFamily="18" charset="0"/>
              </a:rPr>
              <a:t>）</a:t>
            </a:r>
          </a:p>
        </p:txBody>
      </p:sp>
      <p:sp>
        <p:nvSpPr>
          <p:cNvPr id="7172" name="Text Box 4"/>
          <p:cNvSpPr txBox="1">
            <a:spLocks noChangeArrowheads="1"/>
          </p:cNvSpPr>
          <p:nvPr/>
        </p:nvSpPr>
        <p:spPr bwMode="auto">
          <a:xfrm>
            <a:off x="2122405" y="2200365"/>
            <a:ext cx="71863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marL="471488" lvl="1" indent="250825"/>
            <a:r>
              <a:rPr lang="en-US" altLang="zh-CN" sz="3000" dirty="0">
                <a:latin typeface="Times New Roman" panose="02020603050405020304" pitchFamily="18" charset="0"/>
                <a:ea typeface="华文中宋" pitchFamily="2" charset="-122"/>
                <a:cs typeface="Times New Roman" panose="02020603050405020304" pitchFamily="18" charset="0"/>
              </a:rPr>
              <a:t>5</a:t>
            </a:r>
            <a:r>
              <a:rPr lang="zh-CN" altLang="en-US" sz="3000" dirty="0">
                <a:latin typeface="Times New Roman" panose="02020603050405020304" pitchFamily="18" charset="0"/>
                <a:ea typeface="华文中宋" pitchFamily="2" charset="-122"/>
                <a:cs typeface="Times New Roman" panose="02020603050405020304" pitchFamily="18" charset="0"/>
              </a:rPr>
              <a:t>.</a:t>
            </a:r>
            <a:r>
              <a:rPr lang="en-US" altLang="zh-CN" sz="3000" dirty="0">
                <a:latin typeface="Times New Roman" panose="02020603050405020304" pitchFamily="18" charset="0"/>
                <a:ea typeface="华文中宋" pitchFamily="2" charset="-122"/>
                <a:cs typeface="Times New Roman" panose="02020603050405020304" pitchFamily="18" charset="0"/>
              </a:rPr>
              <a:t>2.</a:t>
            </a:r>
            <a:r>
              <a:rPr lang="zh-CN" altLang="en-US" sz="3000" dirty="0">
                <a:latin typeface="Times New Roman" panose="02020603050405020304" pitchFamily="18" charset="0"/>
                <a:ea typeface="华文中宋" pitchFamily="2" charset="-122"/>
                <a:cs typeface="Times New Roman" panose="02020603050405020304" pitchFamily="18" charset="0"/>
              </a:rPr>
              <a:t>2 查找方法（</a:t>
            </a:r>
            <a:r>
              <a:rPr lang="en-US" altLang="zh-CN" sz="3000" i="1" dirty="0">
                <a:latin typeface="Times New Roman" panose="02020603050405020304" pitchFamily="18" charset="0"/>
                <a:ea typeface="华文中宋" pitchFamily="2" charset="-122"/>
                <a:cs typeface="Times New Roman" panose="02020603050405020304" pitchFamily="18" charset="0"/>
              </a:rPr>
              <a:t>SKIP</a:t>
            </a:r>
            <a:r>
              <a:rPr lang="zh-CN" altLang="en-US" sz="3000" dirty="0">
                <a:latin typeface="Times New Roman" panose="02020603050405020304" pitchFamily="18" charset="0"/>
                <a:ea typeface="华文中宋" pitchFamily="2" charset="-122"/>
                <a:cs typeface="Times New Roman" panose="02020603050405020304" pitchFamily="18" charset="0"/>
              </a:rPr>
              <a:t>）</a:t>
            </a:r>
          </a:p>
        </p:txBody>
      </p:sp>
      <p:sp>
        <p:nvSpPr>
          <p:cNvPr id="7173" name="Text Box 5"/>
          <p:cNvSpPr txBox="1">
            <a:spLocks noChangeArrowheads="1"/>
          </p:cNvSpPr>
          <p:nvPr/>
        </p:nvSpPr>
        <p:spPr bwMode="auto">
          <a:xfrm>
            <a:off x="2128602" y="1615620"/>
            <a:ext cx="683186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sz="800" b="1">
                <a:solidFill>
                  <a:schemeClr val="tx1"/>
                </a:solidFill>
                <a:latin typeface="宋体" pitchFamily="2" charset="-122"/>
                <a:ea typeface="宋体" pitchFamily="2" charset="-122"/>
              </a:defRPr>
            </a:lvl1pPr>
            <a:lvl2pPr marL="471488" indent="250825"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lvl="1">
              <a:buFont typeface="Wingdings" pitchFamily="2" charset="2"/>
              <a:buNone/>
            </a:pPr>
            <a:r>
              <a:rPr lang="en-US" altLang="zh-CN" sz="3000" dirty="0">
                <a:latin typeface="Times New Roman" panose="02020603050405020304" pitchFamily="18" charset="0"/>
                <a:ea typeface="华文中宋" pitchFamily="2" charset="-122"/>
                <a:cs typeface="Times New Roman" panose="02020603050405020304" pitchFamily="18" charset="0"/>
              </a:rPr>
              <a:t>5.2.1 </a:t>
            </a:r>
            <a:r>
              <a:rPr lang="zh-CN" altLang="en-US" sz="3000" dirty="0">
                <a:latin typeface="Times New Roman" panose="02020603050405020304" pitchFamily="18" charset="0"/>
                <a:ea typeface="华文中宋" pitchFamily="2" charset="-122"/>
                <a:cs typeface="Times New Roman" panose="02020603050405020304" pitchFamily="18" charset="0"/>
              </a:rPr>
              <a:t>映像规则（</a:t>
            </a:r>
            <a:r>
              <a:rPr lang="en-US" altLang="zh-CN" sz="3000" i="1" dirty="0">
                <a:latin typeface="Times New Roman" panose="02020603050405020304" pitchFamily="18" charset="0"/>
                <a:ea typeface="华文中宋" pitchFamily="2" charset="-122"/>
                <a:cs typeface="Times New Roman" panose="02020603050405020304" pitchFamily="18" charset="0"/>
              </a:rPr>
              <a:t>SKIP</a:t>
            </a:r>
            <a:r>
              <a:rPr lang="zh-CN" altLang="en-US" sz="3000" dirty="0">
                <a:latin typeface="Times New Roman" panose="02020603050405020304" pitchFamily="18" charset="0"/>
                <a:ea typeface="华文中宋" pitchFamily="2" charset="-122"/>
                <a:cs typeface="Times New Roman" panose="02020603050405020304" pitchFamily="18" charset="0"/>
              </a:rPr>
              <a:t>）</a:t>
            </a:r>
          </a:p>
        </p:txBody>
      </p:sp>
      <p:sp>
        <p:nvSpPr>
          <p:cNvPr id="7" name="Text Box 3">
            <a:extLst>
              <a:ext uri="{FF2B5EF4-FFF2-40B4-BE49-F238E27FC236}">
                <a16:creationId xmlns:a16="http://schemas.microsoft.com/office/drawing/2014/main" id="{A3DE16BF-B491-46C4-B73A-E76A9AE4835E}"/>
              </a:ext>
            </a:extLst>
          </p:cNvPr>
          <p:cNvSpPr txBox="1">
            <a:spLocks noChangeArrowheads="1"/>
          </p:cNvSpPr>
          <p:nvPr/>
        </p:nvSpPr>
        <p:spPr bwMode="auto">
          <a:xfrm>
            <a:off x="2840908" y="3339108"/>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en-US" altLang="zh-CN" sz="3000" dirty="0">
                <a:latin typeface="Times New Roman" panose="02020603050405020304" pitchFamily="18" charset="0"/>
                <a:ea typeface="华文中宋" pitchFamily="2" charset="-122"/>
                <a:cs typeface="Times New Roman" panose="02020603050405020304" pitchFamily="18" charset="0"/>
              </a:rPr>
              <a:t>5</a:t>
            </a:r>
            <a:r>
              <a:rPr lang="zh-CN" altLang="en-US" sz="3000" dirty="0">
                <a:latin typeface="Times New Roman" panose="02020603050405020304" pitchFamily="18" charset="0"/>
                <a:ea typeface="华文中宋" pitchFamily="2" charset="-122"/>
                <a:cs typeface="Times New Roman" panose="02020603050405020304" pitchFamily="18" charset="0"/>
              </a:rPr>
              <a:t>.</a:t>
            </a:r>
            <a:r>
              <a:rPr lang="en-US" altLang="zh-CN" sz="3000" dirty="0">
                <a:latin typeface="Times New Roman" panose="02020603050405020304" pitchFamily="18" charset="0"/>
                <a:ea typeface="华文中宋" pitchFamily="2" charset="-122"/>
                <a:cs typeface="Times New Roman" panose="02020603050405020304" pitchFamily="18" charset="0"/>
              </a:rPr>
              <a:t>2.4</a:t>
            </a:r>
            <a:r>
              <a:rPr lang="zh-CN" altLang="en-US" sz="3000" dirty="0">
                <a:latin typeface="Times New Roman" panose="02020603050405020304" pitchFamily="18" charset="0"/>
                <a:ea typeface="华文中宋" pitchFamily="2" charset="-122"/>
                <a:cs typeface="Times New Roman" panose="02020603050405020304" pitchFamily="18" charset="0"/>
              </a:rPr>
              <a:t> 写策略（</a:t>
            </a:r>
            <a:r>
              <a:rPr lang="en-US" altLang="zh-CN" sz="3000" i="1" dirty="0">
                <a:latin typeface="Times New Roman" panose="02020603050405020304" pitchFamily="18" charset="0"/>
                <a:ea typeface="华文中宋" pitchFamily="2" charset="-122"/>
                <a:cs typeface="Times New Roman" panose="02020603050405020304" pitchFamily="18" charset="0"/>
              </a:rPr>
              <a:t>SKIP</a:t>
            </a:r>
            <a:r>
              <a:rPr lang="zh-CN" altLang="en-US" sz="3000" dirty="0">
                <a:latin typeface="Times New Roman" panose="02020603050405020304" pitchFamily="18" charset="0"/>
                <a:ea typeface="华文中宋" pitchFamily="2" charset="-122"/>
                <a:cs typeface="Times New Roman" panose="02020603050405020304" pitchFamily="18" charset="0"/>
              </a:rPr>
              <a:t>）</a:t>
            </a:r>
          </a:p>
        </p:txBody>
      </p:sp>
      <p:sp>
        <p:nvSpPr>
          <p:cNvPr id="8" name="Text Box 3">
            <a:extLst>
              <a:ext uri="{FF2B5EF4-FFF2-40B4-BE49-F238E27FC236}">
                <a16:creationId xmlns:a16="http://schemas.microsoft.com/office/drawing/2014/main" id="{2A958D1C-5B1B-44AF-8035-4AC5070FCC60}"/>
              </a:ext>
            </a:extLst>
          </p:cNvPr>
          <p:cNvSpPr txBox="1">
            <a:spLocks noChangeArrowheads="1"/>
          </p:cNvSpPr>
          <p:nvPr/>
        </p:nvSpPr>
        <p:spPr bwMode="auto">
          <a:xfrm>
            <a:off x="2840908" y="3975658"/>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en-US" altLang="zh-CN" sz="3000" dirty="0">
                <a:latin typeface="Times New Roman" panose="02020603050405020304" pitchFamily="18" charset="0"/>
                <a:ea typeface="华文中宋" pitchFamily="2" charset="-122"/>
                <a:cs typeface="Times New Roman" panose="02020603050405020304" pitchFamily="18" charset="0"/>
              </a:rPr>
              <a:t>5</a:t>
            </a:r>
            <a:r>
              <a:rPr lang="zh-CN" altLang="en-US" sz="3000" dirty="0">
                <a:latin typeface="Times New Roman" panose="02020603050405020304" pitchFamily="18" charset="0"/>
                <a:ea typeface="华文中宋" pitchFamily="2" charset="-122"/>
                <a:cs typeface="Times New Roman" panose="02020603050405020304" pitchFamily="18" charset="0"/>
              </a:rPr>
              <a:t>.</a:t>
            </a:r>
            <a:r>
              <a:rPr lang="en-US" altLang="zh-CN" sz="3000" dirty="0">
                <a:latin typeface="Times New Roman" panose="02020603050405020304" pitchFamily="18" charset="0"/>
                <a:ea typeface="华文中宋" pitchFamily="2" charset="-122"/>
                <a:cs typeface="Times New Roman" panose="02020603050405020304" pitchFamily="18" charset="0"/>
              </a:rPr>
              <a:t>2.5</a:t>
            </a:r>
            <a:r>
              <a:rPr lang="zh-CN" altLang="en-US" sz="3000" dirty="0">
                <a:latin typeface="Times New Roman" panose="02020603050405020304" pitchFamily="18" charset="0"/>
                <a:ea typeface="华文中宋" pitchFamily="2" charset="-122"/>
                <a:cs typeface="Times New Roman" panose="02020603050405020304" pitchFamily="18" charset="0"/>
              </a:rPr>
              <a:t> </a:t>
            </a:r>
            <a:r>
              <a:rPr lang="en-US" altLang="zh-CN" sz="3000" dirty="0">
                <a:latin typeface="Times New Roman" panose="02020603050405020304" pitchFamily="18" charset="0"/>
                <a:ea typeface="华文中宋" pitchFamily="2" charset="-122"/>
                <a:cs typeface="Times New Roman" panose="02020603050405020304" pitchFamily="18" charset="0"/>
              </a:rPr>
              <a:t>Cache</a:t>
            </a:r>
            <a:r>
              <a:rPr lang="zh-CN" altLang="en-US" sz="3000" dirty="0">
                <a:latin typeface="Times New Roman" panose="02020603050405020304" pitchFamily="18" charset="0"/>
                <a:ea typeface="华文中宋" pitchFamily="2" charset="-122"/>
                <a:cs typeface="Times New Roman" panose="02020603050405020304" pitchFamily="18" charset="0"/>
              </a:rPr>
              <a:t>结构举例</a:t>
            </a:r>
          </a:p>
        </p:txBody>
      </p:sp>
      <p:sp>
        <p:nvSpPr>
          <p:cNvPr id="9" name="Text Box 3">
            <a:extLst>
              <a:ext uri="{FF2B5EF4-FFF2-40B4-BE49-F238E27FC236}">
                <a16:creationId xmlns:a16="http://schemas.microsoft.com/office/drawing/2014/main" id="{F547973C-E41E-483A-8036-6D5EE76AC723}"/>
              </a:ext>
            </a:extLst>
          </p:cNvPr>
          <p:cNvSpPr txBox="1">
            <a:spLocks noChangeArrowheads="1"/>
          </p:cNvSpPr>
          <p:nvPr/>
        </p:nvSpPr>
        <p:spPr bwMode="auto">
          <a:xfrm>
            <a:off x="2839585" y="4613945"/>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en-US" altLang="zh-CN" sz="3000" dirty="0">
                <a:latin typeface="Times New Roman" panose="02020603050405020304" pitchFamily="18" charset="0"/>
                <a:ea typeface="华文中宋" pitchFamily="2" charset="-122"/>
                <a:cs typeface="Times New Roman" panose="02020603050405020304" pitchFamily="18" charset="0"/>
              </a:rPr>
              <a:t>5</a:t>
            </a:r>
            <a:r>
              <a:rPr lang="zh-CN" altLang="en-US" sz="3000" dirty="0">
                <a:latin typeface="Times New Roman" panose="02020603050405020304" pitchFamily="18" charset="0"/>
                <a:ea typeface="华文中宋" pitchFamily="2" charset="-122"/>
                <a:cs typeface="Times New Roman" panose="02020603050405020304" pitchFamily="18" charset="0"/>
              </a:rPr>
              <a:t>.</a:t>
            </a:r>
            <a:r>
              <a:rPr lang="en-US" altLang="zh-CN" sz="3000" dirty="0">
                <a:latin typeface="Times New Roman" panose="02020603050405020304" pitchFamily="18" charset="0"/>
                <a:ea typeface="华文中宋" pitchFamily="2" charset="-122"/>
                <a:cs typeface="Times New Roman" panose="02020603050405020304" pitchFamily="18" charset="0"/>
              </a:rPr>
              <a:t>2.6</a:t>
            </a:r>
            <a:r>
              <a:rPr lang="zh-CN" altLang="en-US" sz="3000" dirty="0">
                <a:latin typeface="Times New Roman" panose="02020603050405020304" pitchFamily="18" charset="0"/>
                <a:ea typeface="华文中宋" pitchFamily="2" charset="-122"/>
                <a:cs typeface="Times New Roman" panose="02020603050405020304" pitchFamily="18" charset="0"/>
              </a:rPr>
              <a:t> </a:t>
            </a:r>
            <a:r>
              <a:rPr lang="en-US" altLang="zh-CN" sz="3000" dirty="0">
                <a:latin typeface="Times New Roman" panose="02020603050405020304" pitchFamily="18" charset="0"/>
                <a:ea typeface="华文中宋" pitchFamily="2" charset="-122"/>
                <a:cs typeface="Times New Roman" panose="02020603050405020304" pitchFamily="18" charset="0"/>
              </a:rPr>
              <a:t>Cache</a:t>
            </a:r>
            <a:r>
              <a:rPr lang="zh-CN" altLang="en-US" sz="3000" dirty="0">
                <a:latin typeface="Times New Roman" panose="02020603050405020304" pitchFamily="18" charset="0"/>
                <a:ea typeface="华文中宋" pitchFamily="2" charset="-122"/>
                <a:cs typeface="Times New Roman" panose="02020603050405020304" pitchFamily="18" charset="0"/>
              </a:rPr>
              <a:t>性能分析</a:t>
            </a:r>
          </a:p>
        </p:txBody>
      </p:sp>
      <p:sp>
        <p:nvSpPr>
          <p:cNvPr id="10" name="Text Box 3">
            <a:extLst>
              <a:ext uri="{FF2B5EF4-FFF2-40B4-BE49-F238E27FC236}">
                <a16:creationId xmlns:a16="http://schemas.microsoft.com/office/drawing/2014/main" id="{668F3A86-60B9-4770-89E7-89F279C51FC7}"/>
              </a:ext>
            </a:extLst>
          </p:cNvPr>
          <p:cNvSpPr txBox="1">
            <a:spLocks noChangeArrowheads="1"/>
          </p:cNvSpPr>
          <p:nvPr/>
        </p:nvSpPr>
        <p:spPr bwMode="auto">
          <a:xfrm>
            <a:off x="2833100" y="5250495"/>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en-US" altLang="zh-CN" sz="3000" dirty="0">
                <a:latin typeface="Times New Roman" panose="02020603050405020304" pitchFamily="18" charset="0"/>
                <a:ea typeface="华文中宋" pitchFamily="2" charset="-122"/>
                <a:cs typeface="Times New Roman" panose="02020603050405020304" pitchFamily="18" charset="0"/>
              </a:rPr>
              <a:t>5</a:t>
            </a:r>
            <a:r>
              <a:rPr lang="zh-CN" altLang="en-US" sz="3000" dirty="0">
                <a:latin typeface="Times New Roman" panose="02020603050405020304" pitchFamily="18" charset="0"/>
                <a:ea typeface="华文中宋" pitchFamily="2" charset="-122"/>
                <a:cs typeface="Times New Roman" panose="02020603050405020304" pitchFamily="18" charset="0"/>
              </a:rPr>
              <a:t>.</a:t>
            </a:r>
            <a:r>
              <a:rPr lang="en-US" altLang="zh-CN" sz="3000" dirty="0">
                <a:latin typeface="Times New Roman" panose="02020603050405020304" pitchFamily="18" charset="0"/>
                <a:ea typeface="华文中宋" pitchFamily="2" charset="-122"/>
                <a:cs typeface="Times New Roman" panose="02020603050405020304" pitchFamily="18" charset="0"/>
              </a:rPr>
              <a:t>2.7</a:t>
            </a:r>
            <a:r>
              <a:rPr lang="zh-CN" altLang="en-US" sz="3000" dirty="0">
                <a:latin typeface="Times New Roman" panose="02020603050405020304" pitchFamily="18" charset="0"/>
                <a:ea typeface="华文中宋" pitchFamily="2" charset="-122"/>
                <a:cs typeface="Times New Roman" panose="02020603050405020304" pitchFamily="18" charset="0"/>
              </a:rPr>
              <a:t> 改进</a:t>
            </a:r>
            <a:r>
              <a:rPr lang="en-US" altLang="zh-CN" sz="3000" dirty="0">
                <a:latin typeface="Times New Roman" panose="02020603050405020304" pitchFamily="18" charset="0"/>
                <a:ea typeface="华文中宋" pitchFamily="2" charset="-122"/>
                <a:cs typeface="Times New Roman" panose="02020603050405020304" pitchFamily="18" charset="0"/>
              </a:rPr>
              <a:t>Cache</a:t>
            </a:r>
            <a:r>
              <a:rPr lang="zh-CN" altLang="en-US" sz="3000" dirty="0">
                <a:latin typeface="Times New Roman" panose="02020603050405020304" pitchFamily="18" charset="0"/>
                <a:ea typeface="华文中宋" pitchFamily="2" charset="-122"/>
                <a:cs typeface="Times New Roman" panose="02020603050405020304" pitchFamily="18" charset="0"/>
              </a:rPr>
              <a:t>性能</a:t>
            </a:r>
          </a:p>
        </p:txBody>
      </p:sp>
      <p:sp>
        <p:nvSpPr>
          <p:cNvPr id="2" name="日期占位符 1">
            <a:extLst>
              <a:ext uri="{FF2B5EF4-FFF2-40B4-BE49-F238E27FC236}">
                <a16:creationId xmlns:a16="http://schemas.microsoft.com/office/drawing/2014/main" id="{77816D77-3A16-FA29-C6B8-8C8BD6F8097A}"/>
              </a:ext>
            </a:extLst>
          </p:cNvPr>
          <p:cNvSpPr>
            <a:spLocks noGrp="1"/>
          </p:cNvSpPr>
          <p:nvPr>
            <p:ph type="dt" sz="half" idx="10"/>
          </p:nvPr>
        </p:nvSpPr>
        <p:spPr/>
        <p:txBody>
          <a:bodyPr/>
          <a:lstStyle/>
          <a:p>
            <a:pPr>
              <a:defRPr/>
            </a:pPr>
            <a:fld id="{01F061A6-A81C-4B91-B56E-69AE4AB3E9CE}"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1D4BEA70-B200-6982-CC84-21EF57145D77}"/>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5273E2DA-5B0B-A6AE-EFD7-E6B686E61C9F}"/>
              </a:ext>
            </a:extLst>
          </p:cNvPr>
          <p:cNvSpPr>
            <a:spLocks noGrp="1"/>
          </p:cNvSpPr>
          <p:nvPr>
            <p:ph type="sldNum" sz="quarter" idx="12"/>
          </p:nvPr>
        </p:nvSpPr>
        <p:spPr/>
        <p:txBody>
          <a:bodyPr/>
          <a:lstStyle/>
          <a:p>
            <a:pPr>
              <a:defRPr/>
            </a:pPr>
            <a:fld id="{8BCAC33D-D29A-48B3-BCD6-381D3D720D26}" type="slidenum">
              <a:rPr lang="zh-CN" altLang="en-US" smtClean="0"/>
              <a:t>26</a:t>
            </a:fld>
            <a:endParaRPr lang="en-US" altLang="zh-CN"/>
          </a:p>
        </p:txBody>
      </p:sp>
    </p:spTree>
    <p:extLst>
      <p:ext uri="{BB962C8B-B14F-4D97-AF65-F5344CB8AC3E}">
        <p14:creationId xmlns:p14="http://schemas.microsoft.com/office/powerpoint/2010/main" val="2807629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descr="Rectangle: Click to edit Master text styles&#10;Second level&#10;Third level&#10;Fourth level&#10;Fifth level">
            <a:extLst>
              <a:ext uri="{FF2B5EF4-FFF2-40B4-BE49-F238E27FC236}">
                <a16:creationId xmlns:a16="http://schemas.microsoft.com/office/drawing/2014/main" id="{4BAB5031-462E-4D24-B7D6-B2EFB49D19F8}"/>
              </a:ext>
            </a:extLst>
          </p:cNvPr>
          <p:cNvSpPr>
            <a:spLocks noGrp="1" noChangeArrowheads="1"/>
          </p:cNvSpPr>
          <p:nvPr>
            <p:ph type="body" sz="half" idx="1"/>
          </p:nvPr>
        </p:nvSpPr>
        <p:spPr>
          <a:xfrm>
            <a:off x="385738" y="1387125"/>
            <a:ext cx="8450596" cy="3384550"/>
          </a:xfrm>
        </p:spPr>
        <p:txBody>
          <a:bodyPr/>
          <a:lstStyle/>
          <a:p>
            <a:pPr eaLnBrk="1" hangingPunct="1">
              <a:lnSpc>
                <a:spcPct val="120000"/>
              </a:lnSpc>
              <a:buFont typeface="Wingdings" panose="05000000000000000000" pitchFamily="2" charset="2"/>
              <a:buChar char="Ø"/>
            </a:pPr>
            <a:r>
              <a:rPr lang="en-US" altLang="zh-CN" sz="2400" b="1" dirty="0">
                <a:latin typeface="Times New Roman" panose="02020603050405020304" pitchFamily="18" charset="0"/>
                <a:cs typeface="Times New Roman" panose="02020603050405020304" pitchFamily="18" charset="0"/>
              </a:rPr>
              <a:t>Cache</a:t>
            </a:r>
            <a:r>
              <a:rPr lang="zh-CN" altLang="en-US" sz="2400" b="1" dirty="0">
                <a:latin typeface="Times New Roman" panose="02020603050405020304" pitchFamily="18" charset="0"/>
                <a:cs typeface="Times New Roman" panose="02020603050405020304" pitchFamily="18" charset="0"/>
              </a:rPr>
              <a:t>和主存分块</a:t>
            </a:r>
          </a:p>
          <a:p>
            <a:pPr marL="628650" lvl="1" indent="0" eaLnBrk="1" hangingPunct="1">
              <a:lnSpc>
                <a:spcPct val="120000"/>
              </a:lnSpc>
              <a:buNone/>
            </a:pPr>
            <a:r>
              <a:rPr lang="en-US" altLang="zh-CN" sz="2400" b="1" dirty="0">
                <a:latin typeface="Times New Roman" panose="02020603050405020304" pitchFamily="18" charset="0"/>
              </a:rPr>
              <a:t>Cache</a:t>
            </a:r>
            <a:r>
              <a:rPr lang="zh-CN" altLang="en-US" sz="2400" b="1" dirty="0">
                <a:latin typeface="Times New Roman" panose="02020603050405020304" pitchFamily="18" charset="0"/>
              </a:rPr>
              <a:t>是按块进行管理的。</a:t>
            </a:r>
            <a:r>
              <a:rPr lang="en-US" altLang="zh-CN" sz="2400" b="1" dirty="0">
                <a:latin typeface="Times New Roman" panose="02020603050405020304" pitchFamily="18" charset="0"/>
              </a:rPr>
              <a:t>Cache</a:t>
            </a:r>
            <a:r>
              <a:rPr lang="zh-CN" altLang="en-US" sz="2400" b="1" dirty="0">
                <a:latin typeface="Times New Roman" panose="02020603050405020304" pitchFamily="18" charset="0"/>
              </a:rPr>
              <a:t>和主存均被分割成大小相同的块。信息以块为单位调入</a:t>
            </a:r>
            <a:r>
              <a:rPr lang="en-US" altLang="zh-CN" sz="2400" b="1" dirty="0">
                <a:latin typeface="Times New Roman" panose="02020603050405020304" pitchFamily="18" charset="0"/>
              </a:rPr>
              <a:t>Cache</a:t>
            </a:r>
            <a:r>
              <a:rPr lang="zh-CN" altLang="en-US" sz="2400" b="1" dirty="0">
                <a:latin typeface="Times New Roman" panose="02020603050405020304" pitchFamily="18" charset="0"/>
              </a:rPr>
              <a:t>。 </a:t>
            </a:r>
          </a:p>
          <a:p>
            <a:pPr lvl="2" eaLnBrk="1" hangingPunct="1">
              <a:lnSpc>
                <a:spcPct val="120000"/>
              </a:lnSpc>
            </a:pPr>
            <a:r>
              <a:rPr lang="zh-CN" altLang="en-US" b="1" dirty="0">
                <a:solidFill>
                  <a:srgbClr val="D60093"/>
                </a:solidFill>
                <a:latin typeface="Times New Roman" panose="02020603050405020304" pitchFamily="18" charset="0"/>
              </a:rPr>
              <a:t>主存块地址（块号）</a:t>
            </a:r>
            <a:r>
              <a:rPr lang="zh-CN" altLang="en-US" b="1" dirty="0">
                <a:latin typeface="Times New Roman" panose="02020603050405020304" pitchFamily="18" charset="0"/>
              </a:rPr>
              <a:t>用于查找该块在</a:t>
            </a:r>
            <a:r>
              <a:rPr lang="en-US" altLang="zh-CN" b="1" dirty="0">
                <a:latin typeface="Times New Roman" panose="02020603050405020304" pitchFamily="18" charset="0"/>
              </a:rPr>
              <a:t>Cache</a:t>
            </a:r>
            <a:r>
              <a:rPr lang="zh-CN" altLang="en-US" b="1" dirty="0">
                <a:latin typeface="Times New Roman" panose="02020603050405020304" pitchFamily="18" charset="0"/>
              </a:rPr>
              <a:t>中的位置。</a:t>
            </a:r>
          </a:p>
          <a:p>
            <a:pPr lvl="2" eaLnBrk="1" hangingPunct="1">
              <a:lnSpc>
                <a:spcPct val="120000"/>
              </a:lnSpc>
            </a:pPr>
            <a:r>
              <a:rPr lang="zh-CN" altLang="en-US" b="1" dirty="0">
                <a:solidFill>
                  <a:srgbClr val="D60093"/>
                </a:solidFill>
                <a:latin typeface="Times New Roman" panose="02020603050405020304" pitchFamily="18" charset="0"/>
              </a:rPr>
              <a:t>块内位移</a:t>
            </a:r>
            <a:r>
              <a:rPr lang="zh-CN" altLang="en-US" b="1" dirty="0">
                <a:latin typeface="Times New Roman" panose="02020603050405020304" pitchFamily="18" charset="0"/>
              </a:rPr>
              <a:t>用于确定所访问的数据在该块中的位置。</a:t>
            </a:r>
            <a:endParaRPr lang="zh-CN" altLang="en-US" b="1" dirty="0">
              <a:solidFill>
                <a:srgbClr val="00FFFF"/>
              </a:solidFill>
              <a:latin typeface="Times New Roman" panose="02020603050405020304" pitchFamily="18" charset="0"/>
            </a:endParaRPr>
          </a:p>
          <a:p>
            <a:pPr marL="457200" indent="-457200" eaLnBrk="1" hangingPunct="1"/>
            <a:endParaRPr lang="en-US" altLang="zh-CN" sz="2400" dirty="0"/>
          </a:p>
        </p:txBody>
      </p:sp>
      <p:graphicFrame>
        <p:nvGraphicFramePr>
          <p:cNvPr id="29700" name="Object 5">
            <a:extLst>
              <a:ext uri="{FF2B5EF4-FFF2-40B4-BE49-F238E27FC236}">
                <a16:creationId xmlns:a16="http://schemas.microsoft.com/office/drawing/2014/main" id="{D00CBB5C-5B93-4B59-8083-C8A1279564DA}"/>
              </a:ext>
            </a:extLst>
          </p:cNvPr>
          <p:cNvGraphicFramePr>
            <a:graphicFrameLocks noGrp="1" noChangeAspect="1"/>
          </p:cNvGraphicFramePr>
          <p:nvPr>
            <p:ph sz="half" idx="2"/>
            <p:extLst>
              <p:ext uri="{D42A27DB-BD31-4B8C-83A1-F6EECF244321}">
                <p14:modId xmlns:p14="http://schemas.microsoft.com/office/powerpoint/2010/main" val="1243465523"/>
              </p:ext>
            </p:extLst>
          </p:nvPr>
        </p:nvGraphicFramePr>
        <p:xfrm>
          <a:off x="1692275" y="4365625"/>
          <a:ext cx="5473700" cy="703263"/>
        </p:xfrm>
        <a:graphic>
          <a:graphicData uri="http://schemas.openxmlformats.org/presentationml/2006/ole">
            <mc:AlternateContent xmlns:mc="http://schemas.openxmlformats.org/markup-compatibility/2006">
              <mc:Choice xmlns:v="urn:schemas-microsoft-com:vml" Requires="v">
                <p:oleObj name="Picture" r:id="rId3" imgW="2962800" imgH="381600" progId="Word.Picture.8">
                  <p:embed/>
                </p:oleObj>
              </mc:Choice>
              <mc:Fallback>
                <p:oleObj name="Picture" r:id="rId3" imgW="2962800" imgH="381600" progId="Word.Picture.8">
                  <p:embed/>
                  <p:pic>
                    <p:nvPicPr>
                      <p:cNvPr id="29700" name="Object 5">
                        <a:extLst>
                          <a:ext uri="{FF2B5EF4-FFF2-40B4-BE49-F238E27FC236}">
                            <a16:creationId xmlns:a16="http://schemas.microsoft.com/office/drawing/2014/main" id="{D00CBB5C-5B93-4B59-8083-C8A1279564DA}"/>
                          </a:ext>
                        </a:extLst>
                      </p:cNvPr>
                      <p:cNvPicPr>
                        <a:picLocks noChangeAspect="1" noChangeArrowheads="1"/>
                      </p:cNvPicPr>
                      <p:nvPr/>
                    </p:nvPicPr>
                    <p:blipFill>
                      <a:blip r:embed="rId4"/>
                      <a:srcRect/>
                      <a:stretch>
                        <a:fillRect/>
                      </a:stretch>
                    </p:blipFill>
                    <p:spPr bwMode="auto">
                      <a:xfrm>
                        <a:off x="1692275" y="4365625"/>
                        <a:ext cx="5473700" cy="703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Rectangle 2">
            <a:extLst>
              <a:ext uri="{FF2B5EF4-FFF2-40B4-BE49-F238E27FC236}">
                <a16:creationId xmlns:a16="http://schemas.microsoft.com/office/drawing/2014/main" id="{8595D6CF-14F0-40A1-A621-D1A140981283}"/>
              </a:ext>
            </a:extLst>
          </p:cNvPr>
          <p:cNvSpPr>
            <a:spLocks noGrp="1" noChangeArrowheads="1"/>
          </p:cNvSpPr>
          <p:nvPr>
            <p:ph type="title"/>
          </p:nvPr>
        </p:nvSpPr>
        <p:spPr>
          <a:xfrm>
            <a:off x="385738" y="149944"/>
            <a:ext cx="8229600" cy="1143000"/>
          </a:xfrm>
        </p:spPr>
        <p:txBody>
          <a:bodyPr>
            <a:normAutofit/>
          </a:bodyPr>
          <a:lstStyle/>
          <a:p>
            <a:pPr eaLnBrk="1" hangingPunct="1"/>
            <a:r>
              <a:rPr lang="en-US" altLang="zh-CN" sz="3600" b="1" dirty="0">
                <a:latin typeface="Times New Roman" panose="02020603050405020304" pitchFamily="18" charset="0"/>
                <a:cs typeface="Times New Roman" panose="02020603050405020304" pitchFamily="18" charset="0"/>
              </a:rPr>
              <a:t>5.2 Cache</a:t>
            </a:r>
            <a:r>
              <a:rPr lang="zh-CN" altLang="en-US" sz="3600" b="1" dirty="0">
                <a:latin typeface="华文中宋" panose="02010600040101010101" pitchFamily="2" charset="-122"/>
                <a:ea typeface="华文中宋" panose="02010600040101010101" pitchFamily="2" charset="-122"/>
                <a:cs typeface="Times New Roman" panose="02020603050405020304" pitchFamily="18" charset="0"/>
              </a:rPr>
              <a:t>基本知识</a:t>
            </a:r>
            <a:endParaRPr lang="zh-CN" altLang="en-US" sz="3600" b="1"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232C293C-1B77-CD6E-1068-4600F6AA12FC}"/>
              </a:ext>
            </a:extLst>
          </p:cNvPr>
          <p:cNvSpPr>
            <a:spLocks noGrp="1"/>
          </p:cNvSpPr>
          <p:nvPr>
            <p:ph type="dt" sz="half" idx="10"/>
          </p:nvPr>
        </p:nvSpPr>
        <p:spPr/>
        <p:txBody>
          <a:bodyPr/>
          <a:lstStyle/>
          <a:p>
            <a:pPr>
              <a:defRPr/>
            </a:pPr>
            <a:fld id="{9A33CA55-AF64-4BCD-8B64-C7DD6838905A}"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84530014-2925-73AF-FD41-CFC7194D8EB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80741499-1AE8-84E5-7DDE-2491970B2077}"/>
              </a:ext>
            </a:extLst>
          </p:cNvPr>
          <p:cNvSpPr>
            <a:spLocks noGrp="1"/>
          </p:cNvSpPr>
          <p:nvPr>
            <p:ph type="sldNum" sz="quarter" idx="12"/>
          </p:nvPr>
        </p:nvSpPr>
        <p:spPr/>
        <p:txBody>
          <a:bodyPr/>
          <a:lstStyle/>
          <a:p>
            <a:pPr>
              <a:defRPr/>
            </a:pPr>
            <a:fld id="{396D679E-57F5-4175-9854-A039894B7CE4}" type="slidenum">
              <a:rPr lang="en-US" altLang="zh-CN" smtClean="0"/>
              <a:pPr>
                <a:defRPr/>
              </a:pPr>
              <a:t>27</a:t>
            </a:fld>
            <a:endParaRPr lang="en-US" altLang="zh-CN"/>
          </a:p>
        </p:txBody>
      </p:sp>
    </p:spTree>
  </p:cSld>
  <p:clrMapOvr>
    <a:masterClrMapping/>
  </p:clrMapOvr>
  <p:transition>
    <p:pull dir="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descr="Rectangle: Click to edit Master text styles&#10;Second level&#10;Third level&#10;Fourth level&#10;Fifth level">
            <a:extLst>
              <a:ext uri="{FF2B5EF4-FFF2-40B4-BE49-F238E27FC236}">
                <a16:creationId xmlns:a16="http://schemas.microsoft.com/office/drawing/2014/main" id="{ACBAA240-ACAC-43AE-B1D2-DF837B526470}"/>
              </a:ext>
            </a:extLst>
          </p:cNvPr>
          <p:cNvSpPr>
            <a:spLocks noGrp="1" noChangeArrowheads="1"/>
          </p:cNvSpPr>
          <p:nvPr>
            <p:ph type="body" sz="half" idx="1"/>
          </p:nvPr>
        </p:nvSpPr>
        <p:spPr>
          <a:xfrm>
            <a:off x="1979712" y="271462"/>
            <a:ext cx="5400600" cy="554037"/>
          </a:xfrm>
        </p:spPr>
        <p:txBody>
          <a:bodyPr/>
          <a:lstStyle/>
          <a:p>
            <a:pPr marL="0" indent="0" eaLnBrk="1" hangingPunct="1">
              <a:buNone/>
            </a:pPr>
            <a:r>
              <a:rPr lang="en-US" altLang="zh-CN" b="1" dirty="0">
                <a:latin typeface="Times New Roman" panose="02020603050405020304" pitchFamily="18" charset="0"/>
              </a:rPr>
              <a:t>Cache</a:t>
            </a:r>
            <a:r>
              <a:rPr lang="zh-CN" altLang="en-US" b="1" dirty="0">
                <a:latin typeface="Times New Roman" panose="02020603050405020304" pitchFamily="18" charset="0"/>
              </a:rPr>
              <a:t>的基本工作原理示意图</a:t>
            </a:r>
            <a:r>
              <a:rPr lang="zh-CN" altLang="en-US" sz="2000" b="1" dirty="0">
                <a:latin typeface="Times New Roman" panose="02020603050405020304" pitchFamily="18" charset="0"/>
              </a:rPr>
              <a:t> </a:t>
            </a:r>
          </a:p>
        </p:txBody>
      </p:sp>
      <p:graphicFrame>
        <p:nvGraphicFramePr>
          <p:cNvPr id="30723" name="Object 4">
            <a:extLst>
              <a:ext uri="{FF2B5EF4-FFF2-40B4-BE49-F238E27FC236}">
                <a16:creationId xmlns:a16="http://schemas.microsoft.com/office/drawing/2014/main" id="{4942EE31-4830-4DCD-B09B-31F9AE1EAC6C}"/>
              </a:ext>
            </a:extLst>
          </p:cNvPr>
          <p:cNvGraphicFramePr>
            <a:graphicFrameLocks noGrp="1" noChangeAspect="1"/>
          </p:cNvGraphicFramePr>
          <p:nvPr>
            <p:ph sz="half" idx="2"/>
            <p:extLst>
              <p:ext uri="{D42A27DB-BD31-4B8C-83A1-F6EECF244321}">
                <p14:modId xmlns:p14="http://schemas.microsoft.com/office/powerpoint/2010/main" val="433333544"/>
              </p:ext>
            </p:extLst>
          </p:nvPr>
        </p:nvGraphicFramePr>
        <p:xfrm>
          <a:off x="1835696" y="1124744"/>
          <a:ext cx="5761038" cy="5184775"/>
        </p:xfrm>
        <a:graphic>
          <a:graphicData uri="http://schemas.openxmlformats.org/presentationml/2006/ole">
            <mc:AlternateContent xmlns:mc="http://schemas.openxmlformats.org/markup-compatibility/2006">
              <mc:Choice xmlns:v="urn:schemas-microsoft-com:vml" Requires="v">
                <p:oleObj name="图片" r:id="rId2" imgW="3782568" imgH="3401568" progId="Word.Picture.8">
                  <p:embed/>
                </p:oleObj>
              </mc:Choice>
              <mc:Fallback>
                <p:oleObj name="图片" r:id="rId2" imgW="3782568" imgH="3401568" progId="Word.Picture.8">
                  <p:embed/>
                  <p:pic>
                    <p:nvPicPr>
                      <p:cNvPr id="30723" name="Object 4">
                        <a:extLst>
                          <a:ext uri="{FF2B5EF4-FFF2-40B4-BE49-F238E27FC236}">
                            <a16:creationId xmlns:a16="http://schemas.microsoft.com/office/drawing/2014/main" id="{4942EE31-4830-4DCD-B09B-31F9AE1EAC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1124744"/>
                        <a:ext cx="5761038" cy="51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日期占位符 1">
            <a:extLst>
              <a:ext uri="{FF2B5EF4-FFF2-40B4-BE49-F238E27FC236}">
                <a16:creationId xmlns:a16="http://schemas.microsoft.com/office/drawing/2014/main" id="{F51C2FF8-D430-92D7-6666-B5C7E0F4FA3D}"/>
              </a:ext>
            </a:extLst>
          </p:cNvPr>
          <p:cNvSpPr>
            <a:spLocks noGrp="1"/>
          </p:cNvSpPr>
          <p:nvPr>
            <p:ph type="dt" sz="half" idx="10"/>
          </p:nvPr>
        </p:nvSpPr>
        <p:spPr/>
        <p:txBody>
          <a:bodyPr/>
          <a:lstStyle/>
          <a:p>
            <a:pPr>
              <a:defRPr/>
            </a:pPr>
            <a:fld id="{360D56D2-B190-4346-880C-6930863D89D9}"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0CF6ADB5-B4F4-8658-8D79-255449028830}"/>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13D0B800-7B10-F59E-9E4B-EBAFA0E2EC48}"/>
              </a:ext>
            </a:extLst>
          </p:cNvPr>
          <p:cNvSpPr>
            <a:spLocks noGrp="1"/>
          </p:cNvSpPr>
          <p:nvPr>
            <p:ph type="sldNum" sz="quarter" idx="12"/>
          </p:nvPr>
        </p:nvSpPr>
        <p:spPr/>
        <p:txBody>
          <a:bodyPr/>
          <a:lstStyle/>
          <a:p>
            <a:pPr>
              <a:defRPr/>
            </a:pPr>
            <a:fld id="{396D679E-57F5-4175-9854-A039894B7CE4}" type="slidenum">
              <a:rPr lang="en-US" altLang="zh-CN" smtClean="0"/>
              <a:pPr>
                <a:defRPr/>
              </a:pPr>
              <a:t>28</a:t>
            </a:fld>
            <a:endParaRPr lang="en-US" altLang="zh-CN"/>
          </a:p>
        </p:txBody>
      </p:sp>
    </p:spTree>
  </p:cSld>
  <p:clrMapOvr>
    <a:masterClrMapping/>
  </p:clrMapOvr>
  <p:transition>
    <p:pull dir="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9FF47CE9-82D0-453E-A8E6-F5344B74AA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828" y="1700808"/>
            <a:ext cx="8417860" cy="4608512"/>
          </a:xfrm>
          <a:prstGeom prst="rect">
            <a:avLst/>
          </a:prstGeom>
        </p:spPr>
      </p:pic>
      <p:sp>
        <p:nvSpPr>
          <p:cNvPr id="8" name="Rectangle 2">
            <a:extLst>
              <a:ext uri="{FF2B5EF4-FFF2-40B4-BE49-F238E27FC236}">
                <a16:creationId xmlns:a16="http://schemas.microsoft.com/office/drawing/2014/main" id="{B61254DC-6EF5-4A9E-84A4-525250BF5C00}"/>
              </a:ext>
            </a:extLst>
          </p:cNvPr>
          <p:cNvSpPr txBox="1">
            <a:spLocks noChangeArrowheads="1"/>
          </p:cNvSpPr>
          <p:nvPr/>
        </p:nvSpPr>
        <p:spPr>
          <a:xfrm>
            <a:off x="446088" y="193515"/>
            <a:ext cx="8229600" cy="864096"/>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0" lang="en-US" altLang="zh-CN" sz="3600" b="1" dirty="0">
                <a:latin typeface="Times New Roman" panose="02020603050405020304" pitchFamily="18" charset="0"/>
                <a:cs typeface="Times New Roman" panose="02020603050405020304" pitchFamily="18" charset="0"/>
              </a:rPr>
              <a:t>5.2</a:t>
            </a:r>
            <a:r>
              <a:rPr kumimoji="0" lang="en-US" altLang="zh-CN" sz="3600" dirty="0">
                <a:latin typeface="Times New Roman" panose="02020603050405020304" pitchFamily="18" charset="0"/>
                <a:cs typeface="Times New Roman" panose="02020603050405020304" pitchFamily="18" charset="0"/>
              </a:rPr>
              <a:t>.5 Cache</a:t>
            </a:r>
            <a:r>
              <a:rPr kumimoji="0" lang="zh-CN" altLang="en-US" sz="3600" dirty="0">
                <a:latin typeface="华文中宋" panose="02010600040101010101" pitchFamily="2" charset="-122"/>
                <a:ea typeface="华文中宋" panose="02010600040101010101" pitchFamily="2" charset="-122"/>
                <a:cs typeface="Times New Roman" panose="02020603050405020304" pitchFamily="18" charset="0"/>
              </a:rPr>
              <a:t>结构</a:t>
            </a:r>
            <a:endParaRPr kumimoji="0" lang="zh-CN" altLang="en-US" sz="3600" b="1" dirty="0">
              <a:latin typeface="华文中宋" panose="02010600040101010101" pitchFamily="2" charset="-122"/>
              <a:ea typeface="华文中宋" panose="02010600040101010101" pitchFamily="2" charset="-122"/>
              <a:cs typeface="Times New Roman" panose="02020603050405020304" pitchFamily="18" charset="0"/>
            </a:endParaRPr>
          </a:p>
        </p:txBody>
      </p:sp>
      <p:sp>
        <p:nvSpPr>
          <p:cNvPr id="9" name="Text Box 3">
            <a:extLst>
              <a:ext uri="{FF2B5EF4-FFF2-40B4-BE49-F238E27FC236}">
                <a16:creationId xmlns:a16="http://schemas.microsoft.com/office/drawing/2014/main" id="{F4EB8019-4BA5-4997-A188-8DF2F7B65E59}"/>
              </a:ext>
            </a:extLst>
          </p:cNvPr>
          <p:cNvSpPr txBox="1">
            <a:spLocks noChangeArrowheads="1"/>
          </p:cNvSpPr>
          <p:nvPr/>
        </p:nvSpPr>
        <p:spPr bwMode="auto">
          <a:xfrm>
            <a:off x="395536" y="989147"/>
            <a:ext cx="8135938" cy="565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kumimoji="1" lang="zh-CN" altLang="en-US" sz="2800" dirty="0">
                <a:latin typeface="Times New Roman" panose="02020603050405020304" pitchFamily="18" charset="0"/>
                <a:ea typeface="华文中宋" panose="02010600040101010101" pitchFamily="2" charset="-122"/>
              </a:rPr>
              <a:t>例子：</a:t>
            </a:r>
            <a:r>
              <a:rPr kumimoji="1" lang="en-US" altLang="zh-CN" sz="2800" dirty="0">
                <a:latin typeface="Times New Roman" panose="02020603050405020304" pitchFamily="18" charset="0"/>
                <a:ea typeface="华文中宋" panose="02010600040101010101" pitchFamily="2" charset="-122"/>
              </a:rPr>
              <a:t>DEC</a:t>
            </a:r>
            <a:r>
              <a:rPr kumimoji="1" lang="zh-CN" altLang="en-US" sz="2800" dirty="0">
                <a:latin typeface="Times New Roman" panose="02020603050405020304" pitchFamily="18" charset="0"/>
                <a:ea typeface="华文中宋" panose="02010600040101010101" pitchFamily="2" charset="-122"/>
              </a:rPr>
              <a:t>的</a:t>
            </a:r>
            <a:r>
              <a:rPr kumimoji="1" lang="en-US" altLang="zh-CN" sz="2800" dirty="0">
                <a:latin typeface="Times New Roman" panose="02020603050405020304" pitchFamily="18" charset="0"/>
                <a:ea typeface="华文中宋" panose="02010600040101010101" pitchFamily="2" charset="-122"/>
              </a:rPr>
              <a:t>Alpha AXP21064</a:t>
            </a:r>
            <a:r>
              <a:rPr kumimoji="1" lang="zh-CN" altLang="en-US" sz="2800" dirty="0">
                <a:latin typeface="Times New Roman" panose="02020603050405020304" pitchFamily="18" charset="0"/>
                <a:ea typeface="华文中宋" panose="02010600040101010101" pitchFamily="2" charset="-122"/>
              </a:rPr>
              <a:t>中的内部数据</a:t>
            </a:r>
            <a:r>
              <a:rPr kumimoji="1" lang="en-US" altLang="zh-CN" sz="2800" dirty="0">
                <a:latin typeface="Times New Roman" panose="02020603050405020304" pitchFamily="18" charset="0"/>
                <a:ea typeface="华文中宋" panose="02010600040101010101" pitchFamily="2" charset="-122"/>
              </a:rPr>
              <a:t>Cache</a:t>
            </a:r>
          </a:p>
        </p:txBody>
      </p:sp>
      <p:sp>
        <p:nvSpPr>
          <p:cNvPr id="2" name="日期占位符 1">
            <a:extLst>
              <a:ext uri="{FF2B5EF4-FFF2-40B4-BE49-F238E27FC236}">
                <a16:creationId xmlns:a16="http://schemas.microsoft.com/office/drawing/2014/main" id="{7BEB5B38-4A93-D9EE-BBDD-D0074E9EAF73}"/>
              </a:ext>
            </a:extLst>
          </p:cNvPr>
          <p:cNvSpPr>
            <a:spLocks noGrp="1"/>
          </p:cNvSpPr>
          <p:nvPr>
            <p:ph type="dt" sz="half" idx="10"/>
          </p:nvPr>
        </p:nvSpPr>
        <p:spPr/>
        <p:txBody>
          <a:bodyPr/>
          <a:lstStyle/>
          <a:p>
            <a:pPr>
              <a:defRPr/>
            </a:pPr>
            <a:fld id="{F26642C6-1DD8-4416-8408-9139DA82C816}"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C261E1C9-E2C3-512B-AF29-4F2E4E8F15E8}"/>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0AA72174-4249-2F82-E4FD-719647FCAE4E}"/>
              </a:ext>
            </a:extLst>
          </p:cNvPr>
          <p:cNvSpPr>
            <a:spLocks noGrp="1"/>
          </p:cNvSpPr>
          <p:nvPr>
            <p:ph type="sldNum" sz="quarter" idx="12"/>
          </p:nvPr>
        </p:nvSpPr>
        <p:spPr/>
        <p:txBody>
          <a:bodyPr/>
          <a:lstStyle/>
          <a:p>
            <a:pPr>
              <a:defRPr/>
            </a:pPr>
            <a:fld id="{65B7EA61-351E-4105-9AD9-76D38C6E9934}" type="slidenum">
              <a:rPr lang="zh-CN" altLang="en-US" smtClean="0"/>
              <a:t>29</a:t>
            </a:fld>
            <a:endParaRPr lang="en-US" altLang="zh-CN"/>
          </a:p>
        </p:txBody>
      </p:sp>
    </p:spTree>
    <p:extLst>
      <p:ext uri="{BB962C8B-B14F-4D97-AF65-F5344CB8AC3E}">
        <p14:creationId xmlns:p14="http://schemas.microsoft.com/office/powerpoint/2010/main" val="36926878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3"/>
          <p:cNvSpPr txBox="1">
            <a:spLocks noChangeArrowheads="1"/>
          </p:cNvSpPr>
          <p:nvPr/>
        </p:nvSpPr>
        <p:spPr bwMode="auto">
          <a:xfrm>
            <a:off x="492919" y="1106737"/>
            <a:ext cx="8135938" cy="565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kumimoji="1" lang="zh-CN" altLang="en-US" sz="2800" dirty="0">
                <a:latin typeface="Times New Roman" panose="02020603050405020304" pitchFamily="18" charset="0"/>
                <a:ea typeface="华文中宋" panose="02010600040101010101" pitchFamily="2" charset="-122"/>
              </a:rPr>
              <a:t>例子：</a:t>
            </a:r>
            <a:r>
              <a:rPr kumimoji="1" lang="en-US" altLang="zh-CN" sz="2800" dirty="0">
                <a:latin typeface="Times New Roman" panose="02020603050405020304" pitchFamily="18" charset="0"/>
                <a:ea typeface="华文中宋" panose="02010600040101010101" pitchFamily="2" charset="-122"/>
              </a:rPr>
              <a:t>DEC</a:t>
            </a:r>
            <a:r>
              <a:rPr kumimoji="1" lang="zh-CN" altLang="en-US" sz="2800" dirty="0">
                <a:latin typeface="Times New Roman" panose="02020603050405020304" pitchFamily="18" charset="0"/>
                <a:ea typeface="华文中宋" panose="02010600040101010101" pitchFamily="2" charset="-122"/>
              </a:rPr>
              <a:t>的</a:t>
            </a:r>
            <a:r>
              <a:rPr kumimoji="1" lang="en-US" altLang="zh-CN" sz="2800" dirty="0">
                <a:latin typeface="Times New Roman" panose="02020603050405020304" pitchFamily="18" charset="0"/>
                <a:ea typeface="华文中宋" panose="02010600040101010101" pitchFamily="2" charset="-122"/>
              </a:rPr>
              <a:t>Alpha AXP21064</a:t>
            </a:r>
            <a:r>
              <a:rPr kumimoji="1" lang="zh-CN" altLang="en-US" sz="2800" dirty="0">
                <a:latin typeface="Times New Roman" panose="02020603050405020304" pitchFamily="18" charset="0"/>
                <a:ea typeface="华文中宋" panose="02010600040101010101" pitchFamily="2" charset="-122"/>
              </a:rPr>
              <a:t>中的内部数据</a:t>
            </a:r>
            <a:r>
              <a:rPr kumimoji="1" lang="en-US" altLang="zh-CN" sz="2800" dirty="0">
                <a:latin typeface="Times New Roman" panose="02020603050405020304" pitchFamily="18" charset="0"/>
                <a:ea typeface="华文中宋" panose="02010600040101010101" pitchFamily="2" charset="-122"/>
              </a:rPr>
              <a:t>Cache</a:t>
            </a:r>
          </a:p>
        </p:txBody>
      </p:sp>
      <p:sp>
        <p:nvSpPr>
          <p:cNvPr id="4099" name="Text Box 5"/>
          <p:cNvSpPr txBox="1">
            <a:spLocks noChangeArrowheads="1"/>
          </p:cNvSpPr>
          <p:nvPr/>
        </p:nvSpPr>
        <p:spPr bwMode="auto">
          <a:xfrm>
            <a:off x="611188" y="2133600"/>
            <a:ext cx="7705228" cy="3637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kumimoji="1" lang="en-US" altLang="zh-CN" sz="2400" dirty="0">
                <a:latin typeface="Times New Roman" panose="02020603050405020304" pitchFamily="18" charset="0"/>
                <a:ea typeface="华文中宋" panose="02010600040101010101" pitchFamily="2" charset="-122"/>
              </a:rPr>
              <a:t>1. </a:t>
            </a:r>
            <a:r>
              <a:rPr kumimoji="1" lang="zh-CN" altLang="en-US" sz="2400" dirty="0">
                <a:latin typeface="Times New Roman" panose="02020603050405020304" pitchFamily="18" charset="0"/>
                <a:ea typeface="华文中宋" panose="02010600040101010101" pitchFamily="2" charset="-122"/>
              </a:rPr>
              <a:t>简介</a:t>
            </a:r>
          </a:p>
          <a:p>
            <a:pPr eaLnBrk="1" hangingPunct="1">
              <a:lnSpc>
                <a:spcPct val="120000"/>
              </a:lnSpc>
            </a:pPr>
            <a:r>
              <a:rPr kumimoji="1" lang="zh-CN" altLang="en-US" sz="2400" b="0" dirty="0">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容量：</a:t>
            </a:r>
            <a:r>
              <a:rPr kumimoji="1" lang="en-US" altLang="zh-CN" sz="2400" dirty="0">
                <a:latin typeface="Times New Roman" panose="02020603050405020304" pitchFamily="18" charset="0"/>
                <a:ea typeface="华文中宋" panose="02010600040101010101" pitchFamily="2" charset="-122"/>
              </a:rPr>
              <a:t>8KB</a:t>
            </a:r>
          </a:p>
          <a:p>
            <a:pPr lvl="1" eaLnBrk="1" hangingPunct="1">
              <a:lnSpc>
                <a:spcPct val="120000"/>
              </a:lnSpc>
            </a:pPr>
            <a:r>
              <a:rPr kumimoji="1" lang="en-US" altLang="zh-CN" sz="2400" dirty="0">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块大小：</a:t>
            </a:r>
            <a:r>
              <a:rPr kumimoji="1" lang="en-US" altLang="zh-CN" sz="2400" dirty="0">
                <a:latin typeface="Times New Roman" panose="02020603050405020304" pitchFamily="18" charset="0"/>
                <a:ea typeface="华文中宋" panose="02010600040101010101" pitchFamily="2" charset="-122"/>
              </a:rPr>
              <a:t>32B</a:t>
            </a:r>
          </a:p>
          <a:p>
            <a:pPr lvl="1" eaLnBrk="1" hangingPunct="1">
              <a:lnSpc>
                <a:spcPct val="120000"/>
              </a:lnSpc>
            </a:pPr>
            <a:r>
              <a:rPr kumimoji="1" lang="en-US" altLang="zh-CN" sz="2400" dirty="0">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块数：</a:t>
            </a:r>
            <a:r>
              <a:rPr kumimoji="1" lang="en-US" altLang="zh-CN" sz="2400" dirty="0">
                <a:solidFill>
                  <a:srgbClr val="C00000"/>
                </a:solidFill>
                <a:latin typeface="Times New Roman" panose="02020603050405020304" pitchFamily="18" charset="0"/>
                <a:ea typeface="华文中宋" panose="02010600040101010101" pitchFamily="2" charset="-122"/>
              </a:rPr>
              <a:t>256</a:t>
            </a:r>
          </a:p>
          <a:p>
            <a:pPr lvl="1" eaLnBrk="1" hangingPunct="1">
              <a:lnSpc>
                <a:spcPct val="120000"/>
              </a:lnSpc>
            </a:pPr>
            <a:r>
              <a:rPr kumimoji="1" lang="en-US" altLang="zh-CN" sz="2400" dirty="0">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映象方法：直接映象</a:t>
            </a:r>
          </a:p>
          <a:p>
            <a:pPr lvl="1" eaLnBrk="1" hangingPunct="1">
              <a:lnSpc>
                <a:spcPct val="120000"/>
              </a:lnSpc>
            </a:pPr>
            <a:r>
              <a:rPr kumimoji="1" lang="zh-CN" altLang="en-US" sz="2400" dirty="0">
                <a:latin typeface="Times New Roman" panose="02020603050405020304" pitchFamily="18" charset="0"/>
                <a:ea typeface="华文中宋" panose="02010600040101010101" pitchFamily="2" charset="-122"/>
              </a:rPr>
              <a:t>   “写”策略：写直达</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不按写分配</a:t>
            </a:r>
          </a:p>
          <a:p>
            <a:pPr eaLnBrk="1" hangingPunct="1">
              <a:lnSpc>
                <a:spcPct val="120000"/>
              </a:lnSpc>
            </a:pPr>
            <a:r>
              <a:rPr kumimoji="1" lang="zh-CN" altLang="en-US" sz="2400" dirty="0">
                <a:latin typeface="Times New Roman" panose="02020603050405020304" pitchFamily="18" charset="0"/>
                <a:ea typeface="华文中宋" panose="02010600040101010101" pitchFamily="2" charset="-122"/>
              </a:rPr>
              <a:t>           写缓冲器大小：</a:t>
            </a:r>
            <a:r>
              <a:rPr kumimoji="1" lang="en-US" altLang="zh-CN" sz="2400" dirty="0">
                <a:latin typeface="Times New Roman" panose="02020603050405020304" pitchFamily="18" charset="0"/>
                <a:ea typeface="华文中宋" panose="02010600040101010101" pitchFamily="2" charset="-122"/>
              </a:rPr>
              <a:t>4</a:t>
            </a:r>
            <a:r>
              <a:rPr kumimoji="1" lang="zh-CN" altLang="en-US" sz="2400" dirty="0">
                <a:latin typeface="Times New Roman" panose="02020603050405020304" pitchFamily="18" charset="0"/>
                <a:ea typeface="华文中宋" panose="02010600040101010101" pitchFamily="2" charset="-122"/>
              </a:rPr>
              <a:t>个块</a:t>
            </a:r>
            <a:endParaRPr kumimoji="1" lang="en-US" altLang="zh-CN" sz="2400" dirty="0">
              <a:latin typeface="Times New Roman" panose="02020603050405020304" pitchFamily="18" charset="0"/>
              <a:ea typeface="华文中宋" panose="02010600040101010101" pitchFamily="2" charset="-122"/>
            </a:endParaRPr>
          </a:p>
          <a:p>
            <a:pPr eaLnBrk="1" hangingPunct="1">
              <a:lnSpc>
                <a:spcPct val="120000"/>
              </a:lnSpc>
            </a:pPr>
            <a:r>
              <a:rPr lang="zh-CN" altLang="en-US" sz="2400" dirty="0">
                <a:latin typeface="Times New Roman" panose="02020603050405020304" pitchFamily="18" charset="0"/>
                <a:ea typeface="华文中宋" panose="02010600040101010101" pitchFamily="2" charset="-122"/>
              </a:rPr>
              <a:t>           内存地址：</a:t>
            </a:r>
            <a:r>
              <a:rPr lang="en-US" altLang="zh-CN" sz="2400" dirty="0">
                <a:latin typeface="Times New Roman" panose="02020603050405020304" pitchFamily="18" charset="0"/>
                <a:ea typeface="华文中宋" panose="02010600040101010101" pitchFamily="2" charset="-122"/>
              </a:rPr>
              <a:t>34</a:t>
            </a:r>
            <a:r>
              <a:rPr lang="zh-CN" altLang="en-US" sz="2400" dirty="0">
                <a:latin typeface="Times New Roman" panose="02020603050405020304" pitchFamily="18" charset="0"/>
                <a:ea typeface="华文中宋" panose="02010600040101010101" pitchFamily="2" charset="-122"/>
              </a:rPr>
              <a:t>位（</a:t>
            </a:r>
            <a:r>
              <a:rPr lang="zh-CN" altLang="en-US" sz="2400" dirty="0">
                <a:solidFill>
                  <a:srgbClr val="C00000"/>
                </a:solidFill>
                <a:latin typeface="Times New Roman" panose="02020603050405020304" pitchFamily="18" charset="0"/>
                <a:ea typeface="华文中宋" panose="02010600040101010101" pitchFamily="2" charset="-122"/>
              </a:rPr>
              <a:t>块地址</a:t>
            </a:r>
            <a:r>
              <a:rPr lang="en-US" altLang="zh-CN" sz="2400" dirty="0">
                <a:solidFill>
                  <a:srgbClr val="C00000"/>
                </a:solidFill>
                <a:latin typeface="Times New Roman" panose="02020603050405020304" pitchFamily="18" charset="0"/>
                <a:ea typeface="华文中宋" panose="02010600040101010101" pitchFamily="2" charset="-122"/>
              </a:rPr>
              <a:t>29</a:t>
            </a:r>
            <a:r>
              <a:rPr lang="zh-CN" altLang="en-US" sz="2400" dirty="0">
                <a:solidFill>
                  <a:srgbClr val="C00000"/>
                </a:solidFill>
                <a:latin typeface="Times New Roman" panose="02020603050405020304" pitchFamily="18" charset="0"/>
                <a:ea typeface="华文中宋" panose="02010600040101010101" pitchFamily="2" charset="-122"/>
              </a:rPr>
              <a:t>位，块内地址</a:t>
            </a:r>
            <a:r>
              <a:rPr lang="en-US" altLang="zh-CN" sz="2400" dirty="0">
                <a:solidFill>
                  <a:srgbClr val="C00000"/>
                </a:solidFill>
                <a:latin typeface="Times New Roman" panose="02020603050405020304" pitchFamily="18" charset="0"/>
                <a:ea typeface="华文中宋" panose="02010600040101010101" pitchFamily="2" charset="-122"/>
              </a:rPr>
              <a:t>5</a:t>
            </a:r>
            <a:r>
              <a:rPr lang="zh-CN" altLang="en-US" sz="2400" dirty="0">
                <a:solidFill>
                  <a:srgbClr val="C00000"/>
                </a:solidFill>
                <a:latin typeface="Times New Roman" panose="02020603050405020304" pitchFamily="18" charset="0"/>
                <a:ea typeface="华文中宋" panose="02010600040101010101" pitchFamily="2" charset="-122"/>
              </a:rPr>
              <a:t>位</a:t>
            </a:r>
            <a:r>
              <a:rPr lang="zh-CN" altLang="en-US" sz="2400" dirty="0">
                <a:latin typeface="Times New Roman" panose="02020603050405020304" pitchFamily="18" charset="0"/>
                <a:ea typeface="华文中宋" panose="02010600040101010101" pitchFamily="2" charset="-122"/>
              </a:rPr>
              <a:t>）</a:t>
            </a:r>
            <a:endParaRPr kumimoji="1" lang="zh-CN" altLang="en-US" sz="2400" dirty="0">
              <a:latin typeface="Times New Roman" panose="02020603050405020304" pitchFamily="18" charset="0"/>
              <a:ea typeface="华文中宋" panose="02010600040101010101" pitchFamily="2" charset="-122"/>
            </a:endParaRPr>
          </a:p>
        </p:txBody>
      </p:sp>
      <p:sp>
        <p:nvSpPr>
          <p:cNvPr id="5" name="Rectangle 2">
            <a:extLst>
              <a:ext uri="{FF2B5EF4-FFF2-40B4-BE49-F238E27FC236}">
                <a16:creationId xmlns:a16="http://schemas.microsoft.com/office/drawing/2014/main" id="{BAE09679-BBA6-4FF2-82D5-E3577D7EF0C7}"/>
              </a:ext>
            </a:extLst>
          </p:cNvPr>
          <p:cNvSpPr txBox="1">
            <a:spLocks noChangeArrowheads="1"/>
          </p:cNvSpPr>
          <p:nvPr/>
        </p:nvSpPr>
        <p:spPr>
          <a:xfrm>
            <a:off x="446088" y="193515"/>
            <a:ext cx="8229600" cy="864096"/>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0" lang="en-US" altLang="zh-CN" sz="3600" b="1" dirty="0">
                <a:latin typeface="Times New Roman" panose="02020603050405020304" pitchFamily="18" charset="0"/>
                <a:cs typeface="Times New Roman" panose="02020603050405020304" pitchFamily="18" charset="0"/>
              </a:rPr>
              <a:t>5.2</a:t>
            </a:r>
            <a:r>
              <a:rPr kumimoji="0" lang="en-US" altLang="zh-CN" sz="3600" dirty="0">
                <a:latin typeface="Times New Roman" panose="02020603050405020304" pitchFamily="18" charset="0"/>
                <a:cs typeface="Times New Roman" panose="02020603050405020304" pitchFamily="18" charset="0"/>
              </a:rPr>
              <a:t>.5 Cache</a:t>
            </a:r>
            <a:r>
              <a:rPr kumimoji="0" lang="zh-CN" altLang="en-US" sz="3600" dirty="0">
                <a:latin typeface="华文中宋" panose="02010600040101010101" pitchFamily="2" charset="-122"/>
                <a:ea typeface="华文中宋" panose="02010600040101010101" pitchFamily="2" charset="-122"/>
                <a:cs typeface="Times New Roman" panose="02020603050405020304" pitchFamily="18" charset="0"/>
              </a:rPr>
              <a:t>结构</a:t>
            </a:r>
            <a:endParaRPr kumimoji="0" lang="zh-CN" altLang="en-US" sz="3600" b="1" dirty="0">
              <a:latin typeface="华文中宋" panose="02010600040101010101" pitchFamily="2" charset="-122"/>
              <a:ea typeface="华文中宋" panose="0201060004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7CBEEC1B-DE6A-47F6-9130-8FB2059BBA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1988840"/>
            <a:ext cx="1944216" cy="1944216"/>
          </a:xfrm>
          <a:prstGeom prst="rect">
            <a:avLst/>
          </a:prstGeom>
        </p:spPr>
      </p:pic>
      <p:sp>
        <p:nvSpPr>
          <p:cNvPr id="2" name="日期占位符 1">
            <a:extLst>
              <a:ext uri="{FF2B5EF4-FFF2-40B4-BE49-F238E27FC236}">
                <a16:creationId xmlns:a16="http://schemas.microsoft.com/office/drawing/2014/main" id="{CC9D0A18-696D-8888-16E5-716BBE3050DC}"/>
              </a:ext>
            </a:extLst>
          </p:cNvPr>
          <p:cNvSpPr>
            <a:spLocks noGrp="1"/>
          </p:cNvSpPr>
          <p:nvPr>
            <p:ph type="dt" sz="half" idx="10"/>
          </p:nvPr>
        </p:nvSpPr>
        <p:spPr/>
        <p:txBody>
          <a:bodyPr/>
          <a:lstStyle/>
          <a:p>
            <a:pPr>
              <a:defRPr/>
            </a:pPr>
            <a:fld id="{4DC704EB-CAC8-4CC4-AB36-CD94895720FE}"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E104A8FE-7E61-90E4-8B59-C3F048E06B18}"/>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6" name="灯片编号占位符 5">
            <a:extLst>
              <a:ext uri="{FF2B5EF4-FFF2-40B4-BE49-F238E27FC236}">
                <a16:creationId xmlns:a16="http://schemas.microsoft.com/office/drawing/2014/main" id="{751B3207-705C-D2AC-5456-ECA3B4856156}"/>
              </a:ext>
            </a:extLst>
          </p:cNvPr>
          <p:cNvSpPr>
            <a:spLocks noGrp="1"/>
          </p:cNvSpPr>
          <p:nvPr>
            <p:ph type="sldNum" sz="quarter" idx="12"/>
          </p:nvPr>
        </p:nvSpPr>
        <p:spPr/>
        <p:txBody>
          <a:bodyPr/>
          <a:lstStyle/>
          <a:p>
            <a:pPr>
              <a:defRPr/>
            </a:pPr>
            <a:fld id="{65B7EA61-351E-4105-9AD9-76D38C6E9934}" type="slidenum">
              <a:rPr lang="zh-CN" altLang="en-US" smtClean="0"/>
              <a:t>30</a:t>
            </a:fld>
            <a:endParaRPr lang="en-US" altLang="zh-CN"/>
          </a:p>
        </p:txBody>
      </p:sp>
    </p:spTree>
    <p:extLst>
      <p:ext uri="{BB962C8B-B14F-4D97-AF65-F5344CB8AC3E}">
        <p14:creationId xmlns:p14="http://schemas.microsoft.com/office/powerpoint/2010/main" val="268466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descr="Rectangle: Click to edit Master text styles&#10;Second level&#10;Third level&#10;Fourth level&#10;Fifth level"/>
          <p:cNvSpPr>
            <a:spLocks noGrp="1" noChangeArrowheads="1"/>
          </p:cNvSpPr>
          <p:nvPr>
            <p:ph type="body" idx="1"/>
          </p:nvPr>
        </p:nvSpPr>
        <p:spPr>
          <a:xfrm>
            <a:off x="1271828" y="548680"/>
            <a:ext cx="3240087" cy="647700"/>
          </a:xfrm>
        </p:spPr>
        <p:txBody>
          <a:bodyPr/>
          <a:lstStyle/>
          <a:p>
            <a:pPr marL="0" indent="0" eaLnBrk="1" hangingPunct="1">
              <a:buNone/>
            </a:pPr>
            <a:r>
              <a:rPr lang="en-US" altLang="zh-CN" sz="2400" b="1" dirty="0">
                <a:latin typeface="Times New Roman" panose="02020603050405020304" pitchFamily="18" charset="0"/>
                <a:cs typeface="Times New Roman" panose="02020603050405020304" pitchFamily="18" charset="0"/>
              </a:rPr>
              <a:t>2.</a:t>
            </a:r>
            <a:r>
              <a:rPr kumimoji="1" lang="zh-CN" altLang="en-US" sz="2400" b="1" dirty="0">
                <a:latin typeface="Times New Roman" panose="02020603050405020304" pitchFamily="18" charset="0"/>
                <a:ea typeface="华文中宋" panose="02010600040101010101" pitchFamily="2" charset="-122"/>
              </a:rPr>
              <a:t>结构图</a:t>
            </a:r>
          </a:p>
        </p:txBody>
      </p:sp>
      <p:pic>
        <p:nvPicPr>
          <p:cNvPr id="89091" name="Picture 3" descr="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143000"/>
            <a:ext cx="6858000" cy="536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C307A61F-D545-B7DE-A31D-3639442C0EBF}"/>
              </a:ext>
            </a:extLst>
          </p:cNvPr>
          <p:cNvSpPr>
            <a:spLocks noGrp="1"/>
          </p:cNvSpPr>
          <p:nvPr>
            <p:ph type="dt" sz="half" idx="10"/>
          </p:nvPr>
        </p:nvSpPr>
        <p:spPr/>
        <p:txBody>
          <a:bodyPr/>
          <a:lstStyle/>
          <a:p>
            <a:pPr>
              <a:defRPr/>
            </a:pPr>
            <a:fld id="{32EF4573-54AB-4719-B333-70144C1D6CAA}"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E3AAE634-08CC-F89F-64C0-3AFDFB95E65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35AE90A-804B-1BD0-F8D6-5A57EB80B88C}"/>
              </a:ext>
            </a:extLst>
          </p:cNvPr>
          <p:cNvSpPr>
            <a:spLocks noGrp="1"/>
          </p:cNvSpPr>
          <p:nvPr>
            <p:ph type="sldNum" sz="quarter" idx="12"/>
          </p:nvPr>
        </p:nvSpPr>
        <p:spPr/>
        <p:txBody>
          <a:bodyPr/>
          <a:lstStyle/>
          <a:p>
            <a:pPr>
              <a:defRPr/>
            </a:pPr>
            <a:fld id="{8BCAC33D-D29A-48B3-BCD6-381D3D720D26}" type="slidenum">
              <a:rPr lang="zh-CN" altLang="en-US" smtClean="0"/>
              <a:t>31</a:t>
            </a:fld>
            <a:endParaRPr lang="en-US" altLang="zh-CN"/>
          </a:p>
        </p:txBody>
      </p:sp>
    </p:spTree>
    <p:extLst>
      <p:ext uri="{BB962C8B-B14F-4D97-AF65-F5344CB8AC3E}">
        <p14:creationId xmlns:p14="http://schemas.microsoft.com/office/powerpoint/2010/main" val="20000203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Rectangle 3" descr="Rectangle: Click to edit Master text styles&#10;Second level&#10;Third level&#10;Fourth level&#10;Fifth level"/>
          <p:cNvSpPr>
            <a:spLocks noGrp="1" noChangeArrowheads="1"/>
          </p:cNvSpPr>
          <p:nvPr>
            <p:ph type="body" idx="1"/>
          </p:nvPr>
        </p:nvSpPr>
        <p:spPr>
          <a:xfrm>
            <a:off x="755576" y="692696"/>
            <a:ext cx="7848872" cy="4608513"/>
          </a:xfrm>
        </p:spPr>
        <p:txBody>
          <a:bodyPr/>
          <a:lstStyle/>
          <a:p>
            <a:pPr marL="0" indent="0" eaLnBrk="1" hangingPunct="1">
              <a:lnSpc>
                <a:spcPct val="150000"/>
              </a:lnSpc>
              <a:spcBef>
                <a:spcPct val="0"/>
              </a:spcBef>
              <a:buNone/>
              <a:defRPr/>
            </a:pPr>
            <a:r>
              <a:rPr kumimoji="1" lang="en-US" altLang="zh-CN" sz="2400" b="1" dirty="0">
                <a:latin typeface="Times New Roman" panose="02020603050405020304" pitchFamily="18" charset="0"/>
                <a:ea typeface="华文中宋" panose="02010600040101010101" pitchFamily="2" charset="-122"/>
              </a:rPr>
              <a:t>3.</a:t>
            </a:r>
            <a:r>
              <a:rPr kumimoji="1" lang="zh-CN" altLang="en-US" sz="2400" b="1" dirty="0">
                <a:latin typeface="Times New Roman" panose="02020603050405020304" pitchFamily="18" charset="0"/>
                <a:ea typeface="华文中宋" panose="02010600040101010101" pitchFamily="2" charset="-122"/>
              </a:rPr>
              <a:t>“读”命中工作过程</a:t>
            </a:r>
            <a:endParaRPr kumimoji="1" lang="en-US" altLang="zh-CN" sz="2400" b="1" dirty="0">
              <a:latin typeface="Times New Roman" panose="02020603050405020304" pitchFamily="18" charset="0"/>
              <a:ea typeface="华文中宋" panose="02010600040101010101" pitchFamily="2" charset="-122"/>
            </a:endParaRPr>
          </a:p>
          <a:p>
            <a:pPr lvl="2" eaLnBrk="1" hangingPunct="1">
              <a:lnSpc>
                <a:spcPct val="150000"/>
              </a:lnSpc>
              <a:spcBef>
                <a:spcPct val="0"/>
              </a:spcBef>
              <a:defRPr/>
            </a:pPr>
            <a:r>
              <a:rPr kumimoji="1" lang="en-US" altLang="zh-CN" b="1" dirty="0">
                <a:latin typeface="Times New Roman" panose="02020603050405020304" pitchFamily="18" charset="0"/>
                <a:ea typeface="华文中宋" panose="02010600040101010101" pitchFamily="2" charset="-122"/>
              </a:rPr>
              <a:t>Cache</a:t>
            </a:r>
            <a:r>
              <a:rPr kumimoji="1" lang="zh-CN" altLang="en-US" b="1" dirty="0">
                <a:latin typeface="Times New Roman" panose="02020603050405020304" pitchFamily="18" charset="0"/>
                <a:ea typeface="华文中宋" panose="02010600040101010101" pitchFamily="2" charset="-122"/>
              </a:rPr>
              <a:t>的容量与索引</a:t>
            </a:r>
            <a:r>
              <a:rPr kumimoji="1" lang="en-US" altLang="zh-CN" b="1" dirty="0">
                <a:latin typeface="Times New Roman" panose="02020603050405020304" pitchFamily="18" charset="0"/>
                <a:ea typeface="华文中宋" panose="02010600040101010101" pitchFamily="2" charset="-122"/>
              </a:rPr>
              <a:t>index</a:t>
            </a:r>
            <a:r>
              <a:rPr kumimoji="1" lang="zh-CN" altLang="en-US" b="1" dirty="0">
                <a:latin typeface="Times New Roman" panose="02020603050405020304" pitchFamily="18" charset="0"/>
                <a:ea typeface="华文中宋" panose="02010600040101010101" pitchFamily="2" charset="-122"/>
              </a:rPr>
              <a:t>、相联度、块大小之间的关系</a:t>
            </a:r>
          </a:p>
          <a:p>
            <a:pPr lvl="2" eaLnBrk="1" hangingPunct="1">
              <a:lnSpc>
                <a:spcPct val="150000"/>
              </a:lnSpc>
              <a:spcBef>
                <a:spcPct val="0"/>
              </a:spcBef>
              <a:buFont typeface="Wingdings" panose="05000000000000000000" pitchFamily="2" charset="2"/>
              <a:buNone/>
              <a:defRPr/>
            </a:pPr>
            <a:r>
              <a:rPr lang="en-US" altLang="zh-CN" dirty="0">
                <a:latin typeface="Times New Roman" panose="02020603050405020304" pitchFamily="18" charset="0"/>
              </a:rPr>
              <a:t>            </a:t>
            </a:r>
            <a:r>
              <a:rPr lang="en-US" altLang="zh-CN" b="1" dirty="0">
                <a:latin typeface="Times New Roman" panose="02020603050405020304" pitchFamily="18" charset="0"/>
              </a:rPr>
              <a:t>Cache</a:t>
            </a:r>
            <a:r>
              <a:rPr kumimoji="1" lang="zh-CN" altLang="en-US" b="1" dirty="0">
                <a:latin typeface="Times New Roman" panose="02020603050405020304" pitchFamily="18" charset="0"/>
                <a:ea typeface="华文中宋" panose="02010600040101010101" pitchFamily="2" charset="-122"/>
              </a:rPr>
              <a:t>的容量</a:t>
            </a:r>
            <a:r>
              <a:rPr lang="en-US" altLang="zh-CN" b="1" dirty="0">
                <a:latin typeface="Times New Roman" panose="02020603050405020304" pitchFamily="18" charset="0"/>
              </a:rPr>
              <a:t>=2</a:t>
            </a:r>
            <a:r>
              <a:rPr lang="en-US" altLang="zh-CN" b="1" i="1" baseline="30000" dirty="0">
                <a:latin typeface="Times New Roman" panose="02020603050405020304" pitchFamily="18" charset="0"/>
              </a:rPr>
              <a:t>index</a:t>
            </a:r>
            <a:r>
              <a:rPr lang="en-US" altLang="zh-CN" b="1" dirty="0">
                <a:latin typeface="Times New Roman" panose="02020603050405020304" pitchFamily="18" charset="0"/>
              </a:rPr>
              <a:t>×</a:t>
            </a:r>
            <a:r>
              <a:rPr kumimoji="1" lang="zh-CN" altLang="en-US" b="1" dirty="0">
                <a:latin typeface="Times New Roman" panose="02020603050405020304" pitchFamily="18" charset="0"/>
                <a:ea typeface="华文中宋" panose="02010600040101010101" pitchFamily="2" charset="-122"/>
              </a:rPr>
              <a:t>相联度</a:t>
            </a:r>
            <a:r>
              <a:rPr lang="en-US" altLang="zh-CN" b="1" dirty="0">
                <a:latin typeface="Times New Roman" panose="02020603050405020304" pitchFamily="18" charset="0"/>
              </a:rPr>
              <a:t>×</a:t>
            </a:r>
            <a:r>
              <a:rPr kumimoji="1" lang="zh-CN" altLang="en-US" b="1" dirty="0">
                <a:latin typeface="Times New Roman" panose="02020603050405020304" pitchFamily="18" charset="0"/>
                <a:ea typeface="华文中宋" panose="02010600040101010101" pitchFamily="2" charset="-122"/>
              </a:rPr>
              <a:t>块大小</a:t>
            </a:r>
            <a:endParaRPr kumimoji="1" lang="en-US" altLang="zh-CN" b="1" dirty="0">
              <a:latin typeface="Times New Roman" panose="02020603050405020304" pitchFamily="18" charset="0"/>
              <a:ea typeface="华文中宋" panose="02010600040101010101" pitchFamily="2" charset="-122"/>
            </a:endParaRPr>
          </a:p>
          <a:p>
            <a:pPr lvl="2" eaLnBrk="1" hangingPunct="1">
              <a:lnSpc>
                <a:spcPct val="150000"/>
              </a:lnSpc>
              <a:spcBef>
                <a:spcPct val="0"/>
              </a:spcBef>
              <a:buFont typeface="Wingdings" panose="05000000000000000000" pitchFamily="2" charset="2"/>
              <a:buNone/>
              <a:defRPr/>
            </a:pPr>
            <a:endParaRPr lang="en-US" altLang="zh-CN" b="1" dirty="0">
              <a:latin typeface="Times New Roman" panose="02020603050405020304" pitchFamily="18" charset="0"/>
            </a:endParaRPr>
          </a:p>
          <a:p>
            <a:pPr lvl="2" eaLnBrk="1" hangingPunct="1">
              <a:lnSpc>
                <a:spcPct val="150000"/>
              </a:lnSpc>
              <a:spcBef>
                <a:spcPct val="0"/>
              </a:spcBef>
              <a:defRPr/>
            </a:pPr>
            <a:r>
              <a:rPr kumimoji="1" lang="zh-CN" altLang="en-US" b="1" dirty="0">
                <a:latin typeface="Times New Roman" panose="02020603050405020304" pitchFamily="18" charset="0"/>
                <a:ea typeface="华文中宋" panose="02010600040101010101" pitchFamily="2" charset="-122"/>
              </a:rPr>
              <a:t>把容量为</a:t>
            </a:r>
            <a:r>
              <a:rPr kumimoji="1" lang="en-US" altLang="zh-CN" b="1" dirty="0">
                <a:latin typeface="Times New Roman" panose="02020603050405020304" pitchFamily="18" charset="0"/>
                <a:ea typeface="华文中宋" panose="02010600040101010101" pitchFamily="2" charset="-122"/>
              </a:rPr>
              <a:t>8KB</a:t>
            </a:r>
            <a:r>
              <a:rPr kumimoji="1" lang="zh-CN" altLang="en-US" b="1" dirty="0">
                <a:latin typeface="Times New Roman" panose="02020603050405020304" pitchFamily="18" charset="0"/>
                <a:ea typeface="华文中宋" panose="02010600040101010101" pitchFamily="2" charset="-122"/>
              </a:rPr>
              <a:t>、相联度为</a:t>
            </a:r>
            <a:r>
              <a:rPr kumimoji="1" lang="en-US" altLang="zh-CN" b="1" dirty="0">
                <a:latin typeface="Times New Roman" panose="02020603050405020304" pitchFamily="18" charset="0"/>
                <a:ea typeface="华文中宋" panose="02010600040101010101" pitchFamily="2" charset="-122"/>
              </a:rPr>
              <a:t>1</a:t>
            </a:r>
            <a:r>
              <a:rPr kumimoji="1" lang="zh-CN" altLang="en-US" b="1" dirty="0">
                <a:latin typeface="Times New Roman" panose="02020603050405020304" pitchFamily="18" charset="0"/>
                <a:ea typeface="华文中宋" panose="02010600040101010101" pitchFamily="2" charset="-122"/>
              </a:rPr>
              <a:t>、块大小为</a:t>
            </a:r>
            <a:r>
              <a:rPr kumimoji="1" lang="en-US" altLang="zh-CN" b="1" dirty="0">
                <a:latin typeface="Times New Roman" panose="02020603050405020304" pitchFamily="18" charset="0"/>
                <a:ea typeface="华文中宋" panose="02010600040101010101" pitchFamily="2" charset="-122"/>
              </a:rPr>
              <a:t>32</a:t>
            </a:r>
            <a:r>
              <a:rPr kumimoji="1" lang="zh-CN" altLang="en-US" b="1" dirty="0">
                <a:latin typeface="Times New Roman" panose="02020603050405020304" pitchFamily="18" charset="0"/>
                <a:ea typeface="华文中宋" panose="02010600040101010101" pitchFamily="2" charset="-122"/>
              </a:rPr>
              <a:t>（字节）代入：</a:t>
            </a:r>
          </a:p>
          <a:p>
            <a:pPr lvl="2" eaLnBrk="1" hangingPunct="1">
              <a:lnSpc>
                <a:spcPct val="150000"/>
              </a:lnSpc>
              <a:spcBef>
                <a:spcPct val="0"/>
              </a:spcBef>
              <a:buFont typeface="Wingdings" panose="05000000000000000000" pitchFamily="2" charset="2"/>
              <a:buNone/>
              <a:defRPr/>
            </a:pPr>
            <a:r>
              <a:rPr kumimoji="1" lang="zh-CN" altLang="en-US" b="1" dirty="0">
                <a:latin typeface="Times New Roman" panose="02020603050405020304" pitchFamily="18" charset="0"/>
                <a:ea typeface="华文中宋" panose="02010600040101010101" pitchFamily="2" charset="-122"/>
              </a:rPr>
              <a:t>                索引</a:t>
            </a:r>
            <a:r>
              <a:rPr kumimoji="1" lang="en-US" altLang="zh-CN" b="1" dirty="0">
                <a:latin typeface="Times New Roman" panose="02020603050405020304" pitchFamily="18" charset="0"/>
                <a:ea typeface="华文中宋" panose="02010600040101010101" pitchFamily="2" charset="-122"/>
              </a:rPr>
              <a:t>index</a:t>
            </a:r>
            <a:r>
              <a:rPr kumimoji="1" lang="zh-CN" altLang="en-US" b="1" dirty="0">
                <a:latin typeface="Times New Roman" panose="02020603050405020304" pitchFamily="18" charset="0"/>
                <a:ea typeface="华文中宋" panose="02010600040101010101" pitchFamily="2" charset="-122"/>
              </a:rPr>
              <a:t>：</a:t>
            </a:r>
            <a:r>
              <a:rPr kumimoji="1" lang="en-US" altLang="zh-CN" b="1" dirty="0">
                <a:latin typeface="Times New Roman" panose="02020603050405020304" pitchFamily="18" charset="0"/>
                <a:ea typeface="华文中宋" panose="02010600040101010101" pitchFamily="2" charset="-122"/>
              </a:rPr>
              <a:t>8</a:t>
            </a:r>
            <a:r>
              <a:rPr kumimoji="1" lang="zh-CN" altLang="en-US" b="1" dirty="0">
                <a:latin typeface="Times New Roman" panose="02020603050405020304" pitchFamily="18" charset="0"/>
                <a:ea typeface="华文中宋" panose="02010600040101010101" pitchFamily="2" charset="-122"/>
              </a:rPr>
              <a:t>位       标识：</a:t>
            </a:r>
            <a:r>
              <a:rPr kumimoji="1" lang="en-US" altLang="zh-CN" b="1" dirty="0">
                <a:latin typeface="Times New Roman" panose="02020603050405020304" pitchFamily="18" charset="0"/>
                <a:ea typeface="华文中宋" panose="02010600040101010101" pitchFamily="2" charset="-122"/>
              </a:rPr>
              <a:t>29</a:t>
            </a:r>
            <a:r>
              <a:rPr kumimoji="1" lang="zh-CN" altLang="en-US" b="1" dirty="0">
                <a:latin typeface="Times New Roman" panose="02020603050405020304" pitchFamily="18" charset="0"/>
                <a:ea typeface="华文中宋" panose="02010600040101010101" pitchFamily="2" charset="-122"/>
              </a:rPr>
              <a:t>－</a:t>
            </a:r>
            <a:r>
              <a:rPr kumimoji="1" lang="en-US" altLang="zh-CN" b="1" dirty="0">
                <a:latin typeface="Times New Roman" panose="02020603050405020304" pitchFamily="18" charset="0"/>
                <a:ea typeface="华文中宋" panose="02010600040101010101" pitchFamily="2" charset="-122"/>
              </a:rPr>
              <a:t>8</a:t>
            </a:r>
            <a:r>
              <a:rPr kumimoji="1" lang="zh-CN" altLang="en-US" b="1" dirty="0">
                <a:latin typeface="Times New Roman" panose="02020603050405020304" pitchFamily="18" charset="0"/>
                <a:ea typeface="华文中宋" panose="02010600040101010101" pitchFamily="2" charset="-122"/>
              </a:rPr>
              <a:t>＝</a:t>
            </a:r>
            <a:r>
              <a:rPr kumimoji="1" lang="en-US" altLang="zh-CN" b="1" dirty="0">
                <a:latin typeface="Times New Roman" panose="02020603050405020304" pitchFamily="18" charset="0"/>
                <a:ea typeface="华文中宋" panose="02010600040101010101" pitchFamily="2" charset="-122"/>
              </a:rPr>
              <a:t>21</a:t>
            </a:r>
            <a:r>
              <a:rPr kumimoji="1" lang="zh-CN" altLang="en-US" b="1" dirty="0">
                <a:latin typeface="Times New Roman" panose="02020603050405020304" pitchFamily="18" charset="0"/>
                <a:ea typeface="华文中宋" panose="02010600040101010101" pitchFamily="2" charset="-122"/>
              </a:rPr>
              <a:t>位  </a:t>
            </a:r>
          </a:p>
          <a:p>
            <a:pPr marL="457200" indent="-457200" eaLnBrk="1" hangingPunct="1">
              <a:buFont typeface="Wingdings" panose="05000000000000000000" pitchFamily="2" charset="2"/>
              <a:buAutoNum type="arabicPeriod" startAt="3"/>
            </a:pPr>
            <a:endParaRPr lang="en-US" altLang="zh-CN" dirty="0"/>
          </a:p>
        </p:txBody>
      </p:sp>
      <p:sp>
        <p:nvSpPr>
          <p:cNvPr id="2" name="日期占位符 1">
            <a:extLst>
              <a:ext uri="{FF2B5EF4-FFF2-40B4-BE49-F238E27FC236}">
                <a16:creationId xmlns:a16="http://schemas.microsoft.com/office/drawing/2014/main" id="{842CAC5B-7B66-29DE-F812-8BBE038758B2}"/>
              </a:ext>
            </a:extLst>
          </p:cNvPr>
          <p:cNvSpPr>
            <a:spLocks noGrp="1"/>
          </p:cNvSpPr>
          <p:nvPr>
            <p:ph type="dt" sz="half" idx="10"/>
          </p:nvPr>
        </p:nvSpPr>
        <p:spPr/>
        <p:txBody>
          <a:bodyPr/>
          <a:lstStyle/>
          <a:p>
            <a:pPr>
              <a:defRPr/>
            </a:pPr>
            <a:fld id="{8FB68E6D-B025-4604-B8FF-DF4879F37DCA}"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074D0D20-DAD4-4773-4776-48244DCEB864}"/>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1B493048-2068-19AA-7E72-1564B49EAF30}"/>
              </a:ext>
            </a:extLst>
          </p:cNvPr>
          <p:cNvSpPr>
            <a:spLocks noGrp="1"/>
          </p:cNvSpPr>
          <p:nvPr>
            <p:ph type="sldNum" sz="quarter" idx="12"/>
          </p:nvPr>
        </p:nvSpPr>
        <p:spPr/>
        <p:txBody>
          <a:bodyPr/>
          <a:lstStyle/>
          <a:p>
            <a:pPr>
              <a:defRPr/>
            </a:pPr>
            <a:fld id="{8BCAC33D-D29A-48B3-BCD6-381D3D720D26}" type="slidenum">
              <a:rPr lang="zh-CN" altLang="en-US" smtClean="0"/>
              <a:t>32</a:t>
            </a:fld>
            <a:endParaRPr lang="en-US" altLang="zh-CN"/>
          </a:p>
        </p:txBody>
      </p:sp>
    </p:spTree>
    <p:extLst>
      <p:ext uri="{BB962C8B-B14F-4D97-AF65-F5344CB8AC3E}">
        <p14:creationId xmlns:p14="http://schemas.microsoft.com/office/powerpoint/2010/main" val="22277750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1" name="Rectangle 3" descr="Rectangle: Click to edit Master text styles&#10;Second level&#10;Third level&#10;Fourth level&#10;Fifth level"/>
          <p:cNvSpPr>
            <a:spLocks noGrp="1" noChangeArrowheads="1"/>
          </p:cNvSpPr>
          <p:nvPr>
            <p:ph type="body" idx="1"/>
          </p:nvPr>
        </p:nvSpPr>
        <p:spPr>
          <a:xfrm>
            <a:off x="539552" y="620688"/>
            <a:ext cx="8352928" cy="4608513"/>
          </a:xfrm>
        </p:spPr>
        <p:txBody>
          <a:bodyPr/>
          <a:lstStyle/>
          <a:p>
            <a:pPr marL="0" indent="0" eaLnBrk="1" hangingPunct="1">
              <a:lnSpc>
                <a:spcPct val="150000"/>
              </a:lnSpc>
              <a:spcAft>
                <a:spcPts val="600"/>
              </a:spcAft>
              <a:buNone/>
            </a:pPr>
            <a:r>
              <a:rPr kumimoji="1" lang="en-US" altLang="zh-CN" sz="2400" b="1" dirty="0">
                <a:latin typeface="Times New Roman" panose="02020603050405020304" pitchFamily="18" charset="0"/>
                <a:ea typeface="华文中宋" panose="02010600040101010101" pitchFamily="2" charset="-122"/>
              </a:rPr>
              <a:t>3.</a:t>
            </a:r>
            <a:r>
              <a:rPr kumimoji="1" lang="zh-CN" altLang="en-US" sz="2400" b="1" dirty="0">
                <a:latin typeface="Times New Roman" panose="02020603050405020304" pitchFamily="18" charset="0"/>
                <a:ea typeface="华文中宋" panose="02010600040101010101" pitchFamily="2" charset="-122"/>
                <a:hlinkClick r:id="rId2" action="ppaction://hlinksldjump"/>
              </a:rPr>
              <a:t>“读”命中工作过程</a:t>
            </a:r>
            <a:endParaRPr kumimoji="1" lang="en-US" altLang="zh-CN" sz="2400" b="1" dirty="0">
              <a:latin typeface="Times New Roman" panose="02020603050405020304" pitchFamily="18" charset="0"/>
              <a:ea typeface="华文中宋" panose="02010600040101010101" pitchFamily="2" charset="-122"/>
            </a:endParaRPr>
          </a:p>
          <a:p>
            <a:pPr marL="360000" indent="0" eaLnBrk="1" hangingPunct="1">
              <a:lnSpc>
                <a:spcPct val="150000"/>
              </a:lnSpc>
              <a:spcAft>
                <a:spcPts val="600"/>
              </a:spcAft>
              <a:buNone/>
            </a:pPr>
            <a:r>
              <a:rPr kumimoji="1" lang="en-US" altLang="zh-CN" sz="2400" b="1" dirty="0">
                <a:latin typeface="Times New Roman" panose="02020603050405020304" pitchFamily="18" charset="0"/>
                <a:ea typeface="华文中宋" panose="02010600040101010101" pitchFamily="2" charset="-122"/>
              </a:rPr>
              <a:t>(1)</a:t>
            </a:r>
            <a:r>
              <a:rPr kumimoji="1" lang="zh-CN" altLang="en-US" sz="2400" b="1" dirty="0">
                <a:latin typeface="Times New Roman" panose="02020603050405020304" pitchFamily="18" charset="0"/>
                <a:ea typeface="华文中宋" panose="02010600040101010101" pitchFamily="2" charset="-122"/>
              </a:rPr>
              <a:t> 处理器传送给</a:t>
            </a:r>
            <a:r>
              <a:rPr kumimoji="1" lang="en-US" altLang="zh-CN" sz="2400" b="1" dirty="0">
                <a:latin typeface="Times New Roman" panose="02020603050405020304" pitchFamily="18" charset="0"/>
                <a:ea typeface="华文中宋" panose="02010600040101010101" pitchFamily="2" charset="-122"/>
              </a:rPr>
              <a:t>Cache</a:t>
            </a:r>
            <a:r>
              <a:rPr kumimoji="1" lang="zh-CN" altLang="en-US" sz="2400" b="1" dirty="0">
                <a:latin typeface="Times New Roman" panose="02020603050405020304" pitchFamily="18" charset="0"/>
                <a:ea typeface="华文中宋" panose="02010600040101010101" pitchFamily="2" charset="-122"/>
              </a:rPr>
              <a:t>物理地址</a:t>
            </a:r>
            <a:endParaRPr kumimoji="1" lang="en-US" altLang="zh-CN" sz="2400" b="1" dirty="0">
              <a:latin typeface="Times New Roman" panose="02020603050405020304" pitchFamily="18" charset="0"/>
              <a:ea typeface="华文中宋" panose="02010600040101010101" pitchFamily="2" charset="-122"/>
            </a:endParaRPr>
          </a:p>
          <a:p>
            <a:pPr marL="360000" indent="0" eaLnBrk="1" hangingPunct="1">
              <a:lnSpc>
                <a:spcPct val="150000"/>
              </a:lnSpc>
              <a:spcAft>
                <a:spcPts val="600"/>
              </a:spcAft>
              <a:buNone/>
            </a:pPr>
            <a:r>
              <a:rPr kumimoji="1" lang="en-US" altLang="zh-CN" sz="2400" b="1" dirty="0">
                <a:latin typeface="Times New Roman" panose="02020603050405020304" pitchFamily="18" charset="0"/>
                <a:ea typeface="华文中宋" panose="02010600040101010101" pitchFamily="2" charset="-122"/>
              </a:rPr>
              <a:t>(2) </a:t>
            </a:r>
            <a:r>
              <a:rPr kumimoji="1" lang="zh-CN" altLang="en-US" sz="2400" b="1" dirty="0">
                <a:latin typeface="Times New Roman" panose="02020603050405020304" pitchFamily="18" charset="0"/>
                <a:ea typeface="华文中宋" panose="02010600040101010101" pitchFamily="2" charset="-122"/>
              </a:rPr>
              <a:t>由索引选择标识的过程</a:t>
            </a:r>
            <a:endParaRPr kumimoji="1" lang="en-US" altLang="zh-CN" sz="2400" b="1" dirty="0">
              <a:latin typeface="Times New Roman" panose="02020603050405020304" pitchFamily="18" charset="0"/>
              <a:ea typeface="华文中宋" panose="02010600040101010101" pitchFamily="2" charset="-122"/>
            </a:endParaRPr>
          </a:p>
          <a:p>
            <a:pPr marL="1177200" lvl="2" eaLnBrk="1" hangingPunct="1">
              <a:lnSpc>
                <a:spcPct val="150000"/>
              </a:lnSpc>
              <a:spcBef>
                <a:spcPct val="0"/>
              </a:spcBef>
              <a:buClrTx/>
            </a:pPr>
            <a:r>
              <a:rPr kumimoji="1" lang="zh-CN" altLang="en-US" b="1" dirty="0">
                <a:latin typeface="Times New Roman" panose="02020603050405020304" pitchFamily="18" charset="0"/>
                <a:ea typeface="华文中宋" panose="02010600040101010101" pitchFamily="2" charset="-122"/>
              </a:rPr>
              <a:t>根据索引从目录项中读出相应的标识和有效位</a:t>
            </a:r>
            <a:endParaRPr kumimoji="1" lang="en-US" altLang="zh-CN" sz="2800" b="1" dirty="0">
              <a:latin typeface="Times New Roman" panose="02020603050405020304" pitchFamily="18" charset="0"/>
              <a:ea typeface="华文中宋" panose="02010600040101010101" pitchFamily="2" charset="-122"/>
            </a:endParaRPr>
          </a:p>
          <a:p>
            <a:pPr marL="792000" lvl="2" indent="-457200" eaLnBrk="1" hangingPunct="1">
              <a:lnSpc>
                <a:spcPct val="150000"/>
              </a:lnSpc>
              <a:spcBef>
                <a:spcPct val="0"/>
              </a:spcBef>
              <a:buClrTx/>
              <a:buNone/>
            </a:pPr>
            <a:r>
              <a:rPr kumimoji="1" lang="en-US" altLang="zh-CN" sz="2400" b="1" dirty="0">
                <a:latin typeface="Times New Roman" panose="02020603050405020304" pitchFamily="18" charset="0"/>
                <a:ea typeface="华文中宋" panose="02010600040101010101" pitchFamily="2" charset="-122"/>
              </a:rPr>
              <a:t>(3) </a:t>
            </a:r>
            <a:r>
              <a:rPr kumimoji="1" lang="zh-CN" altLang="en-US" sz="2400" b="1" dirty="0">
                <a:latin typeface="Times New Roman" panose="02020603050405020304" pitchFamily="18" charset="0"/>
                <a:ea typeface="华文中宋" panose="02010600040101010101" pitchFamily="2" charset="-122"/>
              </a:rPr>
              <a:t>从</a:t>
            </a:r>
            <a:r>
              <a:rPr kumimoji="1" lang="en-US" altLang="zh-CN" sz="2400" b="1" dirty="0">
                <a:latin typeface="Times New Roman" panose="02020603050405020304" pitchFamily="18" charset="0"/>
                <a:ea typeface="华文中宋" panose="02010600040101010101" pitchFamily="2" charset="-122"/>
              </a:rPr>
              <a:t>Cache</a:t>
            </a:r>
            <a:r>
              <a:rPr kumimoji="1" lang="zh-CN" altLang="en-US" sz="2400" b="1" dirty="0">
                <a:latin typeface="Times New Roman" panose="02020603050405020304" pitchFamily="18" charset="0"/>
                <a:ea typeface="华文中宋" panose="02010600040101010101" pitchFamily="2" charset="-122"/>
              </a:rPr>
              <a:t>中读出标识之后，用来同从</a:t>
            </a:r>
            <a:r>
              <a:rPr kumimoji="1" lang="en-US" altLang="zh-CN" sz="2400" b="1" dirty="0">
                <a:latin typeface="Times New Roman" panose="02020603050405020304" pitchFamily="18" charset="0"/>
                <a:ea typeface="华文中宋" panose="02010600040101010101" pitchFamily="2" charset="-122"/>
              </a:rPr>
              <a:t>CPU</a:t>
            </a:r>
            <a:r>
              <a:rPr kumimoji="1" lang="zh-CN" altLang="en-US" sz="2400" b="1" dirty="0">
                <a:latin typeface="Times New Roman" panose="02020603050405020304" pitchFamily="18" charset="0"/>
                <a:ea typeface="华文中宋" panose="02010600040101010101" pitchFamily="2" charset="-122"/>
              </a:rPr>
              <a:t>发来的块地址中标志域部分进行比较</a:t>
            </a:r>
            <a:endParaRPr kumimoji="1" lang="en-US" altLang="zh-CN" sz="2400" b="1" dirty="0">
              <a:latin typeface="Times New Roman" panose="02020603050405020304" pitchFamily="18" charset="0"/>
              <a:ea typeface="华文中宋" panose="02010600040101010101" pitchFamily="2" charset="-122"/>
            </a:endParaRPr>
          </a:p>
          <a:p>
            <a:pPr marL="1177200" lvl="2" eaLnBrk="1" hangingPunct="1">
              <a:lnSpc>
                <a:spcPct val="150000"/>
              </a:lnSpc>
              <a:spcBef>
                <a:spcPct val="0"/>
              </a:spcBef>
              <a:buClrTx/>
            </a:pPr>
            <a:r>
              <a:rPr kumimoji="1" lang="zh-CN" altLang="en-US" b="1" dirty="0">
                <a:latin typeface="Times New Roman" panose="02020603050405020304" pitchFamily="18" charset="0"/>
                <a:ea typeface="华文中宋" panose="02010600040101010101" pitchFamily="2" charset="-122"/>
              </a:rPr>
              <a:t>为了保证包含有效的信息，必须要设置有效位</a:t>
            </a:r>
            <a:endParaRPr kumimoji="1" lang="en-US" altLang="zh-CN" b="1" dirty="0">
              <a:latin typeface="Times New Roman" panose="02020603050405020304" pitchFamily="18" charset="0"/>
              <a:ea typeface="华文中宋" panose="02010600040101010101" pitchFamily="2" charset="-122"/>
            </a:endParaRPr>
          </a:p>
          <a:p>
            <a:pPr marL="360000" lvl="1" indent="0" eaLnBrk="1" hangingPunct="1">
              <a:lnSpc>
                <a:spcPct val="150000"/>
              </a:lnSpc>
              <a:spcBef>
                <a:spcPct val="0"/>
              </a:spcBef>
              <a:buNone/>
              <a:defRPr/>
            </a:pPr>
            <a:r>
              <a:rPr kumimoji="1" lang="en-US" altLang="zh-CN" sz="2400" b="1" dirty="0">
                <a:latin typeface="Times New Roman" panose="02020603050405020304" pitchFamily="18" charset="0"/>
                <a:ea typeface="华文中宋" panose="02010600040101010101" pitchFamily="2" charset="-122"/>
              </a:rPr>
              <a:t>(4)</a:t>
            </a:r>
            <a:r>
              <a:rPr kumimoji="1" lang="zh-CN" altLang="en-US" sz="2400" b="1" dirty="0">
                <a:latin typeface="Times New Roman" panose="02020603050405020304" pitchFamily="18" charset="0"/>
                <a:ea typeface="华文中宋" panose="02010600040101010101" pitchFamily="2" charset="-122"/>
              </a:rPr>
              <a:t>如果有一个标识匹配，且标志位有效，则此次命中</a:t>
            </a:r>
            <a:endParaRPr kumimoji="1" lang="en-US" altLang="zh-CN" sz="2400" b="1" dirty="0">
              <a:latin typeface="Times New Roman" panose="02020603050405020304" pitchFamily="18" charset="0"/>
              <a:ea typeface="华文中宋" panose="02010600040101010101" pitchFamily="2" charset="-122"/>
            </a:endParaRPr>
          </a:p>
          <a:p>
            <a:pPr marL="1177200" lvl="2" eaLnBrk="1" hangingPunct="1">
              <a:lnSpc>
                <a:spcPct val="150000"/>
              </a:lnSpc>
              <a:spcBef>
                <a:spcPct val="0"/>
              </a:spcBef>
              <a:buClrTx/>
            </a:pPr>
            <a:r>
              <a:rPr kumimoji="1" lang="zh-CN" altLang="en-US" b="1" dirty="0">
                <a:latin typeface="Times New Roman" panose="02020603050405020304" pitchFamily="18" charset="0"/>
                <a:ea typeface="华文中宋" panose="02010600040101010101" pitchFamily="2" charset="-122"/>
              </a:rPr>
              <a:t>通知</a:t>
            </a:r>
            <a:r>
              <a:rPr kumimoji="1" lang="en-US" altLang="zh-CN" b="1" dirty="0">
                <a:latin typeface="Times New Roman" panose="02020603050405020304" pitchFamily="18" charset="0"/>
                <a:ea typeface="华文中宋" panose="02010600040101010101" pitchFamily="2" charset="-122"/>
              </a:rPr>
              <a:t>CPU</a:t>
            </a:r>
            <a:r>
              <a:rPr kumimoji="1" lang="zh-CN" altLang="en-US" b="1" dirty="0">
                <a:latin typeface="Times New Roman" panose="02020603050405020304" pitchFamily="18" charset="0"/>
                <a:ea typeface="华文中宋" panose="02010600040101010101" pitchFamily="2" charset="-122"/>
              </a:rPr>
              <a:t>取走数据</a:t>
            </a:r>
            <a:endParaRPr kumimoji="1" lang="en-US" altLang="zh-CN" b="1" dirty="0">
              <a:latin typeface="Times New Roman" panose="02020603050405020304" pitchFamily="18" charset="0"/>
              <a:ea typeface="华文中宋" panose="02010600040101010101" pitchFamily="2" charset="-122"/>
            </a:endParaRPr>
          </a:p>
          <a:p>
            <a:pPr marL="628650" lvl="1" indent="0" eaLnBrk="1" hangingPunct="1">
              <a:lnSpc>
                <a:spcPct val="130000"/>
              </a:lnSpc>
              <a:spcBef>
                <a:spcPct val="0"/>
              </a:spcBef>
              <a:buClrTx/>
              <a:buNone/>
            </a:pPr>
            <a:endParaRPr lang="en-US" altLang="zh-CN" dirty="0"/>
          </a:p>
          <a:p>
            <a:pPr marL="0" indent="0" eaLnBrk="1" hangingPunct="1">
              <a:buNone/>
            </a:pPr>
            <a:endParaRPr lang="en-US" altLang="zh-CN" dirty="0"/>
          </a:p>
        </p:txBody>
      </p:sp>
      <p:sp>
        <p:nvSpPr>
          <p:cNvPr id="2" name="日期占位符 1">
            <a:extLst>
              <a:ext uri="{FF2B5EF4-FFF2-40B4-BE49-F238E27FC236}">
                <a16:creationId xmlns:a16="http://schemas.microsoft.com/office/drawing/2014/main" id="{21CCED48-A57F-0EB4-E5CD-4D927E0A156F}"/>
              </a:ext>
            </a:extLst>
          </p:cNvPr>
          <p:cNvSpPr>
            <a:spLocks noGrp="1"/>
          </p:cNvSpPr>
          <p:nvPr>
            <p:ph type="dt" sz="half" idx="10"/>
          </p:nvPr>
        </p:nvSpPr>
        <p:spPr/>
        <p:txBody>
          <a:bodyPr/>
          <a:lstStyle/>
          <a:p>
            <a:pPr>
              <a:defRPr/>
            </a:pPr>
            <a:fld id="{2BD77EA4-5DEF-4A75-BE19-975131DF0DAE}"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C8A98A65-B976-DE85-D789-E2EA4B9EBF52}"/>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F7F23C41-1471-A904-1234-E4F1765D88AF}"/>
              </a:ext>
            </a:extLst>
          </p:cNvPr>
          <p:cNvSpPr>
            <a:spLocks noGrp="1"/>
          </p:cNvSpPr>
          <p:nvPr>
            <p:ph type="sldNum" sz="quarter" idx="12"/>
          </p:nvPr>
        </p:nvSpPr>
        <p:spPr/>
        <p:txBody>
          <a:bodyPr/>
          <a:lstStyle/>
          <a:p>
            <a:pPr>
              <a:defRPr/>
            </a:pPr>
            <a:fld id="{8BCAC33D-D29A-48B3-BCD6-381D3D720D26}" type="slidenum">
              <a:rPr lang="zh-CN" altLang="en-US" smtClean="0"/>
              <a:t>33</a:t>
            </a:fld>
            <a:endParaRPr lang="en-US" altLang="zh-CN"/>
          </a:p>
        </p:txBody>
      </p:sp>
    </p:spTree>
    <p:extLst>
      <p:ext uri="{BB962C8B-B14F-4D97-AF65-F5344CB8AC3E}">
        <p14:creationId xmlns:p14="http://schemas.microsoft.com/office/powerpoint/2010/main" val="27527252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descr="Rectangle: Click to edit Master text styles&#10;Second level&#10;Third level&#10;Fourth level&#10;Fifth level"/>
          <p:cNvSpPr>
            <a:spLocks noGrp="1" noChangeArrowheads="1"/>
          </p:cNvSpPr>
          <p:nvPr>
            <p:ph idx="1"/>
          </p:nvPr>
        </p:nvSpPr>
        <p:spPr>
          <a:xfrm>
            <a:off x="35496" y="404664"/>
            <a:ext cx="9001000" cy="4525963"/>
          </a:xfrm>
        </p:spPr>
        <p:txBody>
          <a:bodyPr/>
          <a:lstStyle/>
          <a:p>
            <a:pPr marL="270000" lvl="1" indent="0" eaLnBrk="1" hangingPunct="1">
              <a:lnSpc>
                <a:spcPct val="150000"/>
              </a:lnSpc>
              <a:spcBef>
                <a:spcPct val="0"/>
              </a:spcBef>
              <a:buNone/>
              <a:defRPr/>
            </a:pPr>
            <a:r>
              <a:rPr kumimoji="1" lang="en-US" altLang="zh-CN" sz="2400" b="1" dirty="0">
                <a:latin typeface="Times New Roman" panose="02020603050405020304" pitchFamily="18" charset="0"/>
                <a:ea typeface="华文中宋" panose="02010600040101010101" pitchFamily="2" charset="-122"/>
              </a:rPr>
              <a:t>4.</a:t>
            </a:r>
            <a:r>
              <a:rPr kumimoji="1" lang="zh-CN" altLang="en-US" sz="2400" b="1" dirty="0">
                <a:latin typeface="Times New Roman" panose="02020603050405020304" pitchFamily="18" charset="0"/>
                <a:ea typeface="华文中宋" panose="02010600040101010101" pitchFamily="2" charset="-122"/>
                <a:hlinkClick r:id="rId3" action="ppaction://hlinksldjump"/>
              </a:rPr>
              <a:t>“写”命中工作过程</a:t>
            </a:r>
            <a:endParaRPr kumimoji="1" lang="en-US" altLang="zh-CN" sz="2400" b="1" dirty="0">
              <a:latin typeface="Times New Roman" panose="02020603050405020304" pitchFamily="18" charset="0"/>
              <a:ea typeface="华文中宋" panose="02010600040101010101" pitchFamily="2" charset="-122"/>
            </a:endParaRPr>
          </a:p>
          <a:p>
            <a:pPr marL="931500" lvl="2" indent="-342900" eaLnBrk="1" hangingPunct="1">
              <a:lnSpc>
                <a:spcPct val="150000"/>
              </a:lnSpc>
              <a:spcBef>
                <a:spcPct val="0"/>
              </a:spcBef>
              <a:buFont typeface="Wingdings" panose="05000000000000000000" pitchFamily="2" charset="2"/>
              <a:buChar char="Ø"/>
            </a:pPr>
            <a:r>
              <a:rPr kumimoji="1" lang="zh-CN" altLang="en-US" b="1" dirty="0">
                <a:latin typeface="Times New Roman" panose="02020603050405020304" pitchFamily="18" charset="0"/>
                <a:ea typeface="华文中宋" panose="02010600040101010101" pitchFamily="2" charset="-122"/>
              </a:rPr>
              <a:t>前三步一样，只有在确认标识匹配后才把数据写</a:t>
            </a:r>
            <a:endParaRPr kumimoji="1" lang="en-US" altLang="zh-CN" b="1" dirty="0">
              <a:latin typeface="Times New Roman" panose="02020603050405020304" pitchFamily="18" charset="0"/>
              <a:ea typeface="华文中宋" panose="02010600040101010101" pitchFamily="2" charset="-122"/>
            </a:endParaRPr>
          </a:p>
          <a:p>
            <a:pPr marL="931500" lvl="2" indent="-342900" eaLnBrk="1" hangingPunct="1">
              <a:lnSpc>
                <a:spcPct val="150000"/>
              </a:lnSpc>
              <a:spcBef>
                <a:spcPct val="0"/>
              </a:spcBef>
              <a:buFont typeface="Wingdings" panose="05000000000000000000" pitchFamily="2" charset="2"/>
              <a:buChar char="Ø"/>
            </a:pPr>
            <a:r>
              <a:rPr kumimoji="1" lang="zh-CN" altLang="en-US" sz="2400" b="1" dirty="0">
                <a:latin typeface="Times New Roman" panose="02020603050405020304" pitchFamily="18" charset="0"/>
                <a:ea typeface="华文中宋" panose="02010600040101010101" pitchFamily="2" charset="-122"/>
              </a:rPr>
              <a:t>设置了一个</a:t>
            </a:r>
            <a:r>
              <a:rPr kumimoji="1" lang="zh-CN" altLang="en-US" sz="2400" b="1" dirty="0">
                <a:solidFill>
                  <a:srgbClr val="C00000"/>
                </a:solidFill>
                <a:latin typeface="Times New Roman" panose="02020603050405020304" pitchFamily="18" charset="0"/>
                <a:ea typeface="华文中宋" panose="02010600040101010101" pitchFamily="2" charset="-122"/>
              </a:rPr>
              <a:t>写缓冲器</a:t>
            </a:r>
          </a:p>
          <a:p>
            <a:pPr marL="720000" lvl="2" indent="0" eaLnBrk="1" hangingPunct="1">
              <a:lnSpc>
                <a:spcPct val="150000"/>
              </a:lnSpc>
              <a:spcBef>
                <a:spcPct val="0"/>
              </a:spcBef>
              <a:buNone/>
            </a:pPr>
            <a:r>
              <a:rPr kumimoji="1" lang="zh-CN" altLang="en-US" b="1" dirty="0">
                <a:latin typeface="Times New Roman" panose="02020603050405020304" pitchFamily="18" charset="0"/>
                <a:ea typeface="华文中宋" panose="02010600040101010101" pitchFamily="2" charset="-122"/>
              </a:rPr>
              <a:t>（提高“写”访问的速度）</a:t>
            </a:r>
          </a:p>
          <a:p>
            <a:pPr marL="1194300" lvl="2" indent="-342900" eaLnBrk="1" hangingPunct="1">
              <a:lnSpc>
                <a:spcPct val="150000"/>
              </a:lnSpc>
              <a:spcBef>
                <a:spcPct val="0"/>
              </a:spcBef>
            </a:pPr>
            <a:r>
              <a:rPr kumimoji="1" lang="zh-CN" altLang="en-US" sz="2200" b="1" dirty="0">
                <a:latin typeface="Times New Roman" panose="02020603050405020304" pitchFamily="18" charset="0"/>
                <a:ea typeface="华文中宋" panose="02010600040101010101" pitchFamily="2" charset="-122"/>
              </a:rPr>
              <a:t>按字寻址的，它含有</a:t>
            </a:r>
            <a:r>
              <a:rPr kumimoji="1" lang="en-US" altLang="zh-CN" sz="2200" b="1" dirty="0">
                <a:latin typeface="Times New Roman" panose="02020603050405020304" pitchFamily="18" charset="0"/>
                <a:ea typeface="华文中宋" panose="02010600040101010101" pitchFamily="2" charset="-122"/>
              </a:rPr>
              <a:t>4</a:t>
            </a:r>
            <a:r>
              <a:rPr kumimoji="1" lang="zh-CN" altLang="en-US" sz="2200" b="1" dirty="0">
                <a:latin typeface="Times New Roman" panose="02020603050405020304" pitchFamily="18" charset="0"/>
                <a:ea typeface="华文中宋" panose="02010600040101010101" pitchFamily="2" charset="-122"/>
              </a:rPr>
              <a:t>个块，每块大小为</a:t>
            </a:r>
            <a:r>
              <a:rPr kumimoji="1" lang="en-US" altLang="zh-CN" sz="2200" b="1" dirty="0">
                <a:latin typeface="Times New Roman" panose="02020603050405020304" pitchFamily="18" charset="0"/>
                <a:ea typeface="华文中宋" panose="02010600040101010101" pitchFamily="2" charset="-122"/>
              </a:rPr>
              <a:t>4</a:t>
            </a:r>
            <a:r>
              <a:rPr kumimoji="1" lang="zh-CN" altLang="en-US" sz="2200" b="1" dirty="0">
                <a:latin typeface="Times New Roman" panose="02020603050405020304" pitchFamily="18" charset="0"/>
                <a:ea typeface="华文中宋" panose="02010600040101010101" pitchFamily="2" charset="-122"/>
              </a:rPr>
              <a:t>个字。</a:t>
            </a:r>
          </a:p>
          <a:p>
            <a:pPr marL="1194300" lvl="2" indent="-342900" eaLnBrk="1" hangingPunct="1">
              <a:lnSpc>
                <a:spcPct val="150000"/>
              </a:lnSpc>
              <a:spcBef>
                <a:spcPct val="0"/>
              </a:spcBef>
            </a:pPr>
            <a:r>
              <a:rPr kumimoji="1" lang="zh-CN" altLang="en-US" sz="2200" b="1" dirty="0">
                <a:latin typeface="Times New Roman" panose="02020603050405020304" pitchFamily="18" charset="0"/>
                <a:ea typeface="华文中宋" panose="02010600040101010101" pitchFamily="2" charset="-122"/>
              </a:rPr>
              <a:t>当要进行写入操作时，如果写缓冲器不满，那么就把数据和完整的地址写入缓冲器。</a:t>
            </a:r>
            <a:r>
              <a:rPr kumimoji="1" lang="zh-CN" altLang="en-US" sz="2200" b="1" dirty="0">
                <a:solidFill>
                  <a:srgbClr val="C00000"/>
                </a:solidFill>
                <a:latin typeface="Times New Roman" panose="02020603050405020304" pitchFamily="18" charset="0"/>
                <a:ea typeface="华文中宋" panose="02010600040101010101" pitchFamily="2" charset="-122"/>
              </a:rPr>
              <a:t>对</a:t>
            </a:r>
            <a:r>
              <a:rPr kumimoji="1" lang="en-US" altLang="zh-CN" sz="2200" b="1" dirty="0">
                <a:solidFill>
                  <a:srgbClr val="C00000"/>
                </a:solidFill>
                <a:latin typeface="Times New Roman" panose="02020603050405020304" pitchFamily="18" charset="0"/>
                <a:ea typeface="华文中宋" panose="02010600040101010101" pitchFamily="2" charset="-122"/>
              </a:rPr>
              <a:t>CPU</a:t>
            </a:r>
            <a:r>
              <a:rPr kumimoji="1" lang="zh-CN" altLang="en-US" sz="2200" b="1" dirty="0">
                <a:solidFill>
                  <a:srgbClr val="C00000"/>
                </a:solidFill>
                <a:latin typeface="Times New Roman" panose="02020603050405020304" pitchFamily="18" charset="0"/>
                <a:ea typeface="华文中宋" panose="02010600040101010101" pitchFamily="2" charset="-122"/>
              </a:rPr>
              <a:t>而言，本次“写”访问已完成</a:t>
            </a:r>
            <a:r>
              <a:rPr kumimoji="1" lang="zh-CN" altLang="en-US" sz="2200" b="1" dirty="0">
                <a:latin typeface="Times New Roman" panose="02020603050405020304" pitchFamily="18" charset="0"/>
                <a:ea typeface="华文中宋" panose="02010600040101010101" pitchFamily="2" charset="-122"/>
              </a:rPr>
              <a:t>，</a:t>
            </a:r>
            <a:r>
              <a:rPr kumimoji="1" lang="en-US" altLang="zh-CN" sz="2200" b="1" dirty="0">
                <a:latin typeface="Times New Roman" panose="02020603050405020304" pitchFamily="18" charset="0"/>
                <a:ea typeface="华文中宋" panose="02010600040101010101" pitchFamily="2" charset="-122"/>
              </a:rPr>
              <a:t>CPU</a:t>
            </a:r>
            <a:r>
              <a:rPr kumimoji="1" lang="zh-CN" altLang="en-US" sz="2200" b="1" dirty="0">
                <a:latin typeface="Times New Roman" panose="02020603050405020304" pitchFamily="18" charset="0"/>
                <a:ea typeface="华文中宋" panose="02010600040101010101" pitchFamily="2" charset="-122"/>
              </a:rPr>
              <a:t>可以继续往下执行。</a:t>
            </a:r>
            <a:r>
              <a:rPr kumimoji="1" lang="zh-CN" altLang="en-US" sz="2200" b="1" dirty="0">
                <a:solidFill>
                  <a:srgbClr val="C00000"/>
                </a:solidFill>
                <a:latin typeface="Times New Roman" panose="02020603050405020304" pitchFamily="18" charset="0"/>
                <a:ea typeface="华文中宋" panose="02010600040101010101" pitchFamily="2" charset="-122"/>
              </a:rPr>
              <a:t>由写缓冲器负责把该数据写入主存</a:t>
            </a:r>
            <a:r>
              <a:rPr kumimoji="1" lang="zh-CN" altLang="en-US" sz="2200" b="1" dirty="0">
                <a:latin typeface="Times New Roman" panose="02020603050405020304" pitchFamily="18" charset="0"/>
                <a:ea typeface="华文中宋" panose="02010600040101010101" pitchFamily="2" charset="-122"/>
              </a:rPr>
              <a:t>。</a:t>
            </a:r>
          </a:p>
          <a:p>
            <a:pPr marL="1194300" lvl="2" indent="-342900" eaLnBrk="1" hangingPunct="1">
              <a:lnSpc>
                <a:spcPct val="150000"/>
              </a:lnSpc>
              <a:spcBef>
                <a:spcPct val="0"/>
              </a:spcBef>
            </a:pPr>
            <a:r>
              <a:rPr kumimoji="1" lang="zh-CN" altLang="en-US" sz="2200" b="1" dirty="0">
                <a:solidFill>
                  <a:srgbClr val="C00000"/>
                </a:solidFill>
                <a:latin typeface="Times New Roman" panose="02020603050405020304" pitchFamily="18" charset="0"/>
                <a:ea typeface="华文中宋" panose="02010600040101010101" pitchFamily="2" charset="-122"/>
              </a:rPr>
              <a:t>在写入缓冲器时，要进行写合并检查</a:t>
            </a:r>
            <a:r>
              <a:rPr kumimoji="1" lang="zh-CN" altLang="en-US" sz="2200" b="1" dirty="0">
                <a:latin typeface="Times New Roman" panose="02020603050405020304" pitchFamily="18" charset="0"/>
                <a:ea typeface="华文中宋" panose="02010600040101010101" pitchFamily="2" charset="-122"/>
              </a:rPr>
              <a:t>。即检查本次写入数据的地址是否与缓冲器内某个有效块的地址匹配。如果匹配，就把新数据与该块合并 。</a:t>
            </a:r>
          </a:p>
        </p:txBody>
      </p:sp>
      <p:sp>
        <p:nvSpPr>
          <p:cNvPr id="2" name="日期占位符 1">
            <a:extLst>
              <a:ext uri="{FF2B5EF4-FFF2-40B4-BE49-F238E27FC236}">
                <a16:creationId xmlns:a16="http://schemas.microsoft.com/office/drawing/2014/main" id="{428D6800-BEAD-87AC-8EF4-C68971624055}"/>
              </a:ext>
            </a:extLst>
          </p:cNvPr>
          <p:cNvSpPr>
            <a:spLocks noGrp="1"/>
          </p:cNvSpPr>
          <p:nvPr>
            <p:ph type="dt" sz="half" idx="10"/>
          </p:nvPr>
        </p:nvSpPr>
        <p:spPr/>
        <p:txBody>
          <a:bodyPr/>
          <a:lstStyle/>
          <a:p>
            <a:pPr>
              <a:defRPr/>
            </a:pPr>
            <a:fld id="{73C6B988-2BEB-4941-B69F-D83E56F4B3F9}"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014ED6D4-D425-7109-89F4-C79132AA8E07}"/>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F4AE696C-7FC8-A453-9803-5A5215FC547D}"/>
              </a:ext>
            </a:extLst>
          </p:cNvPr>
          <p:cNvSpPr>
            <a:spLocks noGrp="1"/>
          </p:cNvSpPr>
          <p:nvPr>
            <p:ph type="sldNum" sz="quarter" idx="12"/>
          </p:nvPr>
        </p:nvSpPr>
        <p:spPr/>
        <p:txBody>
          <a:bodyPr/>
          <a:lstStyle/>
          <a:p>
            <a:pPr>
              <a:defRPr/>
            </a:pPr>
            <a:fld id="{8BCAC33D-D29A-48B3-BCD6-381D3D720D26}" type="slidenum">
              <a:rPr lang="zh-CN" altLang="en-US" smtClean="0"/>
              <a:t>34</a:t>
            </a:fld>
            <a:endParaRPr lang="en-US" altLang="zh-CN"/>
          </a:p>
        </p:txBody>
      </p:sp>
    </p:spTree>
    <p:extLst>
      <p:ext uri="{BB962C8B-B14F-4D97-AF65-F5344CB8AC3E}">
        <p14:creationId xmlns:p14="http://schemas.microsoft.com/office/powerpoint/2010/main" val="4189785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3" descr="Rectangle: Click to edit Master text styles&#10;Second level&#10;Third level&#10;Fourth level&#10;Fifth level"/>
          <p:cNvSpPr>
            <a:spLocks noGrp="1" noChangeArrowheads="1"/>
          </p:cNvSpPr>
          <p:nvPr>
            <p:ph type="body" idx="1"/>
          </p:nvPr>
        </p:nvSpPr>
        <p:spPr>
          <a:xfrm>
            <a:off x="179512" y="404664"/>
            <a:ext cx="8136904" cy="5162550"/>
          </a:xfrm>
        </p:spPr>
        <p:txBody>
          <a:bodyPr/>
          <a:lstStyle/>
          <a:p>
            <a:pPr marL="270000" lvl="1" indent="0" eaLnBrk="1" hangingPunct="1">
              <a:lnSpc>
                <a:spcPct val="150000"/>
              </a:lnSpc>
              <a:spcBef>
                <a:spcPct val="0"/>
              </a:spcBef>
              <a:buNone/>
              <a:defRPr/>
            </a:pPr>
            <a:r>
              <a:rPr kumimoji="1" lang="en-US" altLang="zh-CN" sz="2400" b="1" dirty="0">
                <a:latin typeface="Times New Roman" panose="02020603050405020304" pitchFamily="18" charset="0"/>
                <a:ea typeface="华文中宋" panose="02010600040101010101" pitchFamily="2" charset="-122"/>
              </a:rPr>
              <a:t>5. </a:t>
            </a:r>
            <a:r>
              <a:rPr kumimoji="1" lang="zh-CN" altLang="en-US" sz="2400" b="1" dirty="0">
                <a:latin typeface="Times New Roman" panose="02020603050405020304" pitchFamily="18" charset="0"/>
                <a:ea typeface="华文中宋" panose="02010600040101010101" pitchFamily="2" charset="-122"/>
              </a:rPr>
              <a:t>发生“读”失效与“写”失效时的操作</a:t>
            </a:r>
          </a:p>
          <a:p>
            <a:pPr marL="899100" lvl="2" indent="-342900" eaLnBrk="1" hangingPunct="1">
              <a:lnSpc>
                <a:spcPct val="150000"/>
              </a:lnSpc>
              <a:buFont typeface="Wingdings" panose="05000000000000000000" pitchFamily="2" charset="2"/>
              <a:buChar char="Ø"/>
            </a:pPr>
            <a:r>
              <a:rPr kumimoji="1" lang="zh-CN" altLang="en-US" b="1" dirty="0">
                <a:latin typeface="Times New Roman" panose="02020603050405020304" pitchFamily="18" charset="0"/>
                <a:ea typeface="华文中宋" panose="02010600040101010101" pitchFamily="2" charset="-122"/>
              </a:rPr>
              <a:t>读失效：向</a:t>
            </a:r>
            <a:r>
              <a:rPr kumimoji="1" lang="en-US" altLang="zh-CN" b="1" dirty="0">
                <a:latin typeface="Times New Roman" panose="02020603050405020304" pitchFamily="18" charset="0"/>
                <a:ea typeface="华文中宋" panose="02010600040101010101" pitchFamily="2" charset="-122"/>
              </a:rPr>
              <a:t>CPU</a:t>
            </a:r>
            <a:r>
              <a:rPr kumimoji="1" lang="zh-CN" altLang="en-US" b="1" dirty="0">
                <a:latin typeface="Times New Roman" panose="02020603050405020304" pitchFamily="18" charset="0"/>
                <a:ea typeface="华文中宋" panose="02010600040101010101" pitchFamily="2" charset="-122"/>
              </a:rPr>
              <a:t>发出一个暂停信号，通知它等待，并从下一级存储器中新调入一个数据块（</a:t>
            </a:r>
            <a:r>
              <a:rPr kumimoji="1" lang="en-US" altLang="zh-CN" b="1" dirty="0">
                <a:latin typeface="Times New Roman" panose="02020603050405020304" pitchFamily="18" charset="0"/>
                <a:ea typeface="华文中宋" panose="02010600040101010101" pitchFamily="2" charset="-122"/>
              </a:rPr>
              <a:t>32</a:t>
            </a:r>
            <a:r>
              <a:rPr kumimoji="1" lang="zh-CN" altLang="en-US" b="1" dirty="0">
                <a:latin typeface="Times New Roman" panose="02020603050405020304" pitchFamily="18" charset="0"/>
                <a:ea typeface="华文中宋" panose="02010600040101010101" pitchFamily="2" charset="-122"/>
              </a:rPr>
              <a:t>字节）</a:t>
            </a:r>
            <a:endParaRPr kumimoji="1" lang="en-US" altLang="zh-CN" b="1" dirty="0">
              <a:latin typeface="Times New Roman" panose="02020603050405020304" pitchFamily="18" charset="0"/>
              <a:ea typeface="华文中宋" panose="02010600040101010101" pitchFamily="2" charset="-122"/>
            </a:endParaRPr>
          </a:p>
          <a:p>
            <a:pPr lvl="3" eaLnBrk="1" hangingPunct="1">
              <a:lnSpc>
                <a:spcPct val="150000"/>
              </a:lnSpc>
            </a:pPr>
            <a:r>
              <a:rPr kumimoji="1" lang="en-US" altLang="zh-CN" sz="2400" b="1" dirty="0">
                <a:latin typeface="Times New Roman" panose="02020603050405020304" pitchFamily="18" charset="0"/>
                <a:ea typeface="华文中宋" panose="02010600040101010101" pitchFamily="2" charset="-122"/>
              </a:rPr>
              <a:t>Cache</a:t>
            </a:r>
            <a:r>
              <a:rPr kumimoji="1" lang="zh-CN" altLang="en-US" sz="2400" b="1" dirty="0">
                <a:latin typeface="Times New Roman" panose="02020603050405020304" pitchFamily="18" charset="0"/>
                <a:ea typeface="华文中宋" panose="02010600040101010101" pitchFamily="2" charset="-122"/>
              </a:rPr>
              <a:t>与下一级存储的数据通路宽度为</a:t>
            </a:r>
            <a:r>
              <a:rPr kumimoji="1" lang="en-US" altLang="zh-CN" sz="2400" b="1" dirty="0">
                <a:latin typeface="Times New Roman" panose="02020603050405020304" pitchFamily="18" charset="0"/>
                <a:ea typeface="华文中宋" panose="02010600040101010101" pitchFamily="2" charset="-122"/>
              </a:rPr>
              <a:t>16B</a:t>
            </a:r>
            <a:r>
              <a:rPr kumimoji="1" lang="zh-CN" altLang="en-US" sz="2400" b="1" dirty="0">
                <a:latin typeface="Times New Roman" panose="02020603050405020304" pitchFamily="18" charset="0"/>
                <a:ea typeface="华文中宋" panose="02010600040101010101" pitchFamily="2" charset="-122"/>
              </a:rPr>
              <a:t>，传送一次需</a:t>
            </a:r>
            <a:r>
              <a:rPr kumimoji="1" lang="en-US" altLang="zh-CN" sz="2400" b="1" dirty="0">
                <a:latin typeface="Times New Roman" panose="02020603050405020304" pitchFamily="18" charset="0"/>
                <a:ea typeface="华文中宋" panose="02010600040101010101" pitchFamily="2" charset="-122"/>
              </a:rPr>
              <a:t>5</a:t>
            </a:r>
            <a:r>
              <a:rPr kumimoji="1" lang="zh-CN" altLang="en-US" sz="2400" b="1" dirty="0">
                <a:latin typeface="Times New Roman" panose="02020603050405020304" pitchFamily="18" charset="0"/>
                <a:ea typeface="华文中宋" panose="02010600040101010101" pitchFamily="2" charset="-122"/>
              </a:rPr>
              <a:t>个周期，因此，一次传送需要</a:t>
            </a:r>
            <a:r>
              <a:rPr kumimoji="1" lang="en-US" altLang="zh-CN" sz="2400" b="1" dirty="0">
                <a:latin typeface="Times New Roman" panose="02020603050405020304" pitchFamily="18" charset="0"/>
                <a:ea typeface="华文中宋" panose="02010600040101010101" pitchFamily="2" charset="-122"/>
              </a:rPr>
              <a:t>10</a:t>
            </a:r>
            <a:r>
              <a:rPr kumimoji="1" lang="zh-CN" altLang="en-US" sz="2400" b="1" dirty="0">
                <a:latin typeface="Times New Roman" panose="02020603050405020304" pitchFamily="18" charset="0"/>
                <a:ea typeface="华文中宋" panose="02010600040101010101" pitchFamily="2" charset="-122"/>
              </a:rPr>
              <a:t>个周期</a:t>
            </a:r>
          </a:p>
          <a:p>
            <a:pPr marL="899100" lvl="2" indent="-342900" eaLnBrk="1" hangingPunct="1">
              <a:lnSpc>
                <a:spcPct val="150000"/>
              </a:lnSpc>
              <a:buFont typeface="Wingdings" panose="05000000000000000000" pitchFamily="2" charset="2"/>
              <a:buChar char="Ø"/>
            </a:pPr>
            <a:r>
              <a:rPr kumimoji="1" lang="zh-CN" altLang="en-US" b="1" dirty="0">
                <a:latin typeface="Times New Roman" panose="02020603050405020304" pitchFamily="18" charset="0"/>
                <a:ea typeface="华文中宋" panose="02010600040101010101" pitchFamily="2" charset="-122"/>
              </a:rPr>
              <a:t>写失效：将使数据“绕过”</a:t>
            </a:r>
            <a:r>
              <a:rPr kumimoji="1" lang="en-US" altLang="zh-CN" b="1" dirty="0">
                <a:latin typeface="Times New Roman" panose="02020603050405020304" pitchFamily="18" charset="0"/>
                <a:ea typeface="华文中宋" panose="02010600040101010101" pitchFamily="2" charset="-122"/>
              </a:rPr>
              <a:t>Cache</a:t>
            </a:r>
            <a:r>
              <a:rPr kumimoji="1" lang="zh-CN" altLang="en-US" b="1" dirty="0">
                <a:latin typeface="Times New Roman" panose="02020603050405020304" pitchFamily="18" charset="0"/>
                <a:ea typeface="华文中宋" panose="02010600040101010101" pitchFamily="2" charset="-122"/>
              </a:rPr>
              <a:t>，直接写入主存。</a:t>
            </a:r>
            <a:endParaRPr kumimoji="1" lang="en-US" altLang="zh-CN" b="1" dirty="0">
              <a:latin typeface="Times New Roman" panose="02020603050405020304" pitchFamily="18" charset="0"/>
              <a:ea typeface="华文中宋" panose="02010600040101010101" pitchFamily="2" charset="-122"/>
            </a:endParaRPr>
          </a:p>
          <a:p>
            <a:pPr lvl="3" eaLnBrk="1" hangingPunct="1">
              <a:lnSpc>
                <a:spcPct val="150000"/>
              </a:lnSpc>
            </a:pPr>
            <a:r>
              <a:rPr kumimoji="1" lang="zh-CN" altLang="en-US" sz="2400" b="1" dirty="0">
                <a:latin typeface="Times New Roman" panose="02020603050405020304" pitchFamily="18" charset="0"/>
                <a:ea typeface="华文中宋" panose="02010600040101010101" pitchFamily="2" charset="-122"/>
              </a:rPr>
              <a:t>写直达 </a:t>
            </a:r>
            <a:r>
              <a:rPr kumimoji="1" lang="en-US" altLang="zh-CN" sz="2400" b="1" dirty="0">
                <a:latin typeface="Times New Roman" panose="02020603050405020304" pitchFamily="18" charset="0"/>
                <a:ea typeface="华文中宋" panose="02010600040101010101" pitchFamily="2" charset="-122"/>
              </a:rPr>
              <a:t>–</a:t>
            </a:r>
            <a:r>
              <a:rPr kumimoji="1" lang="zh-CN" altLang="en-US" sz="2400" b="1" dirty="0">
                <a:latin typeface="Times New Roman" panose="02020603050405020304" pitchFamily="18" charset="0"/>
                <a:ea typeface="华文中宋" panose="02010600040101010101" pitchFamily="2" charset="-122"/>
              </a:rPr>
              <a:t>不按写分配</a:t>
            </a:r>
            <a:endParaRPr kumimoji="1" lang="en-US" altLang="zh-CN" sz="2400" b="1" dirty="0">
              <a:latin typeface="Times New Roman" panose="02020603050405020304" pitchFamily="18" charset="0"/>
              <a:ea typeface="华文中宋" panose="02010600040101010101" pitchFamily="2" charset="-122"/>
            </a:endParaRPr>
          </a:p>
          <a:p>
            <a:pPr lvl="3" eaLnBrk="1" hangingPunct="1">
              <a:lnSpc>
                <a:spcPct val="150000"/>
              </a:lnSpc>
            </a:pPr>
            <a:r>
              <a:rPr kumimoji="1" lang="zh-CN" altLang="en-US" sz="2400" b="1" dirty="0">
                <a:latin typeface="Times New Roman" panose="02020603050405020304" pitchFamily="18" charset="0"/>
                <a:ea typeface="华文中宋" panose="02010600040101010101" pitchFamily="2" charset="-122"/>
              </a:rPr>
              <a:t>因为是写直达，所以替换时不需要写回</a:t>
            </a:r>
          </a:p>
          <a:p>
            <a:pPr marL="914400" lvl="2" indent="0" eaLnBrk="1" hangingPunct="1">
              <a:lnSpc>
                <a:spcPct val="150000"/>
              </a:lnSpc>
              <a:buNone/>
            </a:pPr>
            <a:endParaRPr lang="zh-CN" altLang="en-US" dirty="0">
              <a:latin typeface="Times New Roman" panose="02020603050405020304" pitchFamily="18" charset="0"/>
            </a:endParaRPr>
          </a:p>
          <a:p>
            <a:pPr marL="457200" indent="-457200" eaLnBrk="1" hangingPunct="1">
              <a:buFont typeface="Wingdings" panose="05000000000000000000" pitchFamily="2" charset="2"/>
              <a:buNone/>
            </a:pPr>
            <a:endParaRPr lang="zh-CN" altLang="en-US" dirty="0"/>
          </a:p>
        </p:txBody>
      </p:sp>
      <p:sp>
        <p:nvSpPr>
          <p:cNvPr id="2" name="日期占位符 1">
            <a:extLst>
              <a:ext uri="{FF2B5EF4-FFF2-40B4-BE49-F238E27FC236}">
                <a16:creationId xmlns:a16="http://schemas.microsoft.com/office/drawing/2014/main" id="{58D497B3-824D-4949-5B2D-829817ED0E2A}"/>
              </a:ext>
            </a:extLst>
          </p:cNvPr>
          <p:cNvSpPr>
            <a:spLocks noGrp="1"/>
          </p:cNvSpPr>
          <p:nvPr>
            <p:ph type="dt" sz="half" idx="10"/>
          </p:nvPr>
        </p:nvSpPr>
        <p:spPr/>
        <p:txBody>
          <a:bodyPr/>
          <a:lstStyle/>
          <a:p>
            <a:pPr>
              <a:defRPr/>
            </a:pPr>
            <a:fld id="{F9DD2FF8-E73A-43F8-8A6D-5DDFE3DAD2B4}"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7612D7AC-2708-0747-815C-FFF5E1B4ED37}"/>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A731DAD1-3AEF-2CA3-C679-0078AF3B81C6}"/>
              </a:ext>
            </a:extLst>
          </p:cNvPr>
          <p:cNvSpPr>
            <a:spLocks noGrp="1"/>
          </p:cNvSpPr>
          <p:nvPr>
            <p:ph type="sldNum" sz="quarter" idx="12"/>
          </p:nvPr>
        </p:nvSpPr>
        <p:spPr/>
        <p:txBody>
          <a:bodyPr/>
          <a:lstStyle/>
          <a:p>
            <a:pPr>
              <a:defRPr/>
            </a:pPr>
            <a:fld id="{8BCAC33D-D29A-48B3-BCD6-381D3D720D26}" type="slidenum">
              <a:rPr lang="zh-CN" altLang="en-US" smtClean="0"/>
              <a:t>35</a:t>
            </a:fld>
            <a:endParaRPr lang="en-US" altLang="zh-CN"/>
          </a:p>
        </p:txBody>
      </p:sp>
    </p:spTree>
    <p:extLst>
      <p:ext uri="{BB962C8B-B14F-4D97-AF65-F5344CB8AC3E}">
        <p14:creationId xmlns:p14="http://schemas.microsoft.com/office/powerpoint/2010/main" val="15406556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622226" y="898614"/>
            <a:ext cx="6781800" cy="1790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60000"/>
              </a:lnSpc>
              <a:spcBef>
                <a:spcPct val="50000"/>
              </a:spcBef>
            </a:pPr>
            <a:r>
              <a:rPr kumimoji="1" lang="zh-CN" altLang="en-US" sz="2400" dirty="0">
                <a:latin typeface="Times New Roman" panose="02020603050405020304" pitchFamily="18" charset="0"/>
                <a:ea typeface="华文中宋" panose="02010600040101010101" pitchFamily="2" charset="-122"/>
              </a:rPr>
              <a:t>混合</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与分离</a:t>
            </a:r>
            <a:r>
              <a:rPr kumimoji="1" lang="en-US" altLang="zh-CN" sz="2400" dirty="0">
                <a:latin typeface="Times New Roman" panose="02020603050405020304" pitchFamily="18" charset="0"/>
                <a:ea typeface="华文中宋" panose="02010600040101010101" pitchFamily="2" charset="-122"/>
              </a:rPr>
              <a:t>Cache</a:t>
            </a:r>
          </a:p>
          <a:p>
            <a:pPr eaLnBrk="1" hangingPunct="1">
              <a:lnSpc>
                <a:spcPct val="160000"/>
              </a:lnSpc>
            </a:pPr>
            <a:r>
              <a:rPr kumimoji="1" lang="en-US" altLang="zh-CN" sz="2400" dirty="0">
                <a:latin typeface="Times New Roman" panose="02020603050405020304" pitchFamily="18" charset="0"/>
                <a:ea typeface="华文中宋" panose="02010600040101010101" pitchFamily="2" charset="-122"/>
              </a:rPr>
              <a:t>  (1) </a:t>
            </a:r>
            <a:r>
              <a:rPr kumimoji="1" lang="zh-CN" altLang="en-US" sz="2400" dirty="0">
                <a:latin typeface="Times New Roman" panose="02020603050405020304" pitchFamily="18" charset="0"/>
                <a:ea typeface="华文中宋" panose="02010600040101010101" pitchFamily="2" charset="-122"/>
              </a:rPr>
              <a:t>优缺点</a:t>
            </a:r>
          </a:p>
          <a:p>
            <a:pPr eaLnBrk="1" hangingPunct="1">
              <a:lnSpc>
                <a:spcPct val="160000"/>
              </a:lnSpc>
            </a:pPr>
            <a:r>
              <a:rPr kumimoji="1" lang="zh-CN" altLang="en-US" sz="2400" dirty="0">
                <a:latin typeface="Times New Roman" panose="02020603050405020304" pitchFamily="18" charset="0"/>
                <a:ea typeface="华文中宋" panose="02010600040101010101" pitchFamily="2" charset="-122"/>
              </a:rPr>
              <a:t>  </a:t>
            </a:r>
            <a:r>
              <a:rPr kumimoji="1" lang="en-US" altLang="zh-CN" sz="2400" dirty="0">
                <a:latin typeface="Times New Roman" panose="02020603050405020304" pitchFamily="18" charset="0"/>
                <a:ea typeface="华文中宋" panose="02010600040101010101" pitchFamily="2" charset="-122"/>
              </a:rPr>
              <a:t>(2) </a:t>
            </a:r>
            <a:r>
              <a:rPr kumimoji="1" lang="zh-CN" altLang="en-US" sz="2400" dirty="0">
                <a:latin typeface="Times New Roman" panose="02020603050405020304" pitchFamily="18" charset="0"/>
                <a:ea typeface="华文中宋" panose="02010600040101010101" pitchFamily="2" charset="-122"/>
              </a:rPr>
              <a:t>分离</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平均失效率的计算：        </a:t>
            </a:r>
          </a:p>
        </p:txBody>
      </p:sp>
      <p:sp>
        <p:nvSpPr>
          <p:cNvPr id="48131" name="Text Box 5"/>
          <p:cNvSpPr txBox="1">
            <a:spLocks noChangeArrowheads="1"/>
          </p:cNvSpPr>
          <p:nvPr/>
        </p:nvSpPr>
        <p:spPr bwMode="auto">
          <a:xfrm>
            <a:off x="1007096" y="2852936"/>
            <a:ext cx="8136904"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30000"/>
              </a:lnSpc>
            </a:pPr>
            <a:r>
              <a:rPr kumimoji="1" lang="zh-CN" altLang="en-US" sz="2400" dirty="0">
                <a:solidFill>
                  <a:srgbClr val="0033CC"/>
                </a:solidFill>
                <a:latin typeface="Times New Roman" panose="02020603050405020304" pitchFamily="18" charset="0"/>
                <a:ea typeface="华文中宋" panose="02010600040101010101" pitchFamily="2" charset="-122"/>
              </a:rPr>
              <a:t>    访问指令</a:t>
            </a:r>
            <a:r>
              <a:rPr kumimoji="1" lang="en-US" altLang="zh-CN" sz="2400" dirty="0">
                <a:solidFill>
                  <a:srgbClr val="0033CC"/>
                </a:solidFill>
                <a:latin typeface="Times New Roman" panose="02020603050405020304" pitchFamily="18" charset="0"/>
                <a:ea typeface="华文中宋" panose="02010600040101010101" pitchFamily="2" charset="-122"/>
              </a:rPr>
              <a:t>Cache</a:t>
            </a:r>
            <a:r>
              <a:rPr kumimoji="1" lang="zh-CN" altLang="en-US" sz="2400" dirty="0">
                <a:solidFill>
                  <a:srgbClr val="0033CC"/>
                </a:solidFill>
                <a:latin typeface="Times New Roman" panose="02020603050405020304" pitchFamily="18" charset="0"/>
                <a:ea typeface="华文中宋" panose="02010600040101010101" pitchFamily="2" charset="-122"/>
              </a:rPr>
              <a:t>的百分比</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指令</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的失效率</a:t>
            </a:r>
          </a:p>
          <a:p>
            <a:pPr eaLnBrk="1" hangingPunct="1">
              <a:lnSpc>
                <a:spcPct val="130000"/>
              </a:lnSpc>
            </a:pPr>
            <a:r>
              <a:rPr kumimoji="1" lang="zh-CN" altLang="en-US" sz="2400" dirty="0">
                <a:latin typeface="Times New Roman" panose="02020603050405020304" pitchFamily="18" charset="0"/>
                <a:ea typeface="华文中宋" panose="02010600040101010101" pitchFamily="2" charset="-122"/>
              </a:rPr>
              <a:t>＋</a:t>
            </a:r>
            <a:r>
              <a:rPr kumimoji="1" lang="zh-CN" altLang="en-US" sz="2400" dirty="0">
                <a:solidFill>
                  <a:srgbClr val="0033CC"/>
                </a:solidFill>
                <a:latin typeface="Times New Roman" panose="02020603050405020304" pitchFamily="18" charset="0"/>
                <a:ea typeface="华文中宋" panose="02010600040101010101" pitchFamily="2" charset="-122"/>
              </a:rPr>
              <a:t>访问数据</a:t>
            </a:r>
            <a:r>
              <a:rPr kumimoji="1" lang="en-US" altLang="zh-CN" sz="2400" dirty="0">
                <a:solidFill>
                  <a:srgbClr val="0033CC"/>
                </a:solidFill>
                <a:latin typeface="Times New Roman" panose="02020603050405020304" pitchFamily="18" charset="0"/>
                <a:ea typeface="华文中宋" panose="02010600040101010101" pitchFamily="2" charset="-122"/>
              </a:rPr>
              <a:t>Cache</a:t>
            </a:r>
            <a:r>
              <a:rPr kumimoji="1" lang="zh-CN" altLang="en-US" sz="2400" dirty="0">
                <a:solidFill>
                  <a:srgbClr val="0033CC"/>
                </a:solidFill>
                <a:latin typeface="Times New Roman" panose="02020603050405020304" pitchFamily="18" charset="0"/>
                <a:ea typeface="华文中宋" panose="02010600040101010101" pitchFamily="2" charset="-122"/>
              </a:rPr>
              <a:t>的百分比</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数据</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的失效率</a:t>
            </a:r>
          </a:p>
          <a:p>
            <a:pPr eaLnBrk="1" hangingPunct="1"/>
            <a:endParaRPr kumimoji="1" lang="en-US" altLang="zh-CN" sz="2400" b="0" dirty="0">
              <a:latin typeface="Times New Roman" panose="02020603050405020304" pitchFamily="18" charset="0"/>
              <a:ea typeface="华文中宋" panose="02010600040101010101" pitchFamily="2" charset="-122"/>
            </a:endParaRPr>
          </a:p>
        </p:txBody>
      </p:sp>
      <p:sp>
        <p:nvSpPr>
          <p:cNvPr id="4" name="Rectangle 2">
            <a:extLst>
              <a:ext uri="{FF2B5EF4-FFF2-40B4-BE49-F238E27FC236}">
                <a16:creationId xmlns:a16="http://schemas.microsoft.com/office/drawing/2014/main" id="{B39FA82F-84ED-4C30-8D4C-ADB6CCCCB321}"/>
              </a:ext>
            </a:extLst>
          </p:cNvPr>
          <p:cNvSpPr txBox="1">
            <a:spLocks noChangeArrowheads="1"/>
          </p:cNvSpPr>
          <p:nvPr/>
        </p:nvSpPr>
        <p:spPr>
          <a:xfrm>
            <a:off x="369888" y="116632"/>
            <a:ext cx="8229600" cy="864096"/>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0" lang="en-US" altLang="zh-CN" sz="4000" b="1" dirty="0">
                <a:latin typeface="Times New Roman" panose="02020603050405020304" pitchFamily="18" charset="0"/>
                <a:cs typeface="Times New Roman" panose="02020603050405020304" pitchFamily="18" charset="0"/>
              </a:rPr>
              <a:t>5.2</a:t>
            </a:r>
            <a:r>
              <a:rPr kumimoji="0" lang="en-US" altLang="zh-CN" sz="4000" dirty="0">
                <a:latin typeface="Times New Roman" panose="02020603050405020304" pitchFamily="18" charset="0"/>
                <a:cs typeface="Times New Roman" panose="02020603050405020304" pitchFamily="18" charset="0"/>
              </a:rPr>
              <a:t>.5 Cache</a:t>
            </a:r>
            <a:r>
              <a:rPr kumimoji="0" lang="zh-CN" altLang="en-US" sz="4000" dirty="0">
                <a:latin typeface="Times New Roman" panose="02020603050405020304" pitchFamily="18" charset="0"/>
                <a:cs typeface="Times New Roman" panose="02020603050405020304" pitchFamily="18" charset="0"/>
              </a:rPr>
              <a:t>结构</a:t>
            </a:r>
            <a:endParaRPr kumimoji="0" lang="zh-CN" altLang="en-US" sz="4000" b="1" dirty="0">
              <a:latin typeface="Times New Roman" panose="02020603050405020304" pitchFamily="18" charset="0"/>
              <a:cs typeface="Times New Roman" panose="02020603050405020304" pitchFamily="18" charset="0"/>
            </a:endParaRPr>
          </a:p>
        </p:txBody>
      </p:sp>
      <p:pic>
        <p:nvPicPr>
          <p:cNvPr id="5" name="Picture 2" descr="FIG8">
            <a:extLst>
              <a:ext uri="{FF2B5EF4-FFF2-40B4-BE49-F238E27FC236}">
                <a16:creationId xmlns:a16="http://schemas.microsoft.com/office/drawing/2014/main" id="{F3C1F126-F7C0-4272-9A0A-4758F61735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2226" y="4005064"/>
            <a:ext cx="7776864" cy="260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279A1249-E2B3-20F2-97ED-E221665180B8}"/>
              </a:ext>
            </a:extLst>
          </p:cNvPr>
          <p:cNvSpPr>
            <a:spLocks noGrp="1"/>
          </p:cNvSpPr>
          <p:nvPr>
            <p:ph type="dt" sz="half" idx="10"/>
          </p:nvPr>
        </p:nvSpPr>
        <p:spPr/>
        <p:txBody>
          <a:bodyPr/>
          <a:lstStyle/>
          <a:p>
            <a:pPr>
              <a:defRPr/>
            </a:pPr>
            <a:fld id="{BD8F8032-302C-460A-B48D-7ADCEA022EF8}"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24E36C1E-22B1-80CC-63DD-54D381437F44}"/>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6" name="灯片编号占位符 5">
            <a:extLst>
              <a:ext uri="{FF2B5EF4-FFF2-40B4-BE49-F238E27FC236}">
                <a16:creationId xmlns:a16="http://schemas.microsoft.com/office/drawing/2014/main" id="{AF6F8D03-D6E7-9415-4358-3837C51997EA}"/>
              </a:ext>
            </a:extLst>
          </p:cNvPr>
          <p:cNvSpPr>
            <a:spLocks noGrp="1"/>
          </p:cNvSpPr>
          <p:nvPr>
            <p:ph type="sldNum" sz="quarter" idx="12"/>
          </p:nvPr>
        </p:nvSpPr>
        <p:spPr/>
        <p:txBody>
          <a:bodyPr/>
          <a:lstStyle/>
          <a:p>
            <a:pPr>
              <a:defRPr/>
            </a:pPr>
            <a:fld id="{65B7EA61-351E-4105-9AD9-76D38C6E9934}" type="slidenum">
              <a:rPr lang="zh-CN" altLang="en-US" smtClean="0"/>
              <a:t>36</a:t>
            </a:fld>
            <a:endParaRPr lang="en-US" altLang="zh-CN"/>
          </a:p>
        </p:txBody>
      </p:sp>
    </p:spTree>
    <p:extLst>
      <p:ext uri="{BB962C8B-B14F-4D97-AF65-F5344CB8AC3E}">
        <p14:creationId xmlns:p14="http://schemas.microsoft.com/office/powerpoint/2010/main" val="40532619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descr="Rectangle: Click to edit Master text styles&#10;Second level&#10;Third level&#10;Fourth level&#10;Fifth level"/>
          <p:cNvSpPr>
            <a:spLocks noGrp="1" noChangeArrowheads="1"/>
          </p:cNvSpPr>
          <p:nvPr>
            <p:ph type="body" idx="1"/>
          </p:nvPr>
        </p:nvSpPr>
        <p:spPr>
          <a:xfrm>
            <a:off x="395536" y="1052736"/>
            <a:ext cx="7772400" cy="5472608"/>
          </a:xfrm>
        </p:spPr>
        <p:txBody>
          <a:bodyPr/>
          <a:lstStyle/>
          <a:p>
            <a:pPr marL="0" indent="0" eaLnBrk="1" hangingPunct="1">
              <a:spcBef>
                <a:spcPct val="50000"/>
              </a:spcBef>
              <a:buNone/>
            </a:pPr>
            <a:r>
              <a:rPr kumimoji="1" lang="en-US" altLang="zh-CN" sz="2400" b="1" dirty="0">
                <a:latin typeface="Times New Roman" panose="02020603050405020304" pitchFamily="18" charset="0"/>
                <a:ea typeface="华文中宋" panose="02010600040101010101" pitchFamily="2" charset="-122"/>
              </a:rPr>
              <a:t>1. </a:t>
            </a:r>
            <a:r>
              <a:rPr kumimoji="1" lang="zh-CN" altLang="en-US" sz="2400" b="1" dirty="0">
                <a:latin typeface="Times New Roman" panose="02020603050405020304" pitchFamily="18" charset="0"/>
                <a:ea typeface="华文中宋" panose="02010600040101010101" pitchFamily="2" charset="-122"/>
              </a:rPr>
              <a:t>失效率（不命中率）</a:t>
            </a:r>
          </a:p>
          <a:p>
            <a:pPr marL="1085850" lvl="1" indent="-457200" eaLnBrk="1" hangingPunct="1">
              <a:spcBef>
                <a:spcPct val="50000"/>
              </a:spcBef>
              <a:buFont typeface="Wingdings" panose="05000000000000000000" pitchFamily="2" charset="2"/>
              <a:buChar char="ü"/>
            </a:pPr>
            <a:r>
              <a:rPr kumimoji="1" lang="zh-CN" altLang="en-US" sz="2200" b="1" dirty="0">
                <a:latin typeface="Times New Roman" panose="02020603050405020304" pitchFamily="18" charset="0"/>
                <a:ea typeface="华文中宋" panose="02010600040101010101" pitchFamily="2" charset="-122"/>
              </a:rPr>
              <a:t>与硬件速度无关</a:t>
            </a:r>
          </a:p>
          <a:p>
            <a:pPr marL="1085850" lvl="1" indent="-457200" eaLnBrk="1" hangingPunct="1">
              <a:spcBef>
                <a:spcPct val="50000"/>
              </a:spcBef>
              <a:buFont typeface="Wingdings" panose="05000000000000000000" pitchFamily="2" charset="2"/>
              <a:buChar char="ü"/>
            </a:pPr>
            <a:r>
              <a:rPr kumimoji="1" lang="zh-CN" altLang="en-US" sz="2200" b="1" dirty="0">
                <a:latin typeface="Times New Roman" panose="02020603050405020304" pitchFamily="18" charset="0"/>
                <a:ea typeface="华文中宋" panose="02010600040101010101" pitchFamily="2" charset="-122"/>
              </a:rPr>
              <a:t>容易产生一些误导</a:t>
            </a:r>
            <a:endParaRPr kumimoji="1" lang="en-US" altLang="zh-CN" sz="2200" b="1" dirty="0">
              <a:latin typeface="Times New Roman" panose="02020603050405020304" pitchFamily="18" charset="0"/>
              <a:ea typeface="华文中宋" panose="02010600040101010101" pitchFamily="2" charset="-122"/>
            </a:endParaRPr>
          </a:p>
          <a:p>
            <a:pPr marL="1085850" lvl="1" indent="-457200" eaLnBrk="1" hangingPunct="1">
              <a:spcBef>
                <a:spcPct val="50000"/>
              </a:spcBef>
              <a:buFont typeface="Wingdings" panose="05000000000000000000" pitchFamily="2" charset="2"/>
              <a:buChar char="ü"/>
            </a:pPr>
            <a:r>
              <a:rPr kumimoji="1" lang="zh-CN" altLang="en-US" sz="2200" b="1" dirty="0">
                <a:latin typeface="Times New Roman" panose="02020603050405020304" pitchFamily="18" charset="0"/>
                <a:ea typeface="华文中宋" panose="02010600040101010101" pitchFamily="2" charset="-122"/>
              </a:rPr>
              <a:t>平均访存时间比失效率更好</a:t>
            </a:r>
          </a:p>
          <a:p>
            <a:pPr marL="0" indent="0" eaLnBrk="1" hangingPunct="1">
              <a:spcBef>
                <a:spcPct val="50000"/>
              </a:spcBef>
              <a:spcAft>
                <a:spcPts val="600"/>
              </a:spcAft>
              <a:buNone/>
            </a:pPr>
            <a:r>
              <a:rPr kumimoji="1" lang="en-US" altLang="zh-CN" sz="2400" b="1" dirty="0">
                <a:latin typeface="Times New Roman" panose="02020603050405020304" pitchFamily="18" charset="0"/>
                <a:ea typeface="华文中宋" panose="02010600040101010101" pitchFamily="2" charset="-122"/>
              </a:rPr>
              <a:t>2. </a:t>
            </a:r>
            <a:r>
              <a:rPr kumimoji="1" lang="zh-CN" altLang="en-US" sz="2400" b="1" dirty="0">
                <a:latin typeface="Times New Roman" panose="02020603050405020304" pitchFamily="18" charset="0"/>
                <a:ea typeface="华文中宋" panose="02010600040101010101" pitchFamily="2" charset="-122"/>
              </a:rPr>
              <a:t>平均访存时间</a:t>
            </a:r>
          </a:p>
          <a:p>
            <a:pPr marL="457200" indent="-457200" eaLnBrk="1" hangingPunct="1">
              <a:spcBef>
                <a:spcPts val="60"/>
              </a:spcBef>
              <a:buFont typeface="Wingdings" panose="05000000000000000000" pitchFamily="2" charset="2"/>
              <a:buNone/>
            </a:pPr>
            <a:r>
              <a:rPr kumimoji="1" lang="zh-CN" altLang="en-US" sz="2800" b="1" dirty="0">
                <a:latin typeface="Times New Roman" panose="02020603050405020304" pitchFamily="18" charset="0"/>
                <a:ea typeface="华文中宋" panose="02010600040101010101" pitchFamily="2" charset="-122"/>
              </a:rPr>
              <a:t>　</a:t>
            </a:r>
            <a:r>
              <a:rPr kumimoji="1" lang="zh-CN" altLang="en-US" sz="2200" b="1" dirty="0">
                <a:latin typeface="Times New Roman" panose="02020603050405020304" pitchFamily="18" charset="0"/>
                <a:ea typeface="华文中宋" panose="02010600040101010101" pitchFamily="2" charset="-122"/>
              </a:rPr>
              <a:t>平均访存时间 ＝ 命中时间＋不命中率</a:t>
            </a:r>
            <a:r>
              <a:rPr kumimoji="1" lang="en-US" altLang="zh-CN" sz="2200" b="1" dirty="0">
                <a:latin typeface="Times New Roman" panose="02020603050405020304" pitchFamily="18" charset="0"/>
                <a:ea typeface="华文中宋" panose="02010600040101010101" pitchFamily="2" charset="-122"/>
              </a:rPr>
              <a:t>×</a:t>
            </a:r>
            <a:r>
              <a:rPr kumimoji="1" lang="zh-CN" altLang="en-US" sz="2200" b="1" dirty="0">
                <a:latin typeface="Times New Roman" panose="02020603050405020304" pitchFamily="18" charset="0"/>
                <a:ea typeface="华文中宋" panose="02010600040101010101" pitchFamily="2" charset="-122"/>
              </a:rPr>
              <a:t>不命中开销</a:t>
            </a:r>
            <a:endParaRPr kumimoji="1" lang="en-US" altLang="zh-CN" sz="2200" b="1" dirty="0">
              <a:latin typeface="Times New Roman" panose="02020603050405020304" pitchFamily="18" charset="0"/>
              <a:ea typeface="华文中宋" panose="02010600040101010101" pitchFamily="2" charset="-122"/>
            </a:endParaRPr>
          </a:p>
          <a:p>
            <a:pPr marL="1085850" lvl="1" indent="-457200" eaLnBrk="1" hangingPunct="1">
              <a:spcBef>
                <a:spcPct val="50000"/>
              </a:spcBef>
              <a:buFont typeface="Wingdings" panose="05000000000000000000" pitchFamily="2" charset="2"/>
              <a:buChar char="ü"/>
            </a:pPr>
            <a:r>
              <a:rPr kumimoji="1" lang="zh-CN" altLang="en-US" sz="2200" b="1" dirty="0">
                <a:latin typeface="Times New Roman" panose="02020603050405020304" pitchFamily="18" charset="0"/>
                <a:ea typeface="华文中宋" panose="02010600040101010101" pitchFamily="2" charset="-122"/>
              </a:rPr>
              <a:t>可以采用绝对时间</a:t>
            </a:r>
            <a:r>
              <a:rPr kumimoji="1" lang="en-US" altLang="zh-CN" sz="2200" b="1" dirty="0">
                <a:latin typeface="Times New Roman" panose="02020603050405020304" pitchFamily="18" charset="0"/>
                <a:ea typeface="华文中宋" panose="02010600040101010101" pitchFamily="2" charset="-122"/>
              </a:rPr>
              <a:t>——</a:t>
            </a:r>
            <a:r>
              <a:rPr kumimoji="1" lang="zh-CN" altLang="en-US" sz="2200" b="1" dirty="0">
                <a:latin typeface="Times New Roman" panose="02020603050405020304" pitchFamily="18" charset="0"/>
                <a:ea typeface="华文中宋" panose="02010600040101010101" pitchFamily="2" charset="-122"/>
              </a:rPr>
              <a:t>如一次命中需</a:t>
            </a:r>
            <a:r>
              <a:rPr kumimoji="1" lang="en-US" altLang="zh-CN" sz="2200" b="1" dirty="0">
                <a:latin typeface="Times New Roman" panose="02020603050405020304" pitchFamily="18" charset="0"/>
                <a:ea typeface="华文中宋" panose="02010600040101010101" pitchFamily="2" charset="-122"/>
              </a:rPr>
              <a:t>0.25-1.0</a:t>
            </a:r>
            <a:r>
              <a:rPr kumimoji="1" lang="zh-CN" altLang="en-US" sz="2200" b="1" dirty="0">
                <a:latin typeface="Times New Roman" panose="02020603050405020304" pitchFamily="18" charset="0"/>
                <a:ea typeface="华文中宋" panose="02010600040101010101" pitchFamily="2" charset="-122"/>
              </a:rPr>
              <a:t>纳秒</a:t>
            </a:r>
            <a:endParaRPr kumimoji="1" lang="en-US" altLang="zh-CN" sz="2200" b="1" dirty="0">
              <a:latin typeface="Times New Roman" panose="02020603050405020304" pitchFamily="18" charset="0"/>
              <a:ea typeface="华文中宋" panose="02010600040101010101" pitchFamily="2" charset="-122"/>
            </a:endParaRPr>
          </a:p>
          <a:p>
            <a:pPr marL="1085850" lvl="1" indent="-457200" eaLnBrk="1" hangingPunct="1">
              <a:spcBef>
                <a:spcPct val="50000"/>
              </a:spcBef>
              <a:buFont typeface="Wingdings" panose="05000000000000000000" pitchFamily="2" charset="2"/>
              <a:buChar char="ü"/>
            </a:pPr>
            <a:r>
              <a:rPr kumimoji="1" lang="zh-CN" altLang="en-US" sz="2200" b="1" dirty="0">
                <a:latin typeface="Times New Roman" panose="02020603050405020304" pitchFamily="18" charset="0"/>
                <a:ea typeface="华文中宋" panose="02010600040101010101" pitchFamily="2" charset="-122"/>
              </a:rPr>
              <a:t>或是用</a:t>
            </a:r>
            <a:r>
              <a:rPr kumimoji="1" lang="en-US" altLang="zh-CN" sz="2200" b="1" dirty="0">
                <a:latin typeface="Times New Roman" panose="02020603050405020304" pitchFamily="18" charset="0"/>
                <a:ea typeface="华文中宋" panose="02010600040101010101" pitchFamily="2" charset="-122"/>
              </a:rPr>
              <a:t>CPU</a:t>
            </a:r>
            <a:r>
              <a:rPr kumimoji="1" lang="zh-CN" altLang="en-US" sz="2200" b="1" dirty="0">
                <a:latin typeface="Times New Roman" panose="02020603050405020304" pitchFamily="18" charset="0"/>
                <a:ea typeface="华文中宋" panose="02010600040101010101" pitchFamily="2" charset="-122"/>
              </a:rPr>
              <a:t>等待存储器的时钟周期数</a:t>
            </a:r>
            <a:r>
              <a:rPr kumimoji="1" lang="en-US" altLang="zh-CN" sz="2200" b="1" dirty="0">
                <a:latin typeface="Times New Roman" panose="02020603050405020304" pitchFamily="18" charset="0"/>
                <a:ea typeface="华文中宋" panose="02010600040101010101" pitchFamily="2" charset="-122"/>
              </a:rPr>
              <a:t>——</a:t>
            </a:r>
            <a:r>
              <a:rPr kumimoji="1" lang="zh-CN" altLang="en-US" sz="2200" b="1" dirty="0">
                <a:latin typeface="Times New Roman" panose="02020603050405020304" pitchFamily="18" charset="0"/>
                <a:ea typeface="华文中宋" panose="02010600040101010101" pitchFamily="2" charset="-122"/>
              </a:rPr>
              <a:t>如缺失代价用</a:t>
            </a:r>
            <a:r>
              <a:rPr kumimoji="1" lang="en-US" altLang="zh-CN" sz="2200" b="1" dirty="0">
                <a:latin typeface="Times New Roman" panose="02020603050405020304" pitchFamily="18" charset="0"/>
                <a:ea typeface="华文中宋" panose="02010600040101010101" pitchFamily="2" charset="-122"/>
              </a:rPr>
              <a:t>75-100</a:t>
            </a:r>
            <a:r>
              <a:rPr kumimoji="1" lang="zh-CN" altLang="en-US" sz="2200" b="1" dirty="0">
                <a:latin typeface="Times New Roman" panose="02020603050405020304" pitchFamily="18" charset="0"/>
                <a:ea typeface="华文中宋" panose="02010600040101010101" pitchFamily="2" charset="-122"/>
              </a:rPr>
              <a:t>个时钟周期表示</a:t>
            </a:r>
            <a:endParaRPr kumimoji="1" lang="en-US" altLang="zh-CN" sz="2200" b="1" dirty="0">
              <a:latin typeface="Times New Roman" panose="02020603050405020304" pitchFamily="18" charset="0"/>
              <a:ea typeface="华文中宋" panose="02010600040101010101" pitchFamily="2" charset="-122"/>
            </a:endParaRPr>
          </a:p>
          <a:p>
            <a:pPr marL="1085850" lvl="1" indent="-457200" eaLnBrk="1" hangingPunct="1">
              <a:spcBef>
                <a:spcPct val="50000"/>
              </a:spcBef>
              <a:buFont typeface="Wingdings" panose="05000000000000000000" pitchFamily="2" charset="2"/>
              <a:buChar char="ü"/>
            </a:pPr>
            <a:r>
              <a:rPr kumimoji="1" lang="zh-CN" altLang="en-US" sz="2200" b="1" dirty="0">
                <a:latin typeface="Times New Roman" panose="02020603050405020304" pitchFamily="18" charset="0"/>
                <a:ea typeface="华文中宋" panose="02010600040101010101" pitchFamily="2" charset="-122"/>
              </a:rPr>
              <a:t>仍旧不能代替执行时间</a:t>
            </a:r>
          </a:p>
        </p:txBody>
      </p:sp>
      <p:sp>
        <p:nvSpPr>
          <p:cNvPr id="4" name="Rectangle 2">
            <a:extLst>
              <a:ext uri="{FF2B5EF4-FFF2-40B4-BE49-F238E27FC236}">
                <a16:creationId xmlns:a16="http://schemas.microsoft.com/office/drawing/2014/main" id="{880A69AD-E6EE-442F-9988-C484A570DA9E}"/>
              </a:ext>
            </a:extLst>
          </p:cNvPr>
          <p:cNvSpPr txBox="1">
            <a:spLocks noChangeArrowheads="1"/>
          </p:cNvSpPr>
          <p:nvPr/>
        </p:nvSpPr>
        <p:spPr>
          <a:xfrm>
            <a:off x="323528" y="188640"/>
            <a:ext cx="8229600" cy="864096"/>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0" lang="en-US" altLang="zh-CN" sz="3600" b="1" dirty="0">
                <a:latin typeface="Times New Roman" panose="02020603050405020304" pitchFamily="18" charset="0"/>
                <a:cs typeface="Times New Roman" panose="02020603050405020304" pitchFamily="18" charset="0"/>
              </a:rPr>
              <a:t>5.2</a:t>
            </a:r>
            <a:r>
              <a:rPr kumimoji="0" lang="en-US" altLang="zh-CN" sz="3600" dirty="0">
                <a:latin typeface="Times New Roman" panose="02020603050405020304" pitchFamily="18" charset="0"/>
                <a:cs typeface="Times New Roman" panose="02020603050405020304" pitchFamily="18" charset="0"/>
              </a:rPr>
              <a:t>.6 </a:t>
            </a:r>
            <a:r>
              <a:rPr kumimoji="0" lang="zh-CN" altLang="en-US" sz="3600" dirty="0">
                <a:latin typeface="Times New Roman" panose="02020603050405020304" pitchFamily="18" charset="0"/>
                <a:cs typeface="Times New Roman" panose="02020603050405020304" pitchFamily="18" charset="0"/>
              </a:rPr>
              <a:t>性能分析</a:t>
            </a:r>
            <a:endParaRPr kumimoji="0" lang="zh-CN" altLang="en-US" sz="3600" b="1"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663B0A95-3A5F-4C45-D87B-59328C6FCD96}"/>
              </a:ext>
            </a:extLst>
          </p:cNvPr>
          <p:cNvSpPr>
            <a:spLocks noGrp="1"/>
          </p:cNvSpPr>
          <p:nvPr>
            <p:ph type="dt" sz="half" idx="10"/>
          </p:nvPr>
        </p:nvSpPr>
        <p:spPr/>
        <p:txBody>
          <a:bodyPr/>
          <a:lstStyle/>
          <a:p>
            <a:pPr>
              <a:defRPr/>
            </a:pPr>
            <a:fld id="{7D1F5AA9-35B6-4FDC-8F64-951FF5D96FE5}"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CACB3223-2CD1-05B1-373C-F59B14D38242}"/>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5EF8A8EC-CAE8-554D-AE05-4CE86F0AE7B3}"/>
              </a:ext>
            </a:extLst>
          </p:cNvPr>
          <p:cNvSpPr>
            <a:spLocks noGrp="1"/>
          </p:cNvSpPr>
          <p:nvPr>
            <p:ph type="sldNum" sz="quarter" idx="12"/>
          </p:nvPr>
        </p:nvSpPr>
        <p:spPr/>
        <p:txBody>
          <a:bodyPr/>
          <a:lstStyle/>
          <a:p>
            <a:pPr>
              <a:defRPr/>
            </a:pPr>
            <a:fld id="{8BCAC33D-D29A-48B3-BCD6-381D3D720D26}" type="slidenum">
              <a:rPr lang="zh-CN" altLang="en-US" smtClean="0"/>
              <a:t>37</a:t>
            </a:fld>
            <a:endParaRPr lang="en-US" altLang="zh-CN"/>
          </a:p>
        </p:txBody>
      </p:sp>
    </p:spTree>
    <p:extLst>
      <p:ext uri="{BB962C8B-B14F-4D97-AF65-F5344CB8AC3E}">
        <p14:creationId xmlns:p14="http://schemas.microsoft.com/office/powerpoint/2010/main" val="34557976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9" name="内容占位符 2" descr="Rectangle: Click to edit Master text styles&#10;Second level&#10;Third level&#10;Fourth level&#10;Fifth level"/>
          <p:cNvSpPr>
            <a:spLocks noGrp="1"/>
          </p:cNvSpPr>
          <p:nvPr>
            <p:ph idx="1"/>
          </p:nvPr>
        </p:nvSpPr>
        <p:spPr>
          <a:xfrm>
            <a:off x="107504" y="54898"/>
            <a:ext cx="8640960" cy="5328592"/>
          </a:xfrm>
        </p:spPr>
        <p:txBody>
          <a:bodyPr/>
          <a:lstStyle/>
          <a:p>
            <a:pPr eaLnBrk="1" hangingPunct="1">
              <a:lnSpc>
                <a:spcPct val="160000"/>
              </a:lnSpc>
              <a:spcBef>
                <a:spcPts val="0"/>
              </a:spcBef>
              <a:buNone/>
            </a:pPr>
            <a:r>
              <a:rPr kumimoji="1" lang="zh-CN" altLang="en-US" sz="2400" b="1" dirty="0">
                <a:solidFill>
                  <a:srgbClr val="C00000"/>
                </a:solidFill>
                <a:latin typeface="Times New Roman" panose="02020603050405020304" pitchFamily="18" charset="0"/>
                <a:ea typeface="华文中宋" panose="02010600040101010101" pitchFamily="2" charset="-122"/>
              </a:rPr>
              <a:t>例</a:t>
            </a:r>
            <a:r>
              <a:rPr kumimoji="1" lang="en-US" altLang="zh-CN" sz="2400" b="1" dirty="0">
                <a:solidFill>
                  <a:srgbClr val="C00000"/>
                </a:solidFill>
                <a:latin typeface="Times New Roman" panose="02020603050405020304" pitchFamily="18" charset="0"/>
                <a:ea typeface="华文中宋" panose="02010600040101010101" pitchFamily="2" charset="-122"/>
              </a:rPr>
              <a:t>5.2 </a:t>
            </a:r>
            <a:r>
              <a:rPr kumimoji="1" lang="zh-CN" altLang="en-US" sz="2400" b="1" dirty="0">
                <a:latin typeface="Times New Roman" panose="02020603050405020304" pitchFamily="18" charset="0"/>
                <a:ea typeface="华文中宋" panose="02010600040101010101" pitchFamily="2" charset="-122"/>
              </a:rPr>
              <a:t>分离</a:t>
            </a:r>
            <a:r>
              <a:rPr kumimoji="1" lang="en-US" altLang="zh-CN" sz="2400" b="1" dirty="0">
                <a:latin typeface="Times New Roman" panose="02020603050405020304" pitchFamily="18" charset="0"/>
                <a:ea typeface="华文中宋" panose="02010600040101010101" pitchFamily="2" charset="-122"/>
              </a:rPr>
              <a:t>Cache</a:t>
            </a:r>
            <a:r>
              <a:rPr kumimoji="1" lang="zh-CN" altLang="en-US" sz="2400" b="1" dirty="0">
                <a:latin typeface="Times New Roman" panose="02020603050405020304" pitchFamily="18" charset="0"/>
                <a:ea typeface="华文中宋" panose="02010600040101010101" pitchFamily="2" charset="-122"/>
              </a:rPr>
              <a:t>与混合</a:t>
            </a:r>
            <a:r>
              <a:rPr kumimoji="1" lang="en-US" altLang="zh-CN" sz="2400" b="1" dirty="0">
                <a:latin typeface="Times New Roman" panose="02020603050405020304" pitchFamily="18" charset="0"/>
                <a:ea typeface="华文中宋" panose="02010600040101010101" pitchFamily="2" charset="-122"/>
              </a:rPr>
              <a:t>Cache</a:t>
            </a:r>
          </a:p>
          <a:p>
            <a:pPr marL="1085850" lvl="1" indent="-457200" eaLnBrk="1" hangingPunct="1">
              <a:spcBef>
                <a:spcPts val="0"/>
              </a:spcBef>
            </a:pPr>
            <a:r>
              <a:rPr kumimoji="1" lang="zh-CN" altLang="en-US" sz="2200" b="1" dirty="0">
                <a:latin typeface="Times New Roman" panose="02020603050405020304" pitchFamily="18" charset="0"/>
                <a:ea typeface="华文中宋" panose="02010600040101010101" pitchFamily="2" charset="-122"/>
              </a:rPr>
              <a:t>一个</a:t>
            </a:r>
            <a:r>
              <a:rPr kumimoji="1" lang="en-US" altLang="zh-CN" sz="2200" b="1" dirty="0">
                <a:latin typeface="Times New Roman" panose="02020603050405020304" pitchFamily="18" charset="0"/>
                <a:ea typeface="华文中宋" panose="02010600040101010101" pitchFamily="2" charset="-122"/>
              </a:rPr>
              <a:t>16K</a:t>
            </a:r>
            <a:r>
              <a:rPr kumimoji="1" lang="zh-CN" altLang="en-US" sz="2200" b="1" dirty="0">
                <a:latin typeface="Times New Roman" panose="02020603050405020304" pitchFamily="18" charset="0"/>
                <a:ea typeface="华文中宋" panose="02010600040101010101" pitchFamily="2" charset="-122"/>
              </a:rPr>
              <a:t>指令</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和</a:t>
            </a:r>
            <a:r>
              <a:rPr kumimoji="1" lang="en-US" altLang="zh-CN" sz="2200" b="1" dirty="0">
                <a:latin typeface="Times New Roman" panose="02020603050405020304" pitchFamily="18" charset="0"/>
                <a:ea typeface="华文中宋" panose="02010600040101010101" pitchFamily="2" charset="-122"/>
              </a:rPr>
              <a:t>16K</a:t>
            </a:r>
            <a:r>
              <a:rPr kumimoji="1" lang="zh-CN" altLang="en-US" sz="2200" b="1" dirty="0">
                <a:latin typeface="Times New Roman" panose="02020603050405020304" pitchFamily="18" charset="0"/>
                <a:ea typeface="华文中宋" panose="02010600040101010101" pitchFamily="2" charset="-122"/>
              </a:rPr>
              <a:t>数据</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与一个</a:t>
            </a:r>
            <a:r>
              <a:rPr kumimoji="1" lang="en-US" altLang="zh-CN" sz="2200" b="1" dirty="0">
                <a:latin typeface="Times New Roman" panose="02020603050405020304" pitchFamily="18" charset="0"/>
                <a:ea typeface="华文中宋" panose="02010600040101010101" pitchFamily="2" charset="-122"/>
              </a:rPr>
              <a:t>32K</a:t>
            </a:r>
            <a:r>
              <a:rPr kumimoji="1" lang="zh-CN" altLang="en-US" sz="2200" b="1" dirty="0">
                <a:latin typeface="Times New Roman" panose="02020603050405020304" pitchFamily="18" charset="0"/>
                <a:ea typeface="华文中宋" panose="02010600040101010101" pitchFamily="2" charset="-122"/>
              </a:rPr>
              <a:t>的一体</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相比较，哪一个具有更低的缺失率？</a:t>
            </a:r>
            <a:endParaRPr kumimoji="1" lang="en-US" altLang="zh-CN" sz="2200" b="1" dirty="0">
              <a:latin typeface="Times New Roman" panose="02020603050405020304" pitchFamily="18" charset="0"/>
              <a:ea typeface="华文中宋" panose="02010600040101010101" pitchFamily="2" charset="-122"/>
            </a:endParaRPr>
          </a:p>
          <a:p>
            <a:pPr marL="1085850" lvl="1" indent="-457200" eaLnBrk="1" hangingPunct="1">
              <a:spcBef>
                <a:spcPts val="0"/>
              </a:spcBef>
            </a:pPr>
            <a:r>
              <a:rPr kumimoji="1" lang="zh-CN" altLang="en-US" sz="2200" b="1" dirty="0">
                <a:latin typeface="Times New Roman" panose="02020603050405020304" pitchFamily="18" charset="0"/>
                <a:ea typeface="华文中宋" panose="02010600040101010101" pitchFamily="2" charset="-122"/>
              </a:rPr>
              <a:t>假设</a:t>
            </a:r>
            <a:r>
              <a:rPr kumimoji="1" lang="en-US" altLang="zh-CN" sz="2200" b="1" dirty="0">
                <a:solidFill>
                  <a:srgbClr val="C00000"/>
                </a:solidFill>
                <a:latin typeface="Times New Roman" panose="02020603050405020304" pitchFamily="18" charset="0"/>
                <a:ea typeface="华文中宋" panose="02010600040101010101" pitchFamily="2" charset="-122"/>
              </a:rPr>
              <a:t>36</a:t>
            </a:r>
            <a:r>
              <a:rPr kumimoji="1" lang="zh-CN" altLang="en-US" sz="2200" b="1" dirty="0">
                <a:solidFill>
                  <a:srgbClr val="C00000"/>
                </a:solidFill>
                <a:latin typeface="Times New Roman" panose="02020603050405020304" pitchFamily="18" charset="0"/>
                <a:ea typeface="华文中宋" panose="02010600040101010101" pitchFamily="2" charset="-122"/>
              </a:rPr>
              <a:t>％的指令是数据传输指令</a:t>
            </a:r>
            <a:r>
              <a:rPr kumimoji="1" lang="zh-CN" altLang="en-US" sz="2200" b="1" dirty="0">
                <a:latin typeface="Times New Roman" panose="02020603050405020304" pitchFamily="18" charset="0"/>
                <a:ea typeface="华文中宋" panose="02010600040101010101" pitchFamily="2" charset="-122"/>
              </a:rPr>
              <a:t>，缺失率如图所示。</a:t>
            </a:r>
            <a:endParaRPr kumimoji="1" lang="en-US" altLang="zh-CN" sz="2200" b="1" dirty="0">
              <a:latin typeface="Times New Roman" panose="02020603050405020304" pitchFamily="18" charset="0"/>
              <a:ea typeface="华文中宋" panose="02010600040101010101" pitchFamily="2" charset="-122"/>
            </a:endParaRPr>
          </a:p>
          <a:p>
            <a:pPr marL="1085850" lvl="1" indent="-457200" eaLnBrk="1" hangingPunct="1">
              <a:spcBef>
                <a:spcPts val="0"/>
              </a:spcBef>
            </a:pPr>
            <a:r>
              <a:rPr kumimoji="1" lang="zh-CN" altLang="en-US" sz="2200" b="1" dirty="0">
                <a:latin typeface="Times New Roman" panose="02020603050405020304" pitchFamily="18" charset="0"/>
                <a:ea typeface="华文中宋" panose="02010600040101010101" pitchFamily="2" charset="-122"/>
              </a:rPr>
              <a:t>假定</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命中需要</a:t>
            </a:r>
            <a:r>
              <a:rPr kumimoji="1" lang="en-US" altLang="zh-CN" sz="2200" b="1" dirty="0">
                <a:latin typeface="Times New Roman" panose="02020603050405020304" pitchFamily="18" charset="0"/>
                <a:ea typeface="华文中宋" panose="02010600040101010101" pitchFamily="2" charset="-122"/>
              </a:rPr>
              <a:t>1</a:t>
            </a:r>
            <a:r>
              <a:rPr kumimoji="1" lang="zh-CN" altLang="en-US" sz="2200" b="1" dirty="0">
                <a:latin typeface="Times New Roman" panose="02020603050405020304" pitchFamily="18" charset="0"/>
                <a:ea typeface="华文中宋" panose="02010600040101010101" pitchFamily="2" charset="-122"/>
              </a:rPr>
              <a:t>个时钟周期，缺失代价是</a:t>
            </a:r>
            <a:r>
              <a:rPr kumimoji="1" lang="en-US" altLang="zh-CN" sz="2200" b="1" dirty="0">
                <a:latin typeface="Times New Roman" panose="02020603050405020304" pitchFamily="18" charset="0"/>
                <a:ea typeface="华文中宋" panose="02010600040101010101" pitchFamily="2" charset="-122"/>
              </a:rPr>
              <a:t>100</a:t>
            </a:r>
            <a:r>
              <a:rPr kumimoji="1" lang="zh-CN" altLang="en-US" sz="2200" b="1" dirty="0">
                <a:latin typeface="Times New Roman" panose="02020603050405020304" pitchFamily="18" charset="0"/>
                <a:ea typeface="华文中宋" panose="02010600040101010101" pitchFamily="2" charset="-122"/>
              </a:rPr>
              <a:t>个时钟周期，在混合</a:t>
            </a:r>
            <a:r>
              <a:rPr kumimoji="1" lang="en-US" altLang="zh-CN" sz="2200" b="1" dirty="0">
                <a:latin typeface="Times New Roman" panose="02020603050405020304" pitchFamily="18" charset="0"/>
                <a:ea typeface="华文中宋" panose="02010600040101010101" pitchFamily="2" charset="-122"/>
              </a:rPr>
              <a:t>Cache </a:t>
            </a:r>
            <a:r>
              <a:rPr kumimoji="1" lang="zh-CN" altLang="en-US" sz="2200" b="1" dirty="0">
                <a:latin typeface="Times New Roman" panose="02020603050405020304" pitchFamily="18" charset="0"/>
                <a:ea typeface="华文中宋" panose="02010600040101010101" pitchFamily="2" charset="-122"/>
              </a:rPr>
              <a:t>中，</a:t>
            </a:r>
            <a:r>
              <a:rPr kumimoji="1" lang="en-US" altLang="zh-CN" sz="2200" b="1" dirty="0">
                <a:latin typeface="Times New Roman" panose="02020603050405020304" pitchFamily="18" charset="0"/>
                <a:ea typeface="华文中宋" panose="02010600040101010101" pitchFamily="2" charset="-122"/>
              </a:rPr>
              <a:t>Load</a:t>
            </a:r>
            <a:r>
              <a:rPr kumimoji="1" lang="zh-CN" altLang="en-US" sz="2200" b="1" dirty="0">
                <a:latin typeface="Times New Roman" panose="02020603050405020304" pitchFamily="18" charset="0"/>
                <a:ea typeface="华文中宋" panose="02010600040101010101" pitchFamily="2" charset="-122"/>
              </a:rPr>
              <a:t>和</a:t>
            </a:r>
            <a:r>
              <a:rPr kumimoji="1" lang="en-US" altLang="zh-CN" sz="2200" b="1" dirty="0">
                <a:latin typeface="Times New Roman" panose="02020603050405020304" pitchFamily="18" charset="0"/>
                <a:ea typeface="华文中宋" panose="02010600040101010101" pitchFamily="2" charset="-122"/>
              </a:rPr>
              <a:t>Store</a:t>
            </a:r>
            <a:r>
              <a:rPr kumimoji="1" lang="zh-CN" altLang="en-US" sz="2200" b="1" dirty="0">
                <a:latin typeface="Times New Roman" panose="02020603050405020304" pitchFamily="18" charset="0"/>
                <a:ea typeface="华文中宋" panose="02010600040101010101" pitchFamily="2" charset="-122"/>
              </a:rPr>
              <a:t>命中额外需要一个时钟周期（因为只有一个</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端口来满足这两个同时发生的请求，假设取指优先满足）。</a:t>
            </a:r>
            <a:endParaRPr kumimoji="1" lang="en-US" altLang="zh-CN" sz="2200" b="1" dirty="0">
              <a:latin typeface="Times New Roman" panose="02020603050405020304" pitchFamily="18" charset="0"/>
              <a:ea typeface="华文中宋" panose="02010600040101010101" pitchFamily="2" charset="-122"/>
            </a:endParaRPr>
          </a:p>
          <a:p>
            <a:pPr marL="1085850" lvl="1" indent="-457200" eaLnBrk="1" hangingPunct="1">
              <a:spcBef>
                <a:spcPts val="0"/>
              </a:spcBef>
            </a:pPr>
            <a:r>
              <a:rPr kumimoji="1" lang="zh-CN" altLang="en-US" sz="2200" b="1" dirty="0">
                <a:latin typeface="Times New Roman" panose="02020603050405020304" pitchFamily="18" charset="0"/>
                <a:ea typeface="华文中宋" panose="02010600040101010101" pitchFamily="2" charset="-122"/>
              </a:rPr>
              <a:t>使用上一章提到流水线的术语，混合</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导致结构冲突。每种情况下的平均存储器存取时间是多少呢？</a:t>
            </a:r>
            <a:endParaRPr kumimoji="1" lang="en-US" altLang="zh-CN" sz="2200" b="1" dirty="0">
              <a:latin typeface="Times New Roman" panose="02020603050405020304" pitchFamily="18" charset="0"/>
              <a:ea typeface="华文中宋" panose="02010600040101010101" pitchFamily="2" charset="-122"/>
            </a:endParaRPr>
          </a:p>
          <a:p>
            <a:pPr marL="1085850" lvl="1" indent="-457200" eaLnBrk="1" hangingPunct="1">
              <a:spcBef>
                <a:spcPts val="0"/>
              </a:spcBef>
            </a:pPr>
            <a:r>
              <a:rPr kumimoji="1" lang="zh-CN" altLang="en-US" sz="2200" b="1" dirty="0">
                <a:latin typeface="Times New Roman" panose="02020603050405020304" pitchFamily="18" charset="0"/>
                <a:ea typeface="华文中宋" panose="02010600040101010101" pitchFamily="2" charset="-122"/>
              </a:rPr>
              <a:t>假定是带有写缓存的写直达</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，而且写缓存的停顿时间可以忽略不记</a:t>
            </a:r>
          </a:p>
        </p:txBody>
      </p:sp>
      <p:pic>
        <p:nvPicPr>
          <p:cNvPr id="3" name="Picture 2" descr="FIG8">
            <a:extLst>
              <a:ext uri="{FF2B5EF4-FFF2-40B4-BE49-F238E27FC236}">
                <a16:creationId xmlns:a16="http://schemas.microsoft.com/office/drawing/2014/main" id="{D41CC571-A945-41F4-806F-0545CA1907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4412168"/>
            <a:ext cx="7128792" cy="2384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9BAF2B80-0A32-ED39-8D67-4DEEB8B5F80D}"/>
              </a:ext>
            </a:extLst>
          </p:cNvPr>
          <p:cNvSpPr>
            <a:spLocks noGrp="1"/>
          </p:cNvSpPr>
          <p:nvPr>
            <p:ph type="dt" sz="half" idx="10"/>
          </p:nvPr>
        </p:nvSpPr>
        <p:spPr/>
        <p:txBody>
          <a:bodyPr/>
          <a:lstStyle/>
          <a:p>
            <a:pPr>
              <a:defRPr/>
            </a:pPr>
            <a:fld id="{08A1E126-2957-4E3F-A14D-94A5D55391AE}"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EF2943BF-D2DA-14C1-633C-3947C321869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B9FFA2F3-AD98-2DF4-01FB-C90362BD1DAE}"/>
              </a:ext>
            </a:extLst>
          </p:cNvPr>
          <p:cNvSpPr>
            <a:spLocks noGrp="1"/>
          </p:cNvSpPr>
          <p:nvPr>
            <p:ph type="sldNum" sz="quarter" idx="12"/>
          </p:nvPr>
        </p:nvSpPr>
        <p:spPr/>
        <p:txBody>
          <a:bodyPr/>
          <a:lstStyle/>
          <a:p>
            <a:pPr>
              <a:defRPr/>
            </a:pPr>
            <a:fld id="{8BCAC33D-D29A-48B3-BCD6-381D3D720D26}" type="slidenum">
              <a:rPr lang="zh-CN" altLang="en-US" smtClean="0"/>
              <a:t>38</a:t>
            </a:fld>
            <a:endParaRPr lang="en-US" altLang="zh-CN"/>
          </a:p>
        </p:txBody>
      </p:sp>
    </p:spTree>
    <p:extLst>
      <p:ext uri="{BB962C8B-B14F-4D97-AF65-F5344CB8AC3E}">
        <p14:creationId xmlns:p14="http://schemas.microsoft.com/office/powerpoint/2010/main" val="7530038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7A6AA0E-B56F-47CB-9056-4B4C6D460713}"/>
              </a:ext>
            </a:extLst>
          </p:cNvPr>
          <p:cNvSpPr txBox="1"/>
          <p:nvPr/>
        </p:nvSpPr>
        <p:spPr>
          <a:xfrm>
            <a:off x="179512" y="456054"/>
            <a:ext cx="8701421" cy="4093428"/>
          </a:xfrm>
          <a:prstGeom prst="rect">
            <a:avLst/>
          </a:prstGeom>
          <a:noFill/>
        </p:spPr>
        <p:txBody>
          <a:bodyPr wrap="none" rtlCol="0">
            <a:spAutoFit/>
          </a:bodyPr>
          <a:lstStyle/>
          <a:p>
            <a:r>
              <a:rPr lang="zh-CN" altLang="en-US" sz="2200" dirty="0">
                <a:latin typeface="Times New Roman" panose="02020603050405020304" pitchFamily="18" charset="0"/>
                <a:ea typeface="华文中宋" panose="02010600040101010101" pitchFamily="2" charset="-122"/>
                <a:cs typeface="Times New Roman" panose="02020603050405020304" pitchFamily="18" charset="0"/>
              </a:rPr>
              <a:t>失效率</a:t>
            </a:r>
            <a:r>
              <a:rPr lang="en-US" altLang="zh-CN" sz="2200" dirty="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200" dirty="0">
                <a:latin typeface="Times New Roman" panose="02020603050405020304" pitchFamily="18" charset="0"/>
                <a:ea typeface="华文中宋" panose="02010600040101010101" pitchFamily="2" charset="-122"/>
                <a:cs typeface="Times New Roman" panose="02020603050405020304" pitchFamily="18" charset="0"/>
              </a:rPr>
              <a:t>失效次数</a:t>
            </a:r>
            <a:r>
              <a:rPr lang="en-US" altLang="zh-CN" sz="2200" dirty="0">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2200" dirty="0">
                <a:latin typeface="Times New Roman" panose="02020603050405020304" pitchFamily="18" charset="0"/>
                <a:ea typeface="华文中宋" panose="02010600040101010101" pitchFamily="2" charset="-122"/>
                <a:cs typeface="Times New Roman" panose="02020603050405020304" pitchFamily="18" charset="0"/>
              </a:rPr>
              <a:t>总访存次数</a:t>
            </a:r>
            <a:endParaRPr lang="en-US" altLang="zh-CN" sz="2200" dirty="0">
              <a:latin typeface="Times New Roman" panose="02020603050405020304" pitchFamily="18" charset="0"/>
              <a:ea typeface="华文中宋" panose="02010600040101010101" pitchFamily="2" charset="-122"/>
              <a:cs typeface="Times New Roman" panose="02020603050405020304" pitchFamily="18" charset="0"/>
            </a:endParaRPr>
          </a:p>
          <a:p>
            <a:r>
              <a:rPr lang="zh-CN" altLang="en-US" sz="2200" dirty="0">
                <a:latin typeface="Times New Roman" panose="02020603050405020304" pitchFamily="18" charset="0"/>
                <a:ea typeface="华文中宋" panose="02010600040101010101" pitchFamily="2" charset="-122"/>
                <a:cs typeface="Times New Roman" panose="02020603050405020304" pitchFamily="18" charset="0"/>
              </a:rPr>
              <a:t>      分离</a:t>
            </a:r>
            <a:r>
              <a:rPr lang="en-US" altLang="zh-CN" sz="2200" dirty="0">
                <a:latin typeface="Times New Roman" panose="02020603050405020304" pitchFamily="18" charset="0"/>
                <a:ea typeface="华文中宋" panose="02010600040101010101" pitchFamily="2" charset="-122"/>
                <a:cs typeface="Times New Roman" panose="02020603050405020304" pitchFamily="18" charset="0"/>
              </a:rPr>
              <a:t>Cache:  (3.82+40.9)/(1000+360)=3.29%</a:t>
            </a:r>
          </a:p>
          <a:p>
            <a:r>
              <a:rPr lang="zh-CN" altLang="en-US" sz="2200" dirty="0">
                <a:latin typeface="Times New Roman" panose="02020603050405020304" pitchFamily="18" charset="0"/>
                <a:ea typeface="华文中宋" panose="02010600040101010101" pitchFamily="2" charset="-122"/>
                <a:cs typeface="Times New Roman" panose="02020603050405020304" pitchFamily="18" charset="0"/>
              </a:rPr>
              <a:t>      指令</a:t>
            </a:r>
            <a:r>
              <a:rPr lang="en-US" altLang="zh-CN" sz="2200" dirty="0">
                <a:latin typeface="Times New Roman" panose="02020603050405020304" pitchFamily="18" charset="0"/>
                <a:ea typeface="华文中宋" panose="02010600040101010101" pitchFamily="2" charset="-122"/>
                <a:cs typeface="Times New Roman" panose="02020603050405020304" pitchFamily="18" charset="0"/>
              </a:rPr>
              <a:t>Cache</a:t>
            </a:r>
            <a:r>
              <a:rPr lang="zh-CN" altLang="en-US" sz="22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200" dirty="0">
                <a:latin typeface="Times New Roman" panose="02020603050405020304" pitchFamily="18" charset="0"/>
                <a:ea typeface="华文中宋" panose="02010600040101010101" pitchFamily="2" charset="-122"/>
                <a:cs typeface="Times New Roman" panose="02020603050405020304" pitchFamily="18" charset="0"/>
              </a:rPr>
              <a:t>3.82/1000=0.382%</a:t>
            </a:r>
          </a:p>
          <a:p>
            <a:r>
              <a:rPr lang="zh-CN" altLang="en-US" sz="2200" dirty="0">
                <a:latin typeface="Times New Roman" panose="02020603050405020304" pitchFamily="18" charset="0"/>
                <a:ea typeface="华文中宋" panose="02010600040101010101" pitchFamily="2" charset="-122"/>
                <a:cs typeface="Times New Roman" panose="02020603050405020304" pitchFamily="18" charset="0"/>
              </a:rPr>
              <a:t>      数据</a:t>
            </a:r>
            <a:r>
              <a:rPr lang="en-US" altLang="zh-CN" sz="2200" dirty="0">
                <a:latin typeface="Times New Roman" panose="02020603050405020304" pitchFamily="18" charset="0"/>
                <a:ea typeface="华文中宋" panose="02010600040101010101" pitchFamily="2" charset="-122"/>
                <a:cs typeface="Times New Roman" panose="02020603050405020304" pitchFamily="18" charset="0"/>
              </a:rPr>
              <a:t>Cache</a:t>
            </a:r>
            <a:r>
              <a:rPr lang="zh-CN" altLang="en-US" sz="22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200" dirty="0">
                <a:latin typeface="Times New Roman" panose="02020603050405020304" pitchFamily="18" charset="0"/>
                <a:ea typeface="华文中宋" panose="02010600040101010101" pitchFamily="2" charset="-122"/>
                <a:cs typeface="Times New Roman" panose="02020603050405020304" pitchFamily="18" charset="0"/>
              </a:rPr>
              <a:t>40.9/360=11.36%</a:t>
            </a:r>
          </a:p>
          <a:p>
            <a:r>
              <a:rPr lang="zh-CN" altLang="en-US" sz="2200" dirty="0">
                <a:latin typeface="Times New Roman" panose="02020603050405020304" pitchFamily="18" charset="0"/>
                <a:ea typeface="华文中宋" panose="02010600040101010101" pitchFamily="2" charset="-122"/>
                <a:cs typeface="Times New Roman" panose="02020603050405020304" pitchFamily="18" charset="0"/>
              </a:rPr>
              <a:t>      混合</a:t>
            </a:r>
            <a:r>
              <a:rPr lang="en-US" altLang="zh-CN" sz="2200" dirty="0">
                <a:latin typeface="Times New Roman" panose="02020603050405020304" pitchFamily="18" charset="0"/>
                <a:ea typeface="华文中宋" panose="02010600040101010101" pitchFamily="2" charset="-122"/>
                <a:cs typeface="Times New Roman" panose="02020603050405020304" pitchFamily="18" charset="0"/>
              </a:rPr>
              <a:t>Cache</a:t>
            </a:r>
            <a:r>
              <a:rPr lang="zh-CN" altLang="en-US" sz="22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200" dirty="0">
                <a:latin typeface="Times New Roman" panose="02020603050405020304" pitchFamily="18" charset="0"/>
                <a:ea typeface="华文中宋" panose="02010600040101010101" pitchFamily="2" charset="-122"/>
                <a:cs typeface="Times New Roman" panose="02020603050405020304" pitchFamily="18" charset="0"/>
              </a:rPr>
              <a:t>43.3/1360=3.18%</a:t>
            </a:r>
          </a:p>
          <a:p>
            <a:endParaRPr lang="en-US" altLang="zh-CN" sz="2200" dirty="0">
              <a:latin typeface="Times New Roman" panose="02020603050405020304" pitchFamily="18" charset="0"/>
              <a:ea typeface="华文中宋" panose="02010600040101010101" pitchFamily="2" charset="-122"/>
              <a:cs typeface="Times New Roman" panose="02020603050405020304" pitchFamily="18" charset="0"/>
            </a:endParaRPr>
          </a:p>
          <a:p>
            <a:r>
              <a:rPr lang="zh-CN" altLang="en-US" sz="22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平均访存时间</a:t>
            </a:r>
            <a:endParaRPr lang="en-US" altLang="zh-CN" sz="22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endParaRPr>
          </a:p>
          <a:p>
            <a:r>
              <a:rPr lang="zh-CN" altLang="en-US" sz="22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分离</a:t>
            </a:r>
            <a:r>
              <a:rPr lang="en-US" altLang="zh-CN" sz="22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Cache</a:t>
            </a:r>
            <a:r>
              <a:rPr lang="zh-CN" altLang="en-US" sz="22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(1000/1360)×(1+0.382%×100)+(360/1360)×(1+11.36%×100)</a:t>
            </a:r>
          </a:p>
          <a:p>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                         =4.236</a:t>
            </a:r>
          </a:p>
          <a:p>
            <a:r>
              <a:rPr lang="zh-CN" altLang="en-US" sz="22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混合</a:t>
            </a:r>
            <a:r>
              <a:rPr lang="en-US" altLang="zh-CN" sz="22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Cache</a:t>
            </a:r>
            <a:r>
              <a:rPr lang="zh-CN" altLang="en-US" sz="22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(1000/1360)×(1+3.18%×100)+(360/1360)×(1+1+3.18%×100)</a:t>
            </a:r>
          </a:p>
          <a:p>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                         =4.44</a:t>
            </a:r>
          </a:p>
          <a:p>
            <a:endParaRPr lang="en-US" altLang="zh-CN" sz="2200" dirty="0">
              <a:latin typeface="Times New Roman" panose="02020603050405020304" pitchFamily="18" charset="0"/>
              <a:ea typeface="华文中宋" panose="02010600040101010101" pitchFamily="2" charset="-122"/>
              <a:cs typeface="Times New Roman" panose="02020603050405020304" pitchFamily="18" charset="0"/>
            </a:endParaRPr>
          </a:p>
        </p:txBody>
      </p:sp>
      <p:sp>
        <p:nvSpPr>
          <p:cNvPr id="7" name="矩形 6">
            <a:extLst>
              <a:ext uri="{FF2B5EF4-FFF2-40B4-BE49-F238E27FC236}">
                <a16:creationId xmlns:a16="http://schemas.microsoft.com/office/drawing/2014/main" id="{6C021ED5-3CC1-473F-90ED-D4EB7EAEB753}"/>
              </a:ext>
            </a:extLst>
          </p:cNvPr>
          <p:cNvSpPr>
            <a:spLocks noChangeArrowheads="1"/>
          </p:cNvSpPr>
          <p:nvPr/>
        </p:nvSpPr>
        <p:spPr bwMode="auto">
          <a:xfrm>
            <a:off x="312664" y="4509120"/>
            <a:ext cx="8858250" cy="1384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FontTx/>
              <a:buNone/>
            </a:pPr>
            <a:r>
              <a:rPr lang="zh-CN" altLang="en-US" dirty="0">
                <a:solidFill>
                  <a:schemeClr val="tx1"/>
                </a:solidFill>
                <a:latin typeface="Times New Roman" panose="02020603050405020304" pitchFamily="18" charset="0"/>
                <a:ea typeface="华文中宋" panose="02010600040101010101" pitchFamily="2" charset="-122"/>
              </a:rPr>
              <a:t>本例中分离</a:t>
            </a:r>
            <a:r>
              <a:rPr lang="en-US" altLang="zh-CN" dirty="0">
                <a:solidFill>
                  <a:schemeClr val="tx1"/>
                </a:solidFill>
                <a:latin typeface="Times New Roman" panose="02020603050405020304" pitchFamily="18" charset="0"/>
                <a:ea typeface="华文中宋" panose="02010600040101010101" pitchFamily="2" charset="-122"/>
              </a:rPr>
              <a:t>Cache</a:t>
            </a:r>
            <a:r>
              <a:rPr lang="zh-CN" altLang="en-US" dirty="0">
                <a:solidFill>
                  <a:schemeClr val="tx1"/>
                </a:solidFill>
                <a:latin typeface="Times New Roman" panose="02020603050405020304" pitchFamily="18" charset="0"/>
                <a:ea typeface="华文中宋" panose="02010600040101010101" pitchFamily="2" charset="-122"/>
              </a:rPr>
              <a:t>，在每个时钟周期提供两个存储器端口，因此可以避免结构冲突，比只有一个端口的混合</a:t>
            </a:r>
            <a:r>
              <a:rPr lang="en-US" altLang="zh-CN" dirty="0">
                <a:solidFill>
                  <a:schemeClr val="tx1"/>
                </a:solidFill>
                <a:latin typeface="Times New Roman" panose="02020603050405020304" pitchFamily="18" charset="0"/>
                <a:ea typeface="华文中宋" panose="02010600040101010101" pitchFamily="2" charset="-122"/>
              </a:rPr>
              <a:t>Cache</a:t>
            </a:r>
            <a:r>
              <a:rPr lang="zh-CN" altLang="en-US" dirty="0">
                <a:solidFill>
                  <a:schemeClr val="tx1"/>
                </a:solidFill>
                <a:latin typeface="Times New Roman" panose="02020603050405020304" pitchFamily="18" charset="0"/>
                <a:ea typeface="华文中宋" panose="02010600040101010101" pitchFamily="2" charset="-122"/>
              </a:rPr>
              <a:t>有更好的平均存储器存取时间，尽管它的有效缺失率更高一些。</a:t>
            </a:r>
          </a:p>
        </p:txBody>
      </p:sp>
      <p:sp>
        <p:nvSpPr>
          <p:cNvPr id="3" name="日期占位符 2">
            <a:extLst>
              <a:ext uri="{FF2B5EF4-FFF2-40B4-BE49-F238E27FC236}">
                <a16:creationId xmlns:a16="http://schemas.microsoft.com/office/drawing/2014/main" id="{311BAFDE-85E0-1F7B-157F-ACF9F4090E3A}"/>
              </a:ext>
            </a:extLst>
          </p:cNvPr>
          <p:cNvSpPr>
            <a:spLocks noGrp="1"/>
          </p:cNvSpPr>
          <p:nvPr>
            <p:ph type="dt" sz="half" idx="10"/>
          </p:nvPr>
        </p:nvSpPr>
        <p:spPr/>
        <p:txBody>
          <a:bodyPr/>
          <a:lstStyle/>
          <a:p>
            <a:pPr>
              <a:defRPr/>
            </a:pPr>
            <a:fld id="{29BCE6FF-F3B6-44AE-99B0-19368B3CB12C}"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AAAB3FF8-8121-6109-7627-EBDC68D785EA}"/>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415B732D-463F-D334-E6D9-C96025965EBB}"/>
              </a:ext>
            </a:extLst>
          </p:cNvPr>
          <p:cNvSpPr>
            <a:spLocks noGrp="1"/>
          </p:cNvSpPr>
          <p:nvPr>
            <p:ph type="sldNum" sz="quarter" idx="12"/>
          </p:nvPr>
        </p:nvSpPr>
        <p:spPr/>
        <p:txBody>
          <a:bodyPr/>
          <a:lstStyle/>
          <a:p>
            <a:pPr>
              <a:defRPr/>
            </a:pPr>
            <a:fld id="{65B7EA61-351E-4105-9AD9-76D38C6E9934}" type="slidenum">
              <a:rPr lang="zh-CN" altLang="en-US" smtClean="0"/>
              <a:t>39</a:t>
            </a:fld>
            <a:endParaRPr lang="en-US" altLang="zh-CN"/>
          </a:p>
        </p:txBody>
      </p:sp>
    </p:spTree>
    <p:extLst>
      <p:ext uri="{BB962C8B-B14F-4D97-AF65-F5344CB8AC3E}">
        <p14:creationId xmlns:p14="http://schemas.microsoft.com/office/powerpoint/2010/main" val="24029705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
          <p:cNvSpPr txBox="1">
            <a:spLocks noChangeArrowheads="1"/>
          </p:cNvSpPr>
          <p:nvPr/>
        </p:nvSpPr>
        <p:spPr bwMode="auto">
          <a:xfrm>
            <a:off x="446856" y="969192"/>
            <a:ext cx="8491984" cy="4919616"/>
          </a:xfrm>
          <a:prstGeom prst="rect">
            <a:avLst/>
          </a:prstGeom>
          <a:noFill/>
          <a:ln w="9525">
            <a:noFill/>
            <a:miter lim="800000"/>
            <a:headEnd/>
            <a:tailEnd/>
          </a:ln>
        </p:spPr>
        <p:txBody>
          <a:bodyPr wrap="square">
            <a:spAutoFit/>
          </a:bodyPr>
          <a:lstStyle/>
          <a:p>
            <a:pPr>
              <a:lnSpc>
                <a:spcPct val="130000"/>
              </a:lnSpc>
              <a:spcBef>
                <a:spcPct val="30000"/>
              </a:spcBef>
              <a:defRPr/>
            </a:pPr>
            <a:r>
              <a:rPr lang="en-US" altLang="zh-CN" sz="2400" dirty="0">
                <a:latin typeface="Times New Roman" panose="02020603050405020304" pitchFamily="18" charset="0"/>
                <a:ea typeface="华文中宋" panose="02010600040101010101" pitchFamily="2" charset="-122"/>
              </a:rPr>
              <a:t>3. CPU</a:t>
            </a:r>
            <a:r>
              <a:rPr lang="zh-CN" altLang="en-US" sz="2400" dirty="0">
                <a:latin typeface="Times New Roman" panose="02020603050405020304" pitchFamily="18" charset="0"/>
                <a:ea typeface="华文中宋" panose="02010600040101010101" pitchFamily="2" charset="-122"/>
              </a:rPr>
              <a:t>时间</a:t>
            </a:r>
            <a:endParaRPr lang="en-US" altLang="zh-CN" sz="2400" dirty="0">
              <a:latin typeface="Times New Roman" panose="02020603050405020304" pitchFamily="18" charset="0"/>
              <a:ea typeface="华文中宋" panose="02010600040101010101" pitchFamily="2" charset="-122"/>
            </a:endParaRPr>
          </a:p>
          <a:p>
            <a:pPr>
              <a:lnSpc>
                <a:spcPct val="130000"/>
              </a:lnSpc>
              <a:spcBef>
                <a:spcPct val="30000"/>
              </a:spcBef>
              <a:defRPr/>
            </a:pPr>
            <a:r>
              <a:rPr lang="en-US" altLang="zh-CN" sz="2400" dirty="0">
                <a:latin typeface="Times New Roman" panose="02020603050405020304" pitchFamily="18" charset="0"/>
                <a:ea typeface="华文中宋" panose="02010600040101010101" pitchFamily="2" charset="-122"/>
              </a:rPr>
              <a:t>    CPU</a:t>
            </a:r>
            <a:r>
              <a:rPr lang="zh-CN" altLang="en-US" sz="2400" dirty="0">
                <a:latin typeface="Times New Roman" panose="02020603050405020304" pitchFamily="18" charset="0"/>
                <a:ea typeface="华文中宋" panose="02010600040101010101" pitchFamily="2" charset="-122"/>
              </a:rPr>
              <a:t>时间＝</a:t>
            </a:r>
            <a:r>
              <a:rPr lang="en-US" altLang="zh-CN" sz="2400" dirty="0">
                <a:latin typeface="Times New Roman" panose="02020603050405020304" pitchFamily="18" charset="0"/>
                <a:ea typeface="华文中宋" panose="02010600040101010101" pitchFamily="2" charset="-122"/>
              </a:rPr>
              <a:t>(CPU</a:t>
            </a:r>
            <a:r>
              <a:rPr lang="zh-CN" altLang="en-US" sz="2400" dirty="0">
                <a:latin typeface="Times New Roman" panose="02020603050405020304" pitchFamily="18" charset="0"/>
                <a:ea typeface="华文中宋" panose="02010600040101010101" pitchFamily="2" charset="-122"/>
              </a:rPr>
              <a:t>执行周期数＋存储器停顿周期数</a:t>
            </a:r>
            <a:r>
              <a:rPr lang="en-US" altLang="zh-CN" sz="2400" dirty="0">
                <a:latin typeface="Times New Roman" panose="02020603050405020304" pitchFamily="18" charset="0"/>
                <a:ea typeface="华文中宋" panose="02010600040101010101" pitchFamily="2" charset="-122"/>
              </a:rPr>
              <a:t>)</a:t>
            </a:r>
            <a:br>
              <a:rPr lang="en-US" altLang="zh-CN" sz="2400" dirty="0">
                <a:latin typeface="Times New Roman" panose="02020603050405020304" pitchFamily="18" charset="0"/>
                <a:ea typeface="华文中宋" panose="02010600040101010101" pitchFamily="2" charset="-122"/>
              </a:rPr>
            </a:br>
            <a:r>
              <a:rPr lang="en-US" altLang="zh-CN" sz="2400" dirty="0">
                <a:latin typeface="Times New Roman" panose="02020603050405020304" pitchFamily="18" charset="0"/>
                <a:ea typeface="华文中宋" panose="02010600040101010101" pitchFamily="2" charset="-122"/>
              </a:rPr>
              <a:t>                        ×</a:t>
            </a:r>
            <a:r>
              <a:rPr lang="zh-CN" altLang="en-US" sz="2400" dirty="0">
                <a:latin typeface="Times New Roman" panose="02020603050405020304" pitchFamily="18" charset="0"/>
                <a:ea typeface="华文中宋" panose="02010600040101010101" pitchFamily="2" charset="-122"/>
              </a:rPr>
              <a:t>时钟周期时间</a:t>
            </a:r>
            <a:endParaRPr lang="en-US" altLang="zh-CN" sz="2400" dirty="0">
              <a:latin typeface="Times New Roman" panose="02020603050405020304" pitchFamily="18" charset="0"/>
              <a:ea typeface="华文中宋" panose="02010600040101010101" pitchFamily="2" charset="-122"/>
            </a:endParaRPr>
          </a:p>
          <a:p>
            <a:pPr>
              <a:lnSpc>
                <a:spcPct val="130000"/>
              </a:lnSpc>
              <a:spcBef>
                <a:spcPct val="30000"/>
              </a:spcBef>
              <a:defRPr/>
            </a:pPr>
            <a:br>
              <a:rPr kumimoji="1" lang="zh-CN" altLang="en-US" sz="2400" dirty="0">
                <a:latin typeface="Times New Roman" pitchFamily="18" charset="0"/>
                <a:ea typeface="华文中宋" pitchFamily="2" charset="-122"/>
              </a:rPr>
            </a:br>
            <a:r>
              <a:rPr kumimoji="1" lang="zh-CN" altLang="en-US" sz="2400" dirty="0">
                <a:latin typeface="Times New Roman" pitchFamily="18" charset="0"/>
                <a:ea typeface="华文中宋" pitchFamily="2" charset="-122"/>
              </a:rPr>
              <a:t>    </a:t>
            </a:r>
            <a:endParaRPr kumimoji="1" lang="en-US" altLang="zh-CN" sz="2400" dirty="0">
              <a:latin typeface="Times New Roman" pitchFamily="18" charset="0"/>
              <a:ea typeface="华文中宋" pitchFamily="2" charset="-122"/>
            </a:endParaRPr>
          </a:p>
          <a:p>
            <a:pPr>
              <a:lnSpc>
                <a:spcPct val="120000"/>
              </a:lnSpc>
              <a:spcBef>
                <a:spcPct val="30000"/>
              </a:spcBef>
              <a:defRPr/>
            </a:pPr>
            <a:r>
              <a:rPr kumimoji="1" lang="zh-CN" altLang="en-US" sz="2400" dirty="0">
                <a:solidFill>
                  <a:srgbClr val="C00000"/>
                </a:solidFill>
                <a:latin typeface="Times New Roman" pitchFamily="18" charset="0"/>
                <a:ea typeface="华文中宋" pitchFamily="2" charset="-122"/>
              </a:rPr>
              <a:t>存储器停顿周期数</a:t>
            </a:r>
            <a:r>
              <a:rPr kumimoji="1" lang="zh-CN" altLang="en-US" sz="2400" dirty="0">
                <a:latin typeface="Times New Roman" pitchFamily="18" charset="0"/>
                <a:ea typeface="华文中宋" pitchFamily="2" charset="-122"/>
              </a:rPr>
              <a:t>＝访存次数</a:t>
            </a:r>
            <a:r>
              <a:rPr kumimoji="1" lang="en-US" altLang="zh-CN" sz="2400" dirty="0">
                <a:latin typeface="Times New Roman" pitchFamily="18" charset="0"/>
                <a:ea typeface="华文中宋" pitchFamily="2" charset="-122"/>
              </a:rPr>
              <a:t>×</a:t>
            </a:r>
            <a:r>
              <a:rPr kumimoji="1" lang="zh-CN" altLang="en-US" sz="2400" dirty="0">
                <a:latin typeface="Times New Roman" pitchFamily="18" charset="0"/>
                <a:ea typeface="华文中宋" pitchFamily="2" charset="-122"/>
              </a:rPr>
              <a:t>失效率</a:t>
            </a:r>
            <a:r>
              <a:rPr kumimoji="1" lang="en-US" altLang="zh-CN" sz="2400" dirty="0">
                <a:latin typeface="Times New Roman" pitchFamily="18" charset="0"/>
                <a:ea typeface="华文中宋" pitchFamily="2" charset="-122"/>
              </a:rPr>
              <a:t>×</a:t>
            </a:r>
            <a:r>
              <a:rPr kumimoji="1" lang="zh-CN" altLang="en-US" sz="2400" dirty="0">
                <a:latin typeface="Times New Roman" pitchFamily="18" charset="0"/>
                <a:ea typeface="华文中宋" pitchFamily="2" charset="-122"/>
              </a:rPr>
              <a:t>失效开销</a:t>
            </a:r>
            <a:endParaRPr lang="en-US" altLang="zh-CN" sz="2400" dirty="0">
              <a:latin typeface="Times New Roman" pitchFamily="18" charset="0"/>
              <a:ea typeface="华文中宋" pitchFamily="2" charset="-122"/>
            </a:endParaRPr>
          </a:p>
          <a:p>
            <a:pPr>
              <a:lnSpc>
                <a:spcPct val="120000"/>
              </a:lnSpc>
              <a:spcBef>
                <a:spcPct val="30000"/>
              </a:spcBef>
              <a:defRPr/>
            </a:pPr>
            <a:r>
              <a:rPr lang="zh-CN" altLang="en-US" sz="2400" dirty="0">
                <a:latin typeface="Times New Roman" pitchFamily="18" charset="0"/>
                <a:ea typeface="华文中宋" pitchFamily="2" charset="-122"/>
              </a:rPr>
              <a:t>                            ＝“读”的次数</a:t>
            </a:r>
            <a:r>
              <a:rPr lang="en-US" altLang="zh-CN" sz="2400" dirty="0">
                <a:latin typeface="Times New Roman" pitchFamily="18" charset="0"/>
                <a:ea typeface="华文中宋" pitchFamily="2" charset="-122"/>
              </a:rPr>
              <a:t>×</a:t>
            </a:r>
            <a:r>
              <a:rPr lang="zh-CN" altLang="en-US" sz="2400" dirty="0">
                <a:latin typeface="Times New Roman" pitchFamily="18" charset="0"/>
                <a:ea typeface="华文中宋" pitchFamily="2" charset="-122"/>
              </a:rPr>
              <a:t>读不命中率</a:t>
            </a:r>
            <a:r>
              <a:rPr lang="en-US" altLang="zh-CN" sz="2400" dirty="0">
                <a:latin typeface="Times New Roman" pitchFamily="18" charset="0"/>
                <a:ea typeface="华文中宋" pitchFamily="2" charset="-122"/>
              </a:rPr>
              <a:t>×</a:t>
            </a:r>
            <a:r>
              <a:rPr lang="zh-CN" altLang="en-US" sz="2400" dirty="0">
                <a:latin typeface="Times New Roman" pitchFamily="18" charset="0"/>
                <a:ea typeface="华文中宋" pitchFamily="2" charset="-122"/>
              </a:rPr>
              <a:t>读不命中开销</a:t>
            </a:r>
            <a:endParaRPr lang="en-US" altLang="zh-CN" sz="2400" dirty="0">
              <a:latin typeface="Times New Roman" pitchFamily="18" charset="0"/>
              <a:ea typeface="华文中宋" pitchFamily="2" charset="-122"/>
            </a:endParaRPr>
          </a:p>
          <a:p>
            <a:pPr>
              <a:lnSpc>
                <a:spcPct val="120000"/>
              </a:lnSpc>
              <a:spcBef>
                <a:spcPct val="30000"/>
              </a:spcBef>
              <a:defRPr/>
            </a:pPr>
            <a:r>
              <a:rPr lang="zh-CN" altLang="en-US" sz="2400" dirty="0">
                <a:latin typeface="Times New Roman" pitchFamily="18" charset="0"/>
                <a:ea typeface="华文中宋" pitchFamily="2" charset="-122"/>
              </a:rPr>
              <a:t>                            ＋“写”的次数</a:t>
            </a:r>
            <a:r>
              <a:rPr lang="en-US" altLang="zh-CN" sz="2400" dirty="0">
                <a:latin typeface="Times New Roman" pitchFamily="18" charset="0"/>
                <a:ea typeface="华文中宋" pitchFamily="2" charset="-122"/>
              </a:rPr>
              <a:t>×</a:t>
            </a:r>
            <a:r>
              <a:rPr lang="zh-CN" altLang="en-US" sz="2400" dirty="0">
                <a:latin typeface="Times New Roman" pitchFamily="18" charset="0"/>
                <a:ea typeface="华文中宋" pitchFamily="2" charset="-122"/>
              </a:rPr>
              <a:t>写不命中率</a:t>
            </a:r>
            <a:r>
              <a:rPr lang="en-US" altLang="zh-CN" sz="2400" dirty="0">
                <a:latin typeface="Times New Roman" pitchFamily="18" charset="0"/>
                <a:ea typeface="华文中宋" pitchFamily="2" charset="-122"/>
              </a:rPr>
              <a:t>×</a:t>
            </a:r>
            <a:r>
              <a:rPr lang="zh-CN" altLang="en-US" sz="2400" dirty="0">
                <a:latin typeface="Times New Roman" pitchFamily="18" charset="0"/>
                <a:ea typeface="华文中宋" pitchFamily="2" charset="-122"/>
              </a:rPr>
              <a:t>写不命中开销</a:t>
            </a:r>
            <a:endParaRPr kumimoji="1" lang="en-US" altLang="zh-CN" sz="2400" dirty="0">
              <a:latin typeface="Times New Roman" pitchFamily="18" charset="0"/>
              <a:ea typeface="华文中宋" pitchFamily="2" charset="-122"/>
            </a:endParaRPr>
          </a:p>
          <a:p>
            <a:pPr>
              <a:lnSpc>
                <a:spcPct val="130000"/>
              </a:lnSpc>
              <a:spcBef>
                <a:spcPct val="30000"/>
              </a:spcBef>
              <a:defRPr/>
            </a:pPr>
            <a:endParaRPr kumimoji="1" lang="zh-CN" altLang="en-US" sz="2400" dirty="0">
              <a:latin typeface="Times New Roman" pitchFamily="18" charset="0"/>
              <a:ea typeface="华文中宋" pitchFamily="2" charset="-122"/>
            </a:endParaRPr>
          </a:p>
        </p:txBody>
      </p:sp>
      <p:sp>
        <p:nvSpPr>
          <p:cNvPr id="6" name="Text Box 3"/>
          <p:cNvSpPr txBox="1">
            <a:spLocks noChangeArrowheads="1"/>
          </p:cNvSpPr>
          <p:nvPr/>
        </p:nvSpPr>
        <p:spPr bwMode="auto">
          <a:xfrm>
            <a:off x="446856" y="2564904"/>
            <a:ext cx="8229600" cy="1005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30000"/>
              </a:lnSpc>
            </a:pPr>
            <a:r>
              <a:rPr kumimoji="1" lang="en-US" altLang="zh-CN" sz="2400" dirty="0">
                <a:latin typeface="Times New Roman" panose="02020603050405020304" pitchFamily="18" charset="0"/>
                <a:ea typeface="华文中宋" panose="02010600040101010101" pitchFamily="2" charset="-122"/>
              </a:rPr>
              <a:t>    CPU</a:t>
            </a:r>
            <a:r>
              <a:rPr kumimoji="1" lang="zh-CN" altLang="en-US" sz="2400" dirty="0">
                <a:latin typeface="Times New Roman" panose="02020603050405020304" pitchFamily="18" charset="0"/>
                <a:ea typeface="华文中宋" panose="02010600040101010101" pitchFamily="2" charset="-122"/>
              </a:rPr>
              <a:t>时间＝</a:t>
            </a:r>
            <a:r>
              <a:rPr kumimoji="1" lang="en-US" altLang="zh-CN" sz="2400" dirty="0">
                <a:latin typeface="Times New Roman" panose="02020603050405020304" pitchFamily="18" charset="0"/>
                <a:ea typeface="华文中宋" panose="02010600040101010101" pitchFamily="2" charset="-122"/>
              </a:rPr>
              <a:t>IC×</a:t>
            </a:r>
            <a:r>
              <a:rPr kumimoji="1" lang="en-US" altLang="zh-CN" sz="2400" b="0" dirty="0">
                <a:latin typeface="Times New Roman" panose="02020603050405020304" pitchFamily="18" charset="0"/>
                <a:ea typeface="华文中宋" panose="02010600040101010101" pitchFamily="2" charset="-122"/>
              </a:rPr>
              <a:t>[</a:t>
            </a:r>
            <a:r>
              <a:rPr kumimoji="1" lang="en-US" altLang="zh-CN" sz="2400" dirty="0" err="1">
                <a:latin typeface="Times New Roman" panose="02020603050405020304" pitchFamily="18" charset="0"/>
                <a:ea typeface="华文中宋" panose="02010600040101010101" pitchFamily="2" charset="-122"/>
              </a:rPr>
              <a:t>CPIexe</a:t>
            </a:r>
            <a:r>
              <a:rPr kumimoji="1" lang="zh-CN" altLang="en-US" sz="2400" dirty="0">
                <a:latin typeface="Times New Roman" panose="02020603050405020304" pitchFamily="18" charset="0"/>
                <a:ea typeface="华文中宋" panose="02010600040101010101" pitchFamily="2" charset="-122"/>
              </a:rPr>
              <a:t>＋</a:t>
            </a:r>
            <a:r>
              <a:rPr kumimoji="1" lang="zh-CN" altLang="en-US" sz="2400" dirty="0">
                <a:solidFill>
                  <a:srgbClr val="C00000"/>
                </a:solidFill>
                <a:latin typeface="Times New Roman" panose="02020603050405020304" pitchFamily="18" charset="0"/>
                <a:ea typeface="华文中宋" panose="02010600040101010101" pitchFamily="2" charset="-122"/>
              </a:rPr>
              <a:t>每条指令的平均存储器停顿 </a:t>
            </a:r>
          </a:p>
          <a:p>
            <a:pPr eaLnBrk="1" hangingPunct="1">
              <a:lnSpc>
                <a:spcPct val="130000"/>
              </a:lnSpc>
            </a:pPr>
            <a:r>
              <a:rPr kumimoji="1" lang="zh-CN" altLang="en-US" sz="2400" dirty="0">
                <a:solidFill>
                  <a:srgbClr val="C00000"/>
                </a:solidFill>
                <a:latin typeface="Times New Roman" panose="02020603050405020304" pitchFamily="18" charset="0"/>
                <a:ea typeface="华文中宋" panose="02010600040101010101" pitchFamily="2" charset="-122"/>
              </a:rPr>
              <a:t>                        周期数</a:t>
            </a:r>
            <a:r>
              <a:rPr kumimoji="1" lang="en-US" altLang="zh-CN" sz="2400" b="0" dirty="0">
                <a:latin typeface="Times New Roman" panose="02020603050405020304" pitchFamily="18" charset="0"/>
                <a:ea typeface="华文中宋" panose="02010600040101010101" pitchFamily="2" charset="-122"/>
              </a:rPr>
              <a:t>]</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时钟周期时间</a:t>
            </a:r>
          </a:p>
        </p:txBody>
      </p:sp>
      <p:sp>
        <p:nvSpPr>
          <p:cNvPr id="7" name="Text Box 4"/>
          <p:cNvSpPr txBox="1">
            <a:spLocks noChangeArrowheads="1"/>
          </p:cNvSpPr>
          <p:nvPr/>
        </p:nvSpPr>
        <p:spPr bwMode="auto">
          <a:xfrm>
            <a:off x="910703" y="5386074"/>
            <a:ext cx="7564289" cy="1005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30000"/>
              </a:lnSpc>
            </a:pPr>
            <a:r>
              <a:rPr kumimoji="1" lang="en-US" altLang="zh-CN" sz="2400" dirty="0">
                <a:latin typeface="Times New Roman" panose="02020603050405020304" pitchFamily="18" charset="0"/>
                <a:ea typeface="华文中宋" panose="02010600040101010101" pitchFamily="2" charset="-122"/>
              </a:rPr>
              <a:t>CPU</a:t>
            </a:r>
            <a:r>
              <a:rPr kumimoji="1" lang="zh-CN" altLang="en-US" sz="2400" dirty="0">
                <a:latin typeface="Times New Roman" panose="02020603050405020304" pitchFamily="18" charset="0"/>
                <a:ea typeface="华文中宋" panose="02010600040101010101" pitchFamily="2" charset="-122"/>
              </a:rPr>
              <a:t>时间＝</a:t>
            </a:r>
            <a:r>
              <a:rPr kumimoji="1" lang="en-US" altLang="zh-CN" sz="2400" dirty="0">
                <a:latin typeface="Times New Roman" panose="02020603050405020304" pitchFamily="18" charset="0"/>
                <a:ea typeface="华文中宋" panose="02010600040101010101" pitchFamily="2" charset="-122"/>
              </a:rPr>
              <a:t>IC×</a:t>
            </a:r>
            <a:r>
              <a:rPr kumimoji="1" lang="en-US" altLang="zh-CN" sz="2400" b="0" dirty="0">
                <a:latin typeface="Times New Roman" panose="02020603050405020304" pitchFamily="18" charset="0"/>
                <a:ea typeface="华文中宋" panose="02010600040101010101" pitchFamily="2" charset="-122"/>
              </a:rPr>
              <a:t>[</a:t>
            </a:r>
            <a:r>
              <a:rPr kumimoji="1" lang="en-US" altLang="zh-CN" sz="2400" dirty="0" err="1">
                <a:latin typeface="Times New Roman" panose="02020603050405020304" pitchFamily="18" charset="0"/>
                <a:ea typeface="华文中宋" panose="02010600040101010101" pitchFamily="2" charset="-122"/>
              </a:rPr>
              <a:t>CPIexe</a:t>
            </a:r>
            <a:r>
              <a:rPr kumimoji="1" lang="zh-CN" altLang="en-US" sz="2400" dirty="0">
                <a:latin typeface="Times New Roman" panose="02020603050405020304" pitchFamily="18" charset="0"/>
                <a:ea typeface="华文中宋" panose="02010600040101010101" pitchFamily="2" charset="-122"/>
              </a:rPr>
              <a:t>＋访存次数</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指令数</a:t>
            </a:r>
            <a:r>
              <a:rPr kumimoji="1" lang="en-US" altLang="zh-CN" sz="2400" dirty="0">
                <a:latin typeface="Times New Roman" panose="02020603050405020304" pitchFamily="18" charset="0"/>
                <a:ea typeface="华文中宋" panose="02010600040101010101" pitchFamily="2" charset="-122"/>
              </a:rPr>
              <a:t>×</a:t>
            </a:r>
            <a:br>
              <a:rPr kumimoji="1" lang="en-US" altLang="zh-CN" sz="2400" dirty="0">
                <a:latin typeface="Times New Roman" panose="02020603050405020304" pitchFamily="18" charset="0"/>
                <a:ea typeface="华文中宋" panose="02010600040101010101" pitchFamily="2" charset="-122"/>
              </a:rPr>
            </a:br>
            <a:r>
              <a:rPr kumimoji="1" lang="en-US" altLang="zh-CN" sz="2400" dirty="0">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失效率</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失效开销周期</a:t>
            </a:r>
            <a:r>
              <a:rPr kumimoji="1" lang="en-US" altLang="zh-CN" sz="2400" b="0" dirty="0">
                <a:latin typeface="Times New Roman" panose="02020603050405020304" pitchFamily="18" charset="0"/>
                <a:ea typeface="华文中宋" panose="02010600040101010101" pitchFamily="2" charset="-122"/>
              </a:rPr>
              <a:t>]</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时钟周期时间</a:t>
            </a:r>
          </a:p>
        </p:txBody>
      </p:sp>
      <p:sp>
        <p:nvSpPr>
          <p:cNvPr id="8" name="Rectangle 2">
            <a:extLst>
              <a:ext uri="{FF2B5EF4-FFF2-40B4-BE49-F238E27FC236}">
                <a16:creationId xmlns:a16="http://schemas.microsoft.com/office/drawing/2014/main" id="{D1D9ED0B-85F5-453B-870A-7579B664F7FF}"/>
              </a:ext>
            </a:extLst>
          </p:cNvPr>
          <p:cNvSpPr txBox="1">
            <a:spLocks noChangeArrowheads="1"/>
          </p:cNvSpPr>
          <p:nvPr/>
        </p:nvSpPr>
        <p:spPr>
          <a:xfrm>
            <a:off x="369888" y="116632"/>
            <a:ext cx="8229600" cy="864096"/>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0" lang="en-US" altLang="zh-CN" sz="3600" b="1" dirty="0">
                <a:latin typeface="Times New Roman" panose="02020603050405020304" pitchFamily="18" charset="0"/>
                <a:cs typeface="Times New Roman" panose="02020603050405020304" pitchFamily="18" charset="0"/>
              </a:rPr>
              <a:t>5.2</a:t>
            </a:r>
            <a:r>
              <a:rPr kumimoji="0" lang="en-US" altLang="zh-CN" sz="3600" dirty="0">
                <a:latin typeface="Times New Roman" panose="02020603050405020304" pitchFamily="18" charset="0"/>
                <a:cs typeface="Times New Roman" panose="02020603050405020304" pitchFamily="18" charset="0"/>
              </a:rPr>
              <a:t>.6 </a:t>
            </a:r>
            <a:r>
              <a:rPr kumimoji="0" lang="zh-CN" altLang="en-US" sz="3600" dirty="0">
                <a:latin typeface="Times New Roman" panose="02020603050405020304" pitchFamily="18" charset="0"/>
                <a:cs typeface="Times New Roman" panose="02020603050405020304" pitchFamily="18" charset="0"/>
              </a:rPr>
              <a:t>性能分析</a:t>
            </a:r>
            <a:endParaRPr kumimoji="0" lang="zh-CN" altLang="en-US" sz="3600" b="1"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0D39D820-DC0A-7325-5F21-291902E318FD}"/>
              </a:ext>
            </a:extLst>
          </p:cNvPr>
          <p:cNvSpPr>
            <a:spLocks noGrp="1"/>
          </p:cNvSpPr>
          <p:nvPr>
            <p:ph type="dt" sz="half" idx="10"/>
          </p:nvPr>
        </p:nvSpPr>
        <p:spPr/>
        <p:txBody>
          <a:bodyPr/>
          <a:lstStyle/>
          <a:p>
            <a:pPr>
              <a:defRPr/>
            </a:pPr>
            <a:fld id="{BAE90510-2DC7-4D83-BEF8-73DDEE2B24D5}"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C796A02C-78E7-D30E-ED36-5B102B8A64CE}"/>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12545599-6DDB-AAB2-C463-0AD8313263B1}"/>
              </a:ext>
            </a:extLst>
          </p:cNvPr>
          <p:cNvSpPr>
            <a:spLocks noGrp="1"/>
          </p:cNvSpPr>
          <p:nvPr>
            <p:ph type="sldNum" sz="quarter" idx="12"/>
          </p:nvPr>
        </p:nvSpPr>
        <p:spPr/>
        <p:txBody>
          <a:bodyPr/>
          <a:lstStyle/>
          <a:p>
            <a:pPr>
              <a:defRPr/>
            </a:pPr>
            <a:fld id="{65B7EA61-351E-4105-9AD9-76D38C6E9934}" type="slidenum">
              <a:rPr lang="zh-CN" altLang="en-US" smtClean="0"/>
              <a:t>40</a:t>
            </a:fld>
            <a:endParaRPr lang="en-US" altLang="zh-CN"/>
          </a:p>
        </p:txBody>
      </p:sp>
    </p:spTree>
    <p:extLst>
      <p:ext uri="{BB962C8B-B14F-4D97-AF65-F5344CB8AC3E}">
        <p14:creationId xmlns:p14="http://schemas.microsoft.com/office/powerpoint/2010/main" val="24474920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575556" y="476672"/>
            <a:ext cx="7992888" cy="244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algn="just" eaLnBrk="1" hangingPunct="1">
              <a:lnSpc>
                <a:spcPct val="130000"/>
              </a:lnSpc>
            </a:pPr>
            <a:r>
              <a:rPr kumimoji="1" lang="zh-CN" altLang="en-US" sz="2400" dirty="0">
                <a:solidFill>
                  <a:srgbClr val="C00000"/>
                </a:solidFill>
                <a:latin typeface="Times New Roman" panose="02020603050405020304" pitchFamily="18" charset="0"/>
                <a:ea typeface="华文中宋" panose="02010600040101010101" pitchFamily="2" charset="-122"/>
              </a:rPr>
              <a:t>例</a:t>
            </a:r>
            <a:r>
              <a:rPr kumimoji="1" lang="en-US" altLang="zh-CN" sz="2400" dirty="0">
                <a:solidFill>
                  <a:srgbClr val="C00000"/>
                </a:solidFill>
                <a:latin typeface="Times New Roman" panose="02020603050405020304" pitchFamily="18" charset="0"/>
                <a:ea typeface="华文中宋" panose="02010600040101010101" pitchFamily="2" charset="-122"/>
              </a:rPr>
              <a:t>5.3  </a:t>
            </a:r>
          </a:p>
          <a:p>
            <a:pPr algn="just" eaLnBrk="1" hangingPunct="1">
              <a:lnSpc>
                <a:spcPct val="130000"/>
              </a:lnSpc>
            </a:pPr>
            <a:r>
              <a:rPr kumimoji="1" lang="zh-CN" altLang="en-US" sz="2400" dirty="0">
                <a:latin typeface="Times New Roman" panose="02020603050405020304" pitchFamily="18" charset="0"/>
                <a:ea typeface="华文中宋" panose="02010600040101010101" pitchFamily="2" charset="-122"/>
              </a:rPr>
              <a:t>        </a:t>
            </a:r>
            <a:r>
              <a:rPr lang="zh-CN" altLang="en-US" sz="2400" dirty="0">
                <a:latin typeface="Times New Roman" panose="02020603050405020304" pitchFamily="18" charset="0"/>
                <a:ea typeface="华文中宋" panose="02010600040101010101" pitchFamily="2" charset="-122"/>
              </a:rPr>
              <a:t>假设一台计算机在</a:t>
            </a:r>
            <a:r>
              <a:rPr lang="en-US" altLang="zh-CN" sz="2400" dirty="0">
                <a:latin typeface="Times New Roman" panose="02020603050405020304" pitchFamily="18" charset="0"/>
                <a:ea typeface="华文中宋" panose="02010600040101010101" pitchFamily="2" charset="-122"/>
              </a:rPr>
              <a:t>Cache</a:t>
            </a:r>
            <a:r>
              <a:rPr lang="zh-CN" altLang="en-US" sz="2400" dirty="0">
                <a:latin typeface="Times New Roman" panose="02020603050405020304" pitchFamily="18" charset="0"/>
                <a:ea typeface="华文中宋" panose="02010600040101010101" pitchFamily="2" charset="-122"/>
              </a:rPr>
              <a:t>全命中的情况下</a:t>
            </a:r>
            <a:r>
              <a:rPr lang="en-US" altLang="zh-CN" sz="2400" dirty="0">
                <a:latin typeface="Times New Roman" panose="02020603050405020304" pitchFamily="18" charset="0"/>
                <a:ea typeface="华文中宋" panose="02010600040101010101" pitchFamily="2" charset="-122"/>
              </a:rPr>
              <a:t>CPI</a:t>
            </a:r>
            <a:r>
              <a:rPr lang="zh-CN" altLang="en-US" sz="2400" dirty="0">
                <a:latin typeface="Times New Roman" panose="02020603050405020304" pitchFamily="18" charset="0"/>
                <a:ea typeface="华文中宋" panose="02010600040101010101" pitchFamily="2" charset="-122"/>
              </a:rPr>
              <a:t>为</a:t>
            </a:r>
            <a:r>
              <a:rPr lang="en-US" altLang="zh-CN" sz="2400" dirty="0">
                <a:latin typeface="Times New Roman" panose="02020603050405020304" pitchFamily="18" charset="0"/>
                <a:ea typeface="华文中宋" panose="02010600040101010101" pitchFamily="2" charset="-122"/>
              </a:rPr>
              <a:t>1.0</a:t>
            </a:r>
            <a:r>
              <a:rPr lang="zh-CN" altLang="en-US"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只有</a:t>
            </a:r>
            <a:r>
              <a:rPr kumimoji="1" lang="en-US" altLang="zh-CN" sz="2400" dirty="0">
                <a:latin typeface="Times New Roman" panose="02020603050405020304" pitchFamily="18" charset="0"/>
                <a:ea typeface="华文中宋" panose="02010600040101010101" pitchFamily="2" charset="-122"/>
              </a:rPr>
              <a:t>load</a:t>
            </a:r>
            <a:r>
              <a:rPr kumimoji="1" lang="zh-CN" altLang="en-US" sz="2400" dirty="0">
                <a:latin typeface="Times New Roman" panose="02020603050405020304" pitchFamily="18" charset="0"/>
                <a:ea typeface="华文中宋" panose="02010600040101010101" pitchFamily="2" charset="-122"/>
              </a:rPr>
              <a:t>和</a:t>
            </a:r>
            <a:r>
              <a:rPr kumimoji="1" lang="en-US" altLang="zh-CN" sz="2400" dirty="0">
                <a:latin typeface="Times New Roman" panose="02020603050405020304" pitchFamily="18" charset="0"/>
                <a:ea typeface="华文中宋" panose="02010600040101010101" pitchFamily="2" charset="-122"/>
              </a:rPr>
              <a:t>store</a:t>
            </a:r>
            <a:r>
              <a:rPr kumimoji="1" lang="zh-CN" altLang="en-US" sz="2400" dirty="0">
                <a:latin typeface="Times New Roman" panose="02020603050405020304" pitchFamily="18" charset="0"/>
                <a:ea typeface="华文中宋" panose="02010600040101010101" pitchFamily="2" charset="-122"/>
              </a:rPr>
              <a:t>指令能进行访存，这两种指令占总指令的</a:t>
            </a:r>
            <a:r>
              <a:rPr kumimoji="1" lang="en-US" altLang="zh-CN" sz="2400" dirty="0">
                <a:latin typeface="Times New Roman" panose="02020603050405020304" pitchFamily="18" charset="0"/>
                <a:ea typeface="华文中宋" panose="02010600040101010101" pitchFamily="2" charset="-122"/>
              </a:rPr>
              <a:t>50%</a:t>
            </a:r>
            <a:r>
              <a:rPr lang="zh-CN" altLang="en-US" sz="2400" dirty="0">
                <a:latin typeface="Times New Roman" panose="02020603050405020304" pitchFamily="18" charset="0"/>
                <a:ea typeface="华文中宋" panose="02010600040101010101" pitchFamily="2" charset="-122"/>
              </a:rPr>
              <a:t>，如果</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失效开销为</a:t>
            </a:r>
            <a:r>
              <a:rPr kumimoji="1" lang="en-US" altLang="zh-CN" sz="2400" dirty="0">
                <a:latin typeface="Times New Roman" panose="02020603050405020304" pitchFamily="18" charset="0"/>
                <a:ea typeface="华文中宋" panose="02010600040101010101" pitchFamily="2" charset="-122"/>
              </a:rPr>
              <a:t>200</a:t>
            </a:r>
            <a:r>
              <a:rPr kumimoji="1" lang="zh-CN" altLang="en-US" sz="2400" dirty="0">
                <a:latin typeface="Times New Roman" panose="02020603050405020304" pitchFamily="18" charset="0"/>
                <a:ea typeface="华文中宋" panose="02010600040101010101" pitchFamily="2" charset="-122"/>
              </a:rPr>
              <a:t>个时钟周期， </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的失效率为</a:t>
            </a:r>
            <a:r>
              <a:rPr kumimoji="1" lang="en-US" altLang="zh-CN" sz="2400" dirty="0">
                <a:latin typeface="Times New Roman" panose="02020603050405020304" pitchFamily="18" charset="0"/>
                <a:ea typeface="华文中宋" panose="02010600040101010101" pitchFamily="2" charset="-122"/>
              </a:rPr>
              <a:t>2%</a:t>
            </a:r>
            <a:r>
              <a:rPr kumimoji="1" lang="zh-CN" altLang="en-US" sz="2400" dirty="0">
                <a:latin typeface="Times New Roman" panose="02020603050405020304" pitchFamily="18" charset="0"/>
                <a:ea typeface="华文中宋" panose="02010600040101010101" pitchFamily="2" charset="-122"/>
              </a:rPr>
              <a:t>。试分析</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对性能的影响。</a:t>
            </a:r>
          </a:p>
        </p:txBody>
      </p:sp>
      <p:sp>
        <p:nvSpPr>
          <p:cNvPr id="2" name="日期占位符 1">
            <a:extLst>
              <a:ext uri="{FF2B5EF4-FFF2-40B4-BE49-F238E27FC236}">
                <a16:creationId xmlns:a16="http://schemas.microsoft.com/office/drawing/2014/main" id="{A539E5F8-2187-BB58-3C35-A36F3009C457}"/>
              </a:ext>
            </a:extLst>
          </p:cNvPr>
          <p:cNvSpPr>
            <a:spLocks noGrp="1"/>
          </p:cNvSpPr>
          <p:nvPr>
            <p:ph type="dt" sz="half" idx="10"/>
          </p:nvPr>
        </p:nvSpPr>
        <p:spPr/>
        <p:txBody>
          <a:bodyPr/>
          <a:lstStyle/>
          <a:p>
            <a:pPr>
              <a:defRPr/>
            </a:pPr>
            <a:fld id="{8604EDCA-8AD3-4C20-9642-A6754A4F390A}"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F432B91E-D536-09E3-F209-C13873592323}"/>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4674EDAC-5804-7600-FE90-DA5E5015AA71}"/>
              </a:ext>
            </a:extLst>
          </p:cNvPr>
          <p:cNvSpPr>
            <a:spLocks noGrp="1"/>
          </p:cNvSpPr>
          <p:nvPr>
            <p:ph type="sldNum" sz="quarter" idx="12"/>
          </p:nvPr>
        </p:nvSpPr>
        <p:spPr/>
        <p:txBody>
          <a:bodyPr/>
          <a:lstStyle/>
          <a:p>
            <a:pPr>
              <a:defRPr/>
            </a:pPr>
            <a:fld id="{65B7EA61-351E-4105-9AD9-76D38C6E9934}" type="slidenum">
              <a:rPr lang="zh-CN" altLang="en-US" smtClean="0"/>
              <a:t>41</a:t>
            </a:fld>
            <a:endParaRPr lang="en-US" altLang="zh-CN"/>
          </a:p>
        </p:txBody>
      </p:sp>
    </p:spTree>
    <p:extLst>
      <p:ext uri="{BB962C8B-B14F-4D97-AF65-F5344CB8AC3E}">
        <p14:creationId xmlns:p14="http://schemas.microsoft.com/office/powerpoint/2010/main" val="11854334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p:cNvSpPr txBox="1">
            <a:spLocks noChangeArrowheads="1"/>
          </p:cNvSpPr>
          <p:nvPr/>
        </p:nvSpPr>
        <p:spPr bwMode="auto">
          <a:xfrm>
            <a:off x="1136650" y="2592388"/>
            <a:ext cx="6335389" cy="1827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kumimoji="1" lang="zh-CN" altLang="en-US" sz="2400" dirty="0">
                <a:latin typeface="Times New Roman" panose="02020603050405020304" pitchFamily="18" charset="0"/>
                <a:ea typeface="华文中宋" panose="02010600040101010101" pitchFamily="2" charset="-122"/>
              </a:rPr>
              <a:t>考虑</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的失效后，性能为：</a:t>
            </a:r>
          </a:p>
          <a:p>
            <a:pPr eaLnBrk="1" hangingPunct="1">
              <a:lnSpc>
                <a:spcPct val="120000"/>
              </a:lnSpc>
            </a:pPr>
            <a:r>
              <a:rPr kumimoji="1" lang="en-US" altLang="zh-CN" sz="2400" i="1" dirty="0">
                <a:latin typeface="Times New Roman" panose="02020603050405020304" pitchFamily="18" charset="0"/>
                <a:ea typeface="华文中宋" panose="02010600040101010101" pitchFamily="2" charset="-122"/>
              </a:rPr>
              <a:t>CPU </a:t>
            </a:r>
            <a:r>
              <a:rPr kumimoji="1" lang="zh-CN" altLang="en-US" sz="2400" dirty="0">
                <a:latin typeface="Times New Roman" panose="02020603050405020304" pitchFamily="18" charset="0"/>
                <a:ea typeface="华文中宋" panose="02010600040101010101" pitchFamily="2" charset="-122"/>
              </a:rPr>
              <a:t>时间</a:t>
            </a:r>
            <a:r>
              <a:rPr kumimoji="1" lang="zh-CN" altLang="en-US" sz="2400" baseline="-25000" dirty="0">
                <a:latin typeface="Times New Roman" panose="02020603050405020304" pitchFamily="18" charset="0"/>
                <a:ea typeface="华文中宋" panose="02010600040101010101" pitchFamily="2" charset="-122"/>
              </a:rPr>
              <a:t>有</a:t>
            </a:r>
            <a:r>
              <a:rPr kumimoji="1" lang="en-US" altLang="zh-CN" sz="2400" baseline="-250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a:t>
            </a:r>
            <a:r>
              <a:rPr kumimoji="1" lang="en-US" altLang="zh-CN" sz="2400" i="1" dirty="0">
                <a:latin typeface="Times New Roman" panose="02020603050405020304" pitchFamily="18" charset="0"/>
                <a:ea typeface="华文中宋" panose="02010600040101010101" pitchFamily="2" charset="-122"/>
              </a:rPr>
              <a:t>IC</a:t>
            </a:r>
            <a:r>
              <a:rPr kumimoji="1" lang="en-US" altLang="zh-CN" sz="2400" dirty="0">
                <a:latin typeface="Times New Roman" panose="02020603050405020304" pitchFamily="18" charset="0"/>
                <a:ea typeface="华文中宋" panose="02010600040101010101" pitchFamily="2" charset="-122"/>
              </a:rPr>
              <a:t>×(1.0</a:t>
            </a:r>
            <a:r>
              <a:rPr kumimoji="1" lang="zh-CN" altLang="en-US" sz="2400" dirty="0">
                <a:latin typeface="Times New Roman" panose="02020603050405020304" pitchFamily="18" charset="0"/>
                <a:ea typeface="华文中宋" panose="02010600040101010101" pitchFamily="2" charset="-122"/>
              </a:rPr>
              <a:t>＋</a:t>
            </a:r>
            <a:r>
              <a:rPr kumimoji="1" lang="en-US" altLang="zh-CN" sz="2400" dirty="0">
                <a:latin typeface="Times New Roman" panose="02020603050405020304" pitchFamily="18" charset="0"/>
                <a:ea typeface="华文中宋" panose="02010600040101010101" pitchFamily="2" charset="-122"/>
              </a:rPr>
              <a:t>1. 5×2%×200))</a:t>
            </a:r>
            <a:br>
              <a:rPr kumimoji="1" lang="en-US" altLang="zh-CN" sz="2400" dirty="0">
                <a:latin typeface="Times New Roman" panose="02020603050405020304" pitchFamily="18" charset="0"/>
                <a:ea typeface="华文中宋" panose="02010600040101010101" pitchFamily="2" charset="-122"/>
              </a:rPr>
            </a:br>
            <a:r>
              <a:rPr kumimoji="1" lang="en-US" altLang="zh-CN" sz="2400" dirty="0">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时钟周期时间</a:t>
            </a:r>
            <a:br>
              <a:rPr kumimoji="1" lang="zh-CN" altLang="en-US" sz="2400" dirty="0">
                <a:latin typeface="Times New Roman" panose="02020603050405020304" pitchFamily="18" charset="0"/>
                <a:ea typeface="华文中宋" panose="02010600040101010101" pitchFamily="2" charset="-122"/>
              </a:rPr>
            </a:br>
            <a:r>
              <a:rPr kumimoji="1" lang="zh-CN" altLang="en-US" sz="2400" dirty="0">
                <a:latin typeface="Times New Roman" panose="02020603050405020304" pitchFamily="18" charset="0"/>
                <a:ea typeface="华文中宋" panose="02010600040101010101" pitchFamily="2" charset="-122"/>
              </a:rPr>
              <a:t>                          ＝</a:t>
            </a:r>
            <a:r>
              <a:rPr kumimoji="1" lang="en-US" altLang="zh-CN" sz="2400" i="1" dirty="0">
                <a:latin typeface="Times New Roman" panose="02020603050405020304" pitchFamily="18" charset="0"/>
                <a:ea typeface="华文中宋" panose="02010600040101010101" pitchFamily="2" charset="-122"/>
              </a:rPr>
              <a:t>IC</a:t>
            </a:r>
            <a:r>
              <a:rPr kumimoji="1" lang="en-US" altLang="zh-CN" sz="2400" dirty="0">
                <a:latin typeface="Times New Roman" panose="02020603050405020304" pitchFamily="18" charset="0"/>
                <a:ea typeface="华文中宋" panose="02010600040101010101" pitchFamily="2" charset="-122"/>
              </a:rPr>
              <a:t>×7.0×</a:t>
            </a:r>
            <a:r>
              <a:rPr kumimoji="1" lang="zh-CN" altLang="en-US" sz="2400" dirty="0">
                <a:latin typeface="Times New Roman" panose="02020603050405020304" pitchFamily="18" charset="0"/>
                <a:ea typeface="华文中宋" panose="02010600040101010101" pitchFamily="2" charset="-122"/>
              </a:rPr>
              <a:t>时钟周期时间</a:t>
            </a:r>
            <a:endParaRPr kumimoji="1" lang="zh-CN" altLang="en-US" sz="2400" b="0" dirty="0">
              <a:latin typeface="Times New Roman" panose="02020603050405020304" pitchFamily="18" charset="0"/>
              <a:ea typeface="华文中宋" panose="02010600040101010101" pitchFamily="2" charset="-122"/>
            </a:endParaRPr>
          </a:p>
        </p:txBody>
      </p:sp>
      <p:sp>
        <p:nvSpPr>
          <p:cNvPr id="14342" name="Text Box 6"/>
          <p:cNvSpPr txBox="1">
            <a:spLocks noChangeArrowheads="1"/>
          </p:cNvSpPr>
          <p:nvPr/>
        </p:nvSpPr>
        <p:spPr bwMode="auto">
          <a:xfrm>
            <a:off x="684213" y="1111250"/>
            <a:ext cx="914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zh-CN" altLang="en-US" sz="2400">
                <a:solidFill>
                  <a:schemeClr val="accent2"/>
                </a:solidFill>
                <a:latin typeface="Times New Roman" panose="02020603050405020304" pitchFamily="18" charset="0"/>
                <a:ea typeface="华文中宋" panose="02010600040101010101" pitchFamily="2" charset="-122"/>
              </a:rPr>
              <a:t>解：</a:t>
            </a:r>
          </a:p>
        </p:txBody>
      </p:sp>
      <p:sp>
        <p:nvSpPr>
          <p:cNvPr id="14343" name="Text Box 7"/>
          <p:cNvSpPr txBox="1">
            <a:spLocks noChangeArrowheads="1"/>
          </p:cNvSpPr>
          <p:nvPr/>
        </p:nvSpPr>
        <p:spPr bwMode="auto">
          <a:xfrm>
            <a:off x="1141413" y="4508500"/>
            <a:ext cx="6400800" cy="52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30000"/>
              </a:lnSpc>
            </a:pPr>
            <a:r>
              <a:rPr kumimoji="1" lang="zh-CN" altLang="en-US" sz="2400" dirty="0">
                <a:latin typeface="Times New Roman" panose="02020603050405020304" pitchFamily="18" charset="0"/>
                <a:ea typeface="华文中宋" panose="02010600040101010101" pitchFamily="2" charset="-122"/>
              </a:rPr>
              <a:t>实际</a:t>
            </a:r>
            <a:r>
              <a:rPr kumimoji="1" lang="en-US" altLang="zh-CN" sz="2400" i="1" dirty="0">
                <a:latin typeface="Times New Roman" panose="02020603050405020304" pitchFamily="18" charset="0"/>
                <a:ea typeface="华文中宋" panose="02010600040101010101" pitchFamily="2" charset="-122"/>
              </a:rPr>
              <a:t>CPI </a:t>
            </a:r>
            <a:r>
              <a:rPr kumimoji="1" lang="zh-CN" altLang="en-US" sz="2400" dirty="0">
                <a:latin typeface="Times New Roman" panose="02020603050405020304" pitchFamily="18" charset="0"/>
                <a:ea typeface="华文中宋" panose="02010600040101010101" pitchFamily="2" charset="-122"/>
              </a:rPr>
              <a:t>：</a:t>
            </a:r>
            <a:r>
              <a:rPr kumimoji="1" lang="en-US" altLang="zh-CN" sz="2400" dirty="0">
                <a:latin typeface="Times New Roman" panose="02020603050405020304" pitchFamily="18" charset="0"/>
                <a:ea typeface="华文中宋" panose="02010600040101010101" pitchFamily="2" charset="-122"/>
              </a:rPr>
              <a:t>7.0     ——   7.0/1.0 = 7.0(</a:t>
            </a:r>
            <a:r>
              <a:rPr kumimoji="1" lang="zh-CN" altLang="en-US" sz="2400" dirty="0">
                <a:latin typeface="Times New Roman" panose="02020603050405020304" pitchFamily="18" charset="0"/>
                <a:ea typeface="华文中宋" panose="02010600040101010101" pitchFamily="2" charset="-122"/>
              </a:rPr>
              <a:t>倍</a:t>
            </a:r>
            <a:r>
              <a:rPr kumimoji="1" lang="en-US" altLang="zh-CN" sz="2400" dirty="0">
                <a:latin typeface="Times New Roman" panose="02020603050405020304" pitchFamily="18" charset="0"/>
                <a:ea typeface="华文中宋" panose="02010600040101010101" pitchFamily="2" charset="-122"/>
              </a:rPr>
              <a:t>)</a:t>
            </a:r>
          </a:p>
        </p:txBody>
      </p:sp>
      <p:sp>
        <p:nvSpPr>
          <p:cNvPr id="14344" name="Text Box 8"/>
          <p:cNvSpPr txBox="1">
            <a:spLocks noChangeArrowheads="1"/>
          </p:cNvSpPr>
          <p:nvPr/>
        </p:nvSpPr>
        <p:spPr bwMode="auto">
          <a:xfrm>
            <a:off x="1187450" y="5157788"/>
            <a:ext cx="7129463"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kumimoji="1" lang="en-US" altLang="zh-CN" sz="2400" dirty="0">
                <a:latin typeface="Times New Roman" panose="02020603050405020304" pitchFamily="18" charset="0"/>
                <a:ea typeface="华文中宋" panose="02010600040101010101" pitchFamily="2" charset="-122"/>
              </a:rPr>
              <a:t>CPU</a:t>
            </a:r>
            <a:r>
              <a:rPr kumimoji="1" lang="zh-CN" altLang="en-US" sz="2400" dirty="0">
                <a:latin typeface="Times New Roman" panose="02020603050405020304" pitchFamily="18" charset="0"/>
                <a:ea typeface="华文中宋" panose="02010600040101010101" pitchFamily="2" charset="-122"/>
              </a:rPr>
              <a:t>时间也增加为原来的</a:t>
            </a:r>
            <a:r>
              <a:rPr kumimoji="1" lang="en-US" altLang="zh-CN" sz="2400" dirty="0">
                <a:latin typeface="Times New Roman" panose="02020603050405020304" pitchFamily="18" charset="0"/>
                <a:ea typeface="华文中宋" panose="02010600040101010101" pitchFamily="2" charset="-122"/>
              </a:rPr>
              <a:t>7.0</a:t>
            </a:r>
            <a:r>
              <a:rPr kumimoji="1" lang="zh-CN" altLang="en-US" sz="2400" dirty="0">
                <a:latin typeface="Times New Roman" panose="02020603050405020304" pitchFamily="18" charset="0"/>
                <a:ea typeface="华文中宋" panose="02010600040101010101" pitchFamily="2" charset="-122"/>
              </a:rPr>
              <a:t>倍。但若不采用</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则：</a:t>
            </a:r>
            <a:r>
              <a:rPr kumimoji="1" lang="en-US" altLang="zh-CN" sz="2400" i="1" dirty="0">
                <a:latin typeface="Times New Roman" panose="02020603050405020304" pitchFamily="18" charset="0"/>
                <a:ea typeface="华文中宋" panose="02010600040101010101" pitchFamily="2" charset="-122"/>
              </a:rPr>
              <a:t>CPI</a:t>
            </a:r>
            <a:r>
              <a:rPr kumimoji="1" lang="zh-CN" altLang="en-US" sz="2400" dirty="0">
                <a:latin typeface="Times New Roman" panose="02020603050405020304" pitchFamily="18" charset="0"/>
                <a:ea typeface="华文中宋" panose="02010600040101010101" pitchFamily="2" charset="-122"/>
              </a:rPr>
              <a:t>＝</a:t>
            </a:r>
            <a:r>
              <a:rPr lang="en-US" altLang="zh-CN" sz="2400" dirty="0">
                <a:latin typeface="Times New Roman" panose="02020603050405020304" pitchFamily="18" charset="0"/>
                <a:ea typeface="华文中宋" panose="02010600040101010101" pitchFamily="2" charset="-122"/>
              </a:rPr>
              <a:t>1.0+1.5×200</a:t>
            </a:r>
            <a:r>
              <a:rPr kumimoji="1" lang="zh-CN" altLang="en-US" sz="2400" dirty="0">
                <a:latin typeface="Times New Roman" panose="02020603050405020304" pitchFamily="18" charset="0"/>
                <a:ea typeface="华文中宋" panose="02010600040101010101" pitchFamily="2" charset="-122"/>
              </a:rPr>
              <a:t>＝</a:t>
            </a:r>
            <a:r>
              <a:rPr kumimoji="1" lang="en-US" altLang="zh-CN" sz="2400" dirty="0">
                <a:latin typeface="Times New Roman" panose="02020603050405020304" pitchFamily="18" charset="0"/>
                <a:ea typeface="华文中宋" panose="02010600040101010101" pitchFamily="2" charset="-122"/>
              </a:rPr>
              <a:t>301</a:t>
            </a:r>
          </a:p>
        </p:txBody>
      </p:sp>
      <p:sp>
        <p:nvSpPr>
          <p:cNvPr id="9" name="Text Box 4"/>
          <p:cNvSpPr txBox="1">
            <a:spLocks noChangeArrowheads="1"/>
          </p:cNvSpPr>
          <p:nvPr/>
        </p:nvSpPr>
        <p:spPr bwMode="auto">
          <a:xfrm>
            <a:off x="1200943" y="1523504"/>
            <a:ext cx="7258843" cy="1005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30000"/>
              </a:lnSpc>
            </a:pPr>
            <a:r>
              <a:rPr kumimoji="1" lang="en-US" altLang="zh-CN" sz="2400" dirty="0">
                <a:latin typeface="Times New Roman" panose="02020603050405020304" pitchFamily="18" charset="0"/>
                <a:ea typeface="华文中宋" panose="02010600040101010101" pitchFamily="2" charset="-122"/>
              </a:rPr>
              <a:t>CPU</a:t>
            </a:r>
            <a:r>
              <a:rPr kumimoji="1" lang="zh-CN" altLang="en-US" sz="2400" dirty="0">
                <a:latin typeface="Times New Roman" panose="02020603050405020304" pitchFamily="18" charset="0"/>
                <a:ea typeface="华文中宋" panose="02010600040101010101" pitchFamily="2" charset="-122"/>
              </a:rPr>
              <a:t>时间＝</a:t>
            </a:r>
            <a:r>
              <a:rPr kumimoji="1" lang="en-US" altLang="zh-CN" sz="2400" dirty="0">
                <a:latin typeface="Times New Roman" panose="02020603050405020304" pitchFamily="18" charset="0"/>
                <a:ea typeface="华文中宋" panose="02010600040101010101" pitchFamily="2" charset="-122"/>
              </a:rPr>
              <a:t>IC×</a:t>
            </a:r>
            <a:r>
              <a:rPr kumimoji="1" lang="en-US" altLang="zh-CN" sz="2400" b="0" dirty="0">
                <a:latin typeface="Times New Roman" panose="02020603050405020304" pitchFamily="18" charset="0"/>
                <a:ea typeface="华文中宋" panose="02010600040101010101" pitchFamily="2" charset="-122"/>
              </a:rPr>
              <a:t>[</a:t>
            </a:r>
            <a:r>
              <a:rPr kumimoji="1" lang="en-US" altLang="zh-CN" sz="2400" dirty="0" err="1">
                <a:latin typeface="Times New Roman" panose="02020603050405020304" pitchFamily="18" charset="0"/>
                <a:ea typeface="华文中宋" panose="02010600040101010101" pitchFamily="2" charset="-122"/>
              </a:rPr>
              <a:t>CPIexe</a:t>
            </a:r>
            <a:r>
              <a:rPr kumimoji="1" lang="zh-CN" altLang="en-US" sz="2400" dirty="0">
                <a:latin typeface="Times New Roman" panose="02020603050405020304" pitchFamily="18" charset="0"/>
                <a:ea typeface="华文中宋" panose="02010600040101010101" pitchFamily="2" charset="-122"/>
              </a:rPr>
              <a:t>＋访存次数</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指令数</a:t>
            </a:r>
            <a:r>
              <a:rPr kumimoji="1" lang="en-US" altLang="zh-CN" sz="2400" dirty="0">
                <a:latin typeface="Times New Roman" panose="02020603050405020304" pitchFamily="18" charset="0"/>
                <a:ea typeface="华文中宋" panose="02010600040101010101" pitchFamily="2" charset="-122"/>
              </a:rPr>
              <a:t>×</a:t>
            </a:r>
            <a:br>
              <a:rPr kumimoji="1" lang="en-US" altLang="zh-CN" sz="2400" dirty="0">
                <a:latin typeface="Times New Roman" panose="02020603050405020304" pitchFamily="18" charset="0"/>
                <a:ea typeface="华文中宋" panose="02010600040101010101" pitchFamily="2" charset="-122"/>
              </a:rPr>
            </a:br>
            <a:r>
              <a:rPr kumimoji="1" lang="en-US" altLang="zh-CN" sz="2400" dirty="0">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失效率</a:t>
            </a:r>
            <a:r>
              <a:rPr kumimoji="1" lang="en-US" altLang="zh-CN" sz="2400" dirty="0">
                <a:latin typeface="Times New Roman" panose="02020603050405020304" pitchFamily="18" charset="0"/>
                <a:ea typeface="华文中宋" panose="02010600040101010101" pitchFamily="2" charset="-122"/>
              </a:rPr>
              <a:t>×</a:t>
            </a:r>
            <a:r>
              <a:rPr lang="zh-CN" altLang="en-US" sz="2400" dirty="0">
                <a:solidFill>
                  <a:prstClr val="black"/>
                </a:solidFill>
                <a:latin typeface="Times New Roman" panose="02020603050405020304" pitchFamily="18" charset="0"/>
                <a:ea typeface="华文中宋" panose="02010600040101010101" pitchFamily="2" charset="-122"/>
              </a:rPr>
              <a:t>失效开销周期</a:t>
            </a:r>
            <a:r>
              <a:rPr kumimoji="1" lang="en-US" altLang="zh-CN" sz="2400" b="0" dirty="0">
                <a:latin typeface="Times New Roman" panose="02020603050405020304" pitchFamily="18" charset="0"/>
                <a:ea typeface="华文中宋" panose="02010600040101010101" pitchFamily="2" charset="-122"/>
              </a:rPr>
              <a:t>]</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时钟周期时间</a:t>
            </a:r>
          </a:p>
        </p:txBody>
      </p:sp>
      <p:sp>
        <p:nvSpPr>
          <p:cNvPr id="2" name="日期占位符 1">
            <a:extLst>
              <a:ext uri="{FF2B5EF4-FFF2-40B4-BE49-F238E27FC236}">
                <a16:creationId xmlns:a16="http://schemas.microsoft.com/office/drawing/2014/main" id="{3690F43E-2010-142A-0BB3-17AD189385D7}"/>
              </a:ext>
            </a:extLst>
          </p:cNvPr>
          <p:cNvSpPr>
            <a:spLocks noGrp="1"/>
          </p:cNvSpPr>
          <p:nvPr>
            <p:ph type="dt" sz="half" idx="10"/>
          </p:nvPr>
        </p:nvSpPr>
        <p:spPr/>
        <p:txBody>
          <a:bodyPr/>
          <a:lstStyle/>
          <a:p>
            <a:pPr>
              <a:defRPr/>
            </a:pPr>
            <a:fld id="{24B9DFE2-987A-433F-8319-D6448925444A}"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7CEE1235-F0A3-E152-D94D-93087A812DA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D2480E5-A0E8-1E0B-ABAD-8A0530A1E9B4}"/>
              </a:ext>
            </a:extLst>
          </p:cNvPr>
          <p:cNvSpPr>
            <a:spLocks noGrp="1"/>
          </p:cNvSpPr>
          <p:nvPr>
            <p:ph type="sldNum" sz="quarter" idx="12"/>
          </p:nvPr>
        </p:nvSpPr>
        <p:spPr/>
        <p:txBody>
          <a:bodyPr/>
          <a:lstStyle/>
          <a:p>
            <a:pPr>
              <a:defRPr/>
            </a:pPr>
            <a:fld id="{65B7EA61-351E-4105-9AD9-76D38C6E9934}" type="slidenum">
              <a:rPr lang="zh-CN" altLang="en-US" smtClean="0"/>
              <a:t>42</a:t>
            </a:fld>
            <a:endParaRPr lang="en-US" altLang="zh-CN"/>
          </a:p>
        </p:txBody>
      </p:sp>
    </p:spTree>
    <p:extLst>
      <p:ext uri="{BB962C8B-B14F-4D97-AF65-F5344CB8AC3E}">
        <p14:creationId xmlns:p14="http://schemas.microsoft.com/office/powerpoint/2010/main" val="28970137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3" descr="Rectangle: Click to edit Master text styles&#10;Second level&#10;Third level&#10;Fourth level&#10;Fifth level"/>
          <p:cNvSpPr>
            <a:spLocks noGrp="1" noChangeArrowheads="1"/>
          </p:cNvSpPr>
          <p:nvPr>
            <p:ph type="body" idx="1"/>
          </p:nvPr>
        </p:nvSpPr>
        <p:spPr>
          <a:xfrm>
            <a:off x="571704" y="332656"/>
            <a:ext cx="8176760" cy="5808663"/>
          </a:xfrm>
        </p:spPr>
        <p:txBody>
          <a:bodyPr/>
          <a:lstStyle/>
          <a:p>
            <a:pPr marL="36000" indent="0" algn="just" eaLnBrk="1" hangingPunct="1">
              <a:lnSpc>
                <a:spcPct val="130000"/>
              </a:lnSpc>
              <a:spcBef>
                <a:spcPct val="0"/>
              </a:spcBef>
              <a:buFont typeface="Wingdings" panose="05000000000000000000" pitchFamily="2" charset="2"/>
              <a:buNone/>
            </a:pPr>
            <a:r>
              <a:rPr kumimoji="1" lang="zh-CN" altLang="en-US" sz="2400" b="1" dirty="0">
                <a:solidFill>
                  <a:schemeClr val="accent2"/>
                </a:solidFill>
                <a:latin typeface="Times New Roman" panose="02020603050405020304" pitchFamily="18" charset="0"/>
                <a:ea typeface="华文中宋" panose="02010600040101010101" pitchFamily="2" charset="-122"/>
              </a:rPr>
              <a:t>例</a:t>
            </a:r>
            <a:r>
              <a:rPr kumimoji="1" lang="en-US" altLang="zh-CN" sz="2400" b="1" dirty="0">
                <a:solidFill>
                  <a:schemeClr val="accent2"/>
                </a:solidFill>
                <a:latin typeface="Times New Roman" panose="02020603050405020304" pitchFamily="18" charset="0"/>
                <a:ea typeface="华文中宋" panose="02010600040101010101" pitchFamily="2" charset="-122"/>
              </a:rPr>
              <a:t>5.4 </a:t>
            </a:r>
            <a:r>
              <a:rPr kumimoji="1" lang="zh-CN" altLang="en-US" sz="2200" b="1" dirty="0">
                <a:latin typeface="Times New Roman" panose="02020603050405020304" pitchFamily="18" charset="0"/>
                <a:ea typeface="华文中宋" panose="02010600040101010101" pitchFamily="2" charset="-122"/>
              </a:rPr>
              <a:t>考虑两种不同组织结构的</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：直接映象</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和两路组相联</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，试问它们对</a:t>
            </a:r>
            <a:r>
              <a:rPr kumimoji="1" lang="en-US" altLang="zh-CN" sz="2200" b="1" dirty="0">
                <a:latin typeface="Times New Roman" panose="02020603050405020304" pitchFamily="18" charset="0"/>
                <a:ea typeface="华文中宋" panose="02010600040101010101" pitchFamily="2" charset="-122"/>
              </a:rPr>
              <a:t>CPU</a:t>
            </a:r>
            <a:r>
              <a:rPr kumimoji="1" lang="zh-CN" altLang="en-US" sz="2200" b="1" dirty="0">
                <a:latin typeface="Times New Roman" panose="02020603050405020304" pitchFamily="18" charset="0"/>
                <a:ea typeface="华文中宋" panose="02010600040101010101" pitchFamily="2" charset="-122"/>
              </a:rPr>
              <a:t>的性能有何影响？先求平均访存时间，然后再计算</a:t>
            </a:r>
            <a:r>
              <a:rPr kumimoji="1" lang="en-US" altLang="zh-CN" sz="2200" b="1" dirty="0">
                <a:latin typeface="Times New Roman" panose="02020603050405020304" pitchFamily="18" charset="0"/>
                <a:ea typeface="华文中宋" panose="02010600040101010101" pitchFamily="2" charset="-122"/>
              </a:rPr>
              <a:t>CPU</a:t>
            </a:r>
            <a:r>
              <a:rPr kumimoji="1" lang="zh-CN" altLang="en-US" sz="2200" b="1" dirty="0">
                <a:latin typeface="Times New Roman" panose="02020603050405020304" pitchFamily="18" charset="0"/>
                <a:ea typeface="华文中宋" panose="02010600040101010101" pitchFamily="2" charset="-122"/>
              </a:rPr>
              <a:t>性能。分析时请用以下假设：</a:t>
            </a:r>
          </a:p>
          <a:p>
            <a:pPr marL="36000" indent="0" algn="just" eaLnBrk="1" hangingPunct="1">
              <a:lnSpc>
                <a:spcPct val="130000"/>
              </a:lnSpc>
              <a:spcBef>
                <a:spcPct val="0"/>
              </a:spcBef>
              <a:buFont typeface="Wingdings" panose="05000000000000000000" pitchFamily="2" charset="2"/>
              <a:buNone/>
            </a:pPr>
            <a:r>
              <a:rPr kumimoji="1" lang="zh-CN" altLang="en-US" sz="2200" b="1" dirty="0">
                <a:latin typeface="Times New Roman" panose="02020603050405020304" pitchFamily="18" charset="0"/>
                <a:ea typeface="华文中宋" panose="02010600040101010101" pitchFamily="2" charset="-122"/>
              </a:rPr>
              <a:t>     </a:t>
            </a:r>
            <a:r>
              <a:rPr kumimoji="1" lang="en-US" altLang="zh-CN" sz="2200" b="1" dirty="0">
                <a:latin typeface="Times New Roman" panose="02020603050405020304" pitchFamily="18" charset="0"/>
                <a:ea typeface="华文中宋" panose="02010600040101010101" pitchFamily="2" charset="-122"/>
              </a:rPr>
              <a:t>(1) </a:t>
            </a:r>
            <a:r>
              <a:rPr kumimoji="1" lang="zh-CN" altLang="en-US" sz="2200" b="1" dirty="0">
                <a:latin typeface="Times New Roman" panose="02020603050405020304" pitchFamily="18" charset="0"/>
                <a:ea typeface="华文中宋" panose="02010600040101010101" pitchFamily="2" charset="-122"/>
              </a:rPr>
              <a:t>理想</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（命中率为</a:t>
            </a:r>
            <a:r>
              <a:rPr kumimoji="1" lang="en-US" altLang="zh-CN" sz="2200" b="1" dirty="0">
                <a:latin typeface="Times New Roman" panose="02020603050405020304" pitchFamily="18" charset="0"/>
                <a:ea typeface="华文中宋" panose="02010600040101010101" pitchFamily="2" charset="-122"/>
              </a:rPr>
              <a:t>100%</a:t>
            </a:r>
            <a:r>
              <a:rPr kumimoji="1" lang="zh-CN" altLang="en-US" sz="2200" b="1" dirty="0">
                <a:latin typeface="Times New Roman" panose="02020603050405020304" pitchFamily="18" charset="0"/>
                <a:ea typeface="华文中宋" panose="02010600040101010101" pitchFamily="2" charset="-122"/>
              </a:rPr>
              <a:t>）情况下的</a:t>
            </a:r>
            <a:r>
              <a:rPr kumimoji="1" lang="en-US" altLang="zh-CN" sz="2200" b="1" dirty="0">
                <a:latin typeface="Times New Roman" panose="02020603050405020304" pitchFamily="18" charset="0"/>
                <a:ea typeface="华文中宋" panose="02010600040101010101" pitchFamily="2" charset="-122"/>
              </a:rPr>
              <a:t>CPI</a:t>
            </a:r>
            <a:r>
              <a:rPr kumimoji="1" lang="zh-CN" altLang="en-US" sz="2200" b="1" dirty="0">
                <a:latin typeface="Times New Roman" panose="02020603050405020304" pitchFamily="18" charset="0"/>
                <a:ea typeface="华文中宋" panose="02010600040101010101" pitchFamily="2" charset="-122"/>
              </a:rPr>
              <a:t>为</a:t>
            </a:r>
            <a:r>
              <a:rPr kumimoji="1" lang="en-US" altLang="zh-CN" sz="2200" b="1" dirty="0">
                <a:latin typeface="Times New Roman" panose="02020603050405020304" pitchFamily="18" charset="0"/>
                <a:ea typeface="华文中宋" panose="02010600040101010101" pitchFamily="2" charset="-122"/>
              </a:rPr>
              <a:t>1.6</a:t>
            </a:r>
            <a:r>
              <a:rPr kumimoji="1" lang="zh-CN" altLang="en-US" sz="2200" b="1" dirty="0">
                <a:latin typeface="Times New Roman" panose="02020603050405020304" pitchFamily="18" charset="0"/>
                <a:ea typeface="华文中宋" panose="02010600040101010101" pitchFamily="2" charset="-122"/>
              </a:rPr>
              <a:t>，时钟周期为</a:t>
            </a:r>
            <a:r>
              <a:rPr kumimoji="1" lang="en-US" altLang="zh-CN" sz="2200" b="1" dirty="0">
                <a:latin typeface="Times New Roman" panose="02020603050405020304" pitchFamily="18" charset="0"/>
                <a:ea typeface="华文中宋" panose="02010600040101010101" pitchFamily="2" charset="-122"/>
              </a:rPr>
              <a:t>0.35ns</a:t>
            </a:r>
            <a:r>
              <a:rPr kumimoji="1" lang="zh-CN" altLang="en-US" sz="2200" b="1" dirty="0">
                <a:latin typeface="Times New Roman" panose="02020603050405020304" pitchFamily="18" charset="0"/>
                <a:ea typeface="华文中宋" panose="02010600040101010101" pitchFamily="2" charset="-122"/>
              </a:rPr>
              <a:t>，平均每条指令访存</a:t>
            </a:r>
            <a:r>
              <a:rPr kumimoji="1" lang="en-US" altLang="zh-CN" sz="2200" b="1" dirty="0">
                <a:latin typeface="Times New Roman" panose="02020603050405020304" pitchFamily="18" charset="0"/>
                <a:ea typeface="华文中宋" panose="02010600040101010101" pitchFamily="2" charset="-122"/>
              </a:rPr>
              <a:t>1.4</a:t>
            </a:r>
            <a:r>
              <a:rPr kumimoji="1" lang="zh-CN" altLang="en-US" sz="2200" b="1" dirty="0">
                <a:latin typeface="Times New Roman" panose="02020603050405020304" pitchFamily="18" charset="0"/>
                <a:ea typeface="华文中宋" panose="02010600040101010101" pitchFamily="2" charset="-122"/>
              </a:rPr>
              <a:t>次。</a:t>
            </a:r>
          </a:p>
          <a:p>
            <a:pPr marL="36000" indent="0" algn="just" eaLnBrk="1" hangingPunct="1">
              <a:lnSpc>
                <a:spcPct val="130000"/>
              </a:lnSpc>
              <a:spcBef>
                <a:spcPct val="0"/>
              </a:spcBef>
              <a:buFont typeface="Wingdings" panose="05000000000000000000" pitchFamily="2" charset="2"/>
              <a:buNone/>
            </a:pPr>
            <a:r>
              <a:rPr kumimoji="1" lang="zh-CN" altLang="en-US" sz="2200" b="1" dirty="0">
                <a:latin typeface="Times New Roman" panose="02020603050405020304" pitchFamily="18" charset="0"/>
                <a:ea typeface="华文中宋" panose="02010600040101010101" pitchFamily="2" charset="-122"/>
              </a:rPr>
              <a:t>     </a:t>
            </a:r>
            <a:r>
              <a:rPr kumimoji="1" lang="en-US" altLang="zh-CN" sz="2200" b="1" dirty="0">
                <a:latin typeface="Times New Roman" panose="02020603050405020304" pitchFamily="18" charset="0"/>
                <a:ea typeface="华文中宋" panose="02010600040101010101" pitchFamily="2" charset="-122"/>
              </a:rPr>
              <a:t>(2) </a:t>
            </a:r>
            <a:r>
              <a:rPr kumimoji="1" lang="zh-CN" altLang="en-US" sz="2200" b="1" dirty="0">
                <a:latin typeface="Times New Roman" panose="02020603050405020304" pitchFamily="18" charset="0"/>
                <a:ea typeface="华文中宋" panose="02010600040101010101" pitchFamily="2" charset="-122"/>
              </a:rPr>
              <a:t>两种</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容量均为</a:t>
            </a:r>
            <a:r>
              <a:rPr kumimoji="1" lang="en-US" altLang="zh-CN" sz="2200" b="1" dirty="0">
                <a:latin typeface="Times New Roman" panose="02020603050405020304" pitchFamily="18" charset="0"/>
                <a:ea typeface="华文中宋" panose="02010600040101010101" pitchFamily="2" charset="-122"/>
              </a:rPr>
              <a:t>128KB</a:t>
            </a:r>
            <a:r>
              <a:rPr kumimoji="1" lang="zh-CN" altLang="en-US" sz="2200" b="1" dirty="0">
                <a:latin typeface="Times New Roman" panose="02020603050405020304" pitchFamily="18" charset="0"/>
                <a:ea typeface="华文中宋" panose="02010600040101010101" pitchFamily="2" charset="-122"/>
              </a:rPr>
              <a:t>，块大小都是</a:t>
            </a:r>
            <a:r>
              <a:rPr kumimoji="1" lang="en-US" altLang="zh-CN" sz="2200" b="1" dirty="0">
                <a:latin typeface="Times New Roman" panose="02020603050405020304" pitchFamily="18" charset="0"/>
                <a:ea typeface="华文中宋" panose="02010600040101010101" pitchFamily="2" charset="-122"/>
              </a:rPr>
              <a:t>32</a:t>
            </a:r>
            <a:r>
              <a:rPr kumimoji="1" lang="zh-CN" altLang="en-US" sz="2200" b="1" dirty="0">
                <a:latin typeface="Times New Roman" panose="02020603050405020304" pitchFamily="18" charset="0"/>
                <a:ea typeface="华文中宋" panose="02010600040101010101" pitchFamily="2" charset="-122"/>
              </a:rPr>
              <a:t>字节。</a:t>
            </a:r>
          </a:p>
          <a:p>
            <a:pPr marL="36000" indent="0" algn="just" eaLnBrk="1" hangingPunct="1">
              <a:lnSpc>
                <a:spcPct val="130000"/>
              </a:lnSpc>
              <a:spcBef>
                <a:spcPct val="0"/>
              </a:spcBef>
              <a:buFont typeface="Wingdings" panose="05000000000000000000" pitchFamily="2" charset="2"/>
              <a:buNone/>
            </a:pPr>
            <a:r>
              <a:rPr kumimoji="1" lang="zh-CN" altLang="en-US" sz="2200" b="1" dirty="0">
                <a:latin typeface="Times New Roman" panose="02020603050405020304" pitchFamily="18" charset="0"/>
                <a:ea typeface="华文中宋" panose="02010600040101010101" pitchFamily="2" charset="-122"/>
              </a:rPr>
              <a:t>     </a:t>
            </a:r>
            <a:r>
              <a:rPr kumimoji="1" lang="en-US" altLang="zh-CN" sz="2200" b="1" dirty="0">
                <a:latin typeface="Times New Roman" panose="02020603050405020304" pitchFamily="18" charset="0"/>
                <a:ea typeface="华文中宋" panose="02010600040101010101" pitchFamily="2" charset="-122"/>
              </a:rPr>
              <a:t>(3) </a:t>
            </a:r>
            <a:r>
              <a:rPr kumimoji="1" lang="zh-CN" altLang="en-US" sz="2200" b="1" dirty="0">
                <a:latin typeface="Times New Roman" panose="02020603050405020304" pitchFamily="18" charset="0"/>
                <a:ea typeface="华文中宋" panose="02010600040101010101" pitchFamily="2" charset="-122"/>
              </a:rPr>
              <a:t>在组相联</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中，由于多路选择器的存在而使</a:t>
            </a:r>
            <a:r>
              <a:rPr kumimoji="1" lang="en-US" altLang="zh-CN" sz="2200" b="1" dirty="0">
                <a:latin typeface="Times New Roman" panose="02020603050405020304" pitchFamily="18" charset="0"/>
                <a:ea typeface="华文中宋" panose="02010600040101010101" pitchFamily="2" charset="-122"/>
              </a:rPr>
              <a:t>CPU</a:t>
            </a:r>
            <a:r>
              <a:rPr kumimoji="1" lang="zh-CN" altLang="en-US" sz="2200" b="1" dirty="0">
                <a:latin typeface="Times New Roman" panose="02020603050405020304" pitchFamily="18" charset="0"/>
                <a:ea typeface="华文中宋" panose="02010600040101010101" pitchFamily="2" charset="-122"/>
              </a:rPr>
              <a:t>的时钟周期增加到原来的</a:t>
            </a:r>
            <a:r>
              <a:rPr kumimoji="1" lang="en-US" altLang="zh-CN" sz="2200" b="1" dirty="0">
                <a:latin typeface="Times New Roman" panose="02020603050405020304" pitchFamily="18" charset="0"/>
                <a:ea typeface="华文中宋" panose="02010600040101010101" pitchFamily="2" charset="-122"/>
              </a:rPr>
              <a:t>1.35</a:t>
            </a:r>
            <a:r>
              <a:rPr kumimoji="1" lang="zh-CN" altLang="en-US" sz="2200" b="1" dirty="0">
                <a:latin typeface="Times New Roman" panose="02020603050405020304" pitchFamily="18" charset="0"/>
                <a:ea typeface="华文中宋" panose="02010600040101010101" pitchFamily="2" charset="-122"/>
              </a:rPr>
              <a:t>倍。这是因为对</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的访问总是处于关键路径上，对</a:t>
            </a:r>
            <a:r>
              <a:rPr kumimoji="1" lang="en-US" altLang="zh-CN" sz="2200" b="1" dirty="0">
                <a:latin typeface="Times New Roman" panose="02020603050405020304" pitchFamily="18" charset="0"/>
                <a:ea typeface="华文中宋" panose="02010600040101010101" pitchFamily="2" charset="-122"/>
              </a:rPr>
              <a:t>CPU</a:t>
            </a:r>
            <a:r>
              <a:rPr kumimoji="1" lang="zh-CN" altLang="en-US" sz="2200" b="1" dirty="0">
                <a:latin typeface="Times New Roman" panose="02020603050405020304" pitchFamily="18" charset="0"/>
                <a:ea typeface="华文中宋" panose="02010600040101010101" pitchFamily="2" charset="-122"/>
              </a:rPr>
              <a:t>的时钟周期有直接的影响。</a:t>
            </a:r>
            <a:endParaRPr kumimoji="1" lang="en-US" altLang="zh-CN" sz="2200" b="1" dirty="0">
              <a:latin typeface="Times New Roman" panose="02020603050405020304" pitchFamily="18" charset="0"/>
              <a:ea typeface="华文中宋" panose="02010600040101010101" pitchFamily="2" charset="-122"/>
            </a:endParaRPr>
          </a:p>
          <a:p>
            <a:pPr marL="36000" indent="0" algn="just">
              <a:lnSpc>
                <a:spcPct val="130000"/>
              </a:lnSpc>
              <a:spcBef>
                <a:spcPct val="0"/>
              </a:spcBef>
              <a:buNone/>
            </a:pPr>
            <a:r>
              <a:rPr kumimoji="1" lang="en-US" altLang="zh-CN" sz="2200" b="1" dirty="0">
                <a:latin typeface="Times New Roman" panose="02020603050405020304" pitchFamily="18" charset="0"/>
                <a:ea typeface="华文中宋" panose="02010600040101010101" pitchFamily="2" charset="-122"/>
              </a:rPr>
              <a:t>      (4) </a:t>
            </a:r>
            <a:r>
              <a:rPr kumimoji="1" lang="zh-CN" altLang="en-US" sz="2200" b="1" dirty="0">
                <a:latin typeface="Times New Roman" panose="02020603050405020304" pitchFamily="18" charset="0"/>
                <a:ea typeface="华文中宋" panose="02010600040101010101" pitchFamily="2" charset="-122"/>
              </a:rPr>
              <a:t>这两种结构</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的不命中开销都是</a:t>
            </a:r>
            <a:r>
              <a:rPr kumimoji="1" lang="en-US" altLang="zh-CN" sz="2200" b="1" dirty="0">
                <a:latin typeface="Times New Roman" panose="02020603050405020304" pitchFamily="18" charset="0"/>
                <a:ea typeface="华文中宋" panose="02010600040101010101" pitchFamily="2" charset="-122"/>
              </a:rPr>
              <a:t>65ns</a:t>
            </a:r>
            <a:r>
              <a:rPr kumimoji="1" lang="zh-CN" altLang="en-US" sz="2200" b="1" dirty="0">
                <a:latin typeface="Times New Roman" panose="02020603050405020304" pitchFamily="18" charset="0"/>
                <a:ea typeface="华文中宋" panose="02010600040101010101" pitchFamily="2" charset="-122"/>
              </a:rPr>
              <a:t>。（在实际应用中，应取整为整数个时钟周期）</a:t>
            </a:r>
          </a:p>
          <a:p>
            <a:pPr marL="36000" indent="0" algn="just">
              <a:lnSpc>
                <a:spcPct val="130000"/>
              </a:lnSpc>
              <a:spcBef>
                <a:spcPct val="0"/>
              </a:spcBef>
              <a:buNone/>
            </a:pPr>
            <a:r>
              <a:rPr kumimoji="1" lang="zh-CN" altLang="en-US" sz="2200" b="1" dirty="0">
                <a:latin typeface="Times New Roman" panose="02020603050405020304" pitchFamily="18" charset="0"/>
                <a:ea typeface="华文中宋" panose="02010600040101010101" pitchFamily="2" charset="-122"/>
              </a:rPr>
              <a:t>      </a:t>
            </a:r>
            <a:r>
              <a:rPr kumimoji="1" lang="en-US" altLang="zh-CN" sz="2200" b="1" dirty="0">
                <a:latin typeface="Times New Roman" panose="02020603050405020304" pitchFamily="18" charset="0"/>
                <a:ea typeface="华文中宋" panose="02010600040101010101" pitchFamily="2" charset="-122"/>
              </a:rPr>
              <a:t>(5) </a:t>
            </a:r>
            <a:r>
              <a:rPr kumimoji="1" lang="zh-CN" altLang="en-US" sz="2200" b="1" dirty="0">
                <a:latin typeface="Times New Roman" panose="02020603050405020304" pitchFamily="18" charset="0"/>
                <a:ea typeface="华文中宋" panose="02010600040101010101" pitchFamily="2" charset="-122"/>
              </a:rPr>
              <a:t>命中时间为</a:t>
            </a:r>
            <a:r>
              <a:rPr kumimoji="1" lang="en-US" altLang="zh-CN" sz="2200" b="1" dirty="0">
                <a:latin typeface="Times New Roman" panose="02020603050405020304" pitchFamily="18" charset="0"/>
                <a:ea typeface="华文中宋" panose="02010600040101010101" pitchFamily="2" charset="-122"/>
              </a:rPr>
              <a:t>1</a:t>
            </a:r>
            <a:r>
              <a:rPr kumimoji="1" lang="zh-CN" altLang="en-US" sz="2200" b="1" dirty="0">
                <a:latin typeface="Times New Roman" panose="02020603050405020304" pitchFamily="18" charset="0"/>
                <a:ea typeface="华文中宋" panose="02010600040101010101" pitchFamily="2" charset="-122"/>
              </a:rPr>
              <a:t>个时钟周期，直接映象</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的不命中率为</a:t>
            </a:r>
            <a:r>
              <a:rPr kumimoji="1" lang="en-US" altLang="zh-CN" sz="2200" b="1" dirty="0">
                <a:latin typeface="Times New Roman" panose="02020603050405020304" pitchFamily="18" charset="0"/>
                <a:ea typeface="华文中宋" panose="02010600040101010101" pitchFamily="2" charset="-122"/>
              </a:rPr>
              <a:t>2.1%</a:t>
            </a:r>
            <a:r>
              <a:rPr kumimoji="1" lang="zh-CN" altLang="en-US" sz="2200" b="1" dirty="0">
                <a:latin typeface="Times New Roman" panose="02020603050405020304" pitchFamily="18" charset="0"/>
                <a:ea typeface="华文中宋" panose="02010600040101010101" pitchFamily="2" charset="-122"/>
              </a:rPr>
              <a:t>，相同容量的两路组相联</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的不命中率为</a:t>
            </a:r>
            <a:r>
              <a:rPr kumimoji="1" lang="en-US" altLang="zh-CN" sz="2200" b="1" dirty="0">
                <a:latin typeface="Times New Roman" panose="02020603050405020304" pitchFamily="18" charset="0"/>
                <a:ea typeface="华文中宋" panose="02010600040101010101" pitchFamily="2" charset="-122"/>
              </a:rPr>
              <a:t>1.9%</a:t>
            </a:r>
            <a:r>
              <a:rPr kumimoji="1" lang="zh-CN" altLang="en-US" sz="2200" b="1" dirty="0">
                <a:latin typeface="Times New Roman" panose="02020603050405020304" pitchFamily="18" charset="0"/>
                <a:ea typeface="华文中宋" panose="02010600040101010101" pitchFamily="2" charset="-122"/>
              </a:rPr>
              <a:t>。</a:t>
            </a:r>
          </a:p>
          <a:p>
            <a:pPr marL="457200" indent="-457200" algn="just" eaLnBrk="1" hangingPunct="1">
              <a:lnSpc>
                <a:spcPct val="130000"/>
              </a:lnSpc>
              <a:spcBef>
                <a:spcPct val="0"/>
              </a:spcBef>
              <a:buFont typeface="Wingdings" panose="05000000000000000000" pitchFamily="2" charset="2"/>
              <a:buNone/>
            </a:pPr>
            <a:endParaRPr kumimoji="1" lang="zh-CN" altLang="en-US" sz="2000" b="1" dirty="0">
              <a:solidFill>
                <a:srgbClr val="003366"/>
              </a:solidFill>
              <a:latin typeface="Times New Roman" panose="02020603050405020304" pitchFamily="18" charset="0"/>
              <a:ea typeface="华文中宋" panose="02010600040101010101" pitchFamily="2" charset="-122"/>
            </a:endParaRPr>
          </a:p>
          <a:p>
            <a:pPr marL="457200" indent="-457200" algn="just" eaLnBrk="1" hangingPunct="1">
              <a:lnSpc>
                <a:spcPct val="130000"/>
              </a:lnSpc>
              <a:spcBef>
                <a:spcPct val="0"/>
              </a:spcBef>
              <a:buFont typeface="Wingdings" panose="05000000000000000000" pitchFamily="2" charset="2"/>
              <a:buNone/>
            </a:pPr>
            <a:endParaRPr kumimoji="1" lang="en-US" altLang="zh-CN" sz="2000" b="1" dirty="0">
              <a:solidFill>
                <a:srgbClr val="003366"/>
              </a:solidFill>
              <a:latin typeface="Times New Roman" panose="02020603050405020304" pitchFamily="18" charset="0"/>
              <a:ea typeface="华文中宋" panose="02010600040101010101" pitchFamily="2" charset="-122"/>
            </a:endParaRPr>
          </a:p>
        </p:txBody>
      </p:sp>
      <p:sp>
        <p:nvSpPr>
          <p:cNvPr id="121860" name="Rectangle 1029" descr="Rectangle: Click to edit Master text styles&#10;Second level&#10;Third level&#10;Fourth level&#10;Fifth level"/>
          <p:cNvSpPr>
            <a:spLocks noChangeArrowheads="1"/>
          </p:cNvSpPr>
          <p:nvPr/>
        </p:nvSpPr>
        <p:spPr bwMode="auto">
          <a:xfrm>
            <a:off x="571704" y="4221088"/>
            <a:ext cx="7772400"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a:lnSpc>
                <a:spcPct val="130000"/>
              </a:lnSpc>
              <a:spcBef>
                <a:spcPct val="0"/>
              </a:spcBef>
              <a:buNone/>
            </a:pPr>
            <a:r>
              <a:rPr lang="en-US" altLang="zh-CN" b="1" dirty="0">
                <a:solidFill>
                  <a:srgbClr val="000000"/>
                </a:solidFill>
                <a:latin typeface="宋体" panose="02010600030101010101" pitchFamily="2" charset="-122"/>
                <a:ea typeface="宋体" panose="02010600030101010101" pitchFamily="2" charset="-122"/>
              </a:rPr>
              <a:t>  </a:t>
            </a:r>
            <a:r>
              <a:rPr lang="en-US" altLang="zh-CN" sz="2000" b="1" dirty="0">
                <a:solidFill>
                  <a:srgbClr val="000000"/>
                </a:solidFill>
                <a:latin typeface="宋体" panose="02010600030101010101" pitchFamily="2" charset="-122"/>
                <a:ea typeface="宋体" panose="02010600030101010101" pitchFamily="2" charset="-122"/>
              </a:rPr>
              <a:t> </a:t>
            </a:r>
            <a:endParaRPr lang="zh-CN" altLang="en-US" sz="2000" dirty="0">
              <a:solidFill>
                <a:srgbClr val="003366"/>
              </a:solidFill>
              <a:latin typeface="Times New Roman" panose="02020603050405020304" pitchFamily="18" charset="0"/>
              <a:ea typeface="华文中宋" panose="02010600040101010101" pitchFamily="2" charset="-122"/>
            </a:endParaRPr>
          </a:p>
        </p:txBody>
      </p:sp>
      <p:sp>
        <p:nvSpPr>
          <p:cNvPr id="2" name="日期占位符 1">
            <a:extLst>
              <a:ext uri="{FF2B5EF4-FFF2-40B4-BE49-F238E27FC236}">
                <a16:creationId xmlns:a16="http://schemas.microsoft.com/office/drawing/2014/main" id="{9B96206E-4D46-80EF-0A29-550E6C559728}"/>
              </a:ext>
            </a:extLst>
          </p:cNvPr>
          <p:cNvSpPr>
            <a:spLocks noGrp="1"/>
          </p:cNvSpPr>
          <p:nvPr>
            <p:ph type="dt" sz="half" idx="10"/>
          </p:nvPr>
        </p:nvSpPr>
        <p:spPr/>
        <p:txBody>
          <a:bodyPr/>
          <a:lstStyle/>
          <a:p>
            <a:pPr>
              <a:defRPr/>
            </a:pPr>
            <a:fld id="{1E8BB3A5-B798-4322-A942-AED1CFEC67C7}"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97C2050E-E52B-4874-2F79-89DFF8114E4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5CDEA8F-2F6A-4BA4-1FC0-0EB658460283}"/>
              </a:ext>
            </a:extLst>
          </p:cNvPr>
          <p:cNvSpPr>
            <a:spLocks noGrp="1"/>
          </p:cNvSpPr>
          <p:nvPr>
            <p:ph type="sldNum" sz="quarter" idx="12"/>
          </p:nvPr>
        </p:nvSpPr>
        <p:spPr/>
        <p:txBody>
          <a:bodyPr/>
          <a:lstStyle/>
          <a:p>
            <a:pPr>
              <a:defRPr/>
            </a:pPr>
            <a:fld id="{8BCAC33D-D29A-48B3-BCD6-381D3D720D26}" type="slidenum">
              <a:rPr lang="zh-CN" altLang="en-US" smtClean="0"/>
              <a:t>43</a:t>
            </a:fld>
            <a:endParaRPr lang="en-US" altLang="zh-CN"/>
          </a:p>
        </p:txBody>
      </p:sp>
    </p:spTree>
    <p:extLst>
      <p:ext uri="{BB962C8B-B14F-4D97-AF65-F5344CB8AC3E}">
        <p14:creationId xmlns:p14="http://schemas.microsoft.com/office/powerpoint/2010/main" val="16164969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3" descr="Rectangle: Click to edit Master text styles&#10;Second level&#10;Third level&#10;Fourth level&#10;Fifth level"/>
          <p:cNvSpPr>
            <a:spLocks noGrp="1" noChangeArrowheads="1"/>
          </p:cNvSpPr>
          <p:nvPr>
            <p:ph type="body" idx="1"/>
          </p:nvPr>
        </p:nvSpPr>
        <p:spPr>
          <a:xfrm>
            <a:off x="143508" y="404664"/>
            <a:ext cx="8856984" cy="5832648"/>
          </a:xfrm>
        </p:spPr>
        <p:txBody>
          <a:bodyPr/>
          <a:lstStyle/>
          <a:p>
            <a:pPr marL="457200" indent="-457200" eaLnBrk="1" hangingPunct="1">
              <a:lnSpc>
                <a:spcPct val="130000"/>
              </a:lnSpc>
              <a:spcBef>
                <a:spcPct val="0"/>
              </a:spcBef>
              <a:buNone/>
            </a:pPr>
            <a:r>
              <a:rPr kumimoji="1" lang="zh-CN" altLang="en-US" sz="2200" b="1" dirty="0">
                <a:latin typeface="Times New Roman" panose="02020603050405020304" pitchFamily="18" charset="0"/>
                <a:ea typeface="华文中宋" panose="02010600040101010101" pitchFamily="2" charset="-122"/>
              </a:rPr>
              <a:t>解</a:t>
            </a:r>
            <a:r>
              <a:rPr kumimoji="1" lang="en-US" altLang="zh-CN" sz="2200" b="1" dirty="0">
                <a:latin typeface="Times New Roman" panose="02020603050405020304" pitchFamily="18" charset="0"/>
                <a:ea typeface="华文中宋" panose="02010600040101010101" pitchFamily="2" charset="-122"/>
              </a:rPr>
              <a:t>:  </a:t>
            </a:r>
          </a:p>
          <a:p>
            <a:pPr marL="457200" indent="-457200" eaLnBrk="1" hangingPunct="1">
              <a:lnSpc>
                <a:spcPct val="130000"/>
              </a:lnSpc>
              <a:spcBef>
                <a:spcPct val="0"/>
              </a:spcBef>
              <a:buNone/>
            </a:pPr>
            <a:r>
              <a:rPr kumimoji="1" lang="zh-CN" altLang="en-US" sz="2200" b="1" dirty="0">
                <a:solidFill>
                  <a:srgbClr val="C00000"/>
                </a:solidFill>
                <a:latin typeface="Times New Roman" panose="02020603050405020304" pitchFamily="18" charset="0"/>
                <a:ea typeface="华文中宋" panose="02010600040101010101" pitchFamily="2" charset="-122"/>
              </a:rPr>
              <a:t>平均访问时间：</a:t>
            </a:r>
          </a:p>
          <a:p>
            <a:pPr marL="457200" indent="-457200" eaLnBrk="1" hangingPunct="1">
              <a:lnSpc>
                <a:spcPct val="130000"/>
              </a:lnSpc>
              <a:spcBef>
                <a:spcPct val="0"/>
              </a:spcBef>
              <a:buNone/>
            </a:pPr>
            <a:r>
              <a:rPr kumimoji="1" lang="zh-CN" altLang="en-US" sz="2200" b="1" dirty="0">
                <a:latin typeface="Times New Roman" panose="02020603050405020304" pitchFamily="18" charset="0"/>
                <a:ea typeface="华文中宋" panose="02010600040101010101" pitchFamily="2" charset="-122"/>
              </a:rPr>
              <a:t>           平均访存时间＝命中时间＋不命中率</a:t>
            </a:r>
            <a:r>
              <a:rPr kumimoji="1" lang="en-US" altLang="zh-CN" sz="2200" b="1" dirty="0">
                <a:latin typeface="Times New Roman" panose="02020603050405020304" pitchFamily="18" charset="0"/>
                <a:ea typeface="华文中宋" panose="02010600040101010101" pitchFamily="2" charset="-122"/>
              </a:rPr>
              <a:t>×</a:t>
            </a:r>
            <a:r>
              <a:rPr kumimoji="1" lang="zh-CN" altLang="en-US" sz="2200" b="1" dirty="0">
                <a:latin typeface="Times New Roman" panose="02020603050405020304" pitchFamily="18" charset="0"/>
                <a:ea typeface="华文中宋" panose="02010600040101010101" pitchFamily="2" charset="-122"/>
              </a:rPr>
              <a:t>不命中开销</a:t>
            </a:r>
          </a:p>
          <a:p>
            <a:pPr marL="457200" indent="-457200" eaLnBrk="1" hangingPunct="1">
              <a:lnSpc>
                <a:spcPct val="130000"/>
              </a:lnSpc>
              <a:spcBef>
                <a:spcPct val="0"/>
              </a:spcBef>
              <a:buNone/>
            </a:pPr>
            <a:r>
              <a:rPr kumimoji="1" lang="zh-CN" altLang="en-US" sz="2200" b="1" dirty="0">
                <a:latin typeface="Times New Roman" panose="02020603050405020304" pitchFamily="18" charset="0"/>
                <a:ea typeface="华文中宋" panose="02010600040101010101" pitchFamily="2" charset="-122"/>
              </a:rPr>
              <a:t>因此，两种结构的平均访存时间分别是：</a:t>
            </a:r>
          </a:p>
          <a:p>
            <a:pPr marL="457200" indent="-457200" eaLnBrk="1" hangingPunct="1">
              <a:lnSpc>
                <a:spcPct val="130000"/>
              </a:lnSpc>
              <a:spcBef>
                <a:spcPct val="0"/>
              </a:spcBef>
              <a:buNone/>
            </a:pPr>
            <a:r>
              <a:rPr kumimoji="1" lang="zh-CN" altLang="en-US" sz="2200" b="1" dirty="0">
                <a:latin typeface="Times New Roman" panose="02020603050405020304" pitchFamily="18" charset="0"/>
                <a:ea typeface="华文中宋" panose="02010600040101010101" pitchFamily="2" charset="-122"/>
              </a:rPr>
              <a:t>           </a:t>
            </a:r>
            <a:r>
              <a:rPr kumimoji="1" lang="zh-CN" altLang="en-US" sz="2200" b="1" dirty="0">
                <a:solidFill>
                  <a:srgbClr val="C00000"/>
                </a:solidFill>
                <a:latin typeface="Times New Roman" panose="02020603050405020304" pitchFamily="18" charset="0"/>
                <a:ea typeface="华文中宋" panose="02010600040101010101" pitchFamily="2" charset="-122"/>
              </a:rPr>
              <a:t>平均访存时间</a:t>
            </a:r>
            <a:r>
              <a:rPr kumimoji="1" lang="en-US" altLang="zh-CN" sz="2200" b="1" dirty="0">
                <a:solidFill>
                  <a:srgbClr val="C00000"/>
                </a:solidFill>
                <a:latin typeface="Times New Roman" panose="02020603050405020304" pitchFamily="18" charset="0"/>
                <a:ea typeface="华文中宋" panose="02010600040101010101" pitchFamily="2" charset="-122"/>
              </a:rPr>
              <a:t>1</a:t>
            </a:r>
            <a:r>
              <a:rPr kumimoji="1" lang="zh-CN" altLang="en-US" sz="2200" b="1" dirty="0">
                <a:solidFill>
                  <a:srgbClr val="C00000"/>
                </a:solidFill>
                <a:latin typeface="Times New Roman" panose="02020603050405020304" pitchFamily="18" charset="0"/>
                <a:ea typeface="华文中宋" panose="02010600040101010101" pitchFamily="2" charset="-122"/>
              </a:rPr>
              <a:t>路</a:t>
            </a:r>
            <a:r>
              <a:rPr kumimoji="1" lang="zh-CN" altLang="en-US" sz="2200" b="1" dirty="0">
                <a:latin typeface="Times New Roman" panose="02020603050405020304" pitchFamily="18" charset="0"/>
                <a:ea typeface="华文中宋" panose="02010600040101010101" pitchFamily="2" charset="-122"/>
              </a:rPr>
              <a:t>＝</a:t>
            </a:r>
            <a:r>
              <a:rPr kumimoji="1" lang="en-US" altLang="zh-CN" sz="2200" b="1" dirty="0">
                <a:latin typeface="Times New Roman" panose="02020603050405020304" pitchFamily="18" charset="0"/>
                <a:ea typeface="华文中宋" panose="02010600040101010101" pitchFamily="2" charset="-122"/>
              </a:rPr>
              <a:t>0.35</a:t>
            </a:r>
            <a:r>
              <a:rPr kumimoji="1" lang="zh-CN" altLang="en-US" sz="2200" b="1" dirty="0">
                <a:latin typeface="Times New Roman" panose="02020603050405020304" pitchFamily="18" charset="0"/>
                <a:ea typeface="华文中宋" panose="02010600040101010101" pitchFamily="2" charset="-122"/>
              </a:rPr>
              <a:t>＋（</a:t>
            </a:r>
            <a:r>
              <a:rPr kumimoji="1" lang="en-US" altLang="zh-CN" sz="2200" b="1" dirty="0">
                <a:latin typeface="Times New Roman" panose="02020603050405020304" pitchFamily="18" charset="0"/>
                <a:ea typeface="华文中宋" panose="02010600040101010101" pitchFamily="2" charset="-122"/>
              </a:rPr>
              <a:t>0.021×65</a:t>
            </a:r>
            <a:r>
              <a:rPr kumimoji="1" lang="zh-CN" altLang="en-US" sz="2200" b="1" dirty="0">
                <a:latin typeface="Times New Roman" panose="02020603050405020304" pitchFamily="18" charset="0"/>
                <a:ea typeface="华文中宋" panose="02010600040101010101" pitchFamily="2" charset="-122"/>
              </a:rPr>
              <a:t>）＝</a:t>
            </a:r>
            <a:r>
              <a:rPr kumimoji="1" lang="en-US" altLang="zh-CN" sz="2200" b="1" dirty="0">
                <a:latin typeface="Times New Roman" panose="02020603050405020304" pitchFamily="18" charset="0"/>
                <a:ea typeface="华文中宋" panose="02010600040101010101" pitchFamily="2" charset="-122"/>
              </a:rPr>
              <a:t>1.72ns</a:t>
            </a:r>
          </a:p>
          <a:p>
            <a:pPr marL="457200" indent="-457200" eaLnBrk="1" hangingPunct="1">
              <a:lnSpc>
                <a:spcPct val="130000"/>
              </a:lnSpc>
              <a:spcBef>
                <a:spcPct val="0"/>
              </a:spcBef>
              <a:buNone/>
            </a:pPr>
            <a:r>
              <a:rPr kumimoji="1" lang="en-US" altLang="zh-CN" sz="2200" b="1" dirty="0">
                <a:latin typeface="Times New Roman" panose="02020603050405020304" pitchFamily="18" charset="0"/>
                <a:ea typeface="华文中宋" panose="02010600040101010101" pitchFamily="2" charset="-122"/>
              </a:rPr>
              <a:t>           </a:t>
            </a:r>
            <a:r>
              <a:rPr kumimoji="1" lang="zh-CN" altLang="en-US" sz="2200" b="1" dirty="0">
                <a:solidFill>
                  <a:srgbClr val="C00000"/>
                </a:solidFill>
                <a:latin typeface="Times New Roman" panose="02020603050405020304" pitchFamily="18" charset="0"/>
                <a:ea typeface="华文中宋" panose="02010600040101010101" pitchFamily="2" charset="-122"/>
              </a:rPr>
              <a:t>平均访存时间</a:t>
            </a:r>
            <a:r>
              <a:rPr kumimoji="1" lang="en-US" altLang="zh-CN" sz="2200" b="1" dirty="0">
                <a:solidFill>
                  <a:srgbClr val="C00000"/>
                </a:solidFill>
                <a:latin typeface="Times New Roman" panose="02020603050405020304" pitchFamily="18" charset="0"/>
                <a:ea typeface="华文中宋" panose="02010600040101010101" pitchFamily="2" charset="-122"/>
              </a:rPr>
              <a:t>2</a:t>
            </a:r>
            <a:r>
              <a:rPr kumimoji="1" lang="zh-CN" altLang="en-US" sz="2200" b="1" dirty="0">
                <a:solidFill>
                  <a:srgbClr val="C00000"/>
                </a:solidFill>
                <a:latin typeface="Times New Roman" panose="02020603050405020304" pitchFamily="18" charset="0"/>
                <a:ea typeface="华文中宋" panose="02010600040101010101" pitchFamily="2" charset="-122"/>
              </a:rPr>
              <a:t>路</a:t>
            </a:r>
            <a:r>
              <a:rPr kumimoji="1" lang="zh-CN" altLang="en-US" sz="2200" b="1" dirty="0">
                <a:latin typeface="Times New Roman" panose="02020603050405020304" pitchFamily="18" charset="0"/>
                <a:ea typeface="华文中宋" panose="02010600040101010101" pitchFamily="2" charset="-122"/>
              </a:rPr>
              <a:t>＝</a:t>
            </a:r>
            <a:r>
              <a:rPr kumimoji="1" lang="en-US" altLang="zh-CN" sz="2200" b="1" dirty="0">
                <a:latin typeface="Times New Roman" panose="02020603050405020304" pitchFamily="18" charset="0"/>
                <a:ea typeface="华文中宋" panose="02010600040101010101" pitchFamily="2" charset="-122"/>
              </a:rPr>
              <a:t>0.35×1.35</a:t>
            </a:r>
            <a:r>
              <a:rPr kumimoji="1" lang="zh-CN" altLang="en-US" sz="2200" b="1" dirty="0">
                <a:latin typeface="Times New Roman" panose="02020603050405020304" pitchFamily="18" charset="0"/>
                <a:ea typeface="华文中宋" panose="02010600040101010101" pitchFamily="2" charset="-122"/>
              </a:rPr>
              <a:t>＋（</a:t>
            </a:r>
            <a:r>
              <a:rPr kumimoji="1" lang="en-US" altLang="zh-CN" sz="2200" b="1" dirty="0">
                <a:latin typeface="Times New Roman" panose="02020603050405020304" pitchFamily="18" charset="0"/>
                <a:ea typeface="华文中宋" panose="02010600040101010101" pitchFamily="2" charset="-122"/>
              </a:rPr>
              <a:t>0.019×65</a:t>
            </a:r>
            <a:r>
              <a:rPr kumimoji="1" lang="zh-CN" altLang="en-US" sz="2200" b="1" dirty="0">
                <a:latin typeface="Times New Roman" panose="02020603050405020304" pitchFamily="18" charset="0"/>
                <a:ea typeface="华文中宋" panose="02010600040101010101" pitchFamily="2" charset="-122"/>
              </a:rPr>
              <a:t>）＝</a:t>
            </a:r>
            <a:r>
              <a:rPr kumimoji="1" lang="en-US" altLang="zh-CN" sz="2200" b="1" dirty="0">
                <a:latin typeface="Times New Roman" panose="02020603050405020304" pitchFamily="18" charset="0"/>
                <a:ea typeface="华文中宋" panose="02010600040101010101" pitchFamily="2" charset="-122"/>
              </a:rPr>
              <a:t>1.71ns</a:t>
            </a:r>
          </a:p>
          <a:p>
            <a:pPr marL="457200" indent="-457200" eaLnBrk="1" hangingPunct="1">
              <a:lnSpc>
                <a:spcPct val="130000"/>
              </a:lnSpc>
              <a:spcBef>
                <a:spcPct val="0"/>
              </a:spcBef>
              <a:buNone/>
            </a:pPr>
            <a:r>
              <a:rPr kumimoji="1" lang="zh-CN" altLang="en-US" sz="2200" b="1" dirty="0">
                <a:latin typeface="Times New Roman" panose="02020603050405020304" pitchFamily="18" charset="0"/>
                <a:ea typeface="华文中宋" panose="02010600040101010101" pitchFamily="2" charset="-122"/>
              </a:rPr>
              <a:t>两路组相联</a:t>
            </a:r>
            <a:r>
              <a:rPr kumimoji="1" lang="en-US" altLang="zh-CN" sz="2200" b="1" dirty="0">
                <a:latin typeface="Times New Roman" panose="02020603050405020304" pitchFamily="18" charset="0"/>
                <a:ea typeface="华文中宋" panose="02010600040101010101" pitchFamily="2" charset="-122"/>
              </a:rPr>
              <a:t>Cache</a:t>
            </a:r>
            <a:r>
              <a:rPr kumimoji="1" lang="zh-CN" altLang="en-US" sz="2200" b="1" dirty="0">
                <a:latin typeface="Times New Roman" panose="02020603050405020304" pitchFamily="18" charset="0"/>
                <a:ea typeface="华文中宋" panose="02010600040101010101" pitchFamily="2" charset="-122"/>
              </a:rPr>
              <a:t>的平均访存时间比较低。</a:t>
            </a:r>
            <a:endParaRPr kumimoji="1" lang="en-US" altLang="zh-CN" sz="2200" b="1" dirty="0">
              <a:latin typeface="Times New Roman" panose="02020603050405020304" pitchFamily="18" charset="0"/>
              <a:ea typeface="华文中宋" panose="02010600040101010101" pitchFamily="2" charset="-122"/>
            </a:endParaRPr>
          </a:p>
          <a:p>
            <a:pPr marL="457200" indent="-457200" eaLnBrk="1" hangingPunct="1">
              <a:lnSpc>
                <a:spcPct val="130000"/>
              </a:lnSpc>
              <a:spcBef>
                <a:spcPct val="0"/>
              </a:spcBef>
              <a:buNone/>
            </a:pPr>
            <a:r>
              <a:rPr kumimoji="1" lang="en-US" altLang="zh-CN" sz="2200" b="1" dirty="0">
                <a:latin typeface="Times New Roman" panose="02020603050405020304" pitchFamily="18" charset="0"/>
                <a:ea typeface="华文中宋" panose="02010600040101010101" pitchFamily="2" charset="-122"/>
              </a:rPr>
              <a:t>            </a:t>
            </a:r>
          </a:p>
          <a:p>
            <a:pPr marL="457200" indent="-457200" eaLnBrk="1" hangingPunct="1">
              <a:lnSpc>
                <a:spcPct val="130000"/>
              </a:lnSpc>
              <a:spcBef>
                <a:spcPct val="0"/>
              </a:spcBef>
              <a:buNone/>
            </a:pPr>
            <a:r>
              <a:rPr kumimoji="1" lang="en-US" altLang="zh-CN" sz="2200" b="1" dirty="0">
                <a:latin typeface="Times New Roman" panose="02020603050405020304" pitchFamily="18" charset="0"/>
                <a:ea typeface="华文中宋" panose="02010600040101010101" pitchFamily="2" charset="-122"/>
              </a:rPr>
              <a:t>CPU</a:t>
            </a:r>
            <a:r>
              <a:rPr kumimoji="1" lang="zh-CN" altLang="en-US" sz="2200" b="1" dirty="0">
                <a:latin typeface="Times New Roman" panose="02020603050405020304" pitchFamily="18" charset="0"/>
                <a:ea typeface="华文中宋" panose="02010600040101010101" pitchFamily="2" charset="-122"/>
              </a:rPr>
              <a:t>性能：</a:t>
            </a:r>
          </a:p>
          <a:p>
            <a:pPr marL="457200" indent="-457200" eaLnBrk="1" hangingPunct="1">
              <a:lnSpc>
                <a:spcPct val="130000"/>
              </a:lnSpc>
              <a:spcBef>
                <a:spcPct val="0"/>
              </a:spcBef>
              <a:buNone/>
            </a:pPr>
            <a:r>
              <a:rPr kumimoji="1" lang="zh-CN" altLang="en-US" sz="2200" b="1" dirty="0">
                <a:latin typeface="Times New Roman" panose="02020603050405020304" pitchFamily="18" charset="0"/>
                <a:ea typeface="华文中宋" panose="02010600040101010101" pitchFamily="2" charset="-122"/>
              </a:rPr>
              <a:t>     </a:t>
            </a:r>
            <a:r>
              <a:rPr kumimoji="1" lang="en-US" altLang="zh-CN" sz="2200" b="1" dirty="0">
                <a:latin typeface="Times New Roman" panose="02020603050405020304" pitchFamily="18" charset="0"/>
                <a:ea typeface="华文中宋" panose="02010600040101010101" pitchFamily="2" charset="-122"/>
              </a:rPr>
              <a:t>CPU</a:t>
            </a:r>
            <a:r>
              <a:rPr kumimoji="1" lang="zh-CN" altLang="en-US" sz="2200" b="1" dirty="0">
                <a:latin typeface="Times New Roman" panose="02020603050405020304" pitchFamily="18" charset="0"/>
                <a:ea typeface="华文中宋" panose="02010600040101010101" pitchFamily="2" charset="-122"/>
              </a:rPr>
              <a:t>时间＝</a:t>
            </a:r>
            <a:r>
              <a:rPr kumimoji="1" lang="en-US" altLang="zh-CN" sz="2200" b="1" dirty="0">
                <a:latin typeface="Times New Roman" panose="02020603050405020304" pitchFamily="18" charset="0"/>
                <a:ea typeface="华文中宋" panose="02010600040101010101" pitchFamily="2" charset="-122"/>
              </a:rPr>
              <a:t>IC×</a:t>
            </a:r>
            <a:r>
              <a:rPr kumimoji="1" lang="zh-CN" altLang="en-US" sz="2200" b="1" dirty="0">
                <a:latin typeface="Times New Roman" panose="02020603050405020304" pitchFamily="18" charset="0"/>
                <a:ea typeface="华文中宋" panose="02010600040101010101" pitchFamily="2" charset="-122"/>
              </a:rPr>
              <a:t>（</a:t>
            </a:r>
            <a:r>
              <a:rPr kumimoji="1" lang="en-US" altLang="zh-CN" sz="2200" b="1" dirty="0" err="1">
                <a:latin typeface="Times New Roman" panose="02020603050405020304" pitchFamily="18" charset="0"/>
                <a:ea typeface="华文中宋" panose="02010600040101010101" pitchFamily="2" charset="-122"/>
              </a:rPr>
              <a:t>CPIexe</a:t>
            </a:r>
            <a:r>
              <a:rPr kumimoji="1" lang="zh-CN" altLang="en-US" sz="2200" b="1" dirty="0">
                <a:latin typeface="Times New Roman" panose="02020603050405020304" pitchFamily="18" charset="0"/>
                <a:ea typeface="华文中宋" panose="02010600040101010101" pitchFamily="2" charset="-122"/>
              </a:rPr>
              <a:t>＋每条指令的平均访存次数</a:t>
            </a:r>
            <a:r>
              <a:rPr kumimoji="1" lang="en-US" altLang="zh-CN" sz="2200" b="1" dirty="0">
                <a:latin typeface="Times New Roman" panose="02020603050405020304" pitchFamily="18" charset="0"/>
                <a:ea typeface="华文中宋" panose="02010600040101010101" pitchFamily="2" charset="-122"/>
              </a:rPr>
              <a:t>×</a:t>
            </a:r>
          </a:p>
          <a:p>
            <a:pPr marL="457200" indent="-457200" eaLnBrk="1" hangingPunct="1">
              <a:lnSpc>
                <a:spcPct val="130000"/>
              </a:lnSpc>
              <a:spcBef>
                <a:spcPct val="0"/>
              </a:spcBef>
              <a:buNone/>
            </a:pPr>
            <a:r>
              <a:rPr kumimoji="1" lang="en-US" altLang="zh-CN" sz="2200" b="1" dirty="0">
                <a:latin typeface="Times New Roman" panose="02020603050405020304" pitchFamily="18" charset="0"/>
                <a:ea typeface="华文中宋" panose="02010600040101010101" pitchFamily="2" charset="-122"/>
              </a:rPr>
              <a:t>                         </a:t>
            </a:r>
            <a:r>
              <a:rPr kumimoji="1" lang="zh-CN" altLang="en-US" sz="2200" b="1" dirty="0">
                <a:latin typeface="Times New Roman" panose="02020603050405020304" pitchFamily="18" charset="0"/>
                <a:ea typeface="华文中宋" panose="02010600040101010101" pitchFamily="2" charset="-122"/>
              </a:rPr>
              <a:t>不命中率</a:t>
            </a:r>
            <a:r>
              <a:rPr kumimoji="1" lang="en-US" altLang="zh-CN" sz="2200" b="1" dirty="0">
                <a:latin typeface="Times New Roman" panose="02020603050405020304" pitchFamily="18" charset="0"/>
                <a:ea typeface="华文中宋" panose="02010600040101010101" pitchFamily="2" charset="-122"/>
              </a:rPr>
              <a:t>×</a:t>
            </a:r>
            <a:r>
              <a:rPr kumimoji="1" lang="zh-CN" altLang="en-US" sz="2200" b="1" dirty="0">
                <a:latin typeface="Times New Roman" panose="02020603050405020304" pitchFamily="18" charset="0"/>
                <a:ea typeface="华文中宋" panose="02010600040101010101" pitchFamily="2" charset="-122"/>
              </a:rPr>
              <a:t>不命中开销周期）</a:t>
            </a:r>
            <a:r>
              <a:rPr kumimoji="1" lang="en-US" altLang="zh-CN" sz="2200" b="1" dirty="0">
                <a:latin typeface="Times New Roman" panose="02020603050405020304" pitchFamily="18" charset="0"/>
                <a:ea typeface="华文中宋" panose="02010600040101010101" pitchFamily="2" charset="-122"/>
              </a:rPr>
              <a:t>× </a:t>
            </a:r>
            <a:r>
              <a:rPr kumimoji="1" lang="zh-CN" altLang="en-US" sz="2200" b="1" dirty="0">
                <a:latin typeface="Times New Roman" panose="02020603050405020304" pitchFamily="18" charset="0"/>
                <a:ea typeface="华文中宋" panose="02010600040101010101" pitchFamily="2" charset="-122"/>
              </a:rPr>
              <a:t>时钟周期时间</a:t>
            </a:r>
          </a:p>
          <a:p>
            <a:pPr marL="457200" indent="-457200" eaLnBrk="1" hangingPunct="1">
              <a:lnSpc>
                <a:spcPct val="130000"/>
              </a:lnSpc>
              <a:spcBef>
                <a:spcPct val="0"/>
              </a:spcBef>
              <a:buNone/>
            </a:pPr>
            <a:r>
              <a:rPr kumimoji="1" lang="zh-CN" altLang="en-US" sz="2200" b="1" dirty="0">
                <a:latin typeface="Times New Roman" panose="02020603050405020304" pitchFamily="18" charset="0"/>
                <a:ea typeface="华文中宋" panose="02010600040101010101" pitchFamily="2" charset="-122"/>
              </a:rPr>
              <a:t>                     ＝</a:t>
            </a:r>
            <a:r>
              <a:rPr kumimoji="1" lang="en-US" altLang="zh-CN" sz="2200" b="1" dirty="0">
                <a:latin typeface="Times New Roman" panose="02020603050405020304" pitchFamily="18" charset="0"/>
                <a:ea typeface="华文中宋" panose="02010600040101010101" pitchFamily="2" charset="-122"/>
              </a:rPr>
              <a:t>IC×</a:t>
            </a:r>
            <a:r>
              <a:rPr kumimoji="1" lang="zh-CN" altLang="en-US" sz="2200" b="1" dirty="0">
                <a:latin typeface="Times New Roman" panose="02020603050405020304" pitchFamily="18" charset="0"/>
                <a:ea typeface="华文中宋" panose="02010600040101010101" pitchFamily="2" charset="-122"/>
              </a:rPr>
              <a:t>（</a:t>
            </a:r>
            <a:r>
              <a:rPr kumimoji="1" lang="en-US" altLang="zh-CN" sz="2200" b="1" dirty="0" err="1">
                <a:latin typeface="Times New Roman" panose="02020603050405020304" pitchFamily="18" charset="0"/>
                <a:ea typeface="华文中宋" panose="02010600040101010101" pitchFamily="2" charset="-122"/>
              </a:rPr>
              <a:t>CPIexe</a:t>
            </a:r>
            <a:r>
              <a:rPr kumimoji="1" lang="en-US" altLang="zh-CN" sz="2200" b="1" dirty="0">
                <a:latin typeface="Times New Roman" panose="02020603050405020304" pitchFamily="18" charset="0"/>
                <a:ea typeface="华文中宋" panose="02010600040101010101" pitchFamily="2" charset="-122"/>
              </a:rPr>
              <a:t>× </a:t>
            </a:r>
            <a:r>
              <a:rPr kumimoji="1" lang="zh-CN" altLang="en-US" sz="2200" b="1" dirty="0">
                <a:latin typeface="Times New Roman" panose="02020603050405020304" pitchFamily="18" charset="0"/>
                <a:ea typeface="华文中宋" panose="02010600040101010101" pitchFamily="2" charset="-122"/>
              </a:rPr>
              <a:t>时钟周期时间＋每条指令的 </a:t>
            </a:r>
          </a:p>
          <a:p>
            <a:pPr marL="457200" indent="-457200" eaLnBrk="1" hangingPunct="1">
              <a:lnSpc>
                <a:spcPct val="130000"/>
              </a:lnSpc>
              <a:spcBef>
                <a:spcPct val="0"/>
              </a:spcBef>
              <a:buNone/>
            </a:pPr>
            <a:r>
              <a:rPr kumimoji="1" lang="zh-CN" altLang="en-US" sz="2200" b="1" dirty="0">
                <a:latin typeface="Times New Roman" panose="02020603050405020304" pitchFamily="18" charset="0"/>
                <a:ea typeface="华文中宋" panose="02010600040101010101" pitchFamily="2" charset="-122"/>
              </a:rPr>
              <a:t>                  平均访存次数</a:t>
            </a:r>
            <a:r>
              <a:rPr kumimoji="1" lang="en-US" altLang="zh-CN" sz="2200" b="1" dirty="0">
                <a:latin typeface="Times New Roman" panose="02020603050405020304" pitchFamily="18" charset="0"/>
                <a:ea typeface="华文中宋" panose="02010600040101010101" pitchFamily="2" charset="-122"/>
              </a:rPr>
              <a:t>×</a:t>
            </a:r>
            <a:r>
              <a:rPr kumimoji="1" lang="zh-CN" altLang="en-US" sz="2200" b="1" dirty="0">
                <a:latin typeface="Times New Roman" panose="02020603050405020304" pitchFamily="18" charset="0"/>
                <a:ea typeface="华文中宋" panose="02010600040101010101" pitchFamily="2" charset="-122"/>
              </a:rPr>
              <a:t>不命中率</a:t>
            </a:r>
            <a:r>
              <a:rPr kumimoji="1" lang="en-US" altLang="zh-CN" sz="2200" b="1" dirty="0">
                <a:latin typeface="Times New Roman" panose="02020603050405020304" pitchFamily="18" charset="0"/>
                <a:ea typeface="华文中宋" panose="02010600040101010101" pitchFamily="2" charset="-122"/>
              </a:rPr>
              <a:t>×</a:t>
            </a:r>
            <a:r>
              <a:rPr kumimoji="1" lang="zh-CN" altLang="en-US" sz="2200" b="1" dirty="0">
                <a:latin typeface="Times New Roman" panose="02020603050405020304" pitchFamily="18" charset="0"/>
                <a:ea typeface="华文中宋" panose="02010600040101010101" pitchFamily="2" charset="-122"/>
              </a:rPr>
              <a:t>不命中开销周期</a:t>
            </a:r>
            <a:r>
              <a:rPr kumimoji="1" lang="en-US" altLang="zh-CN" sz="2200" b="1" dirty="0">
                <a:latin typeface="Times New Roman" panose="02020603050405020304" pitchFamily="18" charset="0"/>
                <a:ea typeface="华文中宋" panose="02010600040101010101" pitchFamily="2" charset="-122"/>
              </a:rPr>
              <a:t>×</a:t>
            </a:r>
            <a:r>
              <a:rPr kumimoji="1" lang="zh-CN" altLang="en-US" sz="2200" b="1" dirty="0">
                <a:latin typeface="Times New Roman" panose="02020603050405020304" pitchFamily="18" charset="0"/>
                <a:ea typeface="华文中宋" panose="02010600040101010101" pitchFamily="2" charset="-122"/>
              </a:rPr>
              <a:t>时钟周期时间）</a:t>
            </a:r>
          </a:p>
        </p:txBody>
      </p:sp>
      <p:sp>
        <p:nvSpPr>
          <p:cNvPr id="2" name="日期占位符 1">
            <a:extLst>
              <a:ext uri="{FF2B5EF4-FFF2-40B4-BE49-F238E27FC236}">
                <a16:creationId xmlns:a16="http://schemas.microsoft.com/office/drawing/2014/main" id="{B716A68C-3BF8-F57F-CC82-5085615DBDAD}"/>
              </a:ext>
            </a:extLst>
          </p:cNvPr>
          <p:cNvSpPr>
            <a:spLocks noGrp="1"/>
          </p:cNvSpPr>
          <p:nvPr>
            <p:ph type="dt" sz="half" idx="10"/>
          </p:nvPr>
        </p:nvSpPr>
        <p:spPr/>
        <p:txBody>
          <a:bodyPr/>
          <a:lstStyle/>
          <a:p>
            <a:pPr>
              <a:defRPr/>
            </a:pPr>
            <a:fld id="{B1F52792-2EC8-428B-AAF2-FEB4A6BD0D49}"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8AC0429E-3F3F-FECB-0453-C8057A0713C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77F4797-9B37-1055-D3CA-AEA796FE9F61}"/>
              </a:ext>
            </a:extLst>
          </p:cNvPr>
          <p:cNvSpPr>
            <a:spLocks noGrp="1"/>
          </p:cNvSpPr>
          <p:nvPr>
            <p:ph type="sldNum" sz="quarter" idx="12"/>
          </p:nvPr>
        </p:nvSpPr>
        <p:spPr/>
        <p:txBody>
          <a:bodyPr/>
          <a:lstStyle/>
          <a:p>
            <a:pPr>
              <a:defRPr/>
            </a:pPr>
            <a:fld id="{8BCAC33D-D29A-48B3-BCD6-381D3D720D26}" type="slidenum">
              <a:rPr lang="zh-CN" altLang="en-US" smtClean="0"/>
              <a:t>44</a:t>
            </a:fld>
            <a:endParaRPr lang="en-US" altLang="zh-CN"/>
          </a:p>
        </p:txBody>
      </p:sp>
    </p:spTree>
    <p:extLst>
      <p:ext uri="{BB962C8B-B14F-4D97-AF65-F5344CB8AC3E}">
        <p14:creationId xmlns:p14="http://schemas.microsoft.com/office/powerpoint/2010/main" val="4947538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1" name="Rectangle 3" descr="Rectangle: Click to edit Master text styles&#10;Second level&#10;Third level&#10;Fourth level&#10;Fifth level"/>
          <p:cNvSpPr>
            <a:spLocks noGrp="1" noChangeArrowheads="1"/>
          </p:cNvSpPr>
          <p:nvPr>
            <p:ph type="body" idx="1"/>
          </p:nvPr>
        </p:nvSpPr>
        <p:spPr>
          <a:xfrm>
            <a:off x="824037" y="666427"/>
            <a:ext cx="7495926" cy="2447925"/>
          </a:xfrm>
        </p:spPr>
        <p:txBody>
          <a:bodyPr/>
          <a:lstStyle/>
          <a:p>
            <a:pPr marL="457200" indent="-457200" eaLnBrk="1" hangingPunct="1">
              <a:lnSpc>
                <a:spcPct val="130000"/>
              </a:lnSpc>
              <a:spcBef>
                <a:spcPct val="0"/>
              </a:spcBef>
              <a:buNone/>
            </a:pPr>
            <a:r>
              <a:rPr kumimoji="1" lang="zh-CN" altLang="en-US" sz="2200" b="1" dirty="0">
                <a:latin typeface="Times New Roman" panose="02020603050405020304" pitchFamily="18" charset="0"/>
                <a:ea typeface="华文中宋" panose="02010600040101010101" pitchFamily="2" charset="-122"/>
              </a:rPr>
              <a:t>因此：</a:t>
            </a:r>
          </a:p>
          <a:p>
            <a:pPr marL="457200" indent="-457200" eaLnBrk="1" hangingPunct="1">
              <a:lnSpc>
                <a:spcPct val="130000"/>
              </a:lnSpc>
              <a:spcBef>
                <a:spcPct val="0"/>
              </a:spcBef>
              <a:buNone/>
            </a:pPr>
            <a:r>
              <a:rPr kumimoji="1" lang="en-US" altLang="zh-CN" sz="2200" b="1" dirty="0">
                <a:latin typeface="Times New Roman" panose="02020603050405020304" pitchFamily="18" charset="0"/>
                <a:ea typeface="华文中宋" panose="02010600040101010101" pitchFamily="2" charset="-122"/>
              </a:rPr>
              <a:t>CPU</a:t>
            </a:r>
            <a:r>
              <a:rPr kumimoji="1" lang="zh-CN" altLang="en-US" sz="2200" b="1" dirty="0">
                <a:latin typeface="Times New Roman" panose="02020603050405020304" pitchFamily="18" charset="0"/>
                <a:ea typeface="华文中宋" panose="02010600040101010101" pitchFamily="2" charset="-122"/>
              </a:rPr>
              <a:t>时间</a:t>
            </a:r>
            <a:r>
              <a:rPr kumimoji="1" lang="en-US" altLang="zh-CN" sz="2200" b="1" dirty="0">
                <a:latin typeface="Times New Roman" panose="02020603050405020304" pitchFamily="18" charset="0"/>
                <a:ea typeface="华文中宋" panose="02010600040101010101" pitchFamily="2" charset="-122"/>
              </a:rPr>
              <a:t>1</a:t>
            </a:r>
            <a:r>
              <a:rPr kumimoji="1" lang="zh-CN" altLang="en-US" sz="2200" b="1" dirty="0">
                <a:latin typeface="Times New Roman" panose="02020603050405020304" pitchFamily="18" charset="0"/>
                <a:ea typeface="华文中宋" panose="02010600040101010101" pitchFamily="2" charset="-122"/>
              </a:rPr>
              <a:t>路 ＝ </a:t>
            </a:r>
            <a:r>
              <a:rPr kumimoji="1" lang="en-US" altLang="zh-CN" sz="2200" b="1" dirty="0">
                <a:latin typeface="Times New Roman" panose="02020603050405020304" pitchFamily="18" charset="0"/>
                <a:ea typeface="华文中宋" panose="02010600040101010101" pitchFamily="2" charset="-122"/>
              </a:rPr>
              <a:t>IC×(1.6×0.35</a:t>
            </a:r>
            <a:r>
              <a:rPr kumimoji="1" lang="zh-CN" altLang="en-US" sz="2200" b="1" dirty="0">
                <a:latin typeface="Times New Roman" panose="02020603050405020304" pitchFamily="18" charset="0"/>
                <a:ea typeface="华文中宋" panose="02010600040101010101" pitchFamily="2" charset="-122"/>
              </a:rPr>
              <a:t>＋</a:t>
            </a:r>
            <a:r>
              <a:rPr kumimoji="1" lang="en-US" altLang="zh-CN" sz="2200" b="1" dirty="0">
                <a:latin typeface="Times New Roman" panose="02020603050405020304" pitchFamily="18" charset="0"/>
                <a:ea typeface="华文中宋" panose="02010600040101010101" pitchFamily="2" charset="-122"/>
              </a:rPr>
              <a:t>(1.4×0.021×65))</a:t>
            </a:r>
            <a:br>
              <a:rPr kumimoji="1" lang="en-US" altLang="zh-CN" sz="2200" b="1" dirty="0">
                <a:latin typeface="Times New Roman" panose="02020603050405020304" pitchFamily="18" charset="0"/>
                <a:ea typeface="华文中宋" panose="02010600040101010101" pitchFamily="2" charset="-122"/>
              </a:rPr>
            </a:br>
            <a:r>
              <a:rPr kumimoji="1" lang="en-US" altLang="zh-CN" sz="2200" b="1" dirty="0">
                <a:latin typeface="Times New Roman" panose="02020603050405020304" pitchFamily="18" charset="0"/>
                <a:ea typeface="华文中宋" panose="02010600040101010101" pitchFamily="2" charset="-122"/>
              </a:rPr>
              <a:t>                </a:t>
            </a:r>
            <a:r>
              <a:rPr kumimoji="1" lang="zh-CN" altLang="en-US" sz="2200" b="1" dirty="0">
                <a:latin typeface="Times New Roman" panose="02020603050405020304" pitchFamily="18" charset="0"/>
                <a:ea typeface="华文中宋" panose="02010600040101010101" pitchFamily="2" charset="-122"/>
              </a:rPr>
              <a:t>＝ </a:t>
            </a:r>
            <a:r>
              <a:rPr kumimoji="1" lang="en-US" altLang="zh-CN" sz="2200" b="1" dirty="0">
                <a:latin typeface="Times New Roman" panose="02020603050405020304" pitchFamily="18" charset="0"/>
                <a:ea typeface="华文中宋" panose="02010600040101010101" pitchFamily="2" charset="-122"/>
              </a:rPr>
              <a:t>2.47×IC</a:t>
            </a:r>
          </a:p>
          <a:p>
            <a:pPr marL="457200" indent="-457200" eaLnBrk="1" hangingPunct="1">
              <a:lnSpc>
                <a:spcPct val="130000"/>
              </a:lnSpc>
              <a:spcBef>
                <a:spcPct val="0"/>
              </a:spcBef>
              <a:buNone/>
            </a:pPr>
            <a:r>
              <a:rPr kumimoji="1" lang="en-US" altLang="zh-CN" sz="2200" b="1" dirty="0">
                <a:latin typeface="Times New Roman" panose="02020603050405020304" pitchFamily="18" charset="0"/>
                <a:ea typeface="华文中宋" panose="02010600040101010101" pitchFamily="2" charset="-122"/>
              </a:rPr>
              <a:t>CPU</a:t>
            </a:r>
            <a:r>
              <a:rPr kumimoji="1" lang="zh-CN" altLang="en-US" sz="2200" b="1" dirty="0">
                <a:latin typeface="Times New Roman" panose="02020603050405020304" pitchFamily="18" charset="0"/>
                <a:ea typeface="华文中宋" panose="02010600040101010101" pitchFamily="2" charset="-122"/>
              </a:rPr>
              <a:t>时间</a:t>
            </a:r>
            <a:r>
              <a:rPr kumimoji="1" lang="en-US" altLang="zh-CN" sz="2200" b="1" dirty="0">
                <a:latin typeface="Times New Roman" panose="02020603050405020304" pitchFamily="18" charset="0"/>
                <a:ea typeface="华文中宋" panose="02010600040101010101" pitchFamily="2" charset="-122"/>
              </a:rPr>
              <a:t>2</a:t>
            </a:r>
            <a:r>
              <a:rPr kumimoji="1" lang="zh-CN" altLang="en-US" sz="2200" b="1" dirty="0">
                <a:latin typeface="Times New Roman" panose="02020603050405020304" pitchFamily="18" charset="0"/>
                <a:ea typeface="华文中宋" panose="02010600040101010101" pitchFamily="2" charset="-122"/>
              </a:rPr>
              <a:t>路 ＝ </a:t>
            </a:r>
            <a:r>
              <a:rPr kumimoji="1" lang="en-US" altLang="zh-CN" sz="2200" b="1" dirty="0">
                <a:latin typeface="Times New Roman" panose="02020603050405020304" pitchFamily="18" charset="0"/>
                <a:ea typeface="华文中宋" panose="02010600040101010101" pitchFamily="2" charset="-122"/>
              </a:rPr>
              <a:t>IC×(1.6×0.35×1.35</a:t>
            </a:r>
            <a:r>
              <a:rPr kumimoji="1" lang="zh-CN" altLang="en-US" sz="2200" b="1" dirty="0">
                <a:latin typeface="Times New Roman" panose="02020603050405020304" pitchFamily="18" charset="0"/>
                <a:ea typeface="华文中宋" panose="02010600040101010101" pitchFamily="2" charset="-122"/>
              </a:rPr>
              <a:t>＋</a:t>
            </a:r>
            <a:r>
              <a:rPr kumimoji="1" lang="en-US" altLang="zh-CN" sz="2200" b="1" dirty="0">
                <a:latin typeface="Times New Roman" panose="02020603050405020304" pitchFamily="18" charset="0"/>
                <a:ea typeface="华文中宋" panose="02010600040101010101" pitchFamily="2" charset="-122"/>
              </a:rPr>
              <a:t>(1.4×0.019×65))</a:t>
            </a:r>
            <a:br>
              <a:rPr kumimoji="1" lang="en-US" altLang="zh-CN" sz="2200" b="1" dirty="0">
                <a:latin typeface="Times New Roman" panose="02020603050405020304" pitchFamily="18" charset="0"/>
                <a:ea typeface="华文中宋" panose="02010600040101010101" pitchFamily="2" charset="-122"/>
              </a:rPr>
            </a:br>
            <a:r>
              <a:rPr kumimoji="1" lang="en-US" altLang="zh-CN" sz="2200" b="1" dirty="0">
                <a:latin typeface="Times New Roman" panose="02020603050405020304" pitchFamily="18" charset="0"/>
                <a:ea typeface="华文中宋" panose="02010600040101010101" pitchFamily="2" charset="-122"/>
              </a:rPr>
              <a:t>                </a:t>
            </a:r>
            <a:r>
              <a:rPr kumimoji="1" lang="zh-CN" altLang="en-US" sz="2200" b="1" dirty="0">
                <a:latin typeface="Times New Roman" panose="02020603050405020304" pitchFamily="18" charset="0"/>
                <a:ea typeface="华文中宋" panose="02010600040101010101" pitchFamily="2" charset="-122"/>
              </a:rPr>
              <a:t>＝ </a:t>
            </a:r>
            <a:r>
              <a:rPr kumimoji="1" lang="en-US" altLang="zh-CN" sz="2200" b="1" dirty="0">
                <a:latin typeface="Times New Roman" panose="02020603050405020304" pitchFamily="18" charset="0"/>
                <a:ea typeface="华文中宋" panose="02010600040101010101" pitchFamily="2" charset="-122"/>
              </a:rPr>
              <a:t>2.49×IC</a:t>
            </a:r>
          </a:p>
          <a:p>
            <a:pPr eaLnBrk="1" hangingPunct="1">
              <a:lnSpc>
                <a:spcPct val="130000"/>
              </a:lnSpc>
              <a:buFont typeface="Wingdings" panose="05000000000000000000" pitchFamily="2" charset="2"/>
              <a:buNone/>
            </a:pPr>
            <a:endParaRPr lang="en-US" altLang="zh-CN" sz="2200" b="1" dirty="0">
              <a:latin typeface="宋体" panose="02010600030101010101" pitchFamily="2" charset="-122"/>
              <a:ea typeface="宋体" panose="02010600030101010101" pitchFamily="2" charset="-122"/>
            </a:endParaRPr>
          </a:p>
        </p:txBody>
      </p:sp>
      <p:grpSp>
        <p:nvGrpSpPr>
          <p:cNvPr id="2" name="组合 1"/>
          <p:cNvGrpSpPr/>
          <p:nvPr/>
        </p:nvGrpSpPr>
        <p:grpSpPr>
          <a:xfrm>
            <a:off x="1835696" y="3171179"/>
            <a:ext cx="5029200" cy="962891"/>
            <a:chOff x="1990725" y="3860800"/>
            <a:chExt cx="5029200" cy="962891"/>
          </a:xfrm>
        </p:grpSpPr>
        <p:sp>
          <p:nvSpPr>
            <p:cNvPr id="124932" name="Text Box 4"/>
            <p:cNvSpPr txBox="1">
              <a:spLocks noChangeArrowheads="1"/>
            </p:cNvSpPr>
            <p:nvPr/>
          </p:nvSpPr>
          <p:spPr bwMode="auto">
            <a:xfrm>
              <a:off x="4121150" y="3884537"/>
              <a:ext cx="1600200" cy="497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FontTx/>
                <a:buNone/>
              </a:pPr>
              <a:r>
                <a:rPr lang="en-US" altLang="zh-CN" dirty="0">
                  <a:latin typeface="华文中宋" panose="02010600040101010101" pitchFamily="2" charset="-122"/>
                  <a:ea typeface="华文中宋" panose="02010600040101010101" pitchFamily="2" charset="-122"/>
                </a:rPr>
                <a:t>2</a:t>
              </a:r>
              <a:r>
                <a:rPr lang="en-US" altLang="zh-CN" b="1" dirty="0">
                  <a:latin typeface="华文中宋" panose="02010600040101010101" pitchFamily="2" charset="-122"/>
                  <a:ea typeface="华文中宋" panose="02010600040101010101" pitchFamily="2" charset="-122"/>
                </a:rPr>
                <a:t>.49×IC</a:t>
              </a:r>
            </a:p>
          </p:txBody>
        </p:sp>
        <p:sp>
          <p:nvSpPr>
            <p:cNvPr id="124933" name="Text Box 5"/>
            <p:cNvSpPr txBox="1">
              <a:spLocks noChangeArrowheads="1"/>
            </p:cNvSpPr>
            <p:nvPr/>
          </p:nvSpPr>
          <p:spPr bwMode="auto">
            <a:xfrm>
              <a:off x="2047875" y="4318000"/>
              <a:ext cx="1885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r>
                <a:rPr lang="en-US" altLang="zh-CN" b="1">
                  <a:latin typeface="华文中宋" panose="02010600040101010101" pitchFamily="2" charset="-122"/>
                  <a:ea typeface="华文中宋" panose="02010600040101010101" pitchFamily="2" charset="-122"/>
                </a:rPr>
                <a:t>CPU</a:t>
              </a:r>
              <a:r>
                <a:rPr lang="zh-CN" altLang="en-US" b="1">
                  <a:latin typeface="华文中宋" panose="02010600040101010101" pitchFamily="2" charset="-122"/>
                  <a:ea typeface="华文中宋" panose="02010600040101010101" pitchFamily="2" charset="-122"/>
                </a:rPr>
                <a:t>时间</a:t>
              </a:r>
              <a:r>
                <a:rPr lang="en-US" altLang="zh-CN" b="1" baseline="-25000">
                  <a:latin typeface="华文中宋" panose="02010600040101010101" pitchFamily="2" charset="-122"/>
                  <a:ea typeface="华文中宋" panose="02010600040101010101" pitchFamily="2" charset="-122"/>
                </a:rPr>
                <a:t>1</a:t>
              </a:r>
              <a:r>
                <a:rPr lang="zh-CN" altLang="en-US" b="1" baseline="-25000">
                  <a:latin typeface="华文中宋" panose="02010600040101010101" pitchFamily="2" charset="-122"/>
                  <a:ea typeface="华文中宋" panose="02010600040101010101" pitchFamily="2" charset="-122"/>
                </a:rPr>
                <a:t>路</a:t>
              </a:r>
              <a:endParaRPr lang="zh-CN" altLang="en-US" b="1">
                <a:latin typeface="华文中宋" panose="02010600040101010101" pitchFamily="2" charset="-122"/>
                <a:ea typeface="华文中宋" panose="02010600040101010101" pitchFamily="2" charset="-122"/>
              </a:endParaRPr>
            </a:p>
          </p:txBody>
        </p:sp>
        <p:sp>
          <p:nvSpPr>
            <p:cNvPr id="124934" name="Text Box 6"/>
            <p:cNvSpPr txBox="1">
              <a:spLocks noChangeArrowheads="1"/>
            </p:cNvSpPr>
            <p:nvPr/>
          </p:nvSpPr>
          <p:spPr bwMode="auto">
            <a:xfrm>
              <a:off x="1990725" y="4073525"/>
              <a:ext cx="5029200" cy="497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eaLnBrk="1" hangingPunct="1">
                <a:spcBef>
                  <a:spcPct val="0"/>
                </a:spcBef>
                <a:buClrTx/>
                <a:buFontTx/>
                <a:buNone/>
              </a:pPr>
              <a:r>
                <a:rPr lang="en-US" altLang="zh-CN" b="1" dirty="0">
                  <a:latin typeface="华文中宋" panose="02010600040101010101" pitchFamily="2" charset="-122"/>
                  <a:ea typeface="华文中宋" panose="02010600040101010101" pitchFamily="2" charset="-122"/>
                </a:rPr>
                <a:t>───── </a:t>
              </a:r>
              <a:r>
                <a:rPr lang="zh-CN" altLang="en-US" b="1" dirty="0">
                  <a:latin typeface="华文中宋" panose="02010600040101010101" pitchFamily="2" charset="-122"/>
                  <a:ea typeface="华文中宋" panose="02010600040101010101" pitchFamily="2" charset="-122"/>
                </a:rPr>
                <a:t>＝ ───── ＝</a:t>
              </a:r>
              <a:r>
                <a:rPr lang="en-US" altLang="zh-CN" b="1" dirty="0">
                  <a:latin typeface="华文中宋" panose="02010600040101010101" pitchFamily="2" charset="-122"/>
                  <a:ea typeface="华文中宋" panose="02010600040101010101" pitchFamily="2" charset="-122"/>
                </a:rPr>
                <a:t>1.01</a:t>
              </a:r>
            </a:p>
          </p:txBody>
        </p:sp>
        <p:sp>
          <p:nvSpPr>
            <p:cNvPr id="124935" name="Text Box 7"/>
            <p:cNvSpPr txBox="1">
              <a:spLocks noChangeArrowheads="1"/>
            </p:cNvSpPr>
            <p:nvPr/>
          </p:nvSpPr>
          <p:spPr bwMode="auto">
            <a:xfrm>
              <a:off x="4159250" y="4366491"/>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r>
                <a:rPr lang="en-US" altLang="zh-CN" dirty="0">
                  <a:latin typeface="华文中宋" panose="02010600040101010101" pitchFamily="2" charset="-122"/>
                  <a:ea typeface="华文中宋" panose="02010600040101010101" pitchFamily="2" charset="-122"/>
                </a:rPr>
                <a:t>2</a:t>
              </a:r>
              <a:r>
                <a:rPr lang="en-US" altLang="zh-CN" b="1" dirty="0">
                  <a:latin typeface="华文中宋" panose="02010600040101010101" pitchFamily="2" charset="-122"/>
                  <a:ea typeface="华文中宋" panose="02010600040101010101" pitchFamily="2" charset="-122"/>
                </a:rPr>
                <a:t>.47×IC</a:t>
              </a:r>
            </a:p>
          </p:txBody>
        </p:sp>
        <p:sp>
          <p:nvSpPr>
            <p:cNvPr id="124936" name="Text Box 8"/>
            <p:cNvSpPr txBox="1">
              <a:spLocks noChangeArrowheads="1"/>
            </p:cNvSpPr>
            <p:nvPr/>
          </p:nvSpPr>
          <p:spPr bwMode="auto">
            <a:xfrm>
              <a:off x="2047875" y="38608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r>
                <a:rPr lang="en-US" altLang="zh-CN" b="1" dirty="0">
                  <a:latin typeface="华文中宋" panose="02010600040101010101" pitchFamily="2" charset="-122"/>
                  <a:ea typeface="华文中宋" panose="02010600040101010101" pitchFamily="2" charset="-122"/>
                </a:rPr>
                <a:t>CPU</a:t>
              </a:r>
              <a:r>
                <a:rPr lang="zh-CN" altLang="en-US" b="1" dirty="0">
                  <a:latin typeface="华文中宋" panose="02010600040101010101" pitchFamily="2" charset="-122"/>
                  <a:ea typeface="华文中宋" panose="02010600040101010101" pitchFamily="2" charset="-122"/>
                </a:rPr>
                <a:t>时间</a:t>
              </a:r>
              <a:r>
                <a:rPr lang="en-US" altLang="zh-CN" b="1" baseline="-25000" dirty="0">
                  <a:latin typeface="华文中宋" panose="02010600040101010101" pitchFamily="2" charset="-122"/>
                  <a:ea typeface="华文中宋" panose="02010600040101010101" pitchFamily="2" charset="-122"/>
                </a:rPr>
                <a:t>2</a:t>
              </a:r>
              <a:r>
                <a:rPr lang="zh-CN" altLang="en-US" b="1" baseline="-25000" dirty="0">
                  <a:latin typeface="华文中宋" panose="02010600040101010101" pitchFamily="2" charset="-122"/>
                  <a:ea typeface="华文中宋" panose="02010600040101010101" pitchFamily="2" charset="-122"/>
                </a:rPr>
                <a:t>路</a:t>
              </a:r>
              <a:endParaRPr lang="zh-CN" altLang="en-US" b="1" dirty="0">
                <a:latin typeface="华文中宋" panose="02010600040101010101" pitchFamily="2" charset="-122"/>
                <a:ea typeface="华文中宋" panose="02010600040101010101" pitchFamily="2" charset="-122"/>
              </a:endParaRPr>
            </a:p>
          </p:txBody>
        </p:sp>
      </p:grpSp>
      <p:sp>
        <p:nvSpPr>
          <p:cNvPr id="95241" name="Text Box 9"/>
          <p:cNvSpPr txBox="1">
            <a:spLocks noChangeArrowheads="1"/>
          </p:cNvSpPr>
          <p:nvPr/>
        </p:nvSpPr>
        <p:spPr bwMode="auto">
          <a:xfrm>
            <a:off x="395536" y="4352451"/>
            <a:ext cx="8064896" cy="1809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algn="just">
              <a:lnSpc>
                <a:spcPct val="130000"/>
              </a:lnSpc>
              <a:spcBef>
                <a:spcPct val="0"/>
              </a:spcBef>
              <a:buClrTx/>
              <a:buNone/>
            </a:pPr>
            <a:r>
              <a:rPr lang="zh-CN" altLang="en-US" sz="2200" dirty="0">
                <a:solidFill>
                  <a:schemeClr val="tx1"/>
                </a:solidFill>
                <a:latin typeface="Times New Roman" panose="02020603050405020304" pitchFamily="18" charset="0"/>
                <a:ea typeface="华文中宋" panose="02010600040101010101" pitchFamily="2" charset="-122"/>
              </a:rPr>
              <a:t>        与平均存储器存取时间的比较结果相反，直接映象</a:t>
            </a:r>
            <a:r>
              <a:rPr lang="en-US" altLang="zh-CN" sz="2200" dirty="0">
                <a:solidFill>
                  <a:schemeClr val="tx1"/>
                </a:solidFill>
                <a:latin typeface="Times New Roman" panose="02020603050405020304" pitchFamily="18" charset="0"/>
                <a:ea typeface="华文中宋" panose="02010600040101010101" pitchFamily="2" charset="-122"/>
              </a:rPr>
              <a:t>Cache</a:t>
            </a:r>
            <a:r>
              <a:rPr lang="zh-CN" altLang="en-US" sz="2200" dirty="0">
                <a:solidFill>
                  <a:schemeClr val="tx1"/>
                </a:solidFill>
                <a:latin typeface="Times New Roman" panose="02020603050405020304" pitchFamily="18" charset="0"/>
                <a:ea typeface="华文中宋" panose="02010600040101010101" pitchFamily="2" charset="-122"/>
              </a:rPr>
              <a:t>的平均性能好一些。</a:t>
            </a:r>
            <a:endParaRPr lang="en-US" altLang="zh-CN" sz="2200" dirty="0">
              <a:solidFill>
                <a:schemeClr val="tx1"/>
              </a:solidFill>
              <a:latin typeface="Times New Roman" panose="02020603050405020304" pitchFamily="18" charset="0"/>
              <a:ea typeface="华文中宋" panose="02010600040101010101" pitchFamily="2" charset="-122"/>
            </a:endParaRPr>
          </a:p>
          <a:p>
            <a:pPr algn="just">
              <a:lnSpc>
                <a:spcPct val="130000"/>
              </a:lnSpc>
              <a:spcBef>
                <a:spcPct val="0"/>
              </a:spcBef>
              <a:buClrTx/>
              <a:buNone/>
            </a:pPr>
            <a:r>
              <a:rPr lang="en-US" altLang="zh-CN" sz="2200" dirty="0">
                <a:solidFill>
                  <a:schemeClr val="tx1"/>
                </a:solidFill>
                <a:latin typeface="Times New Roman" panose="02020603050405020304" pitchFamily="18" charset="0"/>
                <a:ea typeface="华文中宋" panose="02010600040101010101" pitchFamily="2" charset="-122"/>
              </a:rPr>
              <a:t>         2-</a:t>
            </a:r>
            <a:r>
              <a:rPr lang="zh-CN" altLang="en-US" sz="2200" dirty="0">
                <a:solidFill>
                  <a:schemeClr val="tx1"/>
                </a:solidFill>
                <a:latin typeface="Times New Roman" panose="02020603050405020304" pitchFamily="18" charset="0"/>
                <a:ea typeface="华文中宋" panose="02010600040101010101" pitchFamily="2" charset="-122"/>
              </a:rPr>
              <a:t>路组相联情况下，尽管它的缺失率低一些，但是所有指令时钟周期都延长了。</a:t>
            </a:r>
          </a:p>
        </p:txBody>
      </p:sp>
      <p:sp>
        <p:nvSpPr>
          <p:cNvPr id="3" name="日期占位符 2">
            <a:extLst>
              <a:ext uri="{FF2B5EF4-FFF2-40B4-BE49-F238E27FC236}">
                <a16:creationId xmlns:a16="http://schemas.microsoft.com/office/drawing/2014/main" id="{A188C5ED-6C10-696B-F555-9EA6636D8132}"/>
              </a:ext>
            </a:extLst>
          </p:cNvPr>
          <p:cNvSpPr>
            <a:spLocks noGrp="1"/>
          </p:cNvSpPr>
          <p:nvPr>
            <p:ph type="dt" sz="half" idx="10"/>
          </p:nvPr>
        </p:nvSpPr>
        <p:spPr/>
        <p:txBody>
          <a:bodyPr/>
          <a:lstStyle/>
          <a:p>
            <a:pPr>
              <a:defRPr/>
            </a:pPr>
            <a:fld id="{BAD1C2D5-0DD9-4ED4-8C49-375D0A567A5F}"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AEF1A113-591A-730D-1B72-CD7574D26B08}"/>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A3B60A38-B600-A55A-0D01-9A5F29FE8C7C}"/>
              </a:ext>
            </a:extLst>
          </p:cNvPr>
          <p:cNvSpPr>
            <a:spLocks noGrp="1"/>
          </p:cNvSpPr>
          <p:nvPr>
            <p:ph type="sldNum" sz="quarter" idx="12"/>
          </p:nvPr>
        </p:nvSpPr>
        <p:spPr/>
        <p:txBody>
          <a:bodyPr/>
          <a:lstStyle/>
          <a:p>
            <a:pPr>
              <a:defRPr/>
            </a:pPr>
            <a:fld id="{8BCAC33D-D29A-48B3-BCD6-381D3D720D26}" type="slidenum">
              <a:rPr lang="zh-CN" altLang="en-US" smtClean="0"/>
              <a:t>45</a:t>
            </a:fld>
            <a:endParaRPr lang="en-US" altLang="zh-CN"/>
          </a:p>
        </p:txBody>
      </p:sp>
    </p:spTree>
    <p:extLst>
      <p:ext uri="{BB962C8B-B14F-4D97-AF65-F5344CB8AC3E}">
        <p14:creationId xmlns:p14="http://schemas.microsoft.com/office/powerpoint/2010/main" val="4136897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812799" y="1712087"/>
            <a:ext cx="7343775" cy="34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40000"/>
              </a:lnSpc>
              <a:spcBef>
                <a:spcPct val="20000"/>
              </a:spcBef>
              <a:buFont typeface="Wingdings" panose="05000000000000000000" pitchFamily="2" charset="2"/>
              <a:buNone/>
            </a:pPr>
            <a:r>
              <a:rPr kumimoji="1" lang="zh-CN" altLang="en-US" sz="2400" dirty="0">
                <a:latin typeface="Times New Roman" panose="02020603050405020304" pitchFamily="18" charset="0"/>
                <a:ea typeface="华文中宋" panose="02010600040101010101" pitchFamily="2" charset="-122"/>
              </a:rPr>
              <a:t>平均访存时间＝命中时间＋失效率</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失效开销</a:t>
            </a:r>
          </a:p>
          <a:p>
            <a:pPr eaLnBrk="1" hangingPunct="1">
              <a:lnSpc>
                <a:spcPct val="140000"/>
              </a:lnSpc>
              <a:spcBef>
                <a:spcPct val="20000"/>
              </a:spcBef>
            </a:pPr>
            <a:r>
              <a:rPr kumimoji="1" lang="zh-CN" altLang="en-US" sz="2400" dirty="0">
                <a:latin typeface="Times New Roman" panose="02020603050405020304" pitchFamily="18" charset="0"/>
                <a:ea typeface="华文中宋" panose="02010600040101010101" pitchFamily="2" charset="-122"/>
              </a:rPr>
              <a:t>可以从三个方面改进</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的性能：</a:t>
            </a:r>
          </a:p>
          <a:p>
            <a:pPr lvl="1" eaLnBrk="1" hangingPunct="1">
              <a:lnSpc>
                <a:spcPct val="140000"/>
              </a:lnSpc>
              <a:spcBef>
                <a:spcPct val="20000"/>
              </a:spcBef>
            </a:pPr>
            <a:r>
              <a:rPr kumimoji="1" lang="en-US" altLang="zh-CN" sz="2400" dirty="0">
                <a:solidFill>
                  <a:srgbClr val="C00000"/>
                </a:solidFill>
                <a:latin typeface="Times New Roman" panose="02020603050405020304" pitchFamily="18" charset="0"/>
                <a:ea typeface="华文中宋" panose="02010600040101010101" pitchFamily="2" charset="-122"/>
              </a:rPr>
              <a:t>(1) </a:t>
            </a:r>
            <a:r>
              <a:rPr kumimoji="1" lang="zh-CN" altLang="en-US" sz="2400" dirty="0">
                <a:solidFill>
                  <a:srgbClr val="C00000"/>
                </a:solidFill>
                <a:latin typeface="Times New Roman" panose="02020603050405020304" pitchFamily="18" charset="0"/>
                <a:ea typeface="华文中宋" panose="02010600040101010101" pitchFamily="2" charset="-122"/>
              </a:rPr>
              <a:t>降低失效率</a:t>
            </a:r>
          </a:p>
          <a:p>
            <a:pPr lvl="1" eaLnBrk="1" hangingPunct="1">
              <a:lnSpc>
                <a:spcPct val="140000"/>
              </a:lnSpc>
              <a:spcBef>
                <a:spcPct val="20000"/>
              </a:spcBef>
            </a:pPr>
            <a:r>
              <a:rPr kumimoji="1" lang="en-US" altLang="zh-CN" sz="2400" dirty="0">
                <a:solidFill>
                  <a:srgbClr val="C00000"/>
                </a:solidFill>
                <a:latin typeface="Times New Roman" panose="02020603050405020304" pitchFamily="18" charset="0"/>
                <a:ea typeface="华文中宋" panose="02010600040101010101" pitchFamily="2" charset="-122"/>
              </a:rPr>
              <a:t>(2) </a:t>
            </a:r>
            <a:r>
              <a:rPr kumimoji="1" lang="zh-CN" altLang="en-US" sz="2400" dirty="0">
                <a:solidFill>
                  <a:srgbClr val="C00000"/>
                </a:solidFill>
                <a:latin typeface="Times New Roman" panose="02020603050405020304" pitchFamily="18" charset="0"/>
                <a:ea typeface="华文中宋" panose="02010600040101010101" pitchFamily="2" charset="-122"/>
              </a:rPr>
              <a:t>减少失效开销</a:t>
            </a:r>
            <a:br>
              <a:rPr kumimoji="1" lang="zh-CN" altLang="en-US" sz="2400" dirty="0">
                <a:solidFill>
                  <a:srgbClr val="C00000"/>
                </a:solidFill>
                <a:latin typeface="Times New Roman" panose="02020603050405020304" pitchFamily="18" charset="0"/>
                <a:ea typeface="华文中宋" panose="02010600040101010101" pitchFamily="2" charset="-122"/>
              </a:rPr>
            </a:br>
            <a:r>
              <a:rPr kumimoji="1" lang="en-US" altLang="zh-CN" sz="2400" dirty="0">
                <a:solidFill>
                  <a:srgbClr val="C00000"/>
                </a:solidFill>
                <a:latin typeface="Times New Roman" panose="02020603050405020304" pitchFamily="18" charset="0"/>
                <a:ea typeface="华文中宋" panose="02010600040101010101" pitchFamily="2" charset="-122"/>
              </a:rPr>
              <a:t>(3) </a:t>
            </a:r>
            <a:r>
              <a:rPr kumimoji="1" lang="zh-CN" altLang="en-US" sz="2400" dirty="0">
                <a:solidFill>
                  <a:srgbClr val="C00000"/>
                </a:solidFill>
                <a:latin typeface="Times New Roman" panose="02020603050405020304" pitchFamily="18" charset="0"/>
                <a:ea typeface="华文中宋" panose="02010600040101010101" pitchFamily="2" charset="-122"/>
              </a:rPr>
              <a:t>减少</a:t>
            </a:r>
            <a:r>
              <a:rPr kumimoji="1" lang="en-US" altLang="zh-CN" sz="2400" dirty="0">
                <a:solidFill>
                  <a:srgbClr val="C00000"/>
                </a:solidFill>
                <a:latin typeface="Times New Roman" panose="02020603050405020304" pitchFamily="18" charset="0"/>
                <a:ea typeface="华文中宋" panose="02010600040101010101" pitchFamily="2" charset="-122"/>
              </a:rPr>
              <a:t>Cache</a:t>
            </a:r>
            <a:r>
              <a:rPr kumimoji="1" lang="zh-CN" altLang="en-US" sz="2400" dirty="0">
                <a:solidFill>
                  <a:srgbClr val="C00000"/>
                </a:solidFill>
                <a:latin typeface="Times New Roman" panose="02020603050405020304" pitchFamily="18" charset="0"/>
                <a:ea typeface="华文中宋" panose="02010600040101010101" pitchFamily="2" charset="-122"/>
              </a:rPr>
              <a:t>命中时间</a:t>
            </a:r>
          </a:p>
          <a:p>
            <a:pPr eaLnBrk="1" hangingPunct="1">
              <a:lnSpc>
                <a:spcPct val="140000"/>
              </a:lnSpc>
              <a:spcBef>
                <a:spcPct val="20000"/>
              </a:spcBef>
            </a:pPr>
            <a:r>
              <a:rPr kumimoji="1" lang="en-US" altLang="zh-CN" sz="2400" dirty="0">
                <a:latin typeface="Times New Roman" panose="02020603050405020304" pitchFamily="18" charset="0"/>
                <a:ea typeface="华文中宋" panose="02010600040101010101" pitchFamily="2" charset="-122"/>
              </a:rPr>
              <a:t>     </a:t>
            </a:r>
            <a:r>
              <a:rPr lang="zh-CN" altLang="en-US" sz="2400" dirty="0">
                <a:latin typeface="Times New Roman" panose="02020603050405020304" pitchFamily="18" charset="0"/>
                <a:ea typeface="华文中宋" panose="02010600040101010101" pitchFamily="2" charset="-122"/>
              </a:rPr>
              <a:t>一共</a:t>
            </a:r>
            <a:r>
              <a:rPr kumimoji="1" lang="en-US" altLang="zh-CN" sz="2400" dirty="0">
                <a:latin typeface="Times New Roman" panose="02020603050405020304" pitchFamily="18" charset="0"/>
                <a:ea typeface="华文中宋" panose="02010600040101010101" pitchFamily="2" charset="-122"/>
              </a:rPr>
              <a:t>17</a:t>
            </a:r>
            <a:r>
              <a:rPr kumimoji="1" lang="zh-CN" altLang="en-US" sz="2400" dirty="0">
                <a:latin typeface="Times New Roman" panose="02020603050405020304" pitchFamily="18" charset="0"/>
                <a:ea typeface="华文中宋" panose="02010600040101010101" pitchFamily="2" charset="-122"/>
              </a:rPr>
              <a:t>种</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优化技术</a:t>
            </a:r>
          </a:p>
        </p:txBody>
      </p:sp>
      <p:sp>
        <p:nvSpPr>
          <p:cNvPr id="4" name="Rectangle 2">
            <a:extLst>
              <a:ext uri="{FF2B5EF4-FFF2-40B4-BE49-F238E27FC236}">
                <a16:creationId xmlns:a16="http://schemas.microsoft.com/office/drawing/2014/main" id="{CCA89C1F-EABC-4BA6-B8A0-980743284655}"/>
              </a:ext>
            </a:extLst>
          </p:cNvPr>
          <p:cNvSpPr txBox="1">
            <a:spLocks noChangeArrowheads="1"/>
          </p:cNvSpPr>
          <p:nvPr/>
        </p:nvSpPr>
        <p:spPr>
          <a:xfrm>
            <a:off x="369887" y="332656"/>
            <a:ext cx="8229600" cy="864096"/>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0" lang="en-US" altLang="zh-CN" sz="3600" b="1" dirty="0">
                <a:latin typeface="Times New Roman" panose="02020603050405020304" pitchFamily="18" charset="0"/>
                <a:cs typeface="Times New Roman" panose="02020603050405020304" pitchFamily="18" charset="0"/>
              </a:rPr>
              <a:t>5.2</a:t>
            </a:r>
            <a:r>
              <a:rPr kumimoji="0" lang="en-US" altLang="zh-CN" sz="3600" dirty="0">
                <a:latin typeface="Times New Roman" panose="02020603050405020304" pitchFamily="18" charset="0"/>
                <a:cs typeface="Times New Roman" panose="02020603050405020304" pitchFamily="18" charset="0"/>
              </a:rPr>
              <a:t>.7 </a:t>
            </a:r>
            <a:r>
              <a:rPr kumimoji="0" lang="zh-CN" altLang="en-US" sz="3600" dirty="0">
                <a:latin typeface="Times New Roman" panose="02020603050405020304" pitchFamily="18" charset="0"/>
                <a:cs typeface="Times New Roman" panose="02020603050405020304" pitchFamily="18" charset="0"/>
              </a:rPr>
              <a:t>改进</a:t>
            </a:r>
            <a:r>
              <a:rPr kumimoji="0" lang="en-US" altLang="zh-CN" sz="3600" dirty="0">
                <a:latin typeface="Times New Roman" panose="02020603050405020304" pitchFamily="18" charset="0"/>
                <a:cs typeface="Times New Roman" panose="02020603050405020304" pitchFamily="18" charset="0"/>
              </a:rPr>
              <a:t>Cache</a:t>
            </a:r>
            <a:r>
              <a:rPr kumimoji="0" lang="zh-CN" altLang="en-US" sz="3600" dirty="0">
                <a:latin typeface="Times New Roman" panose="02020603050405020304" pitchFamily="18" charset="0"/>
                <a:cs typeface="Times New Roman" panose="02020603050405020304" pitchFamily="18" charset="0"/>
              </a:rPr>
              <a:t>的性能</a:t>
            </a:r>
            <a:endParaRPr kumimoji="0" lang="zh-CN" altLang="en-US" sz="3600" b="1" dirty="0">
              <a:latin typeface="Times New Roman" panose="02020603050405020304" pitchFamily="18" charset="0"/>
              <a:cs typeface="Times New Roman" panose="02020603050405020304" pitchFamily="18" charset="0"/>
            </a:endParaRPr>
          </a:p>
        </p:txBody>
      </p:sp>
      <p:sp>
        <p:nvSpPr>
          <p:cNvPr id="2" name="日期占位符 1">
            <a:extLst>
              <a:ext uri="{FF2B5EF4-FFF2-40B4-BE49-F238E27FC236}">
                <a16:creationId xmlns:a16="http://schemas.microsoft.com/office/drawing/2014/main" id="{D591094B-B332-F429-77B8-0F92630BB74D}"/>
              </a:ext>
            </a:extLst>
          </p:cNvPr>
          <p:cNvSpPr>
            <a:spLocks noGrp="1"/>
          </p:cNvSpPr>
          <p:nvPr>
            <p:ph type="dt" sz="half" idx="10"/>
          </p:nvPr>
        </p:nvSpPr>
        <p:spPr/>
        <p:txBody>
          <a:bodyPr/>
          <a:lstStyle/>
          <a:p>
            <a:pPr>
              <a:defRPr/>
            </a:pPr>
            <a:fld id="{6C8C2C8E-30BB-45BD-AE34-6A5C8B87B1FD}"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D2305A26-64BF-BF1B-C466-D0BF9731B240}"/>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85652EE6-BC12-68DC-7331-B5BD1BC31CBD}"/>
              </a:ext>
            </a:extLst>
          </p:cNvPr>
          <p:cNvSpPr>
            <a:spLocks noGrp="1"/>
          </p:cNvSpPr>
          <p:nvPr>
            <p:ph type="sldNum" sz="quarter" idx="12"/>
          </p:nvPr>
        </p:nvSpPr>
        <p:spPr/>
        <p:txBody>
          <a:bodyPr/>
          <a:lstStyle/>
          <a:p>
            <a:pPr>
              <a:defRPr/>
            </a:pPr>
            <a:fld id="{65B7EA61-351E-4105-9AD9-76D38C6E9934}" type="slidenum">
              <a:rPr lang="zh-CN" altLang="en-US" smtClean="0"/>
              <a:t>46</a:t>
            </a:fld>
            <a:endParaRPr lang="en-US" altLang="zh-CN"/>
          </a:p>
        </p:txBody>
      </p:sp>
    </p:spTree>
    <p:extLst>
      <p:ext uri="{BB962C8B-B14F-4D97-AF65-F5344CB8AC3E}">
        <p14:creationId xmlns:p14="http://schemas.microsoft.com/office/powerpoint/2010/main" val="6471100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619842" y="6182575"/>
            <a:ext cx="2040943" cy="461665"/>
          </a:xfrm>
          <a:prstGeom prst="rect">
            <a:avLst/>
          </a:prstGeom>
          <a:solidFill>
            <a:srgbClr val="00FFFF"/>
          </a:solidFill>
        </p:spPr>
        <p:txBody>
          <a:bodyPr wrap="none">
            <a:spAutoFit/>
          </a:bodyPr>
          <a:lstStyle/>
          <a:p>
            <a:pPr>
              <a:defRPr/>
            </a:pPr>
            <a:r>
              <a:rPr lang="zh-CN" altLang="en-US" sz="2400" dirty="0">
                <a:ln>
                  <a:solidFill>
                    <a:srgbClr val="000000"/>
                  </a:solidFill>
                </a:ln>
                <a:solidFill>
                  <a:srgbClr val="000000"/>
                </a:solidFill>
              </a:rPr>
              <a:t>减少命中时间</a:t>
            </a:r>
          </a:p>
        </p:txBody>
      </p:sp>
      <p:sp>
        <p:nvSpPr>
          <p:cNvPr id="6" name="TextBox 5"/>
          <p:cNvSpPr txBox="1"/>
          <p:nvPr/>
        </p:nvSpPr>
        <p:spPr>
          <a:xfrm>
            <a:off x="683568" y="5132222"/>
            <a:ext cx="1943161" cy="461665"/>
          </a:xfrm>
          <a:prstGeom prst="rect">
            <a:avLst/>
          </a:prstGeom>
          <a:solidFill>
            <a:srgbClr val="FFCCCC"/>
          </a:solidFill>
        </p:spPr>
        <p:txBody>
          <a:bodyPr wrap="none">
            <a:spAutoFit/>
          </a:bodyPr>
          <a:lstStyle/>
          <a:p>
            <a:pPr>
              <a:defRPr/>
            </a:pPr>
            <a:r>
              <a:rPr lang="zh-CN" altLang="en-US" sz="2400" dirty="0">
                <a:ln>
                  <a:solidFill>
                    <a:srgbClr val="000000"/>
                  </a:solidFill>
                </a:ln>
                <a:solidFill>
                  <a:srgbClr val="000000"/>
                </a:solidFill>
              </a:rPr>
              <a:t>降低失效率  </a:t>
            </a:r>
          </a:p>
        </p:txBody>
      </p:sp>
      <p:sp>
        <p:nvSpPr>
          <p:cNvPr id="7" name="TextBox 6"/>
          <p:cNvSpPr txBox="1"/>
          <p:nvPr/>
        </p:nvSpPr>
        <p:spPr>
          <a:xfrm>
            <a:off x="5137343" y="2944341"/>
            <a:ext cx="2088232" cy="461665"/>
          </a:xfrm>
          <a:prstGeom prst="rect">
            <a:avLst/>
          </a:prstGeom>
          <a:solidFill>
            <a:srgbClr val="FFFF99"/>
          </a:solidFill>
        </p:spPr>
        <p:txBody>
          <a:bodyPr>
            <a:spAutoFit/>
          </a:bodyPr>
          <a:lstStyle/>
          <a:p>
            <a:pPr>
              <a:defRPr/>
            </a:pPr>
            <a:r>
              <a:rPr lang="zh-CN" altLang="en-US" sz="2400" dirty="0">
                <a:ln>
                  <a:solidFill>
                    <a:srgbClr val="000000"/>
                  </a:solidFill>
                </a:ln>
                <a:solidFill>
                  <a:srgbClr val="000000"/>
                </a:solidFill>
              </a:rPr>
              <a:t>减少失效开销  </a:t>
            </a:r>
          </a:p>
        </p:txBody>
      </p:sp>
      <p:sp>
        <p:nvSpPr>
          <p:cNvPr id="8" name="Text Box 3">
            <a:extLst>
              <a:ext uri="{FF2B5EF4-FFF2-40B4-BE49-F238E27FC236}">
                <a16:creationId xmlns:a16="http://schemas.microsoft.com/office/drawing/2014/main" id="{39285B78-D062-4B3D-B492-63C8FAF79768}"/>
              </a:ext>
            </a:extLst>
          </p:cNvPr>
          <p:cNvSpPr txBox="1">
            <a:spLocks noChangeArrowheads="1"/>
          </p:cNvSpPr>
          <p:nvPr/>
        </p:nvSpPr>
        <p:spPr bwMode="auto">
          <a:xfrm>
            <a:off x="536652" y="2233682"/>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en-US" altLang="zh-CN" sz="3000" dirty="0">
                <a:latin typeface="Times New Roman" panose="02020603050405020304" pitchFamily="18" charset="0"/>
                <a:ea typeface="华文中宋" pitchFamily="2" charset="-122"/>
                <a:cs typeface="Times New Roman" panose="02020603050405020304" pitchFamily="18" charset="0"/>
              </a:rPr>
              <a:t>Victim Cache</a:t>
            </a:r>
            <a:endParaRPr lang="zh-CN" altLang="en-US" sz="3000" dirty="0">
              <a:latin typeface="Times New Roman" panose="02020603050405020304" pitchFamily="18" charset="0"/>
              <a:ea typeface="华文中宋" pitchFamily="2" charset="-122"/>
              <a:cs typeface="Times New Roman" panose="02020603050405020304" pitchFamily="18" charset="0"/>
            </a:endParaRPr>
          </a:p>
        </p:txBody>
      </p:sp>
      <p:sp>
        <p:nvSpPr>
          <p:cNvPr id="9" name="Text Box 4">
            <a:extLst>
              <a:ext uri="{FF2B5EF4-FFF2-40B4-BE49-F238E27FC236}">
                <a16:creationId xmlns:a16="http://schemas.microsoft.com/office/drawing/2014/main" id="{7EA30496-374F-4CA8-AAAE-A6AAB2536E15}"/>
              </a:ext>
            </a:extLst>
          </p:cNvPr>
          <p:cNvSpPr txBox="1">
            <a:spLocks noChangeArrowheads="1"/>
          </p:cNvSpPr>
          <p:nvPr/>
        </p:nvSpPr>
        <p:spPr bwMode="auto">
          <a:xfrm>
            <a:off x="-180528" y="1510422"/>
            <a:ext cx="71863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marL="471488" lvl="1" indent="250825"/>
            <a:r>
              <a:rPr lang="zh-CN" altLang="en-US" sz="3000" dirty="0">
                <a:latin typeface="Times New Roman" panose="02020603050405020304" pitchFamily="18" charset="0"/>
                <a:ea typeface="华文中宋" pitchFamily="2" charset="-122"/>
                <a:cs typeface="Times New Roman" panose="02020603050405020304" pitchFamily="18" charset="0"/>
              </a:rPr>
              <a:t>提高相联度</a:t>
            </a:r>
          </a:p>
        </p:txBody>
      </p:sp>
      <p:sp>
        <p:nvSpPr>
          <p:cNvPr id="10" name="Text Box 5">
            <a:extLst>
              <a:ext uri="{FF2B5EF4-FFF2-40B4-BE49-F238E27FC236}">
                <a16:creationId xmlns:a16="http://schemas.microsoft.com/office/drawing/2014/main" id="{3285E8B3-97C5-417A-8594-BFBFEE009F5E}"/>
              </a:ext>
            </a:extLst>
          </p:cNvPr>
          <p:cNvSpPr txBox="1">
            <a:spLocks noChangeArrowheads="1"/>
          </p:cNvSpPr>
          <p:nvPr/>
        </p:nvSpPr>
        <p:spPr bwMode="auto">
          <a:xfrm>
            <a:off x="-204514" y="848760"/>
            <a:ext cx="683186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sz="800" b="1">
                <a:solidFill>
                  <a:schemeClr val="tx1"/>
                </a:solidFill>
                <a:latin typeface="宋体" pitchFamily="2" charset="-122"/>
                <a:ea typeface="宋体" pitchFamily="2" charset="-122"/>
              </a:defRPr>
            </a:lvl1pPr>
            <a:lvl2pPr marL="471488" indent="250825"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lvl="1">
              <a:buFont typeface="Wingdings" pitchFamily="2" charset="2"/>
              <a:buNone/>
            </a:pPr>
            <a:r>
              <a:rPr lang="zh-CN" altLang="en-US" sz="3000" dirty="0">
                <a:latin typeface="Times New Roman" panose="02020603050405020304" pitchFamily="18" charset="0"/>
                <a:ea typeface="华文中宋" pitchFamily="2" charset="-122"/>
                <a:cs typeface="Times New Roman" panose="02020603050405020304" pitchFamily="18" charset="0"/>
              </a:rPr>
              <a:t>调节</a:t>
            </a:r>
            <a:r>
              <a:rPr lang="en-US" altLang="zh-CN" sz="3000" dirty="0">
                <a:latin typeface="Times New Roman" panose="02020603050405020304" pitchFamily="18" charset="0"/>
                <a:ea typeface="华文中宋" pitchFamily="2" charset="-122"/>
                <a:cs typeface="Times New Roman" panose="02020603050405020304" pitchFamily="18" charset="0"/>
              </a:rPr>
              <a:t>Cache</a:t>
            </a:r>
            <a:r>
              <a:rPr lang="zh-CN" altLang="en-US" sz="3000" dirty="0">
                <a:latin typeface="Times New Roman" panose="02020603050405020304" pitchFamily="18" charset="0"/>
                <a:ea typeface="华文中宋" pitchFamily="2" charset="-122"/>
                <a:cs typeface="Times New Roman" panose="02020603050405020304" pitchFamily="18" charset="0"/>
              </a:rPr>
              <a:t>块的大小</a:t>
            </a:r>
          </a:p>
        </p:txBody>
      </p:sp>
      <p:sp>
        <p:nvSpPr>
          <p:cNvPr id="11" name="Text Box 3">
            <a:extLst>
              <a:ext uri="{FF2B5EF4-FFF2-40B4-BE49-F238E27FC236}">
                <a16:creationId xmlns:a16="http://schemas.microsoft.com/office/drawing/2014/main" id="{EEF3205F-CAC6-483B-81FD-9AD6D23A7EFA}"/>
              </a:ext>
            </a:extLst>
          </p:cNvPr>
          <p:cNvSpPr txBox="1">
            <a:spLocks noChangeArrowheads="1"/>
          </p:cNvSpPr>
          <p:nvPr/>
        </p:nvSpPr>
        <p:spPr bwMode="auto">
          <a:xfrm>
            <a:off x="512666" y="2956942"/>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zh-CN" altLang="en-US" sz="3000" dirty="0">
                <a:latin typeface="Times New Roman" panose="02020603050405020304" pitchFamily="18" charset="0"/>
                <a:ea typeface="华文中宋" pitchFamily="2" charset="-122"/>
                <a:cs typeface="Times New Roman" panose="02020603050405020304" pitchFamily="18" charset="0"/>
              </a:rPr>
              <a:t>硬件预取</a:t>
            </a:r>
          </a:p>
        </p:txBody>
      </p:sp>
      <p:sp>
        <p:nvSpPr>
          <p:cNvPr id="12" name="Text Box 3">
            <a:extLst>
              <a:ext uri="{FF2B5EF4-FFF2-40B4-BE49-F238E27FC236}">
                <a16:creationId xmlns:a16="http://schemas.microsoft.com/office/drawing/2014/main" id="{DE97B848-F830-495D-B7FF-06FB21AC5119}"/>
              </a:ext>
            </a:extLst>
          </p:cNvPr>
          <p:cNvSpPr txBox="1">
            <a:spLocks noChangeArrowheads="1"/>
          </p:cNvSpPr>
          <p:nvPr/>
        </p:nvSpPr>
        <p:spPr bwMode="auto">
          <a:xfrm>
            <a:off x="518396" y="3650128"/>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zh-CN" altLang="en-US" sz="3000" dirty="0">
                <a:latin typeface="Times New Roman" panose="02020603050405020304" pitchFamily="18" charset="0"/>
                <a:ea typeface="华文中宋" pitchFamily="2" charset="-122"/>
                <a:cs typeface="Times New Roman" panose="02020603050405020304" pitchFamily="18" charset="0"/>
              </a:rPr>
              <a:t>编译器控制的预取</a:t>
            </a:r>
          </a:p>
        </p:txBody>
      </p:sp>
      <p:sp>
        <p:nvSpPr>
          <p:cNvPr id="13" name="Text Box 3">
            <a:extLst>
              <a:ext uri="{FF2B5EF4-FFF2-40B4-BE49-F238E27FC236}">
                <a16:creationId xmlns:a16="http://schemas.microsoft.com/office/drawing/2014/main" id="{6D1EF0A6-C04D-4562-9503-7876CEBE0708}"/>
              </a:ext>
            </a:extLst>
          </p:cNvPr>
          <p:cNvSpPr txBox="1">
            <a:spLocks noChangeArrowheads="1"/>
          </p:cNvSpPr>
          <p:nvPr/>
        </p:nvSpPr>
        <p:spPr bwMode="auto">
          <a:xfrm>
            <a:off x="536652" y="4390861"/>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zh-CN" altLang="en-US" sz="3000" dirty="0">
                <a:latin typeface="Times New Roman" panose="02020603050405020304" pitchFamily="18" charset="0"/>
                <a:ea typeface="华文中宋" pitchFamily="2" charset="-122"/>
                <a:cs typeface="Times New Roman" panose="02020603050405020304" pitchFamily="18" charset="0"/>
              </a:rPr>
              <a:t>编译器优化</a:t>
            </a:r>
          </a:p>
        </p:txBody>
      </p:sp>
      <p:sp>
        <p:nvSpPr>
          <p:cNvPr id="14" name="Text Box 3">
            <a:extLst>
              <a:ext uri="{FF2B5EF4-FFF2-40B4-BE49-F238E27FC236}">
                <a16:creationId xmlns:a16="http://schemas.microsoft.com/office/drawing/2014/main" id="{6972C090-9A08-4CF2-93D8-C1067245B628}"/>
              </a:ext>
            </a:extLst>
          </p:cNvPr>
          <p:cNvSpPr txBox="1">
            <a:spLocks noChangeArrowheads="1"/>
          </p:cNvSpPr>
          <p:nvPr/>
        </p:nvSpPr>
        <p:spPr bwMode="auto">
          <a:xfrm>
            <a:off x="5113610" y="1197460"/>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zh-CN" altLang="en-US" sz="3000" dirty="0">
                <a:latin typeface="Times New Roman" panose="02020603050405020304" pitchFamily="18" charset="0"/>
                <a:ea typeface="华文中宋" pitchFamily="2" charset="-122"/>
                <a:cs typeface="Times New Roman" panose="02020603050405020304" pitchFamily="18" charset="0"/>
              </a:rPr>
              <a:t>请求字处理</a:t>
            </a:r>
          </a:p>
        </p:txBody>
      </p:sp>
      <p:sp>
        <p:nvSpPr>
          <p:cNvPr id="15" name="Text Box 4">
            <a:extLst>
              <a:ext uri="{FF2B5EF4-FFF2-40B4-BE49-F238E27FC236}">
                <a16:creationId xmlns:a16="http://schemas.microsoft.com/office/drawing/2014/main" id="{515F3DC1-9497-4A79-9209-D6D234B31608}"/>
              </a:ext>
            </a:extLst>
          </p:cNvPr>
          <p:cNvSpPr txBox="1">
            <a:spLocks noChangeArrowheads="1"/>
          </p:cNvSpPr>
          <p:nvPr/>
        </p:nvSpPr>
        <p:spPr bwMode="auto">
          <a:xfrm>
            <a:off x="4396430" y="681605"/>
            <a:ext cx="71863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marL="471488" lvl="1" indent="250825"/>
            <a:r>
              <a:rPr lang="zh-CN" altLang="en-US" sz="3000" dirty="0">
                <a:latin typeface="Times New Roman" panose="02020603050405020304" pitchFamily="18" charset="0"/>
                <a:ea typeface="华文中宋" pitchFamily="2" charset="-122"/>
                <a:cs typeface="Times New Roman" panose="02020603050405020304" pitchFamily="18" charset="0"/>
              </a:rPr>
              <a:t>让读失效优先于写</a:t>
            </a:r>
          </a:p>
        </p:txBody>
      </p:sp>
      <p:sp>
        <p:nvSpPr>
          <p:cNvPr id="16" name="Text Box 5">
            <a:extLst>
              <a:ext uri="{FF2B5EF4-FFF2-40B4-BE49-F238E27FC236}">
                <a16:creationId xmlns:a16="http://schemas.microsoft.com/office/drawing/2014/main" id="{63DF5B02-CAE4-449E-9280-7C1A4BEAA0F8}"/>
              </a:ext>
            </a:extLst>
          </p:cNvPr>
          <p:cNvSpPr txBox="1">
            <a:spLocks noChangeArrowheads="1"/>
          </p:cNvSpPr>
          <p:nvPr/>
        </p:nvSpPr>
        <p:spPr bwMode="auto">
          <a:xfrm>
            <a:off x="4396430" y="171377"/>
            <a:ext cx="683186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sz="800" b="1">
                <a:solidFill>
                  <a:schemeClr val="tx1"/>
                </a:solidFill>
                <a:latin typeface="宋体" pitchFamily="2" charset="-122"/>
                <a:ea typeface="宋体" pitchFamily="2" charset="-122"/>
              </a:defRPr>
            </a:lvl1pPr>
            <a:lvl2pPr marL="471488" indent="250825"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lvl="1">
              <a:buFont typeface="Wingdings" pitchFamily="2" charset="2"/>
              <a:buNone/>
            </a:pPr>
            <a:r>
              <a:rPr lang="zh-CN" altLang="en-US" sz="3000" dirty="0">
                <a:latin typeface="Times New Roman" panose="02020603050405020304" pitchFamily="18" charset="0"/>
                <a:ea typeface="华文中宋" pitchFamily="2" charset="-122"/>
                <a:cs typeface="Times New Roman" panose="02020603050405020304" pitchFamily="18" charset="0"/>
              </a:rPr>
              <a:t>写缓冲及写合并</a:t>
            </a:r>
          </a:p>
        </p:txBody>
      </p:sp>
      <p:sp>
        <p:nvSpPr>
          <p:cNvPr id="17" name="Text Box 3">
            <a:extLst>
              <a:ext uri="{FF2B5EF4-FFF2-40B4-BE49-F238E27FC236}">
                <a16:creationId xmlns:a16="http://schemas.microsoft.com/office/drawing/2014/main" id="{1347B7AA-448A-404C-961E-1F5732DB897E}"/>
              </a:ext>
            </a:extLst>
          </p:cNvPr>
          <p:cNvSpPr txBox="1">
            <a:spLocks noChangeArrowheads="1"/>
          </p:cNvSpPr>
          <p:nvPr/>
        </p:nvSpPr>
        <p:spPr bwMode="auto">
          <a:xfrm>
            <a:off x="5077708" y="1715230"/>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zh-CN" altLang="en-US" sz="3000" dirty="0">
                <a:latin typeface="Times New Roman" panose="02020603050405020304" pitchFamily="18" charset="0"/>
                <a:ea typeface="华文中宋" pitchFamily="2" charset="-122"/>
                <a:cs typeface="Times New Roman" panose="02020603050405020304" pitchFamily="18" charset="0"/>
              </a:rPr>
              <a:t>多级</a:t>
            </a:r>
            <a:r>
              <a:rPr lang="en-US" altLang="zh-CN" sz="3000" dirty="0">
                <a:latin typeface="Times New Roman" panose="02020603050405020304" pitchFamily="18" charset="0"/>
                <a:ea typeface="华文中宋" pitchFamily="2" charset="-122"/>
                <a:cs typeface="Times New Roman" panose="02020603050405020304" pitchFamily="18" charset="0"/>
              </a:rPr>
              <a:t>Cache</a:t>
            </a:r>
            <a:endParaRPr lang="zh-CN" altLang="en-US" sz="3000" dirty="0">
              <a:latin typeface="Times New Roman" panose="02020603050405020304" pitchFamily="18" charset="0"/>
              <a:ea typeface="华文中宋" pitchFamily="2" charset="-122"/>
              <a:cs typeface="Times New Roman" panose="02020603050405020304" pitchFamily="18" charset="0"/>
            </a:endParaRPr>
          </a:p>
        </p:txBody>
      </p:sp>
      <p:sp>
        <p:nvSpPr>
          <p:cNvPr id="18" name="Text Box 3">
            <a:extLst>
              <a:ext uri="{FF2B5EF4-FFF2-40B4-BE49-F238E27FC236}">
                <a16:creationId xmlns:a16="http://schemas.microsoft.com/office/drawing/2014/main" id="{80F53E0C-5805-4B2B-B293-299FF779C844}"/>
              </a:ext>
            </a:extLst>
          </p:cNvPr>
          <p:cNvSpPr txBox="1">
            <a:spLocks noChangeArrowheads="1"/>
          </p:cNvSpPr>
          <p:nvPr/>
        </p:nvSpPr>
        <p:spPr bwMode="auto">
          <a:xfrm>
            <a:off x="5137343" y="2289448"/>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zh-CN" altLang="en-US" sz="3000" dirty="0">
                <a:latin typeface="Times New Roman" panose="02020603050405020304" pitchFamily="18" charset="0"/>
                <a:ea typeface="华文中宋" pitchFamily="2" charset="-122"/>
                <a:cs typeface="Times New Roman" panose="02020603050405020304" pitchFamily="18" charset="0"/>
              </a:rPr>
              <a:t>非阻塞</a:t>
            </a:r>
            <a:r>
              <a:rPr lang="en-US" altLang="zh-CN" sz="3000" dirty="0">
                <a:latin typeface="Times New Roman" panose="02020603050405020304" pitchFamily="18" charset="0"/>
                <a:ea typeface="华文中宋" pitchFamily="2" charset="-122"/>
                <a:cs typeface="Times New Roman" panose="02020603050405020304" pitchFamily="18" charset="0"/>
              </a:rPr>
              <a:t>Cache</a:t>
            </a:r>
            <a:endParaRPr lang="zh-CN" altLang="en-US" sz="3000" dirty="0">
              <a:latin typeface="Times New Roman" panose="02020603050405020304" pitchFamily="18" charset="0"/>
              <a:ea typeface="华文中宋" pitchFamily="2" charset="-122"/>
              <a:cs typeface="Times New Roman" panose="02020603050405020304" pitchFamily="18" charset="0"/>
            </a:endParaRPr>
          </a:p>
        </p:txBody>
      </p:sp>
      <p:sp>
        <p:nvSpPr>
          <p:cNvPr id="19" name="Text Box 3">
            <a:extLst>
              <a:ext uri="{FF2B5EF4-FFF2-40B4-BE49-F238E27FC236}">
                <a16:creationId xmlns:a16="http://schemas.microsoft.com/office/drawing/2014/main" id="{4465EDE7-D4FE-4B9D-9495-B3367CF28CA4}"/>
              </a:ext>
            </a:extLst>
          </p:cNvPr>
          <p:cNvSpPr txBox="1">
            <a:spLocks noChangeArrowheads="1"/>
          </p:cNvSpPr>
          <p:nvPr/>
        </p:nvSpPr>
        <p:spPr bwMode="auto">
          <a:xfrm>
            <a:off x="6767332" y="4478706"/>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zh-CN" altLang="en-US" sz="3000" dirty="0">
                <a:latin typeface="Times New Roman" panose="02020603050405020304" pitchFamily="18" charset="0"/>
                <a:ea typeface="华文中宋" pitchFamily="2" charset="-122"/>
                <a:cs typeface="Times New Roman" panose="02020603050405020304" pitchFamily="18" charset="0"/>
              </a:rPr>
              <a:t>多体</a:t>
            </a:r>
            <a:r>
              <a:rPr lang="en-US" altLang="zh-CN" sz="3000" dirty="0">
                <a:latin typeface="Times New Roman" panose="02020603050405020304" pitchFamily="18" charset="0"/>
                <a:ea typeface="华文中宋" pitchFamily="2" charset="-122"/>
                <a:cs typeface="Times New Roman" panose="02020603050405020304" pitchFamily="18" charset="0"/>
              </a:rPr>
              <a:t>Cache</a:t>
            </a:r>
            <a:endParaRPr lang="zh-CN" altLang="en-US" sz="3000" dirty="0">
              <a:latin typeface="Times New Roman" panose="02020603050405020304" pitchFamily="18" charset="0"/>
              <a:ea typeface="华文中宋" pitchFamily="2" charset="-122"/>
              <a:cs typeface="Times New Roman" panose="02020603050405020304" pitchFamily="18" charset="0"/>
            </a:endParaRPr>
          </a:p>
        </p:txBody>
      </p:sp>
      <p:sp>
        <p:nvSpPr>
          <p:cNvPr id="20" name="Text Box 4">
            <a:extLst>
              <a:ext uri="{FF2B5EF4-FFF2-40B4-BE49-F238E27FC236}">
                <a16:creationId xmlns:a16="http://schemas.microsoft.com/office/drawing/2014/main" id="{4364368F-9F77-4FCE-A2F8-185C012746BF}"/>
              </a:ext>
            </a:extLst>
          </p:cNvPr>
          <p:cNvSpPr txBox="1">
            <a:spLocks noChangeArrowheads="1"/>
          </p:cNvSpPr>
          <p:nvPr/>
        </p:nvSpPr>
        <p:spPr bwMode="auto">
          <a:xfrm>
            <a:off x="3532652" y="4491267"/>
            <a:ext cx="71863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marL="471488" lvl="1" indent="250825"/>
            <a:r>
              <a:rPr lang="zh-CN" altLang="en-US" sz="3000" dirty="0">
                <a:latin typeface="Times New Roman" panose="02020603050405020304" pitchFamily="18" charset="0"/>
                <a:ea typeface="华文中宋" pitchFamily="2" charset="-122"/>
                <a:cs typeface="Times New Roman" panose="02020603050405020304" pitchFamily="18" charset="0"/>
              </a:rPr>
              <a:t>虚拟化</a:t>
            </a:r>
            <a:r>
              <a:rPr lang="en-US" altLang="zh-CN" sz="3000" dirty="0">
                <a:latin typeface="Times New Roman" panose="02020603050405020304" pitchFamily="18" charset="0"/>
                <a:ea typeface="华文中宋" pitchFamily="2" charset="-122"/>
                <a:cs typeface="Times New Roman" panose="02020603050405020304" pitchFamily="18" charset="0"/>
              </a:rPr>
              <a:t>Cache</a:t>
            </a:r>
            <a:endParaRPr lang="zh-CN" altLang="en-US" sz="3000" dirty="0">
              <a:latin typeface="Times New Roman" panose="02020603050405020304" pitchFamily="18" charset="0"/>
              <a:ea typeface="华文中宋" pitchFamily="2" charset="-122"/>
              <a:cs typeface="Times New Roman" panose="02020603050405020304" pitchFamily="18" charset="0"/>
            </a:endParaRPr>
          </a:p>
        </p:txBody>
      </p:sp>
      <p:sp>
        <p:nvSpPr>
          <p:cNvPr id="21" name="Text Box 5">
            <a:extLst>
              <a:ext uri="{FF2B5EF4-FFF2-40B4-BE49-F238E27FC236}">
                <a16:creationId xmlns:a16="http://schemas.microsoft.com/office/drawing/2014/main" id="{D1F97C7D-B468-4257-B993-0821C17A9D05}"/>
              </a:ext>
            </a:extLst>
          </p:cNvPr>
          <p:cNvSpPr txBox="1">
            <a:spLocks noChangeArrowheads="1"/>
          </p:cNvSpPr>
          <p:nvPr/>
        </p:nvSpPr>
        <p:spPr bwMode="auto">
          <a:xfrm>
            <a:off x="3539549" y="3772535"/>
            <a:ext cx="683186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sz="800" b="1">
                <a:solidFill>
                  <a:schemeClr val="tx1"/>
                </a:solidFill>
                <a:latin typeface="宋体" pitchFamily="2" charset="-122"/>
                <a:ea typeface="宋体" pitchFamily="2" charset="-122"/>
              </a:defRPr>
            </a:lvl1pPr>
            <a:lvl2pPr marL="471488" indent="250825"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lvl="1">
              <a:buFont typeface="Wingdings" pitchFamily="2" charset="2"/>
              <a:buNone/>
            </a:pPr>
            <a:r>
              <a:rPr lang="zh-CN" altLang="en-US" sz="3000" dirty="0">
                <a:latin typeface="Times New Roman" panose="02020603050405020304" pitchFamily="18" charset="0"/>
                <a:ea typeface="华文中宋" pitchFamily="2" charset="-122"/>
                <a:cs typeface="Times New Roman" panose="02020603050405020304" pitchFamily="18" charset="0"/>
              </a:rPr>
              <a:t>容量小、结构简单</a:t>
            </a:r>
            <a:r>
              <a:rPr lang="en-US" altLang="zh-CN" sz="3000" dirty="0">
                <a:latin typeface="Times New Roman" panose="02020603050405020304" pitchFamily="18" charset="0"/>
                <a:ea typeface="华文中宋" pitchFamily="2" charset="-122"/>
                <a:cs typeface="Times New Roman" panose="02020603050405020304" pitchFamily="18" charset="0"/>
              </a:rPr>
              <a:t>Cache</a:t>
            </a:r>
            <a:endParaRPr lang="zh-CN" altLang="en-US" sz="3000" dirty="0">
              <a:latin typeface="Times New Roman" panose="02020603050405020304" pitchFamily="18" charset="0"/>
              <a:ea typeface="华文中宋" pitchFamily="2" charset="-122"/>
              <a:cs typeface="Times New Roman" panose="02020603050405020304" pitchFamily="18" charset="0"/>
            </a:endParaRPr>
          </a:p>
        </p:txBody>
      </p:sp>
      <p:sp>
        <p:nvSpPr>
          <p:cNvPr id="22" name="Text Box 3">
            <a:extLst>
              <a:ext uri="{FF2B5EF4-FFF2-40B4-BE49-F238E27FC236}">
                <a16:creationId xmlns:a16="http://schemas.microsoft.com/office/drawing/2014/main" id="{D3DCC53A-A47F-4004-A9F7-13D06EF9A8A5}"/>
              </a:ext>
            </a:extLst>
          </p:cNvPr>
          <p:cNvSpPr txBox="1">
            <a:spLocks noChangeArrowheads="1"/>
          </p:cNvSpPr>
          <p:nvPr/>
        </p:nvSpPr>
        <p:spPr bwMode="auto">
          <a:xfrm>
            <a:off x="6811147" y="5070579"/>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en-US" altLang="zh-CN" sz="3000" dirty="0">
                <a:latin typeface="Times New Roman" panose="02020603050405020304" pitchFamily="18" charset="0"/>
                <a:ea typeface="华文中宋" pitchFamily="2" charset="-122"/>
                <a:cs typeface="Times New Roman" panose="02020603050405020304" pitchFamily="18" charset="0"/>
              </a:rPr>
              <a:t>Trace Cache</a:t>
            </a:r>
            <a:endParaRPr lang="zh-CN" altLang="en-US" sz="3000" dirty="0">
              <a:latin typeface="Times New Roman" panose="02020603050405020304" pitchFamily="18" charset="0"/>
              <a:ea typeface="华文中宋" pitchFamily="2" charset="-122"/>
              <a:cs typeface="Times New Roman" panose="02020603050405020304" pitchFamily="18" charset="0"/>
            </a:endParaRPr>
          </a:p>
        </p:txBody>
      </p:sp>
      <p:sp>
        <p:nvSpPr>
          <p:cNvPr id="23" name="Text Box 4">
            <a:extLst>
              <a:ext uri="{FF2B5EF4-FFF2-40B4-BE49-F238E27FC236}">
                <a16:creationId xmlns:a16="http://schemas.microsoft.com/office/drawing/2014/main" id="{FB3664F4-E5B2-4A81-90E4-10D6F46C5F0C}"/>
              </a:ext>
            </a:extLst>
          </p:cNvPr>
          <p:cNvSpPr txBox="1">
            <a:spLocks noChangeArrowheads="1"/>
          </p:cNvSpPr>
          <p:nvPr/>
        </p:nvSpPr>
        <p:spPr bwMode="auto">
          <a:xfrm>
            <a:off x="3517236" y="5624577"/>
            <a:ext cx="7186315"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marL="471488" lvl="1" indent="250825"/>
            <a:r>
              <a:rPr lang="zh-CN" altLang="en-US" sz="3000" dirty="0">
                <a:latin typeface="Times New Roman" panose="02020603050405020304" pitchFamily="18" charset="0"/>
                <a:ea typeface="华文中宋" pitchFamily="2" charset="-122"/>
                <a:cs typeface="Times New Roman" panose="02020603050405020304" pitchFamily="18" charset="0"/>
              </a:rPr>
              <a:t>访问流水化</a:t>
            </a:r>
          </a:p>
        </p:txBody>
      </p:sp>
      <p:sp>
        <p:nvSpPr>
          <p:cNvPr id="24" name="Text Box 3">
            <a:extLst>
              <a:ext uri="{FF2B5EF4-FFF2-40B4-BE49-F238E27FC236}">
                <a16:creationId xmlns:a16="http://schemas.microsoft.com/office/drawing/2014/main" id="{23265B8B-BAA2-4EBE-BF49-436F4707D001}"/>
              </a:ext>
            </a:extLst>
          </p:cNvPr>
          <p:cNvSpPr txBox="1">
            <a:spLocks noChangeArrowheads="1"/>
          </p:cNvSpPr>
          <p:nvPr/>
        </p:nvSpPr>
        <p:spPr bwMode="auto">
          <a:xfrm>
            <a:off x="4307037" y="5070579"/>
            <a:ext cx="53975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800" b="1">
                <a:solidFill>
                  <a:schemeClr val="tx1"/>
                </a:solidFill>
                <a:latin typeface="宋体" pitchFamily="2" charset="-122"/>
                <a:ea typeface="宋体" pitchFamily="2" charset="-122"/>
              </a:defRPr>
            </a:lvl1pPr>
            <a:lvl2pPr marL="742950" indent="-285750" eaLnBrk="0" hangingPunct="0">
              <a:defRPr kumimoji="1" sz="800" b="1">
                <a:solidFill>
                  <a:schemeClr val="tx1"/>
                </a:solidFill>
                <a:latin typeface="宋体" pitchFamily="2" charset="-122"/>
                <a:ea typeface="宋体" pitchFamily="2" charset="-122"/>
              </a:defRPr>
            </a:lvl2pPr>
            <a:lvl3pPr marL="1143000" indent="-228600" eaLnBrk="0" hangingPunct="0">
              <a:defRPr kumimoji="1" sz="800" b="1">
                <a:solidFill>
                  <a:schemeClr val="tx1"/>
                </a:solidFill>
                <a:latin typeface="宋体" pitchFamily="2" charset="-122"/>
                <a:ea typeface="宋体" pitchFamily="2" charset="-122"/>
              </a:defRPr>
            </a:lvl3pPr>
            <a:lvl4pPr marL="1600200" indent="-228600" eaLnBrk="0" hangingPunct="0">
              <a:defRPr kumimoji="1" sz="800" b="1">
                <a:solidFill>
                  <a:schemeClr val="tx1"/>
                </a:solidFill>
                <a:latin typeface="宋体" pitchFamily="2" charset="-122"/>
                <a:ea typeface="宋体" pitchFamily="2" charset="-122"/>
              </a:defRPr>
            </a:lvl4pPr>
            <a:lvl5pPr marL="2057400" indent="-228600" eaLnBrk="0" hangingPunct="0">
              <a:defRPr kumimoji="1" sz="800" b="1">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800" b="1">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800" b="1">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800" b="1">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800" b="1">
                <a:solidFill>
                  <a:schemeClr val="tx1"/>
                </a:solidFill>
                <a:latin typeface="宋体" pitchFamily="2" charset="-122"/>
                <a:ea typeface="宋体" pitchFamily="2" charset="-122"/>
              </a:defRPr>
            </a:lvl9pPr>
          </a:lstStyle>
          <a:p>
            <a:pPr eaLnBrk="1" hangingPunct="1"/>
            <a:r>
              <a:rPr lang="zh-CN" altLang="en-US" sz="3000" dirty="0">
                <a:latin typeface="Times New Roman" panose="02020603050405020304" pitchFamily="18" charset="0"/>
                <a:ea typeface="华文中宋" pitchFamily="2" charset="-122"/>
                <a:cs typeface="Times New Roman" panose="02020603050405020304" pitchFamily="18" charset="0"/>
              </a:rPr>
              <a:t>路预测</a:t>
            </a:r>
          </a:p>
        </p:txBody>
      </p:sp>
      <p:sp>
        <p:nvSpPr>
          <p:cNvPr id="2" name="日期占位符 1">
            <a:extLst>
              <a:ext uri="{FF2B5EF4-FFF2-40B4-BE49-F238E27FC236}">
                <a16:creationId xmlns:a16="http://schemas.microsoft.com/office/drawing/2014/main" id="{D4C2F95A-319E-657C-7E5A-47B0F77A2694}"/>
              </a:ext>
            </a:extLst>
          </p:cNvPr>
          <p:cNvSpPr>
            <a:spLocks noGrp="1"/>
          </p:cNvSpPr>
          <p:nvPr>
            <p:ph type="dt" sz="half" idx="10"/>
          </p:nvPr>
        </p:nvSpPr>
        <p:spPr/>
        <p:txBody>
          <a:bodyPr/>
          <a:lstStyle/>
          <a:p>
            <a:pPr>
              <a:defRPr/>
            </a:pPr>
            <a:fld id="{F7716B74-44D4-4DC5-97B9-11DDDEEF8FD7}"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A3B5E030-92D9-0C6D-7CF8-0AC2876EE8C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8C33B586-90DA-8D54-AFC2-4F65E9D2CCD5}"/>
              </a:ext>
            </a:extLst>
          </p:cNvPr>
          <p:cNvSpPr>
            <a:spLocks noGrp="1"/>
          </p:cNvSpPr>
          <p:nvPr>
            <p:ph type="sldNum" sz="quarter" idx="12"/>
          </p:nvPr>
        </p:nvSpPr>
        <p:spPr/>
        <p:txBody>
          <a:bodyPr/>
          <a:lstStyle/>
          <a:p>
            <a:pPr>
              <a:defRPr/>
            </a:pPr>
            <a:fld id="{65B7EA61-351E-4105-9AD9-76D38C6E9934}" type="slidenum">
              <a:rPr lang="zh-CN" altLang="en-US" smtClean="0"/>
              <a:t>47</a:t>
            </a:fld>
            <a:endParaRPr lang="en-US" altLang="zh-CN"/>
          </a:p>
        </p:txBody>
      </p:sp>
    </p:spTree>
    <p:extLst>
      <p:ext uri="{BB962C8B-B14F-4D97-AF65-F5344CB8AC3E}">
        <p14:creationId xmlns:p14="http://schemas.microsoft.com/office/powerpoint/2010/main" val="26870325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3">
            <a:hlinkClick r:id="rId3" action="ppaction://hlinksldjump"/>
          </p:cNvPr>
          <p:cNvGraphicFramePr>
            <a:graphicFrameLocks noGrp="1" noChangeAspect="1"/>
          </p:cNvGraphicFramePr>
          <p:nvPr>
            <p:ph idx="1"/>
          </p:nvPr>
        </p:nvGraphicFramePr>
        <p:xfrm>
          <a:off x="585787" y="990600"/>
          <a:ext cx="7461250" cy="3463925"/>
        </p:xfrm>
        <a:graphic>
          <a:graphicData uri="http://schemas.openxmlformats.org/presentationml/2006/ole">
            <mc:AlternateContent xmlns:mc="http://schemas.openxmlformats.org/markup-compatibility/2006">
              <mc:Choice xmlns:v="urn:schemas-microsoft-com:vml" Requires="v">
                <p:oleObj r:id="rId4" imgW="4972050" imgH="2819400" progId="MSDraw.Drawing.8.2">
                  <p:embed/>
                </p:oleObj>
              </mc:Choice>
              <mc:Fallback>
                <p:oleObj r:id="rId4" imgW="4972050" imgH="2819400" progId="MSDraw.Drawing.8.2">
                  <p:embed/>
                  <p:pic>
                    <p:nvPicPr>
                      <p:cNvPr id="1026" name="Object 3">
                        <a:hlinkClick r:id="rId3" action="ppaction://hlinksldjump"/>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787" y="990600"/>
                        <a:ext cx="7461250" cy="346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2676" name="Rectangle 4"/>
          <p:cNvSpPr>
            <a:spLocks noChangeArrowheads="1"/>
          </p:cNvSpPr>
          <p:nvPr/>
        </p:nvSpPr>
        <p:spPr bwMode="auto">
          <a:xfrm>
            <a:off x="395287" y="4878387"/>
            <a:ext cx="8353425" cy="895350"/>
          </a:xfrm>
          <a:prstGeom prst="rect">
            <a:avLst/>
          </a:prstGeom>
          <a:noFill/>
          <a:ln>
            <a:noFill/>
          </a:ln>
          <a:effectLst/>
        </p:spPr>
        <p:txBody>
          <a:bodyPr>
            <a:spAutoFit/>
          </a:bodyPr>
          <a:lstStyle/>
          <a:p>
            <a:pPr eaLnBrk="0" hangingPunct="0">
              <a:spcBef>
                <a:spcPct val="20000"/>
              </a:spcBef>
              <a:defRPr/>
            </a:pPr>
            <a:r>
              <a:rPr lang="en-US" altLang="zh-CN" sz="2400" dirty="0">
                <a:effectLst>
                  <a:outerShdw blurRad="38100" dist="38100" dir="2700000" algn="tl">
                    <a:srgbClr val="C0C0C0"/>
                  </a:outerShdw>
                </a:effectLst>
                <a:latin typeface="华文中宋" pitchFamily="2" charset="-122"/>
                <a:ea typeface="华文中宋" pitchFamily="2" charset="-122"/>
              </a:rPr>
              <a:t>  </a:t>
            </a:r>
            <a:r>
              <a:rPr lang="zh-CN" altLang="en-US" sz="2400" dirty="0">
                <a:effectLst>
                  <a:outerShdw blurRad="38100" dist="38100" dir="2700000" algn="tl">
                    <a:srgbClr val="C0C0C0"/>
                  </a:outerShdw>
                </a:effectLst>
                <a:latin typeface="华文中宋" pitchFamily="2" charset="-122"/>
                <a:ea typeface="华文中宋" pitchFamily="2" charset="-122"/>
              </a:rPr>
              <a:t>处理器性能与存储系统性能之间存在巨大差距</a:t>
            </a:r>
          </a:p>
          <a:p>
            <a:pPr eaLnBrk="0" hangingPunct="0">
              <a:spcBef>
                <a:spcPct val="20000"/>
              </a:spcBef>
              <a:defRPr/>
            </a:pPr>
            <a:r>
              <a:rPr lang="zh-CN" altLang="en-US" sz="2400" dirty="0">
                <a:effectLst>
                  <a:outerShdw blurRad="38100" dist="38100" dir="2700000" algn="tl">
                    <a:srgbClr val="C0C0C0"/>
                  </a:outerShdw>
                </a:effectLst>
                <a:latin typeface="华文中宋" pitchFamily="2" charset="-122"/>
                <a:ea typeface="华文中宋" pitchFamily="2" charset="-122"/>
              </a:rPr>
              <a:t>（</a:t>
            </a:r>
            <a:r>
              <a:rPr lang="zh-CN" altLang="en-US" sz="2400" dirty="0">
                <a:solidFill>
                  <a:srgbClr val="FF0000"/>
                </a:solidFill>
                <a:effectLst>
                  <a:outerShdw blurRad="38100" dist="38100" dir="2700000" algn="tl">
                    <a:srgbClr val="C0C0C0"/>
                  </a:outerShdw>
                </a:effectLst>
                <a:latin typeface="华文中宋" pitchFamily="2" charset="-122"/>
                <a:ea typeface="华文中宋" pitchFamily="2" charset="-122"/>
              </a:rPr>
              <a:t>存储墙</a:t>
            </a:r>
            <a:r>
              <a:rPr lang="en-US" altLang="zh-CN" sz="2400" dirty="0">
                <a:effectLst>
                  <a:outerShdw blurRad="38100" dist="38100" dir="2700000" algn="tl">
                    <a:srgbClr val="C0C0C0"/>
                  </a:outerShdw>
                </a:effectLst>
                <a:latin typeface="华文中宋" pitchFamily="2" charset="-122"/>
                <a:ea typeface="华文中宋" pitchFamily="2" charset="-122"/>
              </a:rPr>
              <a:t>: Memory Wall</a:t>
            </a:r>
            <a:r>
              <a:rPr lang="zh-CN" altLang="en-US" sz="2400" dirty="0">
                <a:effectLst>
                  <a:outerShdw blurRad="38100" dist="38100" dir="2700000" algn="tl">
                    <a:srgbClr val="C0C0C0"/>
                  </a:outerShdw>
                </a:effectLst>
                <a:latin typeface="华文中宋" pitchFamily="2" charset="-122"/>
                <a:ea typeface="华文中宋" pitchFamily="2" charset="-122"/>
              </a:rPr>
              <a:t>）</a:t>
            </a:r>
          </a:p>
        </p:txBody>
      </p:sp>
      <p:pic>
        <p:nvPicPr>
          <p:cNvPr id="1028" name="Picture 5" descr="imag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5000" y="4438650"/>
            <a:ext cx="2124075"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9" name="矩形 4">
            <a:hlinkClick r:id="rId3" action="ppaction://hlinksldjump"/>
          </p:cNvPr>
          <p:cNvSpPr>
            <a:spLocks noChangeArrowheads="1"/>
          </p:cNvSpPr>
          <p:nvPr/>
        </p:nvSpPr>
        <p:spPr bwMode="auto">
          <a:xfrm>
            <a:off x="7858125" y="1143000"/>
            <a:ext cx="1285875"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2" name="日期占位符 1">
            <a:extLst>
              <a:ext uri="{FF2B5EF4-FFF2-40B4-BE49-F238E27FC236}">
                <a16:creationId xmlns:a16="http://schemas.microsoft.com/office/drawing/2014/main" id="{46AFBFD9-7B72-BC1E-E509-27A4B369F358}"/>
              </a:ext>
            </a:extLst>
          </p:cNvPr>
          <p:cNvSpPr>
            <a:spLocks noGrp="1"/>
          </p:cNvSpPr>
          <p:nvPr>
            <p:ph type="dt" sz="half" idx="10"/>
          </p:nvPr>
        </p:nvSpPr>
        <p:spPr/>
        <p:txBody>
          <a:bodyPr/>
          <a:lstStyle/>
          <a:p>
            <a:pPr>
              <a:defRPr/>
            </a:pPr>
            <a:fld id="{DA8334DC-0144-44D8-B323-12BF7073276B}"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6C8459F6-ADDF-277C-71D9-DC2925B07660}"/>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AB7D7FD4-1516-F3BC-6511-5DFE5B7BE108}"/>
              </a:ext>
            </a:extLst>
          </p:cNvPr>
          <p:cNvSpPr>
            <a:spLocks noGrp="1"/>
          </p:cNvSpPr>
          <p:nvPr>
            <p:ph type="sldNum" sz="quarter" idx="12"/>
          </p:nvPr>
        </p:nvSpPr>
        <p:spPr/>
        <p:txBody>
          <a:bodyPr/>
          <a:lstStyle/>
          <a:p>
            <a:pPr>
              <a:defRPr/>
            </a:pPr>
            <a:fld id="{8BCAC33D-D29A-48B3-BCD6-381D3D720D26}" type="slidenum">
              <a:rPr lang="zh-CN" altLang="en-US" smtClean="0"/>
              <a:t>48</a:t>
            </a:fld>
            <a:endParaRPr lang="en-US" altLang="zh-CN"/>
          </a:p>
        </p:txBody>
      </p:sp>
    </p:spTree>
    <p:extLst>
      <p:ext uri="{BB962C8B-B14F-4D97-AF65-F5344CB8AC3E}">
        <p14:creationId xmlns:p14="http://schemas.microsoft.com/office/powerpoint/2010/main" val="35331643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5">
            <a:hlinkClick r:id="rId2" action="ppaction://hlinksldjump"/>
            <a:extLst>
              <a:ext uri="{FF2B5EF4-FFF2-40B4-BE49-F238E27FC236}">
                <a16:creationId xmlns:a16="http://schemas.microsoft.com/office/drawing/2014/main" id="{ADF3F1A5-D9EE-4099-BDF4-5BA5C1CEE0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522CC925-D576-8DD8-612F-33A7A292D943}"/>
              </a:ext>
            </a:extLst>
          </p:cNvPr>
          <p:cNvSpPr>
            <a:spLocks noGrp="1"/>
          </p:cNvSpPr>
          <p:nvPr>
            <p:ph type="dt" sz="half" idx="10"/>
          </p:nvPr>
        </p:nvSpPr>
        <p:spPr/>
        <p:txBody>
          <a:bodyPr/>
          <a:lstStyle/>
          <a:p>
            <a:pPr>
              <a:defRPr/>
            </a:pPr>
            <a:fld id="{430373DF-8C2B-4608-9181-C4A7EA547130}"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52EB641E-96D3-1421-B059-F00EB6EFD2B3}"/>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E3388925-252B-0555-6D01-1D04AF762180}"/>
              </a:ext>
            </a:extLst>
          </p:cNvPr>
          <p:cNvSpPr>
            <a:spLocks noGrp="1"/>
          </p:cNvSpPr>
          <p:nvPr>
            <p:ph type="sldNum" sz="quarter" idx="12"/>
          </p:nvPr>
        </p:nvSpPr>
        <p:spPr/>
        <p:txBody>
          <a:bodyPr/>
          <a:lstStyle/>
          <a:p>
            <a:pPr>
              <a:defRPr/>
            </a:pPr>
            <a:fld id="{65B7EA61-351E-4105-9AD9-76D38C6E9934}" type="slidenum">
              <a:rPr lang="zh-CN" altLang="en-US" smtClean="0"/>
              <a:t>49</a:t>
            </a:fld>
            <a:endParaRPr lang="en-US" altLang="zh-CN"/>
          </a:p>
        </p:txBody>
      </p:sp>
    </p:spTree>
    <p:extLst>
      <p:ext uri="{BB962C8B-B14F-4D97-AF65-F5344CB8AC3E}">
        <p14:creationId xmlns:p14="http://schemas.microsoft.com/office/powerpoint/2010/main" val="7459853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4">
            <a:hlinkClick r:id="rId2" action="ppaction://hlinksldjump"/>
            <a:extLst>
              <a:ext uri="{FF2B5EF4-FFF2-40B4-BE49-F238E27FC236}">
                <a16:creationId xmlns:a16="http://schemas.microsoft.com/office/drawing/2014/main" id="{1FC5DA6B-0255-4EAA-A138-ADB8FA5638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89" y="-6086"/>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615D736E-C512-68AB-C7A7-F24D8B00628E}"/>
              </a:ext>
            </a:extLst>
          </p:cNvPr>
          <p:cNvSpPr>
            <a:spLocks noGrp="1"/>
          </p:cNvSpPr>
          <p:nvPr>
            <p:ph type="dt" sz="half" idx="10"/>
          </p:nvPr>
        </p:nvSpPr>
        <p:spPr/>
        <p:txBody>
          <a:bodyPr/>
          <a:lstStyle/>
          <a:p>
            <a:pPr>
              <a:defRPr/>
            </a:pPr>
            <a:fld id="{215DEDCB-48DC-460F-8DF6-001BE82CC17A}"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0A714754-21E9-6509-BA85-A9F372073C16}"/>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B3834980-645E-BDA7-8A07-BC0A4B8C78EC}"/>
              </a:ext>
            </a:extLst>
          </p:cNvPr>
          <p:cNvSpPr>
            <a:spLocks noGrp="1"/>
          </p:cNvSpPr>
          <p:nvPr>
            <p:ph type="sldNum" sz="quarter" idx="12"/>
          </p:nvPr>
        </p:nvSpPr>
        <p:spPr/>
        <p:txBody>
          <a:bodyPr/>
          <a:lstStyle/>
          <a:p>
            <a:pPr>
              <a:defRPr/>
            </a:pPr>
            <a:fld id="{65B7EA61-351E-4105-9AD9-76D38C6E9934}" type="slidenum">
              <a:rPr lang="zh-CN" altLang="en-US" smtClean="0"/>
              <a:t>50</a:t>
            </a:fld>
            <a:endParaRPr lang="en-US" altLang="zh-CN"/>
          </a:p>
        </p:txBody>
      </p:sp>
    </p:spTree>
    <p:extLst>
      <p:ext uri="{BB962C8B-B14F-4D97-AF65-F5344CB8AC3E}">
        <p14:creationId xmlns:p14="http://schemas.microsoft.com/office/powerpoint/2010/main" val="38413512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107338D-3DEC-47FF-BEB8-54FF5F40371D}"/>
              </a:ext>
            </a:extLst>
          </p:cNvPr>
          <p:cNvSpPr txBox="1"/>
          <p:nvPr/>
        </p:nvSpPr>
        <p:spPr>
          <a:xfrm>
            <a:off x="1331640" y="2636912"/>
            <a:ext cx="6801862" cy="923330"/>
          </a:xfrm>
          <a:prstGeom prst="rect">
            <a:avLst/>
          </a:prstGeom>
          <a:noFill/>
        </p:spPr>
        <p:txBody>
          <a:bodyPr wrap="none" rtlCol="0">
            <a:spAutoFit/>
          </a:bodyPr>
          <a:lstStyle/>
          <a:p>
            <a:r>
              <a:rPr lang="zh-CN" altLang="en-US" sz="5400" dirty="0"/>
              <a:t>附录：</a:t>
            </a:r>
            <a:r>
              <a:rPr lang="en-US" altLang="zh-CN" sz="5400" dirty="0"/>
              <a:t>Cache</a:t>
            </a:r>
            <a:r>
              <a:rPr lang="zh-CN" altLang="en-US" sz="5400" dirty="0"/>
              <a:t>基本知识</a:t>
            </a:r>
          </a:p>
        </p:txBody>
      </p:sp>
      <p:sp>
        <p:nvSpPr>
          <p:cNvPr id="3" name="日期占位符 2">
            <a:extLst>
              <a:ext uri="{FF2B5EF4-FFF2-40B4-BE49-F238E27FC236}">
                <a16:creationId xmlns:a16="http://schemas.microsoft.com/office/drawing/2014/main" id="{C130E8BB-C910-4E86-01CC-7E350D81C4B2}"/>
              </a:ext>
            </a:extLst>
          </p:cNvPr>
          <p:cNvSpPr>
            <a:spLocks noGrp="1"/>
          </p:cNvSpPr>
          <p:nvPr>
            <p:ph type="dt" sz="half" idx="10"/>
          </p:nvPr>
        </p:nvSpPr>
        <p:spPr/>
        <p:txBody>
          <a:bodyPr/>
          <a:lstStyle/>
          <a:p>
            <a:pPr>
              <a:defRPr/>
            </a:pPr>
            <a:fld id="{E93C0A8A-9B99-4260-8AE3-53A252E34963}"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1CDC4C52-7896-E518-3801-E87EA70E8CB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D9599915-AC09-0C7B-C82D-56C9287CFB78}"/>
              </a:ext>
            </a:extLst>
          </p:cNvPr>
          <p:cNvSpPr>
            <a:spLocks noGrp="1"/>
          </p:cNvSpPr>
          <p:nvPr>
            <p:ph type="sldNum" sz="quarter" idx="12"/>
          </p:nvPr>
        </p:nvSpPr>
        <p:spPr/>
        <p:txBody>
          <a:bodyPr/>
          <a:lstStyle/>
          <a:p>
            <a:pPr>
              <a:defRPr/>
            </a:pPr>
            <a:fld id="{65B7EA61-351E-4105-9AD9-76D38C6E9934}" type="slidenum">
              <a:rPr lang="zh-CN" altLang="en-US" smtClean="0"/>
              <a:t>51</a:t>
            </a:fld>
            <a:endParaRPr lang="en-US" altLang="zh-CN"/>
          </a:p>
        </p:txBody>
      </p:sp>
    </p:spTree>
    <p:extLst>
      <p:ext uri="{BB962C8B-B14F-4D97-AF65-F5344CB8AC3E}">
        <p14:creationId xmlns:p14="http://schemas.microsoft.com/office/powerpoint/2010/main" val="14201264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4"/>
          <p:cNvSpPr txBox="1">
            <a:spLocks noChangeArrowheads="1"/>
          </p:cNvSpPr>
          <p:nvPr/>
        </p:nvSpPr>
        <p:spPr bwMode="auto">
          <a:xfrm>
            <a:off x="585465" y="1412776"/>
            <a:ext cx="7705725" cy="323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50000"/>
              </a:lnSpc>
              <a:spcBef>
                <a:spcPct val="50000"/>
              </a:spcBef>
              <a:buFontTx/>
              <a:buAutoNum type="arabicPeriod"/>
            </a:pPr>
            <a:r>
              <a:rPr kumimoji="1" lang="zh-CN" altLang="en-US" sz="24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全相联映象</a:t>
            </a:r>
            <a:br>
              <a:rPr kumimoji="1" lang="zh-CN" altLang="en-US" sz="2400" dirty="0">
                <a:latin typeface="Times New Roman" panose="02020603050405020304" pitchFamily="18" charset="0"/>
                <a:ea typeface="华文中宋" panose="02010600040101010101" pitchFamily="2" charset="-122"/>
                <a:cs typeface="Times New Roman" panose="02020603050405020304" pitchFamily="18" charset="0"/>
              </a:rPr>
            </a:br>
            <a:r>
              <a:rPr kumimoji="1" lang="zh-CN" altLang="en-US" sz="2400" dirty="0">
                <a:latin typeface="Times New Roman" panose="02020603050405020304" pitchFamily="18" charset="0"/>
                <a:ea typeface="华文中宋" panose="02010600040101010101" pitchFamily="2" charset="-122"/>
                <a:cs typeface="Times New Roman" panose="02020603050405020304" pitchFamily="18" charset="0"/>
              </a:rPr>
              <a:t>全相联：主存中的任一块可以被放置到</a:t>
            </a:r>
            <a:r>
              <a:rPr kumimoji="1" lang="en-US" altLang="zh-CN" sz="2400" dirty="0">
                <a:latin typeface="Times New Roman" panose="02020603050405020304" pitchFamily="18" charset="0"/>
                <a:ea typeface="华文中宋" panose="02010600040101010101" pitchFamily="2" charset="-122"/>
                <a:cs typeface="Times New Roman" panose="02020603050405020304" pitchFamily="18" charset="0"/>
              </a:rPr>
              <a:t>Cache</a:t>
            </a:r>
            <a:r>
              <a:rPr kumimoji="1" lang="zh-CN" altLang="en-US" sz="2400" dirty="0">
                <a:latin typeface="Times New Roman" panose="02020603050405020304" pitchFamily="18" charset="0"/>
                <a:ea typeface="华文中宋" panose="02010600040101010101" pitchFamily="2" charset="-122"/>
                <a:cs typeface="Times New Roman" panose="02020603050405020304" pitchFamily="18" charset="0"/>
              </a:rPr>
              <a:t>中的任</a:t>
            </a:r>
          </a:p>
          <a:p>
            <a:pPr eaLnBrk="1" hangingPunct="1"/>
            <a:r>
              <a:rPr kumimoji="1" lang="zh-CN" altLang="en-US" sz="2400" dirty="0">
                <a:latin typeface="Times New Roman" panose="02020603050405020304" pitchFamily="18" charset="0"/>
                <a:ea typeface="华文中宋" panose="02010600040101010101" pitchFamily="2" charset="-122"/>
                <a:cs typeface="Times New Roman" panose="02020603050405020304" pitchFamily="18" charset="0"/>
              </a:rPr>
              <a:t>                      意一个位置。   </a:t>
            </a:r>
            <a:br>
              <a:rPr kumimoji="1" lang="zh-CN" altLang="en-US" sz="2400" dirty="0">
                <a:latin typeface="Times New Roman" panose="02020603050405020304" pitchFamily="18" charset="0"/>
                <a:ea typeface="华文中宋" panose="02010600040101010101" pitchFamily="2" charset="-122"/>
                <a:cs typeface="Times New Roman" panose="02020603050405020304" pitchFamily="18" charset="0"/>
              </a:rPr>
            </a:br>
            <a:r>
              <a:rPr kumimoji="1" lang="zh-CN" altLang="en-US" sz="2400" dirty="0">
                <a:latin typeface="Times New Roman" panose="02020603050405020304" pitchFamily="18" charset="0"/>
                <a:ea typeface="华文中宋" panose="02010600040101010101" pitchFamily="2" charset="-122"/>
                <a:cs typeface="Times New Roman" panose="02020603050405020304" pitchFamily="18" charset="0"/>
              </a:rPr>
              <a:t>       </a:t>
            </a:r>
          </a:p>
          <a:p>
            <a:pPr eaLnBrk="1" hangingPunct="1">
              <a:lnSpc>
                <a:spcPct val="80000"/>
              </a:lnSpc>
            </a:pPr>
            <a:r>
              <a:rPr kumimoji="1" lang="zh-CN" altLang="en-US" sz="2400" dirty="0">
                <a:latin typeface="Times New Roman" panose="02020603050405020304" pitchFamily="18" charset="0"/>
                <a:ea typeface="华文中宋" panose="02010600040101010101" pitchFamily="2" charset="-122"/>
                <a:cs typeface="Times New Roman" panose="02020603050405020304" pitchFamily="18" charset="0"/>
              </a:rPr>
              <a:t>       </a:t>
            </a:r>
            <a:r>
              <a:rPr kumimoji="1" lang="zh-CN" altLang="en-US" sz="24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对比：</a:t>
            </a:r>
            <a:r>
              <a:rPr kumimoji="1" lang="zh-CN" altLang="en-US" sz="2400" dirty="0">
                <a:latin typeface="Times New Roman" panose="02020603050405020304" pitchFamily="18" charset="0"/>
                <a:ea typeface="华文中宋" panose="02010600040101010101" pitchFamily="2" charset="-122"/>
                <a:cs typeface="Times New Roman" panose="02020603050405020304" pitchFamily="18" charset="0"/>
              </a:rPr>
              <a:t> 阅览室位置 ── 随便坐</a:t>
            </a:r>
          </a:p>
          <a:p>
            <a:pPr eaLnBrk="1" hangingPunct="1">
              <a:spcBef>
                <a:spcPct val="50000"/>
              </a:spcBef>
            </a:pPr>
            <a:r>
              <a:rPr kumimoji="1" lang="zh-CN" altLang="en-US" sz="24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       特点： </a:t>
            </a:r>
            <a:r>
              <a:rPr kumimoji="1" lang="zh-CN" altLang="en-US" sz="2400" dirty="0">
                <a:latin typeface="Times New Roman" panose="02020603050405020304" pitchFamily="18" charset="0"/>
                <a:ea typeface="华文中宋" panose="02010600040101010101" pitchFamily="2" charset="-122"/>
                <a:cs typeface="Times New Roman" panose="02020603050405020304" pitchFamily="18" charset="0"/>
              </a:rPr>
              <a:t>空间利用率最高，冲突概率最低，</a:t>
            </a:r>
          </a:p>
          <a:p>
            <a:pPr eaLnBrk="1" hangingPunct="1">
              <a:spcBef>
                <a:spcPct val="20000"/>
              </a:spcBef>
            </a:pPr>
            <a:r>
              <a:rPr kumimoji="1" lang="zh-CN" altLang="en-US" sz="2400" dirty="0">
                <a:latin typeface="Times New Roman" panose="02020603050405020304" pitchFamily="18" charset="0"/>
                <a:ea typeface="华文中宋" panose="02010600040101010101" pitchFamily="2" charset="-122"/>
                <a:cs typeface="Times New Roman" panose="02020603050405020304" pitchFamily="18" charset="0"/>
              </a:rPr>
              <a:t>                    实现最复杂。</a:t>
            </a:r>
          </a:p>
        </p:txBody>
      </p:sp>
      <p:sp>
        <p:nvSpPr>
          <p:cNvPr id="5" name="Rectangle 2">
            <a:extLst>
              <a:ext uri="{FF2B5EF4-FFF2-40B4-BE49-F238E27FC236}">
                <a16:creationId xmlns:a16="http://schemas.microsoft.com/office/drawing/2014/main" id="{8B17214D-8AEC-412F-9093-77E38BD8F6AC}"/>
              </a:ext>
            </a:extLst>
          </p:cNvPr>
          <p:cNvSpPr txBox="1">
            <a:spLocks noChangeArrowheads="1"/>
          </p:cNvSpPr>
          <p:nvPr/>
        </p:nvSpPr>
        <p:spPr>
          <a:xfrm>
            <a:off x="323528" y="332656"/>
            <a:ext cx="8229600" cy="864096"/>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0" lang="en-US" altLang="zh-CN" sz="3600" b="1" dirty="0">
                <a:latin typeface="Times New Roman" panose="02020603050405020304" pitchFamily="18" charset="0"/>
                <a:cs typeface="Times New Roman" panose="02020603050405020304" pitchFamily="18" charset="0"/>
              </a:rPr>
              <a:t>5.2</a:t>
            </a:r>
            <a:r>
              <a:rPr kumimoji="0" lang="en-US" altLang="zh-CN" sz="3600" dirty="0">
                <a:latin typeface="Times New Roman" panose="02020603050405020304" pitchFamily="18" charset="0"/>
                <a:cs typeface="Times New Roman" panose="02020603050405020304" pitchFamily="18" charset="0"/>
              </a:rPr>
              <a:t>.1</a:t>
            </a:r>
            <a:r>
              <a:rPr kumimoji="0" lang="en-US" altLang="zh-CN" sz="3600" b="1" dirty="0">
                <a:latin typeface="Times New Roman" panose="02020603050405020304" pitchFamily="18" charset="0"/>
                <a:cs typeface="Times New Roman" panose="02020603050405020304" pitchFamily="18" charset="0"/>
              </a:rPr>
              <a:t> </a:t>
            </a:r>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映像规则</a:t>
            </a:r>
          </a:p>
        </p:txBody>
      </p:sp>
      <p:sp>
        <p:nvSpPr>
          <p:cNvPr id="2" name="日期占位符 1">
            <a:extLst>
              <a:ext uri="{FF2B5EF4-FFF2-40B4-BE49-F238E27FC236}">
                <a16:creationId xmlns:a16="http://schemas.microsoft.com/office/drawing/2014/main" id="{6BB70005-2382-EDC2-CE24-6501DCF664E8}"/>
              </a:ext>
            </a:extLst>
          </p:cNvPr>
          <p:cNvSpPr>
            <a:spLocks noGrp="1"/>
          </p:cNvSpPr>
          <p:nvPr>
            <p:ph type="dt" sz="half" idx="10"/>
          </p:nvPr>
        </p:nvSpPr>
        <p:spPr/>
        <p:txBody>
          <a:bodyPr/>
          <a:lstStyle/>
          <a:p>
            <a:pPr>
              <a:defRPr/>
            </a:pPr>
            <a:fld id="{12665FC1-04AF-4B32-A1F6-FB85FD150B0B}"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345771A5-CC0A-54F2-A15F-568567CD587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6F1EF17C-F218-CBD1-3F17-59BB45708039}"/>
              </a:ext>
            </a:extLst>
          </p:cNvPr>
          <p:cNvSpPr>
            <a:spLocks noGrp="1"/>
          </p:cNvSpPr>
          <p:nvPr>
            <p:ph type="sldNum" sz="quarter" idx="12"/>
          </p:nvPr>
        </p:nvSpPr>
        <p:spPr/>
        <p:txBody>
          <a:bodyPr/>
          <a:lstStyle/>
          <a:p>
            <a:pPr>
              <a:defRPr/>
            </a:pPr>
            <a:fld id="{65B7EA61-351E-4105-9AD9-76D38C6E9934}" type="slidenum">
              <a:rPr lang="zh-CN" altLang="en-US" smtClean="0"/>
              <a:t>52</a:t>
            </a:fld>
            <a:endParaRPr lang="en-US" altLang="zh-CN"/>
          </a:p>
        </p:txBody>
      </p:sp>
    </p:spTree>
    <p:extLst>
      <p:ext uri="{BB962C8B-B14F-4D97-AF65-F5344CB8AC3E}">
        <p14:creationId xmlns:p14="http://schemas.microsoft.com/office/powerpoint/2010/main" val="20309341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7" name="Picture 4" descr="5-22"/>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1691680" y="332656"/>
            <a:ext cx="5976664" cy="5645909"/>
          </a:xfrm>
          <a:noFill/>
        </p:spPr>
      </p:pic>
      <p:sp>
        <p:nvSpPr>
          <p:cNvPr id="2" name="日期占位符 1">
            <a:extLst>
              <a:ext uri="{FF2B5EF4-FFF2-40B4-BE49-F238E27FC236}">
                <a16:creationId xmlns:a16="http://schemas.microsoft.com/office/drawing/2014/main" id="{CA1D2DD5-8423-A461-D744-DBD7D0AF104A}"/>
              </a:ext>
            </a:extLst>
          </p:cNvPr>
          <p:cNvSpPr>
            <a:spLocks noGrp="1"/>
          </p:cNvSpPr>
          <p:nvPr>
            <p:ph type="dt" sz="half" idx="10"/>
          </p:nvPr>
        </p:nvSpPr>
        <p:spPr/>
        <p:txBody>
          <a:bodyPr/>
          <a:lstStyle/>
          <a:p>
            <a:pPr>
              <a:defRPr/>
            </a:pPr>
            <a:fld id="{40E043CB-8A0A-4779-A859-0746FE6D5282}"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80D3D7E1-538E-4855-8605-9DAFE3DED353}"/>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9B8325B1-1199-E538-4C57-4D2F447E1BCC}"/>
              </a:ext>
            </a:extLst>
          </p:cNvPr>
          <p:cNvSpPr>
            <a:spLocks noGrp="1"/>
          </p:cNvSpPr>
          <p:nvPr>
            <p:ph type="sldNum" sz="quarter" idx="12"/>
          </p:nvPr>
        </p:nvSpPr>
        <p:spPr/>
        <p:txBody>
          <a:bodyPr/>
          <a:lstStyle/>
          <a:p>
            <a:pPr>
              <a:defRPr/>
            </a:pPr>
            <a:fld id="{8BCAC33D-D29A-48B3-BCD6-381D3D720D26}" type="slidenum">
              <a:rPr lang="zh-CN" altLang="en-US" smtClean="0"/>
              <a:t>53</a:t>
            </a:fld>
            <a:endParaRPr lang="en-US" altLang="zh-CN"/>
          </a:p>
        </p:txBody>
      </p:sp>
    </p:spTree>
    <p:extLst>
      <p:ext uri="{BB962C8B-B14F-4D97-AF65-F5344CB8AC3E}">
        <p14:creationId xmlns:p14="http://schemas.microsoft.com/office/powerpoint/2010/main" val="16077383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3"/>
          <p:cNvSpPr txBox="1">
            <a:spLocks noChangeArrowheads="1"/>
          </p:cNvSpPr>
          <p:nvPr/>
        </p:nvSpPr>
        <p:spPr bwMode="auto">
          <a:xfrm>
            <a:off x="596900" y="1206500"/>
            <a:ext cx="2895600" cy="4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10000"/>
              </a:lnSpc>
            </a:pPr>
            <a:r>
              <a:rPr kumimoji="1" lang="en-US" altLang="zh-CN" sz="2400" dirty="0">
                <a:solidFill>
                  <a:srgbClr val="C00000"/>
                </a:solidFill>
                <a:latin typeface="Times New Roman" panose="02020603050405020304" pitchFamily="18" charset="0"/>
                <a:ea typeface="华文中宋" panose="02010600040101010101" pitchFamily="2" charset="-122"/>
              </a:rPr>
              <a:t>2. </a:t>
            </a:r>
            <a:r>
              <a:rPr kumimoji="1" lang="zh-CN" altLang="en-US" sz="2400" dirty="0">
                <a:solidFill>
                  <a:srgbClr val="C00000"/>
                </a:solidFill>
                <a:latin typeface="Times New Roman" panose="02020603050405020304" pitchFamily="18" charset="0"/>
                <a:ea typeface="华文中宋" panose="02010600040101010101" pitchFamily="2" charset="-122"/>
              </a:rPr>
              <a:t>直接映象</a:t>
            </a:r>
          </a:p>
        </p:txBody>
      </p:sp>
      <p:sp>
        <p:nvSpPr>
          <p:cNvPr id="7171" name="Text Box 6"/>
          <p:cNvSpPr txBox="1">
            <a:spLocks noChangeArrowheads="1"/>
          </p:cNvSpPr>
          <p:nvPr/>
        </p:nvSpPr>
        <p:spPr bwMode="auto">
          <a:xfrm>
            <a:off x="900113" y="1700213"/>
            <a:ext cx="7343775" cy="326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20000"/>
              </a:spcBef>
            </a:pPr>
            <a:r>
              <a:rPr kumimoji="1" lang="zh-CN" altLang="en-US" sz="2400" dirty="0">
                <a:latin typeface="Times New Roman" panose="02020603050405020304" pitchFamily="18" charset="0"/>
                <a:ea typeface="华文中宋" panose="02010600040101010101" pitchFamily="2" charset="-122"/>
              </a:rPr>
              <a:t>直接映象：主存中的每一块只能被放置到</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中</a:t>
            </a:r>
          </a:p>
          <a:p>
            <a:pPr eaLnBrk="1" hangingPunct="1">
              <a:spcBef>
                <a:spcPct val="20000"/>
              </a:spcBef>
            </a:pPr>
            <a:r>
              <a:rPr kumimoji="1" lang="zh-CN" altLang="en-US" sz="2400" dirty="0">
                <a:latin typeface="Times New Roman" panose="02020603050405020304" pitchFamily="18" charset="0"/>
                <a:ea typeface="华文中宋" panose="02010600040101010101" pitchFamily="2" charset="-122"/>
              </a:rPr>
              <a:t>                    唯一的一个位置。 </a:t>
            </a:r>
          </a:p>
          <a:p>
            <a:pPr eaLnBrk="1" hangingPunct="1">
              <a:spcBef>
                <a:spcPct val="20000"/>
              </a:spcBef>
            </a:pPr>
            <a:r>
              <a:rPr kumimoji="1" lang="zh-CN" altLang="en-US" sz="2400" dirty="0">
                <a:latin typeface="Times New Roman" panose="02020603050405020304" pitchFamily="18" charset="0"/>
                <a:ea typeface="华文中宋" panose="02010600040101010101" pitchFamily="2" charset="-122"/>
              </a:rPr>
              <a:t>                     </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循环分配</a:t>
            </a:r>
            <a:r>
              <a:rPr kumimoji="1" lang="en-US" altLang="zh-CN" sz="2400" dirty="0">
                <a:latin typeface="Times New Roman" panose="02020603050405020304" pitchFamily="18" charset="0"/>
                <a:ea typeface="华文中宋" panose="02010600040101010101" pitchFamily="2" charset="-122"/>
              </a:rPr>
              <a:t>)</a:t>
            </a:r>
          </a:p>
          <a:p>
            <a:pPr eaLnBrk="1" hangingPunct="1">
              <a:spcBef>
                <a:spcPct val="50000"/>
              </a:spcBef>
              <a:buFont typeface="Wingdings" panose="05000000000000000000" pitchFamily="2" charset="2"/>
              <a:buNone/>
            </a:pPr>
            <a:r>
              <a:rPr kumimoji="1" lang="en-US" altLang="zh-CN" sz="2400" dirty="0">
                <a:latin typeface="Times New Roman" panose="02020603050405020304" pitchFamily="18" charset="0"/>
                <a:ea typeface="华文中宋" panose="02010600040101010101" pitchFamily="2" charset="-122"/>
              </a:rPr>
              <a:t>        </a:t>
            </a:r>
            <a:r>
              <a:rPr kumimoji="1" lang="zh-CN" altLang="en-US" sz="2400" dirty="0">
                <a:solidFill>
                  <a:srgbClr val="C00000"/>
                </a:solidFill>
                <a:latin typeface="Times New Roman" panose="02020603050405020304" pitchFamily="18" charset="0"/>
                <a:ea typeface="华文中宋" panose="02010600040101010101" pitchFamily="2" charset="-122"/>
              </a:rPr>
              <a:t>对比：</a:t>
            </a:r>
            <a:r>
              <a:rPr kumimoji="1" lang="zh-CN" altLang="en-US" sz="2400" dirty="0">
                <a:latin typeface="Times New Roman" panose="02020603050405020304" pitchFamily="18" charset="0"/>
                <a:ea typeface="华文中宋" panose="02010600040101010101" pitchFamily="2" charset="-122"/>
              </a:rPr>
              <a:t>阅览室位置 ── 只有一个位置可以坐</a:t>
            </a:r>
          </a:p>
          <a:p>
            <a:pPr eaLnBrk="1" hangingPunct="1">
              <a:spcBef>
                <a:spcPct val="50000"/>
              </a:spcBef>
              <a:buFont typeface="Wingdings" panose="05000000000000000000" pitchFamily="2" charset="2"/>
              <a:buNone/>
            </a:pPr>
            <a:r>
              <a:rPr kumimoji="1" lang="zh-CN" altLang="en-US" sz="2400" b="0" dirty="0">
                <a:latin typeface="Times New Roman" panose="02020603050405020304" pitchFamily="18" charset="0"/>
                <a:ea typeface="华文中宋" panose="02010600040101010101" pitchFamily="2" charset="-122"/>
              </a:rPr>
              <a:t>        </a:t>
            </a:r>
            <a:r>
              <a:rPr kumimoji="1" lang="zh-CN" altLang="en-US" sz="2400" dirty="0">
                <a:solidFill>
                  <a:srgbClr val="C00000"/>
                </a:solidFill>
                <a:latin typeface="Times New Roman" panose="02020603050405020304" pitchFamily="18" charset="0"/>
                <a:ea typeface="华文中宋" panose="02010600040101010101" pitchFamily="2" charset="-122"/>
              </a:rPr>
              <a:t>特点：</a:t>
            </a:r>
            <a:r>
              <a:rPr kumimoji="1" lang="zh-CN" altLang="en-US" sz="2400" dirty="0">
                <a:latin typeface="Times New Roman" panose="02020603050405020304" pitchFamily="18" charset="0"/>
                <a:ea typeface="华文中宋" panose="02010600040101010101" pitchFamily="2" charset="-122"/>
              </a:rPr>
              <a:t>空间利用率最低，冲突概率最高，</a:t>
            </a:r>
          </a:p>
          <a:p>
            <a:pPr eaLnBrk="1" hangingPunct="1">
              <a:spcBef>
                <a:spcPct val="20000"/>
              </a:spcBef>
              <a:buFont typeface="Wingdings" panose="05000000000000000000" pitchFamily="2" charset="2"/>
              <a:buNone/>
            </a:pPr>
            <a:r>
              <a:rPr kumimoji="1" lang="zh-CN" altLang="en-US" sz="2400" dirty="0">
                <a:latin typeface="Times New Roman" panose="02020603050405020304" pitchFamily="18" charset="0"/>
                <a:ea typeface="华文中宋" panose="02010600040101010101" pitchFamily="2" charset="-122"/>
              </a:rPr>
              <a:t>                    实现最简单。</a:t>
            </a:r>
            <a:br>
              <a:rPr kumimoji="1" lang="zh-CN" altLang="en-US" sz="2400" dirty="0">
                <a:latin typeface="Times New Roman" panose="02020603050405020304" pitchFamily="18" charset="0"/>
                <a:ea typeface="华文中宋" panose="02010600040101010101" pitchFamily="2" charset="-122"/>
              </a:rPr>
            </a:br>
            <a:endParaRPr kumimoji="1" lang="zh-CN" altLang="en-US" sz="2400" dirty="0">
              <a:latin typeface="Times New Roman" panose="02020603050405020304" pitchFamily="18" charset="0"/>
              <a:ea typeface="华文中宋" panose="02010600040101010101" pitchFamily="2" charset="-122"/>
            </a:endParaRPr>
          </a:p>
        </p:txBody>
      </p:sp>
      <p:sp>
        <p:nvSpPr>
          <p:cNvPr id="4" name="Rectangle 2">
            <a:extLst>
              <a:ext uri="{FF2B5EF4-FFF2-40B4-BE49-F238E27FC236}">
                <a16:creationId xmlns:a16="http://schemas.microsoft.com/office/drawing/2014/main" id="{464D4C3A-A9A5-4F57-89F8-8637895F2555}"/>
              </a:ext>
            </a:extLst>
          </p:cNvPr>
          <p:cNvSpPr txBox="1">
            <a:spLocks noChangeArrowheads="1"/>
          </p:cNvSpPr>
          <p:nvPr/>
        </p:nvSpPr>
        <p:spPr>
          <a:xfrm>
            <a:off x="323528" y="157213"/>
            <a:ext cx="8229600" cy="864096"/>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0" lang="en-US" altLang="zh-CN" sz="3600" b="1" dirty="0">
                <a:latin typeface="Times New Roman" panose="02020603050405020304" pitchFamily="18" charset="0"/>
                <a:cs typeface="Times New Roman" panose="02020603050405020304" pitchFamily="18" charset="0"/>
              </a:rPr>
              <a:t>5.2</a:t>
            </a:r>
            <a:r>
              <a:rPr kumimoji="0" lang="en-US" altLang="zh-CN" sz="3600" dirty="0">
                <a:latin typeface="Times New Roman" panose="02020603050405020304" pitchFamily="18" charset="0"/>
                <a:cs typeface="Times New Roman" panose="02020603050405020304" pitchFamily="18" charset="0"/>
              </a:rPr>
              <a:t>.1</a:t>
            </a:r>
            <a:r>
              <a:rPr kumimoji="0" lang="en-US" altLang="zh-CN" sz="3600" b="1" dirty="0">
                <a:latin typeface="Times New Roman" panose="02020603050405020304" pitchFamily="18" charset="0"/>
                <a:cs typeface="Times New Roman" panose="02020603050405020304" pitchFamily="18" charset="0"/>
              </a:rPr>
              <a:t> </a:t>
            </a:r>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映像规则</a:t>
            </a:r>
          </a:p>
        </p:txBody>
      </p:sp>
      <p:sp>
        <p:nvSpPr>
          <p:cNvPr id="2" name="日期占位符 1">
            <a:extLst>
              <a:ext uri="{FF2B5EF4-FFF2-40B4-BE49-F238E27FC236}">
                <a16:creationId xmlns:a16="http://schemas.microsoft.com/office/drawing/2014/main" id="{96C5E79F-CE0C-68AA-80FB-8006C2815F4D}"/>
              </a:ext>
            </a:extLst>
          </p:cNvPr>
          <p:cNvSpPr>
            <a:spLocks noGrp="1"/>
          </p:cNvSpPr>
          <p:nvPr>
            <p:ph type="dt" sz="half" idx="10"/>
          </p:nvPr>
        </p:nvSpPr>
        <p:spPr/>
        <p:txBody>
          <a:bodyPr/>
          <a:lstStyle/>
          <a:p>
            <a:pPr>
              <a:defRPr/>
            </a:pPr>
            <a:fld id="{0234E74F-987E-49D2-90B5-924FB1A61F69}"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FD4D2659-655E-6D79-8BC3-6715A887BB69}"/>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E813F8E6-B18C-CF33-DC15-BA68F0B1E301}"/>
              </a:ext>
            </a:extLst>
          </p:cNvPr>
          <p:cNvSpPr>
            <a:spLocks noGrp="1"/>
          </p:cNvSpPr>
          <p:nvPr>
            <p:ph type="sldNum" sz="quarter" idx="12"/>
          </p:nvPr>
        </p:nvSpPr>
        <p:spPr/>
        <p:txBody>
          <a:bodyPr/>
          <a:lstStyle/>
          <a:p>
            <a:pPr>
              <a:defRPr/>
            </a:pPr>
            <a:fld id="{65B7EA61-351E-4105-9AD9-76D38C6E9934}" type="slidenum">
              <a:rPr lang="zh-CN" altLang="en-US" smtClean="0"/>
              <a:t>54</a:t>
            </a:fld>
            <a:endParaRPr lang="en-US" altLang="zh-CN"/>
          </a:p>
        </p:txBody>
      </p:sp>
    </p:spTree>
    <p:extLst>
      <p:ext uri="{BB962C8B-B14F-4D97-AF65-F5344CB8AC3E}">
        <p14:creationId xmlns:p14="http://schemas.microsoft.com/office/powerpoint/2010/main" val="21852979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9" name="Picture 4" descr="5-37"/>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1403648" y="557531"/>
            <a:ext cx="6120779" cy="6271909"/>
          </a:xfrm>
          <a:noFill/>
        </p:spPr>
      </p:pic>
      <p:sp>
        <p:nvSpPr>
          <p:cNvPr id="2" name="日期占位符 1">
            <a:extLst>
              <a:ext uri="{FF2B5EF4-FFF2-40B4-BE49-F238E27FC236}">
                <a16:creationId xmlns:a16="http://schemas.microsoft.com/office/drawing/2014/main" id="{38E5C04B-755D-3417-1A6F-81A31BC0F0B7}"/>
              </a:ext>
            </a:extLst>
          </p:cNvPr>
          <p:cNvSpPr>
            <a:spLocks noGrp="1"/>
          </p:cNvSpPr>
          <p:nvPr>
            <p:ph type="dt" sz="half" idx="10"/>
          </p:nvPr>
        </p:nvSpPr>
        <p:spPr/>
        <p:txBody>
          <a:bodyPr/>
          <a:lstStyle/>
          <a:p>
            <a:pPr>
              <a:defRPr/>
            </a:pPr>
            <a:fld id="{3C001546-044E-4E3D-BABC-B4476E8F1037}"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7584EEF7-8DBF-9573-B349-87761BA219D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C6160AD9-0373-968A-3187-5B819B334189}"/>
              </a:ext>
            </a:extLst>
          </p:cNvPr>
          <p:cNvSpPr>
            <a:spLocks noGrp="1"/>
          </p:cNvSpPr>
          <p:nvPr>
            <p:ph type="sldNum" sz="quarter" idx="12"/>
          </p:nvPr>
        </p:nvSpPr>
        <p:spPr/>
        <p:txBody>
          <a:bodyPr/>
          <a:lstStyle/>
          <a:p>
            <a:pPr>
              <a:defRPr/>
            </a:pPr>
            <a:fld id="{8BCAC33D-D29A-48B3-BCD6-381D3D720D26}" type="slidenum">
              <a:rPr lang="zh-CN" altLang="en-US" smtClean="0"/>
              <a:t>55</a:t>
            </a:fld>
            <a:endParaRPr lang="en-US" altLang="zh-CN"/>
          </a:p>
        </p:txBody>
      </p:sp>
    </p:spTree>
    <p:extLst>
      <p:ext uri="{BB962C8B-B14F-4D97-AF65-F5344CB8AC3E}">
        <p14:creationId xmlns:p14="http://schemas.microsoft.com/office/powerpoint/2010/main" val="11573762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4"/>
          <p:cNvSpPr txBox="1">
            <a:spLocks noChangeArrowheads="1"/>
          </p:cNvSpPr>
          <p:nvPr/>
        </p:nvSpPr>
        <p:spPr bwMode="auto">
          <a:xfrm>
            <a:off x="1547813" y="3141663"/>
            <a:ext cx="6769018"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kumimoji="1" lang="zh-CN" altLang="en-US" sz="2400" dirty="0">
                <a:latin typeface="Times New Roman" panose="02020603050405020304" pitchFamily="18" charset="0"/>
                <a:ea typeface="华文中宋" panose="02010600040101010101" pitchFamily="2" charset="-122"/>
              </a:rPr>
              <a:t>设</a:t>
            </a:r>
            <a:r>
              <a:rPr kumimoji="1" lang="en-US" altLang="zh-CN" sz="2400" i="1" dirty="0">
                <a:solidFill>
                  <a:srgbClr val="C00000"/>
                </a:solidFill>
                <a:latin typeface="Times New Roman" panose="02020603050405020304" pitchFamily="18" charset="0"/>
                <a:ea typeface="华文中宋" panose="02010600040101010101" pitchFamily="2" charset="-122"/>
              </a:rPr>
              <a:t>M</a:t>
            </a:r>
            <a:r>
              <a:rPr kumimoji="1" lang="zh-CN" altLang="en-US" sz="2400" dirty="0">
                <a:solidFill>
                  <a:srgbClr val="C00000"/>
                </a:solidFill>
                <a:latin typeface="Times New Roman" panose="02020603050405020304" pitchFamily="18" charset="0"/>
                <a:ea typeface="华文中宋" panose="02010600040101010101" pitchFamily="2" charset="-122"/>
              </a:rPr>
              <a:t>＝</a:t>
            </a:r>
            <a:r>
              <a:rPr kumimoji="1" lang="en-US" altLang="zh-CN" sz="2400" dirty="0">
                <a:solidFill>
                  <a:srgbClr val="C00000"/>
                </a:solidFill>
                <a:latin typeface="Times New Roman" panose="02020603050405020304" pitchFamily="18" charset="0"/>
                <a:ea typeface="华文中宋" panose="02010600040101010101" pitchFamily="2" charset="-122"/>
              </a:rPr>
              <a:t>2</a:t>
            </a:r>
            <a:r>
              <a:rPr kumimoji="1" lang="en-US" altLang="zh-CN" sz="2400" baseline="30000" dirty="0">
                <a:solidFill>
                  <a:srgbClr val="C00000"/>
                </a:solidFill>
                <a:latin typeface="Times New Roman" panose="02020603050405020304" pitchFamily="18" charset="0"/>
                <a:ea typeface="华文中宋" panose="02010600040101010101" pitchFamily="2" charset="-122"/>
              </a:rPr>
              <a:t>m</a:t>
            </a:r>
            <a:r>
              <a:rPr kumimoji="1" lang="zh-CN" altLang="en-US" sz="2400" dirty="0">
                <a:latin typeface="Times New Roman" panose="02020603050405020304" pitchFamily="18" charset="0"/>
                <a:ea typeface="华文中宋" panose="02010600040101010101" pitchFamily="2" charset="-122"/>
              </a:rPr>
              <a:t>，则当表示为二进制数时，</a:t>
            </a:r>
            <a:r>
              <a:rPr kumimoji="1" lang="en-US" altLang="zh-CN" sz="2400" i="1" dirty="0">
                <a:latin typeface="Times New Roman" panose="02020603050405020304" pitchFamily="18" charset="0"/>
                <a:ea typeface="华文中宋" panose="02010600040101010101" pitchFamily="2" charset="-122"/>
              </a:rPr>
              <a:t>j </a:t>
            </a:r>
            <a:r>
              <a:rPr kumimoji="1" lang="zh-CN" altLang="en-US" sz="2400" dirty="0">
                <a:latin typeface="Times New Roman" panose="02020603050405020304" pitchFamily="18" charset="0"/>
                <a:ea typeface="华文中宋" panose="02010600040101010101" pitchFamily="2" charset="-122"/>
              </a:rPr>
              <a:t>实际上就是 </a:t>
            </a:r>
            <a:r>
              <a:rPr kumimoji="1" lang="en-US" altLang="zh-CN" sz="2400" i="1" dirty="0" err="1">
                <a:latin typeface="Times New Roman" panose="02020603050405020304" pitchFamily="18" charset="0"/>
                <a:ea typeface="华文中宋" panose="02010600040101010101" pitchFamily="2" charset="-122"/>
              </a:rPr>
              <a:t>i</a:t>
            </a:r>
            <a:r>
              <a:rPr kumimoji="1" lang="en-US" altLang="zh-CN" sz="2400" i="1" dirty="0">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的低 </a:t>
            </a:r>
            <a:r>
              <a:rPr kumimoji="1" lang="en-US" altLang="zh-CN" sz="2400" i="1" dirty="0">
                <a:latin typeface="Times New Roman" panose="02020603050405020304" pitchFamily="18" charset="0"/>
                <a:ea typeface="华文中宋" panose="02010600040101010101" pitchFamily="2" charset="-122"/>
              </a:rPr>
              <a:t>m </a:t>
            </a:r>
            <a:r>
              <a:rPr kumimoji="1" lang="zh-CN" altLang="en-US" sz="2400" dirty="0">
                <a:latin typeface="Times New Roman" panose="02020603050405020304" pitchFamily="18" charset="0"/>
                <a:ea typeface="华文中宋" panose="02010600040101010101" pitchFamily="2" charset="-122"/>
              </a:rPr>
              <a:t>位：</a:t>
            </a:r>
          </a:p>
        </p:txBody>
      </p:sp>
      <p:grpSp>
        <p:nvGrpSpPr>
          <p:cNvPr id="8195" name="Group 17"/>
          <p:cNvGrpSpPr>
            <a:grpSpLocks/>
          </p:cNvGrpSpPr>
          <p:nvPr/>
        </p:nvGrpSpPr>
        <p:grpSpPr bwMode="auto">
          <a:xfrm>
            <a:off x="1465119" y="4446532"/>
            <a:ext cx="6077352" cy="955675"/>
            <a:chOff x="843" y="1558"/>
            <a:chExt cx="3787" cy="602"/>
          </a:xfrm>
        </p:grpSpPr>
        <p:sp>
          <p:nvSpPr>
            <p:cNvPr id="8197" name="Rectangle 7"/>
            <p:cNvSpPr>
              <a:spLocks noChangeArrowheads="1"/>
            </p:cNvSpPr>
            <p:nvPr/>
          </p:nvSpPr>
          <p:spPr bwMode="auto">
            <a:xfrm>
              <a:off x="1738" y="1569"/>
              <a:ext cx="2892" cy="306"/>
            </a:xfrm>
            <a:prstGeom prst="rect">
              <a:avLst/>
            </a:prstGeom>
            <a:solidFill>
              <a:schemeClr val="bg1"/>
            </a:solidFill>
            <a:ln w="19050">
              <a:solidFill>
                <a:schemeClr val="tx2"/>
              </a:solidFill>
              <a:miter lim="800000"/>
              <a:headEnd/>
              <a:tailEnd/>
            </a:ln>
          </p:spPr>
          <p:txBody>
            <a:bodyPr wrap="none" anchor="ct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8198" name="Rectangle 16"/>
            <p:cNvSpPr>
              <a:spLocks noChangeArrowheads="1"/>
            </p:cNvSpPr>
            <p:nvPr/>
          </p:nvSpPr>
          <p:spPr bwMode="auto">
            <a:xfrm>
              <a:off x="3647" y="1569"/>
              <a:ext cx="972" cy="306"/>
            </a:xfrm>
            <a:prstGeom prst="rect">
              <a:avLst/>
            </a:prstGeom>
            <a:solidFill>
              <a:srgbClr val="FEF3C2"/>
            </a:solidFill>
            <a:ln w="9525">
              <a:solidFill>
                <a:schemeClr val="tx2"/>
              </a:solidFill>
              <a:miter lim="800000"/>
              <a:headEnd/>
              <a:tailEnd/>
            </a:ln>
          </p:spPr>
          <p:txBody>
            <a:bodyPr wrap="none" anchor="ct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8199" name="Line 8"/>
            <p:cNvSpPr>
              <a:spLocks noChangeShapeType="1"/>
            </p:cNvSpPr>
            <p:nvPr/>
          </p:nvSpPr>
          <p:spPr bwMode="auto">
            <a:xfrm flipH="1">
              <a:off x="3632" y="1558"/>
              <a:ext cx="0" cy="31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0" name="Line 9"/>
            <p:cNvSpPr>
              <a:spLocks noChangeShapeType="1"/>
            </p:cNvSpPr>
            <p:nvPr/>
          </p:nvSpPr>
          <p:spPr bwMode="auto">
            <a:xfrm>
              <a:off x="4211" y="1920"/>
              <a:ext cx="0" cy="24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1" name="Line 10"/>
            <p:cNvSpPr>
              <a:spLocks noChangeShapeType="1"/>
            </p:cNvSpPr>
            <p:nvPr/>
          </p:nvSpPr>
          <p:spPr bwMode="auto">
            <a:xfrm>
              <a:off x="3251" y="1920"/>
              <a:ext cx="0" cy="24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2" name="Line 11"/>
            <p:cNvSpPr>
              <a:spLocks noChangeShapeType="1"/>
            </p:cNvSpPr>
            <p:nvPr/>
          </p:nvSpPr>
          <p:spPr bwMode="auto">
            <a:xfrm>
              <a:off x="3923" y="2064"/>
              <a:ext cx="288" cy="0"/>
            </a:xfrm>
            <a:prstGeom prst="line">
              <a:avLst/>
            </a:prstGeom>
            <a:noFill/>
            <a:ln w="9525">
              <a:solidFill>
                <a:schemeClr val="bg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3" name="Line 12"/>
            <p:cNvSpPr>
              <a:spLocks noChangeShapeType="1"/>
            </p:cNvSpPr>
            <p:nvPr/>
          </p:nvSpPr>
          <p:spPr bwMode="auto">
            <a:xfrm flipH="1">
              <a:off x="3251" y="2064"/>
              <a:ext cx="288" cy="0"/>
            </a:xfrm>
            <a:prstGeom prst="line">
              <a:avLst/>
            </a:prstGeom>
            <a:noFill/>
            <a:ln w="9525">
              <a:solidFill>
                <a:schemeClr val="bg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4" name="Text Box 13"/>
            <p:cNvSpPr txBox="1">
              <a:spLocks noChangeArrowheads="1"/>
            </p:cNvSpPr>
            <p:nvPr/>
          </p:nvSpPr>
          <p:spPr bwMode="auto">
            <a:xfrm>
              <a:off x="3945" y="1872"/>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i="1" dirty="0">
                  <a:latin typeface="Times New Roman" panose="02020603050405020304" pitchFamily="18" charset="0"/>
                  <a:ea typeface="华文中宋" panose="02010600040101010101" pitchFamily="2" charset="-122"/>
                </a:rPr>
                <a:t>m</a:t>
              </a:r>
              <a:r>
                <a:rPr kumimoji="1" lang="zh-CN" altLang="zh-CN" sz="2400" dirty="0">
                  <a:latin typeface="Times New Roman" panose="02020603050405020304" pitchFamily="18" charset="0"/>
                  <a:ea typeface="华文中宋" panose="02010600040101010101" pitchFamily="2" charset="-122"/>
                </a:rPr>
                <a:t>位</a:t>
              </a:r>
              <a:endParaRPr kumimoji="1" lang="zh-CN" altLang="en-US" sz="2400" dirty="0">
                <a:latin typeface="Times New Roman" panose="02020603050405020304" pitchFamily="18" charset="0"/>
                <a:ea typeface="华文中宋" panose="02010600040101010101" pitchFamily="2" charset="-122"/>
              </a:endParaRPr>
            </a:p>
          </p:txBody>
        </p:sp>
        <p:sp>
          <p:nvSpPr>
            <p:cNvPr id="8205" name="Text Box 14"/>
            <p:cNvSpPr txBox="1">
              <a:spLocks noChangeArrowheads="1"/>
            </p:cNvSpPr>
            <p:nvPr/>
          </p:nvSpPr>
          <p:spPr bwMode="auto">
            <a:xfrm>
              <a:off x="4091" y="1561"/>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i="1" dirty="0">
                  <a:latin typeface="Times New Roman" panose="02020603050405020304" pitchFamily="18" charset="0"/>
                  <a:ea typeface="华文中宋" panose="02010600040101010101" pitchFamily="2" charset="-122"/>
                </a:rPr>
                <a:t>j</a:t>
              </a:r>
              <a:endParaRPr kumimoji="1" lang="en-US" altLang="zh-CN" sz="2400" dirty="0">
                <a:latin typeface="Times New Roman" panose="02020603050405020304" pitchFamily="18" charset="0"/>
                <a:ea typeface="华文中宋" panose="02010600040101010101" pitchFamily="2" charset="-122"/>
              </a:endParaRPr>
            </a:p>
          </p:txBody>
        </p:sp>
        <p:sp>
          <p:nvSpPr>
            <p:cNvPr id="8206" name="Text Box 15"/>
            <p:cNvSpPr txBox="1">
              <a:spLocks noChangeArrowheads="1"/>
            </p:cNvSpPr>
            <p:nvPr/>
          </p:nvSpPr>
          <p:spPr bwMode="auto">
            <a:xfrm>
              <a:off x="843" y="1563"/>
              <a:ext cx="108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zh-CN" altLang="en-US" sz="2400" dirty="0">
                  <a:latin typeface="Times New Roman" panose="02020603050405020304" pitchFamily="18" charset="0"/>
                  <a:ea typeface="华文中宋" panose="02010600040101010101" pitchFamily="2" charset="-122"/>
                </a:rPr>
                <a:t>块地址</a:t>
              </a:r>
              <a:r>
                <a:rPr kumimoji="1" lang="en-US" altLang="zh-CN" sz="2400" i="1" dirty="0" err="1">
                  <a:latin typeface="Times New Roman" panose="02020603050405020304" pitchFamily="18" charset="0"/>
                  <a:ea typeface="华文中宋" panose="02010600040101010101" pitchFamily="2" charset="-122"/>
                </a:rPr>
                <a:t>i</a:t>
              </a:r>
              <a:r>
                <a:rPr kumimoji="1" lang="zh-CN" altLang="en-US" sz="2400" dirty="0">
                  <a:latin typeface="Times New Roman" panose="02020603050405020304" pitchFamily="18" charset="0"/>
                  <a:ea typeface="华文中宋" panose="02010600040101010101" pitchFamily="2" charset="-122"/>
                </a:rPr>
                <a:t>：</a:t>
              </a:r>
            </a:p>
          </p:txBody>
        </p:sp>
      </p:grpSp>
      <p:sp>
        <p:nvSpPr>
          <p:cNvPr id="8196" name="矩形 16"/>
          <p:cNvSpPr>
            <a:spLocks noChangeArrowheads="1"/>
          </p:cNvSpPr>
          <p:nvPr/>
        </p:nvSpPr>
        <p:spPr bwMode="auto">
          <a:xfrm>
            <a:off x="1547812" y="1484313"/>
            <a:ext cx="6624587" cy="127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zh-CN" altLang="en-US" sz="2400" dirty="0">
                <a:latin typeface="Times New Roman" panose="02020603050405020304" pitchFamily="18" charset="0"/>
                <a:ea typeface="华文中宋" panose="02010600040101010101" pitchFamily="2" charset="-122"/>
              </a:rPr>
              <a:t>对于主存的第</a:t>
            </a:r>
            <a:r>
              <a:rPr kumimoji="1" lang="en-US" altLang="zh-CN" sz="2400" i="1" dirty="0" err="1">
                <a:solidFill>
                  <a:srgbClr val="C00000"/>
                </a:solidFill>
                <a:latin typeface="Times New Roman" panose="02020603050405020304" pitchFamily="18" charset="0"/>
                <a:ea typeface="华文中宋" panose="02010600040101010101" pitchFamily="2" charset="-122"/>
              </a:rPr>
              <a:t>i</a:t>
            </a:r>
            <a:r>
              <a:rPr kumimoji="1" lang="en-US" altLang="zh-CN" sz="2400" i="1" dirty="0">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块，若它映象到</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的第</a:t>
            </a:r>
            <a:r>
              <a:rPr kumimoji="1" lang="en-US" altLang="zh-CN" sz="2400" i="1" dirty="0">
                <a:solidFill>
                  <a:srgbClr val="C00000"/>
                </a:solidFill>
                <a:latin typeface="Times New Roman" panose="02020603050405020304" pitchFamily="18" charset="0"/>
                <a:ea typeface="华文中宋" panose="02010600040101010101" pitchFamily="2" charset="-122"/>
              </a:rPr>
              <a:t>j</a:t>
            </a:r>
            <a:r>
              <a:rPr kumimoji="1" lang="zh-CN" altLang="en-US" sz="2400" dirty="0">
                <a:latin typeface="Times New Roman" panose="02020603050405020304" pitchFamily="18" charset="0"/>
                <a:ea typeface="华文中宋" panose="02010600040101010101" pitchFamily="2" charset="-122"/>
              </a:rPr>
              <a:t>块，则</a:t>
            </a:r>
            <a:r>
              <a:rPr kumimoji="1" lang="en-US" altLang="zh-CN" sz="2400" dirty="0">
                <a:latin typeface="Times New Roman" panose="02020603050405020304" pitchFamily="18" charset="0"/>
                <a:ea typeface="华文中宋" panose="02010600040101010101" pitchFamily="2" charset="-122"/>
              </a:rPr>
              <a:t>:</a:t>
            </a:r>
          </a:p>
          <a:p>
            <a:pPr eaLnBrk="1" hangingPunct="1">
              <a:spcBef>
                <a:spcPct val="20000"/>
              </a:spcBef>
            </a:pPr>
            <a:r>
              <a:rPr kumimoji="1" lang="en-US" altLang="zh-CN" sz="2400" dirty="0">
                <a:solidFill>
                  <a:srgbClr val="C00000"/>
                </a:solidFill>
                <a:latin typeface="Times New Roman" panose="02020603050405020304" pitchFamily="18" charset="0"/>
                <a:ea typeface="华文中宋" panose="02010600040101010101" pitchFamily="2" charset="-122"/>
              </a:rPr>
              <a:t>                  </a:t>
            </a:r>
            <a:r>
              <a:rPr kumimoji="1" lang="en-US" altLang="zh-CN" sz="2400" i="1" dirty="0">
                <a:solidFill>
                  <a:srgbClr val="C00000"/>
                </a:solidFill>
                <a:latin typeface="Times New Roman" panose="02020603050405020304" pitchFamily="18" charset="0"/>
                <a:ea typeface="华文中宋" panose="02010600040101010101" pitchFamily="2" charset="-122"/>
              </a:rPr>
              <a:t>j</a:t>
            </a:r>
            <a:r>
              <a:rPr kumimoji="1" lang="zh-CN" altLang="en-US" sz="2400" dirty="0">
                <a:solidFill>
                  <a:srgbClr val="C00000"/>
                </a:solidFill>
                <a:latin typeface="Times New Roman" panose="02020603050405020304" pitchFamily="18" charset="0"/>
                <a:ea typeface="华文中宋" panose="02010600040101010101" pitchFamily="2" charset="-122"/>
              </a:rPr>
              <a:t>＝</a:t>
            </a:r>
            <a:r>
              <a:rPr kumimoji="1" lang="en-US" altLang="zh-CN" sz="2400" i="1" dirty="0" err="1">
                <a:solidFill>
                  <a:srgbClr val="C00000"/>
                </a:solidFill>
                <a:latin typeface="Times New Roman" panose="02020603050405020304" pitchFamily="18" charset="0"/>
                <a:ea typeface="华文中宋" panose="02010600040101010101" pitchFamily="2" charset="-122"/>
              </a:rPr>
              <a:t>i</a:t>
            </a:r>
            <a:r>
              <a:rPr kumimoji="1" lang="en-US" altLang="zh-CN" sz="2400" dirty="0">
                <a:solidFill>
                  <a:srgbClr val="C00000"/>
                </a:solidFill>
                <a:latin typeface="Times New Roman" panose="02020603050405020304" pitchFamily="18" charset="0"/>
                <a:ea typeface="华文中宋" panose="02010600040101010101" pitchFamily="2" charset="-122"/>
              </a:rPr>
              <a:t> mod (</a:t>
            </a:r>
            <a:r>
              <a:rPr kumimoji="1" lang="en-US" altLang="zh-CN" sz="2400" i="1" dirty="0">
                <a:solidFill>
                  <a:srgbClr val="C00000"/>
                </a:solidFill>
                <a:latin typeface="Times New Roman" panose="02020603050405020304" pitchFamily="18" charset="0"/>
                <a:ea typeface="华文中宋" panose="02010600040101010101" pitchFamily="2" charset="-122"/>
              </a:rPr>
              <a:t>M </a:t>
            </a:r>
            <a:r>
              <a:rPr kumimoji="1" lang="en-US" altLang="zh-CN" sz="2400" dirty="0">
                <a:solidFill>
                  <a:srgbClr val="C00000"/>
                </a:solidFill>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a:t>
            </a:r>
            <a:r>
              <a:rPr kumimoji="1" lang="en-US" altLang="zh-CN" sz="2400" i="1" dirty="0">
                <a:latin typeface="Times New Roman" panose="02020603050405020304" pitchFamily="18" charset="0"/>
                <a:ea typeface="华文中宋" panose="02010600040101010101" pitchFamily="2" charset="-122"/>
              </a:rPr>
              <a:t>M</a:t>
            </a:r>
            <a:r>
              <a:rPr kumimoji="1" lang="zh-CN" altLang="en-US" sz="2400" dirty="0">
                <a:latin typeface="Times New Roman" panose="02020603050405020304" pitchFamily="18" charset="0"/>
                <a:ea typeface="华文中宋" panose="02010600040101010101" pitchFamily="2" charset="-122"/>
              </a:rPr>
              <a:t>为</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的块数）</a:t>
            </a:r>
            <a:endParaRPr lang="zh-CN" altLang="en-US" dirty="0"/>
          </a:p>
        </p:txBody>
      </p:sp>
      <p:sp>
        <p:nvSpPr>
          <p:cNvPr id="15" name="Text Box 3">
            <a:extLst>
              <a:ext uri="{FF2B5EF4-FFF2-40B4-BE49-F238E27FC236}">
                <a16:creationId xmlns:a16="http://schemas.microsoft.com/office/drawing/2014/main" id="{702363D8-C73F-4A0B-9E07-9D4F358AB8B0}"/>
              </a:ext>
            </a:extLst>
          </p:cNvPr>
          <p:cNvSpPr txBox="1">
            <a:spLocks noChangeArrowheads="1"/>
          </p:cNvSpPr>
          <p:nvPr/>
        </p:nvSpPr>
        <p:spPr bwMode="auto">
          <a:xfrm>
            <a:off x="827584" y="757976"/>
            <a:ext cx="2927143" cy="4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10000"/>
              </a:lnSpc>
            </a:pPr>
            <a:r>
              <a:rPr kumimoji="1" lang="en-US" altLang="zh-CN" sz="2400" dirty="0">
                <a:solidFill>
                  <a:srgbClr val="C00000"/>
                </a:solidFill>
                <a:latin typeface="Times New Roman" panose="02020603050405020304" pitchFamily="18" charset="0"/>
                <a:ea typeface="华文中宋" panose="02010600040101010101" pitchFamily="2" charset="-122"/>
              </a:rPr>
              <a:t>2. </a:t>
            </a:r>
            <a:r>
              <a:rPr kumimoji="1" lang="zh-CN" altLang="en-US" sz="2400" dirty="0">
                <a:solidFill>
                  <a:srgbClr val="C00000"/>
                </a:solidFill>
                <a:latin typeface="Times New Roman" panose="02020603050405020304" pitchFamily="18" charset="0"/>
                <a:ea typeface="华文中宋" panose="02010600040101010101" pitchFamily="2" charset="-122"/>
              </a:rPr>
              <a:t>直接映象</a:t>
            </a:r>
          </a:p>
        </p:txBody>
      </p:sp>
      <p:sp>
        <p:nvSpPr>
          <p:cNvPr id="2" name="矩形 1">
            <a:extLst>
              <a:ext uri="{FF2B5EF4-FFF2-40B4-BE49-F238E27FC236}">
                <a16:creationId xmlns:a16="http://schemas.microsoft.com/office/drawing/2014/main" id="{F5C94A1F-B87E-4A11-BD0E-7499AB75FF98}"/>
              </a:ext>
            </a:extLst>
          </p:cNvPr>
          <p:cNvSpPr/>
          <p:nvPr/>
        </p:nvSpPr>
        <p:spPr>
          <a:xfrm>
            <a:off x="1547812" y="5589989"/>
            <a:ext cx="6054863" cy="461665"/>
          </a:xfrm>
          <a:prstGeom prst="rect">
            <a:avLst/>
          </a:prstGeom>
        </p:spPr>
        <p:txBody>
          <a:bodyPr wrap="none">
            <a:spAutoFit/>
          </a:bodyPr>
          <a:lstStyle/>
          <a:p>
            <a:pPr marL="342900" indent="-342900">
              <a:buFont typeface="Wingdings" panose="05000000000000000000" pitchFamily="2" charset="2"/>
              <a:buChar char="Ø"/>
            </a:pPr>
            <a:r>
              <a:rPr lang="zh-CN" altLang="en-US" sz="2400" dirty="0">
                <a:latin typeface="Times New Roman" panose="02020603050405020304" pitchFamily="18" charset="0"/>
                <a:ea typeface="华文中宋" panose="02010600040101010101" pitchFamily="2" charset="-122"/>
              </a:rPr>
              <a:t>直接映像中的低</a:t>
            </a:r>
            <a:r>
              <a:rPr lang="en-US" altLang="zh-CN" sz="2400" i="1" dirty="0">
                <a:solidFill>
                  <a:srgbClr val="C00000"/>
                </a:solidFill>
                <a:latin typeface="Times New Roman" panose="02020603050405020304" pitchFamily="18" charset="0"/>
                <a:ea typeface="华文中宋" panose="02010600040101010101" pitchFamily="2" charset="-122"/>
              </a:rPr>
              <a:t>m</a:t>
            </a:r>
            <a:r>
              <a:rPr lang="zh-CN" altLang="en-US" sz="2400" dirty="0">
                <a:latin typeface="Times New Roman" panose="02020603050405020304" pitchFamily="18" charset="0"/>
                <a:ea typeface="华文中宋" panose="02010600040101010101" pitchFamily="2" charset="-122"/>
              </a:rPr>
              <a:t>位通常称为索引</a:t>
            </a:r>
            <a:r>
              <a:rPr lang="en-US" altLang="zh-CN" sz="2400" dirty="0">
                <a:latin typeface="Times New Roman" panose="02020603050405020304" pitchFamily="18" charset="0"/>
                <a:ea typeface="华文中宋" panose="02010600040101010101" pitchFamily="2" charset="-122"/>
              </a:rPr>
              <a:t>(Index)</a:t>
            </a:r>
            <a:endParaRPr lang="zh-CN" altLang="en-US" sz="2400" dirty="0"/>
          </a:p>
        </p:txBody>
      </p:sp>
      <p:sp>
        <p:nvSpPr>
          <p:cNvPr id="3" name="日期占位符 2">
            <a:extLst>
              <a:ext uri="{FF2B5EF4-FFF2-40B4-BE49-F238E27FC236}">
                <a16:creationId xmlns:a16="http://schemas.microsoft.com/office/drawing/2014/main" id="{92C1C376-C0A9-2069-556A-F8B08740DD95}"/>
              </a:ext>
            </a:extLst>
          </p:cNvPr>
          <p:cNvSpPr>
            <a:spLocks noGrp="1"/>
          </p:cNvSpPr>
          <p:nvPr>
            <p:ph type="dt" sz="half" idx="10"/>
          </p:nvPr>
        </p:nvSpPr>
        <p:spPr/>
        <p:txBody>
          <a:bodyPr/>
          <a:lstStyle/>
          <a:p>
            <a:pPr>
              <a:defRPr/>
            </a:pPr>
            <a:fld id="{3164B3B9-F7F9-42DA-B59C-283D673F34B4}"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6E89BDCB-35DA-07EF-6213-4604E93F625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6EFDA3A2-FC27-5B08-9D00-8AE2C223D313}"/>
              </a:ext>
            </a:extLst>
          </p:cNvPr>
          <p:cNvSpPr>
            <a:spLocks noGrp="1"/>
          </p:cNvSpPr>
          <p:nvPr>
            <p:ph type="sldNum" sz="quarter" idx="12"/>
          </p:nvPr>
        </p:nvSpPr>
        <p:spPr/>
        <p:txBody>
          <a:bodyPr/>
          <a:lstStyle/>
          <a:p>
            <a:pPr>
              <a:defRPr/>
            </a:pPr>
            <a:fld id="{65B7EA61-351E-4105-9AD9-76D38C6E9934}" type="slidenum">
              <a:rPr lang="zh-CN" altLang="en-US" smtClean="0"/>
              <a:t>56</a:t>
            </a:fld>
            <a:endParaRPr lang="en-US" altLang="zh-CN"/>
          </a:p>
        </p:txBody>
      </p:sp>
    </p:spTree>
    <p:extLst>
      <p:ext uri="{BB962C8B-B14F-4D97-AF65-F5344CB8AC3E}">
        <p14:creationId xmlns:p14="http://schemas.microsoft.com/office/powerpoint/2010/main" val="38324514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3"/>
          <p:cNvSpPr txBox="1">
            <a:spLocks noChangeArrowheads="1"/>
          </p:cNvSpPr>
          <p:nvPr/>
        </p:nvSpPr>
        <p:spPr bwMode="auto">
          <a:xfrm>
            <a:off x="971550" y="1769896"/>
            <a:ext cx="7632700" cy="941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marL="342900" indent="-342900" eaLnBrk="1" hangingPunct="1">
              <a:lnSpc>
                <a:spcPct val="120000"/>
              </a:lnSpc>
              <a:buSzPct val="100000"/>
              <a:buFont typeface="Wingdings" panose="05000000000000000000" pitchFamily="2" charset="2"/>
              <a:buChar char="Ø"/>
            </a:pPr>
            <a:r>
              <a:rPr kumimoji="1" lang="zh-CN" altLang="en-US" sz="2400" dirty="0">
                <a:latin typeface="Times New Roman" panose="02020603050405020304" pitchFamily="18" charset="0"/>
                <a:ea typeface="华文中宋" panose="02010600040101010101" pitchFamily="2" charset="-122"/>
              </a:rPr>
              <a:t>组相联：主存中的每一块可以被放置到</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中唯一  </a:t>
            </a:r>
          </a:p>
          <a:p>
            <a:pPr eaLnBrk="1" hangingPunct="1">
              <a:lnSpc>
                <a:spcPct val="120000"/>
              </a:lnSpc>
              <a:buFont typeface="Wingdings" panose="05000000000000000000" pitchFamily="2" charset="2"/>
              <a:buNone/>
            </a:pPr>
            <a:r>
              <a:rPr kumimoji="1" lang="zh-CN" altLang="en-US" sz="2400" dirty="0">
                <a:latin typeface="Times New Roman" panose="02020603050405020304" pitchFamily="18" charset="0"/>
                <a:ea typeface="华文中宋" panose="02010600040101010101" pitchFamily="2" charset="-122"/>
              </a:rPr>
              <a:t>                   的一个组中的任何一个位置。</a:t>
            </a:r>
          </a:p>
        </p:txBody>
      </p:sp>
      <p:sp>
        <p:nvSpPr>
          <p:cNvPr id="9219" name="Text Box 5"/>
          <p:cNvSpPr txBox="1">
            <a:spLocks noChangeArrowheads="1"/>
          </p:cNvSpPr>
          <p:nvPr/>
        </p:nvSpPr>
        <p:spPr bwMode="auto">
          <a:xfrm>
            <a:off x="684213" y="1252371"/>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r>
              <a:rPr kumimoji="1" lang="en-US" altLang="zh-CN" sz="2400" dirty="0">
                <a:solidFill>
                  <a:srgbClr val="C00000"/>
                </a:solidFill>
                <a:latin typeface="Times New Roman" panose="02020603050405020304" pitchFamily="18" charset="0"/>
                <a:ea typeface="华文中宋" panose="02010600040101010101" pitchFamily="2" charset="-122"/>
              </a:rPr>
              <a:t>3. </a:t>
            </a:r>
            <a:r>
              <a:rPr kumimoji="1" lang="zh-CN" altLang="en-US" sz="2400" dirty="0">
                <a:solidFill>
                  <a:srgbClr val="C00000"/>
                </a:solidFill>
                <a:latin typeface="Times New Roman" panose="02020603050405020304" pitchFamily="18" charset="0"/>
                <a:ea typeface="华文中宋" panose="02010600040101010101" pitchFamily="2" charset="-122"/>
              </a:rPr>
              <a:t>组相联映象</a:t>
            </a:r>
            <a:endParaRPr kumimoji="1" lang="zh-CN" altLang="en-US" sz="2400" b="0" dirty="0">
              <a:solidFill>
                <a:srgbClr val="C00000"/>
              </a:solidFill>
              <a:latin typeface="Times New Roman" panose="02020603050405020304" pitchFamily="18" charset="0"/>
              <a:ea typeface="华文中宋" panose="02010600040101010101" pitchFamily="2" charset="-122"/>
            </a:endParaRPr>
          </a:p>
        </p:txBody>
      </p:sp>
      <p:sp>
        <p:nvSpPr>
          <p:cNvPr id="2" name="矩形 1"/>
          <p:cNvSpPr/>
          <p:nvPr/>
        </p:nvSpPr>
        <p:spPr>
          <a:xfrm>
            <a:off x="971550" y="2785160"/>
            <a:ext cx="5878532" cy="497637"/>
          </a:xfrm>
          <a:prstGeom prst="rect">
            <a:avLst/>
          </a:prstGeom>
        </p:spPr>
        <p:txBody>
          <a:bodyPr wrap="none">
            <a:spAutoFit/>
          </a:bodyPr>
          <a:lstStyle/>
          <a:p>
            <a:pPr marL="342000" lvl="1" indent="-342000">
              <a:lnSpc>
                <a:spcPct val="120000"/>
              </a:lnSpc>
              <a:buFont typeface="Wingdings" panose="05000000000000000000" pitchFamily="2" charset="2"/>
              <a:buChar char="Ø"/>
            </a:pPr>
            <a:r>
              <a:rPr lang="zh-CN" altLang="en-US" sz="2400" dirty="0">
                <a:latin typeface="Times New Roman" panose="02020603050405020304" pitchFamily="18" charset="0"/>
                <a:ea typeface="华文中宋" panose="02010600040101010101" pitchFamily="2" charset="-122"/>
              </a:rPr>
              <a:t>组相联是直接映象和全相联的一种折中</a:t>
            </a:r>
          </a:p>
        </p:txBody>
      </p:sp>
      <p:sp>
        <p:nvSpPr>
          <p:cNvPr id="11" name="Rectangle 2">
            <a:extLst>
              <a:ext uri="{FF2B5EF4-FFF2-40B4-BE49-F238E27FC236}">
                <a16:creationId xmlns:a16="http://schemas.microsoft.com/office/drawing/2014/main" id="{E25F73E7-5182-423D-A362-F53268E2A1C7}"/>
              </a:ext>
            </a:extLst>
          </p:cNvPr>
          <p:cNvSpPr txBox="1">
            <a:spLocks noChangeArrowheads="1"/>
          </p:cNvSpPr>
          <p:nvPr/>
        </p:nvSpPr>
        <p:spPr>
          <a:xfrm>
            <a:off x="345931" y="82681"/>
            <a:ext cx="8229600" cy="864096"/>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0" lang="en-US" altLang="zh-CN" sz="3600" b="1" dirty="0">
                <a:latin typeface="Times New Roman" panose="02020603050405020304" pitchFamily="18" charset="0"/>
                <a:cs typeface="Times New Roman" panose="02020603050405020304" pitchFamily="18" charset="0"/>
              </a:rPr>
              <a:t>5.2</a:t>
            </a:r>
            <a:r>
              <a:rPr kumimoji="0" lang="en-US" altLang="zh-CN" sz="3600" dirty="0">
                <a:latin typeface="Times New Roman" panose="02020603050405020304" pitchFamily="18" charset="0"/>
                <a:cs typeface="Times New Roman" panose="02020603050405020304" pitchFamily="18" charset="0"/>
              </a:rPr>
              <a:t>.1</a:t>
            </a:r>
            <a:r>
              <a:rPr kumimoji="0" lang="en-US" altLang="zh-CN" sz="4000" b="1" dirty="0">
                <a:latin typeface="Times New Roman" panose="02020603050405020304" pitchFamily="18" charset="0"/>
                <a:cs typeface="Times New Roman" panose="02020603050405020304" pitchFamily="18" charset="0"/>
              </a:rPr>
              <a:t> </a:t>
            </a:r>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映像规则</a:t>
            </a:r>
          </a:p>
        </p:txBody>
      </p:sp>
      <p:pic>
        <p:nvPicPr>
          <p:cNvPr id="4" name="图片 3">
            <a:extLst>
              <a:ext uri="{FF2B5EF4-FFF2-40B4-BE49-F238E27FC236}">
                <a16:creationId xmlns:a16="http://schemas.microsoft.com/office/drawing/2014/main" id="{073D7047-A371-4BB8-A398-C738BF2401E4}"/>
              </a:ext>
            </a:extLst>
          </p:cNvPr>
          <p:cNvPicPr>
            <a:picLocks noChangeAspect="1"/>
          </p:cNvPicPr>
          <p:nvPr/>
        </p:nvPicPr>
        <p:blipFill>
          <a:blip r:embed="rId3"/>
          <a:stretch>
            <a:fillRect/>
          </a:stretch>
        </p:blipFill>
        <p:spPr>
          <a:xfrm>
            <a:off x="2246168" y="3282797"/>
            <a:ext cx="4429125" cy="3581400"/>
          </a:xfrm>
          <a:prstGeom prst="rect">
            <a:avLst/>
          </a:prstGeom>
        </p:spPr>
      </p:pic>
      <p:sp>
        <p:nvSpPr>
          <p:cNvPr id="3" name="日期占位符 2">
            <a:extLst>
              <a:ext uri="{FF2B5EF4-FFF2-40B4-BE49-F238E27FC236}">
                <a16:creationId xmlns:a16="http://schemas.microsoft.com/office/drawing/2014/main" id="{291AB2D2-36A1-E667-31C7-724DE3BD258B}"/>
              </a:ext>
            </a:extLst>
          </p:cNvPr>
          <p:cNvSpPr>
            <a:spLocks noGrp="1"/>
          </p:cNvSpPr>
          <p:nvPr>
            <p:ph type="dt" sz="half" idx="10"/>
          </p:nvPr>
        </p:nvSpPr>
        <p:spPr/>
        <p:txBody>
          <a:bodyPr/>
          <a:lstStyle/>
          <a:p>
            <a:pPr>
              <a:defRPr/>
            </a:pPr>
            <a:fld id="{30CD5B9F-B3AB-42E2-973C-C29AFDF12289}" type="datetime1">
              <a:rPr lang="zh-CN" altLang="en-US" smtClean="0"/>
              <a:t>2025/10/28</a:t>
            </a:fld>
            <a:endParaRPr lang="en-US" altLang="zh-CN"/>
          </a:p>
        </p:txBody>
      </p:sp>
      <p:sp>
        <p:nvSpPr>
          <p:cNvPr id="5" name="页脚占位符 4">
            <a:extLst>
              <a:ext uri="{FF2B5EF4-FFF2-40B4-BE49-F238E27FC236}">
                <a16:creationId xmlns:a16="http://schemas.microsoft.com/office/drawing/2014/main" id="{C28BF625-1D3A-5DF2-A4C0-FEF0B06BDDD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6" name="灯片编号占位符 5">
            <a:extLst>
              <a:ext uri="{FF2B5EF4-FFF2-40B4-BE49-F238E27FC236}">
                <a16:creationId xmlns:a16="http://schemas.microsoft.com/office/drawing/2014/main" id="{5F96CEC8-6C28-1F09-59DA-38F4238CA7A2}"/>
              </a:ext>
            </a:extLst>
          </p:cNvPr>
          <p:cNvSpPr>
            <a:spLocks noGrp="1"/>
          </p:cNvSpPr>
          <p:nvPr>
            <p:ph type="sldNum" sz="quarter" idx="12"/>
          </p:nvPr>
        </p:nvSpPr>
        <p:spPr/>
        <p:txBody>
          <a:bodyPr/>
          <a:lstStyle/>
          <a:p>
            <a:pPr>
              <a:defRPr/>
            </a:pPr>
            <a:fld id="{65B7EA61-351E-4105-9AD9-76D38C6E9934}" type="slidenum">
              <a:rPr lang="zh-CN" altLang="en-US" smtClean="0"/>
              <a:t>57</a:t>
            </a:fld>
            <a:endParaRPr lang="en-US" altLang="zh-CN"/>
          </a:p>
        </p:txBody>
      </p:sp>
    </p:spTree>
    <p:extLst>
      <p:ext uri="{BB962C8B-B14F-4D97-AF65-F5344CB8AC3E}">
        <p14:creationId xmlns:p14="http://schemas.microsoft.com/office/powerpoint/2010/main" val="19094788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971550" y="1052736"/>
            <a:ext cx="7391400"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marL="342900" indent="-342900" eaLnBrk="1" hangingPunct="1">
              <a:spcBef>
                <a:spcPct val="50000"/>
              </a:spcBef>
              <a:buSzPct val="100000"/>
              <a:buFont typeface="Wingdings" panose="05000000000000000000" pitchFamily="2" charset="2"/>
              <a:buChar char="Ø"/>
            </a:pPr>
            <a:r>
              <a:rPr kumimoji="1" lang="zh-CN" altLang="en-US" sz="2400" dirty="0">
                <a:latin typeface="Times New Roman" panose="02020603050405020304" pitchFamily="18" charset="0"/>
                <a:ea typeface="华文中宋" panose="02010600040101010101" pitchFamily="2" charset="-122"/>
              </a:rPr>
              <a:t>组的选择常采用位选择算法</a:t>
            </a:r>
          </a:p>
          <a:p>
            <a:pPr marL="702000" indent="-342900" eaLnBrk="1" hangingPunct="1">
              <a:spcBef>
                <a:spcPct val="50000"/>
              </a:spcBef>
              <a:buFont typeface="Arial" panose="020B0604020202020204" pitchFamily="34" charset="0"/>
              <a:buChar char="•"/>
            </a:pPr>
            <a:r>
              <a:rPr kumimoji="1" lang="zh-CN" altLang="en-US" sz="2400" dirty="0">
                <a:latin typeface="Times New Roman" panose="02020603050405020304" pitchFamily="18" charset="0"/>
                <a:ea typeface="华文中宋" panose="02010600040101010101" pitchFamily="2" charset="-122"/>
              </a:rPr>
              <a:t>若主存第 </a:t>
            </a:r>
            <a:r>
              <a:rPr kumimoji="1" lang="en-US" altLang="zh-CN" sz="2400" i="1" dirty="0" err="1">
                <a:solidFill>
                  <a:srgbClr val="C00000"/>
                </a:solidFill>
                <a:latin typeface="Times New Roman" panose="02020603050405020304" pitchFamily="18" charset="0"/>
                <a:ea typeface="华文中宋" panose="02010600040101010101" pitchFamily="2" charset="-122"/>
              </a:rPr>
              <a:t>i</a:t>
            </a:r>
            <a:r>
              <a:rPr kumimoji="1" lang="en-US" altLang="zh-CN" sz="2400" i="1" dirty="0">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块映象到第 </a:t>
            </a:r>
            <a:r>
              <a:rPr kumimoji="1" lang="en-US" altLang="zh-CN" sz="2400" i="1" dirty="0">
                <a:solidFill>
                  <a:srgbClr val="C00000"/>
                </a:solidFill>
                <a:latin typeface="Times New Roman" panose="02020603050405020304" pitchFamily="18" charset="0"/>
                <a:ea typeface="华文中宋" panose="02010600040101010101" pitchFamily="2" charset="-122"/>
              </a:rPr>
              <a:t>k</a:t>
            </a:r>
            <a:r>
              <a:rPr kumimoji="1" lang="en-US" altLang="zh-CN" sz="2400" i="1" dirty="0">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组，则</a:t>
            </a:r>
            <a:r>
              <a:rPr kumimoji="1" lang="en-US" altLang="zh-CN" sz="2400" dirty="0">
                <a:latin typeface="Times New Roman" panose="02020603050405020304" pitchFamily="18" charset="0"/>
                <a:ea typeface="华文中宋" panose="02010600040101010101" pitchFamily="2" charset="-122"/>
              </a:rPr>
              <a:t>:</a:t>
            </a:r>
          </a:p>
          <a:p>
            <a:pPr eaLnBrk="1" hangingPunct="1">
              <a:spcBef>
                <a:spcPct val="50000"/>
              </a:spcBef>
            </a:pPr>
            <a:r>
              <a:rPr kumimoji="1" lang="en-US" altLang="zh-CN" sz="2400" dirty="0">
                <a:solidFill>
                  <a:srgbClr val="C00000"/>
                </a:solidFill>
                <a:latin typeface="Times New Roman" panose="02020603050405020304" pitchFamily="18" charset="0"/>
                <a:ea typeface="华文中宋" panose="02010600040101010101" pitchFamily="2" charset="-122"/>
              </a:rPr>
              <a:t>                   </a:t>
            </a:r>
            <a:r>
              <a:rPr kumimoji="1" lang="en-US" altLang="zh-CN" sz="2400" i="1" dirty="0">
                <a:solidFill>
                  <a:srgbClr val="C00000"/>
                </a:solidFill>
                <a:latin typeface="Times New Roman" panose="02020603050405020304" pitchFamily="18" charset="0"/>
                <a:ea typeface="华文中宋" panose="02010600040101010101" pitchFamily="2" charset="-122"/>
              </a:rPr>
              <a:t>k</a:t>
            </a:r>
            <a:r>
              <a:rPr kumimoji="1" lang="zh-CN" altLang="en-US" sz="2400" dirty="0">
                <a:solidFill>
                  <a:srgbClr val="C00000"/>
                </a:solidFill>
                <a:latin typeface="Times New Roman" panose="02020603050405020304" pitchFamily="18" charset="0"/>
                <a:ea typeface="华文中宋" panose="02010600040101010101" pitchFamily="2" charset="-122"/>
              </a:rPr>
              <a:t>＝</a:t>
            </a:r>
            <a:r>
              <a:rPr kumimoji="1" lang="en-US" altLang="zh-CN" sz="2400" i="1" dirty="0" err="1">
                <a:solidFill>
                  <a:srgbClr val="C00000"/>
                </a:solidFill>
                <a:latin typeface="Times New Roman" panose="02020603050405020304" pitchFamily="18" charset="0"/>
                <a:ea typeface="华文中宋" panose="02010600040101010101" pitchFamily="2" charset="-122"/>
              </a:rPr>
              <a:t>i</a:t>
            </a:r>
            <a:r>
              <a:rPr kumimoji="1" lang="en-US" altLang="zh-CN" sz="2400" i="1" dirty="0">
                <a:solidFill>
                  <a:srgbClr val="C00000"/>
                </a:solidFill>
                <a:latin typeface="Times New Roman" panose="02020603050405020304" pitchFamily="18" charset="0"/>
                <a:ea typeface="华文中宋" panose="02010600040101010101" pitchFamily="2" charset="-122"/>
              </a:rPr>
              <a:t> </a:t>
            </a:r>
            <a:r>
              <a:rPr kumimoji="1" lang="en-US" altLang="zh-CN" sz="2400" dirty="0">
                <a:solidFill>
                  <a:srgbClr val="C00000"/>
                </a:solidFill>
                <a:latin typeface="Times New Roman" panose="02020603050405020304" pitchFamily="18" charset="0"/>
                <a:ea typeface="华文中宋" panose="02010600040101010101" pitchFamily="2" charset="-122"/>
              </a:rPr>
              <a:t>mod</a:t>
            </a:r>
            <a:r>
              <a:rPr kumimoji="1" lang="zh-CN" altLang="en-US" sz="2400" dirty="0">
                <a:solidFill>
                  <a:srgbClr val="C00000"/>
                </a:solidFill>
                <a:latin typeface="Times New Roman" panose="02020603050405020304" pitchFamily="18" charset="0"/>
                <a:ea typeface="华文中宋" panose="02010600040101010101" pitchFamily="2" charset="-122"/>
              </a:rPr>
              <a:t>（</a:t>
            </a:r>
            <a:r>
              <a:rPr kumimoji="1" lang="en-US" altLang="zh-CN" sz="2400" i="1" dirty="0">
                <a:solidFill>
                  <a:srgbClr val="C00000"/>
                </a:solidFill>
                <a:latin typeface="Times New Roman" panose="02020603050405020304" pitchFamily="18" charset="0"/>
                <a:ea typeface="华文中宋" panose="02010600040101010101" pitchFamily="2" charset="-122"/>
              </a:rPr>
              <a:t>G</a:t>
            </a:r>
            <a:r>
              <a:rPr kumimoji="1" lang="zh-CN" altLang="en-US" sz="2400" dirty="0">
                <a:solidFill>
                  <a:srgbClr val="C00000"/>
                </a:solidFill>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a:t>
            </a:r>
            <a:r>
              <a:rPr kumimoji="1" lang="en-US" altLang="zh-CN" sz="2400" i="1" dirty="0">
                <a:latin typeface="Times New Roman" panose="02020603050405020304" pitchFamily="18" charset="0"/>
                <a:ea typeface="华文中宋" panose="02010600040101010101" pitchFamily="2" charset="-122"/>
              </a:rPr>
              <a:t>G</a:t>
            </a:r>
            <a:r>
              <a:rPr kumimoji="1" lang="zh-CN" altLang="en-US" sz="2400" dirty="0">
                <a:latin typeface="Times New Roman" panose="02020603050405020304" pitchFamily="18" charset="0"/>
                <a:ea typeface="华文中宋" panose="02010600040101010101" pitchFamily="2" charset="-122"/>
              </a:rPr>
              <a:t>为</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的组数）</a:t>
            </a:r>
          </a:p>
          <a:p>
            <a:pPr marL="702000" indent="-342900" eaLnBrk="1" hangingPunct="1">
              <a:spcBef>
                <a:spcPct val="50000"/>
              </a:spcBef>
              <a:buFont typeface="Arial" panose="020B0604020202020204" pitchFamily="34" charset="0"/>
              <a:buChar char="•"/>
            </a:pPr>
            <a:r>
              <a:rPr kumimoji="1" lang="zh-CN" altLang="en-US" sz="2400" dirty="0">
                <a:latin typeface="Times New Roman" panose="02020603050405020304" pitchFamily="18" charset="0"/>
                <a:ea typeface="华文中宋" panose="02010600040101010101" pitchFamily="2" charset="-122"/>
              </a:rPr>
              <a:t>设</a:t>
            </a:r>
            <a:r>
              <a:rPr kumimoji="1" lang="en-US" altLang="zh-CN" sz="2400" i="1" dirty="0">
                <a:solidFill>
                  <a:srgbClr val="C00000"/>
                </a:solidFill>
                <a:latin typeface="Times New Roman" panose="02020603050405020304" pitchFamily="18" charset="0"/>
                <a:ea typeface="华文中宋" panose="02010600040101010101" pitchFamily="2" charset="-122"/>
              </a:rPr>
              <a:t>G</a:t>
            </a:r>
            <a:r>
              <a:rPr kumimoji="1" lang="zh-CN" altLang="en-US" sz="2400" dirty="0">
                <a:solidFill>
                  <a:srgbClr val="C00000"/>
                </a:solidFill>
                <a:latin typeface="Times New Roman" panose="02020603050405020304" pitchFamily="18" charset="0"/>
                <a:ea typeface="华文中宋" panose="02010600040101010101" pitchFamily="2" charset="-122"/>
              </a:rPr>
              <a:t>＝</a:t>
            </a:r>
            <a:r>
              <a:rPr kumimoji="1" lang="en-US" altLang="zh-CN" sz="2400" dirty="0">
                <a:solidFill>
                  <a:srgbClr val="C00000"/>
                </a:solidFill>
                <a:latin typeface="Times New Roman" panose="02020603050405020304" pitchFamily="18" charset="0"/>
                <a:ea typeface="华文中宋" panose="02010600040101010101" pitchFamily="2" charset="-122"/>
              </a:rPr>
              <a:t>2</a:t>
            </a:r>
            <a:r>
              <a:rPr kumimoji="1" lang="en-US" altLang="zh-CN" sz="2400" baseline="30000" dirty="0">
                <a:solidFill>
                  <a:srgbClr val="C00000"/>
                </a:solidFill>
                <a:latin typeface="Times New Roman" panose="02020603050405020304" pitchFamily="18" charset="0"/>
                <a:ea typeface="华文中宋" panose="02010600040101010101" pitchFamily="2" charset="-122"/>
              </a:rPr>
              <a:t>g</a:t>
            </a:r>
            <a:r>
              <a:rPr kumimoji="1" lang="zh-CN" altLang="en-US" sz="2400" dirty="0">
                <a:latin typeface="Times New Roman" panose="02020603050405020304" pitchFamily="18" charset="0"/>
                <a:ea typeface="华文中宋" panose="02010600040101010101" pitchFamily="2" charset="-122"/>
              </a:rPr>
              <a:t>，则当表示为二进制数时，</a:t>
            </a:r>
            <a:r>
              <a:rPr kumimoji="1" lang="en-US" altLang="zh-CN" sz="2400" i="1" dirty="0">
                <a:latin typeface="Times New Roman" panose="02020603050405020304" pitchFamily="18" charset="0"/>
                <a:ea typeface="华文中宋" panose="02010600040101010101" pitchFamily="2" charset="-122"/>
              </a:rPr>
              <a:t>k </a:t>
            </a:r>
            <a:r>
              <a:rPr kumimoji="1" lang="zh-CN" altLang="en-US" sz="2400" dirty="0">
                <a:latin typeface="Times New Roman" panose="02020603050405020304" pitchFamily="18" charset="0"/>
                <a:ea typeface="华文中宋" panose="02010600040101010101" pitchFamily="2" charset="-122"/>
              </a:rPr>
              <a:t>实际上就是 </a:t>
            </a:r>
            <a:r>
              <a:rPr kumimoji="1" lang="en-US" altLang="zh-CN" sz="2400" i="1" dirty="0" err="1">
                <a:latin typeface="Times New Roman" panose="02020603050405020304" pitchFamily="18" charset="0"/>
                <a:ea typeface="华文中宋" panose="02010600040101010101" pitchFamily="2" charset="-122"/>
              </a:rPr>
              <a:t>i</a:t>
            </a:r>
            <a:r>
              <a:rPr kumimoji="1" lang="en-US" altLang="zh-CN" sz="2400" i="1" dirty="0">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的低 </a:t>
            </a:r>
            <a:r>
              <a:rPr kumimoji="1" lang="en-US" altLang="zh-CN" sz="2400" i="1" dirty="0">
                <a:latin typeface="Times New Roman" panose="02020603050405020304" pitchFamily="18" charset="0"/>
                <a:ea typeface="华文中宋" panose="02010600040101010101" pitchFamily="2" charset="-122"/>
              </a:rPr>
              <a:t>g </a:t>
            </a:r>
            <a:r>
              <a:rPr kumimoji="1" lang="zh-CN" altLang="en-US" sz="2400" dirty="0">
                <a:latin typeface="Times New Roman" panose="02020603050405020304" pitchFamily="18" charset="0"/>
                <a:ea typeface="华文中宋" panose="02010600040101010101" pitchFamily="2" charset="-122"/>
              </a:rPr>
              <a:t>位：</a:t>
            </a:r>
          </a:p>
        </p:txBody>
      </p:sp>
      <p:grpSp>
        <p:nvGrpSpPr>
          <p:cNvPr id="3" name="Group 24"/>
          <p:cNvGrpSpPr>
            <a:grpSpLocks/>
          </p:cNvGrpSpPr>
          <p:nvPr/>
        </p:nvGrpSpPr>
        <p:grpSpPr bwMode="auto">
          <a:xfrm>
            <a:off x="2297113" y="3907061"/>
            <a:ext cx="4591050" cy="1033463"/>
            <a:chOff x="1331" y="1509"/>
            <a:chExt cx="2892" cy="651"/>
          </a:xfrm>
        </p:grpSpPr>
        <p:sp>
          <p:nvSpPr>
            <p:cNvPr id="4" name="Rectangle 25"/>
            <p:cNvSpPr>
              <a:spLocks noChangeArrowheads="1"/>
            </p:cNvSpPr>
            <p:nvPr/>
          </p:nvSpPr>
          <p:spPr bwMode="auto">
            <a:xfrm>
              <a:off x="1331" y="1536"/>
              <a:ext cx="2892" cy="306"/>
            </a:xfrm>
            <a:prstGeom prst="rect">
              <a:avLst/>
            </a:prstGeom>
            <a:solidFill>
              <a:schemeClr val="bg1"/>
            </a:solidFill>
            <a:ln w="19050">
              <a:solidFill>
                <a:schemeClr val="tx2"/>
              </a:solidFill>
              <a:miter lim="800000"/>
              <a:headEnd/>
              <a:tailEnd/>
            </a:ln>
          </p:spPr>
          <p:txBody>
            <a:bodyPr wrap="none" anchor="ct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 name="Rectangle 26"/>
            <p:cNvSpPr>
              <a:spLocks noChangeArrowheads="1"/>
            </p:cNvSpPr>
            <p:nvPr/>
          </p:nvSpPr>
          <p:spPr bwMode="auto">
            <a:xfrm>
              <a:off x="3251" y="1536"/>
              <a:ext cx="972" cy="306"/>
            </a:xfrm>
            <a:prstGeom prst="rect">
              <a:avLst/>
            </a:prstGeom>
            <a:solidFill>
              <a:srgbClr val="FEF3C2"/>
            </a:solidFill>
            <a:ln w="9525">
              <a:solidFill>
                <a:schemeClr val="tx2"/>
              </a:solidFill>
              <a:miter lim="800000"/>
              <a:headEnd/>
              <a:tailEnd/>
            </a:ln>
          </p:spPr>
          <p:txBody>
            <a:bodyPr wrap="none" anchor="ct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6" name="Line 27"/>
            <p:cNvSpPr>
              <a:spLocks noChangeShapeType="1"/>
            </p:cNvSpPr>
            <p:nvPr/>
          </p:nvSpPr>
          <p:spPr bwMode="auto">
            <a:xfrm flipH="1">
              <a:off x="3252" y="1525"/>
              <a:ext cx="0" cy="31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28"/>
            <p:cNvSpPr>
              <a:spLocks noChangeShapeType="1"/>
            </p:cNvSpPr>
            <p:nvPr/>
          </p:nvSpPr>
          <p:spPr bwMode="auto">
            <a:xfrm>
              <a:off x="4211" y="1920"/>
              <a:ext cx="0" cy="24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29"/>
            <p:cNvSpPr>
              <a:spLocks noChangeShapeType="1"/>
            </p:cNvSpPr>
            <p:nvPr/>
          </p:nvSpPr>
          <p:spPr bwMode="auto">
            <a:xfrm>
              <a:off x="3251" y="1920"/>
              <a:ext cx="0" cy="240"/>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30"/>
            <p:cNvSpPr>
              <a:spLocks noChangeShapeType="1"/>
            </p:cNvSpPr>
            <p:nvPr/>
          </p:nvSpPr>
          <p:spPr bwMode="auto">
            <a:xfrm>
              <a:off x="3923" y="2064"/>
              <a:ext cx="288" cy="0"/>
            </a:xfrm>
            <a:prstGeom prst="line">
              <a:avLst/>
            </a:prstGeom>
            <a:noFill/>
            <a:ln w="9525">
              <a:solidFill>
                <a:schemeClr val="bg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31"/>
            <p:cNvSpPr>
              <a:spLocks noChangeShapeType="1"/>
            </p:cNvSpPr>
            <p:nvPr/>
          </p:nvSpPr>
          <p:spPr bwMode="auto">
            <a:xfrm flipH="1">
              <a:off x="3251" y="2064"/>
              <a:ext cx="288" cy="0"/>
            </a:xfrm>
            <a:prstGeom prst="line">
              <a:avLst/>
            </a:prstGeom>
            <a:noFill/>
            <a:ln w="9525">
              <a:solidFill>
                <a:schemeClr val="bg1"/>
              </a:solidFill>
              <a:round/>
              <a:headEnd/>
              <a:tailEnd type="stealth"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Text Box 32"/>
            <p:cNvSpPr txBox="1">
              <a:spLocks noChangeArrowheads="1"/>
            </p:cNvSpPr>
            <p:nvPr/>
          </p:nvSpPr>
          <p:spPr bwMode="auto">
            <a:xfrm>
              <a:off x="3515" y="1842"/>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i="1">
                  <a:latin typeface="Times New Roman" panose="02020603050405020304" pitchFamily="18" charset="0"/>
                  <a:ea typeface="华文中宋" panose="02010600040101010101" pitchFamily="2" charset="-122"/>
                </a:rPr>
                <a:t>g</a:t>
              </a:r>
              <a:r>
                <a:rPr kumimoji="1" lang="zh-CN" altLang="zh-CN" sz="2400">
                  <a:latin typeface="Times New Roman" panose="02020603050405020304" pitchFamily="18" charset="0"/>
                  <a:ea typeface="华文中宋" panose="02010600040101010101" pitchFamily="2" charset="-122"/>
                </a:rPr>
                <a:t>位</a:t>
              </a:r>
              <a:endParaRPr kumimoji="1" lang="zh-CN" altLang="en-US" sz="2400">
                <a:latin typeface="Times New Roman" panose="02020603050405020304" pitchFamily="18" charset="0"/>
                <a:ea typeface="华文中宋" panose="02010600040101010101" pitchFamily="2" charset="-122"/>
              </a:endParaRPr>
            </a:p>
          </p:txBody>
        </p:sp>
        <p:sp>
          <p:nvSpPr>
            <p:cNvPr id="12" name="Text Box 33"/>
            <p:cNvSpPr txBox="1">
              <a:spLocks noChangeArrowheads="1"/>
            </p:cNvSpPr>
            <p:nvPr/>
          </p:nvSpPr>
          <p:spPr bwMode="auto">
            <a:xfrm>
              <a:off x="3651" y="1509"/>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i="1">
                  <a:latin typeface="Times New Roman" panose="02020603050405020304" pitchFamily="18" charset="0"/>
                  <a:ea typeface="华文中宋" panose="02010600040101010101" pitchFamily="2" charset="-122"/>
                </a:rPr>
                <a:t>k</a:t>
              </a:r>
              <a:endParaRPr kumimoji="1" lang="en-US" altLang="zh-CN" sz="2400">
                <a:latin typeface="Times New Roman" panose="02020603050405020304" pitchFamily="18" charset="0"/>
                <a:ea typeface="华文中宋" panose="02010600040101010101" pitchFamily="2" charset="-122"/>
              </a:endParaRPr>
            </a:p>
          </p:txBody>
        </p:sp>
      </p:grpSp>
      <p:sp>
        <p:nvSpPr>
          <p:cNvPr id="14" name="矩形 13">
            <a:extLst>
              <a:ext uri="{FF2B5EF4-FFF2-40B4-BE49-F238E27FC236}">
                <a16:creationId xmlns:a16="http://schemas.microsoft.com/office/drawing/2014/main" id="{FE6CB4AF-B8B1-4104-B587-A9D83642686E}"/>
              </a:ext>
            </a:extLst>
          </p:cNvPr>
          <p:cNvSpPr/>
          <p:nvPr/>
        </p:nvSpPr>
        <p:spPr>
          <a:xfrm>
            <a:off x="971550" y="5203945"/>
            <a:ext cx="5644494" cy="461665"/>
          </a:xfrm>
          <a:prstGeom prst="rect">
            <a:avLst/>
          </a:prstGeom>
        </p:spPr>
        <p:txBody>
          <a:bodyPr wrap="none">
            <a:spAutoFit/>
          </a:bodyPr>
          <a:lstStyle/>
          <a:p>
            <a:pPr marL="342900" indent="-342900">
              <a:buFont typeface="Wingdings" panose="05000000000000000000" pitchFamily="2" charset="2"/>
              <a:buChar char="Ø"/>
            </a:pPr>
            <a:r>
              <a:rPr lang="zh-CN" altLang="en-US" sz="2400" dirty="0">
                <a:latin typeface="Times New Roman" panose="02020603050405020304" pitchFamily="18" charset="0"/>
                <a:ea typeface="华文中宋" panose="02010600040101010101" pitchFamily="2" charset="-122"/>
              </a:rPr>
              <a:t>组相联映像的低</a:t>
            </a:r>
            <a:r>
              <a:rPr lang="en-US" altLang="zh-CN" sz="2400" i="1" dirty="0">
                <a:solidFill>
                  <a:srgbClr val="C00000"/>
                </a:solidFill>
                <a:latin typeface="Times New Roman" panose="02020603050405020304" pitchFamily="18" charset="0"/>
                <a:ea typeface="华文中宋" panose="02010600040101010101" pitchFamily="2" charset="-122"/>
              </a:rPr>
              <a:t>g</a:t>
            </a:r>
            <a:r>
              <a:rPr lang="zh-CN" altLang="en-US" sz="2400" dirty="0">
                <a:latin typeface="Times New Roman" panose="02020603050405020304" pitchFamily="18" charset="0"/>
                <a:ea typeface="华文中宋" panose="02010600040101010101" pitchFamily="2" charset="-122"/>
              </a:rPr>
              <a:t>位也称为索引</a:t>
            </a:r>
            <a:r>
              <a:rPr lang="en-US" altLang="zh-CN" sz="2400" dirty="0">
                <a:latin typeface="Times New Roman" panose="02020603050405020304" pitchFamily="18" charset="0"/>
                <a:ea typeface="华文中宋" panose="02010600040101010101" pitchFamily="2" charset="-122"/>
              </a:rPr>
              <a:t>(Index)</a:t>
            </a:r>
            <a:endParaRPr lang="zh-CN" altLang="en-US" sz="2400" dirty="0">
              <a:latin typeface="Times New Roman" panose="02020603050405020304" pitchFamily="18" charset="0"/>
              <a:ea typeface="华文中宋" panose="02010600040101010101" pitchFamily="2" charset="-122"/>
            </a:endParaRPr>
          </a:p>
        </p:txBody>
      </p:sp>
      <p:sp>
        <p:nvSpPr>
          <p:cNvPr id="15" name="Text Box 15">
            <a:extLst>
              <a:ext uri="{FF2B5EF4-FFF2-40B4-BE49-F238E27FC236}">
                <a16:creationId xmlns:a16="http://schemas.microsoft.com/office/drawing/2014/main" id="{81CECE56-00DE-436E-8747-FF0C2114976E}"/>
              </a:ext>
            </a:extLst>
          </p:cNvPr>
          <p:cNvSpPr txBox="1">
            <a:spLocks noChangeArrowheads="1"/>
          </p:cNvSpPr>
          <p:nvPr/>
        </p:nvSpPr>
        <p:spPr bwMode="auto">
          <a:xfrm>
            <a:off x="971550" y="3907061"/>
            <a:ext cx="1737991"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zh-CN" altLang="en-US" sz="2400" dirty="0">
                <a:latin typeface="Times New Roman" panose="02020603050405020304" pitchFamily="18" charset="0"/>
                <a:ea typeface="华文中宋" panose="02010600040101010101" pitchFamily="2" charset="-122"/>
              </a:rPr>
              <a:t>块地址</a:t>
            </a:r>
            <a:r>
              <a:rPr kumimoji="1" lang="en-US" altLang="zh-CN" sz="2400" i="1" dirty="0" err="1">
                <a:latin typeface="Times New Roman" panose="02020603050405020304" pitchFamily="18" charset="0"/>
                <a:ea typeface="华文中宋" panose="02010600040101010101" pitchFamily="2" charset="-122"/>
              </a:rPr>
              <a:t>i</a:t>
            </a:r>
            <a:r>
              <a:rPr kumimoji="1" lang="zh-CN" altLang="en-US" sz="2400" dirty="0">
                <a:latin typeface="Times New Roman" panose="02020603050405020304" pitchFamily="18" charset="0"/>
                <a:ea typeface="华文中宋" panose="02010600040101010101" pitchFamily="2" charset="-122"/>
              </a:rPr>
              <a:t>：</a:t>
            </a:r>
          </a:p>
        </p:txBody>
      </p:sp>
      <p:sp>
        <p:nvSpPr>
          <p:cNvPr id="13" name="日期占位符 12">
            <a:extLst>
              <a:ext uri="{FF2B5EF4-FFF2-40B4-BE49-F238E27FC236}">
                <a16:creationId xmlns:a16="http://schemas.microsoft.com/office/drawing/2014/main" id="{771CB43B-361C-FA6C-B485-EE8B0AE871EC}"/>
              </a:ext>
            </a:extLst>
          </p:cNvPr>
          <p:cNvSpPr>
            <a:spLocks noGrp="1"/>
          </p:cNvSpPr>
          <p:nvPr>
            <p:ph type="dt" sz="half" idx="10"/>
          </p:nvPr>
        </p:nvSpPr>
        <p:spPr/>
        <p:txBody>
          <a:bodyPr/>
          <a:lstStyle/>
          <a:p>
            <a:pPr>
              <a:defRPr/>
            </a:pPr>
            <a:fld id="{36EDBCA3-C050-410D-A212-412125045DCF}" type="datetime1">
              <a:rPr lang="zh-CN" altLang="en-US" smtClean="0"/>
              <a:t>2025/10/28</a:t>
            </a:fld>
            <a:endParaRPr lang="en-US" altLang="zh-CN"/>
          </a:p>
        </p:txBody>
      </p:sp>
      <p:sp>
        <p:nvSpPr>
          <p:cNvPr id="16" name="页脚占位符 15">
            <a:extLst>
              <a:ext uri="{FF2B5EF4-FFF2-40B4-BE49-F238E27FC236}">
                <a16:creationId xmlns:a16="http://schemas.microsoft.com/office/drawing/2014/main" id="{343C8FA0-2C82-C685-2897-BF4F72E31CB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17" name="灯片编号占位符 16">
            <a:extLst>
              <a:ext uri="{FF2B5EF4-FFF2-40B4-BE49-F238E27FC236}">
                <a16:creationId xmlns:a16="http://schemas.microsoft.com/office/drawing/2014/main" id="{FD7343A5-0921-E78F-BEE5-607F21EB2006}"/>
              </a:ext>
            </a:extLst>
          </p:cNvPr>
          <p:cNvSpPr>
            <a:spLocks noGrp="1"/>
          </p:cNvSpPr>
          <p:nvPr>
            <p:ph type="sldNum" sz="quarter" idx="12"/>
          </p:nvPr>
        </p:nvSpPr>
        <p:spPr/>
        <p:txBody>
          <a:bodyPr/>
          <a:lstStyle/>
          <a:p>
            <a:pPr>
              <a:defRPr/>
            </a:pPr>
            <a:fld id="{65B7EA61-351E-4105-9AD9-76D38C6E9934}" type="slidenum">
              <a:rPr lang="zh-CN" altLang="en-US" smtClean="0"/>
              <a:t>58</a:t>
            </a:fld>
            <a:endParaRPr lang="en-US" altLang="zh-CN"/>
          </a:p>
        </p:txBody>
      </p:sp>
    </p:spTree>
    <p:extLst>
      <p:ext uri="{BB962C8B-B14F-4D97-AF65-F5344CB8AC3E}">
        <p14:creationId xmlns:p14="http://schemas.microsoft.com/office/powerpoint/2010/main" val="215942799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9"/>
          <p:cNvSpPr>
            <a:spLocks noChangeArrowheads="1"/>
          </p:cNvSpPr>
          <p:nvPr/>
        </p:nvSpPr>
        <p:spPr bwMode="auto">
          <a:xfrm>
            <a:off x="1258888" y="2603004"/>
            <a:ext cx="6629400" cy="1828800"/>
          </a:xfrm>
          <a:prstGeom prst="rect">
            <a:avLst/>
          </a:prstGeom>
          <a:solidFill>
            <a:srgbClr val="FEF3C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10243" name="Text Box 2"/>
          <p:cNvSpPr txBox="1">
            <a:spLocks noChangeArrowheads="1"/>
          </p:cNvSpPr>
          <p:nvPr/>
        </p:nvSpPr>
        <p:spPr bwMode="auto">
          <a:xfrm>
            <a:off x="684213" y="5084763"/>
            <a:ext cx="67056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marL="342900" indent="-342900" eaLnBrk="1" hangingPunct="1">
              <a:lnSpc>
                <a:spcPct val="130000"/>
              </a:lnSpc>
              <a:buSzPct val="100000"/>
              <a:buFont typeface="Wingdings" panose="05000000000000000000" pitchFamily="2" charset="2"/>
              <a:buChar char="Ø"/>
            </a:pPr>
            <a:r>
              <a:rPr kumimoji="1" lang="zh-CN" altLang="en-US" sz="2400" dirty="0">
                <a:latin typeface="Times New Roman" panose="02020603050405020304" pitchFamily="18" charset="0"/>
                <a:ea typeface="华文中宋" panose="02010600040101010101" pitchFamily="2" charset="-122"/>
              </a:rPr>
              <a:t>绝大多数计算机的</a:t>
            </a:r>
            <a:r>
              <a:rPr kumimoji="1" lang="en-US" altLang="zh-CN" sz="2400" dirty="0">
                <a:latin typeface="Times New Roman" panose="02020603050405020304" pitchFamily="18" charset="0"/>
                <a:ea typeface="华文中宋" panose="02010600040101010101" pitchFamily="2" charset="-122"/>
              </a:rPr>
              <a:t>Cache: </a:t>
            </a:r>
            <a:r>
              <a:rPr kumimoji="1" lang="en-US" altLang="zh-CN" sz="2400" i="1" dirty="0">
                <a:latin typeface="Times New Roman" panose="02020603050405020304" pitchFamily="18" charset="0"/>
                <a:ea typeface="华文中宋" panose="02010600040101010101" pitchFamily="2" charset="-122"/>
              </a:rPr>
              <a:t>n </a:t>
            </a:r>
            <a:r>
              <a:rPr kumimoji="1" lang="en-US" altLang="zh-CN" sz="2400" dirty="0">
                <a:latin typeface="Times New Roman" panose="02020603050405020304" pitchFamily="18" charset="0"/>
                <a:ea typeface="华文中宋" panose="02010600040101010101" pitchFamily="2" charset="-122"/>
              </a:rPr>
              <a:t>≤4</a:t>
            </a:r>
            <a:br>
              <a:rPr kumimoji="1" lang="en-US" altLang="zh-CN" sz="2400" dirty="0">
                <a:latin typeface="Times New Roman" panose="02020603050405020304" pitchFamily="18" charset="0"/>
                <a:ea typeface="华文中宋" panose="02010600040101010101" pitchFamily="2" charset="-122"/>
              </a:rPr>
            </a:br>
            <a:r>
              <a:rPr kumimoji="1" lang="en-US" altLang="zh-CN" sz="2400" dirty="0">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想一想：相联度一定是越大越好？</a:t>
            </a:r>
            <a:endParaRPr kumimoji="1" lang="zh-CN" altLang="en-US" sz="2400" b="0" dirty="0">
              <a:latin typeface="Times New Roman" panose="02020603050405020304" pitchFamily="18" charset="0"/>
              <a:ea typeface="华文中宋" panose="02010600040101010101" pitchFamily="2" charset="-122"/>
            </a:endParaRPr>
          </a:p>
        </p:txBody>
      </p:sp>
      <p:sp>
        <p:nvSpPr>
          <p:cNvPr id="10244" name="Text Box 3"/>
          <p:cNvSpPr txBox="1">
            <a:spLocks noChangeArrowheads="1"/>
          </p:cNvSpPr>
          <p:nvPr/>
        </p:nvSpPr>
        <p:spPr bwMode="auto">
          <a:xfrm>
            <a:off x="648904" y="826282"/>
            <a:ext cx="8027551"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marL="342900" indent="-342900" eaLnBrk="1" hangingPunct="1">
              <a:spcBef>
                <a:spcPct val="50000"/>
              </a:spcBef>
              <a:buSzPct val="100000"/>
              <a:buFont typeface="Wingdings" panose="05000000000000000000" pitchFamily="2" charset="2"/>
              <a:buChar char="Ø"/>
            </a:pPr>
            <a:r>
              <a:rPr kumimoji="1" lang="en-US" altLang="zh-CN" sz="2400" i="1" dirty="0">
                <a:solidFill>
                  <a:srgbClr val="C00000"/>
                </a:solidFill>
                <a:latin typeface="Times New Roman" panose="02020603050405020304" pitchFamily="18" charset="0"/>
                <a:ea typeface="华文中宋" panose="02010600040101010101" pitchFamily="2" charset="-122"/>
              </a:rPr>
              <a:t>n </a:t>
            </a:r>
            <a:r>
              <a:rPr kumimoji="1" lang="zh-CN" altLang="en-US" sz="2400" dirty="0">
                <a:solidFill>
                  <a:srgbClr val="C00000"/>
                </a:solidFill>
                <a:latin typeface="Times New Roman" panose="02020603050405020304" pitchFamily="18" charset="0"/>
                <a:ea typeface="华文中宋" panose="02010600040101010101" pitchFamily="2" charset="-122"/>
              </a:rPr>
              <a:t>路组相联：</a:t>
            </a:r>
            <a:r>
              <a:rPr kumimoji="1" lang="zh-CN" altLang="en-US" sz="2400" dirty="0">
                <a:latin typeface="Times New Roman" panose="02020603050405020304" pitchFamily="18" charset="0"/>
                <a:ea typeface="华文中宋" panose="02010600040101010101" pitchFamily="2" charset="-122"/>
              </a:rPr>
              <a:t>每组中有</a:t>
            </a:r>
            <a:r>
              <a:rPr kumimoji="1" lang="en-US" altLang="zh-CN" sz="2400" i="1" dirty="0">
                <a:latin typeface="Times New Roman" panose="02020603050405020304" pitchFamily="18" charset="0"/>
                <a:ea typeface="华文中宋" panose="02010600040101010101" pitchFamily="2" charset="-122"/>
              </a:rPr>
              <a:t>n </a:t>
            </a:r>
            <a:r>
              <a:rPr kumimoji="1" lang="zh-CN" altLang="en-US" sz="2400" dirty="0">
                <a:latin typeface="Times New Roman" panose="02020603050405020304" pitchFamily="18" charset="0"/>
                <a:ea typeface="华文中宋" panose="02010600040101010101" pitchFamily="2" charset="-122"/>
              </a:rPr>
              <a:t>个块</a:t>
            </a:r>
            <a:r>
              <a:rPr kumimoji="1" lang="en-US" altLang="zh-CN" sz="2400" dirty="0">
                <a:latin typeface="Times New Roman" panose="02020603050405020304" pitchFamily="18" charset="0"/>
                <a:ea typeface="华文中宋" panose="02010600040101010101" pitchFamily="2" charset="-122"/>
              </a:rPr>
              <a:t>(</a:t>
            </a:r>
            <a:r>
              <a:rPr kumimoji="1" lang="en-US" altLang="zh-CN" sz="2400" i="1" dirty="0">
                <a:latin typeface="Times New Roman" panose="02020603050405020304" pitchFamily="18" charset="0"/>
                <a:ea typeface="华文中宋" panose="02010600040101010101" pitchFamily="2" charset="-122"/>
              </a:rPr>
              <a:t>n</a:t>
            </a:r>
            <a:r>
              <a:rPr kumimoji="1" lang="zh-CN" altLang="en-US" sz="2400" dirty="0">
                <a:latin typeface="Times New Roman" panose="02020603050405020304" pitchFamily="18" charset="0"/>
                <a:ea typeface="华文中宋" panose="02010600040101010101" pitchFamily="2" charset="-122"/>
              </a:rPr>
              <a:t>＝</a:t>
            </a:r>
            <a:r>
              <a:rPr kumimoji="1" lang="en-US" altLang="zh-CN" sz="2400" i="1" dirty="0">
                <a:latin typeface="Times New Roman" panose="02020603050405020304" pitchFamily="18" charset="0"/>
                <a:ea typeface="华文中宋" panose="02010600040101010101" pitchFamily="2" charset="-122"/>
              </a:rPr>
              <a:t>M</a:t>
            </a:r>
            <a:r>
              <a:rPr kumimoji="1" lang="en-US" altLang="zh-CN" sz="2400" dirty="0">
                <a:latin typeface="Times New Roman" panose="02020603050405020304" pitchFamily="18" charset="0"/>
                <a:ea typeface="华文中宋" panose="02010600040101010101" pitchFamily="2" charset="-122"/>
              </a:rPr>
              <a:t>/</a:t>
            </a:r>
            <a:r>
              <a:rPr kumimoji="1" lang="en-US" altLang="zh-CN" sz="2400" i="1" dirty="0">
                <a:latin typeface="Times New Roman" panose="02020603050405020304" pitchFamily="18" charset="0"/>
                <a:ea typeface="华文中宋" panose="02010600040101010101" pitchFamily="2" charset="-122"/>
              </a:rPr>
              <a:t>G </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a:t>
            </a:r>
            <a:r>
              <a:rPr kumimoji="1" lang="en-US" altLang="zh-CN" sz="2400" i="1" dirty="0">
                <a:latin typeface="Times New Roman" panose="02020603050405020304" pitchFamily="18" charset="0"/>
                <a:ea typeface="华文中宋" panose="02010600040101010101" pitchFamily="2" charset="-122"/>
              </a:rPr>
              <a:t>n </a:t>
            </a:r>
            <a:r>
              <a:rPr kumimoji="1" lang="zh-CN" altLang="en-US" sz="2400" dirty="0">
                <a:latin typeface="Times New Roman" panose="02020603050405020304" pitchFamily="18" charset="0"/>
                <a:ea typeface="华文中宋" panose="02010600040101010101" pitchFamily="2" charset="-122"/>
              </a:rPr>
              <a:t>称为</a:t>
            </a:r>
            <a:r>
              <a:rPr kumimoji="1" lang="zh-CN" altLang="en-US" sz="2400" dirty="0">
                <a:solidFill>
                  <a:srgbClr val="C00000"/>
                </a:solidFill>
                <a:latin typeface="Times New Roman" panose="02020603050405020304" pitchFamily="18" charset="0"/>
                <a:ea typeface="华文中宋" panose="02010600040101010101" pitchFamily="2" charset="-122"/>
              </a:rPr>
              <a:t>相联度</a:t>
            </a:r>
            <a:endParaRPr lang="en-US" altLang="zh-CN" sz="2400" dirty="0">
              <a:solidFill>
                <a:srgbClr val="C00000"/>
              </a:solidFill>
              <a:latin typeface="Times New Roman" panose="02020603050405020304" pitchFamily="18" charset="0"/>
              <a:ea typeface="华文中宋" panose="02010600040101010101" pitchFamily="2" charset="-122"/>
            </a:endParaRPr>
          </a:p>
          <a:p>
            <a:pPr marL="342900" indent="-342900" eaLnBrk="1" hangingPunct="1">
              <a:spcBef>
                <a:spcPct val="50000"/>
              </a:spcBef>
              <a:buSzPct val="100000"/>
              <a:buFont typeface="Wingdings" panose="05000000000000000000" pitchFamily="2" charset="2"/>
              <a:buChar char="Ø"/>
            </a:pPr>
            <a:r>
              <a:rPr kumimoji="1" lang="zh-CN" altLang="en-US" sz="2400" dirty="0">
                <a:latin typeface="Times New Roman" panose="02020603050405020304" pitchFamily="18" charset="0"/>
                <a:ea typeface="华文中宋" panose="02010600040101010101" pitchFamily="2" charset="-122"/>
              </a:rPr>
              <a:t>相联度越高，</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空间的利用率就越高，块冲突概率就越低，失效率也就越低。 </a:t>
            </a:r>
          </a:p>
        </p:txBody>
      </p:sp>
      <p:sp>
        <p:nvSpPr>
          <p:cNvPr id="10245" name="Line 5"/>
          <p:cNvSpPr>
            <a:spLocks noChangeShapeType="1"/>
          </p:cNvSpPr>
          <p:nvPr/>
        </p:nvSpPr>
        <p:spPr bwMode="auto">
          <a:xfrm>
            <a:off x="1258888" y="3060204"/>
            <a:ext cx="662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6" name="Line 6"/>
          <p:cNvSpPr>
            <a:spLocks noChangeShapeType="1"/>
          </p:cNvSpPr>
          <p:nvPr/>
        </p:nvSpPr>
        <p:spPr bwMode="auto">
          <a:xfrm>
            <a:off x="1258888" y="3517404"/>
            <a:ext cx="662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7" name="Line 7"/>
          <p:cNvSpPr>
            <a:spLocks noChangeShapeType="1"/>
          </p:cNvSpPr>
          <p:nvPr/>
        </p:nvSpPr>
        <p:spPr bwMode="auto">
          <a:xfrm>
            <a:off x="1258888" y="3974604"/>
            <a:ext cx="6629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8" name="Line 8"/>
          <p:cNvSpPr>
            <a:spLocks noChangeShapeType="1"/>
          </p:cNvSpPr>
          <p:nvPr/>
        </p:nvSpPr>
        <p:spPr bwMode="auto">
          <a:xfrm>
            <a:off x="1335088" y="4431804"/>
            <a:ext cx="6400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49" name="Line 10"/>
          <p:cNvSpPr>
            <a:spLocks noChangeShapeType="1"/>
          </p:cNvSpPr>
          <p:nvPr/>
        </p:nvSpPr>
        <p:spPr bwMode="auto">
          <a:xfrm>
            <a:off x="3240088" y="2564904"/>
            <a:ext cx="0" cy="1866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0" name="Line 11"/>
          <p:cNvSpPr>
            <a:spLocks noChangeShapeType="1"/>
          </p:cNvSpPr>
          <p:nvPr/>
        </p:nvSpPr>
        <p:spPr bwMode="auto">
          <a:xfrm>
            <a:off x="5526088" y="2564904"/>
            <a:ext cx="0" cy="1866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1" name="Text Box 12"/>
          <p:cNvSpPr txBox="1">
            <a:spLocks noChangeArrowheads="1"/>
          </p:cNvSpPr>
          <p:nvPr/>
        </p:nvSpPr>
        <p:spPr bwMode="auto">
          <a:xfrm>
            <a:off x="1716088" y="3060204"/>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zh-CN" altLang="en-US" sz="2400">
                <a:solidFill>
                  <a:srgbClr val="003366"/>
                </a:solidFill>
                <a:latin typeface="Times New Roman" panose="02020603050405020304" pitchFamily="18" charset="0"/>
                <a:ea typeface="华文中宋" panose="02010600040101010101" pitchFamily="2" charset="-122"/>
              </a:rPr>
              <a:t>全相联</a:t>
            </a:r>
          </a:p>
        </p:txBody>
      </p:sp>
      <p:sp>
        <p:nvSpPr>
          <p:cNvPr id="10252" name="Text Box 13"/>
          <p:cNvSpPr txBox="1">
            <a:spLocks noChangeArrowheads="1"/>
          </p:cNvSpPr>
          <p:nvPr/>
        </p:nvSpPr>
        <p:spPr bwMode="auto">
          <a:xfrm>
            <a:off x="1563688" y="3517404"/>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zh-CN" altLang="en-US" sz="2400">
                <a:solidFill>
                  <a:srgbClr val="003366"/>
                </a:solidFill>
                <a:latin typeface="Times New Roman" panose="02020603050405020304" pitchFamily="18" charset="0"/>
                <a:ea typeface="华文中宋" panose="02010600040101010101" pitchFamily="2" charset="-122"/>
              </a:rPr>
              <a:t>直接映象</a:t>
            </a:r>
          </a:p>
        </p:txBody>
      </p:sp>
      <p:sp>
        <p:nvSpPr>
          <p:cNvPr id="10253" name="Text Box 14"/>
          <p:cNvSpPr txBox="1">
            <a:spLocks noChangeArrowheads="1"/>
          </p:cNvSpPr>
          <p:nvPr/>
        </p:nvSpPr>
        <p:spPr bwMode="auto">
          <a:xfrm>
            <a:off x="1411288" y="3974604"/>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zh-CN" altLang="en-US" sz="2400">
                <a:solidFill>
                  <a:srgbClr val="003366"/>
                </a:solidFill>
                <a:latin typeface="Times New Roman" panose="02020603050405020304" pitchFamily="18" charset="0"/>
                <a:ea typeface="华文中宋" panose="02010600040101010101" pitchFamily="2" charset="-122"/>
              </a:rPr>
              <a:t>　组相联</a:t>
            </a:r>
          </a:p>
        </p:txBody>
      </p:sp>
      <p:sp>
        <p:nvSpPr>
          <p:cNvPr id="10254" name="Text Box 15"/>
          <p:cNvSpPr txBox="1">
            <a:spLocks noChangeArrowheads="1"/>
          </p:cNvSpPr>
          <p:nvPr/>
        </p:nvSpPr>
        <p:spPr bwMode="auto">
          <a:xfrm>
            <a:off x="3640138" y="2603004"/>
            <a:ext cx="1581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i="1" dirty="0">
                <a:solidFill>
                  <a:schemeClr val="accent2"/>
                </a:solidFill>
                <a:latin typeface="Times New Roman" panose="02020603050405020304" pitchFamily="18" charset="0"/>
                <a:ea typeface="华文中宋" panose="02010600040101010101" pitchFamily="2" charset="-122"/>
              </a:rPr>
              <a:t>n </a:t>
            </a:r>
            <a:r>
              <a:rPr kumimoji="1" lang="en-US" altLang="zh-CN" sz="2400" dirty="0">
                <a:solidFill>
                  <a:srgbClr val="003366"/>
                </a:solidFill>
                <a:latin typeface="Times New Roman" panose="02020603050405020304" pitchFamily="18" charset="0"/>
                <a:ea typeface="华文中宋" panose="02010600040101010101" pitchFamily="2" charset="-122"/>
              </a:rPr>
              <a:t>(</a:t>
            </a:r>
            <a:r>
              <a:rPr kumimoji="1" lang="zh-CN" altLang="en-US" sz="2400" dirty="0">
                <a:solidFill>
                  <a:srgbClr val="003366"/>
                </a:solidFill>
                <a:latin typeface="Times New Roman" panose="02020603050405020304" pitchFamily="18" charset="0"/>
                <a:ea typeface="华文中宋" panose="02010600040101010101" pitchFamily="2" charset="-122"/>
              </a:rPr>
              <a:t>路数</a:t>
            </a:r>
            <a:r>
              <a:rPr kumimoji="1" lang="en-US" altLang="zh-CN" sz="2400" dirty="0">
                <a:solidFill>
                  <a:srgbClr val="003366"/>
                </a:solidFill>
                <a:latin typeface="Times New Roman" panose="02020603050405020304" pitchFamily="18" charset="0"/>
                <a:ea typeface="华文中宋" panose="02010600040101010101" pitchFamily="2" charset="-122"/>
              </a:rPr>
              <a:t>)</a:t>
            </a:r>
          </a:p>
        </p:txBody>
      </p:sp>
      <p:sp>
        <p:nvSpPr>
          <p:cNvPr id="10255" name="Text Box 16"/>
          <p:cNvSpPr txBox="1">
            <a:spLocks noChangeArrowheads="1"/>
          </p:cNvSpPr>
          <p:nvPr/>
        </p:nvSpPr>
        <p:spPr bwMode="auto">
          <a:xfrm>
            <a:off x="6154738" y="2603004"/>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i="1">
                <a:solidFill>
                  <a:schemeClr val="accent2"/>
                </a:solidFill>
                <a:latin typeface="Times New Roman" panose="02020603050405020304" pitchFamily="18" charset="0"/>
                <a:ea typeface="华文中宋" panose="02010600040101010101" pitchFamily="2" charset="-122"/>
              </a:rPr>
              <a:t>G</a:t>
            </a:r>
            <a:r>
              <a:rPr kumimoji="1" lang="en-US" altLang="zh-CN" sz="2400">
                <a:solidFill>
                  <a:srgbClr val="003366"/>
                </a:solidFill>
                <a:latin typeface="Times New Roman" panose="02020603050405020304" pitchFamily="18" charset="0"/>
                <a:ea typeface="华文中宋" panose="02010600040101010101" pitchFamily="2" charset="-122"/>
              </a:rPr>
              <a:t> (</a:t>
            </a:r>
            <a:r>
              <a:rPr kumimoji="1" lang="zh-CN" altLang="en-US" sz="2400">
                <a:solidFill>
                  <a:srgbClr val="003366"/>
                </a:solidFill>
                <a:latin typeface="Times New Roman" panose="02020603050405020304" pitchFamily="18" charset="0"/>
                <a:ea typeface="华文中宋" panose="02010600040101010101" pitchFamily="2" charset="-122"/>
              </a:rPr>
              <a:t>组数</a:t>
            </a:r>
            <a:r>
              <a:rPr kumimoji="1" lang="en-US" altLang="zh-CN" sz="2400">
                <a:solidFill>
                  <a:srgbClr val="003366"/>
                </a:solidFill>
                <a:latin typeface="Times New Roman" panose="02020603050405020304" pitchFamily="18" charset="0"/>
                <a:ea typeface="华文中宋" panose="02010600040101010101" pitchFamily="2" charset="-122"/>
              </a:rPr>
              <a:t>)</a:t>
            </a:r>
          </a:p>
        </p:txBody>
      </p:sp>
      <p:sp>
        <p:nvSpPr>
          <p:cNvPr id="10256" name="Text Box 17"/>
          <p:cNvSpPr txBox="1">
            <a:spLocks noChangeArrowheads="1"/>
          </p:cNvSpPr>
          <p:nvPr/>
        </p:nvSpPr>
        <p:spPr bwMode="auto">
          <a:xfrm>
            <a:off x="4230688" y="3060204"/>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i="1">
                <a:solidFill>
                  <a:schemeClr val="accent2"/>
                </a:solidFill>
                <a:latin typeface="Times New Roman" panose="02020603050405020304" pitchFamily="18" charset="0"/>
                <a:ea typeface="华文中宋" panose="02010600040101010101" pitchFamily="2" charset="-122"/>
              </a:rPr>
              <a:t>M</a:t>
            </a:r>
            <a:endParaRPr kumimoji="1" lang="en-US" altLang="zh-CN" sz="2400" b="0">
              <a:solidFill>
                <a:schemeClr val="accent2"/>
              </a:solidFill>
              <a:latin typeface="Times New Roman" panose="02020603050405020304" pitchFamily="18" charset="0"/>
              <a:ea typeface="华文中宋" panose="02010600040101010101" pitchFamily="2" charset="-122"/>
            </a:endParaRPr>
          </a:p>
        </p:txBody>
      </p:sp>
      <p:sp>
        <p:nvSpPr>
          <p:cNvPr id="10257" name="Text Box 18"/>
          <p:cNvSpPr txBox="1">
            <a:spLocks noChangeArrowheads="1"/>
          </p:cNvSpPr>
          <p:nvPr/>
        </p:nvSpPr>
        <p:spPr bwMode="auto">
          <a:xfrm>
            <a:off x="6440488" y="3498354"/>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i="1">
                <a:solidFill>
                  <a:schemeClr val="accent2"/>
                </a:solidFill>
                <a:latin typeface="Times New Roman" panose="02020603050405020304" pitchFamily="18" charset="0"/>
                <a:ea typeface="华文中宋" panose="02010600040101010101" pitchFamily="2" charset="-122"/>
              </a:rPr>
              <a:t>M</a:t>
            </a:r>
            <a:endParaRPr kumimoji="1" lang="en-US" altLang="zh-CN" sz="2400" b="0">
              <a:solidFill>
                <a:schemeClr val="accent2"/>
              </a:solidFill>
              <a:latin typeface="Times New Roman" panose="02020603050405020304" pitchFamily="18" charset="0"/>
              <a:ea typeface="华文中宋" panose="02010600040101010101" pitchFamily="2" charset="-122"/>
            </a:endParaRPr>
          </a:p>
        </p:txBody>
      </p:sp>
      <p:sp>
        <p:nvSpPr>
          <p:cNvPr id="10258" name="Text Box 19"/>
          <p:cNvSpPr txBox="1">
            <a:spLocks noChangeArrowheads="1"/>
          </p:cNvSpPr>
          <p:nvPr/>
        </p:nvSpPr>
        <p:spPr bwMode="auto">
          <a:xfrm>
            <a:off x="4287838" y="3517404"/>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solidFill>
                  <a:schemeClr val="accent2"/>
                </a:solidFill>
                <a:latin typeface="Times New Roman" panose="02020603050405020304" pitchFamily="18" charset="0"/>
                <a:ea typeface="华文中宋" panose="02010600040101010101" pitchFamily="2" charset="-122"/>
              </a:rPr>
              <a:t>1</a:t>
            </a:r>
            <a:endParaRPr kumimoji="1" lang="en-US" altLang="zh-CN" sz="2400" b="0">
              <a:solidFill>
                <a:schemeClr val="accent2"/>
              </a:solidFill>
              <a:latin typeface="Times New Roman" panose="02020603050405020304" pitchFamily="18" charset="0"/>
              <a:ea typeface="华文中宋" panose="02010600040101010101" pitchFamily="2" charset="-122"/>
            </a:endParaRPr>
          </a:p>
        </p:txBody>
      </p:sp>
      <p:sp>
        <p:nvSpPr>
          <p:cNvPr id="10259" name="Text Box 20"/>
          <p:cNvSpPr txBox="1">
            <a:spLocks noChangeArrowheads="1"/>
          </p:cNvSpPr>
          <p:nvPr/>
        </p:nvSpPr>
        <p:spPr bwMode="auto">
          <a:xfrm>
            <a:off x="6478588" y="3060204"/>
            <a:ext cx="76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a:solidFill>
                  <a:schemeClr val="accent2"/>
                </a:solidFill>
                <a:latin typeface="Times New Roman" panose="02020603050405020304" pitchFamily="18" charset="0"/>
                <a:ea typeface="华文中宋" panose="02010600040101010101" pitchFamily="2" charset="-122"/>
              </a:rPr>
              <a:t>1</a:t>
            </a:r>
          </a:p>
        </p:txBody>
      </p:sp>
      <p:sp>
        <p:nvSpPr>
          <p:cNvPr id="10260" name="Text Box 21"/>
          <p:cNvSpPr txBox="1">
            <a:spLocks noChangeArrowheads="1"/>
          </p:cNvSpPr>
          <p:nvPr/>
        </p:nvSpPr>
        <p:spPr bwMode="auto">
          <a:xfrm>
            <a:off x="3773488" y="3993654"/>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i="1">
                <a:solidFill>
                  <a:schemeClr val="accent2"/>
                </a:solidFill>
                <a:latin typeface="Times New Roman" panose="02020603050405020304" pitchFamily="18" charset="0"/>
                <a:ea typeface="华文中宋" panose="02010600040101010101" pitchFamily="2" charset="-122"/>
              </a:rPr>
              <a:t>1</a:t>
            </a:r>
            <a:r>
              <a:rPr kumimoji="1" lang="zh-CN" altLang="en-US" sz="2400" i="1">
                <a:solidFill>
                  <a:schemeClr val="accent2"/>
                </a:solidFill>
                <a:latin typeface="Times New Roman" panose="02020603050405020304" pitchFamily="18" charset="0"/>
                <a:ea typeface="华文中宋" panose="02010600040101010101" pitchFamily="2" charset="-122"/>
              </a:rPr>
              <a:t>＜</a:t>
            </a:r>
            <a:r>
              <a:rPr kumimoji="1" lang="en-US" altLang="zh-CN" sz="2400" i="1">
                <a:solidFill>
                  <a:schemeClr val="accent2"/>
                </a:solidFill>
                <a:latin typeface="Times New Roman" panose="02020603050405020304" pitchFamily="18" charset="0"/>
                <a:ea typeface="华文中宋" panose="02010600040101010101" pitchFamily="2" charset="-122"/>
              </a:rPr>
              <a:t>n</a:t>
            </a:r>
            <a:r>
              <a:rPr kumimoji="1" lang="zh-CN" altLang="en-US" sz="2400" i="1">
                <a:solidFill>
                  <a:schemeClr val="accent2"/>
                </a:solidFill>
                <a:latin typeface="Times New Roman" panose="02020603050405020304" pitchFamily="18" charset="0"/>
                <a:ea typeface="华文中宋" panose="02010600040101010101" pitchFamily="2" charset="-122"/>
              </a:rPr>
              <a:t>＜</a:t>
            </a:r>
            <a:r>
              <a:rPr kumimoji="1" lang="en-US" altLang="zh-CN" sz="2400" i="1">
                <a:solidFill>
                  <a:schemeClr val="accent2"/>
                </a:solidFill>
                <a:latin typeface="Times New Roman" panose="02020603050405020304" pitchFamily="18" charset="0"/>
                <a:ea typeface="华文中宋" panose="02010600040101010101" pitchFamily="2" charset="-122"/>
              </a:rPr>
              <a:t>M</a:t>
            </a:r>
            <a:endParaRPr kumimoji="1" lang="en-US" altLang="zh-CN" sz="2400" b="0">
              <a:solidFill>
                <a:schemeClr val="accent2"/>
              </a:solidFill>
              <a:latin typeface="Times New Roman" panose="02020603050405020304" pitchFamily="18" charset="0"/>
              <a:ea typeface="华文中宋" panose="02010600040101010101" pitchFamily="2" charset="-122"/>
            </a:endParaRPr>
          </a:p>
        </p:txBody>
      </p:sp>
      <p:sp>
        <p:nvSpPr>
          <p:cNvPr id="10261" name="Text Box 22"/>
          <p:cNvSpPr txBox="1">
            <a:spLocks noChangeArrowheads="1"/>
          </p:cNvSpPr>
          <p:nvPr/>
        </p:nvSpPr>
        <p:spPr bwMode="auto">
          <a:xfrm>
            <a:off x="6002338" y="3993654"/>
            <a:ext cx="160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kumimoji="1" lang="en-US" altLang="zh-CN" sz="2400" i="1">
                <a:solidFill>
                  <a:schemeClr val="accent2"/>
                </a:solidFill>
                <a:latin typeface="Times New Roman" panose="02020603050405020304" pitchFamily="18" charset="0"/>
                <a:ea typeface="华文中宋" panose="02010600040101010101" pitchFamily="2" charset="-122"/>
              </a:rPr>
              <a:t>1</a:t>
            </a:r>
            <a:r>
              <a:rPr kumimoji="1" lang="zh-CN" altLang="en-US" sz="2400" i="1">
                <a:solidFill>
                  <a:schemeClr val="accent2"/>
                </a:solidFill>
                <a:latin typeface="Times New Roman" panose="02020603050405020304" pitchFamily="18" charset="0"/>
                <a:ea typeface="华文中宋" panose="02010600040101010101" pitchFamily="2" charset="-122"/>
              </a:rPr>
              <a:t>＜</a:t>
            </a:r>
            <a:r>
              <a:rPr kumimoji="1" lang="en-US" altLang="zh-CN" sz="2400" i="1">
                <a:solidFill>
                  <a:schemeClr val="accent2"/>
                </a:solidFill>
                <a:latin typeface="Times New Roman" panose="02020603050405020304" pitchFamily="18" charset="0"/>
                <a:ea typeface="华文中宋" panose="02010600040101010101" pitchFamily="2" charset="-122"/>
              </a:rPr>
              <a:t>G</a:t>
            </a:r>
            <a:r>
              <a:rPr kumimoji="1" lang="zh-CN" altLang="en-US" sz="2400" i="1">
                <a:solidFill>
                  <a:schemeClr val="accent2"/>
                </a:solidFill>
                <a:latin typeface="Times New Roman" panose="02020603050405020304" pitchFamily="18" charset="0"/>
                <a:ea typeface="华文中宋" panose="02010600040101010101" pitchFamily="2" charset="-122"/>
              </a:rPr>
              <a:t>＜</a:t>
            </a:r>
            <a:r>
              <a:rPr kumimoji="1" lang="en-US" altLang="zh-CN" sz="2400" i="1">
                <a:solidFill>
                  <a:schemeClr val="accent2"/>
                </a:solidFill>
                <a:latin typeface="Times New Roman" panose="02020603050405020304" pitchFamily="18" charset="0"/>
                <a:ea typeface="华文中宋" panose="02010600040101010101" pitchFamily="2" charset="-122"/>
              </a:rPr>
              <a:t>M</a:t>
            </a:r>
          </a:p>
        </p:txBody>
      </p:sp>
      <p:sp>
        <p:nvSpPr>
          <p:cNvPr id="2" name="日期占位符 1">
            <a:extLst>
              <a:ext uri="{FF2B5EF4-FFF2-40B4-BE49-F238E27FC236}">
                <a16:creationId xmlns:a16="http://schemas.microsoft.com/office/drawing/2014/main" id="{B5775CBF-897E-3180-D927-4A9BEB85796C}"/>
              </a:ext>
            </a:extLst>
          </p:cNvPr>
          <p:cNvSpPr>
            <a:spLocks noGrp="1"/>
          </p:cNvSpPr>
          <p:nvPr>
            <p:ph type="dt" sz="half" idx="10"/>
          </p:nvPr>
        </p:nvSpPr>
        <p:spPr/>
        <p:txBody>
          <a:bodyPr/>
          <a:lstStyle/>
          <a:p>
            <a:pPr>
              <a:defRPr/>
            </a:pPr>
            <a:fld id="{075E4D75-EBE3-44C8-B684-AA8125983DE7}"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EF07548A-67BF-5D72-2283-C1A8FEAF4635}"/>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24114DA-E706-83BE-62B7-90AD2B656E5A}"/>
              </a:ext>
            </a:extLst>
          </p:cNvPr>
          <p:cNvSpPr>
            <a:spLocks noGrp="1"/>
          </p:cNvSpPr>
          <p:nvPr>
            <p:ph type="sldNum" sz="quarter" idx="12"/>
          </p:nvPr>
        </p:nvSpPr>
        <p:spPr/>
        <p:txBody>
          <a:bodyPr/>
          <a:lstStyle/>
          <a:p>
            <a:pPr>
              <a:defRPr/>
            </a:pPr>
            <a:fld id="{65B7EA61-351E-4105-9AD9-76D38C6E9934}" type="slidenum">
              <a:rPr lang="zh-CN" altLang="en-US" smtClean="0"/>
              <a:t>59</a:t>
            </a:fld>
            <a:endParaRPr lang="en-US" altLang="zh-CN"/>
          </a:p>
        </p:txBody>
      </p:sp>
    </p:spTree>
    <p:extLst>
      <p:ext uri="{BB962C8B-B14F-4D97-AF65-F5344CB8AC3E}">
        <p14:creationId xmlns:p14="http://schemas.microsoft.com/office/powerpoint/2010/main" val="18228896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descr="Rectangle: Click to edit Master text styles&#10;Second level&#10;Third level&#10;Fourth level&#10;Fifth level"/>
          <p:cNvSpPr>
            <a:spLocks noGrp="1" noChangeArrowheads="1"/>
          </p:cNvSpPr>
          <p:nvPr>
            <p:ph type="body" sz="half" idx="1"/>
          </p:nvPr>
        </p:nvSpPr>
        <p:spPr>
          <a:xfrm>
            <a:off x="536660" y="884237"/>
            <a:ext cx="8163415" cy="5089525"/>
          </a:xfrm>
        </p:spPr>
        <p:txBody>
          <a:bodyPr/>
          <a:lstStyle/>
          <a:p>
            <a:pPr marL="342000" lvl="1" indent="-342900" eaLnBrk="1" hangingPunct="1">
              <a:lnSpc>
                <a:spcPct val="130000"/>
              </a:lnSpc>
              <a:spcBef>
                <a:spcPct val="0"/>
              </a:spcBef>
              <a:buFont typeface="Wingdings" panose="05000000000000000000" pitchFamily="2" charset="2"/>
              <a:buChar char="Ø"/>
            </a:pPr>
            <a:r>
              <a:rPr kumimoji="1" lang="zh-CN" altLang="en-US" sz="2400" b="1" dirty="0">
                <a:latin typeface="Times New Roman" panose="02020603050405020304" pitchFamily="18" charset="0"/>
                <a:ea typeface="华文中宋" panose="02010600040101010101" pitchFamily="2" charset="-122"/>
              </a:rPr>
              <a:t>当</a:t>
            </a:r>
            <a:r>
              <a:rPr kumimoji="1" lang="en-US" altLang="zh-CN" sz="2400" b="1" dirty="0">
                <a:latin typeface="Times New Roman" panose="02020603050405020304" pitchFamily="18" charset="0"/>
                <a:ea typeface="华文中宋" panose="02010600040101010101" pitchFamily="2" charset="-122"/>
              </a:rPr>
              <a:t>CPU</a:t>
            </a:r>
            <a:r>
              <a:rPr kumimoji="1" lang="zh-CN" altLang="en-US" sz="2400" b="1" dirty="0">
                <a:latin typeface="Times New Roman" panose="02020603050405020304" pitchFamily="18" charset="0"/>
                <a:ea typeface="华文中宋" panose="02010600040101010101" pitchFamily="2" charset="-122"/>
              </a:rPr>
              <a:t>访问</a:t>
            </a:r>
            <a:r>
              <a:rPr kumimoji="1" lang="en-US" altLang="zh-CN" sz="2400" b="1" dirty="0">
                <a:latin typeface="Times New Roman" panose="02020603050405020304" pitchFamily="18" charset="0"/>
                <a:ea typeface="华文中宋" panose="02010600040101010101" pitchFamily="2" charset="-122"/>
              </a:rPr>
              <a:t>Cache</a:t>
            </a:r>
            <a:r>
              <a:rPr kumimoji="1" lang="zh-CN" altLang="en-US" sz="2400" b="1" dirty="0">
                <a:latin typeface="Times New Roman" panose="02020603050405020304" pitchFamily="18" charset="0"/>
                <a:ea typeface="华文中宋" panose="02010600040101010101" pitchFamily="2" charset="-122"/>
              </a:rPr>
              <a:t>时，如何确定</a:t>
            </a:r>
            <a:r>
              <a:rPr kumimoji="1" lang="en-US" altLang="zh-CN" sz="2400" b="1" dirty="0">
                <a:latin typeface="Times New Roman" panose="02020603050405020304" pitchFamily="18" charset="0"/>
                <a:ea typeface="华文中宋" panose="02010600040101010101" pitchFamily="2" charset="-122"/>
              </a:rPr>
              <a:t>Cache</a:t>
            </a:r>
            <a:r>
              <a:rPr kumimoji="1" lang="zh-CN" altLang="en-US" sz="2400" b="1" dirty="0">
                <a:latin typeface="Times New Roman" panose="02020603050405020304" pitchFamily="18" charset="0"/>
                <a:ea typeface="华文中宋" panose="02010600040101010101" pitchFamily="2" charset="-122"/>
              </a:rPr>
              <a:t>中是否有所要访问的块？</a:t>
            </a:r>
            <a:endParaRPr kumimoji="1" lang="en-US" altLang="zh-CN" sz="2400" b="1" dirty="0">
              <a:latin typeface="Times New Roman" panose="02020603050405020304" pitchFamily="18" charset="0"/>
              <a:ea typeface="华文中宋" panose="02010600040101010101" pitchFamily="2" charset="-122"/>
            </a:endParaRPr>
          </a:p>
          <a:p>
            <a:pPr marL="0" lvl="1" indent="-342900" eaLnBrk="1" hangingPunct="1">
              <a:lnSpc>
                <a:spcPct val="130000"/>
              </a:lnSpc>
              <a:spcBef>
                <a:spcPct val="0"/>
              </a:spcBef>
              <a:buFont typeface="Wingdings" panose="05000000000000000000" pitchFamily="2" charset="2"/>
              <a:buChar char="Ø"/>
            </a:pPr>
            <a:r>
              <a:rPr kumimoji="1" lang="zh-CN" altLang="en-US" sz="2400" b="1" dirty="0">
                <a:latin typeface="Times New Roman" panose="02020603050405020304" pitchFamily="18" charset="0"/>
                <a:ea typeface="华文中宋" panose="02010600040101010101" pitchFamily="2" charset="-122"/>
              </a:rPr>
              <a:t>若有的话，如何确定其位置？</a:t>
            </a:r>
          </a:p>
          <a:p>
            <a:pPr marL="0" indent="0" eaLnBrk="1" hangingPunct="1">
              <a:lnSpc>
                <a:spcPct val="130000"/>
              </a:lnSpc>
              <a:spcBef>
                <a:spcPct val="0"/>
              </a:spcBef>
              <a:buNone/>
            </a:pPr>
            <a:r>
              <a:rPr kumimoji="1" lang="en-US" altLang="zh-CN" sz="2400" b="1" dirty="0">
                <a:latin typeface="Times New Roman" panose="02020603050405020304" pitchFamily="18" charset="0"/>
                <a:ea typeface="华文中宋" panose="02010600040101010101" pitchFamily="2" charset="-122"/>
              </a:rPr>
              <a:t>1. </a:t>
            </a:r>
            <a:r>
              <a:rPr kumimoji="1" lang="zh-CN" altLang="en-US" sz="2400" b="1" dirty="0">
                <a:solidFill>
                  <a:srgbClr val="C00000"/>
                </a:solidFill>
                <a:latin typeface="Times New Roman" panose="02020603050405020304" pitchFamily="18" charset="0"/>
                <a:ea typeface="华文中宋" panose="02010600040101010101" pitchFamily="2" charset="-122"/>
              </a:rPr>
              <a:t>通过查找目录表来实现</a:t>
            </a:r>
          </a:p>
          <a:p>
            <a:pPr marL="1085850" lvl="1" indent="-457200" eaLnBrk="1" hangingPunct="1">
              <a:lnSpc>
                <a:spcPct val="130000"/>
              </a:lnSpc>
              <a:spcBef>
                <a:spcPct val="0"/>
              </a:spcBef>
            </a:pPr>
            <a:r>
              <a:rPr kumimoji="1" lang="zh-CN" altLang="en-US" sz="2400" b="1" dirty="0">
                <a:latin typeface="Times New Roman" panose="02020603050405020304" pitchFamily="18" charset="0"/>
                <a:ea typeface="华文中宋" panose="02010600040101010101" pitchFamily="2" charset="-122"/>
                <a:hlinkClick r:id="rId2" action="ppaction://hlinksldjump"/>
              </a:rPr>
              <a:t>目录表的结构</a:t>
            </a:r>
            <a:endParaRPr kumimoji="1" lang="zh-CN" altLang="en-US" sz="2400" b="1" dirty="0">
              <a:latin typeface="Times New Roman" panose="02020603050405020304" pitchFamily="18" charset="0"/>
              <a:ea typeface="华文中宋" panose="02010600040101010101" pitchFamily="2" charset="-122"/>
            </a:endParaRPr>
          </a:p>
          <a:p>
            <a:pPr lvl="2" eaLnBrk="1" hangingPunct="1">
              <a:lnSpc>
                <a:spcPct val="130000"/>
              </a:lnSpc>
              <a:spcBef>
                <a:spcPct val="0"/>
              </a:spcBef>
            </a:pPr>
            <a:r>
              <a:rPr kumimoji="1" lang="zh-CN" altLang="en-US" b="1" dirty="0">
                <a:latin typeface="Times New Roman" panose="02020603050405020304" pitchFamily="18" charset="0"/>
                <a:ea typeface="华文中宋" panose="02010600040101010101" pitchFamily="2" charset="-122"/>
              </a:rPr>
              <a:t>主存块的块地址的高位部分，称为标识（</a:t>
            </a:r>
            <a:r>
              <a:rPr kumimoji="1" lang="en-US" altLang="zh-CN" b="1" dirty="0">
                <a:latin typeface="Times New Roman" panose="02020603050405020304" pitchFamily="18" charset="0"/>
                <a:ea typeface="华文中宋" panose="02010600040101010101" pitchFamily="2" charset="-122"/>
              </a:rPr>
              <a:t>Tag</a:t>
            </a:r>
            <a:r>
              <a:rPr kumimoji="1" lang="zh-CN" altLang="en-US" b="1" dirty="0">
                <a:latin typeface="Times New Roman" panose="02020603050405020304" pitchFamily="18" charset="0"/>
                <a:ea typeface="华文中宋" panose="02010600040101010101" pitchFamily="2" charset="-122"/>
              </a:rPr>
              <a:t>） 。</a:t>
            </a:r>
          </a:p>
          <a:p>
            <a:pPr lvl="2" eaLnBrk="1" hangingPunct="1">
              <a:lnSpc>
                <a:spcPct val="130000"/>
              </a:lnSpc>
              <a:spcBef>
                <a:spcPct val="0"/>
              </a:spcBef>
            </a:pPr>
            <a:r>
              <a:rPr kumimoji="1" lang="zh-CN" altLang="en-US" b="1" dirty="0">
                <a:latin typeface="Times New Roman" panose="02020603050405020304" pitchFamily="18" charset="0"/>
                <a:ea typeface="华文中宋" panose="02010600040101010101" pitchFamily="2" charset="-122"/>
              </a:rPr>
              <a:t>每个主存块能唯一地由其标识来确定</a:t>
            </a:r>
            <a:endParaRPr kumimoji="1" lang="en-US" altLang="zh-CN" b="1" dirty="0">
              <a:latin typeface="Times New Roman" panose="02020603050405020304" pitchFamily="18" charset="0"/>
              <a:ea typeface="华文中宋" panose="02010600040101010101" pitchFamily="2" charset="-122"/>
            </a:endParaRPr>
          </a:p>
          <a:p>
            <a:pPr lvl="2" eaLnBrk="1" hangingPunct="1">
              <a:lnSpc>
                <a:spcPct val="130000"/>
              </a:lnSpc>
              <a:spcBef>
                <a:spcPct val="0"/>
              </a:spcBef>
            </a:pPr>
            <a:r>
              <a:rPr kumimoji="1" lang="zh-CN" altLang="en-US" b="1" dirty="0">
                <a:latin typeface="Times New Roman" panose="02020603050405020304" pitchFamily="18" charset="0"/>
                <a:ea typeface="华文中宋" panose="02010600040101010101" pitchFamily="2" charset="-122"/>
              </a:rPr>
              <a:t>每一项有一个有效位，指出</a:t>
            </a:r>
            <a:r>
              <a:rPr kumimoji="1" lang="en-US" altLang="zh-CN" b="1" dirty="0">
                <a:latin typeface="Times New Roman" panose="02020603050405020304" pitchFamily="18" charset="0"/>
                <a:ea typeface="华文中宋" panose="02010600040101010101" pitchFamily="2" charset="-122"/>
              </a:rPr>
              <a:t>Cache</a:t>
            </a:r>
            <a:r>
              <a:rPr kumimoji="1" lang="zh-CN" altLang="en-US" b="1" dirty="0">
                <a:latin typeface="Times New Roman" panose="02020603050405020304" pitchFamily="18" charset="0"/>
                <a:ea typeface="华文中宋" panose="02010600040101010101" pitchFamily="2" charset="-122"/>
              </a:rPr>
              <a:t>中的块是否有效</a:t>
            </a:r>
            <a:endParaRPr kumimoji="1" lang="en-US" altLang="zh-CN" b="1" dirty="0">
              <a:latin typeface="Times New Roman" panose="02020603050405020304" pitchFamily="18" charset="0"/>
              <a:ea typeface="华文中宋" panose="02010600040101010101" pitchFamily="2" charset="-122"/>
            </a:endParaRPr>
          </a:p>
          <a:p>
            <a:pPr marL="914400" lvl="2" indent="0" eaLnBrk="1" hangingPunct="1">
              <a:lnSpc>
                <a:spcPct val="110000"/>
              </a:lnSpc>
              <a:buNone/>
            </a:pPr>
            <a:endParaRPr lang="zh-CN" altLang="en-US" dirty="0"/>
          </a:p>
        </p:txBody>
      </p:sp>
      <p:graphicFrame>
        <p:nvGraphicFramePr>
          <p:cNvPr id="55301" name="Object 5"/>
          <p:cNvGraphicFramePr>
            <a:graphicFrameLocks noGrp="1" noChangeAspect="1"/>
          </p:cNvGraphicFramePr>
          <p:nvPr>
            <p:ph sz="half" idx="2"/>
          </p:nvPr>
        </p:nvGraphicFramePr>
        <p:xfrm>
          <a:off x="1187624" y="5085184"/>
          <a:ext cx="5256212" cy="1223962"/>
        </p:xfrm>
        <a:graphic>
          <a:graphicData uri="http://schemas.openxmlformats.org/presentationml/2006/ole">
            <mc:AlternateContent xmlns:mc="http://schemas.openxmlformats.org/markup-compatibility/2006">
              <mc:Choice xmlns:v="urn:schemas-microsoft-com:vml" Requires="v">
                <p:oleObj name="图片" r:id="rId3" imgW="3024084" imgH="659467" progId="Word.Picture.8">
                  <p:embed/>
                </p:oleObj>
              </mc:Choice>
              <mc:Fallback>
                <p:oleObj name="图片" r:id="rId3" imgW="3024084" imgH="659467" progId="Word.Picture.8">
                  <p:embed/>
                  <p:pic>
                    <p:nvPicPr>
                      <p:cNvPr id="5530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5085184"/>
                        <a:ext cx="5256212" cy="1223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Rectangle 2">
            <a:extLst>
              <a:ext uri="{FF2B5EF4-FFF2-40B4-BE49-F238E27FC236}">
                <a16:creationId xmlns:a16="http://schemas.microsoft.com/office/drawing/2014/main" id="{C84778C0-2C5D-4DC2-A635-F75826282411}"/>
              </a:ext>
            </a:extLst>
          </p:cNvPr>
          <p:cNvSpPr txBox="1">
            <a:spLocks noChangeArrowheads="1"/>
          </p:cNvSpPr>
          <p:nvPr/>
        </p:nvSpPr>
        <p:spPr>
          <a:xfrm>
            <a:off x="457200" y="161702"/>
            <a:ext cx="8229600" cy="864096"/>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0" lang="en-US" altLang="zh-CN" sz="3600" b="1" dirty="0">
                <a:latin typeface="Times New Roman" panose="02020603050405020304" pitchFamily="18" charset="0"/>
                <a:cs typeface="Times New Roman" panose="02020603050405020304" pitchFamily="18" charset="0"/>
              </a:rPr>
              <a:t>5.2</a:t>
            </a:r>
            <a:r>
              <a:rPr kumimoji="0" lang="en-US" altLang="zh-CN" sz="3600" dirty="0">
                <a:latin typeface="Times New Roman" panose="02020603050405020304" pitchFamily="18" charset="0"/>
                <a:cs typeface="Times New Roman" panose="02020603050405020304" pitchFamily="18" charset="0"/>
              </a:rPr>
              <a:t>.2</a:t>
            </a:r>
            <a:r>
              <a:rPr kumimoji="0" lang="en-US" altLang="zh-CN" sz="3600" b="1" dirty="0">
                <a:latin typeface="Times New Roman" panose="02020603050405020304" pitchFamily="18" charset="0"/>
                <a:cs typeface="Times New Roman" panose="02020603050405020304" pitchFamily="18" charset="0"/>
              </a:rPr>
              <a:t> </a:t>
            </a:r>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查找方法</a:t>
            </a:r>
          </a:p>
        </p:txBody>
      </p:sp>
      <p:sp>
        <p:nvSpPr>
          <p:cNvPr id="2" name="日期占位符 1">
            <a:extLst>
              <a:ext uri="{FF2B5EF4-FFF2-40B4-BE49-F238E27FC236}">
                <a16:creationId xmlns:a16="http://schemas.microsoft.com/office/drawing/2014/main" id="{3C323091-61D4-DC16-84FB-56626B21E741}"/>
              </a:ext>
            </a:extLst>
          </p:cNvPr>
          <p:cNvSpPr>
            <a:spLocks noGrp="1"/>
          </p:cNvSpPr>
          <p:nvPr>
            <p:ph type="dt" sz="half" idx="10"/>
          </p:nvPr>
        </p:nvSpPr>
        <p:spPr/>
        <p:txBody>
          <a:bodyPr/>
          <a:lstStyle/>
          <a:p>
            <a:pPr>
              <a:defRPr/>
            </a:pPr>
            <a:fld id="{EDA53D95-F0B3-493A-B96E-06485148E201}"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E90E2408-2279-BD8C-4108-EABBA2E56B97}"/>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2D2B1019-BF50-6A53-A4D2-02E7568433AE}"/>
              </a:ext>
            </a:extLst>
          </p:cNvPr>
          <p:cNvSpPr>
            <a:spLocks noGrp="1"/>
          </p:cNvSpPr>
          <p:nvPr>
            <p:ph type="sldNum" sz="quarter" idx="12"/>
          </p:nvPr>
        </p:nvSpPr>
        <p:spPr/>
        <p:txBody>
          <a:bodyPr/>
          <a:lstStyle/>
          <a:p>
            <a:pPr>
              <a:defRPr/>
            </a:pPr>
            <a:fld id="{396D679E-57F5-4175-9854-A039894B7CE4}" type="slidenum">
              <a:rPr lang="en-US" altLang="zh-CN" smtClean="0"/>
              <a:pPr>
                <a:defRPr/>
              </a:pPr>
              <a:t>60</a:t>
            </a:fld>
            <a:endParaRPr lang="en-US" altLang="zh-CN"/>
          </a:p>
        </p:txBody>
      </p:sp>
    </p:spTree>
    <p:extLst>
      <p:ext uri="{BB962C8B-B14F-4D97-AF65-F5344CB8AC3E}">
        <p14:creationId xmlns:p14="http://schemas.microsoft.com/office/powerpoint/2010/main" val="3841085256"/>
      </p:ext>
    </p:extLst>
  </p:cSld>
  <p:clrMapOvr>
    <a:masterClrMapping/>
  </p:clrMapOvr>
  <p:transition>
    <p:pull dir="rd"/>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内容占位符 2" descr="Rectangle: Click to edit Master text styles&#10;Second level&#10;Third level&#10;Fourth level&#10;Fifth level"/>
          <p:cNvSpPr>
            <a:spLocks noGrp="1"/>
          </p:cNvSpPr>
          <p:nvPr>
            <p:ph idx="1"/>
          </p:nvPr>
        </p:nvSpPr>
        <p:spPr>
          <a:xfrm>
            <a:off x="685800" y="836712"/>
            <a:ext cx="7772400" cy="4171950"/>
          </a:xfrm>
        </p:spPr>
        <p:txBody>
          <a:bodyPr/>
          <a:lstStyle/>
          <a:p>
            <a:pPr marL="1085850" lvl="1" indent="-457200" eaLnBrk="1" hangingPunct="1">
              <a:lnSpc>
                <a:spcPct val="130000"/>
              </a:lnSpc>
              <a:spcBef>
                <a:spcPct val="0"/>
              </a:spcBef>
            </a:pPr>
            <a:r>
              <a:rPr kumimoji="1" lang="zh-CN" altLang="en-US" sz="2400" b="1" dirty="0">
                <a:latin typeface="Times New Roman" panose="02020603050405020304" pitchFamily="18" charset="0"/>
                <a:ea typeface="华文中宋" panose="02010600040101010101" pitchFamily="2" charset="-122"/>
              </a:rPr>
              <a:t>只需查找候选位置所对应的目录表项</a:t>
            </a:r>
            <a:endParaRPr kumimoji="1" lang="en-US" altLang="zh-CN" sz="2400" b="1" dirty="0">
              <a:latin typeface="Times New Roman" panose="02020603050405020304" pitchFamily="18" charset="0"/>
              <a:ea typeface="华文中宋" panose="02010600040101010101" pitchFamily="2" charset="-122"/>
            </a:endParaRPr>
          </a:p>
          <a:p>
            <a:pPr marL="1085850" lvl="1" indent="-457200" eaLnBrk="1" hangingPunct="1">
              <a:lnSpc>
                <a:spcPct val="130000"/>
              </a:lnSpc>
              <a:spcBef>
                <a:spcPct val="0"/>
              </a:spcBef>
            </a:pPr>
            <a:r>
              <a:rPr kumimoji="1" lang="zh-CN" altLang="en-US" sz="2400" b="1" dirty="0">
                <a:latin typeface="Times New Roman" panose="02020603050405020304" pitchFamily="18" charset="0"/>
                <a:ea typeface="华文中宋" panose="02010600040101010101" pitchFamily="2" charset="-122"/>
              </a:rPr>
              <a:t>块内地址偏移用来从块中选出需要的数据</a:t>
            </a:r>
            <a:endParaRPr kumimoji="1" lang="en-US" altLang="zh-CN" sz="2400" b="1" dirty="0">
              <a:latin typeface="Times New Roman" panose="02020603050405020304" pitchFamily="18" charset="0"/>
              <a:ea typeface="华文中宋" panose="02010600040101010101" pitchFamily="2" charset="-122"/>
            </a:endParaRPr>
          </a:p>
          <a:p>
            <a:pPr marL="1085850" lvl="1" indent="-457200" eaLnBrk="1" hangingPunct="1">
              <a:lnSpc>
                <a:spcPct val="130000"/>
              </a:lnSpc>
              <a:spcBef>
                <a:spcPct val="0"/>
              </a:spcBef>
            </a:pPr>
            <a:r>
              <a:rPr kumimoji="1" lang="zh-CN" altLang="en-US" sz="2400" b="1" dirty="0">
                <a:latin typeface="Times New Roman" panose="02020603050405020304" pitchFamily="18" charset="0"/>
                <a:ea typeface="华文中宋" panose="02010600040101010101" pitchFamily="2" charset="-122"/>
              </a:rPr>
              <a:t>索引域用来选择组</a:t>
            </a:r>
            <a:endParaRPr kumimoji="1" lang="en-US" altLang="zh-CN" sz="2400" b="1" dirty="0">
              <a:latin typeface="Times New Roman" panose="02020603050405020304" pitchFamily="18" charset="0"/>
              <a:ea typeface="华文中宋" panose="02010600040101010101" pitchFamily="2" charset="-122"/>
            </a:endParaRPr>
          </a:p>
          <a:p>
            <a:pPr marL="1085850" lvl="1" indent="-457200" eaLnBrk="1" hangingPunct="1">
              <a:lnSpc>
                <a:spcPct val="130000"/>
              </a:lnSpc>
              <a:spcBef>
                <a:spcPct val="0"/>
              </a:spcBef>
            </a:pPr>
            <a:r>
              <a:rPr kumimoji="1" lang="zh-CN" altLang="en-US" sz="2400" b="1" dirty="0">
                <a:latin typeface="Times New Roman" panose="02020603050405020304" pitchFamily="18" charset="0"/>
                <a:ea typeface="华文中宋" panose="02010600040101010101" pitchFamily="2" charset="-122"/>
              </a:rPr>
              <a:t>通过</a:t>
            </a:r>
            <a:r>
              <a:rPr kumimoji="1" lang="zh-CN" altLang="en-US" sz="2400" b="1" dirty="0">
                <a:solidFill>
                  <a:srgbClr val="C00000"/>
                </a:solidFill>
                <a:latin typeface="Times New Roman" panose="02020603050405020304" pitchFamily="18" charset="0"/>
                <a:ea typeface="华文中宋" panose="02010600040101010101" pitchFamily="2" charset="-122"/>
              </a:rPr>
              <a:t>比较标识域来判断是否发生命中</a:t>
            </a:r>
            <a:endParaRPr kumimoji="1" lang="en-US" altLang="zh-CN" sz="2400" b="1" dirty="0">
              <a:solidFill>
                <a:srgbClr val="C00000"/>
              </a:solidFill>
              <a:latin typeface="Times New Roman" panose="02020603050405020304" pitchFamily="18" charset="0"/>
              <a:ea typeface="华文中宋" panose="02010600040101010101" pitchFamily="2" charset="-122"/>
            </a:endParaRPr>
          </a:p>
          <a:p>
            <a:pPr lvl="2"/>
            <a:r>
              <a:rPr kumimoji="1" lang="zh-CN" altLang="en-US" b="1" dirty="0">
                <a:latin typeface="Times New Roman" panose="02020603050405020304" pitchFamily="18" charset="0"/>
                <a:ea typeface="华文中宋" panose="02010600040101010101" pitchFamily="2" charset="-122"/>
              </a:rPr>
              <a:t>块内偏移是没有必要比较的，这是因为</a:t>
            </a:r>
            <a:r>
              <a:rPr kumimoji="1" lang="en-US" altLang="zh-CN" b="1" dirty="0">
                <a:latin typeface="Times New Roman" panose="02020603050405020304" pitchFamily="18" charset="0"/>
                <a:ea typeface="华文中宋" panose="02010600040101010101" pitchFamily="2" charset="-122"/>
              </a:rPr>
              <a:t>Cache</a:t>
            </a:r>
            <a:r>
              <a:rPr kumimoji="1" lang="zh-CN" altLang="en-US" b="1" dirty="0">
                <a:latin typeface="Times New Roman" panose="02020603050405020304" pitchFamily="18" charset="0"/>
                <a:ea typeface="华文中宋" panose="02010600040101010101" pitchFamily="2" charset="-122"/>
              </a:rPr>
              <a:t>命中与否的单位是整个块</a:t>
            </a:r>
            <a:endParaRPr kumimoji="1" lang="en-US" altLang="zh-CN" b="1" dirty="0">
              <a:latin typeface="Times New Roman" panose="02020603050405020304" pitchFamily="18" charset="0"/>
              <a:ea typeface="华文中宋" panose="02010600040101010101" pitchFamily="2" charset="-122"/>
            </a:endParaRPr>
          </a:p>
          <a:p>
            <a:pPr lvl="2"/>
            <a:r>
              <a:rPr kumimoji="1" lang="zh-CN" altLang="en-US" b="1" dirty="0">
                <a:latin typeface="Times New Roman" panose="02020603050405020304" pitchFamily="18" charset="0"/>
                <a:ea typeface="华文中宋" panose="02010600040101010101" pitchFamily="2" charset="-122"/>
              </a:rPr>
              <a:t>由于索引域是用来选择被检查的组， 所以对索引域的比较是多余的</a:t>
            </a:r>
            <a:endParaRPr kumimoji="1" lang="en-US" altLang="zh-CN" b="1" dirty="0">
              <a:latin typeface="Times New Roman" panose="02020603050405020304" pitchFamily="18" charset="0"/>
              <a:ea typeface="华文中宋" panose="02010600040101010101" pitchFamily="2" charset="-122"/>
            </a:endParaRPr>
          </a:p>
          <a:p>
            <a:pPr lvl="2"/>
            <a:endParaRPr lang="zh-CN" altLang="en-US" dirty="0"/>
          </a:p>
        </p:txBody>
      </p:sp>
      <p:graphicFrame>
        <p:nvGraphicFramePr>
          <p:cNvPr id="4" name="Object 5">
            <a:extLst>
              <a:ext uri="{FF2B5EF4-FFF2-40B4-BE49-F238E27FC236}">
                <a16:creationId xmlns:a16="http://schemas.microsoft.com/office/drawing/2014/main" id="{ACA3774B-ABA3-4D46-8879-DE1BE7B6627F}"/>
              </a:ext>
            </a:extLst>
          </p:cNvPr>
          <p:cNvGraphicFramePr>
            <a:graphicFrameLocks noChangeAspect="1"/>
          </p:cNvGraphicFramePr>
          <p:nvPr/>
        </p:nvGraphicFramePr>
        <p:xfrm>
          <a:off x="1691680" y="4653136"/>
          <a:ext cx="5256212" cy="1223962"/>
        </p:xfrm>
        <a:graphic>
          <a:graphicData uri="http://schemas.openxmlformats.org/presentationml/2006/ole">
            <mc:AlternateContent xmlns:mc="http://schemas.openxmlformats.org/markup-compatibility/2006">
              <mc:Choice xmlns:v="urn:schemas-microsoft-com:vml" Requires="v">
                <p:oleObj name="图片" r:id="rId3" imgW="3024084" imgH="659467" progId="Word.Picture.8">
                  <p:embed/>
                </p:oleObj>
              </mc:Choice>
              <mc:Fallback>
                <p:oleObj name="图片" r:id="rId3" imgW="3024084" imgH="659467" progId="Word.Picture.8">
                  <p:embed/>
                  <p:pic>
                    <p:nvPicPr>
                      <p:cNvPr id="4" name="Object 5">
                        <a:extLst>
                          <a:ext uri="{FF2B5EF4-FFF2-40B4-BE49-F238E27FC236}">
                            <a16:creationId xmlns:a16="http://schemas.microsoft.com/office/drawing/2014/main" id="{ACA3774B-ABA3-4D46-8879-DE1BE7B662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4653136"/>
                        <a:ext cx="5256212" cy="1223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日期占位符 1">
            <a:extLst>
              <a:ext uri="{FF2B5EF4-FFF2-40B4-BE49-F238E27FC236}">
                <a16:creationId xmlns:a16="http://schemas.microsoft.com/office/drawing/2014/main" id="{C2151527-6DDE-8C89-AEDE-08D5C0B9D165}"/>
              </a:ext>
            </a:extLst>
          </p:cNvPr>
          <p:cNvSpPr>
            <a:spLocks noGrp="1"/>
          </p:cNvSpPr>
          <p:nvPr>
            <p:ph type="dt" sz="half" idx="10"/>
          </p:nvPr>
        </p:nvSpPr>
        <p:spPr/>
        <p:txBody>
          <a:bodyPr/>
          <a:lstStyle/>
          <a:p>
            <a:pPr>
              <a:defRPr/>
            </a:pPr>
            <a:fld id="{E80C9380-9257-4223-AC81-5D99DD27375E}"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E84CEA6F-4483-8E73-F228-63364933B7D8}"/>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0283D2A5-71C4-987D-1CBC-AAEE885D2629}"/>
              </a:ext>
            </a:extLst>
          </p:cNvPr>
          <p:cNvSpPr>
            <a:spLocks noGrp="1"/>
          </p:cNvSpPr>
          <p:nvPr>
            <p:ph type="sldNum" sz="quarter" idx="12"/>
          </p:nvPr>
        </p:nvSpPr>
        <p:spPr/>
        <p:txBody>
          <a:bodyPr/>
          <a:lstStyle/>
          <a:p>
            <a:pPr>
              <a:defRPr/>
            </a:pPr>
            <a:fld id="{8BCAC33D-D29A-48B3-BCD6-381D3D720D26}" type="slidenum">
              <a:rPr lang="zh-CN" altLang="en-US" smtClean="0"/>
              <a:t>61</a:t>
            </a:fld>
            <a:endParaRPr lang="en-US" altLang="zh-CN"/>
          </a:p>
        </p:txBody>
      </p:sp>
    </p:spTree>
    <p:extLst>
      <p:ext uri="{BB962C8B-B14F-4D97-AF65-F5344CB8AC3E}">
        <p14:creationId xmlns:p14="http://schemas.microsoft.com/office/powerpoint/2010/main" val="36535500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3"/>
          <p:cNvSpPr txBox="1">
            <a:spLocks noChangeArrowheads="1"/>
          </p:cNvSpPr>
          <p:nvPr/>
        </p:nvSpPr>
        <p:spPr bwMode="auto">
          <a:xfrm>
            <a:off x="827584" y="188640"/>
            <a:ext cx="7632848" cy="5616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50000"/>
              </a:lnSpc>
              <a:buSzPct val="60000"/>
            </a:pPr>
            <a:r>
              <a:rPr kumimoji="1" lang="en-US" altLang="zh-CN" sz="2800" dirty="0">
                <a:latin typeface="Times New Roman" panose="02020603050405020304" pitchFamily="18" charset="0"/>
                <a:ea typeface="华文中宋" panose="02010600040101010101" pitchFamily="2" charset="-122"/>
              </a:rPr>
              <a:t>2. </a:t>
            </a:r>
            <a:r>
              <a:rPr kumimoji="1" lang="zh-CN" altLang="en-US" sz="2800" dirty="0">
                <a:latin typeface="Times New Roman" panose="02020603050405020304" pitchFamily="18" charset="0"/>
                <a:ea typeface="华文中宋" panose="02010600040101010101" pitchFamily="2" charset="-122"/>
              </a:rPr>
              <a:t>并行查找的实现方法：</a:t>
            </a:r>
            <a:endParaRPr lang="en-US" altLang="zh-CN" sz="2800" dirty="0">
              <a:latin typeface="Times New Roman" panose="02020603050405020304" pitchFamily="18" charset="0"/>
              <a:ea typeface="华文中宋" panose="02010600040101010101" pitchFamily="2" charset="-122"/>
            </a:endParaRPr>
          </a:p>
          <a:p>
            <a:pPr marL="457200" indent="-97200" eaLnBrk="1" hangingPunct="1">
              <a:lnSpc>
                <a:spcPct val="150000"/>
              </a:lnSpc>
              <a:buSzPct val="100000"/>
              <a:buFont typeface="Arial" panose="020B0604020202020204" pitchFamily="34" charset="0"/>
              <a:buChar char="•"/>
            </a:pPr>
            <a:r>
              <a:rPr kumimoji="1" lang="zh-CN" altLang="en-US" sz="2800" dirty="0">
                <a:latin typeface="Times New Roman" panose="02020603050405020304" pitchFamily="18" charset="0"/>
                <a:ea typeface="华文中宋" panose="02010600040101010101" pitchFamily="2" charset="-122"/>
              </a:rPr>
              <a:t> 相联存储</a:t>
            </a:r>
            <a:r>
              <a:rPr lang="zh-CN" altLang="en-US" sz="2800" dirty="0">
                <a:latin typeface="Times New Roman" panose="02020603050405020304" pitchFamily="18" charset="0"/>
                <a:ea typeface="华文中宋" panose="02010600040101010101" pitchFamily="2" charset="-122"/>
              </a:rPr>
              <a:t>器</a:t>
            </a:r>
            <a:endParaRPr kumimoji="1" lang="en-US" altLang="zh-CN" sz="2800" dirty="0">
              <a:latin typeface="Times New Roman" panose="02020603050405020304" pitchFamily="18" charset="0"/>
              <a:ea typeface="华文中宋" panose="02010600040101010101" pitchFamily="2" charset="-122"/>
            </a:endParaRPr>
          </a:p>
          <a:p>
            <a:pPr marL="457200" indent="-97200" eaLnBrk="1" hangingPunct="1">
              <a:lnSpc>
                <a:spcPct val="150000"/>
              </a:lnSpc>
              <a:buSzPct val="100000"/>
              <a:buFont typeface="Arial" panose="020B0604020202020204" pitchFamily="34" charset="0"/>
              <a:buChar char="•"/>
            </a:pPr>
            <a:r>
              <a:rPr kumimoji="1" lang="zh-CN" altLang="en-US" sz="2800" dirty="0">
                <a:solidFill>
                  <a:srgbClr val="C00000"/>
                </a:solidFill>
                <a:latin typeface="Times New Roman" panose="02020603050405020304" pitchFamily="18" charset="0"/>
                <a:ea typeface="华文中宋" panose="02010600040101010101" pitchFamily="2" charset="-122"/>
              </a:rPr>
              <a:t> 单体多字存储器＋比较器（一般采用）</a:t>
            </a:r>
          </a:p>
          <a:p>
            <a:pPr eaLnBrk="1" hangingPunct="1">
              <a:lnSpc>
                <a:spcPct val="150000"/>
              </a:lnSpc>
              <a:buSzPct val="60000"/>
            </a:pPr>
            <a:r>
              <a:rPr kumimoji="1" lang="en-US" altLang="zh-CN" sz="2800" dirty="0">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hlinkClick r:id="rId3" action="ppaction://hlinksldjump"/>
              </a:rPr>
              <a:t>举例</a:t>
            </a:r>
            <a:r>
              <a:rPr kumimoji="1" lang="en-US" altLang="zh-CN" sz="2400" dirty="0">
                <a:latin typeface="Times New Roman" panose="02020603050405020304" pitchFamily="18" charset="0"/>
                <a:ea typeface="华文中宋" panose="02010600040101010101" pitchFamily="2" charset="-122"/>
                <a:hlinkClick r:id="rId3" action="ppaction://hlinksldjump"/>
              </a:rPr>
              <a:t>1</a:t>
            </a:r>
            <a:r>
              <a:rPr kumimoji="1" lang="zh-CN" altLang="en-US" sz="2400" dirty="0">
                <a:latin typeface="Times New Roman" panose="02020603050405020304" pitchFamily="18" charset="0"/>
                <a:ea typeface="华文中宋" panose="02010600040101010101" pitchFamily="2" charset="-122"/>
                <a:hlinkClick r:id="rId3" action="ppaction://hlinksldjump"/>
              </a:rPr>
              <a:t>：</a:t>
            </a:r>
            <a:r>
              <a:rPr kumimoji="1" lang="en-US" altLang="zh-CN" sz="2400" dirty="0">
                <a:latin typeface="Times New Roman" panose="02020603050405020304" pitchFamily="18" charset="0"/>
                <a:ea typeface="华文中宋" panose="02010600040101010101" pitchFamily="2" charset="-122"/>
                <a:hlinkClick r:id="rId3" action="ppaction://hlinksldjump"/>
              </a:rPr>
              <a:t>4 </a:t>
            </a:r>
            <a:r>
              <a:rPr kumimoji="1" lang="zh-CN" altLang="en-US" sz="2400" dirty="0">
                <a:latin typeface="Times New Roman" panose="02020603050405020304" pitchFamily="18" charset="0"/>
                <a:ea typeface="华文中宋" panose="02010600040101010101" pitchFamily="2" charset="-122"/>
                <a:hlinkClick r:id="rId3" action="ppaction://hlinksldjump"/>
              </a:rPr>
              <a:t>路组相联</a:t>
            </a:r>
            <a:r>
              <a:rPr kumimoji="1" lang="en-US" altLang="zh-CN" sz="2400" dirty="0">
                <a:latin typeface="Times New Roman" panose="02020603050405020304" pitchFamily="18" charset="0"/>
                <a:ea typeface="华文中宋" panose="02010600040101010101" pitchFamily="2" charset="-122"/>
                <a:hlinkClick r:id="rId3" action="ppaction://hlinksldjump"/>
              </a:rPr>
              <a:t>Cache</a:t>
            </a:r>
            <a:r>
              <a:rPr kumimoji="1" lang="zh-CN" altLang="en-US" sz="2400" dirty="0">
                <a:latin typeface="Times New Roman" panose="02020603050405020304" pitchFamily="18" charset="0"/>
                <a:ea typeface="华文中宋" panose="02010600040101010101" pitchFamily="2" charset="-122"/>
                <a:hlinkClick r:id="rId3" action="ppaction://hlinksldjump"/>
              </a:rPr>
              <a:t>的查找过程</a:t>
            </a:r>
            <a:endParaRPr lang="en-US" altLang="zh-CN" sz="2400" dirty="0">
              <a:latin typeface="Times New Roman" panose="02020603050405020304" pitchFamily="18" charset="0"/>
              <a:ea typeface="华文中宋" panose="02010600040101010101" pitchFamily="2" charset="-122"/>
            </a:endParaRPr>
          </a:p>
          <a:p>
            <a:pPr marL="457200" lvl="1" indent="0" eaLnBrk="1" hangingPunct="1">
              <a:lnSpc>
                <a:spcPct val="150000"/>
              </a:lnSpc>
              <a:buSzPct val="60000"/>
            </a:pPr>
            <a:r>
              <a:rPr lang="zh-CN" altLang="en-US" sz="2200" dirty="0">
                <a:solidFill>
                  <a:srgbClr val="C00000"/>
                </a:solidFill>
                <a:latin typeface="Times New Roman" panose="02020603050405020304" pitchFamily="18" charset="0"/>
              </a:rPr>
              <a:t>    </a:t>
            </a:r>
            <a:r>
              <a:rPr lang="zh-CN" altLang="en-US" sz="2200" dirty="0">
                <a:solidFill>
                  <a:srgbClr val="C00000"/>
                </a:solidFill>
                <a:latin typeface="Times New Roman" panose="02020603050405020304" pitchFamily="18" charset="0"/>
                <a:ea typeface="华文中宋" panose="02010600040101010101" pitchFamily="2" charset="-122"/>
              </a:rPr>
              <a:t>优缺点</a:t>
            </a:r>
          </a:p>
          <a:p>
            <a:pPr marL="1257300" lvl="2" indent="-342900">
              <a:lnSpc>
                <a:spcPct val="110000"/>
              </a:lnSpc>
              <a:spcBef>
                <a:spcPct val="20000"/>
              </a:spcBef>
              <a:buFont typeface="Wingdings" panose="05000000000000000000" pitchFamily="2" charset="2"/>
              <a:buChar char="ü"/>
            </a:pPr>
            <a:r>
              <a:rPr lang="zh-CN" altLang="en-US" sz="2200" dirty="0">
                <a:latin typeface="Times New Roman" panose="02020603050405020304" pitchFamily="18" charset="0"/>
                <a:ea typeface="华文中宋" panose="02010600040101010101" pitchFamily="2" charset="-122"/>
              </a:rPr>
              <a:t>不必采用相联存储器，而是用按地址访问的存储器来实现。</a:t>
            </a:r>
          </a:p>
          <a:p>
            <a:pPr marL="1257300" lvl="2" indent="-342900">
              <a:lnSpc>
                <a:spcPct val="110000"/>
              </a:lnSpc>
              <a:spcBef>
                <a:spcPct val="20000"/>
              </a:spcBef>
              <a:buFont typeface="Wingdings" panose="05000000000000000000" pitchFamily="2" charset="2"/>
              <a:buChar char="ü"/>
            </a:pPr>
            <a:r>
              <a:rPr lang="zh-CN" altLang="en-US" sz="2200" dirty="0">
                <a:latin typeface="Times New Roman" panose="02020603050405020304" pitchFamily="18" charset="0"/>
                <a:ea typeface="华文中宋" panose="02010600040101010101" pitchFamily="2" charset="-122"/>
              </a:rPr>
              <a:t>当相联度</a:t>
            </a:r>
            <a:r>
              <a:rPr lang="en-US" altLang="zh-CN" sz="2200" dirty="0">
                <a:latin typeface="Times New Roman" panose="02020603050405020304" pitchFamily="18" charset="0"/>
                <a:ea typeface="华文中宋" panose="02010600040101010101" pitchFamily="2" charset="-122"/>
              </a:rPr>
              <a:t>n</a:t>
            </a:r>
            <a:r>
              <a:rPr lang="zh-CN" altLang="en-US" sz="2200" dirty="0">
                <a:latin typeface="Times New Roman" panose="02020603050405020304" pitchFamily="18" charset="0"/>
                <a:ea typeface="华文中宋" panose="02010600040101010101" pitchFamily="2" charset="-122"/>
              </a:rPr>
              <a:t>增加时，不仅比较器的个数会增加，而且比较器的位数也会增加</a:t>
            </a:r>
            <a:endParaRPr lang="en-US" altLang="zh-CN" sz="2200" dirty="0">
              <a:latin typeface="Times New Roman" panose="02020603050405020304" pitchFamily="18" charset="0"/>
              <a:ea typeface="华文中宋" panose="02010600040101010101" pitchFamily="2" charset="-122"/>
            </a:endParaRPr>
          </a:p>
          <a:p>
            <a:pPr marL="0" lvl="2" indent="0">
              <a:lnSpc>
                <a:spcPct val="110000"/>
              </a:lnSpc>
              <a:spcBef>
                <a:spcPct val="20000"/>
              </a:spcBef>
            </a:pPr>
            <a:r>
              <a:rPr lang="zh-CN" altLang="en-US" sz="2200" dirty="0">
                <a:latin typeface="Times New Roman" panose="02020603050405020304" pitchFamily="18" charset="0"/>
                <a:ea typeface="华文中宋" panose="02010600040101010101" pitchFamily="2" charset="-122"/>
              </a:rPr>
              <a:t>           </a:t>
            </a:r>
            <a:r>
              <a:rPr lang="zh-CN" altLang="en-US" sz="2400" dirty="0">
                <a:latin typeface="Times New Roman" panose="02020603050405020304" pitchFamily="18" charset="0"/>
                <a:ea typeface="华文中宋" panose="02010600040101010101" pitchFamily="2" charset="-122"/>
                <a:hlinkClick r:id="rId4" action="ppaction://hlinksldjump"/>
              </a:rPr>
              <a:t>举例</a:t>
            </a:r>
            <a:r>
              <a:rPr lang="en-US" altLang="zh-CN" sz="2400" dirty="0">
                <a:latin typeface="Times New Roman" panose="02020603050405020304" pitchFamily="18" charset="0"/>
                <a:ea typeface="华文中宋" panose="02010600040101010101" pitchFamily="2" charset="-122"/>
                <a:hlinkClick r:id="rId4" action="ppaction://hlinksldjump"/>
              </a:rPr>
              <a:t>2</a:t>
            </a:r>
            <a:r>
              <a:rPr lang="zh-CN" altLang="en-US" sz="2400" dirty="0">
                <a:latin typeface="Times New Roman" panose="02020603050405020304" pitchFamily="18" charset="0"/>
                <a:ea typeface="华文中宋" panose="02010600040101010101" pitchFamily="2" charset="-122"/>
                <a:hlinkClick r:id="rId4" action="ppaction://hlinksldjump"/>
              </a:rPr>
              <a:t>：直接映像的查找过程</a:t>
            </a:r>
            <a:endParaRPr lang="zh-CN" altLang="en-US" sz="2400" dirty="0">
              <a:latin typeface="Times New Roman" panose="02020603050405020304" pitchFamily="18" charset="0"/>
            </a:endParaRPr>
          </a:p>
          <a:p>
            <a:pPr eaLnBrk="1" hangingPunct="1">
              <a:lnSpc>
                <a:spcPct val="150000"/>
              </a:lnSpc>
              <a:buSzPct val="60000"/>
            </a:pPr>
            <a:endParaRPr kumimoji="1" lang="en-US" altLang="zh-CN" sz="1800" dirty="0">
              <a:latin typeface="Times New Roman" panose="02020603050405020304" pitchFamily="18" charset="0"/>
              <a:ea typeface="华文中宋" panose="02010600040101010101" pitchFamily="2" charset="-122"/>
            </a:endParaRPr>
          </a:p>
        </p:txBody>
      </p:sp>
      <p:sp>
        <p:nvSpPr>
          <p:cNvPr id="2" name="日期占位符 1">
            <a:extLst>
              <a:ext uri="{FF2B5EF4-FFF2-40B4-BE49-F238E27FC236}">
                <a16:creationId xmlns:a16="http://schemas.microsoft.com/office/drawing/2014/main" id="{BE8D5F79-B01A-FCC9-BFCA-0491FFF04CF7}"/>
              </a:ext>
            </a:extLst>
          </p:cNvPr>
          <p:cNvSpPr>
            <a:spLocks noGrp="1"/>
          </p:cNvSpPr>
          <p:nvPr>
            <p:ph type="dt" sz="half" idx="10"/>
          </p:nvPr>
        </p:nvSpPr>
        <p:spPr/>
        <p:txBody>
          <a:bodyPr/>
          <a:lstStyle/>
          <a:p>
            <a:pPr>
              <a:defRPr/>
            </a:pPr>
            <a:fld id="{6C12BA81-9FCD-4C88-A314-3389D506E719}"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D528A6A1-4E0D-6D14-0CDF-7F11EEA7F44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03ABBA91-1EC6-CD28-7501-EDE078476BCD}"/>
              </a:ext>
            </a:extLst>
          </p:cNvPr>
          <p:cNvSpPr>
            <a:spLocks noGrp="1"/>
          </p:cNvSpPr>
          <p:nvPr>
            <p:ph type="sldNum" sz="quarter" idx="12"/>
          </p:nvPr>
        </p:nvSpPr>
        <p:spPr/>
        <p:txBody>
          <a:bodyPr/>
          <a:lstStyle/>
          <a:p>
            <a:pPr>
              <a:defRPr/>
            </a:pPr>
            <a:fld id="{65B7EA61-351E-4105-9AD9-76D38C6E9934}" type="slidenum">
              <a:rPr lang="zh-CN" altLang="en-US" smtClean="0"/>
              <a:t>62</a:t>
            </a:fld>
            <a:endParaRPr lang="en-US" altLang="zh-CN"/>
          </a:p>
        </p:txBody>
      </p:sp>
    </p:spTree>
    <p:extLst>
      <p:ext uri="{BB962C8B-B14F-4D97-AF65-F5344CB8AC3E}">
        <p14:creationId xmlns:p14="http://schemas.microsoft.com/office/powerpoint/2010/main" val="28165285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3"/>
          <p:cNvSpPr txBox="1">
            <a:spLocks noChangeArrowheads="1"/>
          </p:cNvSpPr>
          <p:nvPr/>
        </p:nvSpPr>
        <p:spPr bwMode="auto">
          <a:xfrm>
            <a:off x="604952" y="1126589"/>
            <a:ext cx="8135937" cy="940835"/>
          </a:xfrm>
          <a:prstGeom prst="rect">
            <a:avLst/>
          </a:prstGeom>
          <a:noFill/>
          <a:ln w="9525">
            <a:noFill/>
            <a:miter lim="800000"/>
            <a:headEnd/>
            <a:tailEnd/>
          </a:ln>
        </p:spPr>
        <p:txBody>
          <a:bodyPr>
            <a:spAutoFit/>
          </a:bodyPr>
          <a:lstStyle/>
          <a:p>
            <a:pPr>
              <a:lnSpc>
                <a:spcPct val="120000"/>
              </a:lnSpc>
              <a:defRPr/>
            </a:pPr>
            <a:r>
              <a:rPr lang="zh-CN" altLang="en-US" sz="2400" dirty="0">
                <a:latin typeface="Times New Roman" panose="02020603050405020304" pitchFamily="18" charset="0"/>
                <a:ea typeface="华文中宋" panose="02010600040101010101" pitchFamily="2" charset="-122"/>
              </a:rPr>
              <a:t>所要解决的问题：当新调入一块，而该块能够占用的</a:t>
            </a:r>
            <a:r>
              <a:rPr lang="en-US" altLang="zh-CN" sz="2400" dirty="0">
                <a:latin typeface="Times New Roman" panose="02020603050405020304" pitchFamily="18" charset="0"/>
                <a:ea typeface="华文中宋" panose="02010600040101010101" pitchFamily="2" charset="-122"/>
              </a:rPr>
              <a:t>Cache</a:t>
            </a:r>
            <a:r>
              <a:rPr lang="zh-CN" altLang="en-US" sz="2400" dirty="0">
                <a:latin typeface="Times New Roman" panose="02020603050405020304" pitchFamily="18" charset="0"/>
                <a:ea typeface="华文中宋" panose="02010600040101010101" pitchFamily="2" charset="-122"/>
              </a:rPr>
              <a:t>位置已被占满时，替换哪一块？</a:t>
            </a:r>
          </a:p>
        </p:txBody>
      </p:sp>
      <p:sp>
        <p:nvSpPr>
          <p:cNvPr id="3" name="矩形 2"/>
          <p:cNvSpPr/>
          <p:nvPr/>
        </p:nvSpPr>
        <p:spPr>
          <a:xfrm>
            <a:off x="107504" y="2132856"/>
            <a:ext cx="7776219" cy="4079386"/>
          </a:xfrm>
          <a:prstGeom prst="rect">
            <a:avLst/>
          </a:prstGeom>
        </p:spPr>
        <p:txBody>
          <a:bodyPr wrap="square">
            <a:spAutoFit/>
          </a:bodyPr>
          <a:lstStyle/>
          <a:p>
            <a:pPr marL="800100" lvl="1" indent="-342900">
              <a:lnSpc>
                <a:spcPct val="120000"/>
              </a:lnSpc>
              <a:buFont typeface="Wingdings" panose="05000000000000000000" pitchFamily="2" charset="2"/>
              <a:buChar char="p"/>
              <a:defRPr/>
            </a:pPr>
            <a:r>
              <a:rPr lang="zh-CN" altLang="en-US" sz="2400" dirty="0">
                <a:solidFill>
                  <a:srgbClr val="C00000"/>
                </a:solidFill>
                <a:latin typeface="Times New Roman" panose="02020603050405020304" pitchFamily="18" charset="0"/>
                <a:ea typeface="华文中宋" panose="02010600040101010101" pitchFamily="2" charset="-122"/>
              </a:rPr>
              <a:t>直接映象</a:t>
            </a:r>
            <a:r>
              <a:rPr lang="en-US" altLang="zh-CN" sz="2400" dirty="0">
                <a:solidFill>
                  <a:srgbClr val="C00000"/>
                </a:solidFill>
                <a:latin typeface="Times New Roman" panose="02020603050405020304" pitchFamily="18" charset="0"/>
                <a:ea typeface="华文中宋" panose="02010600040101010101" pitchFamily="2" charset="-122"/>
              </a:rPr>
              <a:t>Cache</a:t>
            </a:r>
            <a:r>
              <a:rPr lang="zh-CN" altLang="en-US" sz="2400" dirty="0">
                <a:latin typeface="Times New Roman" panose="02020603050405020304" pitchFamily="18" charset="0"/>
                <a:ea typeface="华文中宋" panose="02010600040101010101" pitchFamily="2" charset="-122"/>
              </a:rPr>
              <a:t>中的替换很简单</a:t>
            </a:r>
          </a:p>
          <a:p>
            <a:pPr marL="1143000" lvl="2" indent="-228600">
              <a:lnSpc>
                <a:spcPct val="120000"/>
              </a:lnSpc>
              <a:defRPr/>
            </a:pPr>
            <a:r>
              <a:rPr lang="zh-CN" altLang="en-US" sz="2400" dirty="0">
                <a:latin typeface="Times New Roman" panose="02020603050405020304" pitchFamily="18" charset="0"/>
                <a:ea typeface="华文中宋" panose="02010600040101010101" pitchFamily="2" charset="-122"/>
              </a:rPr>
              <a:t>   </a:t>
            </a:r>
            <a:r>
              <a:rPr lang="zh-CN" altLang="en-US" sz="2400" dirty="0">
                <a:solidFill>
                  <a:srgbClr val="C00000"/>
                </a:solidFill>
                <a:latin typeface="Times New Roman" panose="02020603050405020304" pitchFamily="18" charset="0"/>
                <a:ea typeface="华文中宋" panose="02010600040101010101" pitchFamily="2" charset="-122"/>
              </a:rPr>
              <a:t>因为只有一个块，别无选择</a:t>
            </a:r>
            <a:r>
              <a:rPr lang="zh-CN" altLang="en-US" sz="2400" dirty="0">
                <a:latin typeface="Times New Roman" panose="02020603050405020304" pitchFamily="18" charset="0"/>
                <a:ea typeface="华文中宋" panose="02010600040101010101" pitchFamily="2" charset="-122"/>
              </a:rPr>
              <a:t>。</a:t>
            </a:r>
          </a:p>
          <a:p>
            <a:pPr marL="800100" lvl="1" indent="-342900">
              <a:lnSpc>
                <a:spcPct val="120000"/>
              </a:lnSpc>
              <a:buFont typeface="Wingdings" panose="05000000000000000000" pitchFamily="2" charset="2"/>
              <a:buChar char="p"/>
              <a:defRPr/>
            </a:pPr>
            <a:r>
              <a:rPr lang="zh-CN" altLang="en-US" sz="2400" dirty="0">
                <a:solidFill>
                  <a:srgbClr val="C00000"/>
                </a:solidFill>
                <a:latin typeface="Times New Roman" panose="02020603050405020304" pitchFamily="18" charset="0"/>
                <a:ea typeface="华文中宋" panose="02010600040101010101" pitchFamily="2" charset="-122"/>
              </a:rPr>
              <a:t>在组相联和全相联</a:t>
            </a:r>
            <a:r>
              <a:rPr lang="en-US" altLang="zh-CN" sz="2400" dirty="0">
                <a:solidFill>
                  <a:srgbClr val="C00000"/>
                </a:solidFill>
                <a:latin typeface="Times New Roman" panose="02020603050405020304" pitchFamily="18" charset="0"/>
                <a:ea typeface="华文中宋" panose="02010600040101010101" pitchFamily="2" charset="-122"/>
              </a:rPr>
              <a:t>Cache</a:t>
            </a:r>
            <a:r>
              <a:rPr lang="zh-CN" altLang="en-US" sz="2400" dirty="0">
                <a:latin typeface="Times New Roman" panose="02020603050405020304" pitchFamily="18" charset="0"/>
                <a:ea typeface="华文中宋" panose="02010600040101010101" pitchFamily="2" charset="-122"/>
              </a:rPr>
              <a:t>中，则有多个块供选择。</a:t>
            </a:r>
            <a:endParaRPr lang="en-US" altLang="zh-CN" sz="2400" dirty="0">
              <a:latin typeface="Times New Roman" panose="02020603050405020304" pitchFamily="18" charset="0"/>
              <a:ea typeface="华文中宋" panose="02010600040101010101" pitchFamily="2" charset="-122"/>
            </a:endParaRPr>
          </a:p>
          <a:p>
            <a:pPr marL="800100" lvl="1" indent="-342900">
              <a:lnSpc>
                <a:spcPct val="120000"/>
              </a:lnSpc>
              <a:buFont typeface="Wingdings" panose="05000000000000000000" pitchFamily="2" charset="2"/>
              <a:buChar char="Ø"/>
              <a:defRPr/>
            </a:pPr>
            <a:r>
              <a:rPr lang="zh-CN" altLang="en-US" sz="2400" dirty="0">
                <a:latin typeface="华文中宋" pitchFamily="2" charset="-122"/>
                <a:ea typeface="华文中宋" pitchFamily="2" charset="-122"/>
              </a:rPr>
              <a:t>主要的替换算法有三种</a:t>
            </a:r>
          </a:p>
          <a:p>
            <a:pPr marL="1143000" lvl="2" indent="-228600">
              <a:lnSpc>
                <a:spcPct val="120000"/>
              </a:lnSpc>
              <a:buFont typeface="Arial" panose="020B0604020202020204" pitchFamily="34" charset="0"/>
              <a:buChar char="•"/>
              <a:defRPr/>
            </a:pPr>
            <a:r>
              <a:rPr lang="zh-CN" altLang="en-US" sz="2400" dirty="0">
                <a:latin typeface="Times New Roman" panose="02020603050405020304" pitchFamily="18" charset="0"/>
                <a:ea typeface="华文中宋" panose="02010600040101010101" pitchFamily="2" charset="-122"/>
              </a:rPr>
              <a:t>随机法</a:t>
            </a:r>
          </a:p>
          <a:p>
            <a:pPr marL="1600200" lvl="3" indent="-228600">
              <a:lnSpc>
                <a:spcPct val="120000"/>
              </a:lnSpc>
              <a:defRPr/>
            </a:pPr>
            <a:r>
              <a:rPr lang="zh-CN" altLang="en-US" sz="2400" dirty="0">
                <a:latin typeface="Times New Roman" panose="02020603050405020304" pitchFamily="18" charset="0"/>
                <a:ea typeface="华文中宋" panose="02010600040101010101" pitchFamily="2" charset="-122"/>
              </a:rPr>
              <a:t>      优点：实现简单</a:t>
            </a:r>
          </a:p>
          <a:p>
            <a:pPr marL="1143000" lvl="2" indent="-228600">
              <a:lnSpc>
                <a:spcPct val="120000"/>
              </a:lnSpc>
              <a:buFont typeface="Arial" panose="020B0604020202020204" pitchFamily="34" charset="0"/>
              <a:buChar char="•"/>
              <a:defRPr/>
            </a:pPr>
            <a:r>
              <a:rPr lang="zh-CN" altLang="en-US" sz="2400" dirty="0">
                <a:latin typeface="Times New Roman" panose="02020603050405020304" pitchFamily="18" charset="0"/>
                <a:ea typeface="华文中宋" panose="02010600040101010101" pitchFamily="2" charset="-122"/>
              </a:rPr>
              <a:t>先进先出法</a:t>
            </a:r>
            <a:r>
              <a:rPr lang="en-US" altLang="zh-CN" sz="2400" dirty="0">
                <a:latin typeface="Times New Roman" panose="02020603050405020304" pitchFamily="18" charset="0"/>
                <a:ea typeface="华文中宋" panose="02010600040101010101" pitchFamily="2" charset="-122"/>
              </a:rPr>
              <a:t>FIFO</a:t>
            </a:r>
            <a:r>
              <a:rPr lang="zh-CN" altLang="en-US" sz="2400" dirty="0">
                <a:latin typeface="Times New Roman" panose="02020603050405020304" pitchFamily="18" charset="0"/>
                <a:ea typeface="华文中宋" panose="02010600040101010101" pitchFamily="2" charset="-122"/>
              </a:rPr>
              <a:t>（</a:t>
            </a:r>
            <a:r>
              <a:rPr lang="en-US" altLang="zh-CN" sz="2400" dirty="0">
                <a:latin typeface="Times New Roman" panose="02020603050405020304" pitchFamily="18" charset="0"/>
                <a:ea typeface="华文中宋" panose="02010600040101010101" pitchFamily="2" charset="-122"/>
              </a:rPr>
              <a:t>First In First Out</a:t>
            </a:r>
            <a:r>
              <a:rPr lang="zh-CN" altLang="en-US" sz="2400" dirty="0">
                <a:latin typeface="Times New Roman" panose="02020603050405020304" pitchFamily="18" charset="0"/>
                <a:ea typeface="华文中宋" panose="02010600040101010101" pitchFamily="2" charset="-122"/>
              </a:rPr>
              <a:t>）</a:t>
            </a:r>
            <a:endParaRPr lang="en-US" altLang="zh-CN" sz="2400" dirty="0">
              <a:latin typeface="Times New Roman" panose="02020603050405020304" pitchFamily="18" charset="0"/>
              <a:ea typeface="华文中宋" panose="02010600040101010101" pitchFamily="2" charset="-122"/>
            </a:endParaRPr>
          </a:p>
          <a:p>
            <a:pPr marL="1143000" lvl="2" indent="-228600">
              <a:lnSpc>
                <a:spcPct val="120000"/>
              </a:lnSpc>
              <a:buFont typeface="Arial" panose="020B0604020202020204" pitchFamily="34" charset="0"/>
              <a:buChar char="•"/>
              <a:defRPr/>
            </a:pPr>
            <a:r>
              <a:rPr lang="zh-CN" altLang="en-US" sz="2400" dirty="0">
                <a:latin typeface="Times New Roman" panose="02020603050405020304" pitchFamily="18" charset="0"/>
                <a:ea typeface="华文中宋" panose="02010600040101010101" pitchFamily="2" charset="-122"/>
              </a:rPr>
              <a:t>最近最少使用法</a:t>
            </a:r>
            <a:r>
              <a:rPr lang="en-US" altLang="zh-CN" sz="2400" dirty="0">
                <a:latin typeface="Times New Roman" panose="02020603050405020304" pitchFamily="18" charset="0"/>
                <a:ea typeface="华文中宋" panose="02010600040101010101" pitchFamily="2" charset="-122"/>
              </a:rPr>
              <a:t>LRU (Least Recently Used)</a:t>
            </a:r>
          </a:p>
          <a:p>
            <a:pPr marL="1143000" lvl="2" indent="-228600">
              <a:lnSpc>
                <a:spcPct val="120000"/>
              </a:lnSpc>
              <a:buFont typeface="Arial" panose="020B0604020202020204" pitchFamily="34" charset="0"/>
              <a:buChar char="•"/>
              <a:defRPr/>
            </a:pPr>
            <a:r>
              <a:rPr lang="zh-CN" altLang="en-US" sz="2400" dirty="0">
                <a:latin typeface="Times New Roman" panose="02020603050405020304" pitchFamily="18" charset="0"/>
                <a:ea typeface="华文中宋" panose="02010600040101010101" pitchFamily="2" charset="-122"/>
              </a:rPr>
              <a:t>最不常用法</a:t>
            </a:r>
            <a:r>
              <a:rPr lang="en-US" altLang="zh-CN" sz="2400" dirty="0">
                <a:latin typeface="Times New Roman" panose="02020603050405020304" pitchFamily="18" charset="0"/>
                <a:ea typeface="华文中宋" panose="02010600040101010101" pitchFamily="2" charset="-122"/>
              </a:rPr>
              <a:t>LFU (Least Frequently Used)</a:t>
            </a:r>
          </a:p>
        </p:txBody>
      </p:sp>
      <p:sp>
        <p:nvSpPr>
          <p:cNvPr id="5" name="Rectangle 2">
            <a:extLst>
              <a:ext uri="{FF2B5EF4-FFF2-40B4-BE49-F238E27FC236}">
                <a16:creationId xmlns:a16="http://schemas.microsoft.com/office/drawing/2014/main" id="{984787D5-D542-4674-8354-E2CB1F84B227}"/>
              </a:ext>
            </a:extLst>
          </p:cNvPr>
          <p:cNvSpPr txBox="1">
            <a:spLocks noChangeArrowheads="1"/>
          </p:cNvSpPr>
          <p:nvPr/>
        </p:nvSpPr>
        <p:spPr>
          <a:xfrm>
            <a:off x="323528" y="262493"/>
            <a:ext cx="8229600" cy="864096"/>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0" lang="en-US" altLang="zh-CN" sz="3600" b="1" dirty="0">
                <a:latin typeface="Times New Roman" panose="02020603050405020304" pitchFamily="18" charset="0"/>
                <a:cs typeface="Times New Roman" panose="02020603050405020304" pitchFamily="18" charset="0"/>
              </a:rPr>
              <a:t>5.2</a:t>
            </a:r>
            <a:r>
              <a:rPr kumimoji="0" lang="en-US" altLang="zh-CN" sz="3600" dirty="0">
                <a:latin typeface="Times New Roman" panose="02020603050405020304" pitchFamily="18" charset="0"/>
                <a:cs typeface="Times New Roman" panose="02020603050405020304" pitchFamily="18" charset="0"/>
              </a:rPr>
              <a:t>.3</a:t>
            </a:r>
            <a:r>
              <a:rPr kumimoji="0" lang="en-US" altLang="zh-CN" sz="3600" b="1" dirty="0">
                <a:latin typeface="Times New Roman" panose="02020603050405020304" pitchFamily="18" charset="0"/>
                <a:cs typeface="Times New Roman" panose="02020603050405020304" pitchFamily="18" charset="0"/>
              </a:rPr>
              <a:t> </a:t>
            </a:r>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替换算法</a:t>
            </a:r>
          </a:p>
        </p:txBody>
      </p:sp>
      <p:sp>
        <p:nvSpPr>
          <p:cNvPr id="2" name="日期占位符 1">
            <a:extLst>
              <a:ext uri="{FF2B5EF4-FFF2-40B4-BE49-F238E27FC236}">
                <a16:creationId xmlns:a16="http://schemas.microsoft.com/office/drawing/2014/main" id="{81151BD8-B5A4-4BB2-0A70-F4C7D395E773}"/>
              </a:ext>
            </a:extLst>
          </p:cNvPr>
          <p:cNvSpPr>
            <a:spLocks noGrp="1"/>
          </p:cNvSpPr>
          <p:nvPr>
            <p:ph type="dt" sz="half" idx="10"/>
          </p:nvPr>
        </p:nvSpPr>
        <p:spPr/>
        <p:txBody>
          <a:bodyPr/>
          <a:lstStyle/>
          <a:p>
            <a:pPr>
              <a:defRPr/>
            </a:pPr>
            <a:fld id="{8E905E29-3394-420C-BC31-2576D2B9C18F}"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372488C2-66D5-5E50-4BB2-054D0CAEA653}"/>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6" name="灯片编号占位符 5">
            <a:extLst>
              <a:ext uri="{FF2B5EF4-FFF2-40B4-BE49-F238E27FC236}">
                <a16:creationId xmlns:a16="http://schemas.microsoft.com/office/drawing/2014/main" id="{7C9C2831-9B6D-E7D1-D5B5-EBBF68F8463D}"/>
              </a:ext>
            </a:extLst>
          </p:cNvPr>
          <p:cNvSpPr>
            <a:spLocks noGrp="1"/>
          </p:cNvSpPr>
          <p:nvPr>
            <p:ph type="sldNum" sz="quarter" idx="12"/>
          </p:nvPr>
        </p:nvSpPr>
        <p:spPr/>
        <p:txBody>
          <a:bodyPr/>
          <a:lstStyle/>
          <a:p>
            <a:pPr>
              <a:defRPr/>
            </a:pPr>
            <a:fld id="{65B7EA61-351E-4105-9AD9-76D38C6E9934}" type="slidenum">
              <a:rPr lang="zh-CN" altLang="en-US" smtClean="0"/>
              <a:t>63</a:t>
            </a:fld>
            <a:endParaRPr lang="en-US" altLang="zh-CN"/>
          </a:p>
        </p:txBody>
      </p:sp>
    </p:spTree>
    <p:extLst>
      <p:ext uri="{BB962C8B-B14F-4D97-AF65-F5344CB8AC3E}">
        <p14:creationId xmlns:p14="http://schemas.microsoft.com/office/powerpoint/2010/main" val="22504765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3" descr="Rectangle: Click to edit Master text styles&#10;Second level&#10;Third level&#10;Fourth level&#10;Fifth level"/>
          <p:cNvSpPr>
            <a:spLocks noGrp="1" noChangeArrowheads="1"/>
          </p:cNvSpPr>
          <p:nvPr>
            <p:ph type="body" idx="1"/>
          </p:nvPr>
        </p:nvSpPr>
        <p:spPr>
          <a:xfrm>
            <a:off x="0" y="1117279"/>
            <a:ext cx="8676456" cy="4441825"/>
          </a:xfrm>
        </p:spPr>
        <p:txBody>
          <a:bodyPr/>
          <a:lstStyle/>
          <a:p>
            <a:pPr marL="971550" lvl="1" indent="-342900" eaLnBrk="1" hangingPunct="1">
              <a:lnSpc>
                <a:spcPct val="120000"/>
              </a:lnSpc>
              <a:spcBef>
                <a:spcPct val="0"/>
              </a:spcBef>
              <a:buFont typeface="Wingdings" panose="05000000000000000000" pitchFamily="2" charset="2"/>
              <a:buChar char="Ø"/>
              <a:defRPr/>
            </a:pPr>
            <a:r>
              <a:rPr kumimoji="1" lang="zh-CN" altLang="en-US" sz="2400" b="1" dirty="0">
                <a:latin typeface="Times New Roman" panose="02020603050405020304" pitchFamily="18" charset="0"/>
                <a:ea typeface="华文中宋" panose="02010600040101010101" pitchFamily="2" charset="-122"/>
              </a:rPr>
              <a:t>最近最少使用法</a:t>
            </a:r>
            <a:r>
              <a:rPr kumimoji="1" lang="en-US" altLang="zh-CN" sz="2400" b="1" dirty="0">
                <a:latin typeface="Times New Roman" panose="02020603050405020304" pitchFamily="18" charset="0"/>
                <a:ea typeface="华文中宋" panose="02010600040101010101" pitchFamily="2" charset="-122"/>
              </a:rPr>
              <a:t>LRU</a:t>
            </a:r>
          </a:p>
          <a:p>
            <a:pPr lvl="2" eaLnBrk="1" hangingPunct="1">
              <a:lnSpc>
                <a:spcPct val="120000"/>
              </a:lnSpc>
              <a:spcBef>
                <a:spcPct val="0"/>
              </a:spcBef>
              <a:defRPr/>
            </a:pPr>
            <a:r>
              <a:rPr kumimoji="1" lang="zh-CN" altLang="en-US" b="1" dirty="0">
                <a:latin typeface="Times New Roman" panose="02020603050405020304" pitchFamily="18" charset="0"/>
                <a:ea typeface="华文中宋" panose="02010600040101010101" pitchFamily="2" charset="-122"/>
              </a:rPr>
              <a:t>选择最近最少没有被访问的块作为被替换的块。</a:t>
            </a:r>
            <a:endParaRPr kumimoji="1" lang="en-US" altLang="zh-CN" b="1" dirty="0">
              <a:latin typeface="Times New Roman" panose="02020603050405020304" pitchFamily="18" charset="0"/>
              <a:ea typeface="华文中宋" panose="02010600040101010101" pitchFamily="2" charset="-122"/>
            </a:endParaRPr>
          </a:p>
          <a:p>
            <a:pPr marL="914400" lvl="2" indent="0" eaLnBrk="1" hangingPunct="1">
              <a:lnSpc>
                <a:spcPct val="120000"/>
              </a:lnSpc>
              <a:spcBef>
                <a:spcPct val="0"/>
              </a:spcBef>
              <a:buNone/>
              <a:defRPr/>
            </a:pPr>
            <a:r>
              <a:rPr kumimoji="1" lang="zh-CN" altLang="en-US" b="1" dirty="0">
                <a:latin typeface="Times New Roman" panose="02020603050405020304" pitchFamily="18" charset="0"/>
                <a:ea typeface="华文中宋" panose="02010600040101010101" pitchFamily="2" charset="-122"/>
              </a:rPr>
              <a:t>（实现比较困难）</a:t>
            </a:r>
          </a:p>
          <a:p>
            <a:pPr lvl="2" eaLnBrk="1" hangingPunct="1">
              <a:lnSpc>
                <a:spcPct val="120000"/>
              </a:lnSpc>
              <a:spcBef>
                <a:spcPct val="0"/>
              </a:spcBef>
              <a:defRPr/>
            </a:pPr>
            <a:r>
              <a:rPr kumimoji="1" lang="zh-CN" altLang="en-US" b="1" dirty="0">
                <a:solidFill>
                  <a:srgbClr val="C00000"/>
                </a:solidFill>
                <a:latin typeface="Times New Roman" panose="02020603050405020304" pitchFamily="18" charset="0"/>
                <a:ea typeface="华文中宋" panose="02010600040101010101" pitchFamily="2" charset="-122"/>
              </a:rPr>
              <a:t>实际上：</a:t>
            </a:r>
            <a:r>
              <a:rPr kumimoji="1" lang="zh-CN" altLang="en-US" b="1" dirty="0">
                <a:latin typeface="Times New Roman" panose="02020603050405020304" pitchFamily="18" charset="0"/>
                <a:ea typeface="华文中宋" panose="02010600040101010101" pitchFamily="2" charset="-122"/>
              </a:rPr>
              <a:t>选择最久没有被访问过的块作为被替换的块。 </a:t>
            </a:r>
          </a:p>
          <a:p>
            <a:pPr lvl="2" eaLnBrk="1" hangingPunct="1">
              <a:lnSpc>
                <a:spcPct val="120000"/>
              </a:lnSpc>
              <a:spcBef>
                <a:spcPct val="0"/>
              </a:spcBef>
              <a:defRPr/>
            </a:pPr>
            <a:r>
              <a:rPr kumimoji="1" lang="zh-CN" altLang="en-US" b="1" dirty="0">
                <a:solidFill>
                  <a:srgbClr val="C00000"/>
                </a:solidFill>
                <a:latin typeface="Times New Roman" panose="02020603050405020304" pitchFamily="18" charset="0"/>
                <a:ea typeface="华文中宋" panose="02010600040101010101" pitchFamily="2" charset="-122"/>
              </a:rPr>
              <a:t>优点：</a:t>
            </a:r>
            <a:r>
              <a:rPr kumimoji="1" lang="zh-CN" altLang="en-US" b="1" dirty="0">
                <a:latin typeface="Times New Roman" panose="02020603050405020304" pitchFamily="18" charset="0"/>
                <a:ea typeface="华文中宋" panose="02010600040101010101" pitchFamily="2" charset="-122"/>
              </a:rPr>
              <a:t>命中率较高</a:t>
            </a:r>
          </a:p>
          <a:p>
            <a:pPr marL="971550" lvl="1" indent="-342900" eaLnBrk="1" hangingPunct="1">
              <a:lnSpc>
                <a:spcPct val="120000"/>
              </a:lnSpc>
              <a:spcBef>
                <a:spcPct val="0"/>
              </a:spcBef>
              <a:buFont typeface="Wingdings" panose="05000000000000000000" pitchFamily="2" charset="2"/>
              <a:buChar char="Ø"/>
              <a:defRPr/>
            </a:pPr>
            <a:r>
              <a:rPr kumimoji="1" lang="en-US" altLang="zh-CN" sz="2400" b="1" dirty="0">
                <a:solidFill>
                  <a:srgbClr val="C00000"/>
                </a:solidFill>
                <a:latin typeface="Times New Roman" panose="02020603050405020304" pitchFamily="18" charset="0"/>
                <a:ea typeface="华文中宋" panose="02010600040101010101" pitchFamily="2" charset="-122"/>
              </a:rPr>
              <a:t>LRU</a:t>
            </a:r>
            <a:r>
              <a:rPr kumimoji="1" lang="zh-CN" altLang="en-US" sz="2400" b="1" dirty="0">
                <a:solidFill>
                  <a:srgbClr val="C00000"/>
                </a:solidFill>
                <a:latin typeface="Times New Roman" panose="02020603050405020304" pitchFamily="18" charset="0"/>
                <a:ea typeface="华文中宋" panose="02010600040101010101" pitchFamily="2" charset="-122"/>
              </a:rPr>
              <a:t>和随机法分别因其失效率低和实现简单而被广泛采用</a:t>
            </a:r>
            <a:r>
              <a:rPr kumimoji="1" lang="zh-CN" altLang="en-US" sz="2400" b="1" dirty="0">
                <a:latin typeface="Times New Roman" panose="02020603050405020304" pitchFamily="18" charset="0"/>
                <a:ea typeface="华文中宋" panose="02010600040101010101" pitchFamily="2" charset="-122"/>
              </a:rPr>
              <a:t>。</a:t>
            </a:r>
          </a:p>
          <a:p>
            <a:pPr lvl="2" eaLnBrk="1" hangingPunct="1">
              <a:lnSpc>
                <a:spcPct val="120000"/>
              </a:lnSpc>
              <a:spcBef>
                <a:spcPct val="0"/>
              </a:spcBef>
              <a:defRPr/>
            </a:pPr>
            <a:r>
              <a:rPr kumimoji="1" lang="zh-CN" altLang="en-US" b="1" dirty="0">
                <a:latin typeface="Times New Roman" panose="02020603050405020304" pitchFamily="18" charset="0"/>
                <a:ea typeface="华文中宋" panose="02010600040101010101" pitchFamily="2" charset="-122"/>
              </a:rPr>
              <a:t>模拟数据表明，对于容量很大的</a:t>
            </a:r>
            <a:r>
              <a:rPr kumimoji="1" lang="en-US" altLang="zh-CN" b="1" dirty="0">
                <a:latin typeface="Times New Roman" panose="02020603050405020304" pitchFamily="18" charset="0"/>
                <a:ea typeface="华文中宋" panose="02010600040101010101" pitchFamily="2" charset="-122"/>
              </a:rPr>
              <a:t>Cache</a:t>
            </a:r>
            <a:r>
              <a:rPr kumimoji="1" lang="zh-CN" altLang="en-US" b="1" dirty="0">
                <a:latin typeface="Times New Roman" panose="02020603050405020304" pitchFamily="18" charset="0"/>
                <a:ea typeface="华文中宋" panose="02010600040101010101" pitchFamily="2" charset="-122"/>
              </a:rPr>
              <a:t>，</a:t>
            </a:r>
            <a:r>
              <a:rPr kumimoji="1" lang="en-US" altLang="zh-CN" b="1" dirty="0">
                <a:latin typeface="Times New Roman" panose="02020603050405020304" pitchFamily="18" charset="0"/>
                <a:ea typeface="华文中宋" panose="02010600040101010101" pitchFamily="2" charset="-122"/>
              </a:rPr>
              <a:t>LRU</a:t>
            </a:r>
            <a:r>
              <a:rPr kumimoji="1" lang="zh-CN" altLang="en-US" b="1" dirty="0">
                <a:latin typeface="Times New Roman" panose="02020603050405020304" pitchFamily="18" charset="0"/>
                <a:ea typeface="华文中宋" panose="02010600040101010101" pitchFamily="2" charset="-122"/>
              </a:rPr>
              <a:t>和随机法的命中率差别不大。</a:t>
            </a:r>
          </a:p>
        </p:txBody>
      </p:sp>
      <p:sp>
        <p:nvSpPr>
          <p:cNvPr id="5" name="Rectangle 2">
            <a:extLst>
              <a:ext uri="{FF2B5EF4-FFF2-40B4-BE49-F238E27FC236}">
                <a16:creationId xmlns:a16="http://schemas.microsoft.com/office/drawing/2014/main" id="{DD8BC106-5877-4C39-8057-553DF2F047B9}"/>
              </a:ext>
            </a:extLst>
          </p:cNvPr>
          <p:cNvSpPr txBox="1">
            <a:spLocks noChangeArrowheads="1"/>
          </p:cNvSpPr>
          <p:nvPr/>
        </p:nvSpPr>
        <p:spPr>
          <a:xfrm>
            <a:off x="323528" y="262493"/>
            <a:ext cx="8229600" cy="864096"/>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0" lang="en-US" altLang="zh-CN" sz="3600" b="1" dirty="0">
                <a:latin typeface="Times New Roman" panose="02020603050405020304" pitchFamily="18" charset="0"/>
                <a:cs typeface="Times New Roman" panose="02020603050405020304" pitchFamily="18" charset="0"/>
              </a:rPr>
              <a:t>5.2</a:t>
            </a:r>
            <a:r>
              <a:rPr kumimoji="0" lang="en-US" altLang="zh-CN" sz="3600" dirty="0">
                <a:latin typeface="Times New Roman" panose="02020603050405020304" pitchFamily="18" charset="0"/>
                <a:cs typeface="Times New Roman" panose="02020603050405020304" pitchFamily="18" charset="0"/>
              </a:rPr>
              <a:t>.3</a:t>
            </a:r>
            <a:r>
              <a:rPr kumimoji="0" lang="en-US" altLang="zh-CN" sz="3600" b="1" dirty="0">
                <a:latin typeface="Times New Roman" panose="02020603050405020304" pitchFamily="18" charset="0"/>
                <a:cs typeface="Times New Roman" panose="02020603050405020304" pitchFamily="18" charset="0"/>
              </a:rPr>
              <a:t> </a:t>
            </a:r>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替换算法</a:t>
            </a:r>
          </a:p>
        </p:txBody>
      </p:sp>
      <p:sp>
        <p:nvSpPr>
          <p:cNvPr id="2" name="日期占位符 1">
            <a:extLst>
              <a:ext uri="{FF2B5EF4-FFF2-40B4-BE49-F238E27FC236}">
                <a16:creationId xmlns:a16="http://schemas.microsoft.com/office/drawing/2014/main" id="{9A417C94-7AF2-DC0C-71CB-F968FE488786}"/>
              </a:ext>
            </a:extLst>
          </p:cNvPr>
          <p:cNvSpPr>
            <a:spLocks noGrp="1"/>
          </p:cNvSpPr>
          <p:nvPr>
            <p:ph type="dt" sz="half" idx="10"/>
          </p:nvPr>
        </p:nvSpPr>
        <p:spPr/>
        <p:txBody>
          <a:bodyPr/>
          <a:lstStyle/>
          <a:p>
            <a:pPr>
              <a:defRPr/>
            </a:pPr>
            <a:fld id="{E34AC428-1FAB-451D-ABDC-2391776474F3}"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20629A5F-46DF-E475-7CB6-EFCBA3557444}"/>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E06200C7-07B9-E132-09F1-DAFC720B61E0}"/>
              </a:ext>
            </a:extLst>
          </p:cNvPr>
          <p:cNvSpPr>
            <a:spLocks noGrp="1"/>
          </p:cNvSpPr>
          <p:nvPr>
            <p:ph type="sldNum" sz="quarter" idx="12"/>
          </p:nvPr>
        </p:nvSpPr>
        <p:spPr/>
        <p:txBody>
          <a:bodyPr/>
          <a:lstStyle/>
          <a:p>
            <a:pPr>
              <a:defRPr/>
            </a:pPr>
            <a:fld id="{8BCAC33D-D29A-48B3-BCD6-381D3D720D26}" type="slidenum">
              <a:rPr lang="zh-CN" altLang="en-US" smtClean="0"/>
              <a:t>64</a:t>
            </a:fld>
            <a:endParaRPr lang="en-US" altLang="zh-CN"/>
          </a:p>
        </p:txBody>
      </p:sp>
    </p:spTree>
    <p:extLst>
      <p:ext uri="{BB962C8B-B14F-4D97-AF65-F5344CB8AC3E}">
        <p14:creationId xmlns:p14="http://schemas.microsoft.com/office/powerpoint/2010/main" val="38760144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5" name="Picture 2" descr="FIG6">
            <a:extLst>
              <a:ext uri="{FF2B5EF4-FFF2-40B4-BE49-F238E27FC236}">
                <a16:creationId xmlns:a16="http://schemas.microsoft.com/office/drawing/2014/main" id="{24FB871B-7DCD-41C9-A424-543ECC46A8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541" y="781248"/>
            <a:ext cx="8350917" cy="2643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6" name="矩形 2">
            <a:extLst>
              <a:ext uri="{FF2B5EF4-FFF2-40B4-BE49-F238E27FC236}">
                <a16:creationId xmlns:a16="http://schemas.microsoft.com/office/drawing/2014/main" id="{77A6D9E6-691C-4754-A6D9-D31065E75848}"/>
              </a:ext>
            </a:extLst>
          </p:cNvPr>
          <p:cNvSpPr>
            <a:spLocks noChangeArrowheads="1"/>
          </p:cNvSpPr>
          <p:nvPr/>
        </p:nvSpPr>
        <p:spPr bwMode="auto">
          <a:xfrm>
            <a:off x="642937" y="3786188"/>
            <a:ext cx="78263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120000"/>
              </a:lnSpc>
              <a:spcBef>
                <a:spcPct val="20000"/>
              </a:spcBef>
              <a:buClr>
                <a:schemeClr val="tx1"/>
              </a:buClr>
              <a:buFont typeface="Wingdings" panose="05000000000000000000" pitchFamily="2" charset="2"/>
              <a:buAutoNum type="arabicPeriod"/>
              <a:defRPr kumimoji="1" sz="2400">
                <a:solidFill>
                  <a:srgbClr val="E24C05"/>
                </a:solidFill>
                <a:latin typeface="Tahoma" panose="020B0604030504040204" pitchFamily="34" charset="0"/>
                <a:ea typeface="黑体" panose="02010609060101010101" pitchFamily="49" charset="-122"/>
              </a:defRPr>
            </a:lvl1pPr>
            <a:lvl2pPr marL="742950" indent="-285750">
              <a:lnSpc>
                <a:spcPct val="120000"/>
              </a:lnSpc>
              <a:spcBef>
                <a:spcPct val="20000"/>
              </a:spcBef>
              <a:buClr>
                <a:schemeClr val="tx1"/>
              </a:buClr>
              <a:buSzPct val="90000"/>
              <a:buFont typeface="Wingdings" panose="05000000000000000000" pitchFamily="2" charset="2"/>
              <a:buChar char="Ø"/>
              <a:defRPr kumimoji="1" sz="2400">
                <a:solidFill>
                  <a:schemeClr val="tx1"/>
                </a:solidFill>
                <a:latin typeface="Tahoma" panose="020B0604030504040204" pitchFamily="34" charset="0"/>
                <a:ea typeface="黑体" panose="02010609060101010101" pitchFamily="49" charset="-122"/>
              </a:defRPr>
            </a:lvl2pPr>
            <a:lvl3pPr marL="1143000" indent="-228600">
              <a:lnSpc>
                <a:spcPct val="120000"/>
              </a:lnSpc>
              <a:spcBef>
                <a:spcPct val="20000"/>
              </a:spcBef>
              <a:buClr>
                <a:schemeClr val="hlink"/>
              </a:buClr>
              <a:buSzPct val="60000"/>
              <a:buFont typeface="Wingdings" panose="05000000000000000000" pitchFamily="2" charset="2"/>
              <a:buChar char="q"/>
              <a:defRPr kumimoji="1" sz="2000" b="1">
                <a:solidFill>
                  <a:srgbClr val="000000"/>
                </a:solidFill>
                <a:latin typeface="Tahoma" panose="020B0604030504040204" pitchFamily="34" charset="0"/>
                <a:ea typeface="宋体" panose="02010600030101010101" pitchFamily="2" charset="-122"/>
              </a:defRPr>
            </a:lvl3pPr>
            <a:lvl4pPr marL="1600200" indent="-228600">
              <a:lnSpc>
                <a:spcPct val="120000"/>
              </a:lnSpc>
              <a:spcBef>
                <a:spcPct val="20000"/>
              </a:spcBef>
              <a:buClr>
                <a:srgbClr val="006600"/>
              </a:buClr>
              <a:buSzPct val="65000"/>
              <a:buFont typeface="Wingdings" panose="05000000000000000000" pitchFamily="2" charset="2"/>
              <a:buChar char="n"/>
              <a:defRPr kumimoji="1" sz="2000" b="1">
                <a:solidFill>
                  <a:schemeClr val="tx1"/>
                </a:solidFill>
                <a:latin typeface="Tahoma" panose="020B0604030504040204" pitchFamily="34" charset="0"/>
                <a:ea typeface="宋体" panose="02010600030101010101" pitchFamily="2" charset="-122"/>
              </a:defRPr>
            </a:lvl4pPr>
            <a:lvl5pPr marL="2057400" indent="-228600">
              <a:lnSpc>
                <a:spcPct val="120000"/>
              </a:lnSpc>
              <a:spcBef>
                <a:spcPct val="20000"/>
              </a:spcBef>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5pPr>
            <a:lvl6pPr marL="25146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6pPr>
            <a:lvl7pPr marL="29718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7pPr>
            <a:lvl8pPr marL="34290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8pPr>
            <a:lvl9pPr marL="3886200" indent="-228600" eaLnBrk="0" fontAlgn="base" hangingPunct="0">
              <a:lnSpc>
                <a:spcPct val="120000"/>
              </a:lnSpc>
              <a:spcBef>
                <a:spcPct val="20000"/>
              </a:spcBef>
              <a:spcAft>
                <a:spcPct val="0"/>
              </a:spcAft>
              <a:buClr>
                <a:schemeClr val="hlink"/>
              </a:buClr>
              <a:buSzPct val="60000"/>
              <a:buFont typeface="Wingdings" panose="05000000000000000000" pitchFamily="2" charset="2"/>
              <a:buChar char="n"/>
              <a:defRPr kumimoji="1" b="1">
                <a:solidFill>
                  <a:schemeClr val="tx1"/>
                </a:solidFill>
                <a:latin typeface="Tahoma" panose="020B0604030504040204" pitchFamily="34" charset="0"/>
                <a:ea typeface="宋体" panose="02010600030101010101" pitchFamily="2" charset="-122"/>
              </a:defRPr>
            </a:lvl9pPr>
          </a:lstStyle>
          <a:p>
            <a:pPr eaLnBrk="1" hangingPunct="1">
              <a:lnSpc>
                <a:spcPct val="100000"/>
              </a:lnSpc>
              <a:spcBef>
                <a:spcPct val="0"/>
              </a:spcBef>
              <a:buClrTx/>
              <a:buFontTx/>
              <a:buNone/>
            </a:pPr>
            <a:r>
              <a:rPr lang="zh-CN" altLang="en-US" dirty="0">
                <a:solidFill>
                  <a:schemeClr val="tx1"/>
                </a:solidFill>
                <a:latin typeface="Times New Roman" panose="02020603050405020304" pitchFamily="18" charset="0"/>
                <a:ea typeface="华文中宋" panose="02010600040101010101" pitchFamily="2" charset="-122"/>
              </a:rPr>
              <a:t>         最近最少使用、随机和先进先出三种替换策略，在不同</a:t>
            </a:r>
            <a:r>
              <a:rPr lang="en-US" altLang="zh-CN" dirty="0">
                <a:solidFill>
                  <a:schemeClr val="tx1"/>
                </a:solidFill>
                <a:latin typeface="Times New Roman" panose="02020603050405020304" pitchFamily="18" charset="0"/>
                <a:ea typeface="华文中宋" panose="02010600040101010101" pitchFamily="2" charset="-122"/>
              </a:rPr>
              <a:t>Cache</a:t>
            </a:r>
            <a:r>
              <a:rPr lang="zh-CN" altLang="en-US" dirty="0">
                <a:solidFill>
                  <a:schemeClr val="tx1"/>
                </a:solidFill>
                <a:latin typeface="Times New Roman" panose="02020603050405020304" pitchFamily="18" charset="0"/>
                <a:ea typeface="华文中宋" panose="02010600040101010101" pitchFamily="2" charset="-122"/>
              </a:rPr>
              <a:t>大小和相联度情况下，每千条指令缺失率比较</a:t>
            </a:r>
          </a:p>
        </p:txBody>
      </p:sp>
      <p:sp>
        <p:nvSpPr>
          <p:cNvPr id="2" name="日期占位符 1">
            <a:extLst>
              <a:ext uri="{FF2B5EF4-FFF2-40B4-BE49-F238E27FC236}">
                <a16:creationId xmlns:a16="http://schemas.microsoft.com/office/drawing/2014/main" id="{26EA5466-B413-62DF-7A6C-352569555008}"/>
              </a:ext>
            </a:extLst>
          </p:cNvPr>
          <p:cNvSpPr>
            <a:spLocks noGrp="1"/>
          </p:cNvSpPr>
          <p:nvPr>
            <p:ph type="dt" sz="half" idx="10"/>
          </p:nvPr>
        </p:nvSpPr>
        <p:spPr/>
        <p:txBody>
          <a:bodyPr/>
          <a:lstStyle/>
          <a:p>
            <a:pPr>
              <a:defRPr/>
            </a:pPr>
            <a:fld id="{D0CBBE86-67A7-4F21-AB4D-FCE36F1E14FB}"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D1CA66C2-4042-0278-88AC-5429C7722D0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482804D3-DF76-EB89-07C2-F9D9CD8BC8EE}"/>
              </a:ext>
            </a:extLst>
          </p:cNvPr>
          <p:cNvSpPr>
            <a:spLocks noGrp="1"/>
          </p:cNvSpPr>
          <p:nvPr>
            <p:ph type="sldNum" sz="quarter" idx="12"/>
          </p:nvPr>
        </p:nvSpPr>
        <p:spPr/>
        <p:txBody>
          <a:bodyPr/>
          <a:lstStyle/>
          <a:p>
            <a:pPr>
              <a:defRPr/>
            </a:pPr>
            <a:fld id="{65B7EA61-351E-4105-9AD9-76D38C6E9934}" type="slidenum">
              <a:rPr lang="zh-CN" altLang="en-US" smtClean="0"/>
              <a:t>65</a:t>
            </a:fld>
            <a:endParaRPr lang="en-US" altLang="zh-CN"/>
          </a:p>
        </p:txBody>
      </p:sp>
    </p:spTree>
    <p:extLst>
      <p:ext uri="{BB962C8B-B14F-4D97-AF65-F5344CB8AC3E}">
        <p14:creationId xmlns:p14="http://schemas.microsoft.com/office/powerpoint/2010/main" val="5604402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3"/>
          <p:cNvSpPr txBox="1">
            <a:spLocks noChangeArrowheads="1"/>
          </p:cNvSpPr>
          <p:nvPr/>
        </p:nvSpPr>
        <p:spPr bwMode="auto">
          <a:xfrm>
            <a:off x="684213" y="1268413"/>
            <a:ext cx="8280400" cy="2944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kumimoji="1" lang="en-US" altLang="zh-CN" sz="2400" dirty="0">
                <a:latin typeface="Times New Roman" panose="02020603050405020304" pitchFamily="18" charset="0"/>
                <a:ea typeface="华文中宋" panose="02010600040101010101" pitchFamily="2" charset="-122"/>
              </a:rPr>
              <a:t>1. “</a:t>
            </a:r>
            <a:r>
              <a:rPr kumimoji="1" lang="zh-CN" altLang="en-US" sz="2400" dirty="0">
                <a:latin typeface="Times New Roman" panose="02020603050405020304" pitchFamily="18" charset="0"/>
                <a:ea typeface="华文中宋" panose="02010600040101010101" pitchFamily="2" charset="-122"/>
              </a:rPr>
              <a:t>写”操作所占的比例</a:t>
            </a:r>
          </a:p>
          <a:p>
            <a:pPr eaLnBrk="1" hangingPunct="1">
              <a:lnSpc>
                <a:spcPct val="120000"/>
              </a:lnSpc>
            </a:pPr>
            <a:r>
              <a:rPr kumimoji="1" lang="zh-CN" altLang="en-US" sz="2400" dirty="0">
                <a:latin typeface="Times New Roman" panose="02020603050405020304" pitchFamily="18" charset="0"/>
                <a:ea typeface="华文中宋" panose="02010600040101010101" pitchFamily="2" charset="-122"/>
              </a:rPr>
              <a:t>       </a:t>
            </a:r>
            <a:r>
              <a:rPr kumimoji="1" lang="en-US" altLang="zh-CN" sz="2400" dirty="0">
                <a:latin typeface="Times New Roman" panose="02020603050405020304" pitchFamily="18" charset="0"/>
                <a:ea typeface="华文中宋" panose="02010600040101010101" pitchFamily="2" charset="-122"/>
              </a:rPr>
              <a:t>Load</a:t>
            </a:r>
            <a:r>
              <a:rPr kumimoji="1" lang="zh-CN" altLang="en-US" sz="2400" dirty="0">
                <a:latin typeface="Times New Roman" panose="02020603050405020304" pitchFamily="18" charset="0"/>
                <a:ea typeface="华文中宋" panose="02010600040101010101" pitchFamily="2" charset="-122"/>
              </a:rPr>
              <a:t>指令：</a:t>
            </a:r>
            <a:r>
              <a:rPr kumimoji="1" lang="en-US" altLang="zh-CN" sz="2400" dirty="0">
                <a:solidFill>
                  <a:srgbClr val="C00000"/>
                </a:solidFill>
                <a:latin typeface="Times New Roman" panose="02020603050405020304" pitchFamily="18" charset="0"/>
                <a:ea typeface="华文中宋" panose="02010600040101010101" pitchFamily="2" charset="-122"/>
              </a:rPr>
              <a:t>26</a:t>
            </a:r>
            <a:r>
              <a:rPr kumimoji="1" lang="zh-CN" altLang="en-US" sz="2400" dirty="0">
                <a:solidFill>
                  <a:srgbClr val="C00000"/>
                </a:solidFill>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            </a:t>
            </a:r>
            <a:r>
              <a:rPr kumimoji="1" lang="en-US" altLang="zh-CN" sz="2400" dirty="0">
                <a:latin typeface="Times New Roman" panose="02020603050405020304" pitchFamily="18" charset="0"/>
                <a:ea typeface="华文中宋" panose="02010600040101010101" pitchFamily="2" charset="-122"/>
              </a:rPr>
              <a:t>Store</a:t>
            </a:r>
            <a:r>
              <a:rPr kumimoji="1" lang="zh-CN" altLang="en-US" sz="2400" dirty="0">
                <a:latin typeface="Times New Roman" panose="02020603050405020304" pitchFamily="18" charset="0"/>
                <a:ea typeface="华文中宋" panose="02010600040101010101" pitchFamily="2" charset="-122"/>
              </a:rPr>
              <a:t>指令：</a:t>
            </a:r>
            <a:r>
              <a:rPr kumimoji="1" lang="en-US" altLang="zh-CN" sz="2400" dirty="0">
                <a:solidFill>
                  <a:srgbClr val="C00000"/>
                </a:solidFill>
                <a:latin typeface="Times New Roman" panose="02020603050405020304" pitchFamily="18" charset="0"/>
                <a:ea typeface="华文中宋" panose="02010600040101010101" pitchFamily="2" charset="-122"/>
              </a:rPr>
              <a:t>9</a:t>
            </a:r>
            <a:r>
              <a:rPr kumimoji="1" lang="zh-CN" altLang="en-US" sz="2400" dirty="0">
                <a:solidFill>
                  <a:srgbClr val="C00000"/>
                </a:solidFill>
                <a:latin typeface="Times New Roman" panose="02020603050405020304" pitchFamily="18" charset="0"/>
                <a:ea typeface="华文中宋" panose="02010600040101010101" pitchFamily="2" charset="-122"/>
              </a:rPr>
              <a:t>％</a:t>
            </a:r>
          </a:p>
          <a:p>
            <a:pPr eaLnBrk="1" hangingPunct="1">
              <a:lnSpc>
                <a:spcPct val="120000"/>
              </a:lnSpc>
              <a:spcBef>
                <a:spcPts val="600"/>
              </a:spcBef>
            </a:pPr>
            <a:r>
              <a:rPr kumimoji="1" lang="zh-CN" altLang="en-US" sz="2400" dirty="0">
                <a:latin typeface="Times New Roman" panose="02020603050405020304" pitchFamily="18" charset="0"/>
                <a:ea typeface="华文中宋" panose="02010600040101010101" pitchFamily="2" charset="-122"/>
              </a:rPr>
              <a:t>       “写”在</a:t>
            </a:r>
            <a:r>
              <a:rPr kumimoji="1" lang="zh-CN" altLang="en-US" sz="2400" dirty="0">
                <a:solidFill>
                  <a:srgbClr val="C00000"/>
                </a:solidFill>
                <a:latin typeface="Times New Roman" panose="02020603050405020304" pitchFamily="18" charset="0"/>
                <a:ea typeface="华文中宋" panose="02010600040101010101" pitchFamily="2" charset="-122"/>
              </a:rPr>
              <a:t>所有访存操作中</a:t>
            </a:r>
            <a:r>
              <a:rPr kumimoji="1" lang="zh-CN" altLang="en-US" sz="2400" dirty="0">
                <a:latin typeface="Times New Roman" panose="02020603050405020304" pitchFamily="18" charset="0"/>
                <a:ea typeface="华文中宋" panose="02010600040101010101" pitchFamily="2" charset="-122"/>
              </a:rPr>
              <a:t>所占的比例：</a:t>
            </a:r>
          </a:p>
          <a:p>
            <a:pPr eaLnBrk="1" hangingPunct="1">
              <a:lnSpc>
                <a:spcPct val="120000"/>
              </a:lnSpc>
              <a:spcBef>
                <a:spcPts val="600"/>
              </a:spcBef>
            </a:pPr>
            <a:r>
              <a:rPr kumimoji="1" lang="zh-CN" altLang="en-US" sz="2400" dirty="0">
                <a:latin typeface="Times New Roman" panose="02020603050405020304" pitchFamily="18" charset="0"/>
                <a:ea typeface="华文中宋" panose="02010600040101010101" pitchFamily="2" charset="-122"/>
              </a:rPr>
              <a:t>           </a:t>
            </a:r>
            <a:r>
              <a:rPr kumimoji="1" lang="en-US" altLang="zh-CN" sz="2400" dirty="0">
                <a:latin typeface="Times New Roman" panose="02020603050405020304" pitchFamily="18" charset="0"/>
                <a:ea typeface="华文中宋" panose="02010600040101010101" pitchFamily="2" charset="-122"/>
              </a:rPr>
              <a:t>9</a:t>
            </a:r>
            <a:r>
              <a:rPr kumimoji="1" lang="zh-CN" altLang="en-US" sz="2400" dirty="0">
                <a:latin typeface="Times New Roman" panose="02020603050405020304" pitchFamily="18" charset="0"/>
                <a:ea typeface="华文中宋" panose="02010600040101010101" pitchFamily="2" charset="-122"/>
              </a:rPr>
              <a:t>％</a:t>
            </a:r>
            <a:r>
              <a:rPr kumimoji="1" lang="en-US" altLang="zh-CN" sz="2400" dirty="0">
                <a:latin typeface="Times New Roman" panose="02020603050405020304" pitchFamily="18" charset="0"/>
                <a:ea typeface="华文中宋" panose="02010600040101010101" pitchFamily="2" charset="-122"/>
              </a:rPr>
              <a:t>/(100</a:t>
            </a:r>
            <a:r>
              <a:rPr kumimoji="1" lang="zh-CN" altLang="en-US" sz="2400" dirty="0">
                <a:latin typeface="Times New Roman" panose="02020603050405020304" pitchFamily="18" charset="0"/>
                <a:ea typeface="华文中宋" panose="02010600040101010101" pitchFamily="2" charset="-122"/>
              </a:rPr>
              <a:t>％＋</a:t>
            </a:r>
            <a:r>
              <a:rPr kumimoji="1" lang="en-US" altLang="zh-CN" sz="2400" dirty="0">
                <a:latin typeface="Times New Roman" panose="02020603050405020304" pitchFamily="18" charset="0"/>
                <a:ea typeface="华文中宋" panose="02010600040101010101" pitchFamily="2" charset="-122"/>
              </a:rPr>
              <a:t>26</a:t>
            </a:r>
            <a:r>
              <a:rPr kumimoji="1" lang="zh-CN" altLang="en-US" sz="2400" dirty="0">
                <a:latin typeface="Times New Roman" panose="02020603050405020304" pitchFamily="18" charset="0"/>
                <a:ea typeface="华文中宋" panose="02010600040101010101" pitchFamily="2" charset="-122"/>
              </a:rPr>
              <a:t>％＋</a:t>
            </a:r>
            <a:r>
              <a:rPr kumimoji="1" lang="en-US" altLang="zh-CN" sz="2400" dirty="0">
                <a:latin typeface="Times New Roman" panose="02020603050405020304" pitchFamily="18" charset="0"/>
                <a:ea typeface="华文中宋" panose="02010600040101010101" pitchFamily="2" charset="-122"/>
              </a:rPr>
              <a:t>9</a:t>
            </a:r>
            <a:r>
              <a:rPr kumimoji="1" lang="zh-CN" altLang="en-US" sz="2400" dirty="0">
                <a:latin typeface="Times New Roman" panose="02020603050405020304" pitchFamily="18" charset="0"/>
                <a:ea typeface="华文中宋" panose="02010600040101010101" pitchFamily="2" charset="-122"/>
              </a:rPr>
              <a:t>％</a:t>
            </a:r>
            <a:r>
              <a:rPr kumimoji="1" lang="en-US" altLang="zh-CN" sz="2400" dirty="0">
                <a:latin typeface="Times New Roman" panose="02020603050405020304" pitchFamily="18" charset="0"/>
                <a:ea typeface="华文中宋" panose="02010600040101010101" pitchFamily="2" charset="-122"/>
              </a:rPr>
              <a:t>)≈</a:t>
            </a:r>
            <a:r>
              <a:rPr kumimoji="1" lang="en-US" altLang="zh-CN" sz="2400" dirty="0">
                <a:solidFill>
                  <a:srgbClr val="C00000"/>
                </a:solidFill>
                <a:latin typeface="Times New Roman" panose="02020603050405020304" pitchFamily="18" charset="0"/>
                <a:ea typeface="华文中宋" panose="02010600040101010101" pitchFamily="2" charset="-122"/>
              </a:rPr>
              <a:t>7</a:t>
            </a:r>
            <a:r>
              <a:rPr kumimoji="1" lang="zh-CN" altLang="en-US" sz="2400" dirty="0">
                <a:solidFill>
                  <a:srgbClr val="C00000"/>
                </a:solidFill>
                <a:latin typeface="Times New Roman" panose="02020603050405020304" pitchFamily="18" charset="0"/>
                <a:ea typeface="华文中宋" panose="02010600040101010101" pitchFamily="2" charset="-122"/>
              </a:rPr>
              <a:t>％</a:t>
            </a:r>
            <a:br>
              <a:rPr kumimoji="1" lang="zh-CN" altLang="en-US" sz="2400" dirty="0">
                <a:latin typeface="Times New Roman" panose="02020603050405020304" pitchFamily="18" charset="0"/>
                <a:ea typeface="华文中宋" panose="02010600040101010101" pitchFamily="2" charset="-122"/>
              </a:rPr>
            </a:br>
            <a:r>
              <a:rPr kumimoji="1" lang="zh-CN" altLang="en-US" sz="2400" dirty="0">
                <a:latin typeface="Times New Roman" panose="02020603050405020304" pitchFamily="18" charset="0"/>
                <a:ea typeface="华文中宋" panose="02010600040101010101" pitchFamily="2" charset="-122"/>
              </a:rPr>
              <a:t>       “写”在</a:t>
            </a:r>
            <a:r>
              <a:rPr kumimoji="1" lang="zh-CN" altLang="en-US" sz="2400" dirty="0">
                <a:solidFill>
                  <a:srgbClr val="C00000"/>
                </a:solidFill>
                <a:latin typeface="Times New Roman" panose="02020603050405020304" pitchFamily="18" charset="0"/>
                <a:ea typeface="华文中宋" panose="02010600040101010101" pitchFamily="2" charset="-122"/>
              </a:rPr>
              <a:t>访问数据</a:t>
            </a:r>
            <a:r>
              <a:rPr kumimoji="1" lang="en-US" altLang="zh-CN" sz="2400" dirty="0">
                <a:solidFill>
                  <a:srgbClr val="C00000"/>
                </a:solidFill>
                <a:latin typeface="Times New Roman" panose="02020603050405020304" pitchFamily="18" charset="0"/>
                <a:ea typeface="华文中宋" panose="02010600040101010101" pitchFamily="2" charset="-122"/>
              </a:rPr>
              <a:t>Cache</a:t>
            </a:r>
            <a:r>
              <a:rPr kumimoji="1" lang="zh-CN" altLang="en-US" sz="2400" dirty="0">
                <a:solidFill>
                  <a:srgbClr val="C00000"/>
                </a:solidFill>
                <a:latin typeface="Times New Roman" panose="02020603050405020304" pitchFamily="18" charset="0"/>
                <a:ea typeface="华文中宋" panose="02010600040101010101" pitchFamily="2" charset="-122"/>
              </a:rPr>
              <a:t>操作中</a:t>
            </a:r>
            <a:r>
              <a:rPr kumimoji="1" lang="zh-CN" altLang="en-US" sz="2400" dirty="0">
                <a:latin typeface="Times New Roman" panose="02020603050405020304" pitchFamily="18" charset="0"/>
                <a:ea typeface="华文中宋" panose="02010600040101010101" pitchFamily="2" charset="-122"/>
              </a:rPr>
              <a:t>所占的比例：</a:t>
            </a:r>
          </a:p>
          <a:p>
            <a:pPr eaLnBrk="1" hangingPunct="1">
              <a:lnSpc>
                <a:spcPct val="120000"/>
              </a:lnSpc>
              <a:spcBef>
                <a:spcPts val="600"/>
              </a:spcBef>
            </a:pPr>
            <a:r>
              <a:rPr kumimoji="1" lang="zh-CN" altLang="en-US" sz="2400" dirty="0">
                <a:latin typeface="Times New Roman" panose="02020603050405020304" pitchFamily="18" charset="0"/>
                <a:ea typeface="华文中宋" panose="02010600040101010101" pitchFamily="2" charset="-122"/>
              </a:rPr>
              <a:t>           </a:t>
            </a:r>
            <a:r>
              <a:rPr kumimoji="1" lang="en-US" altLang="zh-CN" sz="2400" dirty="0">
                <a:latin typeface="Times New Roman" panose="02020603050405020304" pitchFamily="18" charset="0"/>
                <a:ea typeface="华文中宋" panose="02010600040101010101" pitchFamily="2" charset="-122"/>
              </a:rPr>
              <a:t>9</a:t>
            </a:r>
            <a:r>
              <a:rPr kumimoji="1" lang="zh-CN" altLang="en-US" sz="2400" dirty="0">
                <a:latin typeface="Times New Roman" panose="02020603050405020304" pitchFamily="18" charset="0"/>
                <a:ea typeface="华文中宋" panose="02010600040101010101" pitchFamily="2" charset="-122"/>
              </a:rPr>
              <a:t>％</a:t>
            </a:r>
            <a:r>
              <a:rPr kumimoji="1" lang="en-US" altLang="zh-CN" sz="2400" dirty="0">
                <a:latin typeface="Times New Roman" panose="02020603050405020304" pitchFamily="18" charset="0"/>
                <a:ea typeface="华文中宋" panose="02010600040101010101" pitchFamily="2" charset="-122"/>
              </a:rPr>
              <a:t>/(26</a:t>
            </a:r>
            <a:r>
              <a:rPr kumimoji="1" lang="zh-CN" altLang="en-US" sz="2400" dirty="0">
                <a:latin typeface="Times New Roman" panose="02020603050405020304" pitchFamily="18" charset="0"/>
                <a:ea typeface="华文中宋" panose="02010600040101010101" pitchFamily="2" charset="-122"/>
              </a:rPr>
              <a:t>％＋</a:t>
            </a:r>
            <a:r>
              <a:rPr kumimoji="1" lang="en-US" altLang="zh-CN" sz="2400" dirty="0">
                <a:latin typeface="Times New Roman" panose="02020603050405020304" pitchFamily="18" charset="0"/>
                <a:ea typeface="华文中宋" panose="02010600040101010101" pitchFamily="2" charset="-122"/>
              </a:rPr>
              <a:t>9</a:t>
            </a:r>
            <a:r>
              <a:rPr kumimoji="1" lang="zh-CN" altLang="en-US" sz="2400" dirty="0">
                <a:latin typeface="Times New Roman" panose="02020603050405020304" pitchFamily="18" charset="0"/>
                <a:ea typeface="华文中宋" panose="02010600040101010101" pitchFamily="2" charset="-122"/>
              </a:rPr>
              <a:t>％</a:t>
            </a:r>
            <a:r>
              <a:rPr kumimoji="1" lang="en-US" altLang="zh-CN" sz="2400" dirty="0">
                <a:latin typeface="Times New Roman" panose="02020603050405020304" pitchFamily="18" charset="0"/>
                <a:ea typeface="华文中宋" panose="02010600040101010101" pitchFamily="2" charset="-122"/>
              </a:rPr>
              <a:t>)≈</a:t>
            </a:r>
            <a:r>
              <a:rPr kumimoji="1" lang="en-US" altLang="zh-CN" sz="2400" dirty="0">
                <a:solidFill>
                  <a:srgbClr val="C00000"/>
                </a:solidFill>
                <a:latin typeface="Times New Roman" panose="02020603050405020304" pitchFamily="18" charset="0"/>
                <a:ea typeface="华文中宋" panose="02010600040101010101" pitchFamily="2" charset="-122"/>
              </a:rPr>
              <a:t>25</a:t>
            </a:r>
            <a:r>
              <a:rPr kumimoji="1" lang="zh-CN" altLang="en-US" sz="2400" dirty="0">
                <a:solidFill>
                  <a:srgbClr val="C00000"/>
                </a:solidFill>
                <a:latin typeface="Times New Roman" panose="02020603050405020304" pitchFamily="18" charset="0"/>
                <a:ea typeface="华文中宋" panose="02010600040101010101" pitchFamily="2" charset="-122"/>
              </a:rPr>
              <a:t>％</a:t>
            </a:r>
            <a:endParaRPr kumimoji="1" lang="zh-CN" altLang="en-US" sz="2400" b="0" dirty="0">
              <a:solidFill>
                <a:srgbClr val="C00000"/>
              </a:solidFill>
              <a:latin typeface="Times New Roman" panose="02020603050405020304" pitchFamily="18" charset="0"/>
              <a:ea typeface="华文中宋" panose="02010600040101010101" pitchFamily="2" charset="-122"/>
            </a:endParaRPr>
          </a:p>
        </p:txBody>
      </p:sp>
      <p:sp>
        <p:nvSpPr>
          <p:cNvPr id="16388" name="Text Box 4"/>
          <p:cNvSpPr txBox="1">
            <a:spLocks noChangeArrowheads="1"/>
          </p:cNvSpPr>
          <p:nvPr/>
        </p:nvSpPr>
        <p:spPr bwMode="auto">
          <a:xfrm>
            <a:off x="722313" y="5283200"/>
            <a:ext cx="817086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r>
              <a:rPr kumimoji="1" lang="en-US" altLang="zh-CN" sz="2400" dirty="0">
                <a:latin typeface="Times New Roman" panose="02020603050405020304" pitchFamily="18" charset="0"/>
                <a:ea typeface="华文中宋" panose="02010600040101010101" pitchFamily="2" charset="-122"/>
              </a:rPr>
              <a:t>3. “</a:t>
            </a:r>
            <a:r>
              <a:rPr kumimoji="1" lang="zh-CN" altLang="en-US" sz="2400" dirty="0">
                <a:latin typeface="Times New Roman" panose="02020603050405020304" pitchFamily="18" charset="0"/>
                <a:ea typeface="华文中宋" panose="02010600040101010101" pitchFamily="2" charset="-122"/>
              </a:rPr>
              <a:t>写”访问有可能导致</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和主存内容的不一致</a:t>
            </a:r>
          </a:p>
        </p:txBody>
      </p:sp>
      <p:sp>
        <p:nvSpPr>
          <p:cNvPr id="16389" name="Text Box 5"/>
          <p:cNvSpPr txBox="1">
            <a:spLocks noChangeArrowheads="1"/>
          </p:cNvSpPr>
          <p:nvPr/>
        </p:nvSpPr>
        <p:spPr bwMode="auto">
          <a:xfrm>
            <a:off x="684213" y="4463016"/>
            <a:ext cx="78105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r>
              <a:rPr kumimoji="1" lang="en-US" altLang="zh-CN" sz="2400" dirty="0">
                <a:latin typeface="Times New Roman" panose="02020603050405020304" pitchFamily="18" charset="0"/>
                <a:ea typeface="华文中宋" panose="02010600040101010101" pitchFamily="2" charset="-122"/>
              </a:rPr>
              <a:t>2. </a:t>
            </a:r>
            <a:r>
              <a:rPr kumimoji="1" lang="en-US" altLang="zh-CN" sz="2400" dirty="0">
                <a:solidFill>
                  <a:srgbClr val="C00000"/>
                </a:solidFill>
                <a:latin typeface="Times New Roman" panose="02020603050405020304" pitchFamily="18" charset="0"/>
                <a:ea typeface="华文中宋" panose="02010600040101010101" pitchFamily="2" charset="-122"/>
              </a:rPr>
              <a:t>“</a:t>
            </a:r>
            <a:r>
              <a:rPr kumimoji="1" lang="zh-CN" altLang="en-US" sz="2400" dirty="0">
                <a:solidFill>
                  <a:srgbClr val="C00000"/>
                </a:solidFill>
                <a:latin typeface="Times New Roman" panose="02020603050405020304" pitchFamily="18" charset="0"/>
                <a:ea typeface="华文中宋" panose="02010600040101010101" pitchFamily="2" charset="-122"/>
              </a:rPr>
              <a:t>写”操作必须在确认是否命中后才可进行</a:t>
            </a:r>
          </a:p>
        </p:txBody>
      </p:sp>
      <p:sp>
        <p:nvSpPr>
          <p:cNvPr id="6" name="Rectangle 2">
            <a:extLst>
              <a:ext uri="{FF2B5EF4-FFF2-40B4-BE49-F238E27FC236}">
                <a16:creationId xmlns:a16="http://schemas.microsoft.com/office/drawing/2014/main" id="{AC6979B1-4656-4657-8675-4A5A41D792D1}"/>
              </a:ext>
            </a:extLst>
          </p:cNvPr>
          <p:cNvSpPr txBox="1">
            <a:spLocks noChangeArrowheads="1"/>
          </p:cNvSpPr>
          <p:nvPr/>
        </p:nvSpPr>
        <p:spPr>
          <a:xfrm>
            <a:off x="323528" y="262493"/>
            <a:ext cx="8229600" cy="864096"/>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0" lang="en-US" altLang="zh-CN" sz="3600" b="1" dirty="0">
                <a:latin typeface="Times New Roman" panose="02020603050405020304" pitchFamily="18" charset="0"/>
                <a:cs typeface="Times New Roman" panose="02020603050405020304" pitchFamily="18" charset="0"/>
              </a:rPr>
              <a:t>5.2</a:t>
            </a:r>
            <a:r>
              <a:rPr kumimoji="0" lang="en-US" altLang="zh-CN" sz="3600" dirty="0">
                <a:latin typeface="Times New Roman" panose="02020603050405020304" pitchFamily="18" charset="0"/>
                <a:cs typeface="Times New Roman" panose="02020603050405020304" pitchFamily="18" charset="0"/>
              </a:rPr>
              <a:t>.4</a:t>
            </a:r>
            <a:r>
              <a:rPr kumimoji="0" lang="en-US" altLang="zh-CN" sz="4000" b="1" dirty="0">
                <a:latin typeface="Times New Roman" panose="02020603050405020304" pitchFamily="18" charset="0"/>
                <a:cs typeface="Times New Roman" panose="02020603050405020304" pitchFamily="18" charset="0"/>
              </a:rPr>
              <a:t> </a:t>
            </a:r>
            <a:r>
              <a:rPr lang="zh-CN" altLang="en-US" sz="3600" dirty="0">
                <a:latin typeface="华文中宋" panose="02010600040101010101" pitchFamily="2" charset="-122"/>
                <a:ea typeface="华文中宋" panose="02010600040101010101" pitchFamily="2" charset="-122"/>
                <a:cs typeface="Times New Roman" panose="02020603050405020304" pitchFamily="18" charset="0"/>
              </a:rPr>
              <a:t>写策略</a:t>
            </a:r>
          </a:p>
        </p:txBody>
      </p:sp>
      <p:sp>
        <p:nvSpPr>
          <p:cNvPr id="2" name="日期占位符 1">
            <a:extLst>
              <a:ext uri="{FF2B5EF4-FFF2-40B4-BE49-F238E27FC236}">
                <a16:creationId xmlns:a16="http://schemas.microsoft.com/office/drawing/2014/main" id="{2551F7E7-BC87-8642-01C4-AD3ACB5FD5E3}"/>
              </a:ext>
            </a:extLst>
          </p:cNvPr>
          <p:cNvSpPr>
            <a:spLocks noGrp="1"/>
          </p:cNvSpPr>
          <p:nvPr>
            <p:ph type="dt" sz="half" idx="10"/>
          </p:nvPr>
        </p:nvSpPr>
        <p:spPr/>
        <p:txBody>
          <a:bodyPr/>
          <a:lstStyle/>
          <a:p>
            <a:pPr>
              <a:defRPr/>
            </a:pPr>
            <a:fld id="{439F1CB4-51D2-4050-ACA5-B7D1297C054B}"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65267178-4DBC-E4AD-3CCC-E8516D645CCB}"/>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6B1DDA2D-41F8-F269-12AB-DA137EB78BF2}"/>
              </a:ext>
            </a:extLst>
          </p:cNvPr>
          <p:cNvSpPr>
            <a:spLocks noGrp="1"/>
          </p:cNvSpPr>
          <p:nvPr>
            <p:ph type="sldNum" sz="quarter" idx="12"/>
          </p:nvPr>
        </p:nvSpPr>
        <p:spPr/>
        <p:txBody>
          <a:bodyPr/>
          <a:lstStyle/>
          <a:p>
            <a:pPr>
              <a:defRPr/>
            </a:pPr>
            <a:fld id="{65B7EA61-351E-4105-9AD9-76D38C6E9934}" type="slidenum">
              <a:rPr lang="zh-CN" altLang="en-US" smtClean="0"/>
              <a:t>66</a:t>
            </a:fld>
            <a:endParaRPr lang="en-US" altLang="zh-CN"/>
          </a:p>
        </p:txBody>
      </p:sp>
    </p:spTree>
    <p:extLst>
      <p:ext uri="{BB962C8B-B14F-4D97-AF65-F5344CB8AC3E}">
        <p14:creationId xmlns:p14="http://schemas.microsoft.com/office/powerpoint/2010/main" val="268387798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3"/>
          <p:cNvSpPr txBox="1">
            <a:spLocks noChangeArrowheads="1"/>
          </p:cNvSpPr>
          <p:nvPr/>
        </p:nvSpPr>
        <p:spPr bwMode="auto">
          <a:xfrm>
            <a:off x="475134" y="1098550"/>
            <a:ext cx="8496944" cy="271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20000"/>
              </a:lnSpc>
            </a:pPr>
            <a:r>
              <a:rPr kumimoji="1" lang="en-US" altLang="zh-CN" sz="2400" dirty="0">
                <a:latin typeface="Times New Roman" panose="02020603050405020304" pitchFamily="18" charset="0"/>
                <a:ea typeface="华文中宋" panose="02010600040101010101" pitchFamily="2" charset="-122"/>
              </a:rPr>
              <a:t>4. </a:t>
            </a:r>
            <a:r>
              <a:rPr kumimoji="1" lang="zh-CN" altLang="en-US" sz="2400" dirty="0">
                <a:latin typeface="Times New Roman" panose="02020603050405020304" pitchFamily="18" charset="0"/>
                <a:ea typeface="华文中宋" panose="02010600040101010101" pitchFamily="2" charset="-122"/>
              </a:rPr>
              <a:t>两种写策略</a:t>
            </a:r>
          </a:p>
          <a:p>
            <a:pPr marL="817200" lvl="1" indent="-457200" eaLnBrk="1" hangingPunct="1">
              <a:lnSpc>
                <a:spcPct val="120000"/>
              </a:lnSpc>
              <a:buSzPct val="60000"/>
              <a:buFont typeface="Wingdings" panose="05000000000000000000" pitchFamily="2" charset="2"/>
              <a:buChar char="u"/>
            </a:pPr>
            <a:r>
              <a:rPr kumimoji="1" lang="zh-CN" altLang="en-US" sz="2400" dirty="0">
                <a:latin typeface="Times New Roman" panose="02020603050405020304" pitchFamily="18" charset="0"/>
                <a:ea typeface="华文中宋" panose="02010600040101010101" pitchFamily="2" charset="-122"/>
              </a:rPr>
              <a:t>写直达法（</a:t>
            </a:r>
            <a:r>
              <a:rPr kumimoji="1" lang="en-US" altLang="zh-CN" sz="2400" dirty="0">
                <a:latin typeface="Times New Roman" panose="02020603050405020304" pitchFamily="18" charset="0"/>
                <a:ea typeface="华文中宋" panose="02010600040101010101" pitchFamily="2" charset="-122"/>
              </a:rPr>
              <a:t>Write Through</a:t>
            </a:r>
            <a:r>
              <a:rPr kumimoji="1" lang="zh-CN" altLang="en-US" sz="2400" dirty="0">
                <a:latin typeface="Times New Roman" panose="02020603050405020304" pitchFamily="18" charset="0"/>
                <a:ea typeface="华文中宋" panose="02010600040101010101" pitchFamily="2" charset="-122"/>
              </a:rPr>
              <a:t>）：执行“写”操作时，不仅写入</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，而且也写入下一级存储器。</a:t>
            </a:r>
          </a:p>
          <a:p>
            <a:pPr marL="817200" lvl="1" indent="-457200" algn="just" eaLnBrk="1" hangingPunct="1">
              <a:lnSpc>
                <a:spcPct val="120000"/>
              </a:lnSpc>
              <a:buSzPct val="60000"/>
              <a:buFont typeface="Wingdings" panose="05000000000000000000" pitchFamily="2" charset="2"/>
              <a:buChar char="u"/>
            </a:pPr>
            <a:r>
              <a:rPr kumimoji="1" lang="zh-CN" altLang="en-US" sz="2400" dirty="0">
                <a:latin typeface="Times New Roman" panose="02020603050405020304" pitchFamily="18" charset="0"/>
                <a:ea typeface="华文中宋" panose="02010600040101010101" pitchFamily="2" charset="-122"/>
              </a:rPr>
              <a:t>写回法（</a:t>
            </a:r>
            <a:r>
              <a:rPr kumimoji="1" lang="en-US" altLang="zh-CN" sz="2400" dirty="0">
                <a:latin typeface="Times New Roman" panose="02020603050405020304" pitchFamily="18" charset="0"/>
                <a:ea typeface="华文中宋" panose="02010600040101010101" pitchFamily="2" charset="-122"/>
              </a:rPr>
              <a:t>Write Back</a:t>
            </a:r>
            <a:r>
              <a:rPr kumimoji="1" lang="zh-CN" altLang="en-US" sz="2400" dirty="0">
                <a:latin typeface="Times New Roman" panose="02020603050405020304" pitchFamily="18" charset="0"/>
                <a:ea typeface="华文中宋" panose="02010600040101010101" pitchFamily="2" charset="-122"/>
              </a:rPr>
              <a:t>）：执行“写”操作时，只写入</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。仅当</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中相应的块被替换时，才写回主存。</a:t>
            </a:r>
          </a:p>
          <a:p>
            <a:pPr eaLnBrk="1" hangingPunct="1">
              <a:lnSpc>
                <a:spcPct val="120000"/>
              </a:lnSpc>
            </a:pPr>
            <a:r>
              <a:rPr kumimoji="1" lang="zh-CN" altLang="en-US" sz="2400" dirty="0">
                <a:latin typeface="Times New Roman" panose="02020603050405020304" pitchFamily="18" charset="0"/>
                <a:ea typeface="华文中宋" panose="02010600040101010101" pitchFamily="2" charset="-122"/>
              </a:rPr>
              <a:t>                          </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solidFill>
                  <a:srgbClr val="C00000"/>
                </a:solidFill>
                <a:latin typeface="Times New Roman" panose="02020603050405020304" pitchFamily="18" charset="0"/>
                <a:ea typeface="华文中宋" panose="02010600040101010101" pitchFamily="2" charset="-122"/>
              </a:rPr>
              <a:t>设置“脏位”</a:t>
            </a:r>
            <a:r>
              <a:rPr kumimoji="1" lang="en-US" altLang="zh-CN" sz="2400" dirty="0">
                <a:latin typeface="Times New Roman" panose="02020603050405020304" pitchFamily="18" charset="0"/>
                <a:ea typeface="华文中宋" panose="02010600040101010101" pitchFamily="2" charset="-122"/>
              </a:rPr>
              <a:t>)</a:t>
            </a:r>
          </a:p>
        </p:txBody>
      </p:sp>
      <p:sp>
        <p:nvSpPr>
          <p:cNvPr id="17413" name="Text Box 5"/>
          <p:cNvSpPr txBox="1">
            <a:spLocks noChangeArrowheads="1"/>
          </p:cNvSpPr>
          <p:nvPr/>
        </p:nvSpPr>
        <p:spPr bwMode="auto">
          <a:xfrm>
            <a:off x="475134" y="4077072"/>
            <a:ext cx="813593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spcBef>
                <a:spcPct val="50000"/>
              </a:spcBef>
            </a:pPr>
            <a:r>
              <a:rPr lang="en-US" altLang="zh-CN" sz="2400" dirty="0">
                <a:latin typeface="Times New Roman" panose="02020603050405020304" pitchFamily="18" charset="0"/>
                <a:ea typeface="华文中宋" panose="02010600040101010101" pitchFamily="2" charset="-122"/>
              </a:rPr>
              <a:t>5</a:t>
            </a:r>
            <a:r>
              <a:rPr kumimoji="1" lang="en-US" altLang="zh-CN" sz="2400" dirty="0">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两种写策略的比较</a:t>
            </a:r>
          </a:p>
          <a:p>
            <a:pPr lvl="1" eaLnBrk="1" hangingPunct="1">
              <a:spcBef>
                <a:spcPct val="50000"/>
              </a:spcBef>
              <a:buSzPct val="60000"/>
              <a:buFont typeface="Wingdings" panose="05000000000000000000" pitchFamily="2" charset="2"/>
              <a:buChar char="u"/>
            </a:pPr>
            <a:r>
              <a:rPr kumimoji="1" lang="zh-CN" altLang="en-US" sz="2400" dirty="0">
                <a:latin typeface="Times New Roman" panose="02020603050405020304" pitchFamily="18" charset="0"/>
                <a:ea typeface="华文中宋" panose="02010600040101010101" pitchFamily="2" charset="-122"/>
              </a:rPr>
              <a:t> </a:t>
            </a:r>
            <a:r>
              <a:rPr kumimoji="1" lang="zh-CN" altLang="en-US" sz="2400" dirty="0">
                <a:solidFill>
                  <a:srgbClr val="C00000"/>
                </a:solidFill>
                <a:latin typeface="Times New Roman" panose="02020603050405020304" pitchFamily="18" charset="0"/>
                <a:ea typeface="华文中宋" panose="02010600040101010101" pitchFamily="2" charset="-122"/>
              </a:rPr>
              <a:t>写回法的优点：</a:t>
            </a:r>
            <a:r>
              <a:rPr kumimoji="1" lang="zh-CN" altLang="en-US" sz="2400" dirty="0">
                <a:latin typeface="Times New Roman" panose="02020603050405020304" pitchFamily="18" charset="0"/>
                <a:ea typeface="华文中宋" panose="02010600040101010101" pitchFamily="2" charset="-122"/>
              </a:rPr>
              <a:t>速度快，占用存储器频带低</a:t>
            </a:r>
          </a:p>
          <a:p>
            <a:pPr lvl="1" eaLnBrk="1" hangingPunct="1">
              <a:spcBef>
                <a:spcPct val="50000"/>
              </a:spcBef>
              <a:buSzPct val="60000"/>
              <a:buFont typeface="Wingdings" panose="05000000000000000000" pitchFamily="2" charset="2"/>
              <a:buChar char="u"/>
            </a:pPr>
            <a:r>
              <a:rPr kumimoji="1" lang="zh-CN" altLang="en-US" sz="2400" dirty="0">
                <a:latin typeface="Times New Roman" panose="02020603050405020304" pitchFamily="18" charset="0"/>
                <a:ea typeface="华文中宋" panose="02010600040101010101" pitchFamily="2" charset="-122"/>
              </a:rPr>
              <a:t> </a:t>
            </a:r>
            <a:r>
              <a:rPr kumimoji="1" lang="zh-CN" altLang="en-US" sz="2400" dirty="0">
                <a:solidFill>
                  <a:srgbClr val="C00000"/>
                </a:solidFill>
                <a:latin typeface="Times New Roman" panose="02020603050405020304" pitchFamily="18" charset="0"/>
                <a:ea typeface="华文中宋" panose="02010600040101010101" pitchFamily="2" charset="-122"/>
              </a:rPr>
              <a:t>写直达法的优点：</a:t>
            </a:r>
            <a:r>
              <a:rPr kumimoji="1" lang="zh-CN" altLang="en-US" sz="2400" dirty="0">
                <a:latin typeface="Times New Roman" panose="02020603050405020304" pitchFamily="18" charset="0"/>
                <a:ea typeface="华文中宋" panose="02010600040101010101" pitchFamily="2" charset="-122"/>
              </a:rPr>
              <a:t>易于实现，一致性好</a:t>
            </a:r>
          </a:p>
        </p:txBody>
      </p:sp>
      <p:sp>
        <p:nvSpPr>
          <p:cNvPr id="4" name="Rectangle 2">
            <a:extLst>
              <a:ext uri="{FF2B5EF4-FFF2-40B4-BE49-F238E27FC236}">
                <a16:creationId xmlns:a16="http://schemas.microsoft.com/office/drawing/2014/main" id="{EA3E608D-18CF-4CE9-BF1F-0FCF5BC4881A}"/>
              </a:ext>
            </a:extLst>
          </p:cNvPr>
          <p:cNvSpPr txBox="1">
            <a:spLocks noChangeArrowheads="1"/>
          </p:cNvSpPr>
          <p:nvPr/>
        </p:nvSpPr>
        <p:spPr>
          <a:xfrm>
            <a:off x="323528" y="262493"/>
            <a:ext cx="8229600" cy="864096"/>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0" lang="en-US" altLang="zh-CN" sz="3600" b="1" dirty="0">
                <a:latin typeface="Times New Roman" panose="02020603050405020304" pitchFamily="18" charset="0"/>
                <a:cs typeface="Times New Roman" panose="02020603050405020304" pitchFamily="18" charset="0"/>
              </a:rPr>
              <a:t>5.2</a:t>
            </a:r>
            <a:r>
              <a:rPr kumimoji="0" lang="en-US" altLang="zh-CN" sz="3600" dirty="0">
                <a:latin typeface="Times New Roman" panose="02020603050405020304" pitchFamily="18" charset="0"/>
                <a:cs typeface="Times New Roman" panose="02020603050405020304" pitchFamily="18" charset="0"/>
              </a:rPr>
              <a:t>.4</a:t>
            </a:r>
            <a:r>
              <a:rPr kumimoji="0" lang="en-US" altLang="zh-CN" sz="3600" b="1" dirty="0">
                <a:latin typeface="Times New Roman" panose="02020603050405020304" pitchFamily="18" charset="0"/>
                <a:cs typeface="Times New Roman" panose="02020603050405020304" pitchFamily="18" charset="0"/>
              </a:rPr>
              <a:t> </a:t>
            </a:r>
            <a:r>
              <a:rPr lang="zh-CN" altLang="en-US" sz="3600" dirty="0">
                <a:latin typeface="Times New Roman" panose="02020603050405020304" pitchFamily="18" charset="0"/>
                <a:ea typeface="华文中宋" panose="02010600040101010101" pitchFamily="2" charset="-122"/>
                <a:cs typeface="+mn-cs"/>
              </a:rPr>
              <a:t>写策略</a:t>
            </a:r>
          </a:p>
        </p:txBody>
      </p:sp>
      <p:sp>
        <p:nvSpPr>
          <p:cNvPr id="2" name="日期占位符 1">
            <a:extLst>
              <a:ext uri="{FF2B5EF4-FFF2-40B4-BE49-F238E27FC236}">
                <a16:creationId xmlns:a16="http://schemas.microsoft.com/office/drawing/2014/main" id="{EF7A5F06-94A4-276F-D1A0-657906068BAB}"/>
              </a:ext>
            </a:extLst>
          </p:cNvPr>
          <p:cNvSpPr>
            <a:spLocks noGrp="1"/>
          </p:cNvSpPr>
          <p:nvPr>
            <p:ph type="dt" sz="half" idx="10"/>
          </p:nvPr>
        </p:nvSpPr>
        <p:spPr/>
        <p:txBody>
          <a:bodyPr/>
          <a:lstStyle/>
          <a:p>
            <a:pPr>
              <a:defRPr/>
            </a:pPr>
            <a:fld id="{65C7624E-2B76-4652-88D8-C5F4DC87F43C}"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EEF08BA8-7C4C-8213-3787-7F4DECEA989C}"/>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218DA39D-6B65-A2D1-C774-77CBBF670FCC}"/>
              </a:ext>
            </a:extLst>
          </p:cNvPr>
          <p:cNvSpPr>
            <a:spLocks noGrp="1"/>
          </p:cNvSpPr>
          <p:nvPr>
            <p:ph type="sldNum" sz="quarter" idx="12"/>
          </p:nvPr>
        </p:nvSpPr>
        <p:spPr/>
        <p:txBody>
          <a:bodyPr/>
          <a:lstStyle/>
          <a:p>
            <a:pPr>
              <a:defRPr/>
            </a:pPr>
            <a:fld id="{65B7EA61-351E-4105-9AD9-76D38C6E9934}" type="slidenum">
              <a:rPr lang="zh-CN" altLang="en-US" smtClean="0"/>
              <a:t>67</a:t>
            </a:fld>
            <a:endParaRPr lang="en-US" altLang="zh-CN"/>
          </a:p>
        </p:txBody>
      </p:sp>
    </p:spTree>
    <p:extLst>
      <p:ext uri="{BB962C8B-B14F-4D97-AF65-F5344CB8AC3E}">
        <p14:creationId xmlns:p14="http://schemas.microsoft.com/office/powerpoint/2010/main" val="11158990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p:cNvSpPr txBox="1">
            <a:spLocks noChangeArrowheads="1"/>
          </p:cNvSpPr>
          <p:nvPr/>
        </p:nvSpPr>
        <p:spPr bwMode="auto">
          <a:xfrm>
            <a:off x="464913" y="1215020"/>
            <a:ext cx="7600950" cy="15363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marL="742950" indent="-285750"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35000"/>
              </a:lnSpc>
            </a:pPr>
            <a:r>
              <a:rPr kumimoji="1" lang="en-US" altLang="zh-CN" sz="2400" dirty="0">
                <a:latin typeface="Times New Roman" panose="02020603050405020304" pitchFamily="18" charset="0"/>
                <a:ea typeface="华文中宋" panose="02010600040101010101" pitchFamily="2" charset="-122"/>
              </a:rPr>
              <a:t>6. </a:t>
            </a:r>
            <a:r>
              <a:rPr kumimoji="1" lang="zh-CN" altLang="en-US" sz="2400" dirty="0">
                <a:latin typeface="Times New Roman" panose="02020603050405020304" pitchFamily="18" charset="0"/>
                <a:ea typeface="华文中宋" panose="02010600040101010101" pitchFamily="2" charset="-122"/>
              </a:rPr>
              <a:t>采用写直达法时，若写操作过程中</a:t>
            </a:r>
            <a:r>
              <a:rPr kumimoji="1" lang="en-US" altLang="zh-CN" sz="2400" dirty="0">
                <a:latin typeface="Times New Roman" panose="02020603050405020304" pitchFamily="18" charset="0"/>
                <a:ea typeface="华文中宋" panose="02010600040101010101" pitchFamily="2" charset="-122"/>
              </a:rPr>
              <a:t>CPU</a:t>
            </a:r>
            <a:r>
              <a:rPr kumimoji="1" lang="zh-CN" altLang="en-US" sz="2400" dirty="0">
                <a:latin typeface="Times New Roman" panose="02020603050405020304" pitchFamily="18" charset="0"/>
                <a:ea typeface="华文中宋" panose="02010600040101010101" pitchFamily="2" charset="-122"/>
              </a:rPr>
              <a:t>必须等待该操</a:t>
            </a:r>
            <a:endParaRPr kumimoji="1" lang="en-US" altLang="zh-CN" sz="2400" dirty="0">
              <a:latin typeface="Times New Roman" panose="02020603050405020304" pitchFamily="18" charset="0"/>
              <a:ea typeface="华文中宋" panose="02010600040101010101" pitchFamily="2" charset="-122"/>
            </a:endParaRPr>
          </a:p>
          <a:p>
            <a:pPr eaLnBrk="1" hangingPunct="1">
              <a:lnSpc>
                <a:spcPct val="135000"/>
              </a:lnSpc>
            </a:pPr>
            <a:r>
              <a:rPr lang="en-US" altLang="zh-CN" sz="2400" dirty="0">
                <a:latin typeface="Times New Roman" panose="02020603050405020304" pitchFamily="18" charset="0"/>
                <a:ea typeface="华文中宋" panose="02010600040101010101" pitchFamily="2" charset="-122"/>
              </a:rPr>
              <a:t>    </a:t>
            </a:r>
            <a:r>
              <a:rPr kumimoji="1" lang="zh-CN" altLang="en-US" sz="2400" dirty="0">
                <a:latin typeface="Times New Roman" panose="02020603050405020304" pitchFamily="18" charset="0"/>
                <a:ea typeface="华文中宋" panose="02010600040101010101" pitchFamily="2" charset="-122"/>
              </a:rPr>
              <a:t>作结束，则称</a:t>
            </a:r>
            <a:r>
              <a:rPr kumimoji="1" lang="en-US" altLang="zh-CN" sz="2400" dirty="0">
                <a:latin typeface="Times New Roman" panose="02020603050405020304" pitchFamily="18" charset="0"/>
                <a:ea typeface="华文中宋" panose="02010600040101010101" pitchFamily="2" charset="-122"/>
              </a:rPr>
              <a:t>CPU</a:t>
            </a:r>
            <a:r>
              <a:rPr lang="zh-CN" altLang="en-US" sz="2400" dirty="0">
                <a:latin typeface="Times New Roman" panose="02020603050405020304" pitchFamily="18" charset="0"/>
                <a:ea typeface="华文中宋" panose="02010600040101010101" pitchFamily="2" charset="-122"/>
              </a:rPr>
              <a:t>写停顿</a:t>
            </a:r>
            <a:r>
              <a:rPr lang="en-US" altLang="zh-CN" sz="2400" dirty="0">
                <a:latin typeface="Times New Roman" panose="02020603050405020304" pitchFamily="18" charset="0"/>
                <a:ea typeface="华文中宋" panose="02010600040101010101" pitchFamily="2" charset="-122"/>
              </a:rPr>
              <a:t>(Write stall)</a:t>
            </a:r>
            <a:r>
              <a:rPr lang="zh-CN" altLang="en-US" sz="2400" dirty="0">
                <a:latin typeface="Times New Roman" panose="02020603050405020304" pitchFamily="18" charset="0"/>
                <a:ea typeface="华文中宋" panose="02010600040101010101" pitchFamily="2" charset="-122"/>
              </a:rPr>
              <a:t>。</a:t>
            </a:r>
            <a:endParaRPr kumimoji="1" lang="en-US" altLang="zh-CN" sz="2400" dirty="0">
              <a:latin typeface="Times New Roman" panose="02020603050405020304" pitchFamily="18" charset="0"/>
              <a:ea typeface="华文中宋" panose="02010600040101010101" pitchFamily="2" charset="-122"/>
            </a:endParaRPr>
          </a:p>
          <a:p>
            <a:pPr marL="900000" indent="-342900" eaLnBrk="1" hangingPunct="1">
              <a:lnSpc>
                <a:spcPct val="135000"/>
              </a:lnSpc>
              <a:buSzPct val="60000"/>
              <a:buFont typeface="Wingdings" panose="05000000000000000000" pitchFamily="2" charset="2"/>
              <a:buChar char="u"/>
            </a:pPr>
            <a:r>
              <a:rPr lang="zh-CN" altLang="en-US" sz="2400" dirty="0">
                <a:latin typeface="Times New Roman" panose="02020603050405020304" pitchFamily="18" charset="0"/>
                <a:ea typeface="华文中宋" panose="02010600040101010101" pitchFamily="2" charset="-122"/>
              </a:rPr>
              <a:t>减少些停顿时间的优化技术：写缓冲器</a:t>
            </a:r>
            <a:endParaRPr kumimoji="1" lang="zh-CN" altLang="en-US" sz="2400" dirty="0">
              <a:latin typeface="Times New Roman" panose="02020603050405020304" pitchFamily="18" charset="0"/>
              <a:ea typeface="华文中宋" panose="02010600040101010101" pitchFamily="2" charset="-122"/>
            </a:endParaRPr>
          </a:p>
        </p:txBody>
      </p:sp>
      <p:sp>
        <p:nvSpPr>
          <p:cNvPr id="18436" name="Text Box 4"/>
          <p:cNvSpPr txBox="1">
            <a:spLocks noChangeArrowheads="1"/>
          </p:cNvSpPr>
          <p:nvPr/>
        </p:nvSpPr>
        <p:spPr bwMode="auto">
          <a:xfrm>
            <a:off x="508944" y="3212976"/>
            <a:ext cx="8090544"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b="1">
                <a:solidFill>
                  <a:schemeClr val="tx1"/>
                </a:solidFill>
                <a:latin typeface="Verdana" panose="020B0604030504040204" pitchFamily="34" charset="0"/>
                <a:ea typeface="宋体" panose="02010600030101010101" pitchFamily="2" charset="-122"/>
              </a:defRPr>
            </a:lvl1pPr>
            <a:lvl2pPr eaLnBrk="0" hangingPunct="0">
              <a:defRPr b="1">
                <a:solidFill>
                  <a:schemeClr val="tx1"/>
                </a:solidFill>
                <a:latin typeface="Verdana" panose="020B0604030504040204" pitchFamily="34" charset="0"/>
                <a:ea typeface="宋体" panose="02010600030101010101" pitchFamily="2" charset="-122"/>
              </a:defRPr>
            </a:lvl2pPr>
            <a:lvl3pPr marL="1143000" indent="-228600" eaLnBrk="0" hangingPunct="0">
              <a:defRPr b="1">
                <a:solidFill>
                  <a:schemeClr val="tx1"/>
                </a:solidFill>
                <a:latin typeface="Verdana" panose="020B0604030504040204" pitchFamily="34" charset="0"/>
                <a:ea typeface="宋体" panose="02010600030101010101" pitchFamily="2" charset="-122"/>
              </a:defRPr>
            </a:lvl3pPr>
            <a:lvl4pPr marL="1600200" indent="-228600" eaLnBrk="0" hangingPunct="0">
              <a:defRPr b="1">
                <a:solidFill>
                  <a:schemeClr val="tx1"/>
                </a:solidFill>
                <a:latin typeface="Verdana" panose="020B0604030504040204" pitchFamily="34" charset="0"/>
                <a:ea typeface="宋体" panose="02010600030101010101" pitchFamily="2" charset="-122"/>
              </a:defRPr>
            </a:lvl4pPr>
            <a:lvl5pPr marL="2057400" indent="-228600" eaLnBrk="0" hangingPunct="0">
              <a:defRPr b="1">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anose="02010600030101010101" pitchFamily="2" charset="-122"/>
              </a:defRPr>
            </a:lvl9pPr>
          </a:lstStyle>
          <a:p>
            <a:pPr eaLnBrk="1" hangingPunct="1">
              <a:lnSpc>
                <a:spcPct val="120000"/>
              </a:lnSpc>
              <a:spcBef>
                <a:spcPct val="20000"/>
              </a:spcBef>
            </a:pPr>
            <a:r>
              <a:rPr kumimoji="1" lang="en-US" altLang="zh-CN" sz="2400" dirty="0">
                <a:latin typeface="Times New Roman" panose="02020603050405020304" pitchFamily="18" charset="0"/>
                <a:ea typeface="华文中宋" panose="02010600040101010101" pitchFamily="2" charset="-122"/>
              </a:rPr>
              <a:t>7. “</a:t>
            </a:r>
            <a:r>
              <a:rPr kumimoji="1" lang="zh-CN" altLang="en-US" sz="2400" dirty="0">
                <a:latin typeface="Times New Roman" panose="02020603050405020304" pitchFamily="18" charset="0"/>
                <a:ea typeface="华文中宋" panose="02010600040101010101" pitchFamily="2" charset="-122"/>
              </a:rPr>
              <a:t>写”操作时</a:t>
            </a:r>
            <a:r>
              <a:rPr lang="zh-CN" altLang="en-US" sz="2400" dirty="0">
                <a:latin typeface="Times New Roman" panose="02020603050405020304" pitchFamily="18" charset="0"/>
                <a:ea typeface="华文中宋" panose="02010600040101010101" pitchFamily="2" charset="-122"/>
              </a:rPr>
              <a:t>不命中</a:t>
            </a:r>
            <a:r>
              <a:rPr kumimoji="1" lang="zh-CN" altLang="en-US" sz="2400" dirty="0">
                <a:latin typeface="Times New Roman" panose="02020603050405020304" pitchFamily="18" charset="0"/>
                <a:ea typeface="华文中宋" panose="02010600040101010101" pitchFamily="2" charset="-122"/>
              </a:rPr>
              <a:t>的调块</a:t>
            </a:r>
          </a:p>
          <a:p>
            <a:pPr lvl="1" eaLnBrk="1" hangingPunct="1">
              <a:lnSpc>
                <a:spcPct val="120000"/>
              </a:lnSpc>
              <a:spcBef>
                <a:spcPct val="20000"/>
              </a:spcBef>
              <a:buSzPct val="60000"/>
              <a:buFont typeface="Wingdings" panose="05000000000000000000" pitchFamily="2" charset="2"/>
              <a:buChar char="u"/>
            </a:pPr>
            <a:r>
              <a:rPr kumimoji="1" lang="zh-CN" altLang="en-US" sz="2400" dirty="0">
                <a:latin typeface="Times New Roman" panose="02020603050405020304" pitchFamily="18" charset="0"/>
                <a:ea typeface="华文中宋" panose="02010600040101010101" pitchFamily="2" charset="-122"/>
              </a:rPr>
              <a:t>  按写分配</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写时取</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：写失效时，先把所写单元所在</a:t>
            </a:r>
          </a:p>
          <a:p>
            <a:pPr lvl="1" eaLnBrk="1" hangingPunct="1">
              <a:lnSpc>
                <a:spcPct val="120000"/>
              </a:lnSpc>
              <a:spcBef>
                <a:spcPct val="20000"/>
              </a:spcBef>
              <a:buSzPct val="60000"/>
              <a:buFont typeface="Wingdings" panose="05000000000000000000" pitchFamily="2" charset="2"/>
              <a:buNone/>
            </a:pPr>
            <a:r>
              <a:rPr kumimoji="1" lang="zh-CN" altLang="en-US" sz="2400" dirty="0">
                <a:latin typeface="Times New Roman" panose="02020603050405020304" pitchFamily="18" charset="0"/>
                <a:ea typeface="华文中宋" panose="02010600040101010101" pitchFamily="2" charset="-122"/>
              </a:rPr>
              <a:t>                                      的块调入</a:t>
            </a:r>
            <a:r>
              <a:rPr kumimoji="1" lang="en-US" altLang="zh-CN" sz="2400" dirty="0">
                <a:latin typeface="Times New Roman" panose="02020603050405020304" pitchFamily="18" charset="0"/>
                <a:ea typeface="华文中宋" panose="02010600040101010101" pitchFamily="2" charset="-122"/>
              </a:rPr>
              <a:t>Cache</a:t>
            </a:r>
            <a:r>
              <a:rPr kumimoji="1" lang="zh-CN" altLang="en-US" sz="2400" dirty="0">
                <a:latin typeface="Times New Roman" panose="02020603050405020304" pitchFamily="18" charset="0"/>
                <a:ea typeface="华文中宋" panose="02010600040101010101" pitchFamily="2" charset="-122"/>
              </a:rPr>
              <a:t>，再行写入。</a:t>
            </a:r>
          </a:p>
          <a:p>
            <a:pPr lvl="1" eaLnBrk="1" hangingPunct="1">
              <a:lnSpc>
                <a:spcPct val="120000"/>
              </a:lnSpc>
              <a:spcBef>
                <a:spcPct val="20000"/>
              </a:spcBef>
              <a:buSzPct val="60000"/>
              <a:buFont typeface="Wingdings" panose="05000000000000000000" pitchFamily="2" charset="2"/>
              <a:buChar char="u"/>
            </a:pPr>
            <a:r>
              <a:rPr kumimoji="1" lang="zh-CN" altLang="en-US" sz="2400" dirty="0">
                <a:latin typeface="Times New Roman" panose="02020603050405020304" pitchFamily="18" charset="0"/>
                <a:ea typeface="华文中宋" panose="02010600040101010101" pitchFamily="2" charset="-122"/>
              </a:rPr>
              <a:t>  不按写分配</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绕写法</a:t>
            </a:r>
            <a:r>
              <a:rPr kumimoji="1" lang="en-US" altLang="zh-CN" sz="2400" dirty="0">
                <a:latin typeface="Times New Roman" panose="02020603050405020304" pitchFamily="18" charset="0"/>
                <a:ea typeface="华文中宋" panose="02010600040101010101" pitchFamily="2" charset="-122"/>
              </a:rPr>
              <a:t>)</a:t>
            </a:r>
            <a:r>
              <a:rPr kumimoji="1" lang="zh-CN" altLang="en-US" sz="2400" dirty="0">
                <a:latin typeface="Times New Roman" panose="02020603050405020304" pitchFamily="18" charset="0"/>
                <a:ea typeface="华文中宋" panose="02010600040101010101" pitchFamily="2" charset="-122"/>
              </a:rPr>
              <a:t>：写失效时，直接写入下一级</a:t>
            </a:r>
          </a:p>
          <a:p>
            <a:pPr lvl="1" eaLnBrk="1" hangingPunct="1">
              <a:lnSpc>
                <a:spcPct val="120000"/>
              </a:lnSpc>
              <a:spcBef>
                <a:spcPct val="20000"/>
              </a:spcBef>
              <a:buSzPct val="60000"/>
              <a:buFont typeface="Wingdings" panose="05000000000000000000" pitchFamily="2" charset="2"/>
              <a:buNone/>
            </a:pPr>
            <a:r>
              <a:rPr kumimoji="1" lang="zh-CN" altLang="en-US" sz="2400" dirty="0">
                <a:latin typeface="Times New Roman" panose="02020603050405020304" pitchFamily="18" charset="0"/>
                <a:ea typeface="华文中宋" panose="02010600040101010101" pitchFamily="2" charset="-122"/>
              </a:rPr>
              <a:t>                                          存储器而不调块。</a:t>
            </a:r>
          </a:p>
        </p:txBody>
      </p:sp>
      <p:sp>
        <p:nvSpPr>
          <p:cNvPr id="5" name="Rectangle 2">
            <a:extLst>
              <a:ext uri="{FF2B5EF4-FFF2-40B4-BE49-F238E27FC236}">
                <a16:creationId xmlns:a16="http://schemas.microsoft.com/office/drawing/2014/main" id="{4CEEE11D-EB03-48BA-8ABA-294B26BD6128}"/>
              </a:ext>
            </a:extLst>
          </p:cNvPr>
          <p:cNvSpPr txBox="1">
            <a:spLocks noChangeArrowheads="1"/>
          </p:cNvSpPr>
          <p:nvPr/>
        </p:nvSpPr>
        <p:spPr>
          <a:xfrm>
            <a:off x="369888" y="223244"/>
            <a:ext cx="8229600" cy="864096"/>
          </a:xfrm>
          <a:prstGeom prst="rect">
            <a:avLst/>
          </a:prstGeom>
        </p:spPr>
        <p:txBody>
          <a:bodyPr>
            <a:normAutofit/>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a:lstStyle>
          <a:p>
            <a:pPr eaLnBrk="1" hangingPunct="1"/>
            <a:r>
              <a:rPr kumimoji="0" lang="en-US" altLang="zh-CN" sz="3600" b="1" dirty="0">
                <a:latin typeface="Times New Roman" panose="02020603050405020304" pitchFamily="18" charset="0"/>
                <a:cs typeface="Times New Roman" panose="02020603050405020304" pitchFamily="18" charset="0"/>
              </a:rPr>
              <a:t>5.2</a:t>
            </a:r>
            <a:r>
              <a:rPr kumimoji="0" lang="en-US" altLang="zh-CN" sz="3600" dirty="0">
                <a:latin typeface="Times New Roman" panose="02020603050405020304" pitchFamily="18" charset="0"/>
                <a:cs typeface="Times New Roman" panose="02020603050405020304" pitchFamily="18" charset="0"/>
              </a:rPr>
              <a:t>.4</a:t>
            </a:r>
            <a:r>
              <a:rPr kumimoji="0" lang="en-US" altLang="zh-CN" sz="3600" b="1" dirty="0">
                <a:latin typeface="Times New Roman" panose="02020603050405020304" pitchFamily="18" charset="0"/>
                <a:cs typeface="Times New Roman" panose="02020603050405020304" pitchFamily="18" charset="0"/>
              </a:rPr>
              <a:t> </a:t>
            </a:r>
            <a:r>
              <a:rPr kumimoji="0" lang="zh-CN" altLang="en-US" sz="3600" b="1" dirty="0">
                <a:latin typeface="华文中宋" panose="02010600040101010101" pitchFamily="2" charset="-122"/>
                <a:ea typeface="华文中宋" panose="02010600040101010101" pitchFamily="2" charset="-122"/>
                <a:cs typeface="Times New Roman" panose="02020603050405020304" pitchFamily="18" charset="0"/>
              </a:rPr>
              <a:t>写策略</a:t>
            </a:r>
          </a:p>
        </p:txBody>
      </p:sp>
      <p:sp>
        <p:nvSpPr>
          <p:cNvPr id="2" name="日期占位符 1">
            <a:extLst>
              <a:ext uri="{FF2B5EF4-FFF2-40B4-BE49-F238E27FC236}">
                <a16:creationId xmlns:a16="http://schemas.microsoft.com/office/drawing/2014/main" id="{6BDDF1AC-D332-9492-BE21-C772510870E1}"/>
              </a:ext>
            </a:extLst>
          </p:cNvPr>
          <p:cNvSpPr>
            <a:spLocks noGrp="1"/>
          </p:cNvSpPr>
          <p:nvPr>
            <p:ph type="dt" sz="half" idx="10"/>
          </p:nvPr>
        </p:nvSpPr>
        <p:spPr/>
        <p:txBody>
          <a:bodyPr/>
          <a:lstStyle/>
          <a:p>
            <a:pPr>
              <a:defRPr/>
            </a:pPr>
            <a:fld id="{924511E5-A388-48C1-BAAF-1755DFCA0576}"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DE5F1ECA-A3AA-1063-51F6-828ADF063F87}"/>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C7644C4A-E420-4F2C-5525-884A1E562B65}"/>
              </a:ext>
            </a:extLst>
          </p:cNvPr>
          <p:cNvSpPr>
            <a:spLocks noGrp="1"/>
          </p:cNvSpPr>
          <p:nvPr>
            <p:ph type="sldNum" sz="quarter" idx="12"/>
          </p:nvPr>
        </p:nvSpPr>
        <p:spPr/>
        <p:txBody>
          <a:bodyPr/>
          <a:lstStyle/>
          <a:p>
            <a:pPr>
              <a:defRPr/>
            </a:pPr>
            <a:fld id="{65B7EA61-351E-4105-9AD9-76D38C6E9934}" type="slidenum">
              <a:rPr lang="zh-CN" altLang="en-US" smtClean="0"/>
              <a:t>68</a:t>
            </a:fld>
            <a:endParaRPr lang="en-US" altLang="zh-CN"/>
          </a:p>
        </p:txBody>
      </p:sp>
    </p:spTree>
    <p:extLst>
      <p:ext uri="{BB962C8B-B14F-4D97-AF65-F5344CB8AC3E}">
        <p14:creationId xmlns:p14="http://schemas.microsoft.com/office/powerpoint/2010/main" val="27256074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8A1C9FB-2BA9-41CD-8C23-DE30E3DCFA9F}"/>
              </a:ext>
            </a:extLst>
          </p:cNvPr>
          <p:cNvSpPr/>
          <p:nvPr/>
        </p:nvSpPr>
        <p:spPr>
          <a:xfrm>
            <a:off x="251520" y="178526"/>
            <a:ext cx="8640960" cy="6500947"/>
          </a:xfrm>
          <a:prstGeom prst="rect">
            <a:avLst/>
          </a:prstGeom>
        </p:spPr>
        <p:txBody>
          <a:bodyPr wrap="square">
            <a:spAutoFit/>
          </a:bodyPr>
          <a:lstStyle/>
          <a:p>
            <a:pPr>
              <a:lnSpc>
                <a:spcPct val="110000"/>
              </a:lnSpc>
            </a:pPr>
            <a:r>
              <a:rPr lang="zh-CN" altLang="en-US" sz="20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例</a:t>
            </a:r>
            <a:r>
              <a:rPr lang="en-US" altLang="zh-CN" sz="20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5.1 </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假设一个全相联足够多</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Cache</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块的</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Cache</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，在完成</a:t>
            </a:r>
            <a:r>
              <a:rPr lang="en-US" altLang="zh-CN" sz="2000" dirty="0" err="1">
                <a:latin typeface="Times New Roman" panose="02020603050405020304" pitchFamily="18" charset="0"/>
                <a:ea typeface="华文中宋" panose="02010600040101010101" pitchFamily="2" charset="-122"/>
                <a:cs typeface="Times New Roman" panose="02020603050405020304" pitchFamily="18" charset="0"/>
              </a:rPr>
              <a:t>WriteMem</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[100]</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err="1">
                <a:latin typeface="Times New Roman" panose="02020603050405020304" pitchFamily="18" charset="0"/>
                <a:ea typeface="华文中宋" panose="02010600040101010101" pitchFamily="2" charset="-122"/>
                <a:cs typeface="Times New Roman" panose="02020603050405020304" pitchFamily="18" charset="0"/>
              </a:rPr>
              <a:t>WriteMem</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[100]</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err="1">
                <a:latin typeface="Times New Roman" panose="02020603050405020304" pitchFamily="18" charset="0"/>
                <a:ea typeface="华文中宋" panose="02010600040101010101" pitchFamily="2" charset="-122"/>
                <a:cs typeface="Times New Roman" panose="02020603050405020304" pitchFamily="18" charset="0"/>
              </a:rPr>
              <a:t>ReadMem</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 [200]</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err="1">
                <a:latin typeface="Times New Roman" panose="02020603050405020304" pitchFamily="18" charset="0"/>
                <a:ea typeface="华文中宋" panose="02010600040101010101" pitchFamily="2" charset="-122"/>
                <a:cs typeface="Times New Roman" panose="02020603050405020304" pitchFamily="18" charset="0"/>
              </a:rPr>
              <a:t>WriteMem</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[200]</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000" dirty="0" err="1">
                <a:latin typeface="Times New Roman" panose="02020603050405020304" pitchFamily="18" charset="0"/>
                <a:ea typeface="华文中宋" panose="02010600040101010101" pitchFamily="2" charset="-122"/>
                <a:cs typeface="Times New Roman" panose="02020603050405020304" pitchFamily="18" charset="0"/>
              </a:rPr>
              <a:t>WriteMem</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[100]</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的访存序列时，</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分别求</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按</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写分配和</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不按</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写分配下命中次数、</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失效</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次数是多少？</a:t>
            </a:r>
            <a:endParaRPr lang="en-US" altLang="zh-CN" sz="2000" dirty="0">
              <a:latin typeface="Times New Roman" panose="02020603050405020304" pitchFamily="18" charset="0"/>
              <a:ea typeface="华文中宋" panose="02010600040101010101" pitchFamily="2" charset="-122"/>
              <a:cs typeface="Times New Roman" panose="02020603050405020304" pitchFamily="18" charset="0"/>
            </a:endParaRPr>
          </a:p>
          <a:p>
            <a:pPr>
              <a:lnSpc>
                <a:spcPct val="110000"/>
              </a:lnSpc>
            </a:pPr>
            <a:endParaRPr lang="en-US" altLang="zh-CN" sz="2000" dirty="0">
              <a:latin typeface="Times New Roman" panose="02020603050405020304" pitchFamily="18" charset="0"/>
              <a:ea typeface="华文中宋" panose="02010600040101010101" pitchFamily="2" charset="-122"/>
              <a:cs typeface="Times New Roman" panose="02020603050405020304" pitchFamily="18" charset="0"/>
            </a:endParaRPr>
          </a:p>
          <a:p>
            <a:pPr>
              <a:lnSpc>
                <a:spcPct val="110000"/>
              </a:lnSpc>
            </a:pP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                                             </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不按写分配           按写分配</a:t>
            </a:r>
            <a:endParaRPr lang="en-US" altLang="zh-CN" sz="2000" dirty="0">
              <a:latin typeface="Times New Roman" panose="02020603050405020304" pitchFamily="18" charset="0"/>
              <a:ea typeface="华文中宋" panose="02010600040101010101" pitchFamily="2" charset="-122"/>
              <a:cs typeface="Times New Roman" panose="02020603050405020304" pitchFamily="18" charset="0"/>
            </a:endParaRPr>
          </a:p>
          <a:p>
            <a:pPr>
              <a:lnSpc>
                <a:spcPct val="110000"/>
              </a:lnSpc>
            </a:pPr>
            <a:r>
              <a:rPr lang="en-US" altLang="zh-CN" sz="2000" dirty="0" err="1">
                <a:latin typeface="Times New Roman" panose="02020603050405020304" pitchFamily="18" charset="0"/>
                <a:ea typeface="华文中宋" panose="02010600040101010101" pitchFamily="2" charset="-122"/>
                <a:cs typeface="Times New Roman" panose="02020603050405020304" pitchFamily="18" charset="0"/>
              </a:rPr>
              <a:t>WriteMem</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[100]                       </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失效                     失效</a:t>
            </a:r>
            <a:endParaRPr lang="zh-CN" altLang="zh-CN" sz="2000" dirty="0">
              <a:latin typeface="Times New Roman" panose="02020603050405020304" pitchFamily="18" charset="0"/>
              <a:ea typeface="华文中宋" panose="02010600040101010101" pitchFamily="2" charset="-122"/>
              <a:cs typeface="Times New Roman" panose="02020603050405020304" pitchFamily="18" charset="0"/>
            </a:endParaRPr>
          </a:p>
          <a:p>
            <a:pPr>
              <a:lnSpc>
                <a:spcPct val="110000"/>
              </a:lnSpc>
            </a:pPr>
            <a:r>
              <a:rPr lang="en-US" altLang="zh-CN" sz="2000" dirty="0" err="1">
                <a:latin typeface="Times New Roman" panose="02020603050405020304" pitchFamily="18" charset="0"/>
                <a:ea typeface="华文中宋" panose="02010600040101010101" pitchFamily="2" charset="-122"/>
                <a:cs typeface="Times New Roman" panose="02020603050405020304" pitchFamily="18" charset="0"/>
              </a:rPr>
              <a:t>WriteMem</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[100]                       </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失效                     命中</a:t>
            </a:r>
            <a:endParaRPr lang="zh-CN" altLang="zh-CN" sz="2000" dirty="0">
              <a:latin typeface="Times New Roman" panose="02020603050405020304" pitchFamily="18" charset="0"/>
              <a:ea typeface="华文中宋" panose="02010600040101010101" pitchFamily="2" charset="-122"/>
              <a:cs typeface="Times New Roman" panose="02020603050405020304" pitchFamily="18" charset="0"/>
            </a:endParaRPr>
          </a:p>
          <a:p>
            <a:pPr>
              <a:lnSpc>
                <a:spcPct val="110000"/>
              </a:lnSpc>
            </a:pPr>
            <a:r>
              <a:rPr lang="en-US" altLang="zh-CN" sz="2000" dirty="0" err="1">
                <a:latin typeface="Times New Roman" panose="02020603050405020304" pitchFamily="18" charset="0"/>
                <a:ea typeface="华文中宋" panose="02010600040101010101" pitchFamily="2" charset="-122"/>
                <a:cs typeface="Times New Roman" panose="02020603050405020304" pitchFamily="18" charset="0"/>
              </a:rPr>
              <a:t>ReadMem</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 [200]                       </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失效                     失效</a:t>
            </a:r>
            <a:endParaRPr lang="zh-CN" altLang="zh-CN" sz="2000" dirty="0">
              <a:latin typeface="Times New Roman" panose="02020603050405020304" pitchFamily="18" charset="0"/>
              <a:ea typeface="华文中宋" panose="02010600040101010101" pitchFamily="2" charset="-122"/>
              <a:cs typeface="Times New Roman" panose="02020603050405020304" pitchFamily="18" charset="0"/>
            </a:endParaRPr>
          </a:p>
          <a:p>
            <a:pPr>
              <a:lnSpc>
                <a:spcPct val="110000"/>
              </a:lnSpc>
            </a:pPr>
            <a:r>
              <a:rPr lang="en-US" altLang="zh-CN" sz="2000" dirty="0" err="1">
                <a:latin typeface="Times New Roman" panose="02020603050405020304" pitchFamily="18" charset="0"/>
                <a:ea typeface="华文中宋" panose="02010600040101010101" pitchFamily="2" charset="-122"/>
                <a:cs typeface="Times New Roman" panose="02020603050405020304" pitchFamily="18" charset="0"/>
              </a:rPr>
              <a:t>WriteMem</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[200]                       </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命中                     命中</a:t>
            </a:r>
            <a:endParaRPr lang="zh-CN" altLang="zh-CN" sz="2000" dirty="0">
              <a:latin typeface="Times New Roman" panose="02020603050405020304" pitchFamily="18" charset="0"/>
              <a:ea typeface="华文中宋" panose="02010600040101010101" pitchFamily="2" charset="-122"/>
              <a:cs typeface="Times New Roman" panose="02020603050405020304" pitchFamily="18" charset="0"/>
            </a:endParaRPr>
          </a:p>
          <a:p>
            <a:pPr>
              <a:lnSpc>
                <a:spcPct val="110000"/>
              </a:lnSpc>
            </a:pPr>
            <a:r>
              <a:rPr lang="en-US" altLang="zh-CN" sz="2000" dirty="0" err="1">
                <a:latin typeface="Times New Roman" panose="02020603050405020304" pitchFamily="18" charset="0"/>
                <a:ea typeface="华文中宋" panose="02010600040101010101" pitchFamily="2" charset="-122"/>
                <a:cs typeface="Times New Roman" panose="02020603050405020304" pitchFamily="18" charset="0"/>
              </a:rPr>
              <a:t>WriteMem</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[100]                       </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失效                     命中</a:t>
            </a:r>
            <a:endParaRPr lang="zh-CN" altLang="zh-CN" sz="2000" dirty="0">
              <a:latin typeface="Times New Roman" panose="02020603050405020304" pitchFamily="18" charset="0"/>
              <a:ea typeface="华文中宋" panose="02010600040101010101" pitchFamily="2" charset="-122"/>
              <a:cs typeface="Times New Roman" panose="02020603050405020304" pitchFamily="18" charset="0"/>
            </a:endParaRPr>
          </a:p>
          <a:p>
            <a:pPr>
              <a:lnSpc>
                <a:spcPct val="110000"/>
              </a:lnSpc>
            </a:pPr>
            <a:endParaRPr lang="en-US" altLang="zh-CN" sz="2000" dirty="0">
              <a:latin typeface="Times New Roman" panose="02020603050405020304" pitchFamily="18" charset="0"/>
              <a:ea typeface="华文中宋" panose="02010600040101010101" pitchFamily="2" charset="-122"/>
              <a:cs typeface="Times New Roman" panose="02020603050405020304" pitchFamily="18" charset="0"/>
            </a:endParaRPr>
          </a:p>
          <a:p>
            <a:pPr algn="just">
              <a:lnSpc>
                <a:spcPct val="110000"/>
              </a:lnSpc>
            </a:pPr>
            <a:r>
              <a:rPr lang="zh-CN" altLang="en-US" sz="20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不按</a:t>
            </a:r>
            <a:r>
              <a:rPr lang="zh-CN" altLang="zh-CN" sz="20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写分配的情况</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：地址为</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100</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号的单元不在</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Cache</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中，而</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Cache</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对写操作不产生分配，所以前面</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2</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个写操作是缺失的。</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200</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号单元也不在</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Cache</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中，读操作缺失，但是该单元所在的块已被取到</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Cache</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中，故第四条读操作命中。最后一条写</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100</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号单元操作仍然发生缺失。</a:t>
            </a:r>
            <a:r>
              <a:rPr lang="zh-CN" altLang="en-US" sz="2000" dirty="0">
                <a:latin typeface="Times New Roman" panose="02020603050405020304" pitchFamily="18" charset="0"/>
                <a:ea typeface="华文中宋" panose="02010600040101010101" pitchFamily="2" charset="-122"/>
                <a:cs typeface="Times New Roman" panose="02020603050405020304" pitchFamily="18" charset="0"/>
              </a:rPr>
              <a:t>不按</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写分配的最终结果是</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4</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次缺失和</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1</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次命中。</a:t>
            </a:r>
          </a:p>
          <a:p>
            <a:pPr>
              <a:lnSpc>
                <a:spcPct val="110000"/>
              </a:lnSpc>
            </a:pPr>
            <a:r>
              <a:rPr lang="zh-CN" altLang="en-US" sz="20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按</a:t>
            </a:r>
            <a:r>
              <a:rPr lang="zh-CN" altLang="zh-CN" sz="2000" dirty="0">
                <a:solidFill>
                  <a:srgbClr val="C00000"/>
                </a:solidFill>
                <a:latin typeface="Times New Roman" panose="02020603050405020304" pitchFamily="18" charset="0"/>
                <a:ea typeface="华文中宋" panose="02010600040101010101" pitchFamily="2" charset="-122"/>
                <a:cs typeface="Times New Roman" panose="02020603050405020304" pitchFamily="18" charset="0"/>
              </a:rPr>
              <a:t>写分配的情况：</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对</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100</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号单元和</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200</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号单元第一次操作都发生缺失，其所在的块同时被读到</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Cache</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中，故剩下的操作都是命中的。故写分配结果为总共有</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2</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次缺失和</a:t>
            </a:r>
            <a:r>
              <a:rPr lang="en-US" altLang="zh-CN" sz="2000" dirty="0">
                <a:latin typeface="Times New Roman" panose="02020603050405020304" pitchFamily="18" charset="0"/>
                <a:ea typeface="华文中宋" panose="02010600040101010101" pitchFamily="2" charset="-122"/>
                <a:cs typeface="Times New Roman" panose="02020603050405020304" pitchFamily="18" charset="0"/>
              </a:rPr>
              <a:t>3</a:t>
            </a:r>
            <a:r>
              <a:rPr lang="zh-CN" altLang="zh-CN" sz="2000" dirty="0">
                <a:latin typeface="Times New Roman" panose="02020603050405020304" pitchFamily="18" charset="0"/>
                <a:ea typeface="华文中宋" panose="02010600040101010101" pitchFamily="2" charset="-122"/>
                <a:cs typeface="Times New Roman" panose="02020603050405020304" pitchFamily="18" charset="0"/>
              </a:rPr>
              <a:t>次命中。</a:t>
            </a:r>
          </a:p>
        </p:txBody>
      </p:sp>
      <p:sp>
        <p:nvSpPr>
          <p:cNvPr id="3" name="日期占位符 2">
            <a:extLst>
              <a:ext uri="{FF2B5EF4-FFF2-40B4-BE49-F238E27FC236}">
                <a16:creationId xmlns:a16="http://schemas.microsoft.com/office/drawing/2014/main" id="{683D6EF6-715E-1041-50A9-BDAE45606BE6}"/>
              </a:ext>
            </a:extLst>
          </p:cNvPr>
          <p:cNvSpPr>
            <a:spLocks noGrp="1"/>
          </p:cNvSpPr>
          <p:nvPr>
            <p:ph type="dt" sz="half" idx="10"/>
          </p:nvPr>
        </p:nvSpPr>
        <p:spPr/>
        <p:txBody>
          <a:bodyPr/>
          <a:lstStyle/>
          <a:p>
            <a:pPr>
              <a:defRPr/>
            </a:pPr>
            <a:fld id="{E10B249E-BB0E-4DDA-B884-B5392303B11C}"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19D71144-E563-2C34-7C31-2E87A4E3361D}"/>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DC08BBFF-2DBC-58B0-A501-4B3A8DAE5D5E}"/>
              </a:ext>
            </a:extLst>
          </p:cNvPr>
          <p:cNvSpPr>
            <a:spLocks noGrp="1"/>
          </p:cNvSpPr>
          <p:nvPr>
            <p:ph type="sldNum" sz="quarter" idx="12"/>
          </p:nvPr>
        </p:nvSpPr>
        <p:spPr/>
        <p:txBody>
          <a:bodyPr/>
          <a:lstStyle/>
          <a:p>
            <a:pPr>
              <a:defRPr/>
            </a:pPr>
            <a:fld id="{65B7EA61-351E-4105-9AD9-76D38C6E9934}" type="slidenum">
              <a:rPr lang="zh-CN" altLang="en-US" smtClean="0"/>
              <a:t>69</a:t>
            </a:fld>
            <a:endParaRPr lang="en-US" altLang="zh-CN"/>
          </a:p>
        </p:txBody>
      </p:sp>
    </p:spTree>
    <p:extLst>
      <p:ext uri="{BB962C8B-B14F-4D97-AF65-F5344CB8AC3E}">
        <p14:creationId xmlns:p14="http://schemas.microsoft.com/office/powerpoint/2010/main" val="1876400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26C8957B-33CA-4A30-8353-69D12503CCEA}"/>
              </a:ext>
            </a:extLst>
          </p:cNvPr>
          <p:cNvSpPr/>
          <p:nvPr/>
        </p:nvSpPr>
        <p:spPr>
          <a:xfrm>
            <a:off x="622929" y="402563"/>
            <a:ext cx="4572000" cy="1010213"/>
          </a:xfrm>
          <a:prstGeom prst="rect">
            <a:avLst/>
          </a:prstGeom>
        </p:spPr>
        <p:txBody>
          <a:bodyPr>
            <a:spAutoFit/>
          </a:bodyPr>
          <a:lstStyle/>
          <a:p>
            <a:pPr eaLnBrk="1" hangingPunct="1">
              <a:lnSpc>
                <a:spcPct val="120000"/>
              </a:lnSpc>
              <a:spcBef>
                <a:spcPct val="20000"/>
              </a:spcBef>
            </a:pPr>
            <a:r>
              <a:rPr lang="en-US" altLang="zh-CN" sz="2400" dirty="0">
                <a:latin typeface="Times New Roman" panose="02020603050405020304" pitchFamily="18" charset="0"/>
                <a:ea typeface="华文中宋" panose="02010600040101010101" pitchFamily="2" charset="-122"/>
              </a:rPr>
              <a:t>8. </a:t>
            </a:r>
            <a:r>
              <a:rPr lang="zh-CN" altLang="en-US" sz="2400" dirty="0">
                <a:latin typeface="Times New Roman" panose="02020603050405020304" pitchFamily="18" charset="0"/>
                <a:ea typeface="华文中宋" panose="02010600040101010101" pitchFamily="2" charset="-122"/>
              </a:rPr>
              <a:t>写策略与调块</a:t>
            </a:r>
            <a:endParaRPr lang="zh-CN" altLang="en-US" sz="2400" b="0" dirty="0">
              <a:latin typeface="Times New Roman" panose="02020603050405020304" pitchFamily="18" charset="0"/>
              <a:ea typeface="华文中宋" panose="02010600040101010101" pitchFamily="2" charset="-122"/>
            </a:endParaRPr>
          </a:p>
          <a:p>
            <a:pPr eaLnBrk="1" hangingPunct="1">
              <a:lnSpc>
                <a:spcPct val="120000"/>
              </a:lnSpc>
              <a:spcBef>
                <a:spcPct val="20000"/>
              </a:spcBef>
            </a:pPr>
            <a:r>
              <a:rPr lang="zh-CN" altLang="en-US" sz="2400" b="0" dirty="0">
                <a:latin typeface="Times New Roman" panose="02020603050405020304" pitchFamily="18" charset="0"/>
                <a:ea typeface="华文中宋" panose="02010600040101010101" pitchFamily="2" charset="-122"/>
              </a:rPr>
              <a:t>       </a:t>
            </a:r>
            <a:endParaRPr lang="zh-CN" altLang="en-US" sz="2400" dirty="0"/>
          </a:p>
        </p:txBody>
      </p:sp>
      <p:graphicFrame>
        <p:nvGraphicFramePr>
          <p:cNvPr id="4" name="表格 3">
            <a:extLst>
              <a:ext uri="{FF2B5EF4-FFF2-40B4-BE49-F238E27FC236}">
                <a16:creationId xmlns:a16="http://schemas.microsoft.com/office/drawing/2014/main" id="{23941BD6-8C04-4638-9A43-E19F965C9666}"/>
              </a:ext>
            </a:extLst>
          </p:cNvPr>
          <p:cNvGraphicFramePr>
            <a:graphicFrameLocks noGrp="1"/>
          </p:cNvGraphicFramePr>
          <p:nvPr/>
        </p:nvGraphicFramePr>
        <p:xfrm>
          <a:off x="672200" y="1196752"/>
          <a:ext cx="7848871" cy="3177769"/>
        </p:xfrm>
        <a:graphic>
          <a:graphicData uri="http://schemas.openxmlformats.org/drawingml/2006/table">
            <a:tbl>
              <a:tblPr firstRow="1" bandRow="1">
                <a:tableStyleId>{5C22544A-7EE6-4342-B048-85BDC9FD1C3A}</a:tableStyleId>
              </a:tblPr>
              <a:tblGrid>
                <a:gridCol w="2490507">
                  <a:extLst>
                    <a:ext uri="{9D8B030D-6E8A-4147-A177-3AD203B41FA5}">
                      <a16:colId xmlns:a16="http://schemas.microsoft.com/office/drawing/2014/main" val="3852716279"/>
                    </a:ext>
                  </a:extLst>
                </a:gridCol>
                <a:gridCol w="2641447">
                  <a:extLst>
                    <a:ext uri="{9D8B030D-6E8A-4147-A177-3AD203B41FA5}">
                      <a16:colId xmlns:a16="http://schemas.microsoft.com/office/drawing/2014/main" val="3499710910"/>
                    </a:ext>
                  </a:extLst>
                </a:gridCol>
                <a:gridCol w="2716917">
                  <a:extLst>
                    <a:ext uri="{9D8B030D-6E8A-4147-A177-3AD203B41FA5}">
                      <a16:colId xmlns:a16="http://schemas.microsoft.com/office/drawing/2014/main" val="2589341342"/>
                    </a:ext>
                  </a:extLst>
                </a:gridCol>
              </a:tblGrid>
              <a:tr h="387325">
                <a:tc>
                  <a:txBody>
                    <a:bodyPr/>
                    <a:lstStyle/>
                    <a:p>
                      <a:r>
                        <a:rPr lang="zh-CN" altLang="en-US" sz="2000" b="1" dirty="0">
                          <a:latin typeface="华文中宋" panose="02010600040101010101" pitchFamily="2" charset="-122"/>
                          <a:ea typeface="华文中宋" panose="02010600040101010101" pitchFamily="2" charset="-122"/>
                        </a:rPr>
                        <a:t>策略组合</a:t>
                      </a:r>
                    </a:p>
                  </a:txBody>
                  <a:tcPr/>
                </a:tc>
                <a:tc>
                  <a:txBody>
                    <a:bodyPr/>
                    <a:lstStyle/>
                    <a:p>
                      <a:r>
                        <a:rPr lang="zh-CN" altLang="en-US" sz="2000" b="1" dirty="0">
                          <a:latin typeface="华文中宋" panose="02010600040101010101" pitchFamily="2" charset="-122"/>
                          <a:ea typeface="华文中宋" panose="02010600040101010101" pitchFamily="2" charset="-122"/>
                        </a:rPr>
                        <a:t>写命中</a:t>
                      </a:r>
                    </a:p>
                  </a:txBody>
                  <a:tcPr/>
                </a:tc>
                <a:tc>
                  <a:txBody>
                    <a:bodyPr/>
                    <a:lstStyle/>
                    <a:p>
                      <a:r>
                        <a:rPr lang="zh-CN" altLang="en-US" sz="2000" b="1" dirty="0">
                          <a:latin typeface="华文中宋" panose="02010600040101010101" pitchFamily="2" charset="-122"/>
                          <a:ea typeface="华文中宋" panose="02010600040101010101" pitchFamily="2" charset="-122"/>
                        </a:rPr>
                        <a:t>写失效</a:t>
                      </a:r>
                    </a:p>
                  </a:txBody>
                  <a:tcPr/>
                </a:tc>
                <a:extLst>
                  <a:ext uri="{0D108BD9-81ED-4DB2-BD59-A6C34878D82A}">
                    <a16:rowId xmlns:a16="http://schemas.microsoft.com/office/drawing/2014/main" val="237688496"/>
                  </a:ext>
                </a:extLst>
              </a:tr>
              <a:tr h="983209">
                <a:tc>
                  <a:txBody>
                    <a:bodyPr/>
                    <a:lstStyle/>
                    <a:p>
                      <a:r>
                        <a:rPr lang="zh-CN" altLang="en-US" sz="2000" b="1" dirty="0">
                          <a:latin typeface="华文中宋" panose="02010600040101010101" pitchFamily="2" charset="-122"/>
                          <a:ea typeface="华文中宋" panose="02010600040101010101" pitchFamily="2" charset="-122"/>
                        </a:rPr>
                        <a:t>写直达、按写分配</a:t>
                      </a:r>
                    </a:p>
                  </a:txBody>
                  <a:tcPr anchor="ctr"/>
                </a:tc>
                <a:tc>
                  <a:txBody>
                    <a:bodyPr/>
                    <a:lstStyle/>
                    <a:p>
                      <a:r>
                        <a:rPr lang="en-US" altLang="zh-CN" sz="2000" b="1" kern="1200" dirty="0">
                          <a:solidFill>
                            <a:schemeClr val="dk1"/>
                          </a:solidFill>
                          <a:latin typeface="华文中宋" panose="02010600040101010101" pitchFamily="2" charset="-122"/>
                          <a:ea typeface="华文中宋" panose="02010600040101010101" pitchFamily="2" charset="-122"/>
                          <a:cs typeface="+mn-cs"/>
                        </a:rPr>
                        <a:t>Cache</a:t>
                      </a:r>
                      <a:r>
                        <a:rPr lang="zh-CN" altLang="en-US" sz="2000" b="1" kern="1200" dirty="0">
                          <a:solidFill>
                            <a:schemeClr val="dk1"/>
                          </a:solidFill>
                          <a:latin typeface="华文中宋" panose="02010600040101010101" pitchFamily="2" charset="-122"/>
                          <a:ea typeface="华文中宋" panose="02010600040101010101" pitchFamily="2" charset="-122"/>
                          <a:cs typeface="+mn-cs"/>
                        </a:rPr>
                        <a:t>和下一级存储器都更新</a:t>
                      </a:r>
                    </a:p>
                  </a:txBody>
                  <a:tcPr anchor="ctr"/>
                </a:tc>
                <a:tc>
                  <a:txBody>
                    <a:bodyPr/>
                    <a:lstStyle/>
                    <a:p>
                      <a:r>
                        <a:rPr lang="zh-CN" altLang="en-US" sz="2000" b="1" dirty="0">
                          <a:latin typeface="华文中宋" panose="02010600040101010101" pitchFamily="2" charset="-122"/>
                          <a:ea typeface="华文中宋" panose="02010600040101010101" pitchFamily="2" charset="-122"/>
                        </a:rPr>
                        <a:t>把块取入</a:t>
                      </a:r>
                      <a:r>
                        <a:rPr lang="en-US" altLang="zh-CN" sz="2000" b="1" dirty="0">
                          <a:latin typeface="华文中宋" panose="02010600040101010101" pitchFamily="2" charset="-122"/>
                          <a:ea typeface="华文中宋" panose="02010600040101010101" pitchFamily="2" charset="-122"/>
                        </a:rPr>
                        <a:t>Cache</a:t>
                      </a:r>
                      <a:r>
                        <a:rPr lang="zh-CN" altLang="en-US" sz="2000" b="1" dirty="0">
                          <a:latin typeface="华文中宋" panose="02010600040101010101" pitchFamily="2" charset="-122"/>
                          <a:ea typeface="华文中宋" panose="02010600040101010101" pitchFamily="2" charset="-122"/>
                        </a:rPr>
                        <a:t>，</a:t>
                      </a:r>
                      <a:r>
                        <a:rPr lang="en-US" altLang="zh-CN" sz="2000" b="1" dirty="0">
                          <a:latin typeface="华文中宋" panose="02010600040101010101" pitchFamily="2" charset="-122"/>
                          <a:ea typeface="华文中宋" panose="02010600040101010101" pitchFamily="2" charset="-122"/>
                        </a:rPr>
                        <a:t>Cache</a:t>
                      </a:r>
                      <a:r>
                        <a:rPr lang="zh-CN" altLang="en-US" sz="2000" b="1" dirty="0">
                          <a:latin typeface="华文中宋" panose="02010600040101010101" pitchFamily="2" charset="-122"/>
                          <a:ea typeface="华文中宋" panose="02010600040101010101" pitchFamily="2" charset="-122"/>
                        </a:rPr>
                        <a:t>更新</a:t>
                      </a:r>
                    </a:p>
                  </a:txBody>
                  <a:tcPr anchor="ctr"/>
                </a:tc>
                <a:extLst>
                  <a:ext uri="{0D108BD9-81ED-4DB2-BD59-A6C34878D82A}">
                    <a16:rowId xmlns:a16="http://schemas.microsoft.com/office/drawing/2014/main" val="1101877617"/>
                  </a:ext>
                </a:extLst>
              </a:tr>
              <a:tr h="685267">
                <a:tc>
                  <a:txBody>
                    <a:bodyPr/>
                    <a:lstStyle/>
                    <a:p>
                      <a:r>
                        <a:rPr lang="zh-CN" altLang="en-US" sz="2000" b="1" dirty="0">
                          <a:solidFill>
                            <a:srgbClr val="C00000"/>
                          </a:solidFill>
                          <a:latin typeface="华文中宋" panose="02010600040101010101" pitchFamily="2" charset="-122"/>
                          <a:ea typeface="华文中宋" panose="02010600040101010101" pitchFamily="2" charset="-122"/>
                        </a:rPr>
                        <a:t>写直达、不按写分配</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b="1" dirty="0">
                          <a:latin typeface="华文中宋" panose="02010600040101010101" pitchFamily="2" charset="-122"/>
                          <a:ea typeface="华文中宋" panose="02010600040101010101" pitchFamily="2" charset="-122"/>
                        </a:rPr>
                        <a:t>Cache</a:t>
                      </a:r>
                      <a:r>
                        <a:rPr lang="zh-CN" altLang="en-US" sz="2000" b="1" dirty="0">
                          <a:latin typeface="华文中宋" panose="02010600040101010101" pitchFamily="2" charset="-122"/>
                          <a:ea typeface="华文中宋" panose="02010600040101010101" pitchFamily="2" charset="-122"/>
                        </a:rPr>
                        <a:t>和下一级存储器都更新</a:t>
                      </a:r>
                    </a:p>
                  </a:txBody>
                  <a:tcPr anchor="ctr"/>
                </a:tc>
                <a:tc>
                  <a:txBody>
                    <a:bodyPr/>
                    <a:lstStyle/>
                    <a:p>
                      <a:r>
                        <a:rPr lang="zh-CN" altLang="en-US" sz="2000" b="1" dirty="0">
                          <a:latin typeface="华文中宋" panose="02010600040101010101" pitchFamily="2" charset="-122"/>
                          <a:ea typeface="华文中宋" panose="02010600040101010101" pitchFamily="2" charset="-122"/>
                        </a:rPr>
                        <a:t>下一级存储器更新</a:t>
                      </a:r>
                    </a:p>
                  </a:txBody>
                  <a:tcPr anchor="ctr"/>
                </a:tc>
                <a:extLst>
                  <a:ext uri="{0D108BD9-81ED-4DB2-BD59-A6C34878D82A}">
                    <a16:rowId xmlns:a16="http://schemas.microsoft.com/office/drawing/2014/main" val="3145173077"/>
                  </a:ext>
                </a:extLst>
              </a:tr>
              <a:tr h="685267">
                <a:tc>
                  <a:txBody>
                    <a:bodyPr/>
                    <a:lstStyle/>
                    <a:p>
                      <a:r>
                        <a:rPr lang="zh-CN" altLang="en-US" sz="2000" b="1" dirty="0">
                          <a:solidFill>
                            <a:srgbClr val="C00000"/>
                          </a:solidFill>
                          <a:latin typeface="华文中宋" panose="02010600040101010101" pitchFamily="2" charset="-122"/>
                          <a:ea typeface="华文中宋" panose="02010600040101010101" pitchFamily="2" charset="-122"/>
                        </a:rPr>
                        <a:t>写回、按写分配</a:t>
                      </a:r>
                    </a:p>
                  </a:txBody>
                  <a:tcPr/>
                </a:tc>
                <a:tc>
                  <a:txBody>
                    <a:bodyPr/>
                    <a:lstStyle/>
                    <a:p>
                      <a:r>
                        <a:rPr lang="en-US" altLang="zh-CN" sz="2000" b="1" dirty="0">
                          <a:latin typeface="华文中宋" panose="02010600040101010101" pitchFamily="2" charset="-122"/>
                          <a:ea typeface="华文中宋" panose="02010600040101010101" pitchFamily="2" charset="-122"/>
                        </a:rPr>
                        <a:t>Cache</a:t>
                      </a:r>
                      <a:r>
                        <a:rPr lang="zh-CN" altLang="en-US" sz="2000" b="1" dirty="0">
                          <a:latin typeface="华文中宋" panose="02010600040101010101" pitchFamily="2" charset="-122"/>
                          <a:ea typeface="华文中宋" panose="02010600040101010101" pitchFamily="2" charset="-122"/>
                        </a:rPr>
                        <a:t>更新</a:t>
                      </a:r>
                    </a:p>
                  </a:txBody>
                  <a:tcPr anchor="ctr"/>
                </a:tc>
                <a:tc>
                  <a:txBody>
                    <a:bodyPr/>
                    <a:lstStyle/>
                    <a:p>
                      <a:r>
                        <a:rPr lang="zh-CN" altLang="en-US" sz="2000" b="1" dirty="0">
                          <a:latin typeface="华文中宋" panose="02010600040101010101" pitchFamily="2" charset="-122"/>
                          <a:ea typeface="华文中宋" panose="02010600040101010101" pitchFamily="2" charset="-122"/>
                        </a:rPr>
                        <a:t>把块取入</a:t>
                      </a:r>
                      <a:r>
                        <a:rPr lang="en-US" altLang="zh-CN" sz="2000" b="1" dirty="0">
                          <a:latin typeface="华文中宋" panose="02010600040101010101" pitchFamily="2" charset="-122"/>
                          <a:ea typeface="华文中宋" panose="02010600040101010101" pitchFamily="2" charset="-122"/>
                        </a:rPr>
                        <a:t>Cache</a:t>
                      </a:r>
                      <a:r>
                        <a:rPr lang="zh-CN" altLang="en-US" sz="2000" b="1" dirty="0">
                          <a:latin typeface="华文中宋" panose="02010600040101010101" pitchFamily="2" charset="-122"/>
                          <a:ea typeface="华文中宋" panose="02010600040101010101" pitchFamily="2" charset="-122"/>
                        </a:rPr>
                        <a:t>，</a:t>
                      </a:r>
                      <a:r>
                        <a:rPr lang="en-US" altLang="zh-CN" sz="2000" b="1" dirty="0">
                          <a:latin typeface="华文中宋" panose="02010600040101010101" pitchFamily="2" charset="-122"/>
                          <a:ea typeface="华文中宋" panose="02010600040101010101" pitchFamily="2" charset="-122"/>
                        </a:rPr>
                        <a:t>Cache</a:t>
                      </a:r>
                      <a:r>
                        <a:rPr lang="zh-CN" altLang="en-US" sz="2000" b="1" dirty="0">
                          <a:latin typeface="华文中宋" panose="02010600040101010101" pitchFamily="2" charset="-122"/>
                          <a:ea typeface="华文中宋" panose="02010600040101010101" pitchFamily="2" charset="-122"/>
                        </a:rPr>
                        <a:t>更新</a:t>
                      </a:r>
                    </a:p>
                  </a:txBody>
                  <a:tcPr anchor="ctr"/>
                </a:tc>
                <a:extLst>
                  <a:ext uri="{0D108BD9-81ED-4DB2-BD59-A6C34878D82A}">
                    <a16:rowId xmlns:a16="http://schemas.microsoft.com/office/drawing/2014/main" val="3648040966"/>
                  </a:ext>
                </a:extLst>
              </a:tr>
              <a:tr h="387325">
                <a:tc>
                  <a:txBody>
                    <a:bodyPr/>
                    <a:lstStyle/>
                    <a:p>
                      <a:r>
                        <a:rPr lang="zh-CN" altLang="en-US" sz="2000" b="1" dirty="0">
                          <a:latin typeface="华文中宋" panose="02010600040101010101" pitchFamily="2" charset="-122"/>
                          <a:ea typeface="华文中宋" panose="02010600040101010101" pitchFamily="2" charset="-122"/>
                        </a:rPr>
                        <a:t>写回、不按写分配</a:t>
                      </a:r>
                    </a:p>
                  </a:txBody>
                  <a:tcPr/>
                </a:tc>
                <a:tc>
                  <a:txBody>
                    <a:bodyPr/>
                    <a:lstStyle/>
                    <a:p>
                      <a:r>
                        <a:rPr lang="en-US" altLang="zh-CN" sz="2000" b="1" dirty="0">
                          <a:latin typeface="华文中宋" panose="02010600040101010101" pitchFamily="2" charset="-122"/>
                          <a:ea typeface="华文中宋" panose="02010600040101010101" pitchFamily="2" charset="-122"/>
                        </a:rPr>
                        <a:t>Cache</a:t>
                      </a:r>
                      <a:r>
                        <a:rPr lang="zh-CN" altLang="en-US" sz="2000" b="1" dirty="0">
                          <a:latin typeface="华文中宋" panose="02010600040101010101" pitchFamily="2" charset="-122"/>
                          <a:ea typeface="华文中宋" panose="02010600040101010101" pitchFamily="2" charset="-122"/>
                        </a:rPr>
                        <a:t>更新</a:t>
                      </a:r>
                    </a:p>
                  </a:txBody>
                  <a:tcPr anchor="ctr"/>
                </a:tc>
                <a:tc>
                  <a:txBody>
                    <a:bodyPr/>
                    <a:lstStyle/>
                    <a:p>
                      <a:r>
                        <a:rPr lang="zh-CN" altLang="en-US" sz="2000" b="1" dirty="0">
                          <a:latin typeface="华文中宋" panose="02010600040101010101" pitchFamily="2" charset="-122"/>
                          <a:ea typeface="华文中宋" panose="02010600040101010101" pitchFamily="2" charset="-122"/>
                        </a:rPr>
                        <a:t>下一级存储器更新</a:t>
                      </a:r>
                    </a:p>
                  </a:txBody>
                  <a:tcPr anchor="ctr"/>
                </a:tc>
                <a:extLst>
                  <a:ext uri="{0D108BD9-81ED-4DB2-BD59-A6C34878D82A}">
                    <a16:rowId xmlns:a16="http://schemas.microsoft.com/office/drawing/2014/main" val="557457691"/>
                  </a:ext>
                </a:extLst>
              </a:tr>
            </a:tbl>
          </a:graphicData>
        </a:graphic>
      </p:graphicFrame>
      <p:sp>
        <p:nvSpPr>
          <p:cNvPr id="5" name="矩形 4">
            <a:extLst>
              <a:ext uri="{FF2B5EF4-FFF2-40B4-BE49-F238E27FC236}">
                <a16:creationId xmlns:a16="http://schemas.microsoft.com/office/drawing/2014/main" id="{E1B7F7F4-F041-4EA6-A6A7-0A021100B6D1}"/>
              </a:ext>
            </a:extLst>
          </p:cNvPr>
          <p:cNvSpPr/>
          <p:nvPr/>
        </p:nvSpPr>
        <p:spPr>
          <a:xfrm>
            <a:off x="179512" y="4941168"/>
            <a:ext cx="4572000" cy="830997"/>
          </a:xfrm>
          <a:prstGeom prst="rect">
            <a:avLst/>
          </a:prstGeom>
        </p:spPr>
        <p:txBody>
          <a:bodyPr>
            <a:spAutoFit/>
          </a:bodyPr>
          <a:lstStyle/>
          <a:p>
            <a:pPr marL="1085850" lvl="1" indent="-457200"/>
            <a:r>
              <a:rPr lang="zh-CN" altLang="en-US" sz="2400" dirty="0">
                <a:latin typeface="华文中宋" panose="02010600040101010101" pitchFamily="2" charset="-122"/>
                <a:ea typeface="华文中宋" panose="02010600040101010101" pitchFamily="2" charset="-122"/>
              </a:rPr>
              <a:t>写直达法 ── 不按写分配</a:t>
            </a:r>
            <a:endParaRPr lang="en-US" altLang="zh-CN" sz="2400" dirty="0">
              <a:latin typeface="华文中宋" panose="02010600040101010101" pitchFamily="2" charset="-122"/>
              <a:ea typeface="华文中宋" panose="02010600040101010101" pitchFamily="2" charset="-122"/>
            </a:endParaRPr>
          </a:p>
          <a:p>
            <a:pPr marL="1085850" lvl="1" indent="-457200" eaLnBrk="1" hangingPunct="1"/>
            <a:r>
              <a:rPr lang="zh-CN" altLang="en-US" sz="2400" dirty="0">
                <a:latin typeface="华文中宋" panose="02010600040101010101" pitchFamily="2" charset="-122"/>
                <a:ea typeface="华文中宋" panose="02010600040101010101" pitchFamily="2" charset="-122"/>
              </a:rPr>
              <a:t>写回法 ── 按写分配</a:t>
            </a:r>
          </a:p>
        </p:txBody>
      </p:sp>
      <p:sp>
        <p:nvSpPr>
          <p:cNvPr id="2" name="日期占位符 1">
            <a:extLst>
              <a:ext uri="{FF2B5EF4-FFF2-40B4-BE49-F238E27FC236}">
                <a16:creationId xmlns:a16="http://schemas.microsoft.com/office/drawing/2014/main" id="{BB922B3C-DD3F-D5EC-EAA8-9EE8673E8457}"/>
              </a:ext>
            </a:extLst>
          </p:cNvPr>
          <p:cNvSpPr>
            <a:spLocks noGrp="1"/>
          </p:cNvSpPr>
          <p:nvPr>
            <p:ph type="dt" sz="half" idx="10"/>
          </p:nvPr>
        </p:nvSpPr>
        <p:spPr/>
        <p:txBody>
          <a:bodyPr/>
          <a:lstStyle/>
          <a:p>
            <a:pPr>
              <a:defRPr/>
            </a:pPr>
            <a:fld id="{4E3AB957-556D-49B4-A29B-6519C0D1E883}" type="datetime1">
              <a:rPr lang="zh-CN" altLang="en-US" smtClean="0"/>
              <a:t>2025/10/28</a:t>
            </a:fld>
            <a:endParaRPr lang="en-US" altLang="zh-CN"/>
          </a:p>
        </p:txBody>
      </p:sp>
      <p:sp>
        <p:nvSpPr>
          <p:cNvPr id="6" name="页脚占位符 5">
            <a:extLst>
              <a:ext uri="{FF2B5EF4-FFF2-40B4-BE49-F238E27FC236}">
                <a16:creationId xmlns:a16="http://schemas.microsoft.com/office/drawing/2014/main" id="{34FDC330-6999-E69D-F040-4406EBCE2741}"/>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7" name="灯片编号占位符 6">
            <a:extLst>
              <a:ext uri="{FF2B5EF4-FFF2-40B4-BE49-F238E27FC236}">
                <a16:creationId xmlns:a16="http://schemas.microsoft.com/office/drawing/2014/main" id="{D7EB404B-AB08-8671-D478-90DB23E5F52D}"/>
              </a:ext>
            </a:extLst>
          </p:cNvPr>
          <p:cNvSpPr>
            <a:spLocks noGrp="1"/>
          </p:cNvSpPr>
          <p:nvPr>
            <p:ph type="sldNum" sz="quarter" idx="12"/>
          </p:nvPr>
        </p:nvSpPr>
        <p:spPr/>
        <p:txBody>
          <a:bodyPr/>
          <a:lstStyle/>
          <a:p>
            <a:pPr>
              <a:defRPr/>
            </a:pPr>
            <a:fld id="{65B7EA61-351E-4105-9AD9-76D38C6E9934}" type="slidenum">
              <a:rPr lang="zh-CN" altLang="en-US" smtClean="0"/>
              <a:t>70</a:t>
            </a:fld>
            <a:endParaRPr lang="en-US" altLang="zh-CN"/>
          </a:p>
        </p:txBody>
      </p:sp>
    </p:spTree>
    <p:extLst>
      <p:ext uri="{BB962C8B-B14F-4D97-AF65-F5344CB8AC3E}">
        <p14:creationId xmlns:p14="http://schemas.microsoft.com/office/powerpoint/2010/main" val="14593630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hlinkClick r:id="rId2" action="ppaction://hlinksldjump"/>
            <a:extLst>
              <a:ext uri="{FF2B5EF4-FFF2-40B4-BE49-F238E27FC236}">
                <a16:creationId xmlns:a16="http://schemas.microsoft.com/office/drawing/2014/main" id="{F490CFE4-E318-4F19-BC99-ECB6DE9A884B}"/>
              </a:ext>
            </a:extLst>
          </p:cNvPr>
          <p:cNvPicPr>
            <a:picLocks noChangeAspect="1"/>
          </p:cNvPicPr>
          <p:nvPr/>
        </p:nvPicPr>
        <p:blipFill>
          <a:blip r:embed="rId3"/>
          <a:stretch>
            <a:fillRect/>
          </a:stretch>
        </p:blipFill>
        <p:spPr>
          <a:xfrm>
            <a:off x="0" y="19050"/>
            <a:ext cx="9144000" cy="6819900"/>
          </a:xfrm>
          <a:prstGeom prst="rect">
            <a:avLst/>
          </a:prstGeom>
        </p:spPr>
      </p:pic>
      <p:sp>
        <p:nvSpPr>
          <p:cNvPr id="2" name="日期占位符 1">
            <a:extLst>
              <a:ext uri="{FF2B5EF4-FFF2-40B4-BE49-F238E27FC236}">
                <a16:creationId xmlns:a16="http://schemas.microsoft.com/office/drawing/2014/main" id="{F7C3E784-A4A9-3A75-3CA8-729486AA7361}"/>
              </a:ext>
            </a:extLst>
          </p:cNvPr>
          <p:cNvSpPr>
            <a:spLocks noGrp="1"/>
          </p:cNvSpPr>
          <p:nvPr>
            <p:ph type="dt" sz="half" idx="10"/>
          </p:nvPr>
        </p:nvSpPr>
        <p:spPr/>
        <p:txBody>
          <a:bodyPr/>
          <a:lstStyle/>
          <a:p>
            <a:pPr>
              <a:defRPr/>
            </a:pPr>
            <a:fld id="{56E83823-0EAE-432D-8077-34128E88D40D}" type="datetime1">
              <a:rPr lang="zh-CN" altLang="en-US" smtClean="0"/>
              <a:t>2025/10/28</a:t>
            </a:fld>
            <a:endParaRPr lang="en-US" altLang="zh-CN"/>
          </a:p>
        </p:txBody>
      </p:sp>
      <p:sp>
        <p:nvSpPr>
          <p:cNvPr id="4" name="页脚占位符 3">
            <a:extLst>
              <a:ext uri="{FF2B5EF4-FFF2-40B4-BE49-F238E27FC236}">
                <a16:creationId xmlns:a16="http://schemas.microsoft.com/office/drawing/2014/main" id="{048745FD-0218-2AE2-728A-4E58FAD79FBF}"/>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5" name="灯片编号占位符 4">
            <a:extLst>
              <a:ext uri="{FF2B5EF4-FFF2-40B4-BE49-F238E27FC236}">
                <a16:creationId xmlns:a16="http://schemas.microsoft.com/office/drawing/2014/main" id="{71CC0ABF-758C-33D9-204D-B7BB9223BAAA}"/>
              </a:ext>
            </a:extLst>
          </p:cNvPr>
          <p:cNvSpPr>
            <a:spLocks noGrp="1"/>
          </p:cNvSpPr>
          <p:nvPr>
            <p:ph type="sldNum" sz="quarter" idx="12"/>
          </p:nvPr>
        </p:nvSpPr>
        <p:spPr/>
        <p:txBody>
          <a:bodyPr/>
          <a:lstStyle/>
          <a:p>
            <a:pPr>
              <a:defRPr/>
            </a:pPr>
            <a:fld id="{65B7EA61-351E-4105-9AD9-76D38C6E9934}" type="slidenum">
              <a:rPr lang="zh-CN" altLang="en-US" smtClean="0"/>
              <a:t>71</a:t>
            </a:fld>
            <a:endParaRPr lang="en-US" altLang="zh-CN"/>
          </a:p>
        </p:txBody>
      </p:sp>
    </p:spTree>
    <p:extLst>
      <p:ext uri="{BB962C8B-B14F-4D97-AF65-F5344CB8AC3E}">
        <p14:creationId xmlns:p14="http://schemas.microsoft.com/office/powerpoint/2010/main" val="282852737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4">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91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B72D6BED-C628-6C5E-9D9B-776CF015714B}"/>
              </a:ext>
            </a:extLst>
          </p:cNvPr>
          <p:cNvSpPr>
            <a:spLocks noGrp="1"/>
          </p:cNvSpPr>
          <p:nvPr>
            <p:ph type="dt" sz="half" idx="10"/>
          </p:nvPr>
        </p:nvSpPr>
        <p:spPr/>
        <p:txBody>
          <a:bodyPr/>
          <a:lstStyle/>
          <a:p>
            <a:pPr>
              <a:defRPr/>
            </a:pPr>
            <a:fld id="{5F01556B-D459-4EE0-9806-AEB7B15D79EF}"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DAE9E27C-5E58-52C4-F5E6-07EAD3F8F6B0}"/>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867D01A8-6803-C779-ECAB-F269E203DF63}"/>
              </a:ext>
            </a:extLst>
          </p:cNvPr>
          <p:cNvSpPr>
            <a:spLocks noGrp="1"/>
          </p:cNvSpPr>
          <p:nvPr>
            <p:ph type="sldNum" sz="quarter" idx="12"/>
          </p:nvPr>
        </p:nvSpPr>
        <p:spPr/>
        <p:txBody>
          <a:bodyPr/>
          <a:lstStyle/>
          <a:p>
            <a:pPr>
              <a:defRPr/>
            </a:pPr>
            <a:fld id="{65B7EA61-351E-4105-9AD9-76D38C6E9934}" type="slidenum">
              <a:rPr lang="zh-CN" altLang="en-US" smtClean="0"/>
              <a:t>72</a:t>
            </a:fld>
            <a:endParaRPr lang="en-US" altLang="zh-CN"/>
          </a:p>
        </p:txBody>
      </p:sp>
    </p:spTree>
    <p:extLst>
      <p:ext uri="{BB962C8B-B14F-4D97-AF65-F5344CB8AC3E}">
        <p14:creationId xmlns:p14="http://schemas.microsoft.com/office/powerpoint/2010/main" val="9502650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4">
            <a:hlinkClick r:id="rId2" action="ppaction://hlinksldjump"/>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日期占位符 1">
            <a:extLst>
              <a:ext uri="{FF2B5EF4-FFF2-40B4-BE49-F238E27FC236}">
                <a16:creationId xmlns:a16="http://schemas.microsoft.com/office/drawing/2014/main" id="{F90A79D2-2946-18D4-D591-E7ECAB35CE09}"/>
              </a:ext>
            </a:extLst>
          </p:cNvPr>
          <p:cNvSpPr>
            <a:spLocks noGrp="1"/>
          </p:cNvSpPr>
          <p:nvPr>
            <p:ph type="dt" sz="half" idx="10"/>
          </p:nvPr>
        </p:nvSpPr>
        <p:spPr/>
        <p:txBody>
          <a:bodyPr/>
          <a:lstStyle/>
          <a:p>
            <a:pPr>
              <a:defRPr/>
            </a:pPr>
            <a:fld id="{A3763F68-3F60-4249-967A-DB282D642CE0}" type="datetime1">
              <a:rPr lang="zh-CN" altLang="en-US" smtClean="0"/>
              <a:t>2025/10/28</a:t>
            </a:fld>
            <a:endParaRPr lang="en-US" altLang="zh-CN"/>
          </a:p>
        </p:txBody>
      </p:sp>
      <p:sp>
        <p:nvSpPr>
          <p:cNvPr id="3" name="页脚占位符 2">
            <a:extLst>
              <a:ext uri="{FF2B5EF4-FFF2-40B4-BE49-F238E27FC236}">
                <a16:creationId xmlns:a16="http://schemas.microsoft.com/office/drawing/2014/main" id="{D602A6B5-A910-5C22-489F-2314B3978C98}"/>
              </a:ext>
            </a:extLst>
          </p:cNvPr>
          <p:cNvSpPr>
            <a:spLocks noGrp="1"/>
          </p:cNvSpPr>
          <p:nvPr>
            <p:ph type="ftr" sz="quarter" idx="11"/>
          </p:nvPr>
        </p:nvSpPr>
        <p:spPr/>
        <p:txBody>
          <a:bodyPr/>
          <a:lstStyle/>
          <a:p>
            <a:pPr>
              <a:defRPr/>
            </a:pPr>
            <a:r>
              <a:rPr lang="zh-CN" altLang="en-US"/>
              <a:t>计算学部 计算机体系结构 刘宏伟</a:t>
            </a:r>
            <a:endParaRPr lang="en-US" altLang="zh-CN"/>
          </a:p>
        </p:txBody>
      </p:sp>
      <p:sp>
        <p:nvSpPr>
          <p:cNvPr id="4" name="灯片编号占位符 3">
            <a:extLst>
              <a:ext uri="{FF2B5EF4-FFF2-40B4-BE49-F238E27FC236}">
                <a16:creationId xmlns:a16="http://schemas.microsoft.com/office/drawing/2014/main" id="{3FF6E83A-02B5-1179-4228-0A2C01F43E67}"/>
              </a:ext>
            </a:extLst>
          </p:cNvPr>
          <p:cNvSpPr>
            <a:spLocks noGrp="1"/>
          </p:cNvSpPr>
          <p:nvPr>
            <p:ph type="sldNum" sz="quarter" idx="12"/>
          </p:nvPr>
        </p:nvSpPr>
        <p:spPr/>
        <p:txBody>
          <a:bodyPr/>
          <a:lstStyle/>
          <a:p>
            <a:pPr>
              <a:defRPr/>
            </a:pPr>
            <a:fld id="{65B7EA61-351E-4105-9AD9-76D38C6E9934}" type="slidenum">
              <a:rPr lang="zh-CN" altLang="en-US" smtClean="0"/>
              <a:t>73</a:t>
            </a:fld>
            <a:endParaRPr lang="en-US" altLang="zh-CN"/>
          </a:p>
        </p:txBody>
      </p:sp>
    </p:spTree>
    <p:extLst>
      <p:ext uri="{BB962C8B-B14F-4D97-AF65-F5344CB8AC3E}">
        <p14:creationId xmlns:p14="http://schemas.microsoft.com/office/powerpoint/2010/main" val="10458842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12987</TotalTime>
  <Words>5711</Words>
  <Application>Microsoft Office PowerPoint</Application>
  <PresentationFormat>全屏显示(4:3)</PresentationFormat>
  <Paragraphs>775</Paragraphs>
  <Slides>73</Slides>
  <Notes>47</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3</vt:i4>
      </vt:variant>
      <vt:variant>
        <vt:lpstr>幻灯片标题</vt:lpstr>
      </vt:variant>
      <vt:variant>
        <vt:i4>73</vt:i4>
      </vt:variant>
    </vt:vector>
  </HeadingPairs>
  <TitlesOfParts>
    <vt:vector size="86" baseType="lpstr">
      <vt:lpstr>华文中宋</vt:lpstr>
      <vt:lpstr>楷体_GB2312</vt:lpstr>
      <vt:lpstr>宋体</vt:lpstr>
      <vt:lpstr>Arial</vt:lpstr>
      <vt:lpstr>Calibri</vt:lpstr>
      <vt:lpstr>Courier New</vt:lpstr>
      <vt:lpstr>Times New Roman</vt:lpstr>
      <vt:lpstr>Wingdings</vt:lpstr>
      <vt:lpstr>Wingdings 2</vt:lpstr>
      <vt:lpstr>Office 主题​​</vt:lpstr>
      <vt:lpstr>图片</vt:lpstr>
      <vt:lpstr>Picture</vt:lpstr>
      <vt:lpstr>MSDraw.Drawing.8.2</vt:lpstr>
      <vt:lpstr>计算机体系结构</vt:lpstr>
      <vt:lpstr>Recap</vt:lpstr>
      <vt:lpstr>PowerPoint 演示文稿</vt:lpstr>
      <vt:lpstr>第 5 章  存储层次</vt:lpstr>
      <vt:lpstr>第 5 章  存储层次</vt:lpstr>
      <vt:lpstr>5.1 存储器的层次结构 </vt:lpstr>
      <vt:lpstr>5.1.1 多级存储层次</vt:lpstr>
      <vt:lpstr>5.1.1 多级存储层次</vt:lpstr>
      <vt:lpstr>5.1.1 多级存储层次</vt:lpstr>
      <vt:lpstr>5.1.1  多级存储层次</vt:lpstr>
      <vt:lpstr>5.1.1  多级存储层次</vt:lpstr>
      <vt:lpstr>局部性举例</vt:lpstr>
      <vt:lpstr>PowerPoint 演示文稿</vt:lpstr>
      <vt:lpstr>5.1.1  多级存储层次</vt:lpstr>
      <vt:lpstr>PowerPoint 演示文稿</vt:lpstr>
      <vt:lpstr>Memory in a Modern System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 5 章  存储层次</vt:lpstr>
      <vt:lpstr>5.2 Cache基本知识</vt:lpstr>
      <vt:lpstr>5.2 Cache基本知识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suzi</dc:creator>
  <cp:lastModifiedBy>hw liu</cp:lastModifiedBy>
  <cp:revision>2184</cp:revision>
  <cp:lastPrinted>2022-11-23T13:08:49Z</cp:lastPrinted>
  <dcterms:created xsi:type="dcterms:W3CDTF">2113-01-01T00:00:00Z</dcterms:created>
  <dcterms:modified xsi:type="dcterms:W3CDTF">2025-10-28T15:05:46Z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2052-10.1.0.7520</vt:lpwstr>
  </property>
</Properties>
</file>