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56" r:id="rId2"/>
    <p:sldId id="1033" r:id="rId3"/>
    <p:sldId id="1034" r:id="rId4"/>
    <p:sldId id="1950" r:id="rId5"/>
    <p:sldId id="2068" r:id="rId6"/>
    <p:sldId id="1951" r:id="rId7"/>
    <p:sldId id="2070" r:id="rId8"/>
    <p:sldId id="1954" r:id="rId9"/>
    <p:sldId id="1955" r:id="rId10"/>
    <p:sldId id="1956" r:id="rId11"/>
    <p:sldId id="1957" r:id="rId12"/>
    <p:sldId id="2071" r:id="rId13"/>
    <p:sldId id="2072" r:id="rId14"/>
    <p:sldId id="2073" r:id="rId15"/>
    <p:sldId id="1958" r:id="rId16"/>
    <p:sldId id="1959" r:id="rId17"/>
    <p:sldId id="2074" r:id="rId18"/>
    <p:sldId id="1962" r:id="rId19"/>
    <p:sldId id="1963" r:id="rId20"/>
    <p:sldId id="2075" r:id="rId21"/>
    <p:sldId id="2080" r:id="rId22"/>
    <p:sldId id="1997" r:id="rId23"/>
    <p:sldId id="1965" r:id="rId24"/>
    <p:sldId id="2077" r:id="rId25"/>
    <p:sldId id="1966" r:id="rId26"/>
    <p:sldId id="777" r:id="rId27"/>
    <p:sldId id="778" r:id="rId28"/>
    <p:sldId id="488" r:id="rId29"/>
    <p:sldId id="2069" r:id="rId30"/>
    <p:sldId id="2084" r:id="rId31"/>
    <p:sldId id="2085" r:id="rId32"/>
    <p:sldId id="1968" r:id="rId33"/>
  </p:sldIdLst>
  <p:sldSz cx="9144000" cy="6858000" type="screen4x3"/>
  <p:notesSz cx="6797675" cy="9925050"/>
  <p:kinsoku lang="zh-CN" invalStChars="!),.:;?]}、。—ˇ¨〃々～‖…’”〕〉》」』〗】∶！＂＇），．：；？］｀｜｝·" invalEndChars="([{‘“〔〈《「『〖【（［｛．·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NJUN SHU" initials="YS" lastIdx="1" clrIdx="0">
    <p:extLst>
      <p:ext uri="{19B8F6BF-5375-455C-9EA6-DF929625EA0E}">
        <p15:presenceInfo xmlns:p15="http://schemas.microsoft.com/office/powerpoint/2012/main" userId="e5a2b0242bc0db3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0066FF"/>
    <a:srgbClr val="003399"/>
    <a:srgbClr val="3366FF"/>
    <a:srgbClr val="C28F3E"/>
    <a:srgbClr val="BC7D3E"/>
    <a:srgbClr val="B0753A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81" autoAdjust="0"/>
    <p:restoredTop sz="80735" autoAdjust="0"/>
  </p:normalViewPr>
  <p:slideViewPr>
    <p:cSldViewPr>
      <p:cViewPr varScale="1">
        <p:scale>
          <a:sx n="71" d="100"/>
          <a:sy n="71" d="100"/>
        </p:scale>
        <p:origin x="1383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862" cy="495714"/>
          </a:xfrm>
          <a:prstGeom prst="rect">
            <a:avLst/>
          </a:prstGeom>
        </p:spPr>
        <p:txBody>
          <a:bodyPr vert="horz" lIns="95549" tIns="47774" rIns="95549" bIns="47774" rtlCol="0"/>
          <a:lstStyle>
            <a:lvl1pPr algn="l">
              <a:defRPr sz="14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295" y="1"/>
            <a:ext cx="2945862" cy="495714"/>
          </a:xfrm>
          <a:prstGeom prst="rect">
            <a:avLst/>
          </a:prstGeom>
        </p:spPr>
        <p:txBody>
          <a:bodyPr vert="horz" lIns="95549" tIns="47774" rIns="95549" bIns="47774" rtlCol="0"/>
          <a:lstStyle>
            <a:lvl1pPr algn="r">
              <a:defRPr sz="14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C9833CB-0817-44DC-BDA6-97E8269B2A4B}" type="datetimeFigureOut">
              <a:rPr lang="zh-CN" altLang="en-US"/>
              <a:t>2025/11/6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7798"/>
            <a:ext cx="2945862" cy="495714"/>
          </a:xfrm>
          <a:prstGeom prst="rect">
            <a:avLst/>
          </a:prstGeom>
        </p:spPr>
        <p:txBody>
          <a:bodyPr vert="horz" lIns="95549" tIns="47774" rIns="95549" bIns="47774" rtlCol="0" anchor="b"/>
          <a:lstStyle>
            <a:lvl1pPr algn="l">
              <a:defRPr sz="14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295" y="9427798"/>
            <a:ext cx="2945862" cy="495714"/>
          </a:xfrm>
          <a:prstGeom prst="rect">
            <a:avLst/>
          </a:prstGeom>
        </p:spPr>
        <p:txBody>
          <a:bodyPr vert="horz" lIns="95549" tIns="47774" rIns="95549" bIns="47774" rtlCol="0" anchor="b"/>
          <a:lstStyle>
            <a:lvl1pPr algn="r">
              <a:defRPr sz="14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8BBD55E-9969-4143-865D-25DDD65926A5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62760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862" cy="49571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549" tIns="47774" rIns="95549" bIns="47774" numCol="1" anchor="t" anchorCtr="0" compatLnSpc="1"/>
          <a:lstStyle>
            <a:lvl1pPr>
              <a:spcBef>
                <a:spcPct val="20000"/>
              </a:spcBef>
              <a:defRPr sz="14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815" y="1"/>
            <a:ext cx="2945862" cy="49571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549" tIns="47774" rIns="95549" bIns="47774" numCol="1" anchor="t" anchorCtr="0" compatLnSpc="1"/>
          <a:lstStyle>
            <a:lvl1pPr algn="r">
              <a:spcBef>
                <a:spcPct val="20000"/>
              </a:spcBef>
              <a:defRPr sz="14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2950"/>
            <a:ext cx="4962525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5953" y="4713900"/>
            <a:ext cx="4985773" cy="446604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549" tIns="47774" rIns="95549" bIns="47774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337"/>
            <a:ext cx="2945862" cy="49571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549" tIns="47774" rIns="95549" bIns="47774" numCol="1" anchor="b" anchorCtr="0" compatLnSpc="1"/>
          <a:lstStyle>
            <a:lvl1pPr>
              <a:spcBef>
                <a:spcPct val="20000"/>
              </a:spcBef>
              <a:defRPr sz="14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815" y="9429337"/>
            <a:ext cx="2945862" cy="49571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549" tIns="47774" rIns="95549" bIns="47774" numCol="1" anchor="b" anchorCtr="0" compatLnSpc="1"/>
          <a:lstStyle>
            <a:lvl1pPr algn="r">
              <a:spcBef>
                <a:spcPct val="20000"/>
              </a:spcBef>
              <a:defRPr sz="14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E900B983-0E40-4C29-87BA-CE566D420E22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72892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00B983-0E40-4C29-87BA-CE566D420E22}" type="slidenum">
              <a:rPr lang="zh-CN" altLang="en-US" smtClean="0"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3212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00B983-0E40-4C29-87BA-CE566D420E22}" type="slidenum">
              <a:rPr lang="zh-CN" altLang="en-US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CE46232-4557-4C58-8390-AAB37A4C42EA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4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3933982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00B983-0E40-4C29-87BA-CE566D420E22}" type="slidenum">
              <a:rPr lang="zh-CN" altLang="en-US" smtClean="0"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27438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A3CD05D-F5FA-4C7B-A9D4-2BA2AD8863C4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6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38286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00B983-0E40-4C29-87BA-CE566D420E22}" type="slidenum">
              <a:rPr lang="zh-CN" altLang="en-US" smtClean="0"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495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94AD7BD-FC7F-49DE-A4B1-4BBF92B811AE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8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97612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A283DC9-A5A0-43BF-B6F9-712D79395967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10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95386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1CEEC52-AF25-4DC8-AA6F-20408109EF0C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11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539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00B983-0E40-4C29-87BA-CE566D420E22}" type="slidenum">
              <a:rPr lang="zh-CN" altLang="en-US" smtClean="0"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4446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00B983-0E40-4C29-87BA-CE566D420E22}" type="slidenum">
              <a:rPr lang="zh-CN" altLang="en-US" smtClean="0"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47030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4089F03-D2B8-458F-BA09-956B97E0C601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15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45126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D9BBC3B-AAF0-4C83-B101-027CE3EF6AB8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19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3967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913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191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78019" indent="-298292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97781" indent="-238326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77508" indent="-238326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157235" indent="-238326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00060" indent="-238326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042886" indent="-238326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85710" indent="-238326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928535" indent="-238326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FE2DCD7-EA92-4CE9-8644-F135985BFCD9}" type="slidenum">
              <a:rPr lang="en-US" altLang="zh-CN" sz="1300"/>
              <a:pPr>
                <a:spcBef>
                  <a:spcPct val="0"/>
                </a:spcBef>
              </a:pPr>
              <a:t>20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11098425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00B983-0E40-4C29-87BA-CE566D420E22}" type="slidenum">
              <a:rPr lang="zh-CN" altLang="en-US" smtClean="0"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57574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122790F-8BAD-421D-B909-5801BC75D620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25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78592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89" name="幻灯片图像占位符 1">
            <a:extLst>
              <a:ext uri="{FF2B5EF4-FFF2-40B4-BE49-F238E27FC236}">
                <a16:creationId xmlns:a16="http://schemas.microsoft.com/office/drawing/2014/main" id="{4EA6DFAC-F7A5-41C0-B9F6-79958BFB614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5890" name="备注占位符 2">
            <a:extLst>
              <a:ext uri="{FF2B5EF4-FFF2-40B4-BE49-F238E27FC236}">
                <a16:creationId xmlns:a16="http://schemas.microsoft.com/office/drawing/2014/main" id="{B0C488D3-A117-4F9C-AC68-D8BCA82D7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65891" name="灯片编号占位符 3">
            <a:extLst>
              <a:ext uri="{FF2B5EF4-FFF2-40B4-BE49-F238E27FC236}">
                <a16:creationId xmlns:a16="http://schemas.microsoft.com/office/drawing/2014/main" id="{F425C880-BBDF-4576-A123-B0CE2CBA69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74919" indent="-29710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93009" indent="-237377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70825" indent="-237377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148641" indent="-237377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89701" indent="-237377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030762" indent="-237377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71823" indent="-237377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912884" indent="-237377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40B229B-5521-4112-9062-27D065EBCEFD}" type="slidenum">
              <a:rPr lang="en-US" altLang="zh-CN" sz="1300"/>
              <a:pPr>
                <a:spcBef>
                  <a:spcPct val="0"/>
                </a:spcBef>
              </a:pPr>
              <a:t>26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37758411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1" name="幻灯片图像占位符 1">
            <a:extLst>
              <a:ext uri="{FF2B5EF4-FFF2-40B4-BE49-F238E27FC236}">
                <a16:creationId xmlns:a16="http://schemas.microsoft.com/office/drawing/2014/main" id="{59206860-0F5D-4929-86A5-84686C00A4B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8962" name="备注占位符 2">
            <a:extLst>
              <a:ext uri="{FF2B5EF4-FFF2-40B4-BE49-F238E27FC236}">
                <a16:creationId xmlns:a16="http://schemas.microsoft.com/office/drawing/2014/main" id="{08537701-A452-476B-A5D8-6613A78F1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68963" name="灯片编号占位符 3">
            <a:extLst>
              <a:ext uri="{FF2B5EF4-FFF2-40B4-BE49-F238E27FC236}">
                <a16:creationId xmlns:a16="http://schemas.microsoft.com/office/drawing/2014/main" id="{87880CF8-A241-433E-9334-69114BB9EE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3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74919" indent="-297103">
              <a:defRPr kumimoji="1" sz="23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93009" indent="-237377">
              <a:defRPr kumimoji="1" sz="23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70825" indent="-237377">
              <a:defRPr kumimoji="1" sz="23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148641" indent="-237377">
              <a:defRPr kumimoji="1" sz="23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89701" indent="-237377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3030762" indent="-237377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71823" indent="-237377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912884" indent="-237377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fld id="{6B931B0B-D153-4889-AF1D-477C65147ED6}" type="slidenum">
              <a:rPr lang="en-US" altLang="zh-CN" sz="130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27</a:t>
            </a:fld>
            <a:endParaRPr lang="en-US" altLang="zh-CN" sz="13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364917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299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129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78019" indent="-298292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97781" indent="-238326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77508" indent="-238326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157235" indent="-238326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00060" indent="-238326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042886" indent="-238326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85710" indent="-238326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928535" indent="-238326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60501E5-77E8-4221-95FF-D62B32B2E864}" type="slidenum">
              <a:rPr lang="en-US" altLang="zh-CN" sz="1300"/>
              <a:pPr>
                <a:spcBef>
                  <a:spcPct val="0"/>
                </a:spcBef>
              </a:pPr>
              <a:t>29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4324106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00B983-0E40-4C29-87BA-CE566D420E22}" type="slidenum">
              <a:rPr lang="zh-CN" altLang="en-US" smtClean="0"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54863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00B983-0E40-4C29-87BA-CE566D420E22}" type="slidenum">
              <a:rPr lang="zh-CN" altLang="en-US" smtClean="0"/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6328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AE6994-27E7-490C-909D-3A0866D5406A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AE633C-541A-4E3F-A22A-3C4C63E8EF5F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F2831C-360E-4937-ABAC-E6A55546C5CA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AC33D-D29A-48B3-BCD6-381D3D720D2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8D0B0C-4F1A-4B2A-A13D-69106A160468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36AFD5-B4CE-4309-A85F-E56CFD431173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0780B2-EE8E-429A-B0DA-42FEB0F18F98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CCC3E9-608E-4023-AA79-77ECC6312F5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06172F-2D9C-4811-8DBA-D213FDAE42EC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980664-B5A2-458D-9781-BDBB3E44461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6D96C3-DD4F-4CE8-B885-EFD7137F21BD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42FEDC-7E89-472C-BFD5-D857A9C78A6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130CE4-E490-4BD9-BBE5-7266CDA39ED2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B7EA61-351E-4105-9AD9-76D38C6E9934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D24BD7-A177-4709-9E0A-B5EF18FCA85B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C75736-67D3-4C0D-9AD3-EBB1133B7A15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C7A346-E961-47E7-8287-8BA163EFD8F4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43B5C7-14AB-4EB9-8E35-9962854618D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62452A-6CE1-4786-86CA-42B0041929FB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39E446-6F6B-46FF-A641-54E99657CB0F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21D765-479D-49A0-AA62-364E30DE2C75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5BA35-14E5-4401-B968-D9FCFD45D96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247650"/>
            <a:ext cx="8305800" cy="59245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492510613"/>
      </p:ext>
    </p:extLst>
  </p:cSld>
  <p:clrMapOvr>
    <a:masterClrMapping/>
  </p:clrMapOvr>
  <p:transition>
    <p:pull dir="r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spcBef>
                <a:spcPct val="20000"/>
              </a:spcBef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19F0CCF-4F0C-4D10-AE02-14F6128C4DE8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spcBef>
                <a:spcPct val="20000"/>
              </a:spcBef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spcBef>
                <a:spcPct val="20000"/>
              </a:spcBef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CE38698-3FD2-4DD5-AB6F-61E8F41EBC15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player/Play.exe%20nta/tu518.nta%200%200%200%20800%20600%200%200%200%20314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player/Play.exe%20nta/tu520.nta%200%200%200%20800%20600%200%200%200%20314" TargetMode="Externa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870311" y="1333501"/>
            <a:ext cx="5760566" cy="1143000"/>
          </a:xfrm>
        </p:spPr>
        <p:txBody>
          <a:bodyPr/>
          <a:lstStyle/>
          <a:p>
            <a:pPr algn="dist" eaLnBrk="1" hangingPunct="1"/>
            <a:r>
              <a:rPr lang="zh-CN" altLang="en-US" sz="5400" b="1" dirty="0"/>
              <a:t>计算机体系结构</a:t>
            </a:r>
          </a:p>
        </p:txBody>
      </p:sp>
      <p:sp>
        <p:nvSpPr>
          <p:cNvPr id="2051" name="Text Box 7"/>
          <p:cNvSpPr txBox="1">
            <a:spLocks noChangeArrowheads="1"/>
          </p:cNvSpPr>
          <p:nvPr/>
        </p:nvSpPr>
        <p:spPr bwMode="auto">
          <a:xfrm>
            <a:off x="3714750" y="5072063"/>
            <a:ext cx="29511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/>
              <a:t> 刘宏伟</a:t>
            </a:r>
          </a:p>
        </p:txBody>
      </p:sp>
      <p:sp>
        <p:nvSpPr>
          <p:cNvPr id="2052" name="Text Box 7"/>
          <p:cNvSpPr txBox="1">
            <a:spLocks noChangeArrowheads="1"/>
          </p:cNvSpPr>
          <p:nvPr/>
        </p:nvSpPr>
        <p:spPr bwMode="auto">
          <a:xfrm>
            <a:off x="2571750" y="4500563"/>
            <a:ext cx="43576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 计算机科学与技术学院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714500" y="3071813"/>
            <a:ext cx="5673725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algn="ctr">
              <a:defRPr/>
            </a:pPr>
            <a:r>
              <a:rPr lang="zh-CN" altLang="en-US" sz="40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第十七讲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85F76E2-05CE-4FAD-98F2-DC5204FE9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D7D43AD-50D4-4E17-ADCC-8FBDB7370C6C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4D8351E-7F61-2967-7D5D-2A2D57C94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CDA408-739B-363B-5B1C-96E476B86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</a:t>
            </a:fld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1"/>
          <p:cNvSpPr>
            <a:spLocks noGrp="1"/>
          </p:cNvSpPr>
          <p:nvPr>
            <p:ph type="title"/>
          </p:nvPr>
        </p:nvSpPr>
        <p:spPr>
          <a:xfrm>
            <a:off x="685800" y="122907"/>
            <a:ext cx="7772400" cy="785813"/>
          </a:xfrm>
        </p:spPr>
        <p:txBody>
          <a:bodyPr/>
          <a:lstStyle/>
          <a:p>
            <a:pPr eaLnBrk="1" hangingPunct="1"/>
            <a:r>
              <a:rPr lang="en-US" altLang="zh-CN" b="1" dirty="0"/>
              <a:t>Recap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5273" y="836712"/>
            <a:ext cx="8352927" cy="5718994"/>
          </a:xfrm>
        </p:spPr>
        <p:txBody>
          <a:bodyPr rtlCol="0">
            <a:noAutofit/>
          </a:bodyPr>
          <a:lstStyle/>
          <a:p>
            <a:pPr lvl="1" eaLnBrk="1" fontAlgn="auto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/>
              <a:t>Cache</a:t>
            </a:r>
            <a:r>
              <a:rPr lang="zh-CN" altLang="en-US" sz="2400" b="1" dirty="0"/>
              <a:t>性能分析</a:t>
            </a:r>
            <a:endParaRPr lang="en-US" altLang="zh-CN" sz="2400" b="1" dirty="0"/>
          </a:p>
          <a:p>
            <a:pPr marL="1101600" lvl="1" eaLnBrk="1" fontAlgn="auto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sz="2400" b="1" dirty="0"/>
              <a:t>平均访存时间</a:t>
            </a:r>
            <a:endParaRPr lang="en-US" altLang="zh-CN" sz="2400" b="1" dirty="0"/>
          </a:p>
          <a:p>
            <a:pPr marL="1101600" lvl="1" eaLnBrk="1" fontAlgn="auto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altLang="zh-CN" sz="2400" b="1" dirty="0"/>
              <a:t>CPU</a:t>
            </a:r>
            <a:r>
              <a:rPr lang="zh-CN" altLang="en-US" sz="2400" b="1" dirty="0"/>
              <a:t>时间</a:t>
            </a:r>
            <a:r>
              <a:rPr lang="en-US" altLang="zh-CN" sz="2400" b="1" dirty="0"/>
              <a:t>    </a:t>
            </a:r>
          </a:p>
          <a:p>
            <a:pPr lvl="1" eaLnBrk="1" fontAlgn="auto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/>
              <a:t>改进</a:t>
            </a:r>
            <a:r>
              <a:rPr lang="en-US" altLang="zh-CN" sz="2400" b="1" dirty="0"/>
              <a:t>Cache</a:t>
            </a:r>
            <a:r>
              <a:rPr lang="zh-CN" altLang="en-US" sz="2400" b="1" dirty="0"/>
              <a:t>性能</a:t>
            </a:r>
            <a:endParaRPr lang="en-US" altLang="zh-CN" sz="2400" b="1" dirty="0"/>
          </a:p>
          <a:p>
            <a:pPr lvl="1" eaLnBrk="1" fontAlgn="auto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/>
              <a:t>降低失效率</a:t>
            </a:r>
            <a:endParaRPr lang="en-US" altLang="zh-CN" sz="2400" b="1" dirty="0"/>
          </a:p>
          <a:p>
            <a:pPr marL="1101600" lvl="1" eaLnBrk="1" fontAlgn="auto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altLang="zh-CN" sz="2400" b="1" dirty="0"/>
              <a:t>3C</a:t>
            </a:r>
            <a:r>
              <a:rPr lang="zh-CN" altLang="en-US" sz="2400" b="1" dirty="0"/>
              <a:t>失效（强制性失效、容量失效、冲突失效）</a:t>
            </a:r>
            <a:endParaRPr lang="en-US" altLang="zh-CN" sz="2400" b="1" dirty="0"/>
          </a:p>
          <a:p>
            <a:pPr marL="1101600" lvl="1" eaLnBrk="1" fontAlgn="auto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sz="2400" b="1" dirty="0"/>
              <a:t>调节块大小</a:t>
            </a:r>
            <a:endParaRPr lang="en-US" altLang="zh-CN" sz="2400" b="1" dirty="0"/>
          </a:p>
          <a:p>
            <a:pPr marL="1101600" lvl="1" eaLnBrk="1" fontAlgn="auto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sz="2400" b="1" dirty="0">
                <a:latin typeface="+mj-lt"/>
              </a:rPr>
              <a:t>提高相联度</a:t>
            </a:r>
            <a:endParaRPr lang="en-US" altLang="zh-CN" sz="2400" b="1" dirty="0">
              <a:latin typeface="+mj-lt"/>
            </a:endParaRPr>
          </a:p>
          <a:p>
            <a:pPr marL="1101600" lvl="1" eaLnBrk="1" fontAlgn="auto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altLang="zh-CN" sz="2400" b="1" dirty="0">
                <a:latin typeface="+mj-lt"/>
              </a:rPr>
              <a:t>Victim Cache</a:t>
            </a:r>
            <a:r>
              <a:rPr lang="zh-CN" altLang="en-US" sz="2400" b="1" dirty="0">
                <a:latin typeface="+mj-lt"/>
              </a:rPr>
              <a:t>和伪相联</a:t>
            </a:r>
            <a:r>
              <a:rPr lang="en-US" altLang="zh-CN" sz="2400" b="1" dirty="0">
                <a:latin typeface="+mj-lt"/>
              </a:rPr>
              <a:t>Cache</a:t>
            </a:r>
          </a:p>
          <a:p>
            <a:pPr marL="1101600" lvl="1" eaLnBrk="1" fontAlgn="auto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sz="2400" b="1" dirty="0">
                <a:latin typeface="+mj-lt"/>
              </a:rPr>
              <a:t>硬件预取</a:t>
            </a:r>
            <a:endParaRPr lang="en-US" altLang="zh-CN" sz="2400" b="1" dirty="0">
              <a:latin typeface="+mj-lt"/>
            </a:endParaRPr>
          </a:p>
          <a:p>
            <a:pPr marL="1101600" lvl="1" eaLnBrk="1" fontAlgn="auto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sz="2400" b="1" dirty="0">
                <a:latin typeface="+mj-lt"/>
              </a:rPr>
              <a:t>编译器控制的预取</a:t>
            </a:r>
            <a:endParaRPr lang="en-US" altLang="zh-CN" sz="2400" b="1" dirty="0">
              <a:latin typeface="+mj-lt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F4D7640-D83A-B33F-55FE-2C34A9173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6605FF7-18DE-492F-A441-58CCC1FFB955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3244998-814B-CDD3-F422-7CF613E04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A27809-5499-B884-6893-87F7255CF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2</a:t>
            </a:fld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260648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5.4 </a:t>
            </a:r>
            <a:r>
              <a:rPr lang="zh-C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减少</a:t>
            </a:r>
            <a:r>
              <a:rPr lang="en-US" altLang="zh-C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</a:t>
            </a:r>
            <a:r>
              <a:rPr lang="zh-C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失效开销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2094598" y="3653321"/>
            <a:ext cx="53975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4.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3 请求字处理</a:t>
            </a: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1406018" y="2791131"/>
            <a:ext cx="718631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471488" lvl="1" indent="250825"/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4.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2 让读失效优先于写</a:t>
            </a:r>
          </a:p>
        </p:txBody>
      </p:sp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1377418" y="1853121"/>
            <a:ext cx="683186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471488" indent="250825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lvl="1">
              <a:buFont typeface="Wingdings" pitchFamily="2" charset="2"/>
              <a:buNone/>
            </a:pP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5.4.1 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写缓冲及写合并</a:t>
            </a: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A3DE16BF-B491-46C4-B73A-E76A9AE48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052" y="4440806"/>
            <a:ext cx="53975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4.4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 多级</a:t>
            </a: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Cache</a:t>
            </a:r>
            <a:endParaRPr lang="zh-CN" altLang="en-US" sz="3000" dirty="0"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3692E036-6143-44C1-A67F-190E39276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052" y="5228292"/>
            <a:ext cx="53975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4.5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 非阻塞</a:t>
            </a: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Cache</a:t>
            </a:r>
            <a:endParaRPr lang="zh-CN" altLang="en-US" sz="3000" dirty="0"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D41B857-63BA-CB54-EA12-25C8DEB8A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B8C30CD-50CC-4462-9D7C-0504046911FD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118ACE7-14B0-C009-A64E-41C95C193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649465-9F21-6C67-6BBC-DC154CCCC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4653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Text Box 3"/>
          <p:cNvSpPr txBox="1">
            <a:spLocks noChangeArrowheads="1"/>
          </p:cNvSpPr>
          <p:nvPr/>
        </p:nvSpPr>
        <p:spPr bwMode="auto">
          <a:xfrm>
            <a:off x="539552" y="1196752"/>
            <a:ext cx="7920880" cy="1384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AutoNum type="arabicPeriod"/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写直达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中，因为所有的写请求都必须发送到下级存储层次中，所以经常使用一个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hlinkClick r:id="rId3" action="ppaction://hlinksldjump"/>
              </a:rPr>
              <a:t>写缓冲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来提高写缓冲效率。</a:t>
            </a:r>
          </a:p>
        </p:txBody>
      </p:sp>
      <p:sp>
        <p:nvSpPr>
          <p:cNvPr id="70662" name="Rectangle 6"/>
          <p:cNvSpPr>
            <a:spLocks noChangeArrowheads="1"/>
          </p:cNvSpPr>
          <p:nvPr/>
        </p:nvSpPr>
        <p:spPr bwMode="auto">
          <a:xfrm>
            <a:off x="646113" y="231775"/>
            <a:ext cx="7381875" cy="6762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/>
          <a:p>
            <a:pPr algn="ctr">
              <a:defRPr/>
            </a:pPr>
            <a:r>
              <a:rPr lang="en-US" altLang="zh-CN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5.4.1</a:t>
            </a:r>
            <a:r>
              <a:rPr lang="en-US" altLang="zh-CN" sz="3600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3600" dirty="0">
                <a:latin typeface="华文中宋" panose="02010600040101010101" pitchFamily="2" charset="-122"/>
                <a:ea typeface="华文中宋" panose="02010600040101010101" pitchFamily="2" charset="-122"/>
              </a:rPr>
              <a:t>写缓冲及写合并</a:t>
            </a:r>
          </a:p>
        </p:txBody>
      </p:sp>
      <p:sp>
        <p:nvSpPr>
          <p:cNvPr id="3" name="矩形 2"/>
          <p:cNvSpPr/>
          <p:nvPr/>
        </p:nvSpPr>
        <p:spPr>
          <a:xfrm>
            <a:off x="827584" y="2996952"/>
            <a:ext cx="8064896" cy="23073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写直达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</a:p>
          <a:p>
            <a:pPr marL="342900" lvl="1" indent="-342900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依靠写缓冲来减少对下一级存储器写操作的时间。</a:t>
            </a:r>
          </a:p>
          <a:p>
            <a:pPr marL="342900" lvl="1" indent="-342900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如果写缓冲器为空，就把数据和相应地址写入该缓冲器。</a:t>
            </a:r>
          </a:p>
          <a:p>
            <a:pPr marL="342900" lvl="2" indent="-342900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从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CPU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的角度来看，该写操作就算是完成了。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E73DF89-F89E-021C-707A-ED3E7B534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91676F-C825-46EB-BA3D-E24CF02E8C4E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5976246-58B7-432F-9333-7C7ECF6B3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1372005-01F2-6474-BE21-0299FDAB9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5027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95536" y="934571"/>
            <a:ext cx="8352928" cy="208903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Bef>
                <a:spcPct val="50000"/>
              </a:spcBef>
              <a:buFontTx/>
              <a:buAutoNum type="arabicPeriod" startAt="2"/>
              <a:defRPr/>
            </a:pPr>
            <a:r>
              <a:rPr kumimoji="1" lang="zh-CN" altLang="en-US" sz="2400" dirty="0">
                <a:latin typeface="Times New Roman" pitchFamily="18" charset="0"/>
                <a:ea typeface="华文中宋" pitchFamily="2" charset="-122"/>
              </a:rPr>
              <a:t>如何提高写缓冲的效率和利用率？</a:t>
            </a:r>
            <a:endParaRPr kumimoji="1" lang="en-US" altLang="zh-CN" sz="2400" dirty="0">
              <a:latin typeface="Times New Roman" pitchFamily="18" charset="0"/>
              <a:ea typeface="华文中宋" pitchFamily="2" charset="-122"/>
            </a:endParaRPr>
          </a:p>
          <a:p>
            <a:pPr marL="702000" indent="-34290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/>
            </a:pPr>
            <a:r>
              <a:rPr kumimoji="1" lang="zh-CN" altLang="en-US" sz="2400" dirty="0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  <a:hlinkClick r:id="rId3" action="ppaction://hlinksldjump"/>
              </a:rPr>
              <a:t>写合并</a:t>
            </a:r>
            <a:endParaRPr kumimoji="1" lang="en-US" altLang="zh-CN" sz="2400" dirty="0">
              <a:solidFill>
                <a:srgbClr val="C00000"/>
              </a:solidFill>
              <a:latin typeface="Times New Roman" pitchFamily="18" charset="0"/>
              <a:ea typeface="华文中宋" pitchFamily="2" charset="-122"/>
            </a:endParaRPr>
          </a:p>
          <a:p>
            <a:pPr>
              <a:lnSpc>
                <a:spcPct val="120000"/>
              </a:lnSpc>
              <a:spcBef>
                <a:spcPct val="50000"/>
              </a:spcBef>
              <a:defRPr/>
            </a:pPr>
            <a:r>
              <a:rPr kumimoji="0"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提高了写缓冲器的空间利用率，而且还能减少因写缓冲器满而要进行的等待时间。</a:t>
            </a:r>
            <a:endParaRPr kumimoji="1" lang="zh-CN" altLang="en-US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-468560" y="3023604"/>
            <a:ext cx="9286312" cy="192389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85900" lvl="2" indent="-360000" eaLnBrk="1" hangingPunct="1">
              <a:lnSpc>
                <a:spcPct val="114000"/>
              </a:lnSpc>
            </a:pPr>
            <a:r>
              <a:rPr kumimoji="0" lang="zh-CN" altLang="en-US" sz="2200" dirty="0">
                <a:latin typeface="华文中宋" panose="02010600040101010101" pitchFamily="2" charset="-122"/>
                <a:ea typeface="华文中宋" panose="02010600040101010101" pitchFamily="2" charset="-122"/>
              </a:rPr>
              <a:t>如果写缓冲器中已经有了待写入的数据，就要把</a:t>
            </a:r>
            <a:r>
              <a:rPr kumimoji="0" lang="zh-CN" altLang="en-US" sz="2200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这次的写入地址</a:t>
            </a:r>
            <a:r>
              <a:rPr kumimoji="0" lang="zh-CN" altLang="en-US" sz="2200" dirty="0">
                <a:latin typeface="华文中宋" panose="02010600040101010101" pitchFamily="2" charset="-122"/>
                <a:ea typeface="华文中宋" panose="02010600040101010101" pitchFamily="2" charset="-122"/>
              </a:rPr>
              <a:t>与写缓冲器中</a:t>
            </a:r>
            <a:r>
              <a:rPr kumimoji="0" lang="zh-CN" altLang="en-US" sz="2200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已有的所有地址</a:t>
            </a:r>
            <a:r>
              <a:rPr kumimoji="0" lang="zh-CN" altLang="en-US" sz="2200" dirty="0">
                <a:latin typeface="华文中宋" panose="02010600040101010101" pitchFamily="2" charset="-122"/>
                <a:ea typeface="华文中宋" panose="02010600040101010101" pitchFamily="2" charset="-122"/>
              </a:rPr>
              <a:t>进行比较，看是否有匹配的项。如果有地址匹配而对应的位置又是空闲的，就把这次要写入的数据与该项合并。这就叫写缓冲合并。</a:t>
            </a:r>
            <a:endParaRPr kumimoji="0" lang="en-US" altLang="zh-CN" sz="2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1485900" lvl="2" indent="-360000" eaLnBrk="1" hangingPunct="1">
              <a:lnSpc>
                <a:spcPct val="114000"/>
              </a:lnSpc>
            </a:pPr>
            <a:r>
              <a:rPr kumimoji="0" lang="zh-CN" altLang="en-US" sz="2200" dirty="0">
                <a:latin typeface="华文中宋" panose="02010600040101010101" pitchFamily="2" charset="-122"/>
                <a:ea typeface="华文中宋" panose="02010600040101010101" pitchFamily="2" charset="-122"/>
              </a:rPr>
              <a:t>如果写缓冲器满且又没有能进行写合并的项，就必须等待。</a:t>
            </a:r>
            <a:r>
              <a:rPr kumimoji="0"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</a:p>
          <a:p>
            <a:pPr marL="1085850" lvl="1" indent="-457200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kumimoji="0" lang="zh-CN" altLang="en-US" b="0" dirty="0"/>
              <a:t>      </a:t>
            </a:r>
            <a:endParaRPr kumimoji="0" lang="zh-CN" altLang="en-US" sz="2000" b="1" dirty="0">
              <a:solidFill>
                <a:srgbClr val="E24C05"/>
              </a:solidFill>
              <a:ea typeface="宋体" panose="02010600030101010101" pitchFamily="2" charset="-122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395536" y="5373216"/>
            <a:ext cx="7497762" cy="49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400" dirty="0">
                <a:latin typeface="Times New Roman" pitchFamily="18" charset="0"/>
                <a:ea typeface="华文中宋" pitchFamily="2" charset="-122"/>
              </a:rPr>
              <a:t>3.  </a:t>
            </a:r>
            <a:r>
              <a:rPr lang="zh-CN" altLang="en-US" sz="2400" dirty="0">
                <a:latin typeface="Times New Roman" pitchFamily="18" charset="0"/>
                <a:ea typeface="华文中宋" pitchFamily="2" charset="-122"/>
              </a:rPr>
              <a:t>在写回法</a:t>
            </a:r>
            <a:r>
              <a:rPr lang="en-US" altLang="zh-CN" sz="2400" dirty="0">
                <a:latin typeface="Times New Roman" pitchFamily="18" charset="0"/>
                <a:ea typeface="华文中宋" pitchFamily="2" charset="-122"/>
              </a:rPr>
              <a:t>Cache</a:t>
            </a:r>
            <a:r>
              <a:rPr lang="zh-CN" altLang="en-US" sz="2400" dirty="0">
                <a:latin typeface="Times New Roman" pitchFamily="18" charset="0"/>
                <a:ea typeface="华文中宋" pitchFamily="2" charset="-122"/>
              </a:rPr>
              <a:t>中，也可采用写缓冲器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8BCA4C-3FE7-4CC7-B110-996E4C290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141970"/>
            <a:ext cx="7381875" cy="6762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/>
          <a:p>
            <a:pPr algn="ctr">
              <a:defRPr/>
            </a:pPr>
            <a:r>
              <a:rPr lang="en-US" altLang="zh-CN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5.4.1</a:t>
            </a:r>
            <a:r>
              <a:rPr lang="en-US" altLang="zh-CN" sz="3600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3600" dirty="0">
                <a:latin typeface="华文中宋" panose="02010600040101010101" pitchFamily="2" charset="-122"/>
                <a:ea typeface="华文中宋" panose="02010600040101010101" pitchFamily="2" charset="-122"/>
              </a:rPr>
              <a:t>写缓冲及写合并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450CEE9-B422-3631-08EA-41512EDB6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CC4EBA-CDE0-4DFE-8CD1-22B7B38D505E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CF99573-9B9F-89A8-0D76-55F39A029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5276171D-D5A7-B398-A03A-B989CFECA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8942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4"/>
          <p:cNvSpPr txBox="1">
            <a:spLocks noChangeArrowheads="1"/>
          </p:cNvSpPr>
          <p:nvPr/>
        </p:nvSpPr>
        <p:spPr bwMode="auto">
          <a:xfrm>
            <a:off x="748916" y="1077628"/>
            <a:ext cx="7488832" cy="49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1. 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中的写缓冲器导致对存储器访问的复杂化</a:t>
            </a:r>
          </a:p>
        </p:txBody>
      </p:sp>
      <p:sp>
        <p:nvSpPr>
          <p:cNvPr id="69639" name="Rectangle 7"/>
          <p:cNvSpPr>
            <a:spLocks noChangeArrowheads="1"/>
          </p:cNvSpPr>
          <p:nvPr/>
        </p:nvSpPr>
        <p:spPr bwMode="auto">
          <a:xfrm>
            <a:off x="779004" y="155717"/>
            <a:ext cx="7381875" cy="6762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/>
          <a:p>
            <a:pPr algn="ctr"/>
            <a:r>
              <a:rPr lang="en-US" altLang="zh-CN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5.4.2 </a:t>
            </a:r>
            <a:r>
              <a:rPr lang="zh-CN" altLang="en-US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让读失效优先于写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11CA62-9C4B-47C0-8866-5C6CDF738E40}"/>
              </a:ext>
            </a:extLst>
          </p:cNvPr>
          <p:cNvSpPr/>
          <p:nvPr/>
        </p:nvSpPr>
        <p:spPr>
          <a:xfrm>
            <a:off x="836551" y="1577417"/>
            <a:ext cx="741682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 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在</a:t>
            </a:r>
            <a:r>
              <a:rPr lang="zh-CN" altLang="en-US" sz="2400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读不命中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时，所读单元的</a:t>
            </a:r>
            <a:r>
              <a:rPr lang="zh-CN" altLang="en-US" sz="2400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最新值有可能还在</a:t>
            </a:r>
            <a:endParaRPr lang="en-US" altLang="zh-CN" sz="2400" dirty="0">
              <a:solidFill>
                <a:srgbClr val="C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sz="2400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写缓冲器中，尚未写入主存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。 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5CE2880-8B54-45BC-84C5-A71F68B63C15}"/>
              </a:ext>
            </a:extLst>
          </p:cNvPr>
          <p:cNvSpPr/>
          <p:nvPr/>
        </p:nvSpPr>
        <p:spPr>
          <a:xfrm>
            <a:off x="748916" y="2487158"/>
            <a:ext cx="7893657" cy="3924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5.9 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考虑以下指令序列：</a:t>
            </a:r>
            <a:endParaRPr lang="en-US" altLang="zh-CN" sz="20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4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SW  R3,    512(R0)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;M[512]     R3  (Cache Index =0)</a:t>
            </a:r>
          </a:p>
          <a:p>
            <a:pPr>
              <a:lnSpc>
                <a:spcPct val="114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LW  R1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1024(R0)         ;R1    M[1024] (Cache Index =0)</a:t>
            </a:r>
          </a:p>
          <a:p>
            <a:pPr>
              <a:lnSpc>
                <a:spcPct val="114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LW  R2,    512(R0)          ;R2    M[512] (Cache Index =0)</a:t>
            </a:r>
          </a:p>
          <a:p>
            <a:pPr>
              <a:lnSpc>
                <a:spcPct val="114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假设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采用写直达法和直接映像，并且地址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512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1024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映射到同一块，写缓冲器为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个字，问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R2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的值总等于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R3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吗？</a:t>
            </a:r>
            <a:endParaRPr lang="en-US" altLang="zh-CN" sz="20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4000"/>
              </a:lnSpc>
            </a:pP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解：</a:t>
            </a:r>
            <a:endParaRPr lang="en-US" altLang="zh-CN" sz="2000" dirty="0">
              <a:solidFill>
                <a:srgbClr val="C00000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4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在执行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SW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指令之后，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R3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中数据放入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Index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块和写缓冲器。第一条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LW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指令将该位置上的数据替换成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M[1024]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（读失效），第二条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LW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指令又要替换这块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M[512]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（读失效）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如果此时写缓冲还未更新完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M[512]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，则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R2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不等于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R3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3D3987CF-5B60-4E9D-B066-92DD0DD9F3C6}"/>
              </a:ext>
            </a:extLst>
          </p:cNvPr>
          <p:cNvCxnSpPr>
            <a:cxnSpLocks/>
          </p:cNvCxnSpPr>
          <p:nvPr/>
        </p:nvCxnSpPr>
        <p:spPr>
          <a:xfrm flipH="1">
            <a:off x="4860032" y="3068960"/>
            <a:ext cx="21602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AEE56F89-458B-4142-BC24-3944B7CF691C}"/>
              </a:ext>
            </a:extLst>
          </p:cNvPr>
          <p:cNvCxnSpPr>
            <a:cxnSpLocks/>
          </p:cNvCxnSpPr>
          <p:nvPr/>
        </p:nvCxnSpPr>
        <p:spPr>
          <a:xfrm flipH="1">
            <a:off x="4343983" y="3390900"/>
            <a:ext cx="21602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19F3F29-55CF-4D8D-9E06-9DCF0CD7E4FD}"/>
              </a:ext>
            </a:extLst>
          </p:cNvPr>
          <p:cNvCxnSpPr>
            <a:cxnSpLocks/>
          </p:cNvCxnSpPr>
          <p:nvPr/>
        </p:nvCxnSpPr>
        <p:spPr>
          <a:xfrm flipH="1">
            <a:off x="4343983" y="3717032"/>
            <a:ext cx="21602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932F5F4-9B97-5E4D-85AF-7CF9ACA97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A4372A-396D-4E1A-A86C-0485B86151A7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8AD759A-5210-C920-1237-0407DDAE0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E0A5AFE-8904-64D7-783B-7015F5BE1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7719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647700" y="764704"/>
            <a:ext cx="7848600" cy="3073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解决问题的方法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读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失效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的处理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702000" indent="-342900" eaLnBrk="1" hangingPunct="1">
              <a:lnSpc>
                <a:spcPct val="13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推迟读失效的处理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直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到写缓冲排空</a:t>
            </a:r>
          </a:p>
          <a:p>
            <a:pPr eaLnBrk="1" hangingPunct="1">
              <a:lnSpc>
                <a:spcPct val="13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 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缺点：读失效的开销增加</a:t>
            </a:r>
            <a:endParaRPr kumimoji="1"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702000" indent="-342900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优先读操作</a:t>
            </a:r>
            <a:endParaRPr kumimoji="1" lang="en-US" altLang="zh-CN" sz="2400" dirty="0">
              <a:solidFill>
                <a:srgbClr val="C00000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30000"/>
              </a:lnSpc>
              <a:buSzPct val="60000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读失效时先检查写缓冲器中的内容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30000"/>
              </a:lnSpc>
              <a:buSzPct val="60000"/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缺点：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增加硬件</a:t>
            </a:r>
            <a:endParaRPr kumimoji="1"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561272-B951-2FAB-612F-BD8B25315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DE4A354-8023-4E05-8521-EAF2472E1A9C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99E7665-7F73-41D6-B51E-803240B15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28D9EBB-D8C8-DCFD-1144-6C401E3CC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6896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3"/>
          <p:cNvSpPr txBox="1">
            <a:spLocks noChangeArrowheads="1"/>
          </p:cNvSpPr>
          <p:nvPr/>
        </p:nvSpPr>
        <p:spPr bwMode="auto">
          <a:xfrm>
            <a:off x="611188" y="1268413"/>
            <a:ext cx="7561262" cy="140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请求字（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Requested Word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）</a:t>
            </a:r>
          </a:p>
          <a:p>
            <a:pPr marL="702000" indent="-3429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从下一级存储器调入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的块中，只有一个字是立即需要的。这个字称为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请求字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。 </a:t>
            </a:r>
          </a:p>
        </p:txBody>
      </p:sp>
      <p:sp>
        <p:nvSpPr>
          <p:cNvPr id="71684" name="Text Box 4"/>
          <p:cNvSpPr txBox="1">
            <a:spLocks noChangeArrowheads="1"/>
          </p:cNvSpPr>
          <p:nvPr/>
        </p:nvSpPr>
        <p:spPr bwMode="auto">
          <a:xfrm>
            <a:off x="611188" y="2924944"/>
            <a:ext cx="7777162" cy="3156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应尽早把请求字发送给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CPU</a:t>
            </a:r>
            <a:endParaRPr kumimoji="1" lang="en-US" altLang="zh-CN" sz="2400" b="0" dirty="0">
              <a:solidFill>
                <a:srgbClr val="C00000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800100" lvl="1" indent="-342900" eaLnBrk="1" hangingPunct="1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尽早重启动：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调块时，从块的起始位置开始读起。一旦请求字到达，就立即发送给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CPU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，让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CPU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继续执行。</a:t>
            </a:r>
            <a:endParaRPr kumimoji="1"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800100" lvl="1" indent="-342900" eaLnBrk="1" hangingPunct="1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请求字优先：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调块时，从请求字所在的位置读起。这样，第一个读出的字便是请求字。将之立即发送给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CPU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71685" name="Rectangle 5"/>
          <p:cNvSpPr>
            <a:spLocks noChangeArrowheads="1"/>
          </p:cNvSpPr>
          <p:nvPr/>
        </p:nvSpPr>
        <p:spPr bwMode="auto">
          <a:xfrm>
            <a:off x="646113" y="231775"/>
            <a:ext cx="7381875" cy="6762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/>
          <a:p>
            <a:pPr algn="ctr">
              <a:defRPr/>
            </a:pPr>
            <a:r>
              <a:rPr lang="en-US" altLang="zh-CN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5.4.3 </a:t>
            </a:r>
            <a:r>
              <a:rPr lang="zh-CN" altLang="en-US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请求字处理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08CBF23-1386-C892-D40D-4F1A678DF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CDF2F9-596C-49CC-A381-ED9789B0D6BC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3AA6EA1-5E8D-E3E2-3E22-24A38F9E8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4D5CBA-B943-9911-224B-B59048880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0778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3"/>
          <p:cNvSpPr txBox="1">
            <a:spLocks noChangeArrowheads="1"/>
          </p:cNvSpPr>
          <p:nvPr/>
        </p:nvSpPr>
        <p:spPr bwMode="auto">
          <a:xfrm>
            <a:off x="683568" y="764704"/>
            <a:ext cx="7488238" cy="151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3.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这种技术在以下情况下效果不大：</a:t>
            </a:r>
          </a:p>
          <a:p>
            <a:pPr lvl="1" eaLnBrk="1" hangingPunct="1">
              <a:lnSpc>
                <a:spcPct val="130000"/>
              </a:lnSpc>
              <a:buSzPct val="60000"/>
              <a:buFont typeface="Wingdings" panose="05000000000000000000" pitchFamily="2" charset="2"/>
              <a:buChar char="u"/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块较小</a:t>
            </a:r>
          </a:p>
          <a:p>
            <a:pPr lvl="1" eaLnBrk="1" hangingPunct="1">
              <a:lnSpc>
                <a:spcPct val="130000"/>
              </a:lnSpc>
              <a:buSzPct val="60000"/>
              <a:buFont typeface="Wingdings" panose="05000000000000000000" pitchFamily="2" charset="2"/>
              <a:buChar char="u"/>
            </a:pPr>
            <a:r>
              <a:rPr kumimoji="1" lang="zh-CN" altLang="en-US" sz="2400" b="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下一条指令正好访问同一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块的另一部分。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0C989EC-9C86-1DA4-06FB-3977CBD32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C129E9A-F8F4-4AD0-8AE1-C754F3C8C137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7BE6BF-2C8B-06F6-7629-95702C015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BE4050-90BD-E277-3E05-A1A2B6DC4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5136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Text Box 3"/>
          <p:cNvSpPr txBox="1">
            <a:spLocks noChangeArrowheads="1"/>
          </p:cNvSpPr>
          <p:nvPr/>
        </p:nvSpPr>
        <p:spPr bwMode="auto">
          <a:xfrm>
            <a:off x="702096" y="1196752"/>
            <a:ext cx="7381133" cy="3303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1.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应把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做得更快？还是更大？</a:t>
            </a:r>
            <a:endParaRPr kumimoji="1" lang="zh-CN" altLang="en-US" sz="2400" b="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400" dirty="0">
                <a:solidFill>
                  <a:srgbClr val="003366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</a:t>
            </a:r>
            <a:r>
              <a:rPr kumimoji="1"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答案：二者兼顾，再增加一级</a:t>
            </a:r>
            <a:r>
              <a:rPr kumimoji="1"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</a:p>
          <a:p>
            <a:pPr marL="702000" indent="-342900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第一级</a:t>
            </a:r>
            <a:r>
              <a:rPr kumimoji="1" lang="en-US" altLang="zh-CN" sz="2400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Cache(L1)</a:t>
            </a:r>
            <a:r>
              <a:rPr kumimoji="1" lang="zh-CN" altLang="en-US" sz="2400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小而快</a:t>
            </a:r>
            <a:endParaRPr kumimoji="1" lang="en-US" altLang="zh-CN" sz="2400" dirty="0">
              <a:solidFill>
                <a:srgbClr val="3333FF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1257300" lvl="2" indent="-342900" eaLnBrk="1" hangingPunct="1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与快速的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CPU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运行时钟周期时间相匹配</a:t>
            </a:r>
            <a:endParaRPr lang="en-US" altLang="zh-CN" sz="2400" dirty="0">
              <a:solidFill>
                <a:srgbClr val="3333FF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702000" lvl="2" indent="-342900" eaLnBrk="1" hangingPunct="1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第二级</a:t>
            </a:r>
            <a:r>
              <a:rPr kumimoji="1" lang="en-US" altLang="zh-CN" sz="2400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Cache(L2)</a:t>
            </a:r>
            <a:r>
              <a:rPr kumimoji="1" lang="zh-CN" altLang="en-US" sz="2400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容量大</a:t>
            </a:r>
            <a:endParaRPr kumimoji="1" lang="en-US" altLang="zh-CN" sz="2400" dirty="0">
              <a:solidFill>
                <a:srgbClr val="3333FF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1257300" lvl="2" indent="-342900" eaLnBrk="1" hangingPunct="1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捕捉到对主存进行的大多数访问</a:t>
            </a:r>
          </a:p>
          <a:p>
            <a:pPr lvl="1" eaLnBrk="1" hangingPunct="1">
              <a:lnSpc>
                <a:spcPct val="120000"/>
              </a:lnSpc>
              <a:buSzPct val="60000"/>
              <a:buFont typeface="Wingdings" panose="05000000000000000000" pitchFamily="2" charset="2"/>
              <a:buChar char="u"/>
            </a:pPr>
            <a:endParaRPr kumimoji="1" lang="zh-CN" altLang="en-US" sz="2400" dirty="0">
              <a:solidFill>
                <a:srgbClr val="3333FF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75780" name="Text Box 4"/>
          <p:cNvSpPr txBox="1">
            <a:spLocks noChangeArrowheads="1"/>
          </p:cNvSpPr>
          <p:nvPr/>
        </p:nvSpPr>
        <p:spPr bwMode="auto">
          <a:xfrm>
            <a:off x="648545" y="4293096"/>
            <a:ext cx="7488237" cy="1901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2.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性能分析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400" b="0" dirty="0">
                <a:solidFill>
                  <a:srgbClr val="003366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</a:t>
            </a:r>
            <a:r>
              <a:rPr kumimoji="1"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平均访问时间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＝命中时间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L1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＋失效率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L1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×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失效开销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L1</a:t>
            </a:r>
            <a:endParaRPr kumimoji="1"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		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＝命中时间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L1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＋失效率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L1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×</a:t>
            </a:r>
            <a:b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</a:b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		      (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命中时间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L2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＋失效率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L2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×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失效开销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L2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</a:p>
        </p:txBody>
      </p:sp>
      <p:sp>
        <p:nvSpPr>
          <p:cNvPr id="75781" name="Rectangle 5"/>
          <p:cNvSpPr>
            <a:spLocks noChangeArrowheads="1"/>
          </p:cNvSpPr>
          <p:nvPr/>
        </p:nvSpPr>
        <p:spPr bwMode="auto">
          <a:xfrm>
            <a:off x="646113" y="231775"/>
            <a:ext cx="7381875" cy="6762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/>
          <a:p>
            <a:pPr algn="ctr">
              <a:defRPr/>
            </a:pPr>
            <a:r>
              <a:rPr lang="en-US" altLang="zh-CN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5.4.4 </a:t>
            </a:r>
            <a:r>
              <a:rPr lang="zh-CN" altLang="en-US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多级</a:t>
            </a:r>
            <a:r>
              <a:rPr lang="en-US" altLang="zh-CN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D3CE4F4-0B02-26B9-F7E6-71BA43CB6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CE91C2F-60F9-47AB-8E0B-0CD06E80227E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AF48561-EAA3-8B96-70FC-E9604E546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1443A4-0ED4-EAB4-D7D7-C3AF19071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3950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ext Box 2"/>
          <p:cNvSpPr txBox="1">
            <a:spLocks noChangeArrowheads="1"/>
          </p:cNvSpPr>
          <p:nvPr/>
        </p:nvSpPr>
        <p:spPr bwMode="auto">
          <a:xfrm>
            <a:off x="539552" y="548680"/>
            <a:ext cx="7777163" cy="4929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3.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局部失效率与全局失效率</a:t>
            </a:r>
          </a:p>
          <a:p>
            <a:pPr marL="702000" indent="-3429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局部失效率＝该级</a:t>
            </a:r>
            <a:r>
              <a:rPr kumimoji="1" lang="en-US" altLang="zh-CN" sz="2400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的失效次数</a:t>
            </a:r>
            <a:r>
              <a:rPr kumimoji="1" lang="en-US" altLang="zh-CN" sz="2400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/</a:t>
            </a:r>
            <a:r>
              <a:rPr kumimoji="1" lang="zh-CN" altLang="en-US" sz="2400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到达该级 </a:t>
            </a:r>
            <a:endParaRPr kumimoji="1" lang="en-US" altLang="zh-CN" sz="2400" dirty="0">
              <a:solidFill>
                <a:srgbClr val="3333FF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59100" eaLnBrk="1" hangingPunct="1">
              <a:lnSpc>
                <a:spcPct val="120000"/>
              </a:lnSpc>
            </a:pPr>
            <a:r>
              <a:rPr lang="en-US" altLang="zh-CN" sz="2400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                         </a:t>
            </a:r>
            <a:r>
              <a:rPr kumimoji="1" lang="en-US" altLang="zh-CN" sz="2400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的访问次数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400" dirty="0">
                <a:solidFill>
                  <a:srgbClr val="003366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      </a:t>
            </a:r>
            <a:r>
              <a:rPr kumimoji="1" lang="en-US" altLang="zh-CN" sz="2400" dirty="0">
                <a:solidFill>
                  <a:srgbClr val="003366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例如：上述式子中的失效率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L2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)</a:t>
            </a:r>
            <a:endParaRPr kumimoji="1"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702000" indent="-3429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全局失效率＝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n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级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的失效次数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/CPU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发出的访</a:t>
            </a:r>
            <a:endParaRPr kumimoji="1"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59100" eaLnBrk="1" hangingPunct="1"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                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存的总次数</a:t>
            </a:r>
          </a:p>
          <a:p>
            <a:pPr marL="702000" indent="-3429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全局失效率＝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失效率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L1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×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失效率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L2</a:t>
            </a:r>
          </a:p>
          <a:p>
            <a:pPr eaLnBrk="1" hangingPunct="1">
              <a:lnSpc>
                <a:spcPct val="120000"/>
              </a:lnSpc>
            </a:pPr>
            <a:endParaRPr kumimoji="1"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评价多级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时，应使用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全局失效率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这个指标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: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hlinkClick r:id="rId3" action="ppaction://progra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kumimoji="1"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它指出了在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CPU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发出的访存中，究竟有多大比例是穿过各级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，最终到达存储器的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5F9A1D2-9FED-3A22-E0BD-0566D588C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DF7D07-2A5B-4671-9F6E-0C8E5A5FCDDA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3F7110E-E5B7-DEA9-F464-3200D84FD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5AFDC3-E5ED-6D99-4B72-39F883413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266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467544" y="2636912"/>
            <a:ext cx="7848872" cy="3600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2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2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5.11</a:t>
            </a:r>
            <a:r>
              <a:rPr lang="zh-CN" altLang="en-US" sz="22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457200" indent="-457200" algn="just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2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假设某一两级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：第一级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200" dirty="0">
                <a:solidFill>
                  <a:srgbClr val="99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L1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，第二级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200" dirty="0">
                <a:solidFill>
                  <a:srgbClr val="99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L2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。 </a:t>
            </a:r>
          </a:p>
          <a:p>
            <a:pPr marL="457200" indent="-457200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（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）假设在</a:t>
            </a:r>
            <a:r>
              <a:rPr lang="en-US" altLang="zh-CN" sz="2200" dirty="0">
                <a:solidFill>
                  <a:srgbClr val="99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1000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次访存中，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L1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的不命中是</a:t>
            </a:r>
            <a:r>
              <a:rPr lang="en-US" altLang="zh-CN" sz="2200" dirty="0">
                <a:solidFill>
                  <a:srgbClr val="99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40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次，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L2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的不命中是</a:t>
            </a:r>
            <a:r>
              <a:rPr lang="en-US" altLang="zh-CN" sz="2200" dirty="0">
                <a:solidFill>
                  <a:srgbClr val="99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20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次。求各种局部不命中率和全局不命中率。</a:t>
            </a:r>
          </a:p>
          <a:p>
            <a:pPr marL="457200" indent="-457200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（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）假设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L2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的命中时间是</a:t>
            </a:r>
            <a:r>
              <a:rPr lang="en-US" altLang="zh-CN" sz="2200" dirty="0">
                <a:solidFill>
                  <a:srgbClr val="99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个时钟周期，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L2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的不命中开销是</a:t>
            </a:r>
            <a:r>
              <a:rPr lang="en-US" altLang="zh-CN" sz="2200" dirty="0">
                <a:solidFill>
                  <a:srgbClr val="99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200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时钟周期，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L1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的命中时间是</a:t>
            </a:r>
            <a:r>
              <a:rPr lang="en-US" altLang="zh-CN" sz="2200" dirty="0">
                <a:solidFill>
                  <a:srgbClr val="99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个时钟周期，平均每条指令访存</a:t>
            </a:r>
            <a:r>
              <a:rPr lang="en-US" altLang="zh-CN" sz="2200" dirty="0">
                <a:solidFill>
                  <a:srgbClr val="99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1.5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次，不考虑写操作的影响。问：平均访存时间是多少？每条指令的平均停顿时间是多少个时钟周期？</a:t>
            </a:r>
            <a:r>
              <a:rPr lang="zh-CN" altLang="en-US" sz="22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3" name="矩形 2"/>
          <p:cNvSpPr/>
          <p:nvPr/>
        </p:nvSpPr>
        <p:spPr>
          <a:xfrm>
            <a:off x="372472" y="548680"/>
            <a:ext cx="8399056" cy="2012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4. 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采用两级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时，每条指令的平均访存停顿时间：</a:t>
            </a:r>
          </a:p>
          <a:p>
            <a:pPr marL="1085850" lvl="1" indent="-457200" eaLnBrk="1" hangingPunct="1">
              <a:buFont typeface="Wingdings" panose="05000000000000000000" pitchFamily="2" charset="2"/>
              <a:buNone/>
            </a:pPr>
            <a:endParaRPr kumimoji="0"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1085850" lvl="1" indent="-457200" eaLnBrk="1" hangingPunct="1">
              <a:buFont typeface="Wingdings" panose="05000000000000000000" pitchFamily="2" charset="2"/>
              <a:buNone/>
            </a:pPr>
            <a:r>
              <a:rPr kumimoji="0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每条指令的平均访存停顿时间</a:t>
            </a:r>
          </a:p>
          <a:p>
            <a:pPr marL="1085850" lvl="1" indent="-457200" eaLnBrk="1" hangingPunct="1">
              <a:buFont typeface="Wingdings" panose="05000000000000000000" pitchFamily="2" charset="2"/>
              <a:buNone/>
            </a:pPr>
            <a:r>
              <a:rPr kumimoji="0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＝ 每条指令的平均不命中次数</a:t>
            </a:r>
            <a:r>
              <a:rPr kumimoji="0" lang="en-US" altLang="zh-CN" sz="2400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L1</a:t>
            </a:r>
            <a:r>
              <a:rPr kumimoji="0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×</a:t>
            </a:r>
            <a:r>
              <a:rPr kumimoji="0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命中时间</a:t>
            </a:r>
            <a:r>
              <a:rPr kumimoji="0" lang="en-US" altLang="zh-CN" sz="2400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L2</a:t>
            </a:r>
            <a:r>
              <a:rPr kumimoji="0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＋</a:t>
            </a:r>
          </a:p>
          <a:p>
            <a:pPr marL="1085850" lvl="1" indent="-457200" eaLnBrk="1" hangingPunct="1">
              <a:buFont typeface="Wingdings" panose="05000000000000000000" pitchFamily="2" charset="2"/>
              <a:buNone/>
            </a:pPr>
            <a:r>
              <a:rPr kumimoji="0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     每条指令的平均不命中次数</a:t>
            </a:r>
            <a:r>
              <a:rPr kumimoji="0" lang="en-US" altLang="zh-CN" sz="2400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L2</a:t>
            </a:r>
            <a:r>
              <a:rPr kumimoji="0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×</a:t>
            </a:r>
            <a:r>
              <a:rPr kumimoji="0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不命中开销</a:t>
            </a:r>
            <a:r>
              <a:rPr kumimoji="0" lang="en-US" altLang="zh-CN" sz="2400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L2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FE2F3A-B5B4-F900-E881-83D6264BB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4E7267F-786E-4517-A16B-DC4B4318860F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B46CF6-D1EF-0876-5B70-F66DA28AE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2B2621-8C99-9AE2-8B97-7CB7FC542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4302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67544" y="2514749"/>
            <a:ext cx="7772400" cy="3938587"/>
          </a:xfrm>
        </p:spPr>
        <p:txBody>
          <a:bodyPr/>
          <a:lstStyle/>
          <a:p>
            <a:pPr marL="457200" indent="-457200" eaLnBrk="1" hangingPunct="1">
              <a:buFont typeface="Wingdings" panose="05000000000000000000" pitchFamily="2" charset="2"/>
              <a:buNone/>
            </a:pPr>
            <a:r>
              <a:rPr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平均访存时间＝命中时间</a:t>
            </a:r>
            <a:r>
              <a:rPr lang="en-US" altLang="zh-CN" sz="22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L1</a:t>
            </a:r>
            <a:r>
              <a:rPr lang="zh-CN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＋不命中率</a:t>
            </a:r>
            <a:r>
              <a:rPr lang="en-US" altLang="zh-CN" sz="22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L1</a:t>
            </a:r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×</a:t>
            </a:r>
            <a:r>
              <a:rPr lang="zh-CN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（命中时间</a:t>
            </a:r>
            <a:r>
              <a:rPr lang="en-US" altLang="zh-CN" sz="22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L2 </a:t>
            </a:r>
          </a:p>
          <a:p>
            <a:pPr marL="457200" indent="-457200" eaLnBrk="1" hangingPunct="1">
              <a:buFont typeface="Wingdings" panose="05000000000000000000" pitchFamily="2" charset="2"/>
              <a:buNone/>
            </a:pPr>
            <a:r>
              <a:rPr lang="en-US" altLang="zh-CN" sz="2200" b="1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                                                  </a:t>
            </a:r>
            <a:r>
              <a:rPr lang="zh-CN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＋不命中率</a:t>
            </a:r>
            <a:r>
              <a:rPr lang="en-US" altLang="zh-CN" sz="22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L2</a:t>
            </a:r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×</a:t>
            </a:r>
            <a:r>
              <a:rPr lang="zh-CN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不命中开销</a:t>
            </a:r>
            <a:r>
              <a:rPr lang="en-US" altLang="zh-CN" sz="22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L2</a:t>
            </a:r>
            <a:r>
              <a:rPr lang="zh-CN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）</a:t>
            </a:r>
          </a:p>
          <a:p>
            <a:pPr marL="457200" indent="-457200" eaLnBrk="1" hangingPunct="1">
              <a:buFont typeface="Wingdings" panose="05000000000000000000" pitchFamily="2" charset="2"/>
              <a:buNone/>
            </a:pPr>
            <a:r>
              <a:rPr lang="zh-CN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                           ＝</a:t>
            </a:r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＋</a:t>
            </a:r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4%×</a:t>
            </a:r>
            <a:r>
              <a:rPr lang="zh-CN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＋</a:t>
            </a:r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50%×200</a:t>
            </a:r>
            <a:r>
              <a:rPr lang="zh-CN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）</a:t>
            </a:r>
          </a:p>
          <a:p>
            <a:pPr marL="457200" indent="-457200" eaLnBrk="1" hangingPunct="1">
              <a:buFont typeface="Wingdings" panose="05000000000000000000" pitchFamily="2" charset="2"/>
              <a:buNone/>
            </a:pPr>
            <a:r>
              <a:rPr lang="zh-CN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                           ＝</a:t>
            </a:r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＋</a:t>
            </a:r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4%×110</a:t>
            </a:r>
            <a:r>
              <a:rPr lang="zh-CN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＝</a:t>
            </a:r>
            <a:r>
              <a:rPr lang="en-US" altLang="zh-CN" sz="2200" b="1" dirty="0">
                <a:solidFill>
                  <a:srgbClr val="99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5.4</a:t>
            </a:r>
            <a:r>
              <a:rPr lang="zh-CN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个时钟周期</a:t>
            </a:r>
          </a:p>
          <a:p>
            <a:pPr marL="457200" indent="-457200" eaLnBrk="1" hangingPunct="1">
              <a:buFont typeface="Wingdings" panose="05000000000000000000" pitchFamily="2" charset="2"/>
              <a:buNone/>
            </a:pPr>
            <a:r>
              <a:rPr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   每次访存的平均停顿时间为：</a:t>
            </a:r>
          </a:p>
          <a:p>
            <a:pPr marL="457200" indent="-457200" eaLnBrk="1" hangingPunct="1">
              <a:buFont typeface="Wingdings" panose="05000000000000000000" pitchFamily="2" charset="2"/>
              <a:buNone/>
            </a:pPr>
            <a:r>
              <a:rPr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                   </a:t>
            </a:r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5.4</a:t>
            </a:r>
            <a:r>
              <a:rPr lang="zh-CN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－</a:t>
            </a:r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1.0</a:t>
            </a:r>
            <a:r>
              <a:rPr lang="zh-CN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＝</a:t>
            </a:r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4.4</a:t>
            </a:r>
          </a:p>
          <a:p>
            <a:pPr marL="457200" indent="-457200" eaLnBrk="1" hangingPunct="1">
              <a:buFont typeface="Wingdings" panose="05000000000000000000" pitchFamily="2" charset="2"/>
              <a:buNone/>
            </a:pPr>
            <a:r>
              <a:rPr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所以：</a:t>
            </a:r>
          </a:p>
          <a:p>
            <a:pPr marL="457200" indent="-457200" eaLnBrk="1" hangingPunct="1">
              <a:buFont typeface="Wingdings" panose="05000000000000000000" pitchFamily="2" charset="2"/>
              <a:buNone/>
            </a:pPr>
            <a:r>
              <a:rPr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   由于平均每条指令访存</a:t>
            </a:r>
            <a:r>
              <a:rPr lang="en-US" altLang="zh-CN" sz="2200" b="1" dirty="0">
                <a:solidFill>
                  <a:srgbClr val="99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1.5</a:t>
            </a:r>
            <a:r>
              <a:rPr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次，</a:t>
            </a:r>
            <a:endParaRPr lang="en-US" altLang="zh-CN" sz="2200" b="1" dirty="0">
              <a:solidFill>
                <a:srgbClr val="000000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None/>
            </a:pP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zh-CN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每条指令的平均停顿时间＝</a:t>
            </a:r>
            <a:r>
              <a:rPr lang="en-US" altLang="zh-CN" sz="2200" b="1" dirty="0">
                <a:solidFill>
                  <a:srgbClr val="99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4.4×1.5</a:t>
            </a:r>
            <a:r>
              <a:rPr lang="zh-CN" altLang="en-US" sz="2200" b="1" dirty="0">
                <a:solidFill>
                  <a:srgbClr val="99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＝</a:t>
            </a:r>
            <a:r>
              <a:rPr lang="en-US" altLang="zh-CN" sz="2200" b="1" dirty="0">
                <a:solidFill>
                  <a:srgbClr val="99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6.6</a:t>
            </a:r>
            <a:r>
              <a:rPr lang="zh-CN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个时钟周期</a:t>
            </a:r>
          </a:p>
        </p:txBody>
      </p:sp>
      <p:sp>
        <p:nvSpPr>
          <p:cNvPr id="4" name="矩形 3"/>
          <p:cNvSpPr/>
          <p:nvPr/>
        </p:nvSpPr>
        <p:spPr>
          <a:xfrm>
            <a:off x="467544" y="404664"/>
            <a:ext cx="7848872" cy="19619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lnSpc>
                <a:spcPct val="110000"/>
              </a:lnSpc>
              <a:spcBef>
                <a:spcPct val="20000"/>
              </a:spcBef>
            </a:pPr>
            <a:r>
              <a:rPr kumimoji="0"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解 </a:t>
            </a:r>
            <a:r>
              <a:rPr kumimoji="0"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(1)</a:t>
            </a:r>
            <a:r>
              <a:rPr kumimoji="0"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457200" lvl="0" indent="-457200">
              <a:lnSpc>
                <a:spcPct val="140000"/>
              </a:lnSpc>
              <a:spcBef>
                <a:spcPct val="20000"/>
              </a:spcBef>
            </a:pPr>
            <a:r>
              <a:rPr kumimoji="0"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</a:t>
            </a:r>
            <a:r>
              <a:rPr kumimoji="0"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第一级</a:t>
            </a:r>
            <a:r>
              <a:rPr kumimoji="0"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kumimoji="0"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的不命中率（全局和局部）是</a:t>
            </a:r>
            <a:r>
              <a:rPr kumimoji="0" lang="en-US" altLang="zh-CN" sz="2200" dirty="0">
                <a:solidFill>
                  <a:srgbClr val="99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40/1000</a:t>
            </a:r>
            <a:r>
              <a:rPr kumimoji="0"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，即</a:t>
            </a:r>
            <a:r>
              <a:rPr kumimoji="0" lang="en-US" altLang="zh-CN" sz="2200" dirty="0">
                <a:solidFill>
                  <a:srgbClr val="99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4%</a:t>
            </a:r>
            <a:r>
              <a:rPr kumimoji="0"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；</a:t>
            </a:r>
          </a:p>
          <a:p>
            <a:pPr marL="457200" lvl="0" indent="-457200">
              <a:lnSpc>
                <a:spcPct val="140000"/>
              </a:lnSpc>
              <a:spcBef>
                <a:spcPct val="20000"/>
              </a:spcBef>
            </a:pPr>
            <a:r>
              <a:rPr kumimoji="0"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第二级</a:t>
            </a:r>
            <a:r>
              <a:rPr kumimoji="0"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kumimoji="0"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的局部不命中率是</a:t>
            </a:r>
            <a:r>
              <a:rPr kumimoji="0" lang="en-US" altLang="zh-CN" sz="2200" dirty="0">
                <a:solidFill>
                  <a:srgbClr val="99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20/40</a:t>
            </a:r>
            <a:r>
              <a:rPr kumimoji="0"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，即</a:t>
            </a:r>
            <a:r>
              <a:rPr kumimoji="0" lang="en-US" altLang="zh-CN" sz="2200" dirty="0">
                <a:solidFill>
                  <a:srgbClr val="99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50%</a:t>
            </a:r>
            <a:r>
              <a:rPr kumimoji="0"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；</a:t>
            </a:r>
          </a:p>
          <a:p>
            <a:pPr marL="457200" lvl="0" indent="-457200">
              <a:lnSpc>
                <a:spcPct val="110000"/>
              </a:lnSpc>
              <a:spcBef>
                <a:spcPct val="20000"/>
              </a:spcBef>
            </a:pPr>
            <a:r>
              <a:rPr kumimoji="0"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第二级</a:t>
            </a:r>
            <a:r>
              <a:rPr kumimoji="0"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kumimoji="0"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的全局不命中率是</a:t>
            </a:r>
            <a:r>
              <a:rPr kumimoji="0" lang="en-US" altLang="zh-CN" sz="2200" dirty="0">
                <a:solidFill>
                  <a:srgbClr val="99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20/1000</a:t>
            </a:r>
            <a:r>
              <a:rPr kumimoji="0"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，即</a:t>
            </a:r>
            <a:r>
              <a:rPr kumimoji="0" lang="en-US" altLang="zh-CN" sz="2200" dirty="0">
                <a:solidFill>
                  <a:srgbClr val="99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2%</a:t>
            </a:r>
            <a:r>
              <a:rPr kumimoji="0"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。 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1CA95B7-BFE1-2B55-C57A-A3651258F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AF8E07B-6C7D-4E25-9505-63E52CD73317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A9975C6-0976-4425-C777-D28A6E9A9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C9D02B9-40C7-7694-BE7C-C41009F83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0288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39552" y="476672"/>
            <a:ext cx="7848600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5.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当第二级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比第一级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大得多时，两级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 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全局失效率与容量和第二级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en-US" altLang="zh-CN" b="0" dirty="0"/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相同的单级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失效率非常接近。</a:t>
            </a:r>
          </a:p>
        </p:txBody>
      </p:sp>
      <p:pic>
        <p:nvPicPr>
          <p:cNvPr id="6" name="Picture 2" descr="Ch5-fig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063" y="2276872"/>
            <a:ext cx="8160089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1CB3DA1-B1C4-7E49-E9D8-2829CBF7C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405E3ED-03BF-498F-8B22-CDB3E6382F1F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1F046B9-5A77-D41E-5259-9F26C2798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F7927F-3EDF-425F-E748-BA7A6F2AE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1126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Text Box 3"/>
          <p:cNvSpPr txBox="1">
            <a:spLocks noChangeArrowheads="1"/>
          </p:cNvSpPr>
          <p:nvPr/>
        </p:nvSpPr>
        <p:spPr bwMode="auto">
          <a:xfrm>
            <a:off x="323528" y="332656"/>
            <a:ext cx="8496944" cy="5806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defRPr/>
            </a:pPr>
            <a:r>
              <a:rPr lang="en-US" altLang="zh-CN" sz="2400" dirty="0">
                <a:latin typeface="Times New Roman" pitchFamily="18" charset="0"/>
                <a:ea typeface="华文中宋" pitchFamily="2" charset="-122"/>
              </a:rPr>
              <a:t>6</a:t>
            </a:r>
            <a:r>
              <a:rPr kumimoji="1" lang="en-US" altLang="zh-CN" sz="2400" dirty="0">
                <a:latin typeface="Times New Roman" pitchFamily="18" charset="0"/>
                <a:ea typeface="华文中宋" pitchFamily="2" charset="-122"/>
              </a:rPr>
              <a:t>. </a:t>
            </a:r>
            <a:r>
              <a:rPr kumimoji="1" lang="zh-CN" altLang="en-US" sz="2400" dirty="0">
                <a:latin typeface="Times New Roman" pitchFamily="18" charset="0"/>
                <a:ea typeface="华文中宋" pitchFamily="2" charset="-122"/>
              </a:rPr>
              <a:t>第二级</a:t>
            </a:r>
            <a:r>
              <a:rPr kumimoji="1" lang="en-US" altLang="zh-CN" sz="2400" dirty="0">
                <a:latin typeface="Times New Roman" pitchFamily="18" charset="0"/>
                <a:ea typeface="华文中宋" pitchFamily="2" charset="-122"/>
              </a:rPr>
              <a:t>Cache</a:t>
            </a:r>
            <a:r>
              <a:rPr kumimoji="1" lang="zh-CN" altLang="en-US" sz="2400" dirty="0">
                <a:latin typeface="Times New Roman" pitchFamily="18" charset="0"/>
                <a:ea typeface="华文中宋" pitchFamily="2" charset="-122"/>
              </a:rPr>
              <a:t>的参数</a:t>
            </a:r>
          </a:p>
          <a:p>
            <a:pPr>
              <a:lnSpc>
                <a:spcPct val="130000"/>
              </a:lnSpc>
              <a:spcBef>
                <a:spcPts val="0"/>
              </a:spcBef>
              <a:defRPr/>
            </a:pPr>
            <a:r>
              <a:rPr kumimoji="1" lang="zh-CN" altLang="en-US" sz="2400" dirty="0">
                <a:latin typeface="Times New Roman" pitchFamily="18" charset="0"/>
                <a:ea typeface="华文中宋" pitchFamily="2" charset="-122"/>
              </a:rPr>
              <a:t>             第二级</a:t>
            </a:r>
            <a:r>
              <a:rPr kumimoji="1" lang="en-US" altLang="zh-CN" sz="2400" dirty="0">
                <a:latin typeface="Times New Roman" pitchFamily="18" charset="0"/>
                <a:ea typeface="华文中宋" pitchFamily="2" charset="-122"/>
              </a:rPr>
              <a:t>Cache</a:t>
            </a:r>
            <a:r>
              <a:rPr kumimoji="1" lang="zh-CN" altLang="en-US" sz="2400" dirty="0">
                <a:latin typeface="Times New Roman" pitchFamily="18" charset="0"/>
                <a:ea typeface="华文中宋" pitchFamily="2" charset="-122"/>
              </a:rPr>
              <a:t>不会影响</a:t>
            </a:r>
            <a:r>
              <a:rPr kumimoji="1" lang="en-US" altLang="zh-CN" sz="2400" dirty="0">
                <a:latin typeface="Times New Roman" pitchFamily="18" charset="0"/>
                <a:ea typeface="华文中宋" pitchFamily="2" charset="-122"/>
              </a:rPr>
              <a:t>CPU</a:t>
            </a:r>
            <a:r>
              <a:rPr kumimoji="1" lang="zh-CN" altLang="en-US" sz="2400" dirty="0">
                <a:latin typeface="Times New Roman" pitchFamily="18" charset="0"/>
                <a:ea typeface="华文中宋" pitchFamily="2" charset="-122"/>
              </a:rPr>
              <a:t>的时钟频率，因此其设计</a:t>
            </a:r>
          </a:p>
          <a:p>
            <a:pPr>
              <a:lnSpc>
                <a:spcPct val="130000"/>
              </a:lnSpc>
              <a:spcBef>
                <a:spcPts val="0"/>
              </a:spcBef>
              <a:defRPr/>
            </a:pPr>
            <a:r>
              <a:rPr kumimoji="1" lang="zh-CN" altLang="en-US" sz="2400" dirty="0">
                <a:latin typeface="Times New Roman" pitchFamily="18" charset="0"/>
                <a:ea typeface="华文中宋" pitchFamily="2" charset="-122"/>
              </a:rPr>
              <a:t>    有更大的考虑空间。</a:t>
            </a:r>
            <a:endParaRPr kumimoji="1" lang="en-US" altLang="zh-CN" sz="2400" dirty="0">
              <a:latin typeface="Times New Roman" pitchFamily="18" charset="0"/>
              <a:ea typeface="华文中宋" pitchFamily="2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defRPr/>
            </a:pPr>
            <a:endParaRPr kumimoji="1" lang="zh-CN" altLang="en-US" sz="2400" dirty="0">
              <a:latin typeface="Times New Roman" pitchFamily="18" charset="0"/>
              <a:ea typeface="华文中宋" pitchFamily="2" charset="-122"/>
            </a:endParaRPr>
          </a:p>
          <a:p>
            <a:pPr marL="702000" indent="-342900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kumimoji="1" lang="zh-CN" altLang="en-US" sz="2400" dirty="0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</a:rPr>
              <a:t>问题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  <a:sym typeface="Wingdings" panose="05000000000000000000" pitchFamily="2" charset="2"/>
              </a:rPr>
              <a:t>:</a:t>
            </a:r>
            <a:r>
              <a:rPr kumimoji="1" lang="zh-CN" altLang="en-US" sz="2400" dirty="0">
                <a:latin typeface="Times New Roman" pitchFamily="18" charset="0"/>
                <a:ea typeface="华文中宋" pitchFamily="2" charset="-122"/>
                <a:sym typeface="Wingdings" panose="05000000000000000000" pitchFamily="2" charset="2"/>
              </a:rPr>
              <a:t> </a:t>
            </a:r>
            <a:r>
              <a:rPr kumimoji="1" lang="zh-CN" altLang="en-US" sz="2400" dirty="0">
                <a:latin typeface="Times New Roman" pitchFamily="18" charset="0"/>
                <a:ea typeface="华文中宋" pitchFamily="2" charset="-122"/>
              </a:rPr>
              <a:t>能否降低</a:t>
            </a:r>
            <a:r>
              <a:rPr kumimoji="1" lang="en-US" altLang="zh-CN" sz="2400" dirty="0">
                <a:latin typeface="Times New Roman" pitchFamily="18" charset="0"/>
                <a:ea typeface="华文中宋" pitchFamily="2" charset="-122"/>
              </a:rPr>
              <a:t>CPI</a:t>
            </a:r>
            <a:r>
              <a:rPr kumimoji="1" lang="zh-CN" altLang="en-US" sz="2400" dirty="0">
                <a:latin typeface="Times New Roman" pitchFamily="18" charset="0"/>
                <a:ea typeface="华文中宋" pitchFamily="2" charset="-122"/>
              </a:rPr>
              <a:t>中的平均访存时间部分？成本是多少？</a:t>
            </a:r>
            <a:endParaRPr kumimoji="1" lang="en-US" altLang="zh-CN" sz="2400" dirty="0">
              <a:latin typeface="Times New Roman" pitchFamily="18" charset="0"/>
              <a:ea typeface="华文中宋" pitchFamily="2" charset="-122"/>
            </a:endParaRPr>
          </a:p>
          <a:p>
            <a:pPr marL="359100">
              <a:lnSpc>
                <a:spcPct val="130000"/>
              </a:lnSpc>
              <a:spcBef>
                <a:spcPts val="0"/>
              </a:spcBef>
              <a:defRPr/>
            </a:pPr>
            <a:endParaRPr kumimoji="1" lang="en-US" altLang="zh-CN" sz="2400" dirty="0">
              <a:latin typeface="Times New Roman" pitchFamily="18" charset="0"/>
              <a:ea typeface="华文中宋" pitchFamily="2" charset="-122"/>
            </a:endParaRPr>
          </a:p>
          <a:p>
            <a:pPr marL="359100" lvl="2">
              <a:lnSpc>
                <a:spcPct val="130000"/>
              </a:lnSpc>
              <a:spcBef>
                <a:spcPts val="0"/>
              </a:spcBef>
              <a:buSzPct val="100000"/>
              <a:defRPr/>
            </a:pPr>
            <a:r>
              <a:rPr lang="zh-CN" altLang="en-US" sz="2400" dirty="0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</a:rPr>
              <a:t>从四个方面考虑</a:t>
            </a:r>
            <a:r>
              <a:rPr lang="en-US" altLang="zh-CN" sz="2400" dirty="0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</a:rPr>
              <a:t>:</a:t>
            </a:r>
          </a:p>
          <a:p>
            <a:pPr marL="554400" lvl="2">
              <a:lnSpc>
                <a:spcPct val="130000"/>
              </a:lnSpc>
              <a:spcBef>
                <a:spcPts val="0"/>
              </a:spcBef>
              <a:buSzPct val="60000"/>
              <a:defRPr/>
            </a:pPr>
            <a:r>
              <a:rPr kumimoji="1" lang="en-US" altLang="zh-CN" sz="2400" dirty="0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</a:rPr>
              <a:t>(1) 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</a:rPr>
              <a:t>容量    </a:t>
            </a:r>
            <a:r>
              <a:rPr kumimoji="1" lang="zh-CN" altLang="en-US" sz="2400" dirty="0">
                <a:latin typeface="Times New Roman" pitchFamily="18" charset="0"/>
                <a:ea typeface="华文中宋" pitchFamily="2" charset="-122"/>
              </a:rPr>
              <a:t>第二级</a:t>
            </a:r>
            <a:r>
              <a:rPr kumimoji="1" lang="en-US" altLang="zh-CN" sz="2400" dirty="0">
                <a:latin typeface="Times New Roman" pitchFamily="18" charset="0"/>
                <a:ea typeface="华文中宋" pitchFamily="2" charset="-122"/>
              </a:rPr>
              <a:t>Cache</a:t>
            </a:r>
            <a:r>
              <a:rPr kumimoji="1" lang="zh-CN" altLang="en-US" sz="2400" dirty="0">
                <a:latin typeface="Times New Roman" pitchFamily="18" charset="0"/>
                <a:ea typeface="华文中宋" pitchFamily="2" charset="-122"/>
              </a:rPr>
              <a:t>的容量一般比第一级</a:t>
            </a:r>
            <a:r>
              <a:rPr lang="zh-CN" altLang="en-US" sz="2400" dirty="0">
                <a:latin typeface="Times New Roman" pitchFamily="18" charset="0"/>
                <a:ea typeface="华文中宋" pitchFamily="2" charset="-122"/>
              </a:rPr>
              <a:t>的大许多</a:t>
            </a:r>
            <a:endParaRPr lang="en-US" altLang="zh-CN" sz="2400" dirty="0">
              <a:latin typeface="Times New Roman" pitchFamily="18" charset="0"/>
              <a:ea typeface="华文中宋" pitchFamily="2" charset="-122"/>
            </a:endParaRPr>
          </a:p>
          <a:p>
            <a:pPr marL="2336400" lvl="2" indent="-342900">
              <a:lnSpc>
                <a:spcPct val="13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  <a:defRPr/>
            </a:pPr>
            <a:r>
              <a:rPr lang="zh-CN" altLang="en-US" sz="2400" kern="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第二级</a:t>
            </a:r>
            <a:r>
              <a:rPr lang="en-US" altLang="zh-CN" sz="2400" kern="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sz="2400" kern="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可能实际上没有容量不命中</a:t>
            </a:r>
            <a:endParaRPr lang="en-US" altLang="zh-CN" sz="2400" kern="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2336400" lvl="2" indent="-342900">
              <a:lnSpc>
                <a:spcPct val="13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  <a:defRPr/>
            </a:pPr>
            <a:r>
              <a:rPr lang="zh-CN" altLang="en-US" sz="2400" kern="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只剩下一些强制性不命中和冲突不命中</a:t>
            </a:r>
          </a:p>
          <a:p>
            <a:pPr lvl="1">
              <a:lnSpc>
                <a:spcPct val="130000"/>
              </a:lnSpc>
              <a:spcBef>
                <a:spcPts val="0"/>
              </a:spcBef>
              <a:buSzPct val="60000"/>
              <a:buFont typeface="Wingdings" pitchFamily="2" charset="2"/>
              <a:buNone/>
              <a:defRPr/>
            </a:pPr>
            <a:r>
              <a:rPr kumimoji="1" lang="en-US" altLang="zh-CN" sz="2400" dirty="0">
                <a:solidFill>
                  <a:srgbClr val="003366"/>
                </a:solidFill>
                <a:latin typeface="Times New Roman" pitchFamily="18" charset="0"/>
                <a:ea typeface="华文中宋" pitchFamily="2" charset="-122"/>
              </a:rPr>
              <a:t> 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</a:rPr>
              <a:t>(2) 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</a:rPr>
              <a:t>相联度   </a:t>
            </a:r>
            <a:r>
              <a:rPr kumimoji="1" lang="zh-CN" altLang="en-US" sz="2400" dirty="0">
                <a:latin typeface="Times New Roman" pitchFamily="18" charset="0"/>
                <a:ea typeface="华文中宋" pitchFamily="2" charset="-122"/>
              </a:rPr>
              <a:t>第二级</a:t>
            </a:r>
            <a:r>
              <a:rPr kumimoji="1" lang="en-US" altLang="zh-CN" sz="2400" dirty="0">
                <a:latin typeface="Times New Roman" pitchFamily="18" charset="0"/>
                <a:ea typeface="华文中宋" pitchFamily="2" charset="-122"/>
              </a:rPr>
              <a:t>Cache</a:t>
            </a:r>
            <a:r>
              <a:rPr kumimoji="1" lang="zh-CN" altLang="en-US" sz="2400" dirty="0">
                <a:latin typeface="Times New Roman" pitchFamily="18" charset="0"/>
                <a:ea typeface="华文中宋" pitchFamily="2" charset="-122"/>
              </a:rPr>
              <a:t>可采用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</a:rPr>
              <a:t>较高的相联度或伪</a:t>
            </a:r>
          </a:p>
          <a:p>
            <a:pPr>
              <a:lnSpc>
                <a:spcPct val="130000"/>
              </a:lnSpc>
              <a:spcBef>
                <a:spcPts val="0"/>
              </a:spcBef>
              <a:defRPr/>
            </a:pPr>
            <a:r>
              <a:rPr kumimoji="1" lang="zh-CN" altLang="en-US" sz="2400" dirty="0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</a:rPr>
              <a:t>                            相联方法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61D0707-D7DA-E0EC-B634-FCE95607E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471022-AA1E-4436-A574-AA0C61EED3DC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8A4E612-60A4-A454-62CB-1307901AE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7E5223-CD51-0E43-E9B7-57C53586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8626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3"/>
          <p:cNvSpPr txBox="1">
            <a:spLocks noChangeArrowheads="1"/>
          </p:cNvSpPr>
          <p:nvPr/>
        </p:nvSpPr>
        <p:spPr bwMode="auto">
          <a:xfrm>
            <a:off x="755576" y="692696"/>
            <a:ext cx="7993062" cy="4689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kumimoji="1"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5.12</a:t>
            </a:r>
          </a:p>
          <a:p>
            <a:pPr eaLnBrk="1" hangingPunct="1">
              <a:lnSpc>
                <a:spcPct val="140000"/>
              </a:lnSpc>
            </a:pPr>
            <a:r>
              <a:rPr kumimoji="1" lang="en-US" altLang="zh-CN" sz="2400" dirty="0">
                <a:solidFill>
                  <a:srgbClr val="003366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给出有关第二级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的以下数据：</a:t>
            </a:r>
          </a:p>
          <a:p>
            <a:pPr eaLnBrk="1" hangingPunct="1">
              <a:lnSpc>
                <a:spcPct val="14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⑴ 对于直接映象，命中时间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L2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10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个时钟周期</a:t>
            </a:r>
          </a:p>
          <a:p>
            <a:pPr eaLnBrk="1" hangingPunct="1">
              <a:lnSpc>
                <a:spcPct val="14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⑵ 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两路组相联使命中时间增加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个时钟周期，即为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11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个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 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时钟周期。   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⑶ 对于直接映象，局部失效率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L2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25%</a:t>
            </a:r>
          </a:p>
          <a:p>
            <a:pPr eaLnBrk="1" hangingPunct="1">
              <a:lnSpc>
                <a:spcPct val="14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⑷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对于两路组相联，局部失效率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L2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20%</a:t>
            </a:r>
          </a:p>
          <a:p>
            <a:pPr eaLnBrk="1" hangingPunct="1">
              <a:lnSpc>
                <a:spcPct val="14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⑸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失效开销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L2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200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个时钟周期</a:t>
            </a:r>
          </a:p>
          <a:p>
            <a:pPr eaLnBrk="1" hangingPunct="1">
              <a:lnSpc>
                <a:spcPct val="14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试问第二级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的相联度对失效开销的影响如何？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AA0F5FC-8F0F-DF15-5CD5-4694D78FF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0CBAB2-D5A6-41C6-9E24-EA5CB9CD75DA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3B757DE-D09D-90E6-CFF8-D5844DC17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ADFDC4-AD16-A872-8186-86C75A787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5238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395536" y="332656"/>
            <a:ext cx="8640960" cy="53784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kumimoji="0"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解：</a:t>
            </a:r>
            <a:endParaRPr kumimoji="0" lang="en-US" altLang="zh-CN" sz="2400" b="1" dirty="0">
              <a:solidFill>
                <a:srgbClr val="C00000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kumimoji="0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对一个直接映象的第二级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来说，第一级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的不命中开销为：</a:t>
            </a:r>
          </a:p>
          <a:p>
            <a:pPr marL="457200" indent="-457200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   </a:t>
            </a:r>
            <a:r>
              <a:rPr kumimoji="0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不命中开销</a:t>
            </a:r>
            <a:r>
              <a:rPr kumimoji="0" lang="zh-CN" altLang="en-US" sz="2400" b="1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直接映象，</a:t>
            </a:r>
            <a:r>
              <a:rPr kumimoji="0" lang="en-US" altLang="zh-CN" sz="2400" b="1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L1</a:t>
            </a:r>
            <a:r>
              <a:rPr kumimoji="0"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＝ </a:t>
            </a:r>
            <a:r>
              <a:rPr kumimoji="0"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10</a:t>
            </a:r>
            <a:r>
              <a:rPr kumimoji="0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＋</a:t>
            </a:r>
            <a:r>
              <a:rPr kumimoji="0"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25%×200 </a:t>
            </a:r>
            <a:r>
              <a:rPr kumimoji="0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＝ </a:t>
            </a:r>
            <a:r>
              <a:rPr kumimoji="0"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60 </a:t>
            </a:r>
            <a:r>
              <a:rPr kumimoji="0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个时钟周期</a:t>
            </a:r>
          </a:p>
          <a:p>
            <a:pPr marL="457200" indent="-457200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对于两路组相联第二级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来说，命中时间增加了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10%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个时钟周期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，故第一级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的不命中开销为：</a:t>
            </a:r>
          </a:p>
          <a:p>
            <a:pPr marL="457200" indent="-457200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  </a:t>
            </a:r>
            <a:r>
              <a:rPr kumimoji="0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不命中开销</a:t>
            </a:r>
            <a:r>
              <a:rPr kumimoji="0" lang="zh-CN" altLang="en-US" sz="2400" b="1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两路组相联，</a:t>
            </a:r>
            <a:r>
              <a:rPr kumimoji="0" lang="en-US" altLang="zh-CN" sz="2400" b="1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L1</a:t>
            </a:r>
            <a:r>
              <a:rPr kumimoji="0"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＝ </a:t>
            </a:r>
            <a:r>
              <a:rPr kumimoji="0"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11</a:t>
            </a:r>
            <a:r>
              <a:rPr kumimoji="0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＋</a:t>
            </a:r>
            <a:r>
              <a:rPr kumimoji="0"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20%×200 </a:t>
            </a:r>
            <a:r>
              <a:rPr kumimoji="0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＝ </a:t>
            </a:r>
            <a:r>
              <a:rPr kumimoji="0"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51</a:t>
            </a:r>
            <a:r>
              <a:rPr kumimoji="0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个时钟周期</a:t>
            </a:r>
          </a:p>
          <a:p>
            <a:pPr marL="457200" indent="-457200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endParaRPr kumimoji="0"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kumimoji="0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故对于第二级</a:t>
            </a:r>
            <a:r>
              <a:rPr kumimoji="0"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kumimoji="0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来说，两路组相联优于直接映象。</a:t>
            </a:r>
            <a:endParaRPr kumimoji="0"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kumimoji="0"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	   </a:t>
            </a:r>
            <a:r>
              <a:rPr kumimoji="0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减少第二级</a:t>
            </a:r>
            <a:r>
              <a:rPr kumimoji="0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kumimoji="0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的缺失率，可以降低缺失代价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1398C90-A49C-07DE-162D-1E7C3629A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F676B0B-231B-46B9-B0CD-B871D2C68BA1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F8F7253-C145-7E39-A37E-B9E5B4DBD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F1BAA0-DDD0-B85B-49C3-BFEE76468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87476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539552" y="980728"/>
            <a:ext cx="7704856" cy="5579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(3) 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块大小</a:t>
            </a:r>
          </a:p>
          <a:p>
            <a:pPr marL="702000" indent="-342900" eaLnBrk="1" hangingPunct="1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第二级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可采用较大的块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15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       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如 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64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128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256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字节。     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  <a:hlinkClick r:id="rId2" action="ppaction://program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684000" indent="-342900" eaLnBrk="1" hangingPunct="1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为减少平均访存时间，可以让容量较小的第一级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采用较小的块，而让容量较大的第二级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采用较大的块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341100" eaLnBrk="1" hangingPunct="1">
              <a:lnSpc>
                <a:spcPct val="115000"/>
              </a:lnSpc>
            </a:pP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15000"/>
              </a:lnSpc>
            </a:pP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(4) 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多级包容和多级互斥  </a:t>
            </a:r>
            <a:endParaRPr lang="en-US" altLang="zh-CN" sz="2400" dirty="0">
              <a:solidFill>
                <a:srgbClr val="C00000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666000" indent="-342900" eaLnBrk="1" hangingPunct="1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需要考虑的另一个问题：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15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      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第一级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中的数据是否总是同时存在于第二</a:t>
            </a:r>
            <a:endParaRPr lang="en-US" altLang="zh-CN" sz="2400" dirty="0">
              <a:solidFill>
                <a:srgbClr val="C00000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15000"/>
              </a:lnSpc>
            </a:pP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      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级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中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341100" eaLnBrk="1" hangingPunct="1">
              <a:lnSpc>
                <a:spcPct val="115000"/>
              </a:lnSpc>
            </a:pPr>
            <a:endParaRPr lang="zh-CN" altLang="en-US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15000"/>
              </a:lnSpc>
            </a:pPr>
            <a:endParaRPr kumimoji="1" lang="zh-CN" altLang="en-US" sz="2400" dirty="0">
              <a:solidFill>
                <a:srgbClr val="003366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1B6C5F4-114C-45CB-B1C2-7EE49F1D1C3C}"/>
              </a:ext>
            </a:extLst>
          </p:cNvPr>
          <p:cNvSpPr/>
          <p:nvPr/>
        </p:nvSpPr>
        <p:spPr>
          <a:xfrm>
            <a:off x="323528" y="279957"/>
            <a:ext cx="3159839" cy="4976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6. 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第二级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的参数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4BE4FC-9145-A94F-368C-F0416683C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02A4BBC-485F-48D0-A0E9-2ABDE93366A4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22D4CC-1832-723C-64AA-ED2E0B1B0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44E5CD-134B-D3BB-4370-7BAE4DB15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67594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3"/>
          <p:cNvSpPr txBox="1">
            <a:spLocks noChangeArrowheads="1"/>
          </p:cNvSpPr>
          <p:nvPr/>
        </p:nvSpPr>
        <p:spPr bwMode="auto">
          <a:xfrm>
            <a:off x="755650" y="1175559"/>
            <a:ext cx="7488238" cy="940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AutoNum type="arabicPeriod"/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非阻塞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失效时仍允许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CPU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进行其它的命中访问。即允许“失效下命中”</a:t>
            </a:r>
          </a:p>
        </p:txBody>
      </p:sp>
      <p:sp>
        <p:nvSpPr>
          <p:cNvPr id="19459" name="Text Box 4"/>
          <p:cNvSpPr txBox="1">
            <a:spLocks noChangeArrowheads="1"/>
          </p:cNvSpPr>
          <p:nvPr/>
        </p:nvSpPr>
        <p:spPr bwMode="auto">
          <a:xfrm>
            <a:off x="755650" y="2420888"/>
            <a:ext cx="7556500" cy="3747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AutoNum type="arabicPeriod" startAt="2"/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进一步提高性能：多重失效下命中</a:t>
            </a:r>
            <a:endParaRPr kumimoji="1"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1085850" lvl="1" indent="-457200" eaLnBrk="1" hangingPunct="1">
              <a:lnSpc>
                <a:spcPct val="120000"/>
              </a:lnSpc>
              <a:spcBef>
                <a:spcPct val="20000"/>
              </a:spcBef>
              <a:buClr>
                <a:srgbClr val="40458C"/>
              </a:buClr>
              <a:buFont typeface="Wingdings" panose="05000000000000000000" pitchFamily="2" charset="2"/>
              <a:buChar char="Ø"/>
            </a:pPr>
            <a:r>
              <a:rPr lang="zh-CN" altLang="en-US" sz="2400" b="0" kern="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“多重失效下命中”</a:t>
            </a:r>
          </a:p>
          <a:p>
            <a:pPr marL="1085850" lvl="1" indent="-457200" eaLnBrk="1" hangingPunct="1">
              <a:lnSpc>
                <a:spcPct val="120000"/>
              </a:lnSpc>
              <a:spcBef>
                <a:spcPct val="20000"/>
              </a:spcBef>
              <a:buClr>
                <a:srgbClr val="40458C"/>
              </a:buClr>
              <a:buFont typeface="Wingdings" panose="05000000000000000000" pitchFamily="2" charset="2"/>
              <a:buChar char="Ø"/>
            </a:pPr>
            <a:r>
              <a:rPr lang="zh-CN" altLang="en-US" sz="2400" b="0" kern="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“失效下失效”</a:t>
            </a:r>
            <a:endParaRPr lang="en-US" altLang="zh-CN" sz="2400" b="0" kern="0" dirty="0">
              <a:solidFill>
                <a:srgbClr val="C00000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628650" lvl="1" indent="0" eaLnBrk="1" hangingPunct="1">
              <a:lnSpc>
                <a:spcPct val="120000"/>
              </a:lnSpc>
              <a:spcBef>
                <a:spcPct val="20000"/>
              </a:spcBef>
              <a:buClr>
                <a:srgbClr val="40458C"/>
              </a:buClr>
            </a:pPr>
            <a:r>
              <a:rPr lang="en-US" altLang="zh-CN" sz="2400" b="0" kern="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</a:t>
            </a:r>
            <a:r>
              <a:rPr lang="zh-CN" altLang="en-US" sz="2400" kern="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（存储器必须能够处理多个不命中）</a:t>
            </a:r>
          </a:p>
          <a:p>
            <a:pPr lvl="0" eaLnBrk="1" hangingPunct="1">
              <a:lnSpc>
                <a:spcPct val="120000"/>
              </a:lnSpc>
              <a:spcBef>
                <a:spcPct val="50000"/>
              </a:spcBef>
              <a:buFontTx/>
              <a:buAutoNum type="arabicPeriod" startAt="2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可以同时处理的不命中次数越多，所能带来的性能上的提高就越大。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50000"/>
              </a:spcBef>
              <a:buClr>
                <a:srgbClr val="40458C"/>
              </a:buClr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4.   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重叠失效个数对平均访问时间的影响</a:t>
            </a:r>
          </a:p>
        </p:txBody>
      </p:sp>
      <p:sp>
        <p:nvSpPr>
          <p:cNvPr id="73734" name="Rectangle 6"/>
          <p:cNvSpPr>
            <a:spLocks noChangeArrowheads="1"/>
          </p:cNvSpPr>
          <p:nvPr/>
        </p:nvSpPr>
        <p:spPr bwMode="auto">
          <a:xfrm>
            <a:off x="646113" y="231775"/>
            <a:ext cx="7381875" cy="6762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/>
          <a:p>
            <a:pPr algn="ctr">
              <a:defRPr/>
            </a:pPr>
            <a:r>
              <a:rPr lang="en-US" altLang="zh-CN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5.4.5 </a:t>
            </a:r>
            <a:r>
              <a:rPr lang="zh-CN" altLang="en-US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非阻塞</a:t>
            </a:r>
            <a:r>
              <a:rPr lang="en-US" altLang="zh-CN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sz="36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技术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7E11153-3AD3-6E11-33CC-5242ABAA1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85245A7-7D58-4DAA-867D-8F67C1DD736B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C820DF3-FF72-3DDC-D002-671199B0C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8DBFE1-0871-CC9D-4C4A-9A3E96B14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13072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0" y="260648"/>
            <a:ext cx="8964488" cy="5832648"/>
          </a:xfrm>
        </p:spPr>
        <p:txBody>
          <a:bodyPr/>
          <a:lstStyle/>
          <a:p>
            <a:pPr marL="0" lvl="1" indent="0" eaLnBrk="1" hangingPunct="1">
              <a:lnSpc>
                <a:spcPct val="120000"/>
              </a:lnSpc>
              <a:spcBef>
                <a:spcPct val="50000"/>
              </a:spcBef>
              <a:buNone/>
            </a:pPr>
            <a:r>
              <a:rPr kumimoji="1" lang="zh-CN" altLang="en-US" b="1" dirty="0">
                <a:solidFill>
                  <a:srgbClr val="003366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</a:t>
            </a:r>
            <a:r>
              <a:rPr kumimoji="1" lang="zh-CN" altLang="en-US" b="1" dirty="0">
                <a:solidFill>
                  <a:srgbClr val="003366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hlinkClick r:id="rId3" action="ppaction://hlinksldjump"/>
              </a:rPr>
              <a:t>模拟研究</a:t>
            </a:r>
            <a:endParaRPr kumimoji="1" lang="zh-CN" altLang="en-US" b="1" dirty="0">
              <a:solidFill>
                <a:srgbClr val="003366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非阻塞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的平均存储器等待时间（以周期为单位）与阻塞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平均存储器等待时间的比值</a:t>
            </a:r>
          </a:p>
          <a:p>
            <a:pPr lvl="2" indent="-3420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测试条件：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8K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直接映象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，块大小为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32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字节</a:t>
            </a:r>
          </a:p>
          <a:p>
            <a:pPr lvl="2" indent="-3420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测试程序：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SPEC92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14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个浮点程序，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个整数程序）</a:t>
            </a:r>
          </a:p>
          <a:p>
            <a:pPr lvl="2" indent="-3420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结果表明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endParaRPr lang="zh-CN" altLang="en-US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lvl="3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在重叠不命中个数为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64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的情况下</a:t>
            </a:r>
          </a:p>
          <a:p>
            <a:pPr lvl="3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浮点程序的平均比值分别为：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76%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51%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39%</a:t>
            </a:r>
          </a:p>
          <a:p>
            <a:pPr lvl="3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整数程序的平均比值则分别为：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81%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78%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78%</a:t>
            </a:r>
          </a:p>
          <a:p>
            <a:pPr lvl="2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对于整数程序来说，重叠次数对性能提高影响不大，简</a:t>
            </a:r>
          </a:p>
          <a:p>
            <a:pPr lvl="2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单的“一次不命中下命中”就几乎可以得到所有的好处。</a:t>
            </a:r>
          </a:p>
          <a:p>
            <a:pPr marL="12573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对非阻塞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的性能评价很难，因为存在重叠停顿时间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17906B5-BF1A-A964-7BE5-6F0D8ACEC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31AA23-F21E-437A-8291-90A7296907B2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F87C886-E1AB-D7AA-BEB8-45EC9FD04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FD74B1-023E-3AC1-7C45-C7F4FCE22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62142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DE243DCA-EAB2-4E70-9195-2EF7B89F6A12}"/>
              </a:ext>
            </a:extLst>
          </p:cNvPr>
          <p:cNvSpPr txBox="1">
            <a:spLocks noChangeArrowheads="1"/>
          </p:cNvSpPr>
          <p:nvPr/>
        </p:nvSpPr>
        <p:spPr>
          <a:xfrm>
            <a:off x="360363" y="24219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kumimoji="0"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5.4 </a:t>
            </a:r>
            <a:r>
              <a:rPr kumimoji="0"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减少</a:t>
            </a:r>
            <a:r>
              <a:rPr kumimoji="1" lang="en-US" altLang="zh-CN" sz="36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Cache</a:t>
            </a:r>
            <a:r>
              <a:rPr kumimoji="0"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失效开销的方法</a:t>
            </a:r>
          </a:p>
        </p:txBody>
      </p:sp>
      <p:sp>
        <p:nvSpPr>
          <p:cNvPr id="4" name="Rectangle 5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B136017-7D85-42DA-A5CE-69D14F569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960" y="2204864"/>
            <a:ext cx="5110336" cy="228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714500" indent="-4572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006600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2" indent="0" eaLnBrk="1" hangingPunct="1">
              <a:buNone/>
            </a:pPr>
            <a:r>
              <a:rPr lang="en-US" altLang="zh-CN" sz="2200" dirty="0">
                <a:solidFill>
                  <a:srgbClr val="D60093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en-US" sz="2200" dirty="0">
                <a:solidFill>
                  <a:srgbClr val="D60093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＋”号：</a:t>
            </a:r>
            <a:r>
              <a:rPr lang="zh-CN" altLang="en-US" sz="22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表示改进了相应指标。</a:t>
            </a:r>
          </a:p>
          <a:p>
            <a:pPr marL="0" lvl="2" indent="0" eaLnBrk="1" hangingPunct="1">
              <a:buNone/>
            </a:pPr>
            <a:r>
              <a:rPr lang="zh-CN" altLang="en-US" sz="2200" dirty="0">
                <a:solidFill>
                  <a:srgbClr val="D60093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“－”号：</a:t>
            </a:r>
            <a:r>
              <a:rPr lang="zh-CN" altLang="en-US" sz="22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表示它使该指标变差。</a:t>
            </a:r>
          </a:p>
          <a:p>
            <a:pPr marL="0" lvl="2" indent="0" eaLnBrk="1" hangingPunct="1">
              <a:buNone/>
            </a:pPr>
            <a:r>
              <a:rPr lang="zh-CN" altLang="en-US" sz="2200" dirty="0">
                <a:solidFill>
                  <a:srgbClr val="D60093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空格栏：</a:t>
            </a:r>
            <a:r>
              <a:rPr lang="zh-CN" altLang="en-US" sz="22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表示它对该指标无影响。</a:t>
            </a:r>
          </a:p>
          <a:p>
            <a:pPr marL="0" lvl="2" indent="0" eaLnBrk="1" hangingPunct="1">
              <a:buNone/>
            </a:pPr>
            <a:r>
              <a:rPr lang="zh-CN" altLang="en-US" sz="2200" dirty="0">
                <a:solidFill>
                  <a:srgbClr val="D60093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复杂性：</a:t>
            </a:r>
            <a:r>
              <a:rPr lang="en-US" altLang="zh-CN" sz="22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2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表示最容易，</a:t>
            </a:r>
            <a:r>
              <a:rPr lang="en-US" altLang="zh-CN" sz="22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2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表示最复杂。 </a:t>
            </a:r>
            <a:endParaRPr lang="zh-CN" altLang="sv-SE" sz="22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AutoNum type="arabicPeriod" startAt="3"/>
            </a:pPr>
            <a:endParaRPr lang="en-US" altLang="zh-CN" sz="22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41C0FB0-71AB-446E-9F37-2340A79DC440}"/>
              </a:ext>
            </a:extLst>
          </p:cNvPr>
          <p:cNvSpPr/>
          <p:nvPr/>
        </p:nvSpPr>
        <p:spPr>
          <a:xfrm>
            <a:off x="611560" y="1916832"/>
            <a:ext cx="4572000" cy="283808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写缓冲及写合并</a:t>
            </a: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让读失效优先于写</a:t>
            </a: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请求字处理</a:t>
            </a: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多级Cache</a:t>
            </a: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非阻塞Cache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0EB94D4-6DAC-64E6-F305-D75B9CDF0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23E2641-0A09-4FCF-90D1-133B52339EB1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3DD684-FD06-BF9A-B1F3-881D86F78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42A0FC-ABF9-7FAB-15F9-23036DE86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46348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0832" name="Group 128"/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4064501637"/>
              </p:ext>
            </p:extLst>
          </p:nvPr>
        </p:nvGraphicFramePr>
        <p:xfrm>
          <a:off x="179388" y="603250"/>
          <a:ext cx="8713787" cy="5120218"/>
        </p:xfrm>
        <a:graphic>
          <a:graphicData uri="http://schemas.openxmlformats.org/drawingml/2006/table">
            <a:tbl>
              <a:tblPr/>
              <a:tblGrid>
                <a:gridCol w="2160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91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257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2287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优化技术 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不命中率 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不命中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开销 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命中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时间 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硬件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复杂度 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说 明 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311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写缓冲写合并 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+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1  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与写直达合用，广泛应用，例如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21164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UltraSPARC Ⅲ 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904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使读失效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优先于写 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+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1 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在单处理机上实现容易，被广泛采用 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87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请求字处理 </a:t>
                      </a:r>
                    </a:p>
                  </a:txBody>
                  <a:tcPr marT="45686" marB="456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+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2 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被广泛采用 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87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2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两级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Cache </a:t>
                      </a:r>
                    </a:p>
                  </a:txBody>
                  <a:tcPr marT="45698" marB="4569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2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2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+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2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2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2 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硬件代价大；两级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Cache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的块大小不同时实现困难；被广泛采用 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287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非阻塞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Cache 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+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3 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在支持乱序执行的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CPU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中使用 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3727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0720879"/>
      </p:ext>
    </p:extLst>
  </p:cSld>
  <p:clrMapOvr>
    <a:masterClrMapping/>
  </p:clrMapOvr>
  <p:transition>
    <p:pull dir="r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/>
          </p:nvPr>
        </p:nvSpPr>
        <p:spPr>
          <a:xfrm>
            <a:off x="539552" y="188640"/>
            <a:ext cx="8229600" cy="1143000"/>
          </a:xfrm>
        </p:spPr>
        <p:txBody>
          <a:bodyPr/>
          <a:lstStyle/>
          <a:p>
            <a:r>
              <a:rPr kumimoji="1" lang="en-US" altLang="zh-CN" sz="3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5.5 </a:t>
            </a:r>
            <a:r>
              <a:rPr kumimoji="1" lang="zh-CN" altLang="en-US" sz="3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减少命中时间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683568" y="1772816"/>
            <a:ext cx="7343775" cy="153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kumimoji="1" lang="en-US" altLang="zh-CN" sz="2800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    </a:t>
            </a:r>
            <a:r>
              <a:rPr kumimoji="1"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命中时间直接影响到处理器的时钟频率。</a:t>
            </a:r>
            <a:endParaRPr kumimoji="1" lang="en-US" altLang="zh-CN" sz="2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r>
              <a:rPr kumimoji="1"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在当今的许多计算机中，往往是</a:t>
            </a:r>
            <a:r>
              <a:rPr kumimoji="1"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的访问时间限制了处理器的时钟频率。</a:t>
            </a:r>
            <a:endParaRPr kumimoji="1" lang="zh-CN" altLang="en-US" sz="2800" b="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AABD5E1-AFD9-356F-2AE9-EC992AC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D9BDB33-3B44-4D23-8888-C06A1CB6E467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E682EAA-28B1-7896-E0F4-5EC023FC7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79781AB-F61A-ED3B-D299-BC20C0CFA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42159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2051720" y="3520998"/>
            <a:ext cx="53975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5.4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 多体</a:t>
            </a: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Cache</a:t>
            </a:r>
            <a:endParaRPr lang="zh-CN" altLang="en-US" sz="3000" dirty="0"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1318938" y="2185324"/>
            <a:ext cx="718631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471488" lvl="1" indent="250825"/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5.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2 虚拟化</a:t>
            </a: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Cache</a:t>
            </a:r>
            <a:endParaRPr lang="zh-CN" altLang="en-US" sz="3000" dirty="0"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1334540" y="1515577"/>
            <a:ext cx="683186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471488" indent="250825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lvl="1">
              <a:buFont typeface="Wingdings" pitchFamily="2" charset="2"/>
              <a:buNone/>
            </a:pP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5.5.1 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容量小、结构简单</a:t>
            </a: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Cache</a:t>
            </a:r>
            <a:endParaRPr lang="zh-CN" altLang="en-US" sz="3000" dirty="0"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A3DE16BF-B491-46C4-B73A-E76A9AE48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3067" y="4840328"/>
            <a:ext cx="53975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5.6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Trace Cache</a:t>
            </a:r>
            <a:endParaRPr lang="zh-CN" altLang="en-US" sz="3000" dirty="0"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5F44A32E-CAE3-4B48-9FB5-D7A66EF39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670" y="260648"/>
            <a:ext cx="8229600" cy="1143000"/>
          </a:xfrm>
        </p:spPr>
        <p:txBody>
          <a:bodyPr/>
          <a:lstStyle/>
          <a:p>
            <a:r>
              <a:rPr kumimoji="1" lang="en-US" altLang="zh-CN" sz="3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5.5 </a:t>
            </a:r>
            <a:r>
              <a:rPr kumimoji="1" lang="zh-CN" altLang="en-US" sz="3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减少命中时间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32D55AAB-C600-4B5D-A1DC-834ED6F7C1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0951" y="2844989"/>
            <a:ext cx="718631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471488" lvl="1" indent="250825"/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5.3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 访问流水化</a:t>
            </a: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D914DAEB-2692-4213-A5CA-DCC11834C9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720" y="4187137"/>
            <a:ext cx="53975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5.5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 路预测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CC14654-719C-7182-B831-3075A38A5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9E2D40B-DD88-4E7A-8879-5E2BA00C8A97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8FA2C6D-9248-C437-5BC3-3313B38CB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E7A913-E9A9-AD7E-51E6-FF128A429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9479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3"/>
          <p:cNvSpPr txBox="1">
            <a:spLocks noChangeArrowheads="1"/>
          </p:cNvSpPr>
          <p:nvPr/>
        </p:nvSpPr>
        <p:spPr bwMode="auto">
          <a:xfrm>
            <a:off x="711689" y="1841389"/>
            <a:ext cx="7576606" cy="940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457200" indent="-457200" algn="just" eaLnBrk="1" hangingPunct="1">
              <a:lnSpc>
                <a:spcPct val="120000"/>
              </a:lnSpc>
              <a:defRPr sz="240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defRPr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Verdana" panose="020B0604030504040204" pitchFamily="34" charset="0"/>
              </a:defRPr>
            </a:lvl9pPr>
          </a:lstStyle>
          <a:p>
            <a:r>
              <a:rPr lang="en-US" altLang="zh-CN" dirty="0"/>
              <a:t>2. </a:t>
            </a:r>
            <a:r>
              <a:rPr lang="zh-CN" altLang="en-US" dirty="0"/>
              <a:t>应使</a:t>
            </a:r>
            <a:r>
              <a:rPr lang="en-US" altLang="zh-CN" dirty="0"/>
              <a:t>Cache</a:t>
            </a:r>
            <a:r>
              <a:rPr lang="zh-CN" altLang="en-US" dirty="0"/>
              <a:t>足够小，以便可以与</a:t>
            </a:r>
            <a:r>
              <a:rPr lang="en-US" altLang="zh-CN" dirty="0"/>
              <a:t>CPU</a:t>
            </a:r>
            <a:r>
              <a:rPr lang="zh-CN" altLang="zh-CN" dirty="0"/>
              <a:t>一起放</a:t>
            </a:r>
            <a:r>
              <a:rPr lang="zh-CN" altLang="en-US" dirty="0"/>
              <a:t>在同一块芯片上。</a:t>
            </a:r>
          </a:p>
        </p:txBody>
      </p:sp>
      <p:sp>
        <p:nvSpPr>
          <p:cNvPr id="22532" name="Text Box 5"/>
          <p:cNvSpPr txBox="1">
            <a:spLocks noChangeArrowheads="1"/>
          </p:cNvSpPr>
          <p:nvPr/>
        </p:nvSpPr>
        <p:spPr bwMode="auto">
          <a:xfrm>
            <a:off x="739810" y="1143300"/>
            <a:ext cx="5638800" cy="55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硬件越简单，速度就越快；</a:t>
            </a:r>
            <a:endParaRPr kumimoji="1" lang="zh-CN" altLang="en-US" sz="2400" b="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390364" y="9675"/>
            <a:ext cx="8363272" cy="11430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defRPr/>
            </a:pPr>
            <a:r>
              <a:rPr kumimoji="1" lang="en-US" altLang="zh-CN" sz="3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5.5.1 </a:t>
            </a:r>
            <a:r>
              <a:rPr kumimoji="1" lang="zh-CN" altLang="en-US" sz="3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容量小、结构简单的</a:t>
            </a:r>
            <a:r>
              <a:rPr kumimoji="1" lang="en-US" altLang="zh-CN" sz="3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endParaRPr kumimoji="1" lang="zh-CN" altLang="en-US" sz="36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711688" y="2855469"/>
            <a:ext cx="7692501" cy="1384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algn="just" eaLnBrk="1" hangingPunct="1">
              <a:lnSpc>
                <a:spcPct val="12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3.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一种折中方案：把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的标识放在片内，而把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的数据存储器放在片外，这样既可以实现快速标识检测，又能利用独立的存储芯片来提供更大的容量。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711688" y="4581128"/>
            <a:ext cx="7863809" cy="55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lnSpc>
                <a:spcPct val="14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4.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多级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，一级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大多采用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路组相联或直接映像。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D99EE48-E61D-09C7-D03E-FF1A066A3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47D639-79D4-474A-98C4-3A895BAB5CE1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EB6CC0-04C7-5634-5DBF-9660DD566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ED187E-3270-685A-C73E-428114D7B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1385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866" name="Picture 4" descr="5-26">
            <a:hlinkClick r:id="rId3" action="ppaction://hlinksldjump"/>
            <a:extLst>
              <a:ext uri="{FF2B5EF4-FFF2-40B4-BE49-F238E27FC236}">
                <a16:creationId xmlns:a16="http://schemas.microsoft.com/office/drawing/2014/main" id="{D3221C49-2CA6-4936-B1CF-F6B35084A50D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1520" y="404664"/>
            <a:ext cx="8271102" cy="5321771"/>
          </a:xfrm>
          <a:noFill/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CD81973-56DB-486A-85E9-6CC648370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FC46B26-ABE9-46BD-B243-A51F44470462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B91349E-0EDD-F874-35DE-A8EF87FD4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FA8E78-484D-968D-BD3D-C10FBF598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54678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938" name="Picture 4" descr="5-25">
            <a:hlinkClick r:id="rId3" action="ppaction://hlinksldjump"/>
            <a:extLst>
              <a:ext uri="{FF2B5EF4-FFF2-40B4-BE49-F238E27FC236}">
                <a16:creationId xmlns:a16="http://schemas.microsoft.com/office/drawing/2014/main" id="{BE944761-077C-47D4-A291-5FB32D63ADAD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5831" y="836712"/>
            <a:ext cx="7272337" cy="4678363"/>
          </a:xfrm>
          <a:noFill/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29A1109-C305-E248-7B20-4C5B0BE24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F9114A-8626-4F93-B24D-8E240AAF723E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52B7731-4B9A-F3CA-CC60-90D7BB1CE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AEA4DD-9BC9-6E76-6FB6-18537BC88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75713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4">
            <a:hlinkClick r:id="rId2" action="ppaction://hlinksldjump"/>
            <a:extLst>
              <a:ext uri="{FF2B5EF4-FFF2-40B4-BE49-F238E27FC236}">
                <a16:creationId xmlns:a16="http://schemas.microsoft.com/office/drawing/2014/main" id="{1FC5DA6B-0255-4EAA-A138-ADB8FA563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7711769-896D-5509-A6BC-E6F864E50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CCD8F9E-0D67-4847-AAD5-11B581545716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1B6FF5B-16D2-C6E6-9BDA-FE8EEA398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FD1EB9-118E-CDE8-2C9B-0557197EC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86625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1971" name="Object 2">
            <a:hlinkClick r:id="rId3" action="ppaction://hlinksldjump"/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870985" y="620688"/>
          <a:ext cx="7402030" cy="5472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4" imgW="3794989" imgH="2811894" progId="Word.Picture.8">
                  <p:embed/>
                </p:oleObj>
              </mc:Choice>
              <mc:Fallback>
                <p:oleObj name="图片" r:id="rId4" imgW="3794989" imgH="2811894" progId="Word.Picture.8">
                  <p:embed/>
                  <p:pic>
                    <p:nvPicPr>
                      <p:cNvPr id="211971" name="Object 2">
                        <a:hlinkClick r:id="rId3" action="ppaction://hlinksldjump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0985" y="620688"/>
                        <a:ext cx="7402030" cy="5472608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5614C0A-43F0-7357-83C6-1361EDAD2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DAEC85A-1A81-4EF0-AF08-BF9F51871EC6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5324E95-FED5-B6CF-E8B2-BE8EA8C66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E67DAB-83A8-50CA-2926-E0B391637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82605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39552" y="476672"/>
            <a:ext cx="7848600" cy="1384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当第二级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比第一级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大得多时，两级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 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全局失效率与容量和第二级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en-US" altLang="zh-CN" b="0" dirty="0"/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相同的单级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失效率非常接近。</a:t>
            </a:r>
          </a:p>
        </p:txBody>
      </p:sp>
      <p:pic>
        <p:nvPicPr>
          <p:cNvPr id="6" name="Picture 2" descr="Ch5-fig10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063" y="2276872"/>
            <a:ext cx="8160089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15D8748-12F9-CF57-54DB-65A00F24A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694DCEF-2DC1-4B0A-984F-4F7D55E623D1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20A0044-6877-ECDE-AA47-8B25EE31E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7FC680-7237-EFCF-17C6-0DD791450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95530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hlinkClick r:id="rId2" action="ppaction://hlinksldjump"/>
            <a:extLst>
              <a:ext uri="{FF2B5EF4-FFF2-40B4-BE49-F238E27FC236}">
                <a16:creationId xmlns:a16="http://schemas.microsoft.com/office/drawing/2014/main" id="{9ED3B245-1407-4AC6-BDF5-B6287B809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BAFC92F-EC69-38A7-F04F-B48B8F4F8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9A3D9AD-E599-46D8-BC97-B2ABD224DF76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1F71767-B87A-4DA2-E26F-BF4C00829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65D1AA3-2279-7E7B-CB88-F471A2D6C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94036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5-27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3" y="277813"/>
            <a:ext cx="7643812" cy="624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E84709D-58F8-1134-2861-B6E725D0C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A3C44EA-34BE-41E6-8F66-69DFB0E98C0B}" type="datetime1">
              <a:rPr lang="zh-CN" altLang="en-US" smtClean="0"/>
              <a:t>2025/11/6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A4A25B8-3509-887E-00F2-1A003BA8E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BEABC3-A827-9CC4-D3B4-DF0080D0F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3800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13145</TotalTime>
  <Words>2628</Words>
  <Application>Microsoft Office PowerPoint</Application>
  <PresentationFormat>全屏显示(4:3)</PresentationFormat>
  <Paragraphs>341</Paragraphs>
  <Slides>32</Slides>
  <Notes>21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2" baseType="lpstr">
      <vt:lpstr>黑体</vt:lpstr>
      <vt:lpstr>华文中宋</vt:lpstr>
      <vt:lpstr>宋体</vt:lpstr>
      <vt:lpstr>Arial</vt:lpstr>
      <vt:lpstr>Calibri</vt:lpstr>
      <vt:lpstr>Tahoma</vt:lpstr>
      <vt:lpstr>Times New Roman</vt:lpstr>
      <vt:lpstr>Wingdings</vt:lpstr>
      <vt:lpstr>Office 主题​​</vt:lpstr>
      <vt:lpstr>图片</vt:lpstr>
      <vt:lpstr>计算机体系结构</vt:lpstr>
      <vt:lpstr>Recap</vt:lpstr>
      <vt:lpstr>5.4 减少Cache失效开销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5.5 减少命中时间</vt:lpstr>
      <vt:lpstr>5.5 减少命中时间</vt:lpstr>
      <vt:lpstr>5.5.1 容量小、结构简单的Cache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suzi</dc:creator>
  <cp:lastModifiedBy>hw liu</cp:lastModifiedBy>
  <cp:revision>2168</cp:revision>
  <cp:lastPrinted>2022-11-26T03:08:32Z</cp:lastPrinted>
  <dcterms:created xsi:type="dcterms:W3CDTF">2113-01-01T00:00:00Z</dcterms:created>
  <dcterms:modified xsi:type="dcterms:W3CDTF">2025-11-06T06:04:33Z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2052-10.1.0.7520</vt:lpwstr>
  </property>
</Properties>
</file>