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handoutMasterIdLst>
    <p:handoutMasterId r:id="rId50"/>
  </p:handoutMasterIdLst>
  <p:sldIdLst>
    <p:sldId id="256" r:id="rId2"/>
    <p:sldId id="1033" r:id="rId3"/>
    <p:sldId id="1042" r:id="rId4"/>
    <p:sldId id="1525" r:id="rId5"/>
    <p:sldId id="1526" r:id="rId6"/>
    <p:sldId id="1527" r:id="rId7"/>
    <p:sldId id="1528" r:id="rId8"/>
    <p:sldId id="1529" r:id="rId9"/>
    <p:sldId id="1530" r:id="rId10"/>
    <p:sldId id="1531" r:id="rId11"/>
    <p:sldId id="1532" r:id="rId12"/>
    <p:sldId id="1533" r:id="rId13"/>
    <p:sldId id="1534" r:id="rId14"/>
    <p:sldId id="1447" r:id="rId15"/>
    <p:sldId id="1448" r:id="rId16"/>
    <p:sldId id="1449" r:id="rId17"/>
    <p:sldId id="1450" r:id="rId18"/>
    <p:sldId id="1451" r:id="rId19"/>
    <p:sldId id="1452" r:id="rId20"/>
    <p:sldId id="1453" r:id="rId21"/>
    <p:sldId id="1454" r:id="rId22"/>
    <p:sldId id="1455" r:id="rId23"/>
    <p:sldId id="1456" r:id="rId24"/>
    <p:sldId id="1549" r:id="rId25"/>
    <p:sldId id="1396" r:id="rId26"/>
    <p:sldId id="1397" r:id="rId27"/>
    <p:sldId id="1460" r:id="rId28"/>
    <p:sldId id="1461" r:id="rId29"/>
    <p:sldId id="1462" r:id="rId30"/>
    <p:sldId id="1463" r:id="rId31"/>
    <p:sldId id="1464" r:id="rId32"/>
    <p:sldId id="1465" r:id="rId33"/>
    <p:sldId id="1562" r:id="rId34"/>
    <p:sldId id="1563" r:id="rId35"/>
    <p:sldId id="1537" r:id="rId36"/>
    <p:sldId id="1538" r:id="rId37"/>
    <p:sldId id="1539" r:id="rId38"/>
    <p:sldId id="1540" r:id="rId39"/>
    <p:sldId id="1541" r:id="rId40"/>
    <p:sldId id="426" r:id="rId41"/>
    <p:sldId id="1542" r:id="rId42"/>
    <p:sldId id="1543" r:id="rId43"/>
    <p:sldId id="1544" r:id="rId44"/>
    <p:sldId id="1545" r:id="rId45"/>
    <p:sldId id="1546" r:id="rId46"/>
    <p:sldId id="1547" r:id="rId47"/>
    <p:sldId id="1548" r:id="rId48"/>
  </p:sldIdLst>
  <p:sldSz cx="9144000" cy="6858000" type="screen4x3"/>
  <p:notesSz cx="7099300" cy="10234613"/>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66FF"/>
    <a:srgbClr val="0033CC"/>
    <a:srgbClr val="003399"/>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0735" autoAdjust="0"/>
  </p:normalViewPr>
  <p:slideViewPr>
    <p:cSldViewPr>
      <p:cViewPr varScale="1">
        <p:scale>
          <a:sx n="76" d="100"/>
          <a:sy n="76" d="100"/>
        </p:scale>
        <p:origin x="1413" y="3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42" d="100"/>
        <a:sy n="142" d="100"/>
      </p:scale>
      <p:origin x="0" y="-884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2025/9/25</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9048" tIns="49524" rIns="99048" bIns="49524"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3236276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3167289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1</a:t>
            </a:fld>
            <a:endParaRPr lang="en-US" altLang="zh-CN"/>
          </a:p>
        </p:txBody>
      </p:sp>
    </p:spTree>
    <p:extLst>
      <p:ext uri="{BB962C8B-B14F-4D97-AF65-F5344CB8AC3E}">
        <p14:creationId xmlns:p14="http://schemas.microsoft.com/office/powerpoint/2010/main" val="1003212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FD14F3C-0AA2-42A0-9329-A493FA250923}" type="slidenum">
              <a:rPr lang="en-US" altLang="zh-CN" smtClean="0">
                <a:latin typeface="Arial" pitchFamily="34" charset="0"/>
              </a:rPr>
              <a:pPr eaLnBrk="1" fontAlgn="base" hangingPunct="1">
                <a:spcBef>
                  <a:spcPct val="0"/>
                </a:spcBef>
                <a:spcAft>
                  <a:spcPct val="0"/>
                </a:spcAft>
              </a:pPr>
              <a:t>4</a:t>
            </a:fld>
            <a:endParaRPr lang="en-US" altLang="zh-CN">
              <a:latin typeface="Arial" pitchFamily="34" charset="0"/>
            </a:endParaRPr>
          </a:p>
        </p:txBody>
      </p:sp>
      <p:sp>
        <p:nvSpPr>
          <p:cNvPr id="778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989822CD-2EDD-462D-B04B-C657ECC44D21}" type="slidenum">
              <a:rPr lang="en-US" altLang="zh-CN" smtClean="0">
                <a:latin typeface="Arial" pitchFamily="34" charset="0"/>
              </a:rPr>
              <a:pPr eaLnBrk="1" fontAlgn="base" hangingPunct="1">
                <a:spcBef>
                  <a:spcPct val="0"/>
                </a:spcBef>
                <a:spcAft>
                  <a:spcPct val="0"/>
                </a:spcAft>
              </a:pPr>
              <a:t>5</a:t>
            </a:fld>
            <a:endParaRPr lang="en-US" altLang="zh-CN">
              <a:latin typeface="Arial" pitchFamily="34" charset="0"/>
            </a:endParaRPr>
          </a:p>
        </p:txBody>
      </p:sp>
      <p:sp>
        <p:nvSpPr>
          <p:cNvPr id="788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FDCE210-4EF7-4750-9F43-0B92CD2518B7}" type="slidenum">
              <a:rPr lang="en-US" altLang="zh-CN" smtClean="0">
                <a:latin typeface="Arial" pitchFamily="34" charset="0"/>
              </a:rPr>
              <a:pPr eaLnBrk="1" fontAlgn="base" hangingPunct="1">
                <a:spcBef>
                  <a:spcPct val="0"/>
                </a:spcBef>
                <a:spcAft>
                  <a:spcPct val="0"/>
                </a:spcAft>
              </a:pPr>
              <a:t>6</a:t>
            </a:fld>
            <a:endParaRPr lang="en-US" altLang="zh-CN">
              <a:latin typeface="Arial" pitchFamily="34" charset="0"/>
            </a:endParaRPr>
          </a:p>
        </p:txBody>
      </p:sp>
      <p:sp>
        <p:nvSpPr>
          <p:cNvPr id="798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A48DEA9C-83F1-4858-81DE-85FCF6DE0BFD}" type="slidenum">
              <a:rPr lang="en-US" altLang="zh-CN" smtClean="0">
                <a:latin typeface="Arial" pitchFamily="34" charset="0"/>
              </a:rPr>
              <a:pPr eaLnBrk="1" fontAlgn="base" hangingPunct="1">
                <a:spcBef>
                  <a:spcPct val="0"/>
                </a:spcBef>
                <a:spcAft>
                  <a:spcPct val="0"/>
                </a:spcAft>
              </a:pPr>
              <a:t>7</a:t>
            </a:fld>
            <a:endParaRPr lang="en-US" altLang="zh-CN">
              <a:latin typeface="Arial" pitchFamily="34" charset="0"/>
            </a:endParaRPr>
          </a:p>
        </p:txBody>
      </p:sp>
      <p:sp>
        <p:nvSpPr>
          <p:cNvPr id="808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9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8</a:t>
            </a:fld>
            <a:endParaRPr lang="en-US" altLang="zh-CN"/>
          </a:p>
        </p:txBody>
      </p:sp>
    </p:spTree>
    <p:extLst>
      <p:ext uri="{BB962C8B-B14F-4D97-AF65-F5344CB8AC3E}">
        <p14:creationId xmlns:p14="http://schemas.microsoft.com/office/powerpoint/2010/main" val="2818987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2D53AFFE-4D40-45B7-9869-A261DE854A05}" type="slidenum">
              <a:rPr lang="en-US" altLang="zh-CN" smtClean="0">
                <a:latin typeface="Arial" pitchFamily="34" charset="0"/>
              </a:rPr>
              <a:pPr eaLnBrk="1" fontAlgn="base" hangingPunct="1">
                <a:spcBef>
                  <a:spcPct val="0"/>
                </a:spcBef>
                <a:spcAft>
                  <a:spcPct val="0"/>
                </a:spcAft>
              </a:pPr>
              <a:t>9</a:t>
            </a:fld>
            <a:endParaRPr lang="en-US" altLang="zh-CN">
              <a:latin typeface="Arial" pitchFamily="34" charset="0"/>
            </a:endParaRPr>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507B9489-1575-46A7-8EDA-6B62F91EFBB8}" type="slidenum">
              <a:rPr lang="en-US" altLang="zh-CN" smtClean="0">
                <a:latin typeface="Arial" pitchFamily="34" charset="0"/>
              </a:rPr>
              <a:pPr eaLnBrk="1" fontAlgn="base" hangingPunct="1">
                <a:spcBef>
                  <a:spcPct val="0"/>
                </a:spcBef>
                <a:spcAft>
                  <a:spcPct val="0"/>
                </a:spcAft>
              </a:pPr>
              <a:t>10</a:t>
            </a:fld>
            <a:endParaRPr lang="en-US" altLang="zh-CN">
              <a:latin typeface="Arial" pitchFamily="34" charset="0"/>
            </a:endParaRPr>
          </a:p>
        </p:txBody>
      </p:sp>
      <p:sp>
        <p:nvSpPr>
          <p:cNvPr id="829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D6687E0E-FF9D-4DE2-822D-2F0FC9F24948}" type="slidenum">
              <a:rPr lang="en-US" altLang="zh-CN" smtClean="0">
                <a:latin typeface="Arial" pitchFamily="34" charset="0"/>
              </a:rPr>
              <a:pPr eaLnBrk="1" fontAlgn="base" hangingPunct="1">
                <a:spcBef>
                  <a:spcPct val="0"/>
                </a:spcBef>
                <a:spcAft>
                  <a:spcPct val="0"/>
                </a:spcAft>
              </a:pPr>
              <a:t>11</a:t>
            </a:fld>
            <a:endParaRPr lang="en-US" altLang="zh-CN">
              <a:latin typeface="Arial" pitchFamily="34" charset="0"/>
            </a:endParaRPr>
          </a:p>
        </p:txBody>
      </p:sp>
      <p:sp>
        <p:nvSpPr>
          <p:cNvPr id="839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E9B45B88-9280-41FC-8BB6-B6B6FAA2038F}" type="slidenum">
              <a:rPr lang="en-US" altLang="zh-CN" smtClean="0">
                <a:latin typeface="Arial" pitchFamily="34" charset="0"/>
              </a:rPr>
              <a:pPr eaLnBrk="1" fontAlgn="base" hangingPunct="1">
                <a:spcBef>
                  <a:spcPct val="0"/>
                </a:spcBef>
                <a:spcAft>
                  <a:spcPct val="0"/>
                </a:spcAft>
              </a:pPr>
              <a:t>12</a:t>
            </a:fld>
            <a:endParaRPr lang="en-US" altLang="zh-CN">
              <a:latin typeface="Arial" pitchFamily="34" charset="0"/>
            </a:endParaRPr>
          </a:p>
        </p:txBody>
      </p:sp>
      <p:sp>
        <p:nvSpPr>
          <p:cNvPr id="849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199725AF-68FB-4097-B79D-4C41802A68CF}" type="slidenum">
              <a:rPr lang="en-US" altLang="zh-CN" smtClean="0">
                <a:latin typeface="Arial" pitchFamily="34" charset="0"/>
              </a:rPr>
              <a:pPr eaLnBrk="1" fontAlgn="base" hangingPunct="1">
                <a:spcBef>
                  <a:spcPct val="0"/>
                </a:spcBef>
                <a:spcAft>
                  <a:spcPct val="0"/>
                </a:spcAft>
              </a:pPr>
              <a:t>13</a:t>
            </a:fld>
            <a:endParaRPr lang="en-US" altLang="zh-CN">
              <a:latin typeface="Arial" pitchFamily="34" charset="0"/>
            </a:endParaRPr>
          </a:p>
        </p:txBody>
      </p:sp>
      <p:sp>
        <p:nvSpPr>
          <p:cNvPr id="860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989822CD-2EDD-462D-B04B-C657ECC44D21}" type="slidenum">
              <a:rPr lang="en-US" altLang="zh-CN" smtClean="0">
                <a:latin typeface="Arial" pitchFamily="34" charset="0"/>
              </a:rPr>
              <a:pPr eaLnBrk="1" fontAlgn="base" hangingPunct="1">
                <a:spcBef>
                  <a:spcPct val="0"/>
                </a:spcBef>
                <a:spcAft>
                  <a:spcPct val="0"/>
                </a:spcAft>
              </a:pPr>
              <a:t>14</a:t>
            </a:fld>
            <a:endParaRPr lang="en-US" altLang="zh-CN">
              <a:latin typeface="Arial" pitchFamily="34" charset="0"/>
            </a:endParaRPr>
          </a:p>
        </p:txBody>
      </p:sp>
      <p:sp>
        <p:nvSpPr>
          <p:cNvPr id="788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4E2AA988-33BC-47D1-9F6B-53572D8D95B9}" type="slidenum">
              <a:rPr lang="en-US" altLang="zh-CN" smtClean="0">
                <a:latin typeface="Arial" pitchFamily="34" charset="0"/>
              </a:rPr>
              <a:pPr eaLnBrk="1" fontAlgn="base" hangingPunct="1">
                <a:spcBef>
                  <a:spcPct val="0"/>
                </a:spcBef>
                <a:spcAft>
                  <a:spcPct val="0"/>
                </a:spcAft>
              </a:pPr>
              <a:t>15</a:t>
            </a:fld>
            <a:endParaRPr lang="en-US" altLang="zh-CN">
              <a:latin typeface="Arial" pitchFamily="34" charset="0"/>
            </a:endParaRPr>
          </a:p>
        </p:txBody>
      </p:sp>
      <p:sp>
        <p:nvSpPr>
          <p:cNvPr id="870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E807F5E9-ACFA-4D9A-A198-46ED738E3F3A}" type="slidenum">
              <a:rPr lang="en-US" altLang="zh-CN" smtClean="0">
                <a:latin typeface="Arial" pitchFamily="34" charset="0"/>
              </a:rPr>
              <a:pPr eaLnBrk="1" fontAlgn="base" hangingPunct="1">
                <a:spcBef>
                  <a:spcPct val="0"/>
                </a:spcBef>
                <a:spcAft>
                  <a:spcPct val="0"/>
                </a:spcAft>
              </a:pPr>
              <a:t>16</a:t>
            </a:fld>
            <a:endParaRPr lang="en-US" altLang="zh-CN">
              <a:latin typeface="Arial" pitchFamily="34" charset="0"/>
            </a:endParaRPr>
          </a:p>
        </p:txBody>
      </p:sp>
      <p:sp>
        <p:nvSpPr>
          <p:cNvPr id="880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2D6A9B85-F2EF-41EE-9F77-82941AFE0983}" type="slidenum">
              <a:rPr lang="en-US" altLang="zh-CN" smtClean="0">
                <a:latin typeface="Arial" pitchFamily="34" charset="0"/>
              </a:rPr>
              <a:pPr eaLnBrk="1" fontAlgn="base" hangingPunct="1">
                <a:spcBef>
                  <a:spcPct val="0"/>
                </a:spcBef>
                <a:spcAft>
                  <a:spcPct val="0"/>
                </a:spcAft>
              </a:pPr>
              <a:t>17</a:t>
            </a:fld>
            <a:endParaRPr lang="en-US" altLang="zh-CN">
              <a:latin typeface="Arial" pitchFamily="34" charset="0"/>
            </a:endParaRPr>
          </a:p>
        </p:txBody>
      </p:sp>
      <p:sp>
        <p:nvSpPr>
          <p:cNvPr id="890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A1A9001-B939-462B-A66A-C4806CF9E0DA}" type="slidenum">
              <a:rPr lang="en-US" altLang="zh-CN" smtClean="0">
                <a:latin typeface="Arial" pitchFamily="34" charset="0"/>
              </a:rPr>
              <a:pPr eaLnBrk="1" fontAlgn="base" hangingPunct="1">
                <a:spcBef>
                  <a:spcPct val="0"/>
                </a:spcBef>
                <a:spcAft>
                  <a:spcPct val="0"/>
                </a:spcAft>
              </a:pPr>
              <a:t>18</a:t>
            </a:fld>
            <a:endParaRPr lang="en-US" altLang="zh-CN">
              <a:latin typeface="Arial" pitchFamily="34" charset="0"/>
            </a:endParaRPr>
          </a:p>
        </p:txBody>
      </p:sp>
      <p:sp>
        <p:nvSpPr>
          <p:cNvPr id="901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8305E1F1-1CA0-4DD2-A5B9-3F0B4712AFED}" type="slidenum">
              <a:rPr lang="en-US" altLang="zh-CN" smtClean="0">
                <a:latin typeface="Arial" pitchFamily="34" charset="0"/>
              </a:rPr>
              <a:pPr eaLnBrk="1" fontAlgn="base" hangingPunct="1">
                <a:spcBef>
                  <a:spcPct val="0"/>
                </a:spcBef>
                <a:spcAft>
                  <a:spcPct val="0"/>
                </a:spcAft>
              </a:pPr>
              <a:t>19</a:t>
            </a:fld>
            <a:endParaRPr lang="en-US" altLang="zh-CN">
              <a:latin typeface="Arial" pitchFamily="34" charset="0"/>
            </a:endParaRPr>
          </a:p>
        </p:txBody>
      </p:sp>
      <p:sp>
        <p:nvSpPr>
          <p:cNvPr id="911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148253DB-17F2-4EA2-B9B8-F21ACC6174F7}" type="slidenum">
              <a:rPr lang="en-US" altLang="zh-CN" smtClean="0">
                <a:latin typeface="Arial" pitchFamily="34" charset="0"/>
              </a:rPr>
              <a:pPr eaLnBrk="1" fontAlgn="base" hangingPunct="1">
                <a:spcBef>
                  <a:spcPct val="0"/>
                </a:spcBef>
                <a:spcAft>
                  <a:spcPct val="0"/>
                </a:spcAft>
              </a:pPr>
              <a:t>20</a:t>
            </a:fld>
            <a:endParaRPr lang="en-US" altLang="zh-CN">
              <a:latin typeface="Arial" pitchFamily="34" charset="0"/>
            </a:endParaRPr>
          </a:p>
        </p:txBody>
      </p:sp>
      <p:sp>
        <p:nvSpPr>
          <p:cNvPr id="921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83CDB8F-3B97-490E-9F43-BE422A9FCCEB}" type="slidenum">
              <a:rPr lang="en-US" altLang="zh-CN" smtClean="0">
                <a:latin typeface="Arial" pitchFamily="34" charset="0"/>
              </a:rPr>
              <a:pPr eaLnBrk="1" fontAlgn="base" hangingPunct="1">
                <a:spcBef>
                  <a:spcPct val="0"/>
                </a:spcBef>
                <a:spcAft>
                  <a:spcPct val="0"/>
                </a:spcAft>
              </a:pPr>
              <a:t>22</a:t>
            </a:fld>
            <a:endParaRPr lang="en-US" altLang="zh-CN">
              <a:latin typeface="Arial" pitchFamily="34" charset="0"/>
            </a:endParaRPr>
          </a:p>
        </p:txBody>
      </p:sp>
      <p:sp>
        <p:nvSpPr>
          <p:cNvPr id="931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73E8B69-6558-45F0-8866-0B219EF5D732}" type="slidenum">
              <a:rPr lang="en-US" altLang="zh-CN" smtClean="0">
                <a:latin typeface="Arial" pitchFamily="34" charset="0"/>
              </a:rPr>
              <a:pPr eaLnBrk="1" fontAlgn="base" hangingPunct="1">
                <a:spcBef>
                  <a:spcPct val="0"/>
                </a:spcBef>
                <a:spcAft>
                  <a:spcPct val="0"/>
                </a:spcAft>
              </a:pPr>
              <a:t>24</a:t>
            </a:fld>
            <a:endParaRPr lang="en-US" altLang="zh-CN">
              <a:latin typeface="Arial" pitchFamily="34" charset="0"/>
            </a:endParaRPr>
          </a:p>
        </p:txBody>
      </p:sp>
      <p:sp>
        <p:nvSpPr>
          <p:cNvPr id="1177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itchFamily="2" charset="-122"/>
                <a:ea typeface="宋体" pitchFamily="2" charset="-122"/>
              </a:defRPr>
            </a:lvl1pPr>
            <a:lvl2pPr marL="716650" indent="-275634" eaLnBrk="0" hangingPunct="0">
              <a:defRPr kumimoji="1" sz="800" b="1">
                <a:solidFill>
                  <a:schemeClr val="tx1"/>
                </a:solidFill>
                <a:latin typeface="宋体" pitchFamily="2" charset="-122"/>
                <a:ea typeface="宋体" pitchFamily="2" charset="-122"/>
              </a:defRPr>
            </a:lvl2pPr>
            <a:lvl3pPr marL="1102538" indent="-220508" eaLnBrk="0" hangingPunct="0">
              <a:defRPr kumimoji="1" sz="800" b="1">
                <a:solidFill>
                  <a:schemeClr val="tx1"/>
                </a:solidFill>
                <a:latin typeface="宋体" pitchFamily="2" charset="-122"/>
                <a:ea typeface="宋体" pitchFamily="2" charset="-122"/>
              </a:defRPr>
            </a:lvl3pPr>
            <a:lvl4pPr marL="1543553" indent="-220508" eaLnBrk="0" hangingPunct="0">
              <a:defRPr kumimoji="1" sz="800" b="1">
                <a:solidFill>
                  <a:schemeClr val="tx1"/>
                </a:solidFill>
                <a:latin typeface="宋体" pitchFamily="2" charset="-122"/>
                <a:ea typeface="宋体" pitchFamily="2" charset="-122"/>
              </a:defRPr>
            </a:lvl4pPr>
            <a:lvl5pPr marL="1984568" indent="-220508" eaLnBrk="0" hangingPunct="0">
              <a:defRPr kumimoji="1" sz="800" b="1">
                <a:solidFill>
                  <a:schemeClr val="tx1"/>
                </a:solidFill>
                <a:latin typeface="宋体" pitchFamily="2" charset="-122"/>
                <a:ea typeface="宋体" pitchFamily="2" charset="-122"/>
              </a:defRPr>
            </a:lvl5pPr>
            <a:lvl6pPr marL="2425583" indent="-220508"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866598" indent="-220508"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307613" indent="-220508"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748629" indent="-220508"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spcBef>
                <a:spcPct val="0"/>
              </a:spcBef>
            </a:pPr>
            <a:fld id="{13AF05EE-3A95-410B-9EC4-C08A785D360E}" type="slidenum">
              <a:rPr lang="en-US" altLang="zh-CN" sz="1300">
                <a:latin typeface="Arial" pitchFamily="34" charset="0"/>
              </a:rPr>
              <a:pPr eaLnBrk="1" hangingPunct="1">
                <a:spcBef>
                  <a:spcPct val="0"/>
                </a:spcBef>
              </a:pPr>
              <a:t>25</a:t>
            </a:fld>
            <a:endParaRPr lang="en-US" altLang="zh-CN" sz="1300">
              <a:latin typeface="Arial"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itchFamily="2" charset="-122"/>
                <a:ea typeface="宋体" pitchFamily="2" charset="-122"/>
              </a:defRPr>
            </a:lvl1pPr>
            <a:lvl2pPr marL="716650" indent="-275634" eaLnBrk="0" hangingPunct="0">
              <a:defRPr kumimoji="1" sz="800" b="1">
                <a:solidFill>
                  <a:schemeClr val="tx1"/>
                </a:solidFill>
                <a:latin typeface="宋体" pitchFamily="2" charset="-122"/>
                <a:ea typeface="宋体" pitchFamily="2" charset="-122"/>
              </a:defRPr>
            </a:lvl2pPr>
            <a:lvl3pPr marL="1102538" indent="-220508" eaLnBrk="0" hangingPunct="0">
              <a:defRPr kumimoji="1" sz="800" b="1">
                <a:solidFill>
                  <a:schemeClr val="tx1"/>
                </a:solidFill>
                <a:latin typeface="宋体" pitchFamily="2" charset="-122"/>
                <a:ea typeface="宋体" pitchFamily="2" charset="-122"/>
              </a:defRPr>
            </a:lvl3pPr>
            <a:lvl4pPr marL="1543553" indent="-220508" eaLnBrk="0" hangingPunct="0">
              <a:defRPr kumimoji="1" sz="800" b="1">
                <a:solidFill>
                  <a:schemeClr val="tx1"/>
                </a:solidFill>
                <a:latin typeface="宋体" pitchFamily="2" charset="-122"/>
                <a:ea typeface="宋体" pitchFamily="2" charset="-122"/>
              </a:defRPr>
            </a:lvl4pPr>
            <a:lvl5pPr marL="1984568" indent="-220508" eaLnBrk="0" hangingPunct="0">
              <a:defRPr kumimoji="1" sz="800" b="1">
                <a:solidFill>
                  <a:schemeClr val="tx1"/>
                </a:solidFill>
                <a:latin typeface="宋体" pitchFamily="2" charset="-122"/>
                <a:ea typeface="宋体" pitchFamily="2" charset="-122"/>
              </a:defRPr>
            </a:lvl5pPr>
            <a:lvl6pPr marL="2425583" indent="-220508"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866598" indent="-220508"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307613" indent="-220508"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748629" indent="-220508"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spcBef>
                <a:spcPct val="0"/>
              </a:spcBef>
            </a:pPr>
            <a:fld id="{6A26B3EB-A3B9-4FC0-98D3-AA005992373F}" type="slidenum">
              <a:rPr lang="en-US" altLang="zh-CN" sz="1300">
                <a:latin typeface="Arial" pitchFamily="34" charset="0"/>
              </a:rPr>
              <a:pPr eaLnBrk="1" hangingPunct="1">
                <a:spcBef>
                  <a:spcPct val="0"/>
                </a:spcBef>
              </a:pPr>
              <a:t>26</a:t>
            </a:fld>
            <a:endParaRPr lang="en-US" altLang="zh-CN" sz="1300">
              <a:latin typeface="Arial" pitchFamily="34"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50900FB1-5895-4351-A822-5A07F9A6DDCF}" type="slidenum">
              <a:rPr lang="en-US" altLang="zh-CN" smtClean="0">
                <a:latin typeface="Arial" pitchFamily="34" charset="0"/>
              </a:rPr>
              <a:pPr eaLnBrk="1" fontAlgn="base" hangingPunct="1">
                <a:spcBef>
                  <a:spcPct val="0"/>
                </a:spcBef>
                <a:spcAft>
                  <a:spcPct val="0"/>
                </a:spcAft>
              </a:pPr>
              <a:t>27</a:t>
            </a:fld>
            <a:endParaRPr lang="en-US" altLang="zh-CN">
              <a:latin typeface="Arial" pitchFamily="34" charset="0"/>
            </a:endParaRPr>
          </a:p>
        </p:txBody>
      </p:sp>
      <p:sp>
        <p:nvSpPr>
          <p:cNvPr id="972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9CEF856-4168-4018-8E70-0C16DACE67EB}" type="slidenum">
              <a:rPr lang="en-US" altLang="zh-CN" smtClean="0">
                <a:latin typeface="Arial" pitchFamily="34" charset="0"/>
              </a:rPr>
              <a:pPr eaLnBrk="1" fontAlgn="base" hangingPunct="1">
                <a:spcBef>
                  <a:spcPct val="0"/>
                </a:spcBef>
                <a:spcAft>
                  <a:spcPct val="0"/>
                </a:spcAft>
              </a:pPr>
              <a:t>28</a:t>
            </a:fld>
            <a:endParaRPr lang="en-US" altLang="zh-CN">
              <a:latin typeface="Arial" pitchFamily="34" charset="0"/>
            </a:endParaRPr>
          </a:p>
        </p:txBody>
      </p:sp>
      <p:sp>
        <p:nvSpPr>
          <p:cNvPr id="983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6B79B5F-8439-41F9-BFE1-88A300E21ED7}" type="slidenum">
              <a:rPr lang="en-US" altLang="zh-CN" smtClean="0">
                <a:latin typeface="Arial" pitchFamily="34" charset="0"/>
              </a:rPr>
              <a:pPr eaLnBrk="1" fontAlgn="base" hangingPunct="1">
                <a:spcBef>
                  <a:spcPct val="0"/>
                </a:spcBef>
                <a:spcAft>
                  <a:spcPct val="0"/>
                </a:spcAft>
              </a:pPr>
              <a:t>29</a:t>
            </a:fld>
            <a:endParaRPr lang="en-US" altLang="zh-CN">
              <a:latin typeface="Arial" pitchFamily="34" charset="0"/>
            </a:endParaRPr>
          </a:p>
        </p:txBody>
      </p:sp>
      <p:sp>
        <p:nvSpPr>
          <p:cNvPr id="993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27FC726C-2BD2-4BEC-92D9-4510EB00BC6C}" type="slidenum">
              <a:rPr lang="en-US" altLang="zh-CN" smtClean="0">
                <a:latin typeface="Arial" pitchFamily="34" charset="0"/>
              </a:rPr>
              <a:pPr eaLnBrk="1" fontAlgn="base" hangingPunct="1">
                <a:spcBef>
                  <a:spcPct val="0"/>
                </a:spcBef>
                <a:spcAft>
                  <a:spcPct val="0"/>
                </a:spcAft>
              </a:pPr>
              <a:t>30</a:t>
            </a:fld>
            <a:endParaRPr lang="en-US" altLang="zh-CN">
              <a:latin typeface="Arial" pitchFamily="34" charset="0"/>
            </a:endParaRPr>
          </a:p>
        </p:txBody>
      </p:sp>
      <p:sp>
        <p:nvSpPr>
          <p:cNvPr id="1003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A2DCA439-7FC5-400B-A8B4-DB19A8D78C11}" type="slidenum">
              <a:rPr lang="en-US" altLang="zh-CN" smtClean="0">
                <a:latin typeface="Arial" pitchFamily="34" charset="0"/>
              </a:rPr>
              <a:pPr eaLnBrk="1" fontAlgn="base" hangingPunct="1">
                <a:spcBef>
                  <a:spcPct val="0"/>
                </a:spcBef>
                <a:spcAft>
                  <a:spcPct val="0"/>
                </a:spcAft>
              </a:pPr>
              <a:t>31</a:t>
            </a:fld>
            <a:endParaRPr lang="en-US" altLang="zh-CN">
              <a:latin typeface="Arial" pitchFamily="34" charset="0"/>
            </a:endParaRPr>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D3688386-EE80-4399-BDDF-411DB5B9F791}" type="slidenum">
              <a:rPr lang="en-US" altLang="zh-CN" smtClean="0">
                <a:latin typeface="Arial" pitchFamily="34" charset="0"/>
              </a:rPr>
              <a:pPr eaLnBrk="1" fontAlgn="base" hangingPunct="1">
                <a:spcBef>
                  <a:spcPct val="0"/>
                </a:spcBef>
                <a:spcAft>
                  <a:spcPct val="0"/>
                </a:spcAft>
              </a:pPr>
              <a:t>32</a:t>
            </a:fld>
            <a:endParaRPr lang="en-US" altLang="zh-CN">
              <a:latin typeface="Arial" pitchFamily="34" charset="0"/>
            </a:endParaRPr>
          </a:p>
        </p:txBody>
      </p:sp>
      <p:sp>
        <p:nvSpPr>
          <p:cNvPr id="1024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4216D153-A41D-41E4-9BFB-F0314B1D1C9B}" type="slidenum">
              <a:rPr lang="en-US" altLang="zh-CN" smtClean="0">
                <a:latin typeface="Arial" pitchFamily="34" charset="0"/>
              </a:rPr>
              <a:pPr eaLnBrk="1" fontAlgn="base" hangingPunct="1">
                <a:spcBef>
                  <a:spcPct val="0"/>
                </a:spcBef>
                <a:spcAft>
                  <a:spcPct val="0"/>
                </a:spcAft>
              </a:pPr>
              <a:t>33</a:t>
            </a:fld>
            <a:endParaRPr lang="en-US" altLang="zh-CN">
              <a:latin typeface="Arial" pitchFamily="34" charset="0"/>
            </a:endParaRPr>
          </a:p>
        </p:txBody>
      </p:sp>
      <p:sp>
        <p:nvSpPr>
          <p:cNvPr id="1157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8C38C32-9AE3-4991-863C-911866C60D86}" type="slidenum">
              <a:rPr lang="en-US" altLang="zh-CN" smtClean="0">
                <a:latin typeface="Arial" pitchFamily="34" charset="0"/>
              </a:rPr>
              <a:pPr eaLnBrk="1" fontAlgn="base" hangingPunct="1">
                <a:spcBef>
                  <a:spcPct val="0"/>
                </a:spcBef>
                <a:spcAft>
                  <a:spcPct val="0"/>
                </a:spcAft>
              </a:pPr>
              <a:t>34</a:t>
            </a:fld>
            <a:endParaRPr lang="en-US" altLang="zh-CN">
              <a:latin typeface="Arial" pitchFamily="34" charset="0"/>
            </a:endParaRPr>
          </a:p>
        </p:txBody>
      </p:sp>
      <p:sp>
        <p:nvSpPr>
          <p:cNvPr id="1167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40"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73E8B69-6558-45F0-8866-0B219EF5D732}" type="slidenum">
              <a:rPr lang="en-US" altLang="zh-CN" smtClean="0">
                <a:latin typeface="Arial" pitchFamily="34" charset="0"/>
              </a:rPr>
              <a:pPr eaLnBrk="1" fontAlgn="base" hangingPunct="1">
                <a:spcBef>
                  <a:spcPct val="0"/>
                </a:spcBef>
                <a:spcAft>
                  <a:spcPct val="0"/>
                </a:spcAft>
              </a:pPr>
              <a:t>35</a:t>
            </a:fld>
            <a:endParaRPr lang="en-US" altLang="zh-CN">
              <a:latin typeface="Arial" pitchFamily="34" charset="0"/>
            </a:endParaRPr>
          </a:p>
        </p:txBody>
      </p:sp>
      <p:sp>
        <p:nvSpPr>
          <p:cNvPr id="1177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841DC70B-D885-493F-93FF-1346E87294A1}" type="slidenum">
              <a:rPr lang="en-US" altLang="zh-CN" smtClean="0">
                <a:latin typeface="Arial" pitchFamily="34" charset="0"/>
              </a:rPr>
              <a:pPr eaLnBrk="1" fontAlgn="base" hangingPunct="1">
                <a:spcBef>
                  <a:spcPct val="0"/>
                </a:spcBef>
                <a:spcAft>
                  <a:spcPct val="0"/>
                </a:spcAft>
              </a:pPr>
              <a:t>36</a:t>
            </a:fld>
            <a:endParaRPr lang="en-US" altLang="zh-CN">
              <a:latin typeface="Arial" pitchFamily="34" charset="0"/>
            </a:endParaRPr>
          </a:p>
        </p:txBody>
      </p:sp>
      <p:sp>
        <p:nvSpPr>
          <p:cNvPr id="1187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484043E7-3973-43B8-811C-B698FC2D793B}" type="slidenum">
              <a:rPr lang="en-US" altLang="zh-CN" smtClean="0">
                <a:latin typeface="Arial" pitchFamily="34" charset="0"/>
              </a:rPr>
              <a:pPr eaLnBrk="1" fontAlgn="base" hangingPunct="1">
                <a:spcBef>
                  <a:spcPct val="0"/>
                </a:spcBef>
                <a:spcAft>
                  <a:spcPct val="0"/>
                </a:spcAft>
              </a:pPr>
              <a:t>37</a:t>
            </a:fld>
            <a:endParaRPr lang="en-US" altLang="zh-CN">
              <a:latin typeface="Arial" pitchFamily="34" charset="0"/>
            </a:endParaRPr>
          </a:p>
        </p:txBody>
      </p:sp>
      <p:sp>
        <p:nvSpPr>
          <p:cNvPr id="1198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DC8248B5-7108-46F4-83F4-E84E2C82DDEA}" type="slidenum">
              <a:rPr lang="en-US" altLang="zh-CN" smtClean="0">
                <a:latin typeface="Arial" pitchFamily="34" charset="0"/>
              </a:rPr>
              <a:pPr eaLnBrk="1" fontAlgn="base" hangingPunct="1">
                <a:spcBef>
                  <a:spcPct val="0"/>
                </a:spcBef>
                <a:spcAft>
                  <a:spcPct val="0"/>
                </a:spcAft>
              </a:pPr>
              <a:t>38</a:t>
            </a:fld>
            <a:endParaRPr lang="en-US" altLang="zh-CN">
              <a:latin typeface="Arial" pitchFamily="34" charset="0"/>
            </a:endParaRPr>
          </a:p>
        </p:txBody>
      </p:sp>
      <p:sp>
        <p:nvSpPr>
          <p:cNvPr id="1208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C054620-A0AB-4AEE-AA6E-2016A66AD119}" type="slidenum">
              <a:rPr lang="en-US" altLang="zh-CN" smtClean="0">
                <a:latin typeface="Arial" pitchFamily="34" charset="0"/>
              </a:rPr>
              <a:pPr eaLnBrk="1" fontAlgn="base" hangingPunct="1">
                <a:spcBef>
                  <a:spcPct val="0"/>
                </a:spcBef>
                <a:spcAft>
                  <a:spcPct val="0"/>
                </a:spcAft>
              </a:pPr>
              <a:t>39</a:t>
            </a:fld>
            <a:endParaRPr lang="en-US" altLang="zh-CN">
              <a:latin typeface="Arial" pitchFamily="34" charset="0"/>
            </a:endParaRPr>
          </a:p>
        </p:txBody>
      </p:sp>
      <p:sp>
        <p:nvSpPr>
          <p:cNvPr id="1218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60"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737E1BEA-33A9-4152-A412-0A648E1C82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C81FB572-BD10-4370-A474-51C03E295B81}" type="slidenum">
              <a:rPr lang="en-US" altLang="zh-CN">
                <a:latin typeface="Arial" panose="020B0604020202020204" pitchFamily="34" charset="0"/>
              </a:rPr>
              <a:pPr eaLnBrk="1" hangingPunct="1"/>
              <a:t>40</a:t>
            </a:fld>
            <a:endParaRPr lang="en-US" altLang="zh-CN">
              <a:latin typeface="Arial" panose="020B0604020202020204" pitchFamily="34" charset="0"/>
            </a:endParaRPr>
          </a:p>
        </p:txBody>
      </p:sp>
      <p:sp>
        <p:nvSpPr>
          <p:cNvPr id="77827" name="Rectangle 2">
            <a:extLst>
              <a:ext uri="{FF2B5EF4-FFF2-40B4-BE49-F238E27FC236}">
                <a16:creationId xmlns:a16="http://schemas.microsoft.com/office/drawing/2014/main" id="{3ED24F0A-601A-4D69-92F3-6F1352C0220D}"/>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AEAF38E9-4CEA-4A98-BC4A-217709C41DA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50DB2C85-6495-4CE2-8ACA-DDF8CCF9A4A0}" type="slidenum">
              <a:rPr lang="en-US" altLang="zh-CN" smtClean="0">
                <a:latin typeface="Arial" pitchFamily="34" charset="0"/>
              </a:rPr>
              <a:pPr eaLnBrk="1" fontAlgn="base" hangingPunct="1">
                <a:spcBef>
                  <a:spcPct val="0"/>
                </a:spcBef>
                <a:spcAft>
                  <a:spcPct val="0"/>
                </a:spcAft>
              </a:pPr>
              <a:t>41</a:t>
            </a:fld>
            <a:endParaRPr lang="en-US" altLang="zh-CN">
              <a:latin typeface="Arial" pitchFamily="34" charset="0"/>
            </a:endParaRPr>
          </a:p>
        </p:txBody>
      </p:sp>
      <p:sp>
        <p:nvSpPr>
          <p:cNvPr id="1239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8"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17301B94-E10E-4721-AAE1-223F5DF5DC89}" type="slidenum">
              <a:rPr lang="en-US" altLang="zh-CN" smtClean="0">
                <a:latin typeface="Arial" pitchFamily="34" charset="0"/>
              </a:rPr>
              <a:pPr eaLnBrk="1" fontAlgn="base" hangingPunct="1">
                <a:spcBef>
                  <a:spcPct val="0"/>
                </a:spcBef>
                <a:spcAft>
                  <a:spcPct val="0"/>
                </a:spcAft>
              </a:pPr>
              <a:t>42</a:t>
            </a:fld>
            <a:endParaRPr lang="en-US" altLang="zh-CN">
              <a:latin typeface="Arial" pitchFamily="34" charset="0"/>
            </a:endParaRPr>
          </a:p>
        </p:txBody>
      </p:sp>
      <p:sp>
        <p:nvSpPr>
          <p:cNvPr id="1249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D55F019-0D47-4839-A1EF-885F68B270BC}" type="slidenum">
              <a:rPr lang="en-US" altLang="zh-CN" smtClean="0">
                <a:latin typeface="Arial" pitchFamily="34" charset="0"/>
              </a:rPr>
              <a:pPr eaLnBrk="1" fontAlgn="base" hangingPunct="1">
                <a:spcBef>
                  <a:spcPct val="0"/>
                </a:spcBef>
                <a:spcAft>
                  <a:spcPct val="0"/>
                </a:spcAft>
              </a:pPr>
              <a:t>43</a:t>
            </a:fld>
            <a:endParaRPr lang="en-US" altLang="zh-CN">
              <a:latin typeface="Arial" pitchFamily="34" charset="0"/>
            </a:endParaRPr>
          </a:p>
        </p:txBody>
      </p:sp>
      <p:sp>
        <p:nvSpPr>
          <p:cNvPr id="1259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4830D341-F909-4180-81B3-AE4E9283DD27}" type="slidenum">
              <a:rPr lang="en-US" altLang="zh-CN" smtClean="0">
                <a:latin typeface="Arial" pitchFamily="34" charset="0"/>
              </a:rPr>
              <a:pPr eaLnBrk="1" fontAlgn="base" hangingPunct="1">
                <a:spcBef>
                  <a:spcPct val="0"/>
                </a:spcBef>
                <a:spcAft>
                  <a:spcPct val="0"/>
                </a:spcAft>
              </a:pPr>
              <a:t>44</a:t>
            </a:fld>
            <a:endParaRPr lang="en-US" altLang="zh-CN">
              <a:latin typeface="Arial" pitchFamily="34" charset="0"/>
            </a:endParaRPr>
          </a:p>
        </p:txBody>
      </p:sp>
      <p:sp>
        <p:nvSpPr>
          <p:cNvPr id="1269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80"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EB5A87F8-2988-4D58-87F1-8C1F45756492}" type="slidenum">
              <a:rPr lang="en-US" altLang="zh-CN" smtClean="0">
                <a:latin typeface="Arial" pitchFamily="34" charset="0"/>
              </a:rPr>
              <a:pPr eaLnBrk="1" fontAlgn="base" hangingPunct="1">
                <a:spcBef>
                  <a:spcPct val="0"/>
                </a:spcBef>
                <a:spcAft>
                  <a:spcPct val="0"/>
                </a:spcAft>
              </a:pPr>
              <a:t>45</a:t>
            </a:fld>
            <a:endParaRPr lang="en-US" altLang="zh-CN">
              <a:latin typeface="Arial" pitchFamily="34" charset="0"/>
            </a:endParaRPr>
          </a:p>
        </p:txBody>
      </p:sp>
      <p:sp>
        <p:nvSpPr>
          <p:cNvPr id="1280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dirty="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9DABEF1-99D4-4E45-8556-C8C25327525D}" type="slidenum">
              <a:rPr lang="en-US" altLang="zh-CN" smtClean="0">
                <a:latin typeface="Arial" pitchFamily="34" charset="0"/>
              </a:rPr>
              <a:pPr eaLnBrk="1" fontAlgn="base" hangingPunct="1">
                <a:spcBef>
                  <a:spcPct val="0"/>
                </a:spcBef>
                <a:spcAft>
                  <a:spcPct val="0"/>
                </a:spcAft>
              </a:pPr>
              <a:t>46</a:t>
            </a:fld>
            <a:endParaRPr lang="en-US" altLang="zh-CN">
              <a:latin typeface="Arial" pitchFamily="34" charset="0"/>
            </a:endParaRPr>
          </a:p>
        </p:txBody>
      </p:sp>
      <p:sp>
        <p:nvSpPr>
          <p:cNvPr id="1290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8"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ED8A9FAD-E9C7-4DDB-B01B-09A5ECA11617}" type="slidenum">
              <a:rPr lang="en-US" altLang="zh-CN" smtClean="0">
                <a:latin typeface="Arial" pitchFamily="34" charset="0"/>
              </a:rPr>
              <a:pPr eaLnBrk="1" fontAlgn="base" hangingPunct="1">
                <a:spcBef>
                  <a:spcPct val="0"/>
                </a:spcBef>
                <a:spcAft>
                  <a:spcPct val="0"/>
                </a:spcAft>
              </a:pPr>
              <a:t>47</a:t>
            </a:fld>
            <a:endParaRPr lang="en-US" altLang="zh-CN">
              <a:latin typeface="Arial" pitchFamily="34" charset="0"/>
            </a:endParaRPr>
          </a:p>
        </p:txBody>
      </p:sp>
      <p:sp>
        <p:nvSpPr>
          <p:cNvPr id="1300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D99C6A81-093C-43E4-B30D-6A11163386FE}" type="datetime1">
              <a:rPr lang="zh-CN" altLang="en-US" smtClean="0"/>
              <a:t>2025/9/25</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计算机科学与技术学院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E0D8FD4-BCD4-4DCD-938F-40FA27EC026E}" type="datetime1">
              <a:rPr lang="zh-CN" altLang="en-US" smtClean="0"/>
              <a:t>2025/9/25</a:t>
            </a:fld>
            <a:endParaRPr lang="en-US" altLang="zh-CN"/>
          </a:p>
        </p:txBody>
      </p:sp>
      <p:sp>
        <p:nvSpPr>
          <p:cNvPr id="5" name="页脚占位符 4"/>
          <p:cNvSpPr>
            <a:spLocks noGrp="1"/>
          </p:cNvSpPr>
          <p:nvPr>
            <p:ph type="ftr" sz="quarter" idx="11"/>
          </p:nvPr>
        </p:nvSpPr>
        <p:spPr>
          <a:xfrm>
            <a:off x="3124200" y="6356350"/>
            <a:ext cx="3429000" cy="365125"/>
          </a:xfrm>
        </p:spPr>
        <p:txBody>
          <a:bodyPr/>
          <a:lstStyle>
            <a:lvl1pPr>
              <a:defRPr/>
            </a:lvl1pPr>
          </a:lstStyle>
          <a:p>
            <a:pPr>
              <a:defRPr/>
            </a:pPr>
            <a:r>
              <a:rPr lang="zh-CN" altLang="en-US"/>
              <a:t>计算机科学与技术学院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8DE23DB-CDFA-49EF-98A5-E91D080090D1}" type="datetime1">
              <a:rPr lang="zh-CN" altLang="en-US" smtClean="0"/>
              <a:t>2025/9/25</a:t>
            </a:fld>
            <a:endParaRPr lang="en-US" altLang="zh-CN"/>
          </a:p>
        </p:txBody>
      </p:sp>
      <p:sp>
        <p:nvSpPr>
          <p:cNvPr id="5" name="页脚占位符 4"/>
          <p:cNvSpPr>
            <a:spLocks noGrp="1"/>
          </p:cNvSpPr>
          <p:nvPr>
            <p:ph type="ftr" sz="quarter" idx="11"/>
          </p:nvPr>
        </p:nvSpPr>
        <p:spPr>
          <a:xfrm>
            <a:off x="2699792" y="6356350"/>
            <a:ext cx="3528392" cy="365125"/>
          </a:xfrm>
        </p:spPr>
        <p:txBody>
          <a:bodyPr/>
          <a:lstStyle>
            <a:lvl1pPr>
              <a:defRPr/>
            </a:lvl1pPr>
          </a:lstStyle>
          <a:p>
            <a:pPr>
              <a:defRPr/>
            </a:pPr>
            <a:r>
              <a:rPr lang="zh-CN" altLang="en-US"/>
              <a:t>计算机科学与技术学院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DFB1C563-7857-4F63-984D-539B697B6DB9}" type="datetime1">
              <a:rPr lang="zh-CN" altLang="en-US" smtClean="0"/>
              <a:t>2025/9/25</a:t>
            </a:fld>
            <a:endParaRPr lang="en-US" altLang="zh-CN"/>
          </a:p>
        </p:txBody>
      </p:sp>
      <p:sp>
        <p:nvSpPr>
          <p:cNvPr id="6" name="页脚占位符 4"/>
          <p:cNvSpPr>
            <a:spLocks noGrp="1"/>
          </p:cNvSpPr>
          <p:nvPr>
            <p:ph type="ftr" sz="quarter" idx="11"/>
          </p:nvPr>
        </p:nvSpPr>
        <p:spPr>
          <a:xfrm>
            <a:off x="3124200" y="6356350"/>
            <a:ext cx="3392016" cy="365125"/>
          </a:xfrm>
        </p:spPr>
        <p:txBody>
          <a:bodyPr/>
          <a:lstStyle>
            <a:lvl1pPr>
              <a:defRPr/>
            </a:lvl1pPr>
          </a:lstStyle>
          <a:p>
            <a:pPr>
              <a:defRPr/>
            </a:pPr>
            <a:r>
              <a:rPr lang="zh-CN" altLang="en-US"/>
              <a:t>计算机科学与技术学院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BFBF366-1C9C-4D4D-B951-A9F3BAEEA35E}" type="datetime1">
              <a:rPr lang="zh-CN" altLang="en-US" smtClean="0"/>
              <a:t>2025/9/25</a:t>
            </a:fld>
            <a:endParaRPr lang="en-US" altLang="zh-CN"/>
          </a:p>
        </p:txBody>
      </p:sp>
      <p:sp>
        <p:nvSpPr>
          <p:cNvPr id="8" name="页脚占位符 4"/>
          <p:cNvSpPr>
            <a:spLocks noGrp="1"/>
          </p:cNvSpPr>
          <p:nvPr>
            <p:ph type="ftr" sz="quarter" idx="11"/>
          </p:nvPr>
        </p:nvSpPr>
        <p:spPr>
          <a:xfrm>
            <a:off x="3059832" y="6356350"/>
            <a:ext cx="3536032" cy="365125"/>
          </a:xfrm>
        </p:spPr>
        <p:txBody>
          <a:bodyPr/>
          <a:lstStyle>
            <a:lvl1pPr>
              <a:defRPr/>
            </a:lvl1pPr>
          </a:lstStyle>
          <a:p>
            <a:pPr>
              <a:defRPr/>
            </a:pPr>
            <a:r>
              <a:rPr lang="zh-CN" altLang="en-US"/>
              <a:t>计算机科学与技术学院 计算机体系结构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A0C70301-BEE5-4960-A733-705DCC767C57}" type="datetime1">
              <a:rPr lang="zh-CN" altLang="en-US" smtClean="0"/>
              <a:t>2025/9/25</a:t>
            </a:fld>
            <a:endParaRPr lang="en-US" altLang="zh-CN"/>
          </a:p>
        </p:txBody>
      </p:sp>
      <p:sp>
        <p:nvSpPr>
          <p:cNvPr id="4" name="页脚占位符 4"/>
          <p:cNvSpPr>
            <a:spLocks noGrp="1"/>
          </p:cNvSpPr>
          <p:nvPr>
            <p:ph type="ftr" sz="quarter" idx="11"/>
          </p:nvPr>
        </p:nvSpPr>
        <p:spPr>
          <a:xfrm>
            <a:off x="3124200" y="6356350"/>
            <a:ext cx="3429000" cy="365125"/>
          </a:xfrm>
        </p:spPr>
        <p:txBody>
          <a:bodyPr/>
          <a:lstStyle>
            <a:lvl1pPr>
              <a:defRPr/>
            </a:lvl1pPr>
          </a:lstStyle>
          <a:p>
            <a:pPr>
              <a:defRPr/>
            </a:pPr>
            <a:r>
              <a:rPr lang="zh-CN" altLang="en-US"/>
              <a:t>计算机科学与技术学院 计算机体系结构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1582215-CCF9-4E60-8693-23026F2893A9}" type="datetime1">
              <a:rPr lang="zh-CN" altLang="en-US" smtClean="0"/>
              <a:t>2025/9/25</a:t>
            </a:fld>
            <a:endParaRPr lang="en-US" altLang="zh-CN"/>
          </a:p>
        </p:txBody>
      </p:sp>
      <p:sp>
        <p:nvSpPr>
          <p:cNvPr id="3" name="页脚占位符 4"/>
          <p:cNvSpPr>
            <a:spLocks noGrp="1"/>
          </p:cNvSpPr>
          <p:nvPr>
            <p:ph type="ftr" sz="quarter" idx="11"/>
          </p:nvPr>
        </p:nvSpPr>
        <p:spPr>
          <a:xfrm>
            <a:off x="3124200" y="6356350"/>
            <a:ext cx="3680048" cy="365125"/>
          </a:xfrm>
        </p:spPr>
        <p:txBody>
          <a:bodyPr/>
          <a:lstStyle>
            <a:lvl1pPr>
              <a:defRPr/>
            </a:lvl1pPr>
          </a:lstStyle>
          <a:p>
            <a:pPr>
              <a:defRPr/>
            </a:pPr>
            <a:r>
              <a:rPr lang="zh-CN" altLang="en-US"/>
              <a:t>计算机科学与技术学院 计算机体系结构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5965EA5-DCCD-4F48-82E3-6205FCBFF461}" type="datetime1">
              <a:rPr lang="zh-CN" altLang="en-US" smtClean="0"/>
              <a:t>2025/9/25</a:t>
            </a:fld>
            <a:endParaRPr lang="en-US" altLang="zh-CN"/>
          </a:p>
        </p:txBody>
      </p:sp>
      <p:sp>
        <p:nvSpPr>
          <p:cNvPr id="6" name="页脚占位符 4"/>
          <p:cNvSpPr>
            <a:spLocks noGrp="1"/>
          </p:cNvSpPr>
          <p:nvPr>
            <p:ph type="ftr" sz="quarter" idx="11"/>
          </p:nvPr>
        </p:nvSpPr>
        <p:spPr>
          <a:xfrm>
            <a:off x="2699792" y="6356350"/>
            <a:ext cx="3528392" cy="365125"/>
          </a:xfrm>
        </p:spPr>
        <p:txBody>
          <a:bodyPr/>
          <a:lstStyle>
            <a:lvl1pPr>
              <a:defRPr/>
            </a:lvl1pPr>
          </a:lstStyle>
          <a:p>
            <a:pPr>
              <a:defRPr/>
            </a:pPr>
            <a:r>
              <a:rPr lang="zh-CN" altLang="en-US"/>
              <a:t>计算机科学与技术学院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0575587-3865-42AD-93F7-F99E7D6CFC1D}" type="datetime1">
              <a:rPr lang="zh-CN" altLang="en-US" smtClean="0"/>
              <a:t>2025/9/25</a:t>
            </a:fld>
            <a:endParaRPr lang="en-US" altLang="zh-CN"/>
          </a:p>
        </p:txBody>
      </p:sp>
      <p:sp>
        <p:nvSpPr>
          <p:cNvPr id="6" name="页脚占位符 4"/>
          <p:cNvSpPr>
            <a:spLocks noGrp="1"/>
          </p:cNvSpPr>
          <p:nvPr>
            <p:ph type="ftr" sz="quarter" idx="11"/>
          </p:nvPr>
        </p:nvSpPr>
        <p:spPr>
          <a:xfrm>
            <a:off x="3124200" y="6356350"/>
            <a:ext cx="3429000" cy="365125"/>
          </a:xfrm>
        </p:spPr>
        <p:txBody>
          <a:bodyPr/>
          <a:lstStyle>
            <a:lvl1pPr>
              <a:defRPr/>
            </a:lvl1pPr>
          </a:lstStyle>
          <a:p>
            <a:pPr>
              <a:defRPr/>
            </a:pPr>
            <a:r>
              <a:rPr lang="zh-CN" altLang="en-US"/>
              <a:t>计算机科学与技术学院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D51AB0B-47FE-4778-AEBF-2B0306728C1B}" type="datetime1">
              <a:rPr lang="zh-CN" altLang="en-US" smtClean="0"/>
              <a:t>2025/9/25</a:t>
            </a:fld>
            <a:endParaRPr lang="en-US" altLang="zh-CN"/>
          </a:p>
        </p:txBody>
      </p:sp>
      <p:sp>
        <p:nvSpPr>
          <p:cNvPr id="5" name="页脚占位符 4"/>
          <p:cNvSpPr>
            <a:spLocks noGrp="1"/>
          </p:cNvSpPr>
          <p:nvPr>
            <p:ph type="ftr" sz="quarter" idx="11"/>
          </p:nvPr>
        </p:nvSpPr>
        <p:spPr>
          <a:xfrm>
            <a:off x="2987824" y="6356350"/>
            <a:ext cx="3392016" cy="365125"/>
          </a:xfrm>
        </p:spPr>
        <p:txBody>
          <a:bodyPr/>
          <a:lstStyle>
            <a:lvl1pPr>
              <a:defRPr/>
            </a:lvl1pPr>
          </a:lstStyle>
          <a:p>
            <a:pPr>
              <a:defRPr/>
            </a:pPr>
            <a:r>
              <a:rPr lang="zh-CN" altLang="en-US"/>
              <a:t>计算机科学与技术学院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0A22F11-6219-4987-88D3-2960DD737EF5}" type="datetime1">
              <a:rPr lang="zh-CN" altLang="en-US" smtClean="0"/>
              <a:t>2025/9/25</a:t>
            </a:fld>
            <a:endParaRPr lang="en-US" altLang="zh-CN"/>
          </a:p>
        </p:txBody>
      </p:sp>
      <p:sp>
        <p:nvSpPr>
          <p:cNvPr id="5" name="页脚占位符 4"/>
          <p:cNvSpPr>
            <a:spLocks noGrp="1"/>
          </p:cNvSpPr>
          <p:nvPr>
            <p:ph type="ftr" sz="quarter" idx="11"/>
          </p:nvPr>
        </p:nvSpPr>
        <p:spPr>
          <a:xfrm>
            <a:off x="2627784" y="6356350"/>
            <a:ext cx="3392016" cy="365125"/>
          </a:xfrm>
        </p:spPr>
        <p:txBody>
          <a:bodyPr/>
          <a:lstStyle>
            <a:lvl1pPr>
              <a:defRPr/>
            </a:lvl1pPr>
          </a:lstStyle>
          <a:p>
            <a:pPr>
              <a:defRPr/>
            </a:pPr>
            <a:r>
              <a:rPr lang="zh-CN" altLang="en-US"/>
              <a:t>计算机科学与技术学院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39750" y="188913"/>
            <a:ext cx="8001000" cy="56880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a:extLst>
              <a:ext uri="{FF2B5EF4-FFF2-40B4-BE49-F238E27FC236}">
                <a16:creationId xmlns:a16="http://schemas.microsoft.com/office/drawing/2014/main" id="{8049B684-F477-6F79-125A-11E8B074379F}"/>
              </a:ext>
            </a:extLst>
          </p:cNvPr>
          <p:cNvSpPr>
            <a:spLocks noGrp="1"/>
          </p:cNvSpPr>
          <p:nvPr>
            <p:ph type="dt" sz="half" idx="10"/>
          </p:nvPr>
        </p:nvSpPr>
        <p:spPr>
          <a:xfrm>
            <a:off x="457200" y="6356350"/>
            <a:ext cx="2133600" cy="365125"/>
          </a:xfrm>
        </p:spPr>
        <p:txBody>
          <a:bodyPr/>
          <a:lstStyle>
            <a:lvl1pPr>
              <a:defRPr/>
            </a:lvl1pPr>
          </a:lstStyle>
          <a:p>
            <a:pPr>
              <a:defRPr/>
            </a:pPr>
            <a:fld id="{FE0D8FD4-BCD4-4DCD-938F-40FA27EC026E}" type="datetime1">
              <a:rPr lang="zh-CN" altLang="en-US" smtClean="0"/>
              <a:t>2025/9/25</a:t>
            </a:fld>
            <a:endParaRPr lang="en-US" altLang="zh-CN"/>
          </a:p>
        </p:txBody>
      </p:sp>
      <p:sp>
        <p:nvSpPr>
          <p:cNvPr id="4" name="页脚占位符 4">
            <a:extLst>
              <a:ext uri="{FF2B5EF4-FFF2-40B4-BE49-F238E27FC236}">
                <a16:creationId xmlns:a16="http://schemas.microsoft.com/office/drawing/2014/main" id="{9BBF0446-7D05-AA88-E393-BC36D198060A}"/>
              </a:ext>
            </a:extLst>
          </p:cNvPr>
          <p:cNvSpPr>
            <a:spLocks noGrp="1"/>
          </p:cNvSpPr>
          <p:nvPr>
            <p:ph type="ftr" sz="quarter" idx="11"/>
          </p:nvPr>
        </p:nvSpPr>
        <p:spPr>
          <a:xfrm>
            <a:off x="3124200" y="6356350"/>
            <a:ext cx="3429000" cy="365125"/>
          </a:xfrm>
        </p:spPr>
        <p:txBody>
          <a:bodyPr/>
          <a:lstStyle>
            <a:lvl1pPr>
              <a:defRPr/>
            </a:lvl1pPr>
          </a:lstStyle>
          <a:p>
            <a:pPr>
              <a:defRPr/>
            </a:pPr>
            <a:r>
              <a:rPr lang="zh-CN" altLang="en-US"/>
              <a:t>计算机科学与技术学院 计算机体系结构 刘宏伟</a:t>
            </a:r>
            <a:endParaRPr lang="en-US" altLang="zh-CN"/>
          </a:p>
        </p:txBody>
      </p:sp>
      <p:sp>
        <p:nvSpPr>
          <p:cNvPr id="5" name="灯片编号占位符 5">
            <a:extLst>
              <a:ext uri="{FF2B5EF4-FFF2-40B4-BE49-F238E27FC236}">
                <a16:creationId xmlns:a16="http://schemas.microsoft.com/office/drawing/2014/main" id="{2A1E80D6-2F77-36F3-2E92-CB8D1009FC62}"/>
              </a:ext>
            </a:extLst>
          </p:cNvPr>
          <p:cNvSpPr>
            <a:spLocks noGrp="1"/>
          </p:cNvSpPr>
          <p:nvPr>
            <p:ph type="sldNum" sz="quarter" idx="12"/>
          </p:nvPr>
        </p:nvSpPr>
        <p:spPr>
          <a:xfrm>
            <a:off x="6553200" y="6356350"/>
            <a:ext cx="2133600" cy="365125"/>
          </a:xfrm>
        </p:spPr>
        <p:txBody>
          <a:bodyPr/>
          <a:lstStyle>
            <a:lvl1pPr>
              <a:defRPr/>
            </a:lvl1pPr>
          </a:lstStyle>
          <a:p>
            <a:pPr>
              <a:defRPr/>
            </a:pPr>
            <a:fld id="{8BCAC33D-D29A-48B3-BCD6-381D3D720D26}" type="slidenum">
              <a:rPr lang="zh-CN" altLang="en-US"/>
              <a:t>‹#›</a:t>
            </a:fld>
            <a:endParaRPr lang="en-US" altLang="zh-CN"/>
          </a:p>
        </p:txBody>
      </p:sp>
    </p:spTree>
    <p:extLst>
      <p:ext uri="{BB962C8B-B14F-4D97-AF65-F5344CB8AC3E}">
        <p14:creationId xmlns:p14="http://schemas.microsoft.com/office/powerpoint/2010/main" val="1364099711"/>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94749055-FA61-4C67-BD0A-69E6DA1D1638}" type="datetime1">
              <a:rPr lang="zh-CN" altLang="en-US" smtClean="0"/>
              <a:t>2025/9/25</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计算机科学与技术学院 计算机体系结构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slide" Target="slide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slide" Target="slide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slide" Target="slide40.xml"/><Relationship Id="rId4" Type="http://schemas.openxmlformats.org/officeDocument/2006/relationships/slide" Target="slide39.xml"/></Relationships>
</file>

<file path=ppt/slides/_rels/slide30.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44.xml"/><Relationship Id="rId5" Type="http://schemas.openxmlformats.org/officeDocument/2006/relationships/slide" Target="slide43.xml"/><Relationship Id="rId4" Type="http://schemas.openxmlformats.org/officeDocument/2006/relationships/slide" Target="slide42.xml"/></Relationships>
</file>

<file path=ppt/slides/_rels/slide31.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slide" Target="slide32.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slide" Target="slide41.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726295" y="1412776"/>
            <a:ext cx="6048598"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第七讲</a:t>
            </a:r>
          </a:p>
        </p:txBody>
      </p:sp>
      <p:sp>
        <p:nvSpPr>
          <p:cNvPr id="2" name="日期占位符 1">
            <a:extLst>
              <a:ext uri="{FF2B5EF4-FFF2-40B4-BE49-F238E27FC236}">
                <a16:creationId xmlns:a16="http://schemas.microsoft.com/office/drawing/2014/main" id="{664E21FD-3E8E-60D2-8546-A6F4C6652631}"/>
              </a:ext>
            </a:extLst>
          </p:cNvPr>
          <p:cNvSpPr>
            <a:spLocks noGrp="1"/>
          </p:cNvSpPr>
          <p:nvPr>
            <p:ph type="dt" sz="half" idx="10"/>
          </p:nvPr>
        </p:nvSpPr>
        <p:spPr/>
        <p:txBody>
          <a:bodyPr/>
          <a:lstStyle/>
          <a:p>
            <a:pPr>
              <a:defRPr/>
            </a:pPr>
            <a:fld id="{89340BA7-68EE-47AC-85DA-9A13E4144C55}" type="datetime1">
              <a:rPr lang="zh-CN" altLang="en-US" smtClean="0"/>
              <a:t>2025/9/25</a:t>
            </a:fld>
            <a:endParaRPr lang="en-US" altLang="zh-CN"/>
          </a:p>
        </p:txBody>
      </p:sp>
      <p:sp>
        <p:nvSpPr>
          <p:cNvPr id="3" name="页脚占位符 2">
            <a:extLst>
              <a:ext uri="{FF2B5EF4-FFF2-40B4-BE49-F238E27FC236}">
                <a16:creationId xmlns:a16="http://schemas.microsoft.com/office/drawing/2014/main" id="{F5F8C831-4C25-17B5-5C00-C92807E3883A}"/>
              </a:ext>
            </a:extLst>
          </p:cNvPr>
          <p:cNvSpPr>
            <a:spLocks noGrp="1"/>
          </p:cNvSpPr>
          <p:nvPr>
            <p:ph type="ftr" sz="quarter" idx="11"/>
          </p:nvPr>
        </p:nvSpPr>
        <p:spPr>
          <a:xfrm>
            <a:off x="3124199" y="6356350"/>
            <a:ext cx="3541713" cy="365125"/>
          </a:xfrm>
        </p:spPr>
        <p:txBody>
          <a:bodyPr/>
          <a:lstStyle/>
          <a:p>
            <a:pPr>
              <a:defRPr/>
            </a:pPr>
            <a:r>
              <a:rPr lang="zh-CN" altLang="en-US" dirty="0"/>
              <a:t>计算机科学与技术学院 计算机体系结构 刘宏伟</a:t>
            </a:r>
            <a:endParaRPr lang="en-US" altLang="zh-CN" dirty="0"/>
          </a:p>
        </p:txBody>
      </p:sp>
      <p:sp>
        <p:nvSpPr>
          <p:cNvPr id="4" name="灯片编号占位符 3">
            <a:extLst>
              <a:ext uri="{FF2B5EF4-FFF2-40B4-BE49-F238E27FC236}">
                <a16:creationId xmlns:a16="http://schemas.microsoft.com/office/drawing/2014/main" id="{C9BBA9D0-D490-B03A-8C61-303AFA975D95}"/>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42875"/>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251520" y="928688"/>
            <a:ext cx="8352927" cy="5214938"/>
          </a:xfrm>
        </p:spPr>
        <p:txBody>
          <a:bodyPr rtlCol="0">
            <a:normAutofit/>
          </a:bodyPr>
          <a:lstStyle/>
          <a:p>
            <a:pPr lvl="1" eaLnBrk="1" hangingPunct="1">
              <a:defRPr/>
            </a:pPr>
            <a:r>
              <a:rPr lang="zh-CN" altLang="en-US" b="1" dirty="0"/>
              <a:t>指令系统的设计与优化</a:t>
            </a:r>
            <a:endParaRPr lang="en-US" altLang="zh-CN" b="1" dirty="0"/>
          </a:p>
          <a:p>
            <a:pPr marL="1101600" lvl="1" eaLnBrk="1" hangingPunct="1">
              <a:buFont typeface="Wingdings" panose="05000000000000000000" pitchFamily="2" charset="2"/>
              <a:buChar char="ü"/>
              <a:defRPr/>
            </a:pPr>
            <a:r>
              <a:rPr lang="zh-CN" altLang="en-US" b="1" dirty="0"/>
              <a:t>指令系统的优化</a:t>
            </a:r>
            <a:endParaRPr lang="en-US" altLang="zh-CN" b="1" dirty="0"/>
          </a:p>
          <a:p>
            <a:pPr marL="1101600" lvl="1" eaLnBrk="1" hangingPunct="1">
              <a:buFont typeface="Wingdings" panose="05000000000000000000" pitchFamily="2" charset="2"/>
              <a:buChar char="ü"/>
              <a:defRPr/>
            </a:pPr>
            <a:r>
              <a:rPr lang="zh-CN" altLang="en-US" b="1" dirty="0"/>
              <a:t>指令格式的优化</a:t>
            </a:r>
            <a:endParaRPr lang="en-US" altLang="zh-CN" b="1" dirty="0"/>
          </a:p>
          <a:p>
            <a:pPr lvl="1" eaLnBrk="1" hangingPunct="1">
              <a:defRPr/>
            </a:pPr>
            <a:r>
              <a:rPr lang="zh-CN" altLang="en-US" b="1" dirty="0"/>
              <a:t>指令系统的发展和改进</a:t>
            </a:r>
            <a:endParaRPr lang="en-US" altLang="zh-CN" b="1" dirty="0"/>
          </a:p>
          <a:p>
            <a:pPr marL="1101600" lvl="1" eaLnBrk="1" hangingPunct="1">
              <a:buFont typeface="Wingdings" panose="05000000000000000000" pitchFamily="2" charset="2"/>
              <a:buChar char="ü"/>
              <a:defRPr/>
            </a:pPr>
            <a:r>
              <a:rPr lang="zh-CN" altLang="en-US" b="1" dirty="0"/>
              <a:t> </a:t>
            </a:r>
            <a:r>
              <a:rPr lang="en-US" altLang="zh-CN" b="1" dirty="0"/>
              <a:t>CISC</a:t>
            </a:r>
            <a:r>
              <a:rPr lang="zh-CN" altLang="en-US" b="1" dirty="0"/>
              <a:t>指令集功能设计（目标程序、高级语言和编译器、操作系统）</a:t>
            </a:r>
            <a:endParaRPr lang="en-US" altLang="zh-CN" b="1" dirty="0"/>
          </a:p>
          <a:p>
            <a:pPr marL="1101600" lvl="1" eaLnBrk="1" hangingPunct="1">
              <a:buFont typeface="Wingdings" panose="05000000000000000000" pitchFamily="2" charset="2"/>
              <a:buChar char="ü"/>
              <a:defRPr/>
            </a:pPr>
            <a:r>
              <a:rPr lang="en-US" altLang="zh-CN" b="1" dirty="0"/>
              <a:t> RISC</a:t>
            </a:r>
            <a:r>
              <a:rPr lang="zh-CN" altLang="en-US" b="1" dirty="0"/>
              <a:t>指令集功能设计</a:t>
            </a:r>
            <a:endParaRPr lang="en-US" altLang="zh-CN" b="1" dirty="0">
              <a:latin typeface="+mj-lt"/>
            </a:endParaRPr>
          </a:p>
          <a:p>
            <a:pPr lvl="1" eaLnBrk="1" hangingPunct="1">
              <a:defRPr/>
            </a:pPr>
            <a:r>
              <a:rPr lang="en-US" altLang="zh-CN" b="1" dirty="0"/>
              <a:t>MIPS32</a:t>
            </a:r>
            <a:r>
              <a:rPr lang="zh-CN" altLang="en-US" b="1" dirty="0"/>
              <a:t>指令系统</a:t>
            </a:r>
            <a:endParaRPr lang="en-US" altLang="zh-CN" b="1" dirty="0"/>
          </a:p>
          <a:p>
            <a:pPr marL="1101600" lvl="1" eaLnBrk="1" fontAlgn="auto" hangingPunct="1">
              <a:spcAft>
                <a:spcPts val="0"/>
              </a:spcAft>
              <a:buFont typeface="Wingdings" panose="05000000000000000000" pitchFamily="2" charset="2"/>
              <a:buChar char="ü"/>
              <a:defRPr/>
            </a:pPr>
            <a:r>
              <a:rPr lang="en-US" altLang="zh-CN" b="1" dirty="0"/>
              <a:t> </a:t>
            </a:r>
            <a:r>
              <a:rPr lang="zh-CN" altLang="en-US" b="1" dirty="0"/>
              <a:t>常用指令统计分析</a:t>
            </a:r>
          </a:p>
          <a:p>
            <a:pPr marL="1101600" lvl="1" eaLnBrk="1" fontAlgn="auto" hangingPunct="1">
              <a:spcAft>
                <a:spcPts val="0"/>
              </a:spcAft>
              <a:buFont typeface="Wingdings" panose="05000000000000000000" pitchFamily="2" charset="2"/>
              <a:buChar char="ü"/>
              <a:defRPr/>
            </a:pPr>
            <a:r>
              <a:rPr lang="en-US" altLang="zh-CN" b="1" dirty="0">
                <a:latin typeface="+mj-lt"/>
              </a:rPr>
              <a:t> </a:t>
            </a:r>
            <a:r>
              <a:rPr lang="zh-CN" altLang="en-US" b="1" dirty="0">
                <a:latin typeface="+mj-lt"/>
              </a:rPr>
              <a:t>性能分析</a:t>
            </a:r>
            <a:endParaRPr lang="en-US" altLang="zh-CN" b="1" dirty="0">
              <a:latin typeface="+mj-lt"/>
            </a:endParaRPr>
          </a:p>
        </p:txBody>
      </p:sp>
      <p:sp>
        <p:nvSpPr>
          <p:cNvPr id="2" name="日期占位符 1">
            <a:extLst>
              <a:ext uri="{FF2B5EF4-FFF2-40B4-BE49-F238E27FC236}">
                <a16:creationId xmlns:a16="http://schemas.microsoft.com/office/drawing/2014/main" id="{3B3F4F2F-5129-2105-8F45-3F7F556128FA}"/>
              </a:ext>
            </a:extLst>
          </p:cNvPr>
          <p:cNvSpPr>
            <a:spLocks noGrp="1"/>
          </p:cNvSpPr>
          <p:nvPr>
            <p:ph type="dt" sz="half" idx="10"/>
          </p:nvPr>
        </p:nvSpPr>
        <p:spPr/>
        <p:txBody>
          <a:bodyPr/>
          <a:lstStyle/>
          <a:p>
            <a:pPr>
              <a:defRPr/>
            </a:pPr>
            <a:fld id="{CB7F12E8-0F93-41E0-850B-9E2FA51F5F04}" type="datetime1">
              <a:rPr lang="zh-CN" altLang="en-US" smtClean="0"/>
              <a:t>2025/9/25</a:t>
            </a:fld>
            <a:endParaRPr lang="en-US" altLang="zh-CN"/>
          </a:p>
        </p:txBody>
      </p:sp>
      <p:sp>
        <p:nvSpPr>
          <p:cNvPr id="4" name="页脚占位符 3">
            <a:extLst>
              <a:ext uri="{FF2B5EF4-FFF2-40B4-BE49-F238E27FC236}">
                <a16:creationId xmlns:a16="http://schemas.microsoft.com/office/drawing/2014/main" id="{74496B13-BDD8-1389-4DFA-CF4A6307B874}"/>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5" name="灯片编号占位符 4">
            <a:extLst>
              <a:ext uri="{FF2B5EF4-FFF2-40B4-BE49-F238E27FC236}">
                <a16:creationId xmlns:a16="http://schemas.microsoft.com/office/drawing/2014/main" id="{273EF78B-EAD1-47DF-BAF8-2971C4B426AA}"/>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9" name="Rectangle 7"/>
          <p:cNvSpPr>
            <a:spLocks noChangeArrowheads="1"/>
          </p:cNvSpPr>
          <p:nvPr/>
        </p:nvSpPr>
        <p:spPr bwMode="auto">
          <a:xfrm>
            <a:off x="2339975" y="1212826"/>
            <a:ext cx="5616575"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1 </a:t>
            </a:r>
            <a:r>
              <a:rPr lang="zh-CN" altLang="en-US" sz="2800" dirty="0">
                <a:solidFill>
                  <a:schemeClr val="tx2"/>
                </a:solidFill>
                <a:effectLst>
                  <a:outerShdw blurRad="38100" dist="38100" dir="2700000" algn="tl">
                    <a:srgbClr val="000000"/>
                  </a:outerShdw>
                </a:effectLst>
                <a:latin typeface="Arial" charset="0"/>
              </a:rPr>
              <a:t>章  计算机体系结构基本概念</a:t>
            </a:r>
          </a:p>
        </p:txBody>
      </p:sp>
      <p:sp>
        <p:nvSpPr>
          <p:cNvPr id="658440" name="Rectangle 8"/>
          <p:cNvSpPr>
            <a:spLocks noChangeArrowheads="1"/>
          </p:cNvSpPr>
          <p:nvPr/>
        </p:nvSpPr>
        <p:spPr bwMode="auto">
          <a:xfrm>
            <a:off x="2360613" y="2420914"/>
            <a:ext cx="5256212" cy="592137"/>
          </a:xfrm>
          <a:prstGeom prst="rect">
            <a:avLst/>
          </a:prstGeom>
          <a:noFill/>
          <a:ln w="9525">
            <a:noFill/>
            <a:miter lim="800000"/>
            <a:headEnd/>
            <a:tailEnd/>
          </a:ln>
          <a:effectLst/>
        </p:spPr>
        <p:txBody>
          <a:bodyPr lIns="92075" tIns="46038" rIns="92075" bIns="46038" anchor="ctr"/>
          <a:lstStyle/>
          <a:p>
            <a:pPr>
              <a:defRPr/>
            </a:pPr>
            <a:r>
              <a:rPr lang="zh-CN" altLang="en-US" sz="2800" u="sng" dirty="0">
                <a:solidFill>
                  <a:srgbClr val="3366FF"/>
                </a:solidFill>
                <a:effectLst>
                  <a:outerShdw blurRad="38100" dist="38100" dir="2700000" algn="tl">
                    <a:srgbClr val="000000"/>
                  </a:outerShdw>
                </a:effectLst>
                <a:latin typeface="Arial" charset="0"/>
              </a:rPr>
              <a:t>第 </a:t>
            </a:r>
            <a:r>
              <a:rPr lang="en-US" altLang="zh-CN" sz="2800" u="sng" dirty="0">
                <a:solidFill>
                  <a:srgbClr val="3366FF"/>
                </a:solidFill>
                <a:effectLst>
                  <a:outerShdw blurRad="38100" dist="38100" dir="2700000" algn="tl">
                    <a:srgbClr val="000000"/>
                  </a:outerShdw>
                </a:effectLst>
                <a:latin typeface="Arial" charset="0"/>
              </a:rPr>
              <a:t>3 </a:t>
            </a:r>
            <a:r>
              <a:rPr lang="zh-CN" altLang="en-US" sz="2800" u="sng" dirty="0">
                <a:solidFill>
                  <a:srgbClr val="3366FF"/>
                </a:solidFill>
                <a:effectLst>
                  <a:outerShdw blurRad="38100" dist="38100" dir="2700000" algn="tl">
                    <a:srgbClr val="000000"/>
                  </a:outerShdw>
                </a:effectLst>
                <a:latin typeface="Arial" charset="0"/>
              </a:rPr>
              <a:t>章  流水线技术</a:t>
            </a:r>
          </a:p>
        </p:txBody>
      </p:sp>
      <p:sp>
        <p:nvSpPr>
          <p:cNvPr id="658441" name="Rectangle 9"/>
          <p:cNvSpPr>
            <a:spLocks noChangeArrowheads="1"/>
          </p:cNvSpPr>
          <p:nvPr/>
        </p:nvSpPr>
        <p:spPr bwMode="auto">
          <a:xfrm>
            <a:off x="2339975" y="30368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Times New Roman" pitchFamily="18" charset="0"/>
              </a:rPr>
              <a:t>4 </a:t>
            </a:r>
            <a:r>
              <a:rPr lang="zh-CN" altLang="en-US" sz="2800" dirty="0">
                <a:solidFill>
                  <a:schemeClr val="tx2"/>
                </a:solidFill>
                <a:effectLst>
                  <a:outerShdw blurRad="38100" dist="38100" dir="2700000" algn="tl">
                    <a:srgbClr val="000000"/>
                  </a:outerShdw>
                </a:effectLst>
                <a:latin typeface="Arial" charset="0"/>
              </a:rPr>
              <a:t>章   指令级并行</a:t>
            </a:r>
          </a:p>
        </p:txBody>
      </p:sp>
      <p:sp>
        <p:nvSpPr>
          <p:cNvPr id="658442" name="Rectangle 10"/>
          <p:cNvSpPr>
            <a:spLocks noChangeArrowheads="1"/>
          </p:cNvSpPr>
          <p:nvPr/>
        </p:nvSpPr>
        <p:spPr bwMode="auto">
          <a:xfrm>
            <a:off x="2339975" y="365281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5 </a:t>
            </a:r>
            <a:r>
              <a:rPr lang="zh-CN" altLang="en-US" sz="2800" dirty="0">
                <a:solidFill>
                  <a:schemeClr val="tx2"/>
                </a:solidFill>
                <a:effectLst>
                  <a:outerShdw blurRad="38100" dist="38100" dir="2700000" algn="tl">
                    <a:srgbClr val="000000"/>
                  </a:outerShdw>
                </a:effectLst>
                <a:latin typeface="Arial" charset="0"/>
              </a:rPr>
              <a:t>章  存储层次</a:t>
            </a:r>
          </a:p>
        </p:txBody>
      </p:sp>
      <p:sp>
        <p:nvSpPr>
          <p:cNvPr id="658443" name="Rectangle 11"/>
          <p:cNvSpPr>
            <a:spLocks noChangeArrowheads="1"/>
          </p:cNvSpPr>
          <p:nvPr/>
        </p:nvSpPr>
        <p:spPr bwMode="auto">
          <a:xfrm>
            <a:off x="2339975" y="42687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Times New Roman" pitchFamily="18" charset="0"/>
              </a:rPr>
              <a:t>6 </a:t>
            </a:r>
            <a:r>
              <a:rPr lang="zh-CN" altLang="en-US" sz="2800" dirty="0">
                <a:solidFill>
                  <a:schemeClr val="tx2"/>
                </a:solidFill>
                <a:effectLst>
                  <a:outerShdw blurRad="38100" dist="38100" dir="2700000" algn="tl">
                    <a:srgbClr val="000000"/>
                  </a:outerShdw>
                </a:effectLst>
                <a:latin typeface="Arial" charset="0"/>
              </a:rPr>
              <a:t>章   输入输出系统</a:t>
            </a:r>
          </a:p>
        </p:txBody>
      </p:sp>
      <p:sp>
        <p:nvSpPr>
          <p:cNvPr id="13" name="Rectangle 8"/>
          <p:cNvSpPr>
            <a:spLocks noChangeArrowheads="1"/>
          </p:cNvSpPr>
          <p:nvPr/>
        </p:nvSpPr>
        <p:spPr bwMode="auto">
          <a:xfrm>
            <a:off x="2339975" y="1828776"/>
            <a:ext cx="5256213"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2 </a:t>
            </a:r>
            <a:r>
              <a:rPr lang="zh-CN" altLang="en-US" sz="2800" dirty="0">
                <a:solidFill>
                  <a:schemeClr val="tx2"/>
                </a:solidFill>
                <a:effectLst>
                  <a:outerShdw blurRad="38100" dist="38100" dir="2700000" algn="tl">
                    <a:srgbClr val="000000"/>
                  </a:outerShdw>
                </a:effectLst>
                <a:latin typeface="Arial" charset="0"/>
              </a:rPr>
              <a:t>章  指令系统</a:t>
            </a:r>
          </a:p>
        </p:txBody>
      </p:sp>
      <p:sp>
        <p:nvSpPr>
          <p:cNvPr id="12" name="Rectangle 7"/>
          <p:cNvSpPr>
            <a:spLocks noChangeArrowheads="1"/>
          </p:cNvSpPr>
          <p:nvPr/>
        </p:nvSpPr>
        <p:spPr bwMode="auto">
          <a:xfrm>
            <a:off x="2339752" y="620688"/>
            <a:ext cx="5616575"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0 </a:t>
            </a:r>
            <a:r>
              <a:rPr lang="zh-CN" altLang="en-US" sz="2800" dirty="0">
                <a:solidFill>
                  <a:schemeClr val="tx2"/>
                </a:solidFill>
                <a:effectLst>
                  <a:outerShdw blurRad="38100" dist="38100" dir="2700000" algn="tl">
                    <a:srgbClr val="000000"/>
                  </a:outerShdw>
                </a:effectLst>
                <a:latin typeface="Arial" charset="0"/>
              </a:rPr>
              <a:t>章  前言</a:t>
            </a:r>
          </a:p>
        </p:txBody>
      </p:sp>
      <p:sp>
        <p:nvSpPr>
          <p:cNvPr id="2" name="日期占位符 1">
            <a:extLst>
              <a:ext uri="{FF2B5EF4-FFF2-40B4-BE49-F238E27FC236}">
                <a16:creationId xmlns:a16="http://schemas.microsoft.com/office/drawing/2014/main" id="{65983415-EF55-ECA1-5A93-2FE41F56F77F}"/>
              </a:ext>
            </a:extLst>
          </p:cNvPr>
          <p:cNvSpPr>
            <a:spLocks noGrp="1"/>
          </p:cNvSpPr>
          <p:nvPr>
            <p:ph type="dt" sz="half" idx="10"/>
          </p:nvPr>
        </p:nvSpPr>
        <p:spPr/>
        <p:txBody>
          <a:bodyPr/>
          <a:lstStyle/>
          <a:p>
            <a:pPr>
              <a:defRPr/>
            </a:pPr>
            <a:fld id="{9CF55664-17C6-413D-A80C-1996E46541C2}" type="datetime1">
              <a:rPr lang="zh-CN" altLang="en-US" smtClean="0"/>
              <a:t>2025/9/25</a:t>
            </a:fld>
            <a:endParaRPr lang="en-US" altLang="zh-CN"/>
          </a:p>
        </p:txBody>
      </p:sp>
      <p:sp>
        <p:nvSpPr>
          <p:cNvPr id="3" name="页脚占位符 2">
            <a:extLst>
              <a:ext uri="{FF2B5EF4-FFF2-40B4-BE49-F238E27FC236}">
                <a16:creationId xmlns:a16="http://schemas.microsoft.com/office/drawing/2014/main" id="{C6F2F3FB-C843-3A51-09CA-D2D719DA222F}"/>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98ACA7EB-15F8-2D58-7A49-03D2BFBEED1C}"/>
              </a:ext>
            </a:extLst>
          </p:cNvPr>
          <p:cNvSpPr>
            <a:spLocks noGrp="1"/>
          </p:cNvSpPr>
          <p:nvPr>
            <p:ph type="sldNum" sz="quarter" idx="12"/>
          </p:nvPr>
        </p:nvSpPr>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2368169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title"/>
          </p:nvPr>
        </p:nvSpPr>
        <p:spPr>
          <a:xfrm>
            <a:off x="468313" y="333375"/>
            <a:ext cx="8229600" cy="1143000"/>
          </a:xfrm>
        </p:spPr>
        <p:txBody>
          <a:bodyPr/>
          <a:lstStyle/>
          <a:p>
            <a:pPr eaLnBrk="1" hangingPunct="1"/>
            <a:r>
              <a:rPr lang="zh-CN" altLang="en-US" sz="3600" b="1" dirty="0"/>
              <a:t>第</a:t>
            </a:r>
            <a:r>
              <a:rPr lang="en-US" altLang="zh-CN" sz="3600" b="1" dirty="0">
                <a:latin typeface="Times New Roman" panose="02020603050405020304" pitchFamily="18" charset="0"/>
                <a:cs typeface="Times New Roman" panose="02020603050405020304" pitchFamily="18" charset="0"/>
              </a:rPr>
              <a:t>3</a:t>
            </a:r>
            <a:r>
              <a:rPr lang="zh-CN" altLang="en-US" sz="3600" b="1" dirty="0"/>
              <a:t>章 流水线技术</a:t>
            </a:r>
          </a:p>
        </p:txBody>
      </p:sp>
      <p:sp>
        <p:nvSpPr>
          <p:cNvPr id="4099" name="Rectangle 3"/>
          <p:cNvSpPr>
            <a:spLocks noGrp="1" noChangeArrowheads="1"/>
          </p:cNvSpPr>
          <p:nvPr>
            <p:ph idx="1"/>
          </p:nvPr>
        </p:nvSpPr>
        <p:spPr/>
        <p:txBody>
          <a:bodyPr/>
          <a:lstStyle/>
          <a:p>
            <a:pPr lvl="1" eaLnBrk="1" hangingPunct="1">
              <a:buFont typeface="Wingdings" pitchFamily="2" charset="2"/>
              <a:buNone/>
            </a:pPr>
            <a:r>
              <a:rPr lang="en-US" altLang="zh-CN" b="1" dirty="0">
                <a:latin typeface="Times New Roman" pitchFamily="18" charset="0"/>
              </a:rPr>
              <a:t>3.1    </a:t>
            </a:r>
            <a:r>
              <a:rPr lang="zh-CN" altLang="en-US" b="1" dirty="0">
                <a:latin typeface="Times New Roman" pitchFamily="18" charset="0"/>
              </a:rPr>
              <a:t>流水线概述</a:t>
            </a:r>
            <a:endParaRPr lang="en-US" altLang="zh-CN" b="1" dirty="0">
              <a:latin typeface="Times New Roman" pitchFamily="18" charset="0"/>
            </a:endParaRPr>
          </a:p>
          <a:p>
            <a:pPr lvl="1" eaLnBrk="1" hangingPunct="1">
              <a:buFont typeface="Wingdings" pitchFamily="2" charset="2"/>
              <a:buNone/>
            </a:pPr>
            <a:endParaRPr lang="en-US" altLang="zh-CN" b="1" dirty="0">
              <a:latin typeface="Times New Roman" pitchFamily="18" charset="0"/>
            </a:endParaRPr>
          </a:p>
          <a:p>
            <a:pPr lvl="1" eaLnBrk="1" hangingPunct="1">
              <a:buFont typeface="Wingdings" pitchFamily="2" charset="2"/>
              <a:buNone/>
            </a:pPr>
            <a:r>
              <a:rPr lang="en-US" altLang="zh-CN" b="1" dirty="0">
                <a:latin typeface="Times New Roman" pitchFamily="18" charset="0"/>
              </a:rPr>
              <a:t>3.2    MIPS</a:t>
            </a:r>
            <a:r>
              <a:rPr lang="zh-CN" altLang="en-US" b="1" dirty="0">
                <a:latin typeface="Times New Roman" pitchFamily="18" charset="0"/>
              </a:rPr>
              <a:t>的基本流水线</a:t>
            </a:r>
            <a:endParaRPr lang="en-US" altLang="zh-CN" b="1" dirty="0">
              <a:latin typeface="Times New Roman" pitchFamily="18" charset="0"/>
            </a:endParaRPr>
          </a:p>
          <a:p>
            <a:pPr lvl="1" eaLnBrk="1" hangingPunct="1">
              <a:buFont typeface="Wingdings" pitchFamily="2" charset="2"/>
              <a:buNone/>
            </a:pPr>
            <a:endParaRPr lang="zh-CN" altLang="en-US" b="1" dirty="0">
              <a:latin typeface="Times New Roman" pitchFamily="18" charset="0"/>
            </a:endParaRPr>
          </a:p>
          <a:p>
            <a:pPr lvl="1" eaLnBrk="1" hangingPunct="1">
              <a:buFont typeface="Wingdings" pitchFamily="2" charset="2"/>
              <a:buNone/>
            </a:pPr>
            <a:r>
              <a:rPr lang="en-US" altLang="zh-CN" b="1" dirty="0">
                <a:latin typeface="Times New Roman" pitchFamily="18" charset="0"/>
              </a:rPr>
              <a:t>3.3    </a:t>
            </a:r>
            <a:r>
              <a:rPr lang="zh-CN" altLang="en-US" b="1" dirty="0">
                <a:latin typeface="Times New Roman" pitchFamily="18" charset="0"/>
              </a:rPr>
              <a:t>流水线中的冲突</a:t>
            </a:r>
            <a:endParaRPr lang="en-US" altLang="zh-CN" b="1" dirty="0">
              <a:latin typeface="Times New Roman" pitchFamily="18" charset="0"/>
            </a:endParaRPr>
          </a:p>
          <a:p>
            <a:pPr lvl="1" eaLnBrk="1" hangingPunct="1">
              <a:buFont typeface="Wingdings" pitchFamily="2" charset="2"/>
              <a:buNone/>
            </a:pPr>
            <a:endParaRPr lang="en-US" altLang="zh-CN" b="1" dirty="0">
              <a:latin typeface="Times New Roman" pitchFamily="18" charset="0"/>
            </a:endParaRPr>
          </a:p>
          <a:p>
            <a:pPr lvl="1" eaLnBrk="1" hangingPunct="1">
              <a:buFont typeface="Wingdings" pitchFamily="2" charset="2"/>
              <a:buNone/>
            </a:pPr>
            <a:r>
              <a:rPr lang="en-US" altLang="zh-CN" b="1" dirty="0">
                <a:latin typeface="Times New Roman" pitchFamily="18" charset="0"/>
              </a:rPr>
              <a:t>3.4    </a:t>
            </a:r>
            <a:r>
              <a:rPr lang="zh-CN" altLang="en-US" b="1" dirty="0">
                <a:latin typeface="Times New Roman" pitchFamily="18" charset="0"/>
              </a:rPr>
              <a:t>实例分析：</a:t>
            </a:r>
            <a:r>
              <a:rPr lang="en-US" altLang="zh-CN" b="1" dirty="0">
                <a:latin typeface="Times New Roman" pitchFamily="18" charset="0"/>
              </a:rPr>
              <a:t>MIPS R4000</a:t>
            </a:r>
          </a:p>
          <a:p>
            <a:pPr lvl="1" eaLnBrk="1" hangingPunct="1">
              <a:buFont typeface="Wingdings" pitchFamily="2" charset="2"/>
              <a:buNone/>
            </a:pPr>
            <a:endParaRPr lang="en-US" altLang="zh-CN" b="1" dirty="0">
              <a:latin typeface="Times New Roman" pitchFamily="18" charset="0"/>
            </a:endParaRPr>
          </a:p>
          <a:p>
            <a:pPr lvl="1" eaLnBrk="1" hangingPunct="1">
              <a:buNone/>
            </a:pPr>
            <a:r>
              <a:rPr lang="en-US" altLang="zh-CN" b="1" dirty="0">
                <a:latin typeface="Times New Roman" pitchFamily="18" charset="0"/>
              </a:rPr>
              <a:t>3.5    </a:t>
            </a:r>
            <a:r>
              <a:rPr lang="zh-CN" altLang="en-US" b="1" dirty="0">
                <a:latin typeface="Times New Roman" pitchFamily="18" charset="0"/>
              </a:rPr>
              <a:t>向量处理机</a:t>
            </a:r>
            <a:endParaRPr lang="en-US" altLang="zh-CN" b="1" dirty="0">
              <a:latin typeface="Times New Roman" pitchFamily="18" charset="0"/>
            </a:endParaRPr>
          </a:p>
          <a:p>
            <a:pPr lvl="1" eaLnBrk="1" hangingPunct="1">
              <a:buFont typeface="Wingdings" pitchFamily="2" charset="2"/>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DD7A53E3-3111-F62F-43E4-EB8DE37C0F25}"/>
              </a:ext>
            </a:extLst>
          </p:cNvPr>
          <p:cNvSpPr>
            <a:spLocks noGrp="1"/>
          </p:cNvSpPr>
          <p:nvPr>
            <p:ph type="dt" sz="half" idx="10"/>
          </p:nvPr>
        </p:nvSpPr>
        <p:spPr/>
        <p:txBody>
          <a:bodyPr/>
          <a:lstStyle/>
          <a:p>
            <a:pPr>
              <a:defRPr/>
            </a:pPr>
            <a:fld id="{4283BC51-3A10-480D-BA2A-AE31029D8974}" type="datetime1">
              <a:rPr lang="zh-CN" altLang="en-US" smtClean="0"/>
              <a:t>2025/9/25</a:t>
            </a:fld>
            <a:endParaRPr lang="en-US" altLang="zh-CN"/>
          </a:p>
        </p:txBody>
      </p:sp>
      <p:sp>
        <p:nvSpPr>
          <p:cNvPr id="3" name="页脚占位符 2">
            <a:extLst>
              <a:ext uri="{FF2B5EF4-FFF2-40B4-BE49-F238E27FC236}">
                <a16:creationId xmlns:a16="http://schemas.microsoft.com/office/drawing/2014/main" id="{5DA27EBB-4DC2-D9B1-A898-5DA4A870D88D}"/>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F684B889-D283-60AB-7255-B58C14D70410}"/>
              </a:ext>
            </a:extLst>
          </p:cNvPr>
          <p:cNvSpPr>
            <a:spLocks noGrp="1"/>
          </p:cNvSpPr>
          <p:nvPr>
            <p:ph type="sldNum" sz="quarter" idx="12"/>
          </p:nvPr>
        </p:nvSpPr>
        <p:spPr/>
        <p:txBody>
          <a:bodyPr/>
          <a:lstStyle/>
          <a:p>
            <a:pPr>
              <a:defRPr/>
            </a:pPr>
            <a:fld id="{8BCAC33D-D29A-48B3-BCD6-381D3D720D26}" type="slidenum">
              <a:rPr lang="zh-CN" altLang="en-US" smtClean="0"/>
              <a:t>4</a:t>
            </a:fld>
            <a:endParaRPr lang="en-US" altLang="zh-CN"/>
          </a:p>
        </p:txBody>
      </p:sp>
    </p:spTree>
    <p:extLst>
      <p:ext uri="{BB962C8B-B14F-4D97-AF65-F5344CB8AC3E}">
        <p14:creationId xmlns:p14="http://schemas.microsoft.com/office/powerpoint/2010/main" val="354284721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rtlCol="0">
            <a:normAutofit/>
          </a:bodyPr>
          <a:lstStyle/>
          <a:p>
            <a:pPr eaLnBrk="1" fontAlgn="auto" hangingPunct="1">
              <a:spcAft>
                <a:spcPts val="0"/>
              </a:spcAft>
              <a:defRPr/>
            </a:pPr>
            <a:r>
              <a:rPr lang="en-US" altLang="zh-CN" sz="3600" b="1" dirty="0">
                <a:latin typeface="Times New Roman" panose="02020603050405020304" pitchFamily="18" charset="0"/>
                <a:cs typeface="Times New Roman" panose="02020603050405020304" pitchFamily="18" charset="0"/>
              </a:rPr>
              <a:t>3.1  </a:t>
            </a:r>
            <a:r>
              <a:rPr lang="zh-CN" altLang="en-US" sz="3600" b="1" dirty="0">
                <a:latin typeface="Times New Roman" panose="02020603050405020304" pitchFamily="18" charset="0"/>
                <a:cs typeface="Times New Roman" panose="02020603050405020304" pitchFamily="18" charset="0"/>
              </a:rPr>
              <a:t>流水线概述</a:t>
            </a:r>
          </a:p>
        </p:txBody>
      </p:sp>
      <p:sp>
        <p:nvSpPr>
          <p:cNvPr id="5123" name="Rectangle 2"/>
          <p:cNvSpPr>
            <a:spLocks noGrp="1" noChangeArrowheads="1"/>
          </p:cNvSpPr>
          <p:nvPr>
            <p:ph idx="1"/>
          </p:nvPr>
        </p:nvSpPr>
        <p:spPr>
          <a:xfrm>
            <a:off x="755650" y="1700213"/>
            <a:ext cx="7064375" cy="3313112"/>
          </a:xfrm>
        </p:spPr>
        <p:txBody>
          <a:bodyPr/>
          <a:lstStyle/>
          <a:p>
            <a:pPr marL="0" indent="0" eaLnBrk="1" hangingPunct="1">
              <a:spcBef>
                <a:spcPct val="50000"/>
              </a:spcBef>
              <a:buFont typeface="Arial" pitchFamily="34" charset="0"/>
              <a:buNone/>
            </a:pPr>
            <a:r>
              <a:rPr lang="en-US" altLang="zh-CN" sz="2800" b="1" dirty="0">
                <a:latin typeface="Times New Roman" pitchFamily="18" charset="0"/>
              </a:rPr>
              <a:t>3.1.1  </a:t>
            </a:r>
            <a:r>
              <a:rPr lang="zh-CN" altLang="en-US" sz="2800" b="1" dirty="0">
                <a:latin typeface="Times New Roman" pitchFamily="18" charset="0"/>
              </a:rPr>
              <a:t>流水线基本概念</a:t>
            </a:r>
            <a:endParaRPr lang="en-US" altLang="zh-CN" sz="2800" b="1" dirty="0">
              <a:latin typeface="Times New Roman"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3.1.2  </a:t>
            </a:r>
            <a:r>
              <a:rPr lang="zh-CN" altLang="en-US" sz="2800" b="1" dirty="0">
                <a:latin typeface="Times New Roman" pitchFamily="18" charset="0"/>
              </a:rPr>
              <a:t>流水线分类</a:t>
            </a:r>
          </a:p>
          <a:p>
            <a:pPr marL="966788" lvl="1" indent="-495300" eaLnBrk="1" hangingPunct="1">
              <a:spcBef>
                <a:spcPct val="50000"/>
              </a:spcBef>
              <a:buFont typeface="Wingdings" pitchFamily="2" charset="2"/>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07DE593F-6BAC-1EAE-42CA-2912572E9E00}"/>
              </a:ext>
            </a:extLst>
          </p:cNvPr>
          <p:cNvSpPr>
            <a:spLocks noGrp="1"/>
          </p:cNvSpPr>
          <p:nvPr>
            <p:ph type="dt" sz="half" idx="10"/>
          </p:nvPr>
        </p:nvSpPr>
        <p:spPr/>
        <p:txBody>
          <a:bodyPr/>
          <a:lstStyle/>
          <a:p>
            <a:pPr>
              <a:defRPr/>
            </a:pPr>
            <a:fld id="{E967FBC9-848B-4AAE-83CB-8CE632DA9F5B}" type="datetime1">
              <a:rPr lang="zh-CN" altLang="en-US" smtClean="0"/>
              <a:t>2025/9/25</a:t>
            </a:fld>
            <a:endParaRPr lang="en-US" altLang="zh-CN"/>
          </a:p>
        </p:txBody>
      </p:sp>
      <p:sp>
        <p:nvSpPr>
          <p:cNvPr id="3" name="页脚占位符 2">
            <a:extLst>
              <a:ext uri="{FF2B5EF4-FFF2-40B4-BE49-F238E27FC236}">
                <a16:creationId xmlns:a16="http://schemas.microsoft.com/office/drawing/2014/main" id="{16DB9917-3A3E-BFA1-06D3-210A09E4CC85}"/>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A3BA2FCC-CA96-8667-0D66-8F6D500861A3}"/>
              </a:ext>
            </a:extLst>
          </p:cNvPr>
          <p:cNvSpPr>
            <a:spLocks noGrp="1"/>
          </p:cNvSpPr>
          <p:nvPr>
            <p:ph type="sldNum" sz="quarter" idx="12"/>
          </p:nvPr>
        </p:nvSpPr>
        <p:spPr/>
        <p:txBody>
          <a:bodyPr/>
          <a:lstStyle/>
          <a:p>
            <a:pPr>
              <a:defRPr/>
            </a:pPr>
            <a:fld id="{8BCAC33D-D29A-48B3-BCD6-381D3D720D26}" type="slidenum">
              <a:rPr lang="zh-CN" altLang="en-US" smtClean="0"/>
              <a:t>5</a:t>
            </a:fld>
            <a:endParaRPr lang="en-US" altLang="zh-CN"/>
          </a:p>
        </p:txBody>
      </p:sp>
    </p:spTree>
    <p:extLst>
      <p:ext uri="{BB962C8B-B14F-4D97-AF65-F5344CB8AC3E}">
        <p14:creationId xmlns:p14="http://schemas.microsoft.com/office/powerpoint/2010/main" val="320086814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title"/>
          </p:nvPr>
        </p:nvSpPr>
        <p:spPr/>
        <p:txBody>
          <a:bodyPr/>
          <a:lstStyle/>
          <a:p>
            <a:pPr eaLnBrk="1" hangingPunct="1"/>
            <a:r>
              <a:rPr lang="en-US" altLang="zh-CN" sz="3600" b="1" dirty="0">
                <a:latin typeface="Times New Roman" pitchFamily="18" charset="0"/>
              </a:rPr>
              <a:t>3.1.1 </a:t>
            </a:r>
            <a:r>
              <a:rPr lang="zh-CN" altLang="en-US" sz="3600" b="1" dirty="0">
                <a:latin typeface="Times New Roman" pitchFamily="18" charset="0"/>
              </a:rPr>
              <a:t>流水线的基本概念</a:t>
            </a:r>
          </a:p>
        </p:txBody>
      </p:sp>
      <p:sp>
        <p:nvSpPr>
          <p:cNvPr id="15368" name="Rectangle 8"/>
          <p:cNvSpPr>
            <a:spLocks noGrp="1" noChangeArrowheads="1"/>
          </p:cNvSpPr>
          <p:nvPr>
            <p:ph idx="1"/>
          </p:nvPr>
        </p:nvSpPr>
        <p:spPr>
          <a:xfrm>
            <a:off x="684213" y="1557933"/>
            <a:ext cx="7704137" cy="4751387"/>
          </a:xfrm>
        </p:spPr>
        <p:txBody>
          <a:bodyPr/>
          <a:lstStyle/>
          <a:p>
            <a:pPr eaLnBrk="1" hangingPunct="1">
              <a:lnSpc>
                <a:spcPct val="120000"/>
              </a:lnSpc>
              <a:buFont typeface="Wingdings" pitchFamily="2" charset="2"/>
              <a:buNone/>
            </a:pPr>
            <a:r>
              <a:rPr lang="en-US" altLang="zh-CN" sz="2800" b="1" dirty="0">
                <a:latin typeface="Times New Roman" panose="02020603050405020304" pitchFamily="18" charset="0"/>
                <a:cs typeface="Times New Roman" panose="02020603050405020304" pitchFamily="18" charset="0"/>
              </a:rPr>
              <a:t>1. </a:t>
            </a:r>
            <a:r>
              <a:rPr lang="zh-CN" altLang="en-US" sz="2800" b="1" dirty="0">
                <a:latin typeface="Times New Roman" panose="02020603050405020304" pitchFamily="18" charset="0"/>
                <a:cs typeface="Times New Roman" panose="02020603050405020304" pitchFamily="18" charset="0"/>
              </a:rPr>
              <a:t>产品生产流水线</a:t>
            </a:r>
          </a:p>
          <a:p>
            <a:pPr eaLnBrk="1" hangingPunct="1">
              <a:lnSpc>
                <a:spcPct val="120000"/>
              </a:lnSpc>
              <a:buFont typeface="Wingdings" pitchFamily="2" charset="2"/>
              <a:buNone/>
            </a:pPr>
            <a:r>
              <a:rPr lang="en-US" altLang="zh-CN" sz="2800" b="1" dirty="0">
                <a:latin typeface="Times New Roman" panose="02020603050405020304" pitchFamily="18" charset="0"/>
                <a:cs typeface="Times New Roman" panose="02020603050405020304" pitchFamily="18" charset="0"/>
              </a:rPr>
              <a:t>(1) </a:t>
            </a:r>
            <a:r>
              <a:rPr lang="zh-CN" altLang="en-US" sz="2800" b="1" dirty="0">
                <a:latin typeface="Times New Roman" panose="02020603050405020304" pitchFamily="18" charset="0"/>
                <a:cs typeface="Times New Roman" panose="02020603050405020304" pitchFamily="18" charset="0"/>
              </a:rPr>
              <a:t>一个问题</a:t>
            </a:r>
          </a:p>
          <a:p>
            <a:pPr eaLnBrk="1" hangingPunct="1">
              <a:lnSpc>
                <a:spcPct val="120000"/>
              </a:lnSpc>
              <a:buFont typeface="Wingdings" pitchFamily="2" charset="2"/>
              <a:buNone/>
            </a:pPr>
            <a:r>
              <a:rPr lang="zh-CN" altLang="en-US"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假设某产品的生产需要</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道工序，该产品生产车间以前只有</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个工人，</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套生产该产品的机器。该工人工作</a:t>
            </a:r>
            <a:r>
              <a:rPr lang="en-US" altLang="zh-CN" sz="2400" b="1" dirty="0">
                <a:latin typeface="Times New Roman" panose="02020603050405020304" pitchFamily="18" charset="0"/>
                <a:cs typeface="Times New Roman" panose="02020603050405020304" pitchFamily="18" charset="0"/>
              </a:rPr>
              <a:t>8</a:t>
            </a:r>
            <a:r>
              <a:rPr lang="zh-CN" altLang="en-US" sz="2400" b="1" dirty="0">
                <a:latin typeface="Times New Roman" panose="02020603050405020304" pitchFamily="18" charset="0"/>
                <a:cs typeface="Times New Roman" panose="02020603050405020304" pitchFamily="18" charset="0"/>
              </a:rPr>
              <a:t>小时，可以生产</a:t>
            </a:r>
            <a:r>
              <a:rPr lang="en-US" altLang="zh-CN" sz="2400" b="1" dirty="0">
                <a:latin typeface="Times New Roman" panose="02020603050405020304" pitchFamily="18" charset="0"/>
                <a:cs typeface="Times New Roman" panose="02020603050405020304" pitchFamily="18" charset="0"/>
              </a:rPr>
              <a:t>120</a:t>
            </a:r>
            <a:r>
              <a:rPr lang="zh-CN" altLang="en-US" sz="2400" b="1" dirty="0">
                <a:latin typeface="Times New Roman" panose="02020603050405020304" pitchFamily="18" charset="0"/>
                <a:cs typeface="Times New Roman" panose="02020603050405020304" pitchFamily="18" charset="0"/>
              </a:rPr>
              <a:t>件（即每</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分钟生产</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件）。</a:t>
            </a:r>
          </a:p>
          <a:p>
            <a:pPr eaLnBrk="1" hangingPunct="1">
              <a:lnSpc>
                <a:spcPct val="120000"/>
              </a:lnSpc>
              <a:buFont typeface="Wingdings" pitchFamily="2" charset="2"/>
              <a:buNone/>
            </a:pPr>
            <a:r>
              <a:rPr lang="zh-CN" altLang="en-US" sz="2400" b="1" dirty="0">
                <a:latin typeface="Times New Roman" panose="02020603050405020304" pitchFamily="18" charset="0"/>
                <a:cs typeface="Times New Roman" panose="02020603050405020304" pitchFamily="18" charset="0"/>
              </a:rPr>
              <a:t>	要将该产品日产量提高到</a:t>
            </a:r>
            <a:r>
              <a:rPr lang="en-US" altLang="zh-CN" sz="2400" b="1" dirty="0">
                <a:latin typeface="Times New Roman" panose="02020603050405020304" pitchFamily="18" charset="0"/>
                <a:cs typeface="Times New Roman" panose="02020603050405020304" pitchFamily="18" charset="0"/>
              </a:rPr>
              <a:t>480</a:t>
            </a:r>
            <a:r>
              <a:rPr lang="zh-CN" altLang="en-US" sz="2400" b="1" dirty="0">
                <a:latin typeface="Times New Roman" panose="02020603050405020304" pitchFamily="18" charset="0"/>
                <a:cs typeface="Times New Roman" panose="02020603050405020304" pitchFamily="18" charset="0"/>
              </a:rPr>
              <a:t>件，如何能实现目标？</a:t>
            </a:r>
            <a:r>
              <a:rPr lang="zh-CN" altLang="en-US" b="1" dirty="0">
                <a:latin typeface="Times New Roman" panose="02020603050405020304" pitchFamily="18" charset="0"/>
                <a:cs typeface="Times New Roman" panose="02020603050405020304" pitchFamily="18" charset="0"/>
              </a:rPr>
              <a:t> </a:t>
            </a:r>
          </a:p>
        </p:txBody>
      </p:sp>
      <p:sp>
        <p:nvSpPr>
          <p:cNvPr id="2" name="日期占位符 1">
            <a:extLst>
              <a:ext uri="{FF2B5EF4-FFF2-40B4-BE49-F238E27FC236}">
                <a16:creationId xmlns:a16="http://schemas.microsoft.com/office/drawing/2014/main" id="{FC5C16BC-D0F5-A950-74DF-6FFC72168C62}"/>
              </a:ext>
            </a:extLst>
          </p:cNvPr>
          <p:cNvSpPr>
            <a:spLocks noGrp="1"/>
          </p:cNvSpPr>
          <p:nvPr>
            <p:ph type="dt" sz="half" idx="10"/>
          </p:nvPr>
        </p:nvSpPr>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BF2B5BE0-B2E6-9E9C-9F7E-1B9DDFCBB864}"/>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7D95B006-7B88-4780-ED9C-D6C8B0B20E92}"/>
              </a:ext>
            </a:extLst>
          </p:cNvPr>
          <p:cNvSpPr>
            <a:spLocks noGrp="1"/>
          </p:cNvSpPr>
          <p:nvPr>
            <p:ph type="sldNum" sz="quarter" idx="12"/>
          </p:nvPr>
        </p:nvSpPr>
        <p:spPr/>
        <p:txBody>
          <a:bodyPr/>
          <a:lstStyle/>
          <a:p>
            <a:pPr>
              <a:defRPr/>
            </a:pPr>
            <a:fld id="{8BCAC33D-D29A-48B3-BCD6-381D3D720D26}" type="slidenum">
              <a:rPr lang="zh-CN" altLang="en-US" smtClean="0"/>
              <a:t>6</a:t>
            </a:fld>
            <a:endParaRPr lang="en-US" altLang="zh-CN"/>
          </a:p>
        </p:txBody>
      </p:sp>
    </p:spTree>
    <p:extLst>
      <p:ext uri="{BB962C8B-B14F-4D97-AF65-F5344CB8AC3E}">
        <p14:creationId xmlns:p14="http://schemas.microsoft.com/office/powerpoint/2010/main" val="354276392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p:cNvSpPr txBox="1">
            <a:spLocks noChangeArrowheads="1"/>
          </p:cNvSpPr>
          <p:nvPr/>
        </p:nvSpPr>
        <p:spPr bwMode="auto">
          <a:xfrm>
            <a:off x="684213" y="1268413"/>
            <a:ext cx="7488237"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lang="en-US" altLang="zh-CN" sz="2800" b="1" dirty="0">
                <a:latin typeface="Times New Roman" panose="02020603050405020304" pitchFamily="18" charset="0"/>
                <a:ea typeface="+mn-ea"/>
                <a:cs typeface="Times New Roman" panose="02020603050405020304" pitchFamily="18" charset="0"/>
              </a:rPr>
              <a:t>(2) </a:t>
            </a:r>
            <a:r>
              <a:rPr lang="zh-CN" altLang="en-US" sz="2800" b="1" dirty="0">
                <a:latin typeface="Times New Roman" panose="02020603050405020304" pitchFamily="18" charset="0"/>
                <a:ea typeface="+mn-ea"/>
                <a:cs typeface="Times New Roman" panose="02020603050405020304" pitchFamily="18" charset="0"/>
              </a:rPr>
              <a:t>两种解决方案</a:t>
            </a:r>
          </a:p>
          <a:p>
            <a:pPr eaLnBrk="1" hangingPunct="1">
              <a:spcBef>
                <a:spcPct val="100000"/>
              </a:spcBef>
            </a:pPr>
            <a:r>
              <a:rPr lang="zh-CN" altLang="en-US" sz="2400" b="1" dirty="0">
                <a:latin typeface="Times New Roman" panose="02020603050405020304" pitchFamily="18" charset="0"/>
                <a:ea typeface="+mn-ea"/>
                <a:cs typeface="Times New Roman" panose="02020603050405020304" pitchFamily="18" charset="0"/>
              </a:rPr>
              <a:t>	方案一：增加</a:t>
            </a:r>
            <a:r>
              <a:rPr lang="en-US" altLang="zh-CN" sz="2400" b="1" dirty="0">
                <a:latin typeface="Times New Roman" panose="02020603050405020304" pitchFamily="18" charset="0"/>
                <a:ea typeface="+mn-ea"/>
                <a:cs typeface="Times New Roman" panose="02020603050405020304" pitchFamily="18" charset="0"/>
              </a:rPr>
              <a:t>3</a:t>
            </a:r>
            <a:r>
              <a:rPr lang="zh-CN" altLang="en-US" sz="2400" b="1" dirty="0">
                <a:latin typeface="Times New Roman" panose="02020603050405020304" pitchFamily="18" charset="0"/>
                <a:ea typeface="+mn-ea"/>
                <a:cs typeface="Times New Roman" panose="02020603050405020304" pitchFamily="18" charset="0"/>
              </a:rPr>
              <a:t>名工人、</a:t>
            </a:r>
            <a:r>
              <a:rPr lang="en-US" altLang="zh-CN" sz="2400" b="1" dirty="0">
                <a:latin typeface="Times New Roman" panose="02020603050405020304" pitchFamily="18" charset="0"/>
                <a:ea typeface="+mn-ea"/>
                <a:cs typeface="Times New Roman" panose="02020603050405020304" pitchFamily="18" charset="0"/>
              </a:rPr>
              <a:t>3</a:t>
            </a:r>
            <a:r>
              <a:rPr lang="zh-CN" altLang="en-US" sz="2400" b="1" dirty="0">
                <a:latin typeface="Times New Roman" panose="02020603050405020304" pitchFamily="18" charset="0"/>
                <a:ea typeface="+mn-ea"/>
                <a:cs typeface="Times New Roman" panose="02020603050405020304" pitchFamily="18" charset="0"/>
              </a:rPr>
              <a:t>套设备。</a:t>
            </a:r>
          </a:p>
          <a:p>
            <a:pPr eaLnBrk="1" hangingPunct="1">
              <a:spcBef>
                <a:spcPct val="50000"/>
              </a:spcBef>
            </a:pPr>
            <a:r>
              <a:rPr lang="zh-CN" altLang="en-US" sz="2400" b="1" dirty="0">
                <a:latin typeface="Times New Roman" panose="02020603050405020304" pitchFamily="18" charset="0"/>
                <a:ea typeface="+mn-ea"/>
                <a:cs typeface="Times New Roman" panose="02020603050405020304" pitchFamily="18" charset="0"/>
              </a:rPr>
              <a:t>	方案二：产品生产采用流水线方式，分为</a:t>
            </a:r>
            <a:r>
              <a:rPr lang="en-US" altLang="zh-CN" sz="2400" b="1" dirty="0">
                <a:latin typeface="Times New Roman" panose="02020603050405020304" pitchFamily="18" charset="0"/>
                <a:ea typeface="+mn-ea"/>
                <a:cs typeface="Times New Roman" panose="02020603050405020304" pitchFamily="18" charset="0"/>
              </a:rPr>
              <a:t>4</a:t>
            </a:r>
            <a:r>
              <a:rPr lang="zh-CN" altLang="en-US" sz="2400" b="1" dirty="0">
                <a:latin typeface="Times New Roman" panose="02020603050405020304" pitchFamily="18" charset="0"/>
                <a:ea typeface="+mn-ea"/>
                <a:cs typeface="Times New Roman" panose="02020603050405020304" pitchFamily="18" charset="0"/>
              </a:rPr>
              <a:t>道工序；增加</a:t>
            </a:r>
            <a:r>
              <a:rPr lang="en-US" altLang="zh-CN" sz="2400" b="1" dirty="0">
                <a:latin typeface="Times New Roman" panose="02020603050405020304" pitchFamily="18" charset="0"/>
                <a:ea typeface="+mn-ea"/>
                <a:cs typeface="Times New Roman" panose="02020603050405020304" pitchFamily="18" charset="0"/>
              </a:rPr>
              <a:t>3</a:t>
            </a:r>
            <a:r>
              <a:rPr lang="zh-CN" altLang="en-US" sz="2400" b="1" dirty="0">
                <a:latin typeface="Times New Roman" panose="02020603050405020304" pitchFamily="18" charset="0"/>
                <a:ea typeface="+mn-ea"/>
                <a:cs typeface="Times New Roman" panose="02020603050405020304" pitchFamily="18" charset="0"/>
              </a:rPr>
              <a:t>名工人，每人负责一道工序。</a:t>
            </a:r>
          </a:p>
        </p:txBody>
      </p:sp>
      <p:pic>
        <p:nvPicPr>
          <p:cNvPr id="14029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716338"/>
            <a:ext cx="748823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7"/>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spcBef>
                <a:spcPct val="20000"/>
              </a:spcBef>
              <a:buFont typeface="Arial" pitchFamily="34" charset="0"/>
              <a:buNone/>
            </a:pPr>
            <a:r>
              <a:rPr lang="en-US" altLang="zh-CN" sz="3600" b="1" dirty="0">
                <a:latin typeface="Times New Roman" pitchFamily="18" charset="0"/>
              </a:rPr>
              <a:t>3.1.1 </a:t>
            </a:r>
            <a:r>
              <a:rPr lang="zh-CN" altLang="en-US" sz="3600" b="1" dirty="0">
                <a:latin typeface="Times New Roman" pitchFamily="18" charset="0"/>
              </a:rPr>
              <a:t>流水线基本概念</a:t>
            </a:r>
          </a:p>
        </p:txBody>
      </p:sp>
      <p:sp>
        <p:nvSpPr>
          <p:cNvPr id="2" name="日期占位符 1">
            <a:extLst>
              <a:ext uri="{FF2B5EF4-FFF2-40B4-BE49-F238E27FC236}">
                <a16:creationId xmlns:a16="http://schemas.microsoft.com/office/drawing/2014/main" id="{BBC9BA2B-645C-550C-D94B-0269DF1FBEBF}"/>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B650FDDE-8C98-B8A8-348E-9755B692C80E}"/>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9A512D8E-404D-F135-D16A-62A773F9A08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1259549939"/>
      </p:ext>
    </p:extLst>
  </p:cSld>
  <p:clrMapOvr>
    <a:masterClrMapping/>
  </p:clrMapOvr>
  <p:transition>
    <p:pull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684213" y="1341438"/>
            <a:ext cx="7704137"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20000"/>
              </a:lnSpc>
              <a:spcBef>
                <a:spcPct val="50000"/>
              </a:spcBef>
            </a:pPr>
            <a:r>
              <a:rPr lang="en-US" altLang="zh-CN" sz="2800" b="1" dirty="0">
                <a:latin typeface="Times New Roman" panose="02020603050405020304" pitchFamily="18" charset="0"/>
                <a:ea typeface="+mn-ea"/>
                <a:cs typeface="Times New Roman" panose="02020603050405020304" pitchFamily="18" charset="0"/>
              </a:rPr>
              <a:t>(3) </a:t>
            </a:r>
            <a:r>
              <a:rPr lang="zh-CN" altLang="en-US" sz="2800" b="1" dirty="0">
                <a:latin typeface="Times New Roman" panose="02020603050405020304" pitchFamily="18" charset="0"/>
                <a:ea typeface="+mn-ea"/>
                <a:cs typeface="Times New Roman" panose="02020603050405020304" pitchFamily="18" charset="0"/>
              </a:rPr>
              <a:t>两种方案的工作过程对比</a:t>
            </a:r>
          </a:p>
          <a:p>
            <a:pPr eaLnBrk="1" hangingPunct="1">
              <a:lnSpc>
                <a:spcPct val="120000"/>
              </a:lnSpc>
              <a:spcBef>
                <a:spcPct val="50000"/>
              </a:spcBef>
            </a:pPr>
            <a:r>
              <a:rPr lang="zh-CN" altLang="en-US" sz="2400" b="1" dirty="0">
                <a:latin typeface="Times New Roman" panose="02020603050405020304" pitchFamily="18" charset="0"/>
                <a:ea typeface="+mn-ea"/>
                <a:cs typeface="Times New Roman" panose="02020603050405020304" pitchFamily="18" charset="0"/>
              </a:rPr>
              <a:t>	两种方案中，单件产品的生产时间均不变。</a:t>
            </a:r>
          </a:p>
          <a:p>
            <a:pPr eaLnBrk="1" hangingPunct="1">
              <a:lnSpc>
                <a:spcPct val="120000"/>
              </a:lnSpc>
              <a:spcBef>
                <a:spcPct val="50000"/>
              </a:spcBef>
            </a:pPr>
            <a:r>
              <a:rPr lang="zh-CN" altLang="en-US" sz="2400" b="1" dirty="0">
                <a:latin typeface="Times New Roman" panose="02020603050405020304" pitchFamily="18" charset="0"/>
                <a:ea typeface="+mn-ea"/>
                <a:cs typeface="Times New Roman" panose="02020603050405020304" pitchFamily="18" charset="0"/>
              </a:rPr>
              <a:t>	但在稳定情况下，</a:t>
            </a:r>
          </a:p>
          <a:p>
            <a:pPr eaLnBrk="1" hangingPunct="1">
              <a:lnSpc>
                <a:spcPct val="120000"/>
              </a:lnSpc>
              <a:spcBef>
                <a:spcPct val="50000"/>
              </a:spcBef>
            </a:pPr>
            <a:r>
              <a:rPr lang="zh-CN" altLang="en-US" sz="2400" b="1" dirty="0">
                <a:latin typeface="Times New Roman" panose="02020603050405020304" pitchFamily="18" charset="0"/>
                <a:ea typeface="+mn-ea"/>
                <a:cs typeface="Times New Roman" panose="02020603050405020304" pitchFamily="18" charset="0"/>
              </a:rPr>
              <a:t>	方案一：每</a:t>
            </a:r>
            <a:r>
              <a:rPr lang="en-US" altLang="zh-CN" sz="2400" b="1" dirty="0">
                <a:latin typeface="Times New Roman" panose="02020603050405020304" pitchFamily="18" charset="0"/>
                <a:ea typeface="+mn-ea"/>
                <a:cs typeface="Times New Roman" panose="02020603050405020304" pitchFamily="18" charset="0"/>
              </a:rPr>
              <a:t>4</a:t>
            </a:r>
            <a:r>
              <a:rPr lang="zh-CN" altLang="en-US" sz="2400" b="1" dirty="0">
                <a:latin typeface="Times New Roman" panose="02020603050405020304" pitchFamily="18" charset="0"/>
                <a:ea typeface="+mn-ea"/>
                <a:cs typeface="Times New Roman" panose="02020603050405020304" pitchFamily="18" charset="0"/>
              </a:rPr>
              <a:t>分钟，</a:t>
            </a:r>
            <a:r>
              <a:rPr lang="en-US" altLang="zh-CN" sz="2400" b="1" dirty="0">
                <a:latin typeface="Times New Roman" panose="02020603050405020304" pitchFamily="18" charset="0"/>
                <a:ea typeface="+mn-ea"/>
                <a:cs typeface="Times New Roman" panose="02020603050405020304" pitchFamily="18" charset="0"/>
              </a:rPr>
              <a:t>4</a:t>
            </a:r>
            <a:r>
              <a:rPr lang="zh-CN" altLang="en-US" sz="2400" b="1" dirty="0">
                <a:latin typeface="Times New Roman" panose="02020603050405020304" pitchFamily="18" charset="0"/>
                <a:ea typeface="+mn-ea"/>
                <a:cs typeface="Times New Roman" panose="02020603050405020304" pitchFamily="18" charset="0"/>
              </a:rPr>
              <a:t>件产品同时进入流水线，</a:t>
            </a:r>
            <a:r>
              <a:rPr lang="en-US" altLang="zh-CN" sz="2400" b="1" dirty="0">
                <a:latin typeface="Times New Roman" panose="02020603050405020304" pitchFamily="18" charset="0"/>
                <a:ea typeface="+mn-ea"/>
                <a:cs typeface="Times New Roman" panose="02020603050405020304" pitchFamily="18" charset="0"/>
              </a:rPr>
              <a:t>4</a:t>
            </a:r>
            <a:r>
              <a:rPr lang="zh-CN" altLang="en-US" sz="2400" b="1" dirty="0">
                <a:latin typeface="Times New Roman" panose="02020603050405020304" pitchFamily="18" charset="0"/>
                <a:ea typeface="+mn-ea"/>
                <a:cs typeface="Times New Roman" panose="02020603050405020304" pitchFamily="18" charset="0"/>
              </a:rPr>
              <a:t>件成品同时离开流水线，需要增加</a:t>
            </a:r>
            <a:r>
              <a:rPr lang="en-US" altLang="zh-CN" sz="2400" b="1" dirty="0">
                <a:latin typeface="Times New Roman" panose="02020603050405020304" pitchFamily="18" charset="0"/>
                <a:ea typeface="+mn-ea"/>
                <a:cs typeface="Times New Roman" panose="02020603050405020304" pitchFamily="18" charset="0"/>
              </a:rPr>
              <a:t>3</a:t>
            </a:r>
            <a:r>
              <a:rPr lang="zh-CN" altLang="en-US" sz="2400" b="1" dirty="0">
                <a:latin typeface="Times New Roman" panose="02020603050405020304" pitchFamily="18" charset="0"/>
                <a:ea typeface="+mn-ea"/>
                <a:cs typeface="Times New Roman" panose="02020603050405020304" pitchFamily="18" charset="0"/>
              </a:rPr>
              <a:t>套设备。</a:t>
            </a:r>
          </a:p>
          <a:p>
            <a:pPr eaLnBrk="1" hangingPunct="1">
              <a:lnSpc>
                <a:spcPct val="120000"/>
              </a:lnSpc>
              <a:spcBef>
                <a:spcPct val="50000"/>
              </a:spcBef>
            </a:pPr>
            <a:r>
              <a:rPr lang="zh-CN" altLang="en-US" sz="2400" b="1" dirty="0">
                <a:latin typeface="Times New Roman" panose="02020603050405020304" pitchFamily="18" charset="0"/>
                <a:ea typeface="+mn-ea"/>
                <a:cs typeface="Times New Roman" panose="02020603050405020304" pitchFamily="18" charset="0"/>
              </a:rPr>
              <a:t>	方案二：每分钟，</a:t>
            </a:r>
            <a:r>
              <a:rPr lang="en-US" altLang="zh-CN" sz="2400" b="1" dirty="0">
                <a:latin typeface="Times New Roman" panose="02020603050405020304" pitchFamily="18" charset="0"/>
                <a:ea typeface="+mn-ea"/>
                <a:cs typeface="Times New Roman" panose="02020603050405020304" pitchFamily="18" charset="0"/>
              </a:rPr>
              <a:t>1</a:t>
            </a:r>
            <a:r>
              <a:rPr lang="zh-CN" altLang="en-US" sz="2400" b="1" dirty="0">
                <a:latin typeface="Times New Roman" panose="02020603050405020304" pitchFamily="18" charset="0"/>
                <a:ea typeface="+mn-ea"/>
                <a:cs typeface="Times New Roman" panose="02020603050405020304" pitchFamily="18" charset="0"/>
              </a:rPr>
              <a:t>件产品进入流水线，</a:t>
            </a:r>
            <a:r>
              <a:rPr lang="en-US" altLang="zh-CN" sz="2400" b="1" dirty="0">
                <a:latin typeface="Times New Roman" panose="02020603050405020304" pitchFamily="18" charset="0"/>
                <a:ea typeface="+mn-ea"/>
                <a:cs typeface="Times New Roman" panose="02020603050405020304" pitchFamily="18" charset="0"/>
              </a:rPr>
              <a:t>1</a:t>
            </a:r>
            <a:r>
              <a:rPr lang="zh-CN" altLang="en-US" sz="2400" b="1" dirty="0">
                <a:latin typeface="Times New Roman" panose="02020603050405020304" pitchFamily="18" charset="0"/>
                <a:ea typeface="+mn-ea"/>
                <a:cs typeface="Times New Roman" panose="02020603050405020304" pitchFamily="18" charset="0"/>
              </a:rPr>
              <a:t>件成品离开流水线，不需要增加任何设备。</a:t>
            </a:r>
          </a:p>
        </p:txBody>
      </p:sp>
      <p:sp>
        <p:nvSpPr>
          <p:cNvPr id="8195" name="Rectangle 7"/>
          <p:cNvSpPr txBox="1">
            <a:spLocks noChangeArrowheads="1"/>
          </p:cNvSpPr>
          <p:nvPr/>
        </p:nvSpPr>
        <p:spPr bwMode="auto">
          <a:xfrm>
            <a:off x="457200" y="4143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spcBef>
                <a:spcPct val="20000"/>
              </a:spcBef>
              <a:buFont typeface="Arial" pitchFamily="34" charset="0"/>
              <a:buNone/>
            </a:pPr>
            <a:r>
              <a:rPr lang="en-US" altLang="zh-CN" sz="3600" b="1" dirty="0">
                <a:latin typeface="Times New Roman" pitchFamily="18" charset="0"/>
              </a:rPr>
              <a:t>3.1.1 </a:t>
            </a:r>
            <a:r>
              <a:rPr lang="zh-CN" altLang="en-US" sz="3600" b="1" dirty="0">
                <a:latin typeface="Times New Roman" pitchFamily="18" charset="0"/>
              </a:rPr>
              <a:t>流水线基本概念</a:t>
            </a:r>
          </a:p>
        </p:txBody>
      </p:sp>
      <p:sp>
        <p:nvSpPr>
          <p:cNvPr id="2" name="日期占位符 1">
            <a:extLst>
              <a:ext uri="{FF2B5EF4-FFF2-40B4-BE49-F238E27FC236}">
                <a16:creationId xmlns:a16="http://schemas.microsoft.com/office/drawing/2014/main" id="{37CE2402-325E-FF08-44EE-87062E24A860}"/>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12E90463-4835-5875-8EFB-17755BEB29EE}"/>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6F47EA55-456E-603B-A9D6-6002148659D6}"/>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8</a:t>
            </a:fld>
            <a:endParaRPr lang="en-US" altLang="zh-CN"/>
          </a:p>
        </p:txBody>
      </p:sp>
    </p:spTree>
    <p:extLst>
      <p:ext uri="{BB962C8B-B14F-4D97-AF65-F5344CB8AC3E}">
        <p14:creationId xmlns:p14="http://schemas.microsoft.com/office/powerpoint/2010/main" val="3150704309"/>
      </p:ext>
    </p:extLst>
  </p:cSld>
  <p:clrMapOvr>
    <a:masterClrMapping/>
  </p:clrMapOvr>
  <p:transition>
    <p:pull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684213" y="1320800"/>
            <a:ext cx="7488237" cy="2967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20000"/>
              </a:lnSpc>
              <a:spcBef>
                <a:spcPct val="50000"/>
              </a:spcBef>
            </a:pPr>
            <a:r>
              <a:rPr lang="en-US" altLang="zh-CN" sz="2800" b="1" dirty="0">
                <a:latin typeface="Times New Roman" panose="02020603050405020304" pitchFamily="18" charset="0"/>
                <a:ea typeface="+mn-ea"/>
                <a:cs typeface="Times New Roman" panose="02020603050405020304" pitchFamily="18" charset="0"/>
              </a:rPr>
              <a:t>(4) </a:t>
            </a:r>
            <a:r>
              <a:rPr lang="zh-CN" altLang="en-US" sz="2800" b="1" dirty="0">
                <a:latin typeface="Times New Roman" panose="02020603050405020304" pitchFamily="18" charset="0"/>
                <a:ea typeface="+mn-ea"/>
                <a:cs typeface="Times New Roman" panose="02020603050405020304" pitchFamily="18" charset="0"/>
              </a:rPr>
              <a:t>方案二的主要特点</a:t>
            </a:r>
          </a:p>
          <a:p>
            <a:pPr algn="just" eaLnBrk="1" hangingPunct="1">
              <a:lnSpc>
                <a:spcPct val="120000"/>
              </a:lnSpc>
              <a:spcBef>
                <a:spcPct val="50000"/>
              </a:spcBef>
            </a:pPr>
            <a:r>
              <a:rPr lang="zh-CN" altLang="en-US" sz="2400" b="1" dirty="0">
                <a:latin typeface="Times New Roman" panose="02020603050405020304" pitchFamily="18" charset="0"/>
                <a:ea typeface="+mn-ea"/>
                <a:cs typeface="Times New Roman" panose="02020603050405020304" pitchFamily="18" charset="0"/>
              </a:rPr>
              <a:t>	        每件产品还是要经过</a:t>
            </a:r>
            <a:r>
              <a:rPr lang="en-US" altLang="zh-CN" sz="2400" b="1" dirty="0">
                <a:latin typeface="Times New Roman" panose="02020603050405020304" pitchFamily="18" charset="0"/>
                <a:ea typeface="+mn-ea"/>
                <a:cs typeface="Times New Roman" panose="02020603050405020304" pitchFamily="18" charset="0"/>
              </a:rPr>
              <a:t>4</a:t>
            </a:r>
            <a:r>
              <a:rPr lang="zh-CN" altLang="en-US" sz="2400" b="1" dirty="0">
                <a:latin typeface="Times New Roman" panose="02020603050405020304" pitchFamily="18" charset="0"/>
                <a:ea typeface="+mn-ea"/>
                <a:cs typeface="Times New Roman" panose="02020603050405020304" pitchFamily="18" charset="0"/>
              </a:rPr>
              <a:t>道工序处理，单件产品的加工时间并没有改变，但它将各个工人的操作时间重叠在一起，使得每件产品的产出时间从表面上看是从原来的</a:t>
            </a:r>
            <a:r>
              <a:rPr lang="en-US" altLang="zh-CN" sz="2400" b="1" dirty="0">
                <a:latin typeface="Times New Roman" panose="02020603050405020304" pitchFamily="18" charset="0"/>
                <a:ea typeface="+mn-ea"/>
                <a:cs typeface="Times New Roman" panose="02020603050405020304" pitchFamily="18" charset="0"/>
              </a:rPr>
              <a:t>4</a:t>
            </a:r>
            <a:r>
              <a:rPr lang="zh-CN" altLang="en-US" sz="2400" b="1" dirty="0">
                <a:latin typeface="Times New Roman" panose="02020603050405020304" pitchFamily="18" charset="0"/>
                <a:ea typeface="+mn-ea"/>
                <a:cs typeface="Times New Roman" panose="02020603050405020304" pitchFamily="18" charset="0"/>
              </a:rPr>
              <a:t>分钟缩减到</a:t>
            </a:r>
            <a:r>
              <a:rPr lang="en-US" altLang="zh-CN" sz="2400" b="1" dirty="0">
                <a:latin typeface="Times New Roman" panose="02020603050405020304" pitchFamily="18" charset="0"/>
                <a:ea typeface="+mn-ea"/>
                <a:cs typeface="Times New Roman" panose="02020603050405020304" pitchFamily="18" charset="0"/>
              </a:rPr>
              <a:t>1</a:t>
            </a:r>
            <a:r>
              <a:rPr lang="zh-CN" altLang="en-US" sz="2400" b="1" dirty="0">
                <a:latin typeface="Times New Roman" panose="02020603050405020304" pitchFamily="18" charset="0"/>
                <a:ea typeface="+mn-ea"/>
                <a:cs typeface="Times New Roman" panose="02020603050405020304" pitchFamily="18" charset="0"/>
              </a:rPr>
              <a:t>分钟，提高了产品的产出率。</a:t>
            </a:r>
          </a:p>
        </p:txBody>
      </p:sp>
      <p:sp>
        <p:nvSpPr>
          <p:cNvPr id="9219" name="Rectangle 7"/>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spcBef>
                <a:spcPct val="20000"/>
              </a:spcBef>
              <a:buFont typeface="Arial" pitchFamily="34" charset="0"/>
              <a:buNone/>
            </a:pPr>
            <a:r>
              <a:rPr lang="en-US" altLang="zh-CN" sz="3600" b="1" dirty="0">
                <a:latin typeface="Times New Roman" pitchFamily="18" charset="0"/>
              </a:rPr>
              <a:t>3.1.1 </a:t>
            </a:r>
            <a:r>
              <a:rPr lang="zh-CN" altLang="en-US" sz="3600" b="1" dirty="0">
                <a:latin typeface="Times New Roman" pitchFamily="18" charset="0"/>
              </a:rPr>
              <a:t>流水线基本概念</a:t>
            </a:r>
          </a:p>
        </p:txBody>
      </p:sp>
      <p:sp>
        <p:nvSpPr>
          <p:cNvPr id="2" name="日期占位符 1">
            <a:extLst>
              <a:ext uri="{FF2B5EF4-FFF2-40B4-BE49-F238E27FC236}">
                <a16:creationId xmlns:a16="http://schemas.microsoft.com/office/drawing/2014/main" id="{F14F22AF-4B98-E27E-1536-7CFE1F1A1AE8}"/>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468D17D1-F7C8-8D7C-DD93-7C3C938C0F3B}"/>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82B143C6-197C-37A8-5F40-365E253E936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9</a:t>
            </a:fld>
            <a:endParaRPr lang="en-US" altLang="zh-CN"/>
          </a:p>
        </p:txBody>
      </p:sp>
    </p:spTree>
    <p:extLst>
      <p:ext uri="{BB962C8B-B14F-4D97-AF65-F5344CB8AC3E}">
        <p14:creationId xmlns:p14="http://schemas.microsoft.com/office/powerpoint/2010/main" val="4212908358"/>
      </p:ext>
    </p:extLst>
  </p:cSld>
  <p:clrMapOvr>
    <a:masterClrMapping/>
  </p:clrMapOvr>
  <p:transition>
    <p:pull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6" name="Text Box 6"/>
          <p:cNvSpPr txBox="1">
            <a:spLocks noChangeArrowheads="1"/>
          </p:cNvSpPr>
          <p:nvPr/>
        </p:nvSpPr>
        <p:spPr bwMode="auto">
          <a:xfrm>
            <a:off x="684213" y="1241425"/>
            <a:ext cx="7488237" cy="437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20000"/>
              </a:lnSpc>
              <a:spcBef>
                <a:spcPct val="50000"/>
              </a:spcBef>
            </a:pPr>
            <a:r>
              <a:rPr lang="en-US" altLang="zh-CN" sz="2800" b="1" dirty="0">
                <a:latin typeface="Times New Roman" panose="02020603050405020304" pitchFamily="18" charset="0"/>
                <a:ea typeface="+mn-ea"/>
                <a:cs typeface="Times New Roman" panose="02020603050405020304" pitchFamily="18" charset="0"/>
              </a:rPr>
              <a:t>2.</a:t>
            </a:r>
            <a:r>
              <a:rPr lang="zh-CN" altLang="en-US" sz="2800" b="1" dirty="0">
                <a:latin typeface="Times New Roman" panose="02020603050405020304" pitchFamily="18" charset="0"/>
                <a:ea typeface="+mn-ea"/>
                <a:cs typeface="Times New Roman" panose="02020603050405020304" pitchFamily="18" charset="0"/>
              </a:rPr>
              <a:t>计算机中的流水线</a:t>
            </a:r>
          </a:p>
          <a:p>
            <a:pPr lvl="1" eaLnBrk="1" hangingPunct="1">
              <a:lnSpc>
                <a:spcPct val="120000"/>
              </a:lnSpc>
              <a:spcBef>
                <a:spcPct val="50000"/>
              </a:spcBef>
              <a:buFont typeface="Wingdings" pitchFamily="2" charset="2"/>
              <a:buChar char="u"/>
            </a:pPr>
            <a:r>
              <a:rPr lang="zh-CN" altLang="en-US" sz="2400" b="1" dirty="0">
                <a:latin typeface="Times New Roman" panose="02020603050405020304" pitchFamily="18" charset="0"/>
                <a:ea typeface="+mn-ea"/>
                <a:cs typeface="Times New Roman" panose="02020603050405020304" pitchFamily="18" charset="0"/>
              </a:rPr>
              <a:t>指令流水线</a:t>
            </a:r>
          </a:p>
          <a:p>
            <a:pPr lvl="1" eaLnBrk="1" hangingPunct="1">
              <a:lnSpc>
                <a:spcPct val="120000"/>
              </a:lnSpc>
              <a:spcBef>
                <a:spcPct val="50000"/>
              </a:spcBef>
            </a:pPr>
            <a:endParaRPr lang="zh-CN" altLang="en-US" sz="2400" b="1" dirty="0">
              <a:latin typeface="Times New Roman" panose="02020603050405020304" pitchFamily="18" charset="0"/>
              <a:ea typeface="+mn-ea"/>
              <a:cs typeface="Times New Roman" panose="02020603050405020304" pitchFamily="18" charset="0"/>
            </a:endParaRPr>
          </a:p>
          <a:p>
            <a:pPr lvl="1" eaLnBrk="1" hangingPunct="1">
              <a:lnSpc>
                <a:spcPct val="120000"/>
              </a:lnSpc>
              <a:spcBef>
                <a:spcPct val="50000"/>
              </a:spcBef>
            </a:pPr>
            <a:endParaRPr lang="zh-CN" altLang="en-US" sz="2400" b="1" dirty="0">
              <a:latin typeface="Times New Roman" panose="02020603050405020304" pitchFamily="18" charset="0"/>
              <a:ea typeface="+mn-ea"/>
              <a:cs typeface="Times New Roman" panose="02020603050405020304" pitchFamily="18" charset="0"/>
            </a:endParaRPr>
          </a:p>
          <a:p>
            <a:pPr lvl="1" eaLnBrk="1" hangingPunct="1">
              <a:lnSpc>
                <a:spcPct val="120000"/>
              </a:lnSpc>
              <a:spcBef>
                <a:spcPct val="50000"/>
              </a:spcBef>
            </a:pPr>
            <a:endParaRPr lang="zh-CN" altLang="en-US" sz="2400" b="1" dirty="0">
              <a:latin typeface="Times New Roman" panose="02020603050405020304" pitchFamily="18" charset="0"/>
              <a:ea typeface="+mn-ea"/>
              <a:cs typeface="Times New Roman" panose="02020603050405020304" pitchFamily="18" charset="0"/>
            </a:endParaRPr>
          </a:p>
          <a:p>
            <a:pPr lvl="1" eaLnBrk="1" hangingPunct="1">
              <a:lnSpc>
                <a:spcPct val="120000"/>
              </a:lnSpc>
              <a:spcBef>
                <a:spcPct val="50000"/>
              </a:spcBef>
            </a:pPr>
            <a:endParaRPr lang="zh-CN" altLang="en-US" sz="2400" b="1" dirty="0">
              <a:latin typeface="Times New Roman" panose="02020603050405020304" pitchFamily="18" charset="0"/>
              <a:ea typeface="+mn-ea"/>
              <a:cs typeface="Times New Roman" panose="02020603050405020304" pitchFamily="18" charset="0"/>
            </a:endParaRPr>
          </a:p>
          <a:p>
            <a:pPr lvl="1" eaLnBrk="1" hangingPunct="1">
              <a:lnSpc>
                <a:spcPct val="120000"/>
              </a:lnSpc>
              <a:spcBef>
                <a:spcPct val="50000"/>
              </a:spcBef>
              <a:buFont typeface="Wingdings" pitchFamily="2" charset="2"/>
              <a:buChar char="u"/>
            </a:pPr>
            <a:r>
              <a:rPr lang="zh-CN" altLang="en-US" sz="2400" b="1" dirty="0">
                <a:latin typeface="Times New Roman" panose="02020603050405020304" pitchFamily="18" charset="0"/>
                <a:ea typeface="+mn-ea"/>
                <a:cs typeface="Times New Roman" panose="02020603050405020304" pitchFamily="18" charset="0"/>
              </a:rPr>
              <a:t>功能部件流水线</a:t>
            </a:r>
          </a:p>
        </p:txBody>
      </p:sp>
      <p:pic>
        <p:nvPicPr>
          <p:cNvPr id="4556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601913"/>
            <a:ext cx="6408738"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7"/>
          <p:cNvSpPr>
            <a:spLocks noGrp="1" noChangeArrowheads="1"/>
          </p:cNvSpPr>
          <p:nvPr>
            <p:ph type="title"/>
          </p:nvPr>
        </p:nvSpPr>
        <p:spPr>
          <a:xfrm>
            <a:off x="457200" y="115888"/>
            <a:ext cx="8229600" cy="1143000"/>
          </a:xfrm>
        </p:spPr>
        <p:txBody>
          <a:bodyPr/>
          <a:lstStyle/>
          <a:p>
            <a:pPr eaLnBrk="1" hangingPunct="1"/>
            <a:r>
              <a:rPr lang="en-US" altLang="zh-CN" sz="3600" b="1" dirty="0">
                <a:latin typeface="Times New Roman" pitchFamily="18" charset="0"/>
              </a:rPr>
              <a:t>3.1.1 </a:t>
            </a:r>
            <a:r>
              <a:rPr lang="zh-CN" altLang="en-US" sz="3600" b="1" dirty="0">
                <a:latin typeface="Times New Roman" pitchFamily="18" charset="0"/>
              </a:rPr>
              <a:t>流水线基本概念</a:t>
            </a:r>
          </a:p>
        </p:txBody>
      </p:sp>
      <p:sp>
        <p:nvSpPr>
          <p:cNvPr id="2" name="日期占位符 1">
            <a:extLst>
              <a:ext uri="{FF2B5EF4-FFF2-40B4-BE49-F238E27FC236}">
                <a16:creationId xmlns:a16="http://schemas.microsoft.com/office/drawing/2014/main" id="{82EBB292-71DF-ED9A-0730-740C0CB0DB53}"/>
              </a:ext>
            </a:extLst>
          </p:cNvPr>
          <p:cNvSpPr>
            <a:spLocks noGrp="1"/>
          </p:cNvSpPr>
          <p:nvPr>
            <p:ph type="dt" sz="half" idx="10"/>
          </p:nvPr>
        </p:nvSpPr>
        <p:spPr/>
        <p:txBody>
          <a:bodyPr/>
          <a:lstStyle/>
          <a:p>
            <a:pPr>
              <a:defRPr/>
            </a:pPr>
            <a:fld id="{B78025F1-A5C3-46CB-8D8F-556EBBF0D35E}" type="datetime1">
              <a:rPr lang="zh-CN" altLang="en-US" smtClean="0"/>
              <a:t>2025/9/25</a:t>
            </a:fld>
            <a:endParaRPr lang="en-US" altLang="zh-CN"/>
          </a:p>
        </p:txBody>
      </p:sp>
      <p:sp>
        <p:nvSpPr>
          <p:cNvPr id="3" name="页脚占位符 2">
            <a:extLst>
              <a:ext uri="{FF2B5EF4-FFF2-40B4-BE49-F238E27FC236}">
                <a16:creationId xmlns:a16="http://schemas.microsoft.com/office/drawing/2014/main" id="{1C4DD25C-251E-7478-9BDB-5E179041FB1A}"/>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2FEFE870-75E8-C010-A69A-35C913093B63}"/>
              </a:ext>
            </a:extLst>
          </p:cNvPr>
          <p:cNvSpPr>
            <a:spLocks noGrp="1"/>
          </p:cNvSpPr>
          <p:nvPr>
            <p:ph type="sldNum" sz="quarter" idx="12"/>
          </p:nvPr>
        </p:nvSpPr>
        <p:spPr/>
        <p:txBody>
          <a:bodyPr/>
          <a:lstStyle/>
          <a:p>
            <a:pPr>
              <a:defRPr/>
            </a:pPr>
            <a:fld id="{8BCAC33D-D29A-48B3-BCD6-381D3D720D26}" type="slidenum">
              <a:rPr lang="zh-CN" altLang="en-US" smtClean="0"/>
              <a:t>10</a:t>
            </a:fld>
            <a:endParaRPr lang="en-US" altLang="zh-CN"/>
          </a:p>
        </p:txBody>
      </p:sp>
    </p:spTree>
    <p:extLst>
      <p:ext uri="{BB962C8B-B14F-4D97-AF65-F5344CB8AC3E}">
        <p14:creationId xmlns:p14="http://schemas.microsoft.com/office/powerpoint/2010/main" val="211493539"/>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p:cNvSpPr txBox="1">
            <a:spLocks noChangeArrowheads="1"/>
          </p:cNvSpPr>
          <p:nvPr/>
        </p:nvSpPr>
        <p:spPr bwMode="auto">
          <a:xfrm>
            <a:off x="684213" y="1273175"/>
            <a:ext cx="7632700" cy="4100513"/>
          </a:xfrm>
          <a:prstGeom prst="rect">
            <a:avLst/>
          </a:prstGeom>
          <a:noFill/>
          <a:ln w="9525" algn="ctr">
            <a:noFill/>
            <a:miter lim="800000"/>
            <a:headEnd/>
            <a:tailEnd/>
          </a:ln>
          <a:effectLst/>
        </p:spPr>
        <p:txBody>
          <a:bodyPr>
            <a:spAutoFit/>
          </a:bodyPr>
          <a:lstStyle/>
          <a:p>
            <a:pPr marL="342900" indent="-342900" fontAlgn="auto">
              <a:lnSpc>
                <a:spcPct val="120000"/>
              </a:lnSpc>
              <a:spcBef>
                <a:spcPct val="50000"/>
              </a:spcBef>
              <a:spcAft>
                <a:spcPts val="0"/>
              </a:spcAft>
              <a:defRPr/>
            </a:pPr>
            <a:r>
              <a:rPr lang="en-US" altLang="zh-CN" sz="2800" b="1" dirty="0">
                <a:latin typeface="Times New Roman" panose="02020603050405020304" pitchFamily="18" charset="0"/>
                <a:ea typeface="+mn-ea"/>
                <a:cs typeface="Times New Roman" panose="02020603050405020304" pitchFamily="18" charset="0"/>
              </a:rPr>
              <a:t>3. </a:t>
            </a:r>
            <a:r>
              <a:rPr lang="zh-CN" altLang="en-US" sz="2800" b="1" dirty="0">
                <a:latin typeface="Times New Roman" panose="02020603050405020304" pitchFamily="18" charset="0"/>
                <a:ea typeface="+mn-ea"/>
                <a:cs typeface="Times New Roman" panose="02020603050405020304" pitchFamily="18" charset="0"/>
              </a:rPr>
              <a:t>流水技术的定义</a:t>
            </a:r>
          </a:p>
          <a:p>
            <a:pPr marL="342900" indent="-342900" fontAlgn="auto">
              <a:lnSpc>
                <a:spcPct val="120000"/>
              </a:lnSpc>
              <a:spcBef>
                <a:spcPct val="50000"/>
              </a:spcBef>
              <a:spcAft>
                <a:spcPts val="0"/>
              </a:spcAft>
              <a:defRPr/>
            </a:pPr>
            <a:r>
              <a:rPr lang="zh-CN" altLang="en-US" sz="28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将一</a:t>
            </a:r>
            <a:r>
              <a:rPr lang="zh-CN" altLang="en-US" sz="2400" b="1" dirty="0">
                <a:solidFill>
                  <a:srgbClr val="FF0000"/>
                </a:solidFill>
                <a:latin typeface="Times New Roman" panose="02020603050405020304" pitchFamily="18" charset="0"/>
                <a:ea typeface="+mn-ea"/>
                <a:cs typeface="Times New Roman" panose="02020603050405020304" pitchFamily="18" charset="0"/>
              </a:rPr>
              <a:t>重复</a:t>
            </a:r>
            <a:r>
              <a:rPr lang="zh-CN" altLang="en-US" sz="2400" b="1" dirty="0">
                <a:latin typeface="Times New Roman" panose="02020603050405020304" pitchFamily="18" charset="0"/>
                <a:ea typeface="+mn-ea"/>
                <a:cs typeface="Times New Roman" panose="02020603050405020304" pitchFamily="18" charset="0"/>
              </a:rPr>
              <a:t>的</a:t>
            </a:r>
            <a:r>
              <a:rPr lang="zh-CN" altLang="en-US" sz="2400" b="1" dirty="0">
                <a:solidFill>
                  <a:srgbClr val="FF0000"/>
                </a:solidFill>
                <a:latin typeface="Times New Roman" panose="02020603050405020304" pitchFamily="18" charset="0"/>
                <a:ea typeface="+mn-ea"/>
                <a:cs typeface="Times New Roman" panose="02020603050405020304" pitchFamily="18" charset="0"/>
              </a:rPr>
              <a:t>时序过程</a:t>
            </a:r>
            <a:r>
              <a:rPr lang="zh-CN" altLang="en-US" sz="2400" b="1" dirty="0">
                <a:latin typeface="Times New Roman" panose="02020603050405020304" pitchFamily="18" charset="0"/>
                <a:ea typeface="+mn-ea"/>
                <a:cs typeface="Times New Roman" panose="02020603050405020304" pitchFamily="18" charset="0"/>
              </a:rPr>
              <a:t>分解为若干</a:t>
            </a:r>
            <a:r>
              <a:rPr lang="zh-CN" altLang="en-US" sz="2400" b="1" dirty="0">
                <a:solidFill>
                  <a:srgbClr val="FF0000"/>
                </a:solidFill>
                <a:latin typeface="Times New Roman" panose="02020603050405020304" pitchFamily="18" charset="0"/>
                <a:ea typeface="+mn-ea"/>
                <a:cs typeface="Times New Roman" panose="02020603050405020304" pitchFamily="18" charset="0"/>
              </a:rPr>
              <a:t>子过程</a:t>
            </a:r>
            <a:r>
              <a:rPr lang="zh-CN" altLang="en-US" sz="2400" b="1" dirty="0">
                <a:latin typeface="Times New Roman" panose="02020603050405020304" pitchFamily="18" charset="0"/>
                <a:ea typeface="+mn-ea"/>
                <a:cs typeface="Times New Roman" panose="02020603050405020304" pitchFamily="18" charset="0"/>
              </a:rPr>
              <a:t>，每个子过程都可有效地在其专用功能段上与其它子过程</a:t>
            </a:r>
            <a:r>
              <a:rPr lang="zh-CN" altLang="en-US" sz="2400" b="1" dirty="0">
                <a:solidFill>
                  <a:srgbClr val="FF0000"/>
                </a:solidFill>
                <a:latin typeface="Times New Roman" panose="02020603050405020304" pitchFamily="18" charset="0"/>
                <a:ea typeface="+mn-ea"/>
                <a:cs typeface="Times New Roman" panose="02020603050405020304" pitchFamily="18" charset="0"/>
              </a:rPr>
              <a:t>同时执行</a:t>
            </a:r>
            <a:r>
              <a:rPr lang="zh-CN" altLang="en-US" sz="2400" b="1" dirty="0">
                <a:latin typeface="Times New Roman" panose="02020603050405020304" pitchFamily="18" charset="0"/>
                <a:ea typeface="+mn-ea"/>
                <a:cs typeface="Times New Roman" panose="02020603050405020304" pitchFamily="18" charset="0"/>
              </a:rPr>
              <a:t>，这种技术称为</a:t>
            </a:r>
            <a:r>
              <a:rPr lang="zh-CN" altLang="en-US" sz="2400" b="1" dirty="0">
                <a:solidFill>
                  <a:schemeClr val="accent2"/>
                </a:solidFill>
                <a:latin typeface="Times New Roman" panose="02020603050405020304" pitchFamily="18" charset="0"/>
                <a:ea typeface="+mn-ea"/>
                <a:cs typeface="Times New Roman" panose="02020603050405020304" pitchFamily="18" charset="0"/>
              </a:rPr>
              <a:t>流水技术</a:t>
            </a:r>
            <a:r>
              <a:rPr lang="zh-CN" altLang="en-US" sz="2400" b="1" dirty="0">
                <a:solidFill>
                  <a:srgbClr val="000066"/>
                </a:solidFill>
                <a:effectLst>
                  <a:outerShdw blurRad="38100" dist="38100" dir="2700000" algn="tl">
                    <a:srgbClr val="C0C0C0"/>
                  </a:outerShdw>
                </a:effectLst>
                <a:latin typeface="Times New Roman" panose="02020603050405020304" pitchFamily="18" charset="0"/>
                <a:ea typeface="+mn-ea"/>
                <a:cs typeface="Times New Roman" panose="02020603050405020304" pitchFamily="18" charset="0"/>
              </a:rPr>
              <a:t>。</a:t>
            </a:r>
          </a:p>
          <a:p>
            <a:pPr marL="342900" indent="-342900" fontAlgn="auto">
              <a:lnSpc>
                <a:spcPct val="120000"/>
              </a:lnSpc>
              <a:spcBef>
                <a:spcPct val="50000"/>
              </a:spcBef>
              <a:spcAft>
                <a:spcPts val="0"/>
              </a:spcAft>
              <a:defRPr/>
            </a:pPr>
            <a:r>
              <a:rPr lang="en-US" altLang="zh-CN" sz="2800" b="1" dirty="0">
                <a:solidFill>
                  <a:srgbClr val="000066"/>
                </a:solidFill>
                <a:latin typeface="Times New Roman" panose="02020603050405020304" pitchFamily="18" charset="0"/>
                <a:ea typeface="+mn-ea"/>
                <a:cs typeface="Times New Roman" panose="02020603050405020304" pitchFamily="18" charset="0"/>
              </a:rPr>
              <a:t>4. </a:t>
            </a:r>
            <a:r>
              <a:rPr lang="zh-CN" altLang="en-US" sz="2800" b="1" dirty="0">
                <a:latin typeface="Times New Roman" panose="02020603050405020304" pitchFamily="18" charset="0"/>
                <a:ea typeface="+mn-ea"/>
                <a:cs typeface="Times New Roman" panose="02020603050405020304" pitchFamily="18" charset="0"/>
              </a:rPr>
              <a:t>时空图</a:t>
            </a:r>
          </a:p>
          <a:p>
            <a:pPr marL="342900" indent="-342900" fontAlgn="auto">
              <a:lnSpc>
                <a:spcPct val="120000"/>
              </a:lnSpc>
              <a:spcBef>
                <a:spcPct val="50000"/>
              </a:spcBef>
              <a:spcAft>
                <a:spcPts val="0"/>
              </a:spcAft>
              <a:defRPr/>
            </a:pPr>
            <a:r>
              <a:rPr lang="zh-CN" altLang="en-US" sz="2800" b="1" dirty="0">
                <a:solidFill>
                  <a:srgbClr val="000066"/>
                </a:solidFill>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从</a:t>
            </a:r>
            <a:r>
              <a:rPr lang="zh-CN" altLang="en-US" sz="2400" b="1" dirty="0">
                <a:solidFill>
                  <a:schemeClr val="accent2"/>
                </a:solidFill>
                <a:latin typeface="Times New Roman" panose="02020603050405020304" pitchFamily="18" charset="0"/>
                <a:ea typeface="+mn-ea"/>
                <a:cs typeface="Times New Roman" panose="02020603050405020304" pitchFamily="18" charset="0"/>
              </a:rPr>
              <a:t>时间</a:t>
            </a:r>
            <a:r>
              <a:rPr lang="zh-CN" altLang="en-US" sz="2400" b="1" dirty="0">
                <a:latin typeface="Times New Roman" panose="02020603050405020304" pitchFamily="18" charset="0"/>
                <a:ea typeface="+mn-ea"/>
                <a:cs typeface="Times New Roman" panose="02020603050405020304" pitchFamily="18" charset="0"/>
              </a:rPr>
              <a:t>和</a:t>
            </a:r>
            <a:r>
              <a:rPr lang="zh-CN" altLang="en-US" sz="2400" b="1" dirty="0">
                <a:solidFill>
                  <a:schemeClr val="accent2"/>
                </a:solidFill>
                <a:latin typeface="Times New Roman" panose="02020603050405020304" pitchFamily="18" charset="0"/>
                <a:ea typeface="+mn-ea"/>
                <a:cs typeface="Times New Roman" panose="02020603050405020304" pitchFamily="18" charset="0"/>
              </a:rPr>
              <a:t>空间</a:t>
            </a:r>
            <a:r>
              <a:rPr lang="zh-CN" altLang="en-US" sz="2400" b="1" dirty="0">
                <a:latin typeface="Times New Roman" panose="02020603050405020304" pitchFamily="18" charset="0"/>
                <a:ea typeface="+mn-ea"/>
                <a:cs typeface="Times New Roman" panose="02020603050405020304" pitchFamily="18" charset="0"/>
              </a:rPr>
              <a:t>两个方面描述流水线的工作过程，横坐标表示时间，纵坐标表示各流水段。</a:t>
            </a:r>
          </a:p>
        </p:txBody>
      </p:sp>
      <p:sp>
        <p:nvSpPr>
          <p:cNvPr id="11267" name="Rectangle 7"/>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spcBef>
                <a:spcPct val="20000"/>
              </a:spcBef>
              <a:buFont typeface="Arial" pitchFamily="34" charset="0"/>
              <a:buNone/>
            </a:pPr>
            <a:r>
              <a:rPr lang="en-US" altLang="zh-CN" sz="3600" b="1" dirty="0">
                <a:latin typeface="Times New Roman" pitchFamily="18" charset="0"/>
              </a:rPr>
              <a:t>3.1.1 </a:t>
            </a:r>
            <a:r>
              <a:rPr lang="zh-CN" altLang="en-US" sz="3600" b="1" dirty="0">
                <a:latin typeface="Times New Roman" pitchFamily="18" charset="0"/>
              </a:rPr>
              <a:t>流水线基本概念</a:t>
            </a:r>
          </a:p>
        </p:txBody>
      </p:sp>
      <p:sp>
        <p:nvSpPr>
          <p:cNvPr id="2" name="日期占位符 1">
            <a:extLst>
              <a:ext uri="{FF2B5EF4-FFF2-40B4-BE49-F238E27FC236}">
                <a16:creationId xmlns:a16="http://schemas.microsoft.com/office/drawing/2014/main" id="{C50FC13C-00C4-E6CF-C19C-C3093A7D3A69}"/>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F8F2ACC8-5103-96A2-DAAE-59EB81F12D4E}"/>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42D1E917-EC61-3993-13B0-55446BBA32E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11</a:t>
            </a:fld>
            <a:endParaRPr lang="en-US" altLang="zh-CN"/>
          </a:p>
        </p:txBody>
      </p:sp>
    </p:spTree>
    <p:extLst>
      <p:ext uri="{BB962C8B-B14F-4D97-AF65-F5344CB8AC3E}">
        <p14:creationId xmlns:p14="http://schemas.microsoft.com/office/powerpoint/2010/main" val="1746179526"/>
      </p:ext>
    </p:extLst>
  </p:cSld>
  <p:clrMapOvr>
    <a:masterClrMapping/>
  </p:clrMapOvr>
  <p:transition>
    <p:pull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063" y="1700213"/>
            <a:ext cx="7451725" cy="366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ext Box 5"/>
          <p:cNvSpPr txBox="1">
            <a:spLocks noChangeArrowheads="1"/>
          </p:cNvSpPr>
          <p:nvPr/>
        </p:nvSpPr>
        <p:spPr bwMode="auto">
          <a:xfrm>
            <a:off x="1331913" y="476250"/>
            <a:ext cx="2338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b="1">
                <a:latin typeface="华文中宋" pitchFamily="2" charset="-122"/>
                <a:ea typeface="华文中宋" pitchFamily="2" charset="-122"/>
              </a:rPr>
              <a:t>流水线技术原理</a:t>
            </a:r>
          </a:p>
        </p:txBody>
      </p:sp>
      <p:sp>
        <p:nvSpPr>
          <p:cNvPr id="2" name="日期占位符 1">
            <a:extLst>
              <a:ext uri="{FF2B5EF4-FFF2-40B4-BE49-F238E27FC236}">
                <a16:creationId xmlns:a16="http://schemas.microsoft.com/office/drawing/2014/main" id="{4F7A831B-D6F9-0CE2-29FB-7FDD2BA3ABE6}"/>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7FB55088-F1B7-77BE-286B-2E856A435A36}"/>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3BFACE53-87A1-876C-5AD0-FCFF3CF66C8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12</a:t>
            </a:fld>
            <a:endParaRPr lang="en-US" altLang="zh-CN"/>
          </a:p>
        </p:txBody>
      </p:sp>
    </p:spTree>
    <p:extLst>
      <p:ext uri="{BB962C8B-B14F-4D97-AF65-F5344CB8AC3E}">
        <p14:creationId xmlns:p14="http://schemas.microsoft.com/office/powerpoint/2010/main" val="2480369313"/>
      </p:ext>
    </p:extLst>
  </p:cSld>
  <p:clrMapOvr>
    <a:masterClrMapping/>
  </p:clrMapOvr>
  <p:transition>
    <p:pull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684212" y="1268413"/>
            <a:ext cx="8352283" cy="419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20000"/>
              </a:lnSpc>
              <a:spcBef>
                <a:spcPct val="50000"/>
              </a:spcBef>
            </a:pPr>
            <a:r>
              <a:rPr lang="en-US" altLang="zh-CN" sz="2800" b="1" dirty="0">
                <a:latin typeface="Times New Roman" panose="02020603050405020304" pitchFamily="18" charset="0"/>
                <a:ea typeface="+mn-ea"/>
                <a:cs typeface="Times New Roman" panose="02020603050405020304" pitchFamily="18" charset="0"/>
              </a:rPr>
              <a:t>5. </a:t>
            </a:r>
            <a:r>
              <a:rPr lang="zh-CN" altLang="en-US" sz="2800" b="1" dirty="0">
                <a:latin typeface="Times New Roman" panose="02020603050405020304" pitchFamily="18" charset="0"/>
                <a:ea typeface="+mn-ea"/>
                <a:cs typeface="Times New Roman" panose="02020603050405020304" pitchFamily="18" charset="0"/>
              </a:rPr>
              <a:t>流水线的特点</a:t>
            </a:r>
          </a:p>
          <a:p>
            <a:pPr marL="457200" indent="-457200" eaLnBrk="1" hangingPunct="1">
              <a:lnSpc>
                <a:spcPct val="120000"/>
              </a:lnSpc>
              <a:spcBef>
                <a:spcPct val="50000"/>
              </a:spcBef>
              <a:buFont typeface="+mj-ea"/>
              <a:buAutoNum type="circleNumDbPlain"/>
            </a:pPr>
            <a:r>
              <a:rPr lang="zh-CN" altLang="en-US" sz="2400" b="1" dirty="0">
                <a:latin typeface="Times New Roman" panose="02020603050405020304" pitchFamily="18" charset="0"/>
                <a:ea typeface="+mn-ea"/>
                <a:cs typeface="Times New Roman" panose="02020603050405020304" pitchFamily="18" charset="0"/>
              </a:rPr>
              <a:t>流水过程由多个相关的子过程组成，这些子过程称为流水线的“</a:t>
            </a:r>
            <a:r>
              <a:rPr lang="zh-CN" altLang="en-US" sz="2400" b="1" dirty="0">
                <a:solidFill>
                  <a:schemeClr val="accent2"/>
                </a:solidFill>
                <a:latin typeface="Times New Roman" panose="02020603050405020304" pitchFamily="18" charset="0"/>
                <a:ea typeface="+mn-ea"/>
                <a:cs typeface="Times New Roman" panose="02020603050405020304" pitchFamily="18" charset="0"/>
              </a:rPr>
              <a:t>级</a:t>
            </a:r>
            <a:r>
              <a:rPr lang="zh-CN" altLang="en-US" sz="2400" b="1" dirty="0">
                <a:latin typeface="Times New Roman" panose="02020603050405020304" pitchFamily="18" charset="0"/>
                <a:ea typeface="+mn-ea"/>
                <a:cs typeface="Times New Roman" panose="02020603050405020304" pitchFamily="18" charset="0"/>
              </a:rPr>
              <a:t>”或“</a:t>
            </a:r>
            <a:r>
              <a:rPr lang="zh-CN" altLang="en-US" sz="2400" b="1" dirty="0">
                <a:solidFill>
                  <a:schemeClr val="accent2"/>
                </a:solidFill>
                <a:latin typeface="Times New Roman" panose="02020603050405020304" pitchFamily="18" charset="0"/>
                <a:ea typeface="+mn-ea"/>
                <a:cs typeface="Times New Roman" panose="02020603050405020304" pitchFamily="18" charset="0"/>
              </a:rPr>
              <a:t>段</a:t>
            </a:r>
            <a:r>
              <a:rPr lang="zh-CN" altLang="en-US" sz="2400" b="1" dirty="0">
                <a:latin typeface="Times New Roman" panose="02020603050405020304" pitchFamily="18" charset="0"/>
                <a:ea typeface="+mn-ea"/>
                <a:cs typeface="Times New Roman" panose="02020603050405020304" pitchFamily="18" charset="0"/>
              </a:rPr>
              <a:t>”。段的数目称为流水线的“</a:t>
            </a:r>
            <a:r>
              <a:rPr lang="zh-CN" altLang="en-US" sz="2400" b="1" dirty="0">
                <a:solidFill>
                  <a:schemeClr val="accent2"/>
                </a:solidFill>
                <a:latin typeface="Times New Roman" panose="02020603050405020304" pitchFamily="18" charset="0"/>
                <a:ea typeface="+mn-ea"/>
                <a:cs typeface="Times New Roman" panose="02020603050405020304" pitchFamily="18" charset="0"/>
              </a:rPr>
              <a:t>深度</a:t>
            </a:r>
            <a:r>
              <a:rPr lang="zh-CN" altLang="en-US" sz="2400" b="1" dirty="0">
                <a:latin typeface="Times New Roman" panose="02020603050405020304" pitchFamily="18" charset="0"/>
                <a:ea typeface="+mn-ea"/>
                <a:cs typeface="Times New Roman" panose="02020603050405020304" pitchFamily="18" charset="0"/>
              </a:rPr>
              <a:t>”。</a:t>
            </a:r>
          </a:p>
          <a:p>
            <a:pPr marL="457200" indent="-457200" eaLnBrk="1" hangingPunct="1">
              <a:lnSpc>
                <a:spcPct val="120000"/>
              </a:lnSpc>
              <a:spcBef>
                <a:spcPct val="50000"/>
              </a:spcBef>
              <a:buFont typeface="+mj-ea"/>
              <a:buAutoNum type="circleNumDbPlain"/>
            </a:pPr>
            <a:r>
              <a:rPr lang="zh-CN" altLang="en-US" sz="2400" b="1" dirty="0">
                <a:latin typeface="Times New Roman" panose="02020603050405020304" pitchFamily="18" charset="0"/>
                <a:ea typeface="+mn-ea"/>
                <a:cs typeface="Times New Roman" panose="02020603050405020304" pitchFamily="18" charset="0"/>
              </a:rPr>
              <a:t>每个子过程由专用的功能段实现</a:t>
            </a:r>
            <a:r>
              <a:rPr lang="zh-CN" altLang="en-US" sz="2400" dirty="0">
                <a:latin typeface="Times New Roman" panose="02020603050405020304" pitchFamily="18" charset="0"/>
                <a:ea typeface="+mn-ea"/>
                <a:cs typeface="Times New Roman" panose="02020603050405020304" pitchFamily="18" charset="0"/>
              </a:rPr>
              <a:t>。</a:t>
            </a:r>
            <a:endParaRPr lang="en-US" altLang="zh-CN" sz="2400" b="1" dirty="0">
              <a:latin typeface="Times New Roman" panose="02020603050405020304" pitchFamily="18" charset="0"/>
              <a:ea typeface="+mn-ea"/>
              <a:cs typeface="Times New Roman" panose="02020603050405020304" pitchFamily="18" charset="0"/>
            </a:endParaRPr>
          </a:p>
          <a:p>
            <a:pPr marL="457200" indent="-457200" eaLnBrk="1" hangingPunct="1">
              <a:lnSpc>
                <a:spcPct val="120000"/>
              </a:lnSpc>
              <a:spcBef>
                <a:spcPct val="50000"/>
              </a:spcBef>
              <a:buFont typeface="+mj-ea"/>
              <a:buAutoNum type="circleNumDbPlain"/>
            </a:pPr>
            <a:r>
              <a:rPr lang="zh-CN" altLang="en-US" sz="2400" b="1" dirty="0">
                <a:latin typeface="Times New Roman" panose="02020603050405020304" pitchFamily="18" charset="0"/>
                <a:ea typeface="+mn-ea"/>
                <a:cs typeface="Times New Roman" panose="02020603050405020304" pitchFamily="18" charset="0"/>
              </a:rPr>
              <a:t>各功能段的时间应基本相等，通常为</a:t>
            </a:r>
            <a:r>
              <a:rPr lang="en-US" altLang="zh-CN" sz="2400" b="1" dirty="0">
                <a:latin typeface="Times New Roman" panose="02020603050405020304" pitchFamily="18" charset="0"/>
                <a:ea typeface="+mn-ea"/>
                <a:cs typeface="Times New Roman" panose="02020603050405020304" pitchFamily="18" charset="0"/>
              </a:rPr>
              <a:t>1</a:t>
            </a:r>
            <a:r>
              <a:rPr lang="zh-CN" altLang="en-US" sz="2400" b="1" dirty="0">
                <a:latin typeface="Times New Roman" panose="02020603050405020304" pitchFamily="18" charset="0"/>
                <a:ea typeface="+mn-ea"/>
                <a:cs typeface="Times New Roman" panose="02020603050405020304" pitchFamily="18" charset="0"/>
              </a:rPr>
              <a:t>个时钟周期（</a:t>
            </a:r>
            <a:r>
              <a:rPr lang="en-US" altLang="zh-CN" sz="2400" b="1" dirty="0">
                <a:latin typeface="Times New Roman" panose="02020603050405020304" pitchFamily="18" charset="0"/>
                <a:ea typeface="+mn-ea"/>
                <a:cs typeface="Times New Roman" panose="02020603050405020304" pitchFamily="18" charset="0"/>
              </a:rPr>
              <a:t>1</a:t>
            </a:r>
            <a:r>
              <a:rPr lang="zh-CN" altLang="en-US" sz="2400" b="1" dirty="0">
                <a:latin typeface="Times New Roman" panose="02020603050405020304" pitchFamily="18" charset="0"/>
                <a:ea typeface="+mn-ea"/>
                <a:cs typeface="Times New Roman" panose="02020603050405020304" pitchFamily="18" charset="0"/>
              </a:rPr>
              <a:t>拍）。</a:t>
            </a:r>
          </a:p>
          <a:p>
            <a:pPr marL="457200" indent="-457200" eaLnBrk="1" hangingPunct="1">
              <a:lnSpc>
                <a:spcPct val="120000"/>
              </a:lnSpc>
              <a:spcBef>
                <a:spcPct val="50000"/>
              </a:spcBef>
              <a:buFont typeface="+mj-ea"/>
              <a:buAutoNum type="circleNumDbPlain"/>
            </a:pPr>
            <a:r>
              <a:rPr lang="zh-CN" altLang="en-US" sz="2400" b="1" dirty="0">
                <a:latin typeface="Times New Roman" panose="02020603050405020304" pitchFamily="18" charset="0"/>
                <a:ea typeface="+mn-ea"/>
                <a:cs typeface="Times New Roman" panose="02020603050405020304" pitchFamily="18" charset="0"/>
              </a:rPr>
              <a:t>流水线需要经过一定的</a:t>
            </a:r>
            <a:r>
              <a:rPr lang="zh-CN" altLang="en-US" sz="2400" b="1" dirty="0">
                <a:solidFill>
                  <a:schemeClr val="accent2"/>
                </a:solidFill>
                <a:latin typeface="Times New Roman" panose="02020603050405020304" pitchFamily="18" charset="0"/>
                <a:ea typeface="+mn-ea"/>
                <a:cs typeface="Times New Roman" panose="02020603050405020304" pitchFamily="18" charset="0"/>
              </a:rPr>
              <a:t>通过时间</a:t>
            </a:r>
            <a:r>
              <a:rPr lang="zh-CN" altLang="en-US" sz="2400" b="1" dirty="0">
                <a:latin typeface="Times New Roman" panose="02020603050405020304" pitchFamily="18" charset="0"/>
                <a:ea typeface="+mn-ea"/>
                <a:cs typeface="Times New Roman" panose="02020603050405020304" pitchFamily="18" charset="0"/>
              </a:rPr>
              <a:t>才能稳定。</a:t>
            </a:r>
          </a:p>
          <a:p>
            <a:pPr marL="457200" indent="-457200" eaLnBrk="1" hangingPunct="1">
              <a:lnSpc>
                <a:spcPct val="120000"/>
              </a:lnSpc>
              <a:spcBef>
                <a:spcPct val="50000"/>
              </a:spcBef>
              <a:buFont typeface="+mj-ea"/>
              <a:buAutoNum type="circleNumDbPlain"/>
            </a:pPr>
            <a:r>
              <a:rPr lang="zh-CN" altLang="en-US" sz="2400" b="1" dirty="0">
                <a:latin typeface="Times New Roman" panose="02020603050405020304" pitchFamily="18" charset="0"/>
                <a:ea typeface="+mn-ea"/>
                <a:cs typeface="Times New Roman" panose="02020603050405020304" pitchFamily="18" charset="0"/>
              </a:rPr>
              <a:t>流水技术适合于</a:t>
            </a:r>
            <a:r>
              <a:rPr lang="zh-CN" altLang="en-US" sz="2400" b="1" dirty="0">
                <a:solidFill>
                  <a:schemeClr val="accent2"/>
                </a:solidFill>
                <a:latin typeface="Times New Roman" panose="02020603050405020304" pitchFamily="18" charset="0"/>
                <a:ea typeface="+mn-ea"/>
                <a:cs typeface="Times New Roman" panose="02020603050405020304" pitchFamily="18" charset="0"/>
              </a:rPr>
              <a:t>大量重复</a:t>
            </a:r>
            <a:r>
              <a:rPr lang="zh-CN" altLang="en-US" sz="2400" b="1" dirty="0">
                <a:latin typeface="Times New Roman" panose="02020603050405020304" pitchFamily="18" charset="0"/>
                <a:ea typeface="+mn-ea"/>
                <a:cs typeface="Times New Roman" panose="02020603050405020304" pitchFamily="18" charset="0"/>
              </a:rPr>
              <a:t>的时序过程。</a:t>
            </a:r>
          </a:p>
        </p:txBody>
      </p:sp>
      <p:sp>
        <p:nvSpPr>
          <p:cNvPr id="13315" name="Rectangle 7"/>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spcBef>
                <a:spcPct val="20000"/>
              </a:spcBef>
              <a:buFont typeface="Arial" pitchFamily="34" charset="0"/>
              <a:buNone/>
            </a:pPr>
            <a:r>
              <a:rPr lang="en-US" altLang="zh-CN" sz="3600" b="1" dirty="0">
                <a:latin typeface="Times New Roman" pitchFamily="18" charset="0"/>
              </a:rPr>
              <a:t>3.1.1 </a:t>
            </a:r>
            <a:r>
              <a:rPr lang="zh-CN" altLang="en-US" sz="3600" b="1" dirty="0">
                <a:latin typeface="Times New Roman" pitchFamily="18" charset="0"/>
              </a:rPr>
              <a:t>流水线基本概念</a:t>
            </a:r>
          </a:p>
        </p:txBody>
      </p:sp>
      <p:sp>
        <p:nvSpPr>
          <p:cNvPr id="2" name="日期占位符 1">
            <a:extLst>
              <a:ext uri="{FF2B5EF4-FFF2-40B4-BE49-F238E27FC236}">
                <a16:creationId xmlns:a16="http://schemas.microsoft.com/office/drawing/2014/main" id="{63209D75-2A86-F6BC-3265-CC266CADDDDC}"/>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41894099-8BCB-12AC-E8EA-9925BCCCFCA9}"/>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389CBD75-B71B-CC85-2607-D6686C91B89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13</a:t>
            </a:fld>
            <a:endParaRPr lang="en-US" altLang="zh-CN"/>
          </a:p>
        </p:txBody>
      </p:sp>
    </p:spTree>
    <p:extLst>
      <p:ext uri="{BB962C8B-B14F-4D97-AF65-F5344CB8AC3E}">
        <p14:creationId xmlns:p14="http://schemas.microsoft.com/office/powerpoint/2010/main" val="2123444140"/>
      </p:ext>
    </p:extLst>
  </p:cSld>
  <p:clrMapOvr>
    <a:masterClrMapping/>
  </p:clrMapOvr>
  <p:transition>
    <p:pull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rtlCol="0">
            <a:normAutofit/>
          </a:bodyPr>
          <a:lstStyle/>
          <a:p>
            <a:pPr eaLnBrk="1" fontAlgn="auto" hangingPunct="1">
              <a:spcAft>
                <a:spcPts val="0"/>
              </a:spcAft>
              <a:defRPr/>
            </a:pPr>
            <a:r>
              <a:rPr lang="en-US" altLang="zh-CN" sz="3600" b="1" dirty="0">
                <a:latin typeface="Times New Roman" panose="02020603050405020304" pitchFamily="18" charset="0"/>
                <a:cs typeface="Times New Roman" panose="02020603050405020304" pitchFamily="18" charset="0"/>
              </a:rPr>
              <a:t>3.1  </a:t>
            </a:r>
            <a:r>
              <a:rPr lang="zh-CN" altLang="en-US" sz="3600" b="1" dirty="0">
                <a:latin typeface="Times New Roman" panose="02020603050405020304" pitchFamily="18" charset="0"/>
                <a:cs typeface="Times New Roman" panose="02020603050405020304" pitchFamily="18" charset="0"/>
              </a:rPr>
              <a:t>流水线概述</a:t>
            </a:r>
          </a:p>
        </p:txBody>
      </p:sp>
      <p:sp>
        <p:nvSpPr>
          <p:cNvPr id="5123" name="Rectangle 2"/>
          <p:cNvSpPr>
            <a:spLocks noGrp="1" noChangeArrowheads="1"/>
          </p:cNvSpPr>
          <p:nvPr>
            <p:ph idx="1"/>
          </p:nvPr>
        </p:nvSpPr>
        <p:spPr>
          <a:xfrm>
            <a:off x="755650" y="1700213"/>
            <a:ext cx="7064375" cy="3313112"/>
          </a:xfrm>
        </p:spPr>
        <p:txBody>
          <a:bodyPr/>
          <a:lstStyle/>
          <a:p>
            <a:pPr marL="0" indent="0" eaLnBrk="1" hangingPunct="1">
              <a:spcBef>
                <a:spcPct val="50000"/>
              </a:spcBef>
              <a:buFont typeface="Arial" pitchFamily="34" charset="0"/>
              <a:buNone/>
            </a:pPr>
            <a:r>
              <a:rPr lang="en-US" altLang="zh-CN" sz="2800" b="1" dirty="0">
                <a:latin typeface="Times New Roman" pitchFamily="18" charset="0"/>
              </a:rPr>
              <a:t>3.1.1  </a:t>
            </a:r>
            <a:r>
              <a:rPr lang="zh-CN" altLang="en-US" sz="2800" b="1" dirty="0">
                <a:latin typeface="Times New Roman" pitchFamily="18" charset="0"/>
              </a:rPr>
              <a:t>流水线基本概念</a:t>
            </a:r>
            <a:endParaRPr lang="en-US" altLang="zh-CN" sz="2800" b="1" dirty="0">
              <a:latin typeface="Times New Roman"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endParaRPr>
          </a:p>
          <a:p>
            <a:pPr marL="0" indent="0" eaLnBrk="1" hangingPunct="1">
              <a:spcBef>
                <a:spcPct val="50000"/>
              </a:spcBef>
              <a:buFont typeface="Arial" pitchFamily="34" charset="0"/>
              <a:buNone/>
            </a:pPr>
            <a:r>
              <a:rPr lang="en-US" altLang="zh-CN" sz="2800" b="1" u="sng" dirty="0">
                <a:latin typeface="Times New Roman" pitchFamily="18" charset="0"/>
              </a:rPr>
              <a:t>3.1.2  </a:t>
            </a:r>
            <a:r>
              <a:rPr lang="zh-CN" altLang="en-US" sz="2800" b="1" u="sng" dirty="0">
                <a:latin typeface="Times New Roman" pitchFamily="18" charset="0"/>
              </a:rPr>
              <a:t>流水线分类</a:t>
            </a:r>
          </a:p>
          <a:p>
            <a:pPr marL="966788" lvl="1" indent="-495300" eaLnBrk="1" hangingPunct="1">
              <a:spcBef>
                <a:spcPct val="50000"/>
              </a:spcBef>
              <a:buFont typeface="Wingdings" pitchFamily="2" charset="2"/>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DB000BB1-8E0E-8581-28E4-AE874E8AAF09}"/>
              </a:ext>
            </a:extLst>
          </p:cNvPr>
          <p:cNvSpPr>
            <a:spLocks noGrp="1"/>
          </p:cNvSpPr>
          <p:nvPr>
            <p:ph type="dt" sz="half" idx="10"/>
          </p:nvPr>
        </p:nvSpPr>
        <p:spPr/>
        <p:txBody>
          <a:bodyPr/>
          <a:lstStyle/>
          <a:p>
            <a:pPr>
              <a:defRPr/>
            </a:pPr>
            <a:fld id="{9B060E48-226B-47D1-B724-92E2049BA47C}" type="datetime1">
              <a:rPr lang="zh-CN" altLang="en-US" smtClean="0"/>
              <a:t>2025/9/25</a:t>
            </a:fld>
            <a:endParaRPr lang="en-US" altLang="zh-CN"/>
          </a:p>
        </p:txBody>
      </p:sp>
      <p:sp>
        <p:nvSpPr>
          <p:cNvPr id="3" name="页脚占位符 2">
            <a:extLst>
              <a:ext uri="{FF2B5EF4-FFF2-40B4-BE49-F238E27FC236}">
                <a16:creationId xmlns:a16="http://schemas.microsoft.com/office/drawing/2014/main" id="{2D11AB43-52EF-5B56-4CFF-2FC1890B1A1A}"/>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A4891EF6-31EA-A13C-86FC-669A87076398}"/>
              </a:ext>
            </a:extLst>
          </p:cNvPr>
          <p:cNvSpPr>
            <a:spLocks noGrp="1"/>
          </p:cNvSpPr>
          <p:nvPr>
            <p:ph type="sldNum" sz="quarter" idx="12"/>
          </p:nvPr>
        </p:nvSpPr>
        <p:spPr/>
        <p:txBody>
          <a:bodyPr/>
          <a:lstStyle/>
          <a:p>
            <a:pPr>
              <a:defRPr/>
            </a:pPr>
            <a:fld id="{8BCAC33D-D29A-48B3-BCD6-381D3D720D26}" type="slidenum">
              <a:rPr lang="zh-CN" altLang="en-US" smtClean="0"/>
              <a:t>14</a:t>
            </a:fld>
            <a:endParaRPr lang="en-US" altLang="zh-CN"/>
          </a:p>
        </p:txBody>
      </p:sp>
    </p:spTree>
    <p:extLst>
      <p:ext uri="{BB962C8B-B14F-4D97-AF65-F5344CB8AC3E}">
        <p14:creationId xmlns:p14="http://schemas.microsoft.com/office/powerpoint/2010/main" val="330051293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612775" y="1341438"/>
            <a:ext cx="8135938" cy="3902075"/>
          </a:xfrm>
          <a:prstGeom prst="rect">
            <a:avLst/>
          </a:prstGeom>
          <a:noFill/>
          <a:ln w="9525">
            <a:noFill/>
            <a:miter lim="800000"/>
            <a:headEnd/>
            <a:tailEnd/>
          </a:ln>
          <a:effectLst/>
        </p:spPr>
        <p:txBody>
          <a:bodyPr>
            <a:spAutoFit/>
          </a:bodyPr>
          <a:lstStyle/>
          <a:p>
            <a:pPr marL="342900" indent="-342900" fontAlgn="auto">
              <a:spcBef>
                <a:spcPct val="100000"/>
              </a:spcBef>
              <a:spcAft>
                <a:spcPts val="0"/>
              </a:spcAft>
              <a:defRPr/>
            </a:pPr>
            <a:r>
              <a:rPr lang="en-US" altLang="zh-CN" sz="2800" b="1" dirty="0">
                <a:latin typeface="华文中宋" pitchFamily="2" charset="-122"/>
                <a:ea typeface="华文中宋" pitchFamily="2" charset="-122"/>
              </a:rPr>
              <a:t>1.</a:t>
            </a:r>
            <a:r>
              <a:rPr lang="zh-CN" altLang="en-US" sz="2800" b="1" dirty="0">
                <a:latin typeface="华文中宋" pitchFamily="2" charset="-122"/>
                <a:ea typeface="华文中宋" pitchFamily="2" charset="-122"/>
              </a:rPr>
              <a:t>单功能流水线和多功能流水线</a:t>
            </a:r>
          </a:p>
          <a:p>
            <a:pPr lvl="1" fontAlgn="auto">
              <a:spcBef>
                <a:spcPct val="80000"/>
              </a:spcBef>
              <a:spcAft>
                <a:spcPts val="0"/>
              </a:spcAft>
              <a:defRPr/>
            </a:pPr>
            <a:r>
              <a:rPr lang="zh-CN" altLang="en-US" sz="2400" b="1" dirty="0">
                <a:latin typeface="华文中宋" pitchFamily="2" charset="-122"/>
                <a:ea typeface="华文中宋" pitchFamily="2" charset="-122"/>
              </a:rPr>
              <a:t>按流水线所完成的功能分类</a:t>
            </a:r>
          </a:p>
          <a:p>
            <a:pPr marL="800100" lvl="1" indent="-342900" fontAlgn="auto">
              <a:spcBef>
                <a:spcPct val="80000"/>
              </a:spcBef>
              <a:spcAft>
                <a:spcPts val="0"/>
              </a:spcAft>
              <a:buFont typeface="Arial" charset="0"/>
              <a:buChar char="–"/>
              <a:defRPr/>
            </a:pPr>
            <a:r>
              <a:rPr lang="zh-CN" altLang="en-US" sz="2400" b="1" dirty="0">
                <a:solidFill>
                  <a:schemeClr val="accent2"/>
                </a:solidFill>
                <a:latin typeface="华文中宋" pitchFamily="2" charset="-122"/>
                <a:ea typeface="华文中宋" pitchFamily="2" charset="-122"/>
              </a:rPr>
              <a:t>单功能流水线，</a:t>
            </a:r>
            <a:r>
              <a:rPr lang="zh-CN" altLang="en-US" sz="2400" b="1" dirty="0">
                <a:latin typeface="华文中宋" pitchFamily="2" charset="-122"/>
                <a:ea typeface="华文中宋" pitchFamily="2" charset="-122"/>
              </a:rPr>
              <a:t>是指只能完成一种固定功能的流水线。</a:t>
            </a:r>
          </a:p>
          <a:p>
            <a:pPr marL="800100" lvl="1" indent="-342900" fontAlgn="auto">
              <a:spcBef>
                <a:spcPct val="25000"/>
              </a:spcBef>
              <a:spcAft>
                <a:spcPts val="0"/>
              </a:spcAft>
              <a:buFont typeface="Arial" charset="0"/>
              <a:buNone/>
              <a:defRPr/>
            </a:pPr>
            <a:r>
              <a:rPr lang="zh-CN" altLang="en-US" sz="2400" b="1" dirty="0">
                <a:latin typeface="华文中宋" pitchFamily="2" charset="-122"/>
                <a:ea typeface="华文中宋" pitchFamily="2" charset="-122"/>
              </a:rPr>
              <a:t>	例如：功能单元流水线</a:t>
            </a:r>
          </a:p>
          <a:p>
            <a:pPr marL="800100" lvl="1" indent="-342900" fontAlgn="auto">
              <a:spcBef>
                <a:spcPct val="80000"/>
              </a:spcBef>
              <a:spcAft>
                <a:spcPts val="0"/>
              </a:spcAft>
              <a:buFont typeface="Arial" charset="0"/>
              <a:buChar char="–"/>
              <a:defRPr/>
            </a:pPr>
            <a:r>
              <a:rPr lang="zh-CN" altLang="en-US" sz="2400" b="1" dirty="0">
                <a:solidFill>
                  <a:schemeClr val="accent2"/>
                </a:solidFill>
                <a:latin typeface="华文中宋" pitchFamily="2" charset="-122"/>
                <a:ea typeface="华文中宋" pitchFamily="2" charset="-122"/>
              </a:rPr>
              <a:t>多功能流水线，</a:t>
            </a:r>
            <a:r>
              <a:rPr lang="zh-CN" altLang="en-US" sz="2400" b="1" dirty="0">
                <a:latin typeface="华文中宋" pitchFamily="2" charset="-122"/>
                <a:ea typeface="华文中宋" pitchFamily="2" charset="-122"/>
              </a:rPr>
              <a:t>是指各段可以进行不同的连接，从而完成不同的功能。</a:t>
            </a:r>
          </a:p>
          <a:p>
            <a:pPr marL="800100" lvl="1" indent="-342900" fontAlgn="auto">
              <a:spcBef>
                <a:spcPct val="50000"/>
              </a:spcBef>
              <a:spcAft>
                <a:spcPts val="0"/>
              </a:spcAft>
              <a:buFont typeface="Arial" charset="0"/>
              <a:buNone/>
              <a:defRPr/>
            </a:pPr>
            <a:r>
              <a:rPr lang="zh-CN" altLang="en-US" sz="2400" b="1" dirty="0">
                <a:solidFill>
                  <a:srgbClr val="000066"/>
                </a:solidFill>
                <a:effectLst>
                  <a:outerShdw blurRad="38100" dist="38100" dir="2700000" algn="tl">
                    <a:srgbClr val="C0C0C0"/>
                  </a:outerShdw>
                </a:effectLst>
                <a:latin typeface="华文中宋" pitchFamily="2" charset="-122"/>
                <a:ea typeface="华文中宋" pitchFamily="2" charset="-122"/>
              </a:rPr>
              <a:t>	</a:t>
            </a:r>
            <a:r>
              <a:rPr lang="zh-CN" altLang="en-US" sz="2400" b="1" dirty="0">
                <a:latin typeface="华文中宋" pitchFamily="2" charset="-122"/>
                <a:ea typeface="华文中宋" pitchFamily="2" charset="-122"/>
              </a:rPr>
              <a:t>例如：</a:t>
            </a:r>
            <a:r>
              <a:rPr lang="en-US" altLang="zh-CN" sz="2400" b="1" dirty="0">
                <a:latin typeface="华文中宋" pitchFamily="2" charset="-122"/>
                <a:ea typeface="华文中宋" pitchFamily="2" charset="-122"/>
              </a:rPr>
              <a:t>TI ASC</a:t>
            </a:r>
            <a:r>
              <a:rPr lang="zh-CN" altLang="en-US" sz="2400" b="1" dirty="0">
                <a:latin typeface="华文中宋" pitchFamily="2" charset="-122"/>
                <a:ea typeface="华文中宋" pitchFamily="2" charset="-122"/>
              </a:rPr>
              <a:t>多功能流水线</a:t>
            </a:r>
            <a:endParaRPr lang="zh-CN" altLang="en-US" sz="2400" b="1" dirty="0">
              <a:solidFill>
                <a:srgbClr val="000066"/>
              </a:solidFill>
              <a:latin typeface="华文中宋" pitchFamily="2" charset="-122"/>
              <a:ea typeface="华文中宋" pitchFamily="2" charset="-122"/>
            </a:endParaRPr>
          </a:p>
        </p:txBody>
      </p:sp>
      <p:sp>
        <p:nvSpPr>
          <p:cNvPr id="148483" name="Rectangle 3"/>
          <p:cNvSpPr>
            <a:spLocks noChangeArrowheads="1"/>
          </p:cNvSpPr>
          <p:nvPr/>
        </p:nvSpPr>
        <p:spPr bwMode="auto">
          <a:xfrm>
            <a:off x="1528763" y="404813"/>
            <a:ext cx="59420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fontAlgn="auto">
              <a:spcBef>
                <a:spcPct val="20000"/>
              </a:spcBef>
              <a:spcAft>
                <a:spcPts val="0"/>
              </a:spcAft>
              <a:buFont typeface="Arial" pitchFamily="34" charset="0"/>
              <a:buNone/>
              <a:defRPr/>
            </a:pPr>
            <a:r>
              <a:rPr lang="en-US" altLang="zh-CN" sz="4000" b="1" dirty="0">
                <a:latin typeface="Times New Roman" pitchFamily="18" charset="0"/>
                <a:ea typeface="+mn-ea"/>
              </a:rPr>
              <a:t>3.1.2 </a:t>
            </a:r>
            <a:r>
              <a:rPr lang="zh-CN" altLang="en-US" sz="4000" b="1" dirty="0">
                <a:latin typeface="Times New Roman" pitchFamily="18" charset="0"/>
                <a:ea typeface="+mn-ea"/>
              </a:rPr>
              <a:t>流水线的分类</a:t>
            </a:r>
          </a:p>
        </p:txBody>
      </p:sp>
      <p:sp>
        <p:nvSpPr>
          <p:cNvPr id="2" name="日期占位符 1">
            <a:extLst>
              <a:ext uri="{FF2B5EF4-FFF2-40B4-BE49-F238E27FC236}">
                <a16:creationId xmlns:a16="http://schemas.microsoft.com/office/drawing/2014/main" id="{B7F88B19-E654-D59B-BCAE-81E9D99B192A}"/>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DC7E1BD2-DD4D-36C7-B576-D9BC97837F18}"/>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D2E22DF4-4674-1A1E-0F9B-0CCF0A810C9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15</a:t>
            </a:fld>
            <a:endParaRPr lang="en-US" altLang="zh-CN"/>
          </a:p>
        </p:txBody>
      </p:sp>
    </p:spTree>
    <p:extLst>
      <p:ext uri="{BB962C8B-B14F-4D97-AF65-F5344CB8AC3E}">
        <p14:creationId xmlns:p14="http://schemas.microsoft.com/office/powerpoint/2010/main" val="2771198075"/>
      </p:ext>
    </p:extLst>
  </p:cSld>
  <p:clrMapOvr>
    <a:masterClrMapping/>
  </p:clrMapOvr>
  <p:transition>
    <p:pull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2916238" y="425450"/>
            <a:ext cx="3375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400" b="1">
                <a:latin typeface="华文中宋" pitchFamily="2" charset="-122"/>
                <a:ea typeface="华文中宋" pitchFamily="2" charset="-122"/>
              </a:rPr>
              <a:t>TI ASC</a:t>
            </a:r>
            <a:r>
              <a:rPr lang="zh-CN" altLang="en-US" sz="2400" b="1">
                <a:latin typeface="华文中宋" pitchFamily="2" charset="-122"/>
                <a:ea typeface="华文中宋" pitchFamily="2" charset="-122"/>
              </a:rPr>
              <a:t>的多功能流水线</a:t>
            </a:r>
          </a:p>
        </p:txBody>
      </p:sp>
      <p:pic>
        <p:nvPicPr>
          <p:cNvPr id="1536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981075"/>
            <a:ext cx="5543550"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AA7D30CF-CBA2-5A59-D565-07FCEF2A83D8}"/>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8302EC76-232E-C54F-E2AF-08BFF2B38FF4}"/>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50BF4FE9-71A9-C595-8DC1-5131298E360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16</a:t>
            </a:fld>
            <a:endParaRPr lang="en-US" altLang="zh-CN"/>
          </a:p>
        </p:txBody>
      </p:sp>
    </p:spTree>
    <p:extLst>
      <p:ext uri="{BB962C8B-B14F-4D97-AF65-F5344CB8AC3E}">
        <p14:creationId xmlns:p14="http://schemas.microsoft.com/office/powerpoint/2010/main" val="1929275265"/>
      </p:ext>
    </p:extLst>
  </p:cSld>
  <p:clrMapOvr>
    <a:masterClrMapping/>
  </p:clrMapOvr>
  <p:transition>
    <p:pull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684212" y="1254125"/>
            <a:ext cx="7776219" cy="447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b="1" dirty="0">
                <a:latin typeface="华文中宋" pitchFamily="2" charset="-122"/>
                <a:ea typeface="华文中宋" pitchFamily="2" charset="-122"/>
              </a:rPr>
              <a:t>2.</a:t>
            </a:r>
            <a:r>
              <a:rPr lang="zh-CN" altLang="en-US" sz="2800" b="1" dirty="0">
                <a:latin typeface="华文中宋" pitchFamily="2" charset="-122"/>
                <a:ea typeface="华文中宋" pitchFamily="2" charset="-122"/>
              </a:rPr>
              <a:t>静态流水线和动态流水线</a:t>
            </a:r>
          </a:p>
          <a:p>
            <a:pPr marL="457200" lvl="1" indent="0" eaLnBrk="1" hangingPunct="1">
              <a:spcBef>
                <a:spcPct val="80000"/>
              </a:spcBef>
            </a:pPr>
            <a:r>
              <a:rPr lang="zh-CN" altLang="en-US" sz="2400" b="1" dirty="0">
                <a:latin typeface="华文中宋" pitchFamily="2" charset="-122"/>
                <a:ea typeface="华文中宋" pitchFamily="2" charset="-122"/>
              </a:rPr>
              <a:t>多功能流水线，按同一时间内流水段的连接方式划分</a:t>
            </a:r>
          </a:p>
          <a:p>
            <a:pPr lvl="1" eaLnBrk="1" hangingPunct="1">
              <a:spcBef>
                <a:spcPct val="70000"/>
              </a:spcBef>
              <a:buFont typeface="Arial" pitchFamily="34" charset="0"/>
              <a:buChar char="–"/>
            </a:pPr>
            <a:r>
              <a:rPr lang="zh-CN" altLang="en-US" sz="2400" b="1" dirty="0">
                <a:solidFill>
                  <a:schemeClr val="accent2"/>
                </a:solidFill>
                <a:latin typeface="华文中宋" pitchFamily="2" charset="-122"/>
                <a:ea typeface="华文中宋" pitchFamily="2" charset="-122"/>
              </a:rPr>
              <a:t>静态流水线，</a:t>
            </a:r>
            <a:r>
              <a:rPr lang="zh-CN" altLang="en-US" sz="2400" b="1" dirty="0">
                <a:latin typeface="华文中宋" pitchFamily="2" charset="-122"/>
                <a:ea typeface="华文中宋" pitchFamily="2" charset="-122"/>
              </a:rPr>
              <a:t>是指在同一时间内，流水线的各段只能按同一种功能的连接方式工作。</a:t>
            </a:r>
          </a:p>
          <a:p>
            <a:pPr lvl="1" eaLnBrk="1" hangingPunct="1">
              <a:spcBef>
                <a:spcPct val="25000"/>
              </a:spcBef>
              <a:buFont typeface="Arial" pitchFamily="34" charset="0"/>
              <a:buNone/>
            </a:pPr>
            <a:r>
              <a:rPr lang="zh-CN" altLang="en-US" sz="2400" b="1" dirty="0">
                <a:latin typeface="华文中宋" pitchFamily="2" charset="-122"/>
                <a:ea typeface="华文中宋" pitchFamily="2" charset="-122"/>
              </a:rPr>
              <a:t>	例如：</a:t>
            </a:r>
            <a:r>
              <a:rPr lang="en-US" altLang="zh-CN" sz="2400" b="1" dirty="0">
                <a:latin typeface="华文中宋" pitchFamily="2" charset="-122"/>
                <a:ea typeface="华文中宋" pitchFamily="2" charset="-122"/>
              </a:rPr>
              <a:t>TI ASC</a:t>
            </a:r>
            <a:r>
              <a:rPr lang="zh-CN" altLang="en-US" sz="2400" b="1" dirty="0">
                <a:latin typeface="华文中宋" pitchFamily="2" charset="-122"/>
                <a:ea typeface="华文中宋" pitchFamily="2" charset="-122"/>
              </a:rPr>
              <a:t>的流水线</a:t>
            </a:r>
          </a:p>
          <a:p>
            <a:pPr lvl="1" eaLnBrk="1" hangingPunct="1">
              <a:spcBef>
                <a:spcPct val="25000"/>
              </a:spcBef>
              <a:buFont typeface="Arial" pitchFamily="34" charset="0"/>
              <a:buNone/>
            </a:pPr>
            <a:r>
              <a:rPr lang="zh-CN" altLang="en-US" sz="2400" b="1" dirty="0">
                <a:latin typeface="华文中宋" pitchFamily="2" charset="-122"/>
                <a:ea typeface="华文中宋" pitchFamily="2" charset="-122"/>
              </a:rPr>
              <a:t>	适合于处理一串相同的运算操作</a:t>
            </a:r>
          </a:p>
          <a:p>
            <a:pPr lvl="1" eaLnBrk="1" hangingPunct="1">
              <a:spcBef>
                <a:spcPct val="70000"/>
              </a:spcBef>
              <a:buFont typeface="Arial" pitchFamily="34" charset="0"/>
              <a:buChar char="–"/>
            </a:pPr>
            <a:r>
              <a:rPr lang="zh-CN" altLang="en-US" sz="2400" b="1" dirty="0">
                <a:solidFill>
                  <a:schemeClr val="accent2"/>
                </a:solidFill>
                <a:latin typeface="华文中宋" pitchFamily="2" charset="-122"/>
                <a:ea typeface="华文中宋" pitchFamily="2" charset="-122"/>
              </a:rPr>
              <a:t>动态流水线，</a:t>
            </a:r>
            <a:r>
              <a:rPr lang="zh-CN" altLang="en-US" sz="2400" b="1" dirty="0">
                <a:latin typeface="华文中宋" pitchFamily="2" charset="-122"/>
                <a:ea typeface="华文中宋" pitchFamily="2" charset="-122"/>
              </a:rPr>
              <a:t>是指在同一时间内，当某些段正在实现某种运算时，另一些段却在实现另一种运算，会使流水线的控制变得很复杂</a:t>
            </a:r>
            <a:endParaRPr lang="zh-CN" altLang="en-US" sz="2400" b="1" dirty="0">
              <a:latin typeface="楷体_GB2312" pitchFamily="49" charset="-122"/>
              <a:ea typeface="楷体_GB2312" pitchFamily="49" charset="-122"/>
            </a:endParaRPr>
          </a:p>
        </p:txBody>
      </p:sp>
      <p:sp>
        <p:nvSpPr>
          <p:cNvPr id="3" name="Rectangle 3"/>
          <p:cNvSpPr>
            <a:spLocks noChangeArrowheads="1"/>
          </p:cNvSpPr>
          <p:nvPr/>
        </p:nvSpPr>
        <p:spPr bwMode="auto">
          <a:xfrm>
            <a:off x="1528763" y="404813"/>
            <a:ext cx="59420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fontAlgn="auto">
              <a:spcBef>
                <a:spcPct val="20000"/>
              </a:spcBef>
              <a:spcAft>
                <a:spcPts val="0"/>
              </a:spcAft>
              <a:buFont typeface="Arial" pitchFamily="34" charset="0"/>
              <a:buNone/>
              <a:defRPr/>
            </a:pPr>
            <a:r>
              <a:rPr lang="en-US" altLang="zh-CN" sz="3600" b="1" dirty="0">
                <a:latin typeface="Times New Roman" pitchFamily="18" charset="0"/>
                <a:ea typeface="+mn-ea"/>
              </a:rPr>
              <a:t>3.1.2 </a:t>
            </a:r>
            <a:r>
              <a:rPr lang="zh-CN" altLang="en-US" sz="3600" b="1" dirty="0">
                <a:latin typeface="Times New Roman" pitchFamily="18" charset="0"/>
                <a:ea typeface="+mn-ea"/>
              </a:rPr>
              <a:t>流水线的分类</a:t>
            </a:r>
          </a:p>
        </p:txBody>
      </p:sp>
      <p:sp>
        <p:nvSpPr>
          <p:cNvPr id="2" name="日期占位符 1">
            <a:extLst>
              <a:ext uri="{FF2B5EF4-FFF2-40B4-BE49-F238E27FC236}">
                <a16:creationId xmlns:a16="http://schemas.microsoft.com/office/drawing/2014/main" id="{B69A964E-8E3C-8766-F52B-13D0FA6E0A6A}"/>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4" name="页脚占位符 2">
            <a:extLst>
              <a:ext uri="{FF2B5EF4-FFF2-40B4-BE49-F238E27FC236}">
                <a16:creationId xmlns:a16="http://schemas.microsoft.com/office/drawing/2014/main" id="{0A179AAF-6261-4234-B88C-68053A5BFAFD}"/>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5" name="灯片编号占位符 3">
            <a:extLst>
              <a:ext uri="{FF2B5EF4-FFF2-40B4-BE49-F238E27FC236}">
                <a16:creationId xmlns:a16="http://schemas.microsoft.com/office/drawing/2014/main" id="{D0C1CA79-633B-5884-A9B4-CEB7F0BD998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17</a:t>
            </a:fld>
            <a:endParaRPr lang="en-US" altLang="zh-CN"/>
          </a:p>
        </p:txBody>
      </p:sp>
    </p:spTree>
    <p:extLst>
      <p:ext uri="{BB962C8B-B14F-4D97-AF65-F5344CB8AC3E}">
        <p14:creationId xmlns:p14="http://schemas.microsoft.com/office/powerpoint/2010/main" val="467903176"/>
      </p:ext>
    </p:extLst>
  </p:cSld>
  <p:clrMapOvr>
    <a:masterClrMapping/>
  </p:clrMapOvr>
  <p:transition>
    <p:pull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052513"/>
            <a:ext cx="7488237"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 Box 3"/>
          <p:cNvSpPr txBox="1">
            <a:spLocks noChangeArrowheads="1"/>
          </p:cNvSpPr>
          <p:nvPr/>
        </p:nvSpPr>
        <p:spPr bwMode="auto">
          <a:xfrm>
            <a:off x="2484438" y="471488"/>
            <a:ext cx="3262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b="1">
                <a:latin typeface="华文中宋" pitchFamily="2" charset="-122"/>
                <a:ea typeface="华文中宋" pitchFamily="2" charset="-122"/>
              </a:rPr>
              <a:t>动、静态流水线时空图</a:t>
            </a:r>
          </a:p>
        </p:txBody>
      </p:sp>
      <p:sp>
        <p:nvSpPr>
          <p:cNvPr id="2" name="日期占位符 1">
            <a:extLst>
              <a:ext uri="{FF2B5EF4-FFF2-40B4-BE49-F238E27FC236}">
                <a16:creationId xmlns:a16="http://schemas.microsoft.com/office/drawing/2014/main" id="{CCD8F6F4-3ADC-C4E7-4FDD-30BBEAD7FA4E}"/>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F1CE46B3-C7D3-0CC9-6B0C-A2BD6E4D1292}"/>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028F8753-9F10-ACFD-855E-02FEC9843E6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18</a:t>
            </a:fld>
            <a:endParaRPr lang="en-US" altLang="zh-CN"/>
          </a:p>
        </p:txBody>
      </p:sp>
    </p:spTree>
    <p:extLst>
      <p:ext uri="{BB962C8B-B14F-4D97-AF65-F5344CB8AC3E}">
        <p14:creationId xmlns:p14="http://schemas.microsoft.com/office/powerpoint/2010/main" val="3844957697"/>
      </p:ext>
    </p:extLst>
  </p:cSld>
  <p:clrMapOvr>
    <a:masterClrMapping/>
  </p:clrMapOvr>
  <p:transition>
    <p:pull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684213" y="1268413"/>
            <a:ext cx="7704137" cy="488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b="1" dirty="0">
                <a:latin typeface="华文中宋" pitchFamily="2" charset="-122"/>
                <a:ea typeface="华文中宋" pitchFamily="2" charset="-122"/>
              </a:rPr>
              <a:t>3.</a:t>
            </a:r>
            <a:r>
              <a:rPr lang="zh-CN" altLang="en-US" sz="2800" b="1" dirty="0">
                <a:latin typeface="华文中宋" pitchFamily="2" charset="-122"/>
                <a:ea typeface="华文中宋" pitchFamily="2" charset="-122"/>
              </a:rPr>
              <a:t>部件级、处理机级及处理机间流水线</a:t>
            </a:r>
            <a:r>
              <a:rPr lang="zh-CN" altLang="en-US" sz="2400" dirty="0">
                <a:latin typeface="仿宋_GB2312"/>
                <a:ea typeface="仿宋_GB2312"/>
                <a:cs typeface="仿宋_GB2312"/>
              </a:rPr>
              <a:t> </a:t>
            </a:r>
            <a:endParaRPr lang="zh-CN" altLang="en-US" sz="2400" b="1" dirty="0">
              <a:latin typeface="仿宋_GB2312"/>
              <a:ea typeface="仿宋_GB2312"/>
              <a:cs typeface="仿宋_GB2312"/>
            </a:endParaRPr>
          </a:p>
          <a:p>
            <a:pPr marL="457200" lvl="1" indent="0" eaLnBrk="1" hangingPunct="1">
              <a:spcBef>
                <a:spcPct val="70000"/>
              </a:spcBef>
            </a:pPr>
            <a:r>
              <a:rPr lang="zh-CN" altLang="en-US" sz="2400" b="1" dirty="0">
                <a:latin typeface="华文中宋" pitchFamily="2" charset="-122"/>
                <a:ea typeface="华文中宋" pitchFamily="2" charset="-122"/>
              </a:rPr>
              <a:t>按流水的级别划分</a:t>
            </a:r>
          </a:p>
          <a:p>
            <a:pPr lvl="1" eaLnBrk="1" hangingPunct="1">
              <a:spcBef>
                <a:spcPct val="70000"/>
              </a:spcBef>
              <a:buFont typeface="Arial" pitchFamily="34" charset="0"/>
              <a:buChar char="–"/>
            </a:pPr>
            <a:r>
              <a:rPr lang="zh-CN" altLang="en-US" sz="2400" b="1" dirty="0">
                <a:solidFill>
                  <a:schemeClr val="accent2"/>
                </a:solidFill>
                <a:latin typeface="华文中宋" pitchFamily="2" charset="-122"/>
                <a:ea typeface="华文中宋" pitchFamily="2" charset="-122"/>
              </a:rPr>
              <a:t>部件级流水线</a:t>
            </a:r>
            <a:r>
              <a:rPr lang="zh-CN" altLang="en-US" sz="2400" b="1" dirty="0">
                <a:latin typeface="华文中宋" pitchFamily="2" charset="-122"/>
                <a:ea typeface="华文中宋" pitchFamily="2" charset="-122"/>
              </a:rPr>
              <a:t>，又叫</a:t>
            </a:r>
            <a:r>
              <a:rPr lang="zh-CN" altLang="en-US" sz="2400" b="1" dirty="0">
                <a:solidFill>
                  <a:schemeClr val="accent2"/>
                </a:solidFill>
                <a:latin typeface="华文中宋" pitchFamily="2" charset="-122"/>
                <a:ea typeface="华文中宋" pitchFamily="2" charset="-122"/>
              </a:rPr>
              <a:t>运算操作流水线（对吗？）</a:t>
            </a:r>
            <a:r>
              <a:rPr lang="zh-CN" altLang="en-US" sz="2400" b="1" dirty="0">
                <a:latin typeface="华文中宋" pitchFamily="2" charset="-122"/>
                <a:ea typeface="华文中宋" pitchFamily="2" charset="-122"/>
              </a:rPr>
              <a:t>，是把处理机的算术逻辑部件分段，使得各种数据类型的操作能够进行流水。</a:t>
            </a:r>
          </a:p>
          <a:p>
            <a:pPr lvl="1" eaLnBrk="1" hangingPunct="1">
              <a:spcBef>
                <a:spcPct val="70000"/>
              </a:spcBef>
              <a:buFont typeface="Arial" pitchFamily="34" charset="0"/>
              <a:buChar char="–"/>
            </a:pPr>
            <a:r>
              <a:rPr lang="zh-CN" altLang="en-US" sz="2400" b="1" dirty="0">
                <a:solidFill>
                  <a:schemeClr val="accent2"/>
                </a:solidFill>
                <a:latin typeface="华文中宋" pitchFamily="2" charset="-122"/>
                <a:ea typeface="华文中宋" pitchFamily="2" charset="-122"/>
              </a:rPr>
              <a:t>处理机级流水线</a:t>
            </a:r>
            <a:r>
              <a:rPr lang="zh-CN" altLang="en-US" sz="2400" b="1" dirty="0">
                <a:latin typeface="华文中宋" pitchFamily="2" charset="-122"/>
                <a:ea typeface="华文中宋" pitchFamily="2" charset="-122"/>
              </a:rPr>
              <a:t>，又叫</a:t>
            </a:r>
            <a:r>
              <a:rPr lang="zh-CN" altLang="en-US" sz="2400" b="1" dirty="0">
                <a:solidFill>
                  <a:schemeClr val="accent2"/>
                </a:solidFill>
                <a:latin typeface="华文中宋" pitchFamily="2" charset="-122"/>
                <a:ea typeface="华文中宋" pitchFamily="2" charset="-122"/>
              </a:rPr>
              <a:t>指令流水线</a:t>
            </a:r>
            <a:r>
              <a:rPr lang="zh-CN" altLang="en-US" sz="2400" b="1" dirty="0">
                <a:latin typeface="华文中宋" pitchFamily="2" charset="-122"/>
                <a:ea typeface="华文中宋" pitchFamily="2" charset="-122"/>
              </a:rPr>
              <a:t>，是把解释指令的过程按照流水方式处理。</a:t>
            </a:r>
          </a:p>
          <a:p>
            <a:pPr lvl="1" eaLnBrk="1" hangingPunct="1">
              <a:spcBef>
                <a:spcPct val="70000"/>
              </a:spcBef>
              <a:buFont typeface="Arial" pitchFamily="34" charset="0"/>
              <a:buChar char="–"/>
            </a:pPr>
            <a:r>
              <a:rPr lang="zh-CN" altLang="en-US" sz="2400" b="1" dirty="0">
                <a:solidFill>
                  <a:schemeClr val="accent2"/>
                </a:solidFill>
                <a:latin typeface="华文中宋" pitchFamily="2" charset="-122"/>
                <a:ea typeface="华文中宋" pitchFamily="2" charset="-122"/>
              </a:rPr>
              <a:t>处理机间流水线</a:t>
            </a:r>
            <a:r>
              <a:rPr lang="zh-CN" altLang="en-US" sz="2400" b="1" dirty="0">
                <a:latin typeface="华文中宋" pitchFamily="2" charset="-122"/>
                <a:ea typeface="华文中宋" pitchFamily="2" charset="-122"/>
              </a:rPr>
              <a:t>，又叫</a:t>
            </a:r>
            <a:r>
              <a:rPr lang="zh-CN" altLang="en-US" sz="2400" b="1" dirty="0">
                <a:solidFill>
                  <a:schemeClr val="accent2"/>
                </a:solidFill>
                <a:latin typeface="华文中宋" pitchFamily="2" charset="-122"/>
                <a:ea typeface="华文中宋" pitchFamily="2" charset="-122"/>
              </a:rPr>
              <a:t>宏流水线</a:t>
            </a:r>
            <a:r>
              <a:rPr lang="zh-CN" altLang="en-US" sz="2400" b="1" dirty="0">
                <a:latin typeface="华文中宋" pitchFamily="2" charset="-122"/>
                <a:ea typeface="华文中宋" pitchFamily="2" charset="-122"/>
              </a:rPr>
              <a:t>，是由两个以上的处理机串行地对同一数据流进行处理，每个处理机完成一项任务。</a:t>
            </a:r>
            <a:r>
              <a:rPr lang="zh-CN" altLang="en-US" sz="2400" dirty="0">
                <a:latin typeface="华文中宋" pitchFamily="2" charset="-122"/>
                <a:ea typeface="华文中宋" pitchFamily="2" charset="-122"/>
              </a:rPr>
              <a:t> </a:t>
            </a:r>
          </a:p>
        </p:txBody>
      </p:sp>
      <p:sp>
        <p:nvSpPr>
          <p:cNvPr id="3" name="Rectangle 3"/>
          <p:cNvSpPr>
            <a:spLocks noChangeArrowheads="1"/>
          </p:cNvSpPr>
          <p:nvPr/>
        </p:nvSpPr>
        <p:spPr bwMode="auto">
          <a:xfrm>
            <a:off x="1528763" y="404813"/>
            <a:ext cx="59420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fontAlgn="auto">
              <a:spcBef>
                <a:spcPct val="20000"/>
              </a:spcBef>
              <a:spcAft>
                <a:spcPts val="0"/>
              </a:spcAft>
              <a:buFont typeface="Arial" pitchFamily="34" charset="0"/>
              <a:buNone/>
              <a:defRPr/>
            </a:pPr>
            <a:r>
              <a:rPr lang="en-US" altLang="zh-CN" sz="3600" b="1" dirty="0">
                <a:latin typeface="Times New Roman" pitchFamily="18" charset="0"/>
                <a:ea typeface="+mn-ea"/>
              </a:rPr>
              <a:t>3.1.2 </a:t>
            </a:r>
            <a:r>
              <a:rPr lang="zh-CN" altLang="en-US" sz="3600" b="1" dirty="0">
                <a:latin typeface="Times New Roman" pitchFamily="18" charset="0"/>
                <a:ea typeface="+mn-ea"/>
              </a:rPr>
              <a:t>流水线的分类</a:t>
            </a:r>
          </a:p>
        </p:txBody>
      </p:sp>
      <p:sp>
        <p:nvSpPr>
          <p:cNvPr id="2" name="日期占位符 1">
            <a:extLst>
              <a:ext uri="{FF2B5EF4-FFF2-40B4-BE49-F238E27FC236}">
                <a16:creationId xmlns:a16="http://schemas.microsoft.com/office/drawing/2014/main" id="{4C9C7E44-8798-A55B-0E3E-68AE6C7B2217}"/>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4" name="页脚占位符 2">
            <a:extLst>
              <a:ext uri="{FF2B5EF4-FFF2-40B4-BE49-F238E27FC236}">
                <a16:creationId xmlns:a16="http://schemas.microsoft.com/office/drawing/2014/main" id="{C6065206-B7B3-8C6E-3CC5-436E42E2BA0E}"/>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5" name="灯片编号占位符 3">
            <a:extLst>
              <a:ext uri="{FF2B5EF4-FFF2-40B4-BE49-F238E27FC236}">
                <a16:creationId xmlns:a16="http://schemas.microsoft.com/office/drawing/2014/main" id="{CE1ADD18-8570-7559-A0E5-F5BF17CE40E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19</a:t>
            </a:fld>
            <a:endParaRPr lang="en-US" altLang="zh-CN"/>
          </a:p>
        </p:txBody>
      </p:sp>
    </p:spTree>
    <p:extLst>
      <p:ext uri="{BB962C8B-B14F-4D97-AF65-F5344CB8AC3E}">
        <p14:creationId xmlns:p14="http://schemas.microsoft.com/office/powerpoint/2010/main" val="4192834887"/>
      </p:ext>
    </p:extLst>
  </p:cSld>
  <p:clrMapOvr>
    <a:masterClrMapping/>
  </p:clrMapOvr>
  <p:transition>
    <p:pull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hlinkClick r:id="rId3" action="ppaction://hlinksldjump"/>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19459" name="Picture 2" descr="arch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0463" y="1628775"/>
            <a:ext cx="7011987"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9CB05839-5E1F-34F7-8473-C687B6CDBECD}"/>
              </a:ext>
            </a:extLst>
          </p:cNvPr>
          <p:cNvSpPr>
            <a:spLocks noGrp="1"/>
          </p:cNvSpPr>
          <p:nvPr>
            <p:ph type="dt" sz="half" idx="10"/>
          </p:nvPr>
        </p:nvSpPr>
        <p:spPr/>
        <p:txBody>
          <a:bodyPr/>
          <a:lstStyle/>
          <a:p>
            <a:pPr>
              <a:defRPr/>
            </a:pPr>
            <a:fld id="{AD63BA65-48DF-4A54-9662-5AE2AF66B2C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139294A0-6229-8330-6FE7-1612E9A272CA}"/>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A30E1A2D-C769-9AF6-3FD9-9724E7DEDCCC}"/>
              </a:ext>
            </a:extLst>
          </p:cNvPr>
          <p:cNvSpPr>
            <a:spLocks noGrp="1"/>
          </p:cNvSpPr>
          <p:nvPr>
            <p:ph type="sldNum" sz="quarter" idx="12"/>
          </p:nvPr>
        </p:nvSpPr>
        <p:spPr/>
        <p:txBody>
          <a:bodyPr/>
          <a:lstStyle/>
          <a:p>
            <a:pPr>
              <a:defRPr/>
            </a:pPr>
            <a:fld id="{65B7EA61-351E-4105-9AD9-76D38C6E9934}" type="slidenum">
              <a:rPr lang="zh-CN" altLang="en-US" smtClean="0"/>
              <a:t>20</a:t>
            </a:fld>
            <a:endParaRPr lang="en-US" altLang="zh-CN"/>
          </a:p>
        </p:txBody>
      </p:sp>
    </p:spTree>
    <p:extLst>
      <p:ext uri="{BB962C8B-B14F-4D97-AF65-F5344CB8AC3E}">
        <p14:creationId xmlns:p14="http://schemas.microsoft.com/office/powerpoint/2010/main" val="4146000103"/>
      </p:ext>
    </p:extLst>
  </p:cSld>
  <p:clrMapOvr>
    <a:masterClrMapping/>
  </p:clrMapOvr>
  <p:transition spd="slow"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684213" y="1268413"/>
            <a:ext cx="7704137" cy="454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b="1" dirty="0">
                <a:latin typeface="华文中宋" pitchFamily="2" charset="-122"/>
                <a:ea typeface="华文中宋" pitchFamily="2" charset="-122"/>
              </a:rPr>
              <a:t>4. </a:t>
            </a:r>
            <a:r>
              <a:rPr lang="zh-CN" altLang="en-US" sz="2800" b="1" dirty="0">
                <a:latin typeface="华文中宋" pitchFamily="2" charset="-122"/>
                <a:ea typeface="华文中宋" pitchFamily="2" charset="-122"/>
              </a:rPr>
              <a:t>标量流水处理机和向量流水处理机</a:t>
            </a:r>
          </a:p>
          <a:p>
            <a:pPr marL="457200" lvl="1" indent="0" eaLnBrk="1" hangingPunct="1">
              <a:spcBef>
                <a:spcPct val="80000"/>
              </a:spcBef>
            </a:pPr>
            <a:r>
              <a:rPr lang="zh-CN" altLang="en-US" sz="2400" b="1" dirty="0">
                <a:latin typeface="Times New Roman" pitchFamily="18" charset="0"/>
                <a:ea typeface="华文中宋" pitchFamily="2" charset="-122"/>
              </a:rPr>
              <a:t>按照数据表示来进行分类</a:t>
            </a:r>
          </a:p>
          <a:p>
            <a:pPr lvl="1" eaLnBrk="1" hangingPunct="1">
              <a:spcBef>
                <a:spcPct val="80000"/>
              </a:spcBef>
              <a:buFont typeface="Arial" pitchFamily="34" charset="0"/>
              <a:buChar char="–"/>
            </a:pPr>
            <a:r>
              <a:rPr lang="zh-CN" altLang="en-US" sz="2400" b="1" dirty="0">
                <a:solidFill>
                  <a:schemeClr val="accent2"/>
                </a:solidFill>
                <a:latin typeface="Times New Roman" pitchFamily="18" charset="0"/>
                <a:ea typeface="华文中宋" pitchFamily="2" charset="-122"/>
              </a:rPr>
              <a:t>标量流水处理机</a:t>
            </a:r>
            <a:r>
              <a:rPr lang="zh-CN" altLang="en-US" sz="2400" b="1" dirty="0">
                <a:latin typeface="Times New Roman" pitchFamily="18" charset="0"/>
                <a:ea typeface="华文中宋" pitchFamily="2" charset="-122"/>
              </a:rPr>
              <a:t>，是指处理机不具有向量数据表示，仅对标量数据进行流水处理。</a:t>
            </a:r>
          </a:p>
          <a:p>
            <a:pPr lvl="1" eaLnBrk="1" hangingPunct="1">
              <a:spcBef>
                <a:spcPct val="25000"/>
              </a:spcBef>
              <a:buFont typeface="Arial" pitchFamily="34" charset="0"/>
              <a:buNone/>
            </a:pPr>
            <a:r>
              <a:rPr lang="zh-CN" altLang="en-US" sz="2400" b="1" dirty="0">
                <a:latin typeface="Times New Roman" pitchFamily="18" charset="0"/>
                <a:ea typeface="华文中宋" pitchFamily="2" charset="-122"/>
              </a:rPr>
              <a:t>	例如：</a:t>
            </a:r>
            <a:r>
              <a:rPr lang="en-US" altLang="zh-CN" sz="2400" b="1" dirty="0">
                <a:latin typeface="Times New Roman" pitchFamily="18" charset="0"/>
                <a:ea typeface="华文中宋" pitchFamily="2" charset="-122"/>
              </a:rPr>
              <a:t>IBM 360/91</a:t>
            </a:r>
            <a:r>
              <a:rPr lang="zh-CN" altLang="en-US" sz="2400" b="1" dirty="0">
                <a:latin typeface="Times New Roman" pitchFamily="18" charset="0"/>
                <a:ea typeface="华文中宋" pitchFamily="2" charset="-122"/>
              </a:rPr>
              <a:t>，</a:t>
            </a:r>
            <a:r>
              <a:rPr lang="en-US" altLang="zh-CN" sz="2400" b="1" dirty="0">
                <a:latin typeface="Times New Roman" pitchFamily="18" charset="0"/>
                <a:ea typeface="华文中宋" pitchFamily="2" charset="-122"/>
              </a:rPr>
              <a:t>Amdahl 470V/6</a:t>
            </a:r>
            <a:r>
              <a:rPr lang="zh-CN" altLang="en-US" sz="2400" b="1" dirty="0">
                <a:latin typeface="Times New Roman" pitchFamily="18" charset="0"/>
                <a:ea typeface="华文中宋" pitchFamily="2" charset="-122"/>
              </a:rPr>
              <a:t>等</a:t>
            </a:r>
            <a:r>
              <a:rPr lang="zh-CN" altLang="en-US" sz="2400" dirty="0">
                <a:latin typeface="Times New Roman" pitchFamily="18" charset="0"/>
                <a:ea typeface="华文中宋" pitchFamily="2" charset="-122"/>
              </a:rPr>
              <a:t> </a:t>
            </a:r>
            <a:endParaRPr lang="zh-CN" altLang="en-US" sz="2400" b="1" dirty="0">
              <a:latin typeface="Times New Roman" pitchFamily="18" charset="0"/>
              <a:ea typeface="华文中宋" pitchFamily="2" charset="-122"/>
            </a:endParaRPr>
          </a:p>
          <a:p>
            <a:pPr lvl="1" eaLnBrk="1" hangingPunct="1">
              <a:spcBef>
                <a:spcPct val="80000"/>
              </a:spcBef>
              <a:buFont typeface="Arial" pitchFamily="34" charset="0"/>
              <a:buChar char="–"/>
            </a:pPr>
            <a:r>
              <a:rPr lang="zh-CN" altLang="en-US" sz="2400" b="1" dirty="0">
                <a:solidFill>
                  <a:schemeClr val="accent2"/>
                </a:solidFill>
                <a:latin typeface="Times New Roman" pitchFamily="18" charset="0"/>
                <a:ea typeface="华文中宋" pitchFamily="2" charset="-122"/>
              </a:rPr>
              <a:t>向量流水处理机</a:t>
            </a:r>
            <a:r>
              <a:rPr lang="zh-CN" altLang="en-US" sz="2400" b="1" dirty="0">
                <a:latin typeface="Times New Roman" pitchFamily="18" charset="0"/>
                <a:ea typeface="华文中宋" pitchFamily="2" charset="-122"/>
              </a:rPr>
              <a:t>，是指处理机具有向量数据表示，并通过向量指令对向量的各元素进行处理。</a:t>
            </a:r>
          </a:p>
          <a:p>
            <a:pPr lvl="1" eaLnBrk="1" hangingPunct="1">
              <a:spcBef>
                <a:spcPct val="25000"/>
              </a:spcBef>
              <a:buFont typeface="Arial" pitchFamily="34" charset="0"/>
              <a:buNone/>
            </a:pPr>
            <a:r>
              <a:rPr lang="zh-CN" altLang="en-US" sz="2400" b="1" dirty="0">
                <a:latin typeface="Times New Roman" pitchFamily="18" charset="0"/>
                <a:ea typeface="华文中宋" pitchFamily="2" charset="-122"/>
              </a:rPr>
              <a:t>	例如：</a:t>
            </a:r>
            <a:r>
              <a:rPr lang="en-US" altLang="zh-CN" sz="2400" b="1" dirty="0">
                <a:latin typeface="Times New Roman" pitchFamily="18" charset="0"/>
                <a:ea typeface="华文中宋" pitchFamily="2" charset="-122"/>
              </a:rPr>
              <a:t>TI ASC</a:t>
            </a:r>
            <a:r>
              <a:rPr lang="zh-CN" altLang="en-US" sz="2400" b="1" dirty="0">
                <a:latin typeface="Times New Roman" pitchFamily="18" charset="0"/>
                <a:ea typeface="华文中宋" pitchFamily="2" charset="-122"/>
              </a:rPr>
              <a:t>、</a:t>
            </a:r>
            <a:r>
              <a:rPr lang="en-US" altLang="zh-CN" sz="2400" b="1" dirty="0">
                <a:latin typeface="Times New Roman" pitchFamily="18" charset="0"/>
                <a:ea typeface="华文中宋" pitchFamily="2" charset="-122"/>
              </a:rPr>
              <a:t>STAR-100</a:t>
            </a:r>
            <a:r>
              <a:rPr lang="zh-CN" altLang="en-US" sz="2400" b="1" dirty="0">
                <a:latin typeface="Times New Roman" pitchFamily="18" charset="0"/>
                <a:ea typeface="华文中宋" pitchFamily="2" charset="-122"/>
              </a:rPr>
              <a:t>、</a:t>
            </a:r>
            <a:r>
              <a:rPr lang="en-US" altLang="zh-CN" sz="2400" b="1" dirty="0">
                <a:latin typeface="Times New Roman" pitchFamily="18" charset="0"/>
                <a:ea typeface="华文中宋" pitchFamily="2" charset="-122"/>
              </a:rPr>
              <a:t>CYBER-205</a:t>
            </a:r>
            <a:r>
              <a:rPr lang="zh-CN" altLang="en-US" sz="2400" b="1" dirty="0">
                <a:latin typeface="Times New Roman" pitchFamily="18" charset="0"/>
                <a:ea typeface="华文中宋" pitchFamily="2" charset="-122"/>
              </a:rPr>
              <a:t>、</a:t>
            </a:r>
            <a:r>
              <a:rPr lang="en-US" altLang="zh-CN" sz="2400" b="1" dirty="0">
                <a:latin typeface="Times New Roman" pitchFamily="18" charset="0"/>
                <a:ea typeface="华文中宋" pitchFamily="2" charset="-122"/>
              </a:rPr>
              <a:t>CRAY-1</a:t>
            </a:r>
            <a:r>
              <a:rPr lang="zh-CN" altLang="en-US" sz="2400" b="1" dirty="0">
                <a:latin typeface="Times New Roman" pitchFamily="18" charset="0"/>
                <a:ea typeface="华文中宋" pitchFamily="2" charset="-122"/>
              </a:rPr>
              <a:t>、</a:t>
            </a:r>
            <a:r>
              <a:rPr lang="en-US" altLang="zh-CN" sz="2400" b="1" dirty="0">
                <a:latin typeface="Times New Roman" pitchFamily="18" charset="0"/>
                <a:ea typeface="华文中宋" pitchFamily="2" charset="-122"/>
              </a:rPr>
              <a:t>YH-1</a:t>
            </a:r>
            <a:r>
              <a:rPr lang="zh-CN" altLang="en-US" sz="2400" b="1" dirty="0">
                <a:latin typeface="Times New Roman" pitchFamily="18" charset="0"/>
                <a:ea typeface="华文中宋" pitchFamily="2" charset="-122"/>
              </a:rPr>
              <a:t>等</a:t>
            </a:r>
            <a:endParaRPr lang="zh-CN" altLang="en-US" sz="2400" dirty="0">
              <a:latin typeface="Times New Roman" pitchFamily="18" charset="0"/>
              <a:ea typeface="华文中宋" pitchFamily="2" charset="-122"/>
            </a:endParaRPr>
          </a:p>
        </p:txBody>
      </p:sp>
      <p:sp>
        <p:nvSpPr>
          <p:cNvPr id="3" name="Rectangle 3"/>
          <p:cNvSpPr>
            <a:spLocks noChangeArrowheads="1"/>
          </p:cNvSpPr>
          <p:nvPr/>
        </p:nvSpPr>
        <p:spPr bwMode="auto">
          <a:xfrm>
            <a:off x="1528763" y="404813"/>
            <a:ext cx="59420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fontAlgn="auto">
              <a:spcBef>
                <a:spcPct val="20000"/>
              </a:spcBef>
              <a:spcAft>
                <a:spcPts val="0"/>
              </a:spcAft>
              <a:buFont typeface="Arial" pitchFamily="34" charset="0"/>
              <a:buNone/>
              <a:defRPr/>
            </a:pPr>
            <a:r>
              <a:rPr lang="en-US" altLang="zh-CN" sz="3600" b="1" dirty="0">
                <a:latin typeface="Times New Roman" pitchFamily="18" charset="0"/>
                <a:ea typeface="+mn-ea"/>
              </a:rPr>
              <a:t>3.1.2 </a:t>
            </a:r>
            <a:r>
              <a:rPr lang="zh-CN" altLang="en-US" sz="3600" b="1" dirty="0">
                <a:latin typeface="Times New Roman" pitchFamily="18" charset="0"/>
                <a:ea typeface="+mn-ea"/>
              </a:rPr>
              <a:t>流水线的分类</a:t>
            </a:r>
          </a:p>
        </p:txBody>
      </p:sp>
      <p:sp>
        <p:nvSpPr>
          <p:cNvPr id="2" name="日期占位符 1">
            <a:extLst>
              <a:ext uri="{FF2B5EF4-FFF2-40B4-BE49-F238E27FC236}">
                <a16:creationId xmlns:a16="http://schemas.microsoft.com/office/drawing/2014/main" id="{53EFD72B-985E-3909-5A41-F441BB750AAA}"/>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4" name="页脚占位符 2">
            <a:extLst>
              <a:ext uri="{FF2B5EF4-FFF2-40B4-BE49-F238E27FC236}">
                <a16:creationId xmlns:a16="http://schemas.microsoft.com/office/drawing/2014/main" id="{C8EEECC4-1B99-AABC-B65D-68345F048F58}"/>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5" name="灯片编号占位符 3">
            <a:extLst>
              <a:ext uri="{FF2B5EF4-FFF2-40B4-BE49-F238E27FC236}">
                <a16:creationId xmlns:a16="http://schemas.microsoft.com/office/drawing/2014/main" id="{D07960DB-8A84-F871-D4AF-842D4297911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21</a:t>
            </a:fld>
            <a:endParaRPr lang="en-US" altLang="zh-CN"/>
          </a:p>
        </p:txBody>
      </p:sp>
    </p:spTree>
    <p:extLst>
      <p:ext uri="{BB962C8B-B14F-4D97-AF65-F5344CB8AC3E}">
        <p14:creationId xmlns:p14="http://schemas.microsoft.com/office/powerpoint/2010/main" val="1848371341"/>
      </p:ext>
    </p:extLst>
  </p:cSld>
  <p:clrMapOvr>
    <a:masterClrMapping/>
  </p:clrMapOvr>
  <p:transition>
    <p:pull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a:spLocks noChangeArrowheads="1"/>
          </p:cNvSpPr>
          <p:nvPr/>
        </p:nvSpPr>
        <p:spPr bwMode="auto">
          <a:xfrm>
            <a:off x="611188" y="1268760"/>
            <a:ext cx="7777162" cy="477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lang="en-US" altLang="zh-CN" sz="2800" b="1" dirty="0">
                <a:latin typeface="华文中宋" pitchFamily="2" charset="-122"/>
                <a:ea typeface="华文中宋" pitchFamily="2" charset="-122"/>
              </a:rPr>
              <a:t>5.</a:t>
            </a:r>
            <a:r>
              <a:rPr lang="zh-CN" altLang="en-US" sz="2800" b="1" dirty="0">
                <a:latin typeface="华文中宋" pitchFamily="2" charset="-122"/>
                <a:ea typeface="华文中宋" pitchFamily="2" charset="-122"/>
              </a:rPr>
              <a:t>线性流水线和非线性流水线</a:t>
            </a:r>
          </a:p>
          <a:p>
            <a:pPr marL="457200" lvl="1" indent="0" eaLnBrk="1" hangingPunct="1">
              <a:spcBef>
                <a:spcPct val="50000"/>
              </a:spcBef>
            </a:pPr>
            <a:r>
              <a:rPr lang="zh-CN" altLang="en-US" sz="2400" b="1" dirty="0">
                <a:latin typeface="华文中宋" pitchFamily="2" charset="-122"/>
                <a:ea typeface="华文中宋" pitchFamily="2" charset="-122"/>
              </a:rPr>
              <a:t>按照是否有反馈回路来进行分类</a:t>
            </a:r>
          </a:p>
          <a:p>
            <a:pPr lvl="1" eaLnBrk="1" hangingPunct="1">
              <a:spcBef>
                <a:spcPct val="50000"/>
              </a:spcBef>
              <a:buFont typeface="Arial" pitchFamily="34" charset="0"/>
              <a:buChar char="–"/>
            </a:pPr>
            <a:r>
              <a:rPr lang="zh-CN" altLang="en-US" sz="2400" b="1" dirty="0">
                <a:solidFill>
                  <a:schemeClr val="accent2"/>
                </a:solidFill>
                <a:latin typeface="华文中宋" pitchFamily="2" charset="-122"/>
                <a:ea typeface="华文中宋" pitchFamily="2" charset="-122"/>
              </a:rPr>
              <a:t>线性流水线</a:t>
            </a:r>
            <a:r>
              <a:rPr lang="zh-CN" altLang="en-US" sz="2400" b="1" dirty="0">
                <a:latin typeface="华文中宋" pitchFamily="2" charset="-122"/>
                <a:ea typeface="华文中宋" pitchFamily="2" charset="-122"/>
              </a:rPr>
              <a:t>是指流水线的各段串行连接，没有反馈回路。</a:t>
            </a:r>
          </a:p>
          <a:p>
            <a:pPr lvl="1" eaLnBrk="1" hangingPunct="1">
              <a:spcBef>
                <a:spcPct val="50000"/>
              </a:spcBef>
              <a:buFont typeface="Arial" pitchFamily="34" charset="0"/>
              <a:buChar char="–"/>
            </a:pPr>
            <a:r>
              <a:rPr lang="zh-CN" altLang="en-US" sz="2400" b="1" dirty="0">
                <a:solidFill>
                  <a:schemeClr val="folHlink"/>
                </a:solidFill>
                <a:latin typeface="华文中宋" pitchFamily="2" charset="-122"/>
                <a:ea typeface="华文中宋" pitchFamily="2" charset="-122"/>
                <a:hlinkClick r:id="rId3" action="ppaction://hlinksldjump"/>
              </a:rPr>
              <a:t>非线性流水线</a:t>
            </a:r>
            <a:r>
              <a:rPr lang="zh-CN" altLang="en-US" sz="2400" b="1" dirty="0">
                <a:latin typeface="华文中宋" pitchFamily="2" charset="-122"/>
                <a:ea typeface="华文中宋" pitchFamily="2" charset="-122"/>
              </a:rPr>
              <a:t>是指流水线中除有串行连接的通路外，还有反馈回路。</a:t>
            </a:r>
          </a:p>
          <a:p>
            <a:pPr lvl="1" eaLnBrk="1" hangingPunct="1">
              <a:spcBef>
                <a:spcPct val="50000"/>
              </a:spcBef>
              <a:buFont typeface="Arial" pitchFamily="34" charset="0"/>
              <a:buNone/>
            </a:pPr>
            <a:r>
              <a:rPr lang="zh-CN" altLang="en-US" sz="2400" b="1" dirty="0">
                <a:solidFill>
                  <a:schemeClr val="folHlink"/>
                </a:solidFill>
                <a:latin typeface="华文中宋" pitchFamily="2" charset="-122"/>
                <a:ea typeface="华文中宋" pitchFamily="2" charset="-122"/>
              </a:rPr>
              <a:t>	</a:t>
            </a:r>
            <a:r>
              <a:rPr lang="zh-CN" altLang="en-US" sz="2400" b="1" dirty="0">
                <a:latin typeface="华文中宋" pitchFamily="2" charset="-122"/>
                <a:ea typeface="华文中宋" pitchFamily="2" charset="-122"/>
              </a:rPr>
              <a:t>存在</a:t>
            </a:r>
            <a:r>
              <a:rPr lang="zh-CN" altLang="en-US" sz="2400" b="1" dirty="0">
                <a:solidFill>
                  <a:schemeClr val="folHlink"/>
                </a:solidFill>
                <a:latin typeface="华文中宋" pitchFamily="2" charset="-122"/>
                <a:ea typeface="华文中宋" pitchFamily="2" charset="-122"/>
                <a:hlinkClick r:id="rId4" action="ppaction://hlinksldjump"/>
              </a:rPr>
              <a:t>流水线调度问题</a:t>
            </a:r>
            <a:r>
              <a:rPr lang="zh-CN" altLang="en-US" sz="2400" b="1" dirty="0">
                <a:solidFill>
                  <a:schemeClr val="folHlink"/>
                </a:solidFill>
                <a:latin typeface="华文中宋" pitchFamily="2" charset="-122"/>
                <a:ea typeface="华文中宋" pitchFamily="2" charset="-122"/>
              </a:rPr>
              <a:t>。</a:t>
            </a:r>
          </a:p>
          <a:p>
            <a:pPr eaLnBrk="1" hangingPunct="1">
              <a:spcBef>
                <a:spcPct val="50000"/>
              </a:spcBef>
            </a:pPr>
            <a:r>
              <a:rPr lang="zh-CN" altLang="en-US" sz="2400" b="1" dirty="0">
                <a:solidFill>
                  <a:schemeClr val="folHlink"/>
                </a:solidFill>
                <a:latin typeface="华文中宋" pitchFamily="2" charset="-122"/>
                <a:ea typeface="华文中宋" pitchFamily="2" charset="-122"/>
              </a:rPr>
              <a:t>	</a:t>
            </a:r>
            <a:r>
              <a:rPr lang="zh-CN" altLang="en-US" sz="2400" b="1" dirty="0">
                <a:latin typeface="华文中宋" pitchFamily="2" charset="-122"/>
                <a:ea typeface="华文中宋" pitchFamily="2" charset="-122"/>
              </a:rPr>
              <a:t>确定什么时候向流水线引进新的输入，从而使新输入的数据和先前操作的反馈数据在流水线中不产生冲突，此即所谓</a:t>
            </a:r>
            <a:r>
              <a:rPr lang="zh-CN" altLang="en-US" sz="2400" b="1" dirty="0">
                <a:solidFill>
                  <a:schemeClr val="accent2"/>
                </a:solidFill>
                <a:latin typeface="华文中宋" pitchFamily="2" charset="-122"/>
                <a:ea typeface="华文中宋" pitchFamily="2" charset="-122"/>
              </a:rPr>
              <a:t>流水线调度</a:t>
            </a:r>
            <a:r>
              <a:rPr lang="zh-CN" altLang="en-US" sz="2400" b="1" dirty="0">
                <a:latin typeface="华文中宋" pitchFamily="2" charset="-122"/>
                <a:ea typeface="华文中宋" pitchFamily="2" charset="-122"/>
              </a:rPr>
              <a:t>问题</a:t>
            </a:r>
            <a:r>
              <a:rPr lang="zh-CN" altLang="en-US" sz="2400" b="1" dirty="0">
                <a:solidFill>
                  <a:schemeClr val="folHlink"/>
                </a:solidFill>
                <a:latin typeface="华文中宋" pitchFamily="2" charset="-122"/>
                <a:ea typeface="华文中宋" pitchFamily="2" charset="-122"/>
              </a:rPr>
              <a:t>。 </a:t>
            </a:r>
          </a:p>
        </p:txBody>
      </p:sp>
      <p:sp>
        <p:nvSpPr>
          <p:cNvPr id="4" name="Rectangle 3"/>
          <p:cNvSpPr>
            <a:spLocks noChangeArrowheads="1"/>
          </p:cNvSpPr>
          <p:nvPr/>
        </p:nvSpPr>
        <p:spPr bwMode="auto">
          <a:xfrm>
            <a:off x="1528763" y="332656"/>
            <a:ext cx="59420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fontAlgn="auto">
              <a:spcBef>
                <a:spcPct val="20000"/>
              </a:spcBef>
              <a:spcAft>
                <a:spcPts val="0"/>
              </a:spcAft>
              <a:buFont typeface="Arial" pitchFamily="34" charset="0"/>
              <a:buNone/>
              <a:defRPr/>
            </a:pPr>
            <a:r>
              <a:rPr lang="en-US" altLang="zh-CN" sz="3600" b="1" dirty="0">
                <a:latin typeface="Times New Roman" pitchFamily="18" charset="0"/>
                <a:ea typeface="+mn-ea"/>
              </a:rPr>
              <a:t>3.1.2 </a:t>
            </a:r>
            <a:r>
              <a:rPr lang="zh-CN" altLang="en-US" sz="3600" b="1" dirty="0">
                <a:latin typeface="Times New Roman" pitchFamily="18" charset="0"/>
                <a:ea typeface="+mn-ea"/>
              </a:rPr>
              <a:t>流水线的分类</a:t>
            </a:r>
          </a:p>
        </p:txBody>
      </p:sp>
      <p:sp>
        <p:nvSpPr>
          <p:cNvPr id="2" name="日期占位符 1">
            <a:extLst>
              <a:ext uri="{FF2B5EF4-FFF2-40B4-BE49-F238E27FC236}">
                <a16:creationId xmlns:a16="http://schemas.microsoft.com/office/drawing/2014/main" id="{D5E7B9DD-68B1-F74B-702C-052A75052302}"/>
              </a:ext>
            </a:extLst>
          </p:cNvPr>
          <p:cNvSpPr>
            <a:spLocks noGrp="1"/>
          </p:cNvSpPr>
          <p:nvPr>
            <p:ph type="dt" sz="half" idx="10"/>
          </p:nvPr>
        </p:nvSpPr>
        <p:spPr>
          <a:xfrm>
            <a:off x="457200" y="6356350"/>
            <a:ext cx="2133600" cy="365125"/>
          </a:xfrm>
        </p:spPr>
        <p:txBody>
          <a:bodyPr/>
          <a:lstStyle/>
          <a:p>
            <a:pPr>
              <a:defRPr/>
            </a:pPr>
            <a:fld id="{2B27B2F1-486E-464F-A009-1E10B5C3AE3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0FAB6B27-C08C-D64E-E509-0EC41F70C71B}"/>
              </a:ext>
            </a:extLst>
          </p:cNvPr>
          <p:cNvSpPr>
            <a:spLocks noGrp="1"/>
          </p:cNvSpPr>
          <p:nvPr>
            <p:ph type="ftr" sz="quarter" idx="11"/>
          </p:nvPr>
        </p:nvSpPr>
        <p:spPr>
          <a:xfrm>
            <a:off x="2915816" y="6356350"/>
            <a:ext cx="3429000" cy="365125"/>
          </a:xfrm>
        </p:spPr>
        <p:txBody>
          <a:bodyPr/>
          <a:lstStyle/>
          <a:p>
            <a:pPr>
              <a:defRPr/>
            </a:pPr>
            <a:r>
              <a:rPr lang="zh-CN" altLang="en-US"/>
              <a:t>计算机科学与技术学院 计算机体系结构 刘宏伟</a:t>
            </a:r>
            <a:endParaRPr lang="en-US" altLang="zh-CN"/>
          </a:p>
        </p:txBody>
      </p:sp>
      <p:sp>
        <p:nvSpPr>
          <p:cNvPr id="5" name="灯片编号占位符 3">
            <a:extLst>
              <a:ext uri="{FF2B5EF4-FFF2-40B4-BE49-F238E27FC236}">
                <a16:creationId xmlns:a16="http://schemas.microsoft.com/office/drawing/2014/main" id="{A277AEEF-A223-65A7-1129-75BEC53856D4}"/>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22</a:t>
            </a:fld>
            <a:endParaRPr lang="en-US" altLang="zh-CN"/>
          </a:p>
        </p:txBody>
      </p:sp>
    </p:spTree>
    <p:extLst>
      <p:ext uri="{BB962C8B-B14F-4D97-AF65-F5344CB8AC3E}">
        <p14:creationId xmlns:p14="http://schemas.microsoft.com/office/powerpoint/2010/main" val="1124118050"/>
      </p:ext>
    </p:extLst>
  </p:cSld>
  <p:clrMapOvr>
    <a:masterClrMapping/>
  </p:clrMapOvr>
  <p:transition>
    <p:pull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74675" y="115888"/>
            <a:ext cx="7958138" cy="863600"/>
          </a:xfrm>
        </p:spPr>
        <p:txBody>
          <a:bodyPr/>
          <a:lstStyle/>
          <a:p>
            <a:pPr eaLnBrk="1" hangingPunct="1"/>
            <a:r>
              <a:rPr lang="en-US" altLang="zh-CN" sz="4000" b="1" dirty="0">
                <a:latin typeface="Times New Roman" pitchFamily="18" charset="0"/>
              </a:rPr>
              <a:t>3.2    MIPS</a:t>
            </a:r>
            <a:r>
              <a:rPr lang="zh-CN" altLang="en-US" sz="4000" b="1" dirty="0">
                <a:latin typeface="Times New Roman" pitchFamily="18" charset="0"/>
              </a:rPr>
              <a:t>基本流水线</a:t>
            </a:r>
          </a:p>
        </p:txBody>
      </p:sp>
      <p:sp>
        <p:nvSpPr>
          <p:cNvPr id="22531" name="Rectangle 3"/>
          <p:cNvSpPr>
            <a:spLocks noGrp="1" noChangeArrowheads="1"/>
          </p:cNvSpPr>
          <p:nvPr>
            <p:ph type="body" idx="1"/>
          </p:nvPr>
        </p:nvSpPr>
        <p:spPr/>
        <p:txBody>
          <a:bodyPr/>
          <a:lstStyle/>
          <a:p>
            <a:pPr eaLnBrk="1" hangingPunct="1">
              <a:buFont typeface="Wingdings" pitchFamily="2" charset="2"/>
              <a:buNone/>
            </a:pPr>
            <a:r>
              <a:rPr lang="en-US" altLang="zh-CN" b="1" dirty="0"/>
              <a:t>3.2.1 </a:t>
            </a:r>
            <a:r>
              <a:rPr lang="zh-CN" altLang="en-US" b="1" dirty="0"/>
              <a:t>基本</a:t>
            </a:r>
            <a:r>
              <a:rPr lang="en-US" altLang="zh-CN" b="1" dirty="0"/>
              <a:t>MIPS</a:t>
            </a:r>
            <a:r>
              <a:rPr lang="zh-CN" altLang="en-US" b="1" dirty="0"/>
              <a:t>流水线</a:t>
            </a:r>
            <a:endParaRPr lang="en-US" altLang="zh-CN" b="1" dirty="0"/>
          </a:p>
          <a:p>
            <a:pPr eaLnBrk="1" hangingPunct="1">
              <a:buFont typeface="Wingdings" pitchFamily="2" charset="2"/>
              <a:buNone/>
            </a:pPr>
            <a:endParaRPr lang="zh-CN" altLang="en-US" b="1" dirty="0"/>
          </a:p>
          <a:p>
            <a:pPr eaLnBrk="1" hangingPunct="1">
              <a:buFont typeface="Wingdings" pitchFamily="2" charset="2"/>
              <a:buNone/>
            </a:pPr>
            <a:r>
              <a:rPr lang="en-US" altLang="zh-CN" b="1" dirty="0"/>
              <a:t>3.2.2 </a:t>
            </a:r>
            <a:r>
              <a:rPr lang="zh-CN" altLang="en-US" b="1" dirty="0"/>
              <a:t>流水线性能分析</a:t>
            </a:r>
          </a:p>
        </p:txBody>
      </p:sp>
      <p:sp>
        <p:nvSpPr>
          <p:cNvPr id="2" name="日期占位符 1">
            <a:extLst>
              <a:ext uri="{FF2B5EF4-FFF2-40B4-BE49-F238E27FC236}">
                <a16:creationId xmlns:a16="http://schemas.microsoft.com/office/drawing/2014/main" id="{1C5D0FEC-C933-0893-D27A-0722C21C46E1}"/>
              </a:ext>
            </a:extLst>
          </p:cNvPr>
          <p:cNvSpPr>
            <a:spLocks noGrp="1"/>
          </p:cNvSpPr>
          <p:nvPr>
            <p:ph type="dt" sz="half" idx="10"/>
          </p:nvPr>
        </p:nvSpPr>
        <p:spPr/>
        <p:txBody>
          <a:bodyPr/>
          <a:lstStyle/>
          <a:p>
            <a:pPr>
              <a:defRPr/>
            </a:pPr>
            <a:fld id="{52CE50B3-E70D-48AF-A9EE-7989639CF72B}" type="datetime1">
              <a:rPr lang="zh-CN" altLang="en-US" smtClean="0"/>
              <a:t>2025/9/25</a:t>
            </a:fld>
            <a:endParaRPr lang="en-US" altLang="zh-CN"/>
          </a:p>
        </p:txBody>
      </p:sp>
      <p:sp>
        <p:nvSpPr>
          <p:cNvPr id="3" name="页脚占位符 2">
            <a:extLst>
              <a:ext uri="{FF2B5EF4-FFF2-40B4-BE49-F238E27FC236}">
                <a16:creationId xmlns:a16="http://schemas.microsoft.com/office/drawing/2014/main" id="{D0F42CE8-A010-3591-FE34-328EAC659CFE}"/>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98482AF7-6E48-0741-A458-407E1D8841CC}"/>
              </a:ext>
            </a:extLst>
          </p:cNvPr>
          <p:cNvSpPr>
            <a:spLocks noGrp="1"/>
          </p:cNvSpPr>
          <p:nvPr>
            <p:ph type="sldNum" sz="quarter" idx="12"/>
          </p:nvPr>
        </p:nvSpPr>
        <p:spPr/>
        <p:txBody>
          <a:bodyPr/>
          <a:lstStyle/>
          <a:p>
            <a:pPr>
              <a:defRPr/>
            </a:pPr>
            <a:fld id="{8BCAC33D-D29A-48B3-BCD6-381D3D720D26}" type="slidenum">
              <a:rPr lang="zh-CN" altLang="en-US" smtClean="0"/>
              <a:t>23</a:t>
            </a:fld>
            <a:endParaRPr lang="en-US" altLang="zh-CN"/>
          </a:p>
        </p:txBody>
      </p:sp>
    </p:spTree>
    <p:extLst>
      <p:ext uri="{BB962C8B-B14F-4D97-AF65-F5344CB8AC3E}">
        <p14:creationId xmlns:p14="http://schemas.microsoft.com/office/powerpoint/2010/main" val="380154002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2" name="Picture 2" descr="arch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2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AutoShape 3">
            <a:hlinkClick r:id="rId4" action="ppaction://hlinksldjump" highlightClick="1"/>
          </p:cNvPr>
          <p:cNvSpPr>
            <a:spLocks noChangeArrowheads="1"/>
          </p:cNvSpPr>
          <p:nvPr/>
        </p:nvSpPr>
        <p:spPr bwMode="auto">
          <a:xfrm>
            <a:off x="7423150" y="549275"/>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29887F8D-1163-10BC-D1D2-DD4C0E3E4C6A}"/>
              </a:ext>
            </a:extLst>
          </p:cNvPr>
          <p:cNvSpPr>
            <a:spLocks noGrp="1"/>
          </p:cNvSpPr>
          <p:nvPr>
            <p:ph type="dt" sz="half" idx="10"/>
          </p:nvPr>
        </p:nvSpPr>
        <p:spPr/>
        <p:txBody>
          <a:bodyPr/>
          <a:lstStyle/>
          <a:p>
            <a:pPr>
              <a:defRPr/>
            </a:pPr>
            <a:fld id="{654EB95B-BAD2-47D2-A50C-4E028997CCDE}" type="datetime1">
              <a:rPr lang="zh-CN" altLang="en-US" smtClean="0"/>
              <a:t>2025/9/25</a:t>
            </a:fld>
            <a:endParaRPr lang="en-US" altLang="zh-CN"/>
          </a:p>
        </p:txBody>
      </p:sp>
      <p:sp>
        <p:nvSpPr>
          <p:cNvPr id="3" name="页脚占位符 2">
            <a:extLst>
              <a:ext uri="{FF2B5EF4-FFF2-40B4-BE49-F238E27FC236}">
                <a16:creationId xmlns:a16="http://schemas.microsoft.com/office/drawing/2014/main" id="{3AAE39AA-85DD-E1C9-B45C-6EECC739FF68}"/>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0D6F20BA-72E6-FBB3-78D6-9E48A79C1F37}"/>
              </a:ext>
            </a:extLst>
          </p:cNvPr>
          <p:cNvSpPr>
            <a:spLocks noGrp="1"/>
          </p:cNvSpPr>
          <p:nvPr>
            <p:ph type="sldNum" sz="quarter" idx="12"/>
          </p:nvPr>
        </p:nvSpPr>
        <p:spPr/>
        <p:txBody>
          <a:bodyPr/>
          <a:lstStyle/>
          <a:p>
            <a:pPr>
              <a:defRPr/>
            </a:pPr>
            <a:fld id="{65B7EA61-351E-4105-9AD9-76D38C6E9934}" type="slidenum">
              <a:rPr lang="zh-CN" altLang="en-US" smtClean="0"/>
              <a:t>24</a:t>
            </a:fld>
            <a:endParaRPr lang="en-US" altLang="zh-CN"/>
          </a:p>
        </p:txBody>
      </p:sp>
    </p:spTree>
    <p:extLst>
      <p:ext uri="{BB962C8B-B14F-4D97-AF65-F5344CB8AC3E}">
        <p14:creationId xmlns:p14="http://schemas.microsoft.com/office/powerpoint/2010/main" val="1333772585"/>
      </p:ext>
    </p:extLst>
  </p:cSld>
  <p:clrMapOvr>
    <a:masterClrMapping/>
  </p:clrMapOvr>
  <p:transition spd="slow"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684213" y="1268413"/>
            <a:ext cx="7488237"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800" b="1">
                <a:solidFill>
                  <a:schemeClr val="tx1"/>
                </a:solidFill>
                <a:latin typeface="宋体" pitchFamily="2" charset="-122"/>
                <a:ea typeface="宋体" pitchFamily="2" charset="-122"/>
              </a:defRPr>
            </a:lvl1pPr>
            <a:lvl2pPr marL="800100" indent="-34290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57200" indent="-457200" eaLnBrk="1" hangingPunct="1">
              <a:spcBef>
                <a:spcPct val="100000"/>
              </a:spcBef>
              <a:buFont typeface="Wingdings" panose="05000000000000000000" pitchFamily="2" charset="2"/>
              <a:buChar char="Ø"/>
            </a:pPr>
            <a:r>
              <a:rPr lang="zh-CN" altLang="en-US" sz="2800" dirty="0">
                <a:latin typeface="Times New Roman" panose="02020603050405020304" pitchFamily="18" charset="0"/>
                <a:ea typeface="+mn-ea"/>
                <a:cs typeface="Times New Roman" panose="02020603050405020304" pitchFamily="18" charset="0"/>
              </a:rPr>
              <a:t>性能分析</a:t>
            </a:r>
          </a:p>
          <a:p>
            <a:pPr lvl="1" eaLnBrk="1" hangingPunct="1">
              <a:spcBef>
                <a:spcPct val="50000"/>
              </a:spcBef>
            </a:pPr>
            <a:r>
              <a:rPr lang="zh-CN" altLang="en-US" sz="2400" dirty="0">
                <a:latin typeface="Times New Roman" panose="02020603050405020304" pitchFamily="18" charset="0"/>
                <a:ea typeface="+mn-ea"/>
                <a:cs typeface="Times New Roman" panose="02020603050405020304" pitchFamily="18" charset="0"/>
              </a:rPr>
              <a:t>在该数据通路上，</a:t>
            </a:r>
          </a:p>
          <a:p>
            <a:pPr lvl="1" eaLnBrk="1" hangingPunct="1">
              <a:spcBef>
                <a:spcPct val="50000"/>
              </a:spcBef>
            </a:pPr>
            <a:r>
              <a:rPr lang="zh-CN" altLang="en-US" sz="2400" dirty="0">
                <a:latin typeface="Times New Roman" panose="02020603050405020304" pitchFamily="18" charset="0"/>
                <a:ea typeface="+mn-ea"/>
                <a:cs typeface="Times New Roman" panose="02020603050405020304" pitchFamily="18" charset="0"/>
              </a:rPr>
              <a:t>分支指令需要</a:t>
            </a:r>
            <a:r>
              <a:rPr lang="en-US" altLang="zh-CN" sz="2400" dirty="0">
                <a:latin typeface="Times New Roman" panose="02020603050405020304" pitchFamily="18" charset="0"/>
                <a:ea typeface="+mn-ea"/>
                <a:cs typeface="Times New Roman" panose="02020603050405020304" pitchFamily="18" charset="0"/>
              </a:rPr>
              <a:t>4</a:t>
            </a:r>
            <a:r>
              <a:rPr lang="zh-CN" altLang="en-US" sz="2400" dirty="0">
                <a:latin typeface="Times New Roman" panose="02020603050405020304" pitchFamily="18" charset="0"/>
                <a:ea typeface="+mn-ea"/>
                <a:cs typeface="Times New Roman" panose="02020603050405020304" pitchFamily="18" charset="0"/>
              </a:rPr>
              <a:t>个时钟周期</a:t>
            </a:r>
          </a:p>
          <a:p>
            <a:pPr lvl="1" eaLnBrk="1" hangingPunct="1">
              <a:spcBef>
                <a:spcPct val="50000"/>
              </a:spcBef>
            </a:pPr>
            <a:r>
              <a:rPr lang="zh-CN" altLang="en-US" sz="2400" dirty="0">
                <a:latin typeface="Times New Roman" panose="02020603050405020304" pitchFamily="18" charset="0"/>
                <a:ea typeface="+mn-ea"/>
                <a:cs typeface="Times New Roman" panose="02020603050405020304" pitchFamily="18" charset="0"/>
              </a:rPr>
              <a:t>其它指令需要</a:t>
            </a:r>
            <a:r>
              <a:rPr lang="en-US" altLang="zh-CN" sz="2400" dirty="0">
                <a:latin typeface="Times New Roman" panose="02020603050405020304" pitchFamily="18" charset="0"/>
                <a:ea typeface="+mn-ea"/>
                <a:cs typeface="Times New Roman" panose="02020603050405020304" pitchFamily="18" charset="0"/>
              </a:rPr>
              <a:t>5</a:t>
            </a:r>
            <a:r>
              <a:rPr lang="zh-CN" altLang="en-US" sz="2400" dirty="0">
                <a:latin typeface="Times New Roman" panose="02020603050405020304" pitchFamily="18" charset="0"/>
                <a:ea typeface="+mn-ea"/>
                <a:cs typeface="Times New Roman" panose="02020603050405020304" pitchFamily="18" charset="0"/>
              </a:rPr>
              <a:t>个时钟周期</a:t>
            </a:r>
          </a:p>
          <a:p>
            <a:pPr lvl="1" eaLnBrk="1" hangingPunct="1">
              <a:spcBef>
                <a:spcPct val="50000"/>
              </a:spcBef>
            </a:pPr>
            <a:r>
              <a:rPr lang="zh-CN" altLang="en-US" sz="2400" dirty="0">
                <a:latin typeface="Times New Roman" panose="02020603050405020304" pitchFamily="18" charset="0"/>
                <a:ea typeface="+mn-ea"/>
                <a:cs typeface="Times New Roman" panose="02020603050405020304" pitchFamily="18" charset="0"/>
              </a:rPr>
              <a:t>假设分支指令占总指令数的</a:t>
            </a:r>
            <a:r>
              <a:rPr lang="en-US" altLang="zh-CN" sz="2400" dirty="0">
                <a:latin typeface="Times New Roman" panose="02020603050405020304" pitchFamily="18" charset="0"/>
                <a:ea typeface="+mn-ea"/>
                <a:cs typeface="Times New Roman" panose="02020603050405020304" pitchFamily="18" charset="0"/>
              </a:rPr>
              <a:t>12%</a:t>
            </a:r>
            <a:r>
              <a:rPr lang="zh-CN" altLang="en-US" sz="2400" dirty="0">
                <a:latin typeface="Times New Roman" panose="02020603050405020304" pitchFamily="18" charset="0"/>
                <a:ea typeface="+mn-ea"/>
                <a:cs typeface="Times New Roman" panose="02020603050405020304" pitchFamily="18" charset="0"/>
              </a:rPr>
              <a:t>，问</a:t>
            </a:r>
            <a:r>
              <a:rPr lang="en-US" altLang="zh-CN" sz="2400" dirty="0">
                <a:latin typeface="Times New Roman" panose="02020603050405020304" pitchFamily="18" charset="0"/>
                <a:ea typeface="+mn-ea"/>
                <a:cs typeface="Times New Roman" panose="02020603050405020304" pitchFamily="18" charset="0"/>
              </a:rPr>
              <a:t>CPI=?</a:t>
            </a:r>
          </a:p>
          <a:p>
            <a:pPr lvl="1" algn="ctr" eaLnBrk="1" hangingPunct="1">
              <a:spcBef>
                <a:spcPct val="50000"/>
              </a:spcBef>
            </a:pPr>
            <a:r>
              <a:rPr lang="en-US" altLang="zh-CN" sz="2400" dirty="0">
                <a:latin typeface="Times New Roman" panose="02020603050405020304" pitchFamily="18" charset="0"/>
                <a:ea typeface="+mn-ea"/>
                <a:cs typeface="Times New Roman" panose="02020603050405020304" pitchFamily="18" charset="0"/>
              </a:rPr>
              <a:t>CPI=4×12%+5×(1-12%)=4.88</a:t>
            </a:r>
          </a:p>
          <a:p>
            <a:pPr lvl="1" eaLnBrk="1" hangingPunct="1">
              <a:spcBef>
                <a:spcPct val="100000"/>
              </a:spcBef>
            </a:pPr>
            <a:r>
              <a:rPr lang="zh-CN" altLang="en-US" sz="2400" dirty="0">
                <a:latin typeface="Times New Roman" panose="02020603050405020304" pitchFamily="18" charset="0"/>
                <a:ea typeface="+mn-ea"/>
                <a:cs typeface="Times New Roman" panose="02020603050405020304" pitchFamily="18" charset="0"/>
              </a:rPr>
              <a:t>结论：就性能和硬件开销而言，上述实现不是一种</a:t>
            </a:r>
          </a:p>
          <a:p>
            <a:pPr lvl="1" eaLnBrk="1" hangingPunct="1">
              <a:spcBef>
                <a:spcPct val="50000"/>
              </a:spcBef>
            </a:pPr>
            <a:r>
              <a:rPr lang="zh-CN" altLang="en-US" sz="2400" dirty="0">
                <a:latin typeface="Times New Roman" panose="02020603050405020304" pitchFamily="18" charset="0"/>
                <a:ea typeface="+mn-ea"/>
                <a:cs typeface="Times New Roman" panose="02020603050405020304" pitchFamily="18" charset="0"/>
              </a:rPr>
              <a:t>		     优化实现！</a:t>
            </a:r>
          </a:p>
        </p:txBody>
      </p:sp>
      <p:sp>
        <p:nvSpPr>
          <p:cNvPr id="3" name="Rectangle 4"/>
          <p:cNvSpPr>
            <a:spLocks noChangeArrowheads="1"/>
          </p:cNvSpPr>
          <p:nvPr/>
        </p:nvSpPr>
        <p:spPr bwMode="auto">
          <a:xfrm>
            <a:off x="1692275" y="260350"/>
            <a:ext cx="6336109" cy="676275"/>
          </a:xfrm>
          <a:prstGeom prst="rect">
            <a:avLst/>
          </a:prstGeom>
          <a:noFill/>
          <a:ln w="9525" algn="ctr">
            <a:noFill/>
            <a:miter lim="800000"/>
            <a:headEnd/>
            <a:tailEnd/>
          </a:ln>
          <a:effectLst/>
        </p:spPr>
        <p:txBody>
          <a:bodyPr anchor="b"/>
          <a:lstStyle/>
          <a:p>
            <a:pPr algn="ctr" fontAlgn="auto">
              <a:spcBef>
                <a:spcPts val="0"/>
              </a:spcBef>
              <a:spcAft>
                <a:spcPts val="0"/>
              </a:spcAft>
              <a:defRPr/>
            </a:pPr>
            <a:r>
              <a:rPr lang="en-US" altLang="zh-CN" sz="4000" dirty="0">
                <a:latin typeface="+mj-lt"/>
                <a:ea typeface="+mj-ea"/>
                <a:cs typeface="+mj-cs"/>
              </a:rPr>
              <a:t>MIPS32</a:t>
            </a:r>
            <a:r>
              <a:rPr lang="zh-CN" altLang="en-US" sz="4000" dirty="0">
                <a:latin typeface="+mj-lt"/>
                <a:ea typeface="+mj-ea"/>
                <a:cs typeface="+mj-cs"/>
              </a:rPr>
              <a:t>的一种简单实现</a:t>
            </a:r>
          </a:p>
        </p:txBody>
      </p:sp>
      <p:sp>
        <p:nvSpPr>
          <p:cNvPr id="2" name="日期占位符 1">
            <a:extLst>
              <a:ext uri="{FF2B5EF4-FFF2-40B4-BE49-F238E27FC236}">
                <a16:creationId xmlns:a16="http://schemas.microsoft.com/office/drawing/2014/main" id="{61F94A93-0590-AB9A-F4A4-03CF2CF8B0DB}"/>
              </a:ext>
            </a:extLst>
          </p:cNvPr>
          <p:cNvSpPr>
            <a:spLocks noGrp="1"/>
          </p:cNvSpPr>
          <p:nvPr>
            <p:ph type="dt" sz="half" idx="10"/>
          </p:nvPr>
        </p:nvSpPr>
        <p:spPr/>
        <p:txBody>
          <a:bodyPr/>
          <a:lstStyle/>
          <a:p>
            <a:pPr>
              <a:defRPr/>
            </a:pPr>
            <a:fld id="{C64068B5-FB47-4AC7-9C85-703727E78817}" type="datetime1">
              <a:rPr lang="zh-CN" altLang="en-US" smtClean="0"/>
              <a:t>2025/9/25</a:t>
            </a:fld>
            <a:endParaRPr lang="en-US" altLang="zh-CN"/>
          </a:p>
        </p:txBody>
      </p:sp>
      <p:sp>
        <p:nvSpPr>
          <p:cNvPr id="4" name="页脚占位符 3">
            <a:extLst>
              <a:ext uri="{FF2B5EF4-FFF2-40B4-BE49-F238E27FC236}">
                <a16:creationId xmlns:a16="http://schemas.microsoft.com/office/drawing/2014/main" id="{03D5A692-34AB-38FD-6FA8-FE7B8B9BE510}"/>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5" name="灯片编号占位符 4">
            <a:extLst>
              <a:ext uri="{FF2B5EF4-FFF2-40B4-BE49-F238E27FC236}">
                <a16:creationId xmlns:a16="http://schemas.microsoft.com/office/drawing/2014/main" id="{3251078F-8015-6939-58E9-B7C692B899F4}"/>
              </a:ext>
            </a:extLst>
          </p:cNvPr>
          <p:cNvSpPr>
            <a:spLocks noGrp="1"/>
          </p:cNvSpPr>
          <p:nvPr>
            <p:ph type="sldNum" sz="quarter" idx="12"/>
          </p:nvPr>
        </p:nvSpPr>
        <p:spPr/>
        <p:txBody>
          <a:bodyPr/>
          <a:lstStyle/>
          <a:p>
            <a:pPr>
              <a:defRPr/>
            </a:pPr>
            <a:fld id="{8BCAC33D-D29A-48B3-BCD6-381D3D720D26}" type="slidenum">
              <a:rPr lang="zh-CN" altLang="en-US" smtClean="0"/>
              <a:t>25</a:t>
            </a:fld>
            <a:endParaRPr lang="en-US" altLang="zh-CN"/>
          </a:p>
        </p:txBody>
      </p:sp>
    </p:spTree>
    <p:extLst>
      <p:ext uri="{BB962C8B-B14F-4D97-AF65-F5344CB8AC3E}">
        <p14:creationId xmlns:p14="http://schemas.microsoft.com/office/powerpoint/2010/main" val="2932558355"/>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755650" y="1268413"/>
            <a:ext cx="7488238"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800" b="1">
                <a:solidFill>
                  <a:schemeClr val="tx1"/>
                </a:solidFill>
                <a:latin typeface="宋体" pitchFamily="2" charset="-122"/>
                <a:ea typeface="宋体" pitchFamily="2" charset="-122"/>
              </a:defRPr>
            </a:lvl1pPr>
            <a:lvl2pPr marL="800100" indent="-34290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57200" indent="-457200" eaLnBrk="1" hangingPunct="1">
              <a:spcBef>
                <a:spcPct val="100000"/>
              </a:spcBef>
              <a:buFont typeface="Wingdings" panose="05000000000000000000" pitchFamily="2" charset="2"/>
              <a:buChar char="Ø"/>
            </a:pPr>
            <a:r>
              <a:rPr lang="zh-CN" altLang="en-US" sz="2800" dirty="0">
                <a:latin typeface="Times New Roman" panose="02020603050405020304" pitchFamily="18" charset="0"/>
                <a:ea typeface="+mn-ea"/>
                <a:cs typeface="Times New Roman" panose="02020603050405020304" pitchFamily="18" charset="0"/>
              </a:rPr>
              <a:t>改进方法</a:t>
            </a:r>
          </a:p>
          <a:p>
            <a:pPr marL="457200" lvl="1" indent="0" eaLnBrk="1" hangingPunct="1">
              <a:spcBef>
                <a:spcPct val="50000"/>
              </a:spcBef>
              <a:buSzPct val="60000"/>
            </a:pPr>
            <a:r>
              <a:rPr lang="en-US" altLang="zh-CN" sz="2400" dirty="0">
                <a:latin typeface="Times New Roman" panose="02020603050405020304" pitchFamily="18" charset="0"/>
                <a:ea typeface="+mn-ea"/>
                <a:cs typeface="Times New Roman" panose="02020603050405020304" pitchFamily="18" charset="0"/>
              </a:rPr>
              <a:t>(1)</a:t>
            </a:r>
            <a:r>
              <a:rPr lang="zh-CN" altLang="en-US" sz="2400" dirty="0">
                <a:latin typeface="Times New Roman" panose="02020603050405020304" pitchFamily="18" charset="0"/>
                <a:ea typeface="+mn-ea"/>
                <a:cs typeface="Times New Roman" panose="02020603050405020304" pitchFamily="18" charset="0"/>
              </a:rPr>
              <a:t>在</a:t>
            </a:r>
            <a:r>
              <a:rPr lang="en-US" altLang="zh-CN" sz="2400" dirty="0" err="1">
                <a:latin typeface="Times New Roman" panose="02020603050405020304" pitchFamily="18" charset="0"/>
                <a:ea typeface="+mn-ea"/>
                <a:cs typeface="Times New Roman" panose="02020603050405020304" pitchFamily="18" charset="0"/>
              </a:rPr>
              <a:t>Mem</a:t>
            </a:r>
            <a:r>
              <a:rPr lang="zh-CN" altLang="en-US" sz="2400" dirty="0">
                <a:latin typeface="Times New Roman" panose="02020603050405020304" pitchFamily="18" charset="0"/>
                <a:ea typeface="+mn-ea"/>
                <a:cs typeface="Times New Roman" panose="02020603050405020304" pitchFamily="18" charset="0"/>
              </a:rPr>
              <a:t>周期完成</a:t>
            </a:r>
            <a:r>
              <a:rPr lang="en-US" altLang="zh-CN" sz="2400" dirty="0">
                <a:latin typeface="Times New Roman" panose="02020603050405020304" pitchFamily="18" charset="0"/>
                <a:ea typeface="+mn-ea"/>
                <a:cs typeface="Times New Roman" panose="02020603050405020304" pitchFamily="18" charset="0"/>
              </a:rPr>
              <a:t>ALU</a:t>
            </a:r>
            <a:r>
              <a:rPr lang="zh-CN" altLang="en-US" sz="2400" dirty="0">
                <a:latin typeface="Times New Roman" panose="02020603050405020304" pitchFamily="18" charset="0"/>
                <a:ea typeface="+mn-ea"/>
                <a:cs typeface="Times New Roman" panose="02020603050405020304" pitchFamily="18" charset="0"/>
              </a:rPr>
              <a:t>指令</a:t>
            </a:r>
          </a:p>
          <a:p>
            <a:pPr marL="457200" lvl="1" indent="0" eaLnBrk="1" hangingPunct="1">
              <a:spcBef>
                <a:spcPct val="50000"/>
              </a:spcBef>
              <a:buSzPct val="60000"/>
            </a:pPr>
            <a:r>
              <a:rPr lang="zh-CN" altLang="en-US" sz="2400" dirty="0">
                <a:latin typeface="Times New Roman" panose="02020603050405020304" pitchFamily="18" charset="0"/>
                <a:ea typeface="+mn-ea"/>
                <a:cs typeface="Times New Roman" panose="02020603050405020304" pitchFamily="18" charset="0"/>
              </a:rPr>
              <a:t>   假设</a:t>
            </a:r>
            <a:r>
              <a:rPr lang="en-US" altLang="zh-CN" sz="2400" dirty="0">
                <a:latin typeface="Times New Roman" panose="02020603050405020304" pitchFamily="18" charset="0"/>
                <a:ea typeface="+mn-ea"/>
                <a:cs typeface="Times New Roman" panose="02020603050405020304" pitchFamily="18" charset="0"/>
              </a:rPr>
              <a:t>ALU</a:t>
            </a:r>
            <a:r>
              <a:rPr lang="zh-CN" altLang="en-US" sz="2400" dirty="0">
                <a:latin typeface="Times New Roman" panose="02020603050405020304" pitchFamily="18" charset="0"/>
                <a:ea typeface="+mn-ea"/>
                <a:cs typeface="Times New Roman" panose="02020603050405020304" pitchFamily="18" charset="0"/>
              </a:rPr>
              <a:t>指令数占指令总数的</a:t>
            </a:r>
            <a:r>
              <a:rPr lang="en-US" altLang="zh-CN" sz="2400" dirty="0">
                <a:latin typeface="Times New Roman" panose="02020603050405020304" pitchFamily="18" charset="0"/>
                <a:ea typeface="+mn-ea"/>
                <a:cs typeface="Times New Roman" panose="02020603050405020304" pitchFamily="18" charset="0"/>
              </a:rPr>
              <a:t>44%</a:t>
            </a:r>
            <a:r>
              <a:rPr lang="zh-CN" altLang="en-US" sz="2400" dirty="0">
                <a:latin typeface="Times New Roman" panose="02020603050405020304" pitchFamily="18" charset="0"/>
                <a:ea typeface="+mn-ea"/>
                <a:cs typeface="Times New Roman" panose="02020603050405020304" pitchFamily="18" charset="0"/>
              </a:rPr>
              <a:t>，则在时钟周期时间不变的同时，</a:t>
            </a:r>
            <a:r>
              <a:rPr lang="en-US" altLang="zh-CN" sz="2400" dirty="0">
                <a:latin typeface="Times New Roman" panose="02020603050405020304" pitchFamily="18" charset="0"/>
                <a:ea typeface="+mn-ea"/>
                <a:cs typeface="Times New Roman" panose="02020603050405020304" pitchFamily="18" charset="0"/>
              </a:rPr>
              <a:t>CPI</a:t>
            </a:r>
            <a:r>
              <a:rPr lang="zh-CN" altLang="en-US" sz="2400" dirty="0">
                <a:latin typeface="Times New Roman" panose="02020603050405020304" pitchFamily="18" charset="0"/>
                <a:ea typeface="+mn-ea"/>
                <a:cs typeface="Times New Roman" panose="02020603050405020304" pitchFamily="18" charset="0"/>
              </a:rPr>
              <a:t>可以降低至</a:t>
            </a:r>
            <a:r>
              <a:rPr lang="en-US" altLang="zh-CN" sz="2400" dirty="0">
                <a:latin typeface="Times New Roman" panose="02020603050405020304" pitchFamily="18" charset="0"/>
                <a:ea typeface="+mn-ea"/>
                <a:cs typeface="Times New Roman" panose="02020603050405020304" pitchFamily="18" charset="0"/>
              </a:rPr>
              <a:t>4.44</a:t>
            </a:r>
          </a:p>
          <a:p>
            <a:pPr marL="457200" lvl="1" indent="0" eaLnBrk="1" hangingPunct="1">
              <a:spcBef>
                <a:spcPct val="50000"/>
              </a:spcBef>
              <a:buSzPct val="60000"/>
            </a:pPr>
            <a:r>
              <a:rPr lang="en-US" altLang="zh-CN" sz="2400" dirty="0">
                <a:latin typeface="Times New Roman" panose="02020603050405020304" pitchFamily="18" charset="0"/>
                <a:ea typeface="+mn-ea"/>
                <a:cs typeface="Times New Roman" panose="02020603050405020304" pitchFamily="18" charset="0"/>
              </a:rPr>
              <a:t>(2)</a:t>
            </a:r>
            <a:r>
              <a:rPr lang="zh-CN" altLang="en-US" sz="2400" dirty="0">
                <a:latin typeface="Times New Roman" panose="02020603050405020304" pitchFamily="18" charset="0"/>
                <a:ea typeface="+mn-ea"/>
                <a:cs typeface="Times New Roman" panose="02020603050405020304" pitchFamily="18" charset="0"/>
              </a:rPr>
              <a:t>如要进一步降低</a:t>
            </a:r>
            <a:r>
              <a:rPr lang="en-US" altLang="zh-CN" sz="2400" dirty="0">
                <a:latin typeface="Times New Roman" panose="02020603050405020304" pitchFamily="18" charset="0"/>
                <a:ea typeface="+mn-ea"/>
                <a:cs typeface="Times New Roman" panose="02020603050405020304" pitchFamily="18" charset="0"/>
              </a:rPr>
              <a:t>CPI</a:t>
            </a:r>
            <a:r>
              <a:rPr lang="zh-CN" altLang="en-US" sz="2400" dirty="0">
                <a:latin typeface="Times New Roman" panose="02020603050405020304" pitchFamily="18" charset="0"/>
                <a:ea typeface="+mn-ea"/>
                <a:cs typeface="Times New Roman" panose="02020603050405020304" pitchFamily="18" charset="0"/>
              </a:rPr>
              <a:t>，可能需要延长时钟周期时间，使每个时钟周期中能够完成更多的工作</a:t>
            </a:r>
          </a:p>
          <a:p>
            <a:pPr marL="457200" lvl="1" indent="0" eaLnBrk="1" hangingPunct="1">
              <a:spcBef>
                <a:spcPct val="50000"/>
              </a:spcBef>
              <a:buSzPct val="60000"/>
            </a:pPr>
            <a:r>
              <a:rPr lang="en-US" altLang="zh-CN" sz="2400" dirty="0">
                <a:latin typeface="Times New Roman" panose="02020603050405020304" pitchFamily="18" charset="0"/>
                <a:ea typeface="+mn-ea"/>
                <a:cs typeface="Times New Roman" panose="02020603050405020304" pitchFamily="18" charset="0"/>
              </a:rPr>
              <a:t>(3)</a:t>
            </a:r>
            <a:r>
              <a:rPr lang="zh-CN" altLang="en-US" sz="2400" dirty="0">
                <a:latin typeface="Times New Roman" panose="02020603050405020304" pitchFamily="18" charset="0"/>
                <a:ea typeface="+mn-ea"/>
                <a:cs typeface="Times New Roman" panose="02020603050405020304" pitchFamily="18" charset="0"/>
              </a:rPr>
              <a:t>采用单周期实现，可以将</a:t>
            </a:r>
            <a:r>
              <a:rPr lang="en-US" altLang="zh-CN" sz="2400" dirty="0">
                <a:latin typeface="Times New Roman" panose="02020603050405020304" pitchFamily="18" charset="0"/>
                <a:ea typeface="+mn-ea"/>
                <a:cs typeface="Times New Roman" panose="02020603050405020304" pitchFamily="18" charset="0"/>
              </a:rPr>
              <a:t>CPI</a:t>
            </a:r>
            <a:r>
              <a:rPr lang="zh-CN" altLang="en-US" sz="2400" dirty="0">
                <a:latin typeface="Times New Roman" panose="02020603050405020304" pitchFamily="18" charset="0"/>
                <a:ea typeface="+mn-ea"/>
                <a:cs typeface="Times New Roman" panose="02020603050405020304" pitchFamily="18" charset="0"/>
              </a:rPr>
              <a:t>降低为</a:t>
            </a:r>
            <a:r>
              <a:rPr lang="en-US" altLang="zh-CN" sz="2400" dirty="0">
                <a:latin typeface="Times New Roman" panose="02020603050405020304" pitchFamily="18" charset="0"/>
                <a:ea typeface="+mn-ea"/>
                <a:cs typeface="Times New Roman" panose="02020603050405020304" pitchFamily="18" charset="0"/>
              </a:rPr>
              <a:t>1</a:t>
            </a:r>
            <a:r>
              <a:rPr lang="zh-CN" altLang="en-US" sz="2400" dirty="0">
                <a:latin typeface="Times New Roman" panose="02020603050405020304" pitchFamily="18" charset="0"/>
                <a:ea typeface="+mn-ea"/>
                <a:cs typeface="Times New Roman" panose="02020603050405020304" pitchFamily="18" charset="0"/>
              </a:rPr>
              <a:t>，但时钟周期时间却会增加为原来的</a:t>
            </a:r>
            <a:r>
              <a:rPr lang="en-US" altLang="zh-CN" sz="2400" dirty="0">
                <a:latin typeface="Times New Roman" panose="02020603050405020304" pitchFamily="18" charset="0"/>
                <a:ea typeface="+mn-ea"/>
                <a:cs typeface="Times New Roman" panose="02020603050405020304" pitchFamily="18" charset="0"/>
              </a:rPr>
              <a:t>5</a:t>
            </a:r>
            <a:r>
              <a:rPr lang="zh-CN" altLang="en-US" sz="2400" dirty="0">
                <a:latin typeface="Times New Roman" panose="02020603050405020304" pitchFamily="18" charset="0"/>
                <a:ea typeface="+mn-ea"/>
                <a:cs typeface="Times New Roman" panose="02020603050405020304" pitchFamily="18" charset="0"/>
              </a:rPr>
              <a:t>倍</a:t>
            </a:r>
          </a:p>
          <a:p>
            <a:pPr lvl="1" eaLnBrk="1" hangingPunct="1">
              <a:spcBef>
                <a:spcPct val="50000"/>
              </a:spcBef>
              <a:buSzPct val="60000"/>
              <a:buFont typeface="Wingdings" pitchFamily="2" charset="2"/>
              <a:buNone/>
            </a:pPr>
            <a:r>
              <a:rPr lang="zh-CN" altLang="en-US" sz="2400" dirty="0">
                <a:latin typeface="Times New Roman" panose="02020603050405020304" pitchFamily="18" charset="0"/>
                <a:ea typeface="+mn-ea"/>
                <a:cs typeface="Times New Roman" panose="02020603050405020304" pitchFamily="18" charset="0"/>
              </a:rPr>
              <a:t>	一般不采用这种方法，为什么？</a:t>
            </a:r>
          </a:p>
          <a:p>
            <a:pPr lvl="1" eaLnBrk="1" hangingPunct="1">
              <a:spcBef>
                <a:spcPct val="50000"/>
              </a:spcBef>
              <a:buSzPct val="60000"/>
              <a:buFont typeface="Wingdings" pitchFamily="2" charset="2"/>
              <a:buChar char="u"/>
            </a:pPr>
            <a:r>
              <a:rPr lang="zh-CN" altLang="en-US" sz="2400" dirty="0">
                <a:latin typeface="Times New Roman" panose="02020603050405020304" pitchFamily="18" charset="0"/>
                <a:ea typeface="+mn-ea"/>
                <a:cs typeface="Times New Roman" panose="02020603050405020304" pitchFamily="18" charset="0"/>
              </a:rPr>
              <a:t>流水技术</a:t>
            </a:r>
          </a:p>
        </p:txBody>
      </p:sp>
      <p:sp>
        <p:nvSpPr>
          <p:cNvPr id="3" name="Rectangle 4"/>
          <p:cNvSpPr>
            <a:spLocks noChangeArrowheads="1"/>
          </p:cNvSpPr>
          <p:nvPr/>
        </p:nvSpPr>
        <p:spPr bwMode="auto">
          <a:xfrm>
            <a:off x="1692275" y="260350"/>
            <a:ext cx="5942013" cy="676275"/>
          </a:xfrm>
          <a:prstGeom prst="rect">
            <a:avLst/>
          </a:prstGeom>
          <a:noFill/>
          <a:ln w="9525" algn="ctr">
            <a:noFill/>
            <a:miter lim="800000"/>
            <a:headEnd/>
            <a:tailEnd/>
          </a:ln>
          <a:effectLst/>
        </p:spPr>
        <p:txBody>
          <a:bodyPr anchor="b"/>
          <a:lstStyle/>
          <a:p>
            <a:pPr algn="ctr" fontAlgn="auto">
              <a:spcBef>
                <a:spcPts val="0"/>
              </a:spcBef>
              <a:spcAft>
                <a:spcPts val="0"/>
              </a:spcAft>
              <a:defRPr/>
            </a:pPr>
            <a:r>
              <a:rPr lang="en-US" altLang="zh-CN" sz="4000" dirty="0">
                <a:latin typeface="+mj-lt"/>
                <a:ea typeface="+mj-ea"/>
                <a:cs typeface="+mj-cs"/>
              </a:rPr>
              <a:t>MIPS32</a:t>
            </a:r>
            <a:r>
              <a:rPr lang="zh-CN" altLang="en-US" sz="4000" dirty="0">
                <a:latin typeface="+mj-lt"/>
                <a:ea typeface="+mj-ea"/>
                <a:cs typeface="+mj-cs"/>
              </a:rPr>
              <a:t>的一种简单实现</a:t>
            </a:r>
          </a:p>
        </p:txBody>
      </p:sp>
      <p:sp>
        <p:nvSpPr>
          <p:cNvPr id="2" name="日期占位符 1">
            <a:extLst>
              <a:ext uri="{FF2B5EF4-FFF2-40B4-BE49-F238E27FC236}">
                <a16:creationId xmlns:a16="http://schemas.microsoft.com/office/drawing/2014/main" id="{851AE42C-10E6-B38F-D528-9302DD604055}"/>
              </a:ext>
            </a:extLst>
          </p:cNvPr>
          <p:cNvSpPr>
            <a:spLocks noGrp="1"/>
          </p:cNvSpPr>
          <p:nvPr>
            <p:ph type="dt" sz="half" idx="10"/>
          </p:nvPr>
        </p:nvSpPr>
        <p:spPr/>
        <p:txBody>
          <a:bodyPr/>
          <a:lstStyle/>
          <a:p>
            <a:pPr>
              <a:defRPr/>
            </a:pPr>
            <a:fld id="{A7440661-A7A6-4E72-A92C-9225730F02D5}" type="datetime1">
              <a:rPr lang="zh-CN" altLang="en-US" smtClean="0"/>
              <a:t>2025/9/25</a:t>
            </a:fld>
            <a:endParaRPr lang="en-US" altLang="zh-CN"/>
          </a:p>
        </p:txBody>
      </p:sp>
      <p:sp>
        <p:nvSpPr>
          <p:cNvPr id="4" name="页脚占位符 3">
            <a:extLst>
              <a:ext uri="{FF2B5EF4-FFF2-40B4-BE49-F238E27FC236}">
                <a16:creationId xmlns:a16="http://schemas.microsoft.com/office/drawing/2014/main" id="{8CF95C8A-9E12-7F6F-B507-AC9376CC309F}"/>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5" name="灯片编号占位符 4">
            <a:extLst>
              <a:ext uri="{FF2B5EF4-FFF2-40B4-BE49-F238E27FC236}">
                <a16:creationId xmlns:a16="http://schemas.microsoft.com/office/drawing/2014/main" id="{3A8F6662-E3B9-2B68-C7A9-08A446872272}"/>
              </a:ext>
            </a:extLst>
          </p:cNvPr>
          <p:cNvSpPr>
            <a:spLocks noGrp="1"/>
          </p:cNvSpPr>
          <p:nvPr>
            <p:ph type="sldNum" sz="quarter" idx="12"/>
          </p:nvPr>
        </p:nvSpPr>
        <p:spPr/>
        <p:txBody>
          <a:bodyPr/>
          <a:lstStyle/>
          <a:p>
            <a:pPr>
              <a:defRPr/>
            </a:pPr>
            <a:fld id="{8BCAC33D-D29A-48B3-BCD6-381D3D720D26}" type="slidenum">
              <a:rPr lang="zh-CN" altLang="en-US" smtClean="0"/>
              <a:t>26</a:t>
            </a:fld>
            <a:endParaRPr lang="en-US" altLang="zh-CN"/>
          </a:p>
        </p:txBody>
      </p:sp>
    </p:spTree>
    <p:extLst>
      <p:ext uri="{BB962C8B-B14F-4D97-AF65-F5344CB8AC3E}">
        <p14:creationId xmlns:p14="http://schemas.microsoft.com/office/powerpoint/2010/main" val="2556090547"/>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684213" y="1400175"/>
            <a:ext cx="7488237" cy="411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b="1" dirty="0">
                <a:latin typeface="华文中宋" pitchFamily="2" charset="-122"/>
                <a:ea typeface="华文中宋" pitchFamily="2" charset="-122"/>
              </a:rPr>
              <a:t>1.</a:t>
            </a:r>
            <a:r>
              <a:rPr lang="zh-CN" altLang="en-US" sz="2800" b="1" dirty="0">
                <a:latin typeface="华文中宋" pitchFamily="2" charset="-122"/>
                <a:ea typeface="华文中宋" pitchFamily="2" charset="-122"/>
              </a:rPr>
              <a:t>一种简单的</a:t>
            </a:r>
            <a:r>
              <a:rPr lang="en-US" altLang="zh-CN" sz="2800" b="1" dirty="0">
                <a:latin typeface="华文中宋" pitchFamily="2" charset="-122"/>
                <a:ea typeface="华文中宋" pitchFamily="2" charset="-122"/>
              </a:rPr>
              <a:t>MIPS</a:t>
            </a:r>
            <a:r>
              <a:rPr lang="zh-CN" altLang="en-US" sz="2800" b="1" dirty="0">
                <a:latin typeface="华文中宋" pitchFamily="2" charset="-122"/>
                <a:ea typeface="华文中宋" pitchFamily="2" charset="-122"/>
              </a:rPr>
              <a:t>流水线</a:t>
            </a:r>
          </a:p>
          <a:p>
            <a:pPr eaLnBrk="1" hangingPunct="1">
              <a:spcBef>
                <a:spcPct val="25000"/>
              </a:spcBef>
            </a:pPr>
            <a:r>
              <a:rPr lang="zh-CN" altLang="en-US" sz="2400" dirty="0">
                <a:latin typeface="华文中宋" pitchFamily="2" charset="-122"/>
                <a:ea typeface="华文中宋" pitchFamily="2" charset="-122"/>
              </a:rPr>
              <a:t>	</a:t>
            </a:r>
            <a:r>
              <a:rPr lang="zh-CN" altLang="en-US" sz="2400" b="1" dirty="0">
                <a:latin typeface="华文中宋" pitchFamily="2" charset="-122"/>
                <a:ea typeface="华文中宋" pitchFamily="2" charset="-122"/>
              </a:rPr>
              <a:t>将</a:t>
            </a:r>
            <a:r>
              <a:rPr lang="zh-CN" altLang="en-US" sz="2400" u="sng" dirty="0">
                <a:solidFill>
                  <a:srgbClr val="0066FF"/>
                </a:solidFill>
                <a:latin typeface="华文中宋" pitchFamily="2" charset="-122"/>
                <a:ea typeface="华文中宋" pitchFamily="2" charset="-122"/>
                <a:hlinkClick r:id="rId3" action="ppaction://hlinksldjump"/>
              </a:rPr>
              <a:t>数据通路</a:t>
            </a:r>
            <a:r>
              <a:rPr lang="zh-CN" altLang="en-US" sz="2400" b="1" dirty="0">
                <a:latin typeface="华文中宋" pitchFamily="2" charset="-122"/>
                <a:ea typeface="华文中宋" pitchFamily="2" charset="-122"/>
              </a:rPr>
              <a:t>流水化，</a:t>
            </a:r>
          </a:p>
          <a:p>
            <a:pPr lvl="1" eaLnBrk="1" hangingPunct="1">
              <a:spcBef>
                <a:spcPct val="25000"/>
              </a:spcBef>
              <a:buSzPct val="60000"/>
              <a:buFont typeface="Wingdings" pitchFamily="2" charset="2"/>
              <a:buChar char="u"/>
            </a:pPr>
            <a:r>
              <a:rPr lang="zh-CN" altLang="en-US" sz="2400" b="1" dirty="0">
                <a:latin typeface="华文中宋" pitchFamily="2" charset="-122"/>
                <a:ea typeface="华文中宋" pitchFamily="2" charset="-122"/>
              </a:rPr>
              <a:t>数据通路中的每一个周期就成为流水线的一段</a:t>
            </a:r>
          </a:p>
          <a:p>
            <a:pPr lvl="1" eaLnBrk="1" hangingPunct="1">
              <a:spcBef>
                <a:spcPct val="25000"/>
              </a:spcBef>
              <a:buSzPct val="60000"/>
              <a:buFont typeface="Wingdings" pitchFamily="2" charset="2"/>
              <a:buChar char="u"/>
            </a:pPr>
            <a:r>
              <a:rPr lang="zh-CN" altLang="en-US" sz="2400" b="1" dirty="0">
                <a:latin typeface="华文中宋" pitchFamily="2" charset="-122"/>
                <a:ea typeface="华文中宋" pitchFamily="2" charset="-122"/>
              </a:rPr>
              <a:t>每个时钟周期启动一条指令</a:t>
            </a:r>
          </a:p>
          <a:p>
            <a:pPr lvl="1" eaLnBrk="1" hangingPunct="1">
              <a:spcBef>
                <a:spcPct val="25000"/>
              </a:spcBef>
            </a:pPr>
            <a:r>
              <a:rPr lang="zh-CN" altLang="en-US" sz="2400" b="1" dirty="0">
                <a:latin typeface="华文中宋" pitchFamily="2" charset="-122"/>
                <a:ea typeface="华文中宋" pitchFamily="2" charset="-122"/>
              </a:rPr>
              <a:t>	</a:t>
            </a:r>
            <a:r>
              <a:rPr lang="en-US" altLang="zh-CN" sz="2400" b="1" dirty="0">
                <a:latin typeface="华文中宋" pitchFamily="2" charset="-122"/>
                <a:ea typeface="华文中宋" pitchFamily="2" charset="-122"/>
              </a:rPr>
              <a:t>——</a:t>
            </a:r>
            <a:r>
              <a:rPr lang="zh-CN" altLang="en-US" sz="2400" b="1" dirty="0">
                <a:latin typeface="华文中宋" pitchFamily="2" charset="-122"/>
                <a:ea typeface="华文中宋" pitchFamily="2" charset="-122"/>
              </a:rPr>
              <a:t>得到了一条简单的</a:t>
            </a:r>
            <a:r>
              <a:rPr lang="en-US" altLang="zh-CN" sz="2400" b="1" dirty="0">
                <a:latin typeface="华文中宋" pitchFamily="2" charset="-122"/>
                <a:ea typeface="华文中宋" pitchFamily="2" charset="-122"/>
              </a:rPr>
              <a:t>MIPS</a:t>
            </a:r>
            <a:r>
              <a:rPr lang="zh-CN" altLang="en-US" sz="2400" b="1" dirty="0">
                <a:latin typeface="华文中宋" pitchFamily="2" charset="-122"/>
                <a:ea typeface="华文中宋" pitchFamily="2" charset="-122"/>
              </a:rPr>
              <a:t>流水线。</a:t>
            </a:r>
          </a:p>
          <a:p>
            <a:pPr eaLnBrk="1" hangingPunct="1">
              <a:spcBef>
                <a:spcPct val="100000"/>
              </a:spcBef>
            </a:pPr>
            <a:r>
              <a:rPr lang="zh-CN" altLang="en-US" sz="2800" b="1" dirty="0">
                <a:latin typeface="华文中宋" pitchFamily="2" charset="-122"/>
                <a:ea typeface="华文中宋" pitchFamily="2" charset="-122"/>
              </a:rPr>
              <a:t>   </a:t>
            </a:r>
            <a:r>
              <a:rPr lang="zh-CN" altLang="en-US" sz="2400" b="1" dirty="0">
                <a:latin typeface="华文中宋" pitchFamily="2" charset="-122"/>
                <a:ea typeface="华文中宋" pitchFamily="2" charset="-122"/>
              </a:rPr>
              <a:t>简单</a:t>
            </a:r>
            <a:r>
              <a:rPr lang="en-US" altLang="zh-CN" sz="2400" b="1" dirty="0">
                <a:latin typeface="华文中宋" pitchFamily="2" charset="-122"/>
                <a:ea typeface="华文中宋" pitchFamily="2" charset="-122"/>
              </a:rPr>
              <a:t>MIPS</a:t>
            </a:r>
            <a:r>
              <a:rPr lang="zh-CN" altLang="en-US" sz="2400" b="1" dirty="0">
                <a:latin typeface="华文中宋" pitchFamily="2" charset="-122"/>
                <a:ea typeface="华文中宋" pitchFamily="2" charset="-122"/>
              </a:rPr>
              <a:t>流水线的流水过程：</a:t>
            </a:r>
          </a:p>
          <a:p>
            <a:pPr lvl="1" eaLnBrk="1" hangingPunct="1">
              <a:spcBef>
                <a:spcPct val="25000"/>
              </a:spcBef>
              <a:buSzPct val="60000"/>
              <a:buFont typeface="Wingdings" pitchFamily="2" charset="2"/>
              <a:buChar char="u"/>
            </a:pPr>
            <a:r>
              <a:rPr lang="zh-CN" altLang="en-US" sz="2400" b="1" dirty="0">
                <a:solidFill>
                  <a:srgbClr val="003366"/>
                </a:solidFill>
                <a:latin typeface="华文中宋" pitchFamily="2" charset="-122"/>
                <a:ea typeface="华文中宋" pitchFamily="2" charset="-122"/>
                <a:hlinkClick r:id="rId4" action="ppaction://hlinksldjump"/>
              </a:rPr>
              <a:t>时</a:t>
            </a:r>
            <a:r>
              <a:rPr lang="en-US" altLang="zh-CN" sz="2400" b="1" dirty="0">
                <a:solidFill>
                  <a:srgbClr val="003366"/>
                </a:solidFill>
                <a:latin typeface="华文中宋" pitchFamily="2" charset="-122"/>
                <a:ea typeface="华文中宋" pitchFamily="2" charset="-122"/>
                <a:hlinkClick r:id="rId4" action="ppaction://hlinksldjump"/>
              </a:rPr>
              <a:t>-</a:t>
            </a:r>
            <a:r>
              <a:rPr lang="zh-CN" altLang="en-US" sz="2400" b="1" dirty="0">
                <a:solidFill>
                  <a:srgbClr val="003366"/>
                </a:solidFill>
                <a:latin typeface="华文中宋" pitchFamily="2" charset="-122"/>
                <a:ea typeface="华文中宋" pitchFamily="2" charset="-122"/>
                <a:hlinkClick r:id="rId4" action="ppaction://hlinksldjump"/>
              </a:rPr>
              <a:t>空图</a:t>
            </a:r>
            <a:endParaRPr lang="zh-CN" altLang="en-US" sz="2400" b="1" dirty="0">
              <a:solidFill>
                <a:srgbClr val="003366"/>
              </a:solidFill>
              <a:latin typeface="华文中宋" pitchFamily="2" charset="-122"/>
              <a:ea typeface="华文中宋" pitchFamily="2" charset="-122"/>
            </a:endParaRPr>
          </a:p>
          <a:p>
            <a:pPr lvl="1" eaLnBrk="1" hangingPunct="1">
              <a:spcBef>
                <a:spcPct val="25000"/>
              </a:spcBef>
              <a:buSzPct val="60000"/>
              <a:buFont typeface="Wingdings" pitchFamily="2" charset="2"/>
              <a:buChar char="u"/>
            </a:pPr>
            <a:r>
              <a:rPr lang="zh-CN" altLang="en-US" sz="2400" b="1" dirty="0">
                <a:solidFill>
                  <a:srgbClr val="003366"/>
                </a:solidFill>
                <a:latin typeface="华文中宋" pitchFamily="2" charset="-122"/>
                <a:ea typeface="华文中宋" pitchFamily="2" charset="-122"/>
                <a:hlinkClick r:id="rId5" action="ppaction://hlinksldjump"/>
              </a:rPr>
              <a:t>按时间错开的数据通路</a:t>
            </a:r>
            <a:endParaRPr lang="zh-CN" altLang="en-US" sz="2400" b="1" dirty="0">
              <a:solidFill>
                <a:srgbClr val="003366"/>
              </a:solidFill>
              <a:latin typeface="华文中宋" pitchFamily="2" charset="-122"/>
              <a:ea typeface="华文中宋" pitchFamily="2" charset="-122"/>
            </a:endParaRPr>
          </a:p>
        </p:txBody>
      </p:sp>
      <p:sp>
        <p:nvSpPr>
          <p:cNvPr id="41987" name="Rectangle 3"/>
          <p:cNvSpPr>
            <a:spLocks noChangeArrowheads="1"/>
          </p:cNvSpPr>
          <p:nvPr/>
        </p:nvSpPr>
        <p:spPr bwMode="auto">
          <a:xfrm>
            <a:off x="1547813" y="246063"/>
            <a:ext cx="5942012" cy="676275"/>
          </a:xfrm>
          <a:prstGeom prst="rect">
            <a:avLst/>
          </a:prstGeom>
          <a:noFill/>
          <a:ln w="9525" algn="ctr">
            <a:noFill/>
            <a:miter lim="800000"/>
            <a:headEnd/>
            <a:tailEnd/>
          </a:ln>
          <a:effectLst/>
        </p:spPr>
        <p:txBody>
          <a:bodyPr anchor="b"/>
          <a:lstStyle/>
          <a:p>
            <a:pPr algn="ct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3.2.1 </a:t>
            </a:r>
            <a:r>
              <a:rPr lang="zh-CN" altLang="en-US" sz="3600" b="1" dirty="0">
                <a:latin typeface="Times New Roman" panose="02020603050405020304" pitchFamily="18" charset="0"/>
                <a:ea typeface="+mj-ea"/>
                <a:cs typeface="Times New Roman" panose="02020603050405020304" pitchFamily="18" charset="0"/>
              </a:rPr>
              <a:t>基本的</a:t>
            </a:r>
            <a:r>
              <a:rPr lang="en-US" altLang="zh-CN" sz="3600" b="1" dirty="0">
                <a:latin typeface="Times New Roman" panose="02020603050405020304" pitchFamily="18" charset="0"/>
                <a:ea typeface="+mj-ea"/>
                <a:cs typeface="Times New Roman" panose="02020603050405020304" pitchFamily="18" charset="0"/>
              </a:rPr>
              <a:t>MIPS</a:t>
            </a:r>
            <a:r>
              <a:rPr lang="zh-CN" altLang="en-US" sz="3600" b="1" dirty="0">
                <a:latin typeface="Times New Roman" panose="02020603050405020304" pitchFamily="18" charset="0"/>
                <a:ea typeface="+mj-ea"/>
                <a:cs typeface="Times New Roman" panose="02020603050405020304" pitchFamily="18" charset="0"/>
              </a:rPr>
              <a:t>流水线</a:t>
            </a:r>
          </a:p>
        </p:txBody>
      </p:sp>
      <p:sp>
        <p:nvSpPr>
          <p:cNvPr id="2" name="日期占位符 1">
            <a:extLst>
              <a:ext uri="{FF2B5EF4-FFF2-40B4-BE49-F238E27FC236}">
                <a16:creationId xmlns:a16="http://schemas.microsoft.com/office/drawing/2014/main" id="{1FADB8D1-952C-1E73-D88F-11E541E957E6}"/>
              </a:ext>
            </a:extLst>
          </p:cNvPr>
          <p:cNvSpPr>
            <a:spLocks noGrp="1"/>
          </p:cNvSpPr>
          <p:nvPr>
            <p:ph type="dt" sz="half" idx="10"/>
          </p:nvPr>
        </p:nvSpPr>
        <p:spPr/>
        <p:txBody>
          <a:bodyPr/>
          <a:lstStyle/>
          <a:p>
            <a:pPr>
              <a:defRPr/>
            </a:pPr>
            <a:fld id="{CD574831-D0BE-444E-91C9-471886A9F044}" type="datetime1">
              <a:rPr lang="zh-CN" altLang="en-US" smtClean="0"/>
              <a:t>2025/9/25</a:t>
            </a:fld>
            <a:endParaRPr lang="en-US" altLang="zh-CN"/>
          </a:p>
        </p:txBody>
      </p:sp>
      <p:sp>
        <p:nvSpPr>
          <p:cNvPr id="3" name="页脚占位符 2">
            <a:extLst>
              <a:ext uri="{FF2B5EF4-FFF2-40B4-BE49-F238E27FC236}">
                <a16:creationId xmlns:a16="http://schemas.microsoft.com/office/drawing/2014/main" id="{7D7CDD71-AB55-7D8B-8064-5BA3DB4AA225}"/>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4D20175E-0FA2-B187-E82C-89467E9F03EB}"/>
              </a:ext>
            </a:extLst>
          </p:cNvPr>
          <p:cNvSpPr>
            <a:spLocks noGrp="1"/>
          </p:cNvSpPr>
          <p:nvPr>
            <p:ph type="sldNum" sz="quarter" idx="12"/>
          </p:nvPr>
        </p:nvSpPr>
        <p:spPr/>
        <p:txBody>
          <a:bodyPr/>
          <a:lstStyle/>
          <a:p>
            <a:pPr>
              <a:defRPr/>
            </a:pPr>
            <a:fld id="{8BCAC33D-D29A-48B3-BCD6-381D3D720D26}" type="slidenum">
              <a:rPr lang="zh-CN" altLang="en-US" smtClean="0"/>
              <a:t>27</a:t>
            </a:fld>
            <a:endParaRPr lang="en-US" altLang="zh-CN"/>
          </a:p>
        </p:txBody>
      </p:sp>
    </p:spTree>
    <p:extLst>
      <p:ext uri="{BB962C8B-B14F-4D97-AF65-F5344CB8AC3E}">
        <p14:creationId xmlns:p14="http://schemas.microsoft.com/office/powerpoint/2010/main" val="3428736322"/>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684213" y="1268413"/>
            <a:ext cx="7488237"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b="1" dirty="0">
                <a:latin typeface="华文中宋" pitchFamily="2" charset="-122"/>
                <a:ea typeface="华文中宋" pitchFamily="2" charset="-122"/>
              </a:rPr>
              <a:t>2.</a:t>
            </a:r>
            <a:r>
              <a:rPr lang="zh-CN" altLang="en-US" sz="2800" b="1" dirty="0">
                <a:latin typeface="华文中宋" pitchFamily="2" charset="-122"/>
                <a:ea typeface="华文中宋" pitchFamily="2" charset="-122"/>
              </a:rPr>
              <a:t>实现流水技术应解决的一些问题</a:t>
            </a:r>
          </a:p>
          <a:p>
            <a:pPr eaLnBrk="1" hangingPunct="1">
              <a:spcBef>
                <a:spcPct val="100000"/>
              </a:spcBef>
            </a:pPr>
            <a:r>
              <a:rPr lang="zh-CN" altLang="en-US" sz="2400" b="1" dirty="0">
                <a:latin typeface="华文中宋" pitchFamily="2" charset="-122"/>
                <a:ea typeface="华文中宋" pitchFamily="2" charset="-122"/>
              </a:rPr>
              <a:t>	（</a:t>
            </a:r>
            <a:r>
              <a:rPr lang="en-US" altLang="zh-CN" sz="2400" b="1" dirty="0">
                <a:latin typeface="华文中宋" pitchFamily="2" charset="-122"/>
                <a:ea typeface="华文中宋" pitchFamily="2" charset="-122"/>
              </a:rPr>
              <a:t>1</a:t>
            </a:r>
            <a:r>
              <a:rPr lang="zh-CN" altLang="en-US" sz="2400" b="1" dirty="0">
                <a:latin typeface="华文中宋" pitchFamily="2" charset="-122"/>
                <a:ea typeface="华文中宋" pitchFamily="2" charset="-122"/>
              </a:rPr>
              <a:t>）应保证流水线各段不会在同一时钟周期内使用相同的通路资源。</a:t>
            </a:r>
          </a:p>
          <a:p>
            <a:pPr lvl="1" eaLnBrk="1" hangingPunct="1">
              <a:spcBef>
                <a:spcPct val="50000"/>
              </a:spcBef>
              <a:buSzPct val="60000"/>
              <a:buFont typeface="Wingdings" pitchFamily="2" charset="2"/>
              <a:buChar char="u"/>
            </a:pPr>
            <a:r>
              <a:rPr lang="zh-CN" altLang="en-US" sz="2400" b="1" dirty="0">
                <a:latin typeface="华文中宋" pitchFamily="2" charset="-122"/>
                <a:ea typeface="华文中宋" pitchFamily="2" charset="-122"/>
              </a:rPr>
              <a:t>例如，不能要求一个</a:t>
            </a:r>
            <a:r>
              <a:rPr lang="en-US" altLang="zh-CN" sz="2400" b="1" dirty="0">
                <a:latin typeface="华文中宋" pitchFamily="2" charset="-122"/>
                <a:ea typeface="华文中宋" pitchFamily="2" charset="-122"/>
              </a:rPr>
              <a:t>ALU</a:t>
            </a:r>
            <a:r>
              <a:rPr lang="zh-CN" altLang="en-US" sz="2400" b="1" dirty="0">
                <a:latin typeface="华文中宋" pitchFamily="2" charset="-122"/>
                <a:ea typeface="华文中宋" pitchFamily="2" charset="-122"/>
              </a:rPr>
              <a:t>既做有效地址计算，又做减法操作</a:t>
            </a:r>
          </a:p>
          <a:p>
            <a:pPr lvl="1" eaLnBrk="1" hangingPunct="1">
              <a:spcBef>
                <a:spcPct val="50000"/>
              </a:spcBef>
              <a:buSzPct val="60000"/>
              <a:buFont typeface="Wingdings" pitchFamily="2" charset="2"/>
              <a:buChar char="u"/>
            </a:pPr>
            <a:r>
              <a:rPr lang="en-US" altLang="zh-CN" sz="2400" b="1" dirty="0">
                <a:latin typeface="华文中宋" pitchFamily="2" charset="-122"/>
                <a:ea typeface="华文中宋" pitchFamily="2" charset="-122"/>
              </a:rPr>
              <a:t>IF</a:t>
            </a:r>
            <a:r>
              <a:rPr lang="zh-CN" altLang="en-US" sz="2400" b="1" dirty="0">
                <a:latin typeface="华文中宋" pitchFamily="2" charset="-122"/>
                <a:ea typeface="华文中宋" pitchFamily="2" charset="-122"/>
              </a:rPr>
              <a:t>与</a:t>
            </a:r>
            <a:r>
              <a:rPr lang="en-US" altLang="zh-CN" sz="2400" b="1" dirty="0" err="1">
                <a:latin typeface="华文中宋" pitchFamily="2" charset="-122"/>
                <a:ea typeface="华文中宋" pitchFamily="2" charset="-122"/>
              </a:rPr>
              <a:t>Mem</a:t>
            </a:r>
            <a:r>
              <a:rPr lang="zh-CN" altLang="en-US" sz="2400" b="1" dirty="0">
                <a:latin typeface="华文中宋" pitchFamily="2" charset="-122"/>
                <a:ea typeface="华文中宋" pitchFamily="2" charset="-122"/>
              </a:rPr>
              <a:t>两个阶段都要访问存储器，怎样避免访存冲突？</a:t>
            </a:r>
          </a:p>
          <a:p>
            <a:pPr lvl="1" eaLnBrk="1" hangingPunct="1">
              <a:spcBef>
                <a:spcPct val="50000"/>
              </a:spcBef>
              <a:buSzPct val="60000"/>
              <a:buFont typeface="Wingdings" pitchFamily="2" charset="2"/>
              <a:buChar char="u"/>
            </a:pPr>
            <a:r>
              <a:rPr lang="en-US" altLang="zh-CN" sz="2400" b="1" dirty="0">
                <a:latin typeface="华文中宋" pitchFamily="2" charset="-122"/>
                <a:ea typeface="华文中宋" pitchFamily="2" charset="-122"/>
              </a:rPr>
              <a:t>ID</a:t>
            </a:r>
            <a:r>
              <a:rPr lang="zh-CN" altLang="en-US" sz="2400" b="1" dirty="0">
                <a:latin typeface="华文中宋" pitchFamily="2" charset="-122"/>
                <a:ea typeface="华文中宋" pitchFamily="2" charset="-122"/>
              </a:rPr>
              <a:t>和</a:t>
            </a:r>
            <a:r>
              <a:rPr lang="en-US" altLang="zh-CN" sz="2400" b="1" dirty="0">
                <a:latin typeface="华文中宋" pitchFamily="2" charset="-122"/>
                <a:ea typeface="华文中宋" pitchFamily="2" charset="-122"/>
              </a:rPr>
              <a:t>WB</a:t>
            </a:r>
            <a:r>
              <a:rPr lang="zh-CN" altLang="en-US" sz="2400" b="1" dirty="0">
                <a:latin typeface="华文中宋" pitchFamily="2" charset="-122"/>
                <a:ea typeface="华文中宋" pitchFamily="2" charset="-122"/>
              </a:rPr>
              <a:t>两个阶段都要访问寄存器，是否存在冲突？怎样避免？</a:t>
            </a:r>
          </a:p>
        </p:txBody>
      </p:sp>
      <p:sp>
        <p:nvSpPr>
          <p:cNvPr id="3" name="Rectangle 3"/>
          <p:cNvSpPr>
            <a:spLocks noChangeArrowheads="1"/>
          </p:cNvSpPr>
          <p:nvPr/>
        </p:nvSpPr>
        <p:spPr bwMode="auto">
          <a:xfrm>
            <a:off x="1547813" y="246063"/>
            <a:ext cx="5942012" cy="676275"/>
          </a:xfrm>
          <a:prstGeom prst="rect">
            <a:avLst/>
          </a:prstGeom>
          <a:noFill/>
          <a:ln w="9525" algn="ctr">
            <a:noFill/>
            <a:miter lim="800000"/>
            <a:headEnd/>
            <a:tailEnd/>
          </a:ln>
          <a:effectLst/>
        </p:spPr>
        <p:txBody>
          <a:bodyPr anchor="b"/>
          <a:lstStyle/>
          <a:p>
            <a:pPr algn="ct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3.2.1 </a:t>
            </a:r>
            <a:r>
              <a:rPr lang="zh-CN" altLang="en-US" sz="3600" b="1" dirty="0">
                <a:latin typeface="Times New Roman" panose="02020603050405020304" pitchFamily="18" charset="0"/>
                <a:ea typeface="+mj-ea"/>
                <a:cs typeface="Times New Roman" panose="02020603050405020304" pitchFamily="18" charset="0"/>
              </a:rPr>
              <a:t>基本的</a:t>
            </a:r>
            <a:r>
              <a:rPr lang="en-US" altLang="zh-CN" sz="3600" b="1" dirty="0">
                <a:latin typeface="Times New Roman" panose="02020603050405020304" pitchFamily="18" charset="0"/>
                <a:ea typeface="+mj-ea"/>
                <a:cs typeface="Times New Roman" panose="02020603050405020304" pitchFamily="18" charset="0"/>
              </a:rPr>
              <a:t>MIPS</a:t>
            </a:r>
            <a:r>
              <a:rPr lang="zh-CN" altLang="en-US" sz="3600" b="1" dirty="0">
                <a:latin typeface="Times New Roman" panose="02020603050405020304" pitchFamily="18" charset="0"/>
                <a:ea typeface="+mj-ea"/>
                <a:cs typeface="Times New Roman" panose="02020603050405020304" pitchFamily="18" charset="0"/>
              </a:rPr>
              <a:t>流水线</a:t>
            </a:r>
          </a:p>
        </p:txBody>
      </p:sp>
      <p:sp>
        <p:nvSpPr>
          <p:cNvPr id="2" name="日期占位符 1">
            <a:extLst>
              <a:ext uri="{FF2B5EF4-FFF2-40B4-BE49-F238E27FC236}">
                <a16:creationId xmlns:a16="http://schemas.microsoft.com/office/drawing/2014/main" id="{1C895AFD-9E3F-6798-DCC9-7838E5F9FABE}"/>
              </a:ext>
            </a:extLst>
          </p:cNvPr>
          <p:cNvSpPr>
            <a:spLocks noGrp="1"/>
          </p:cNvSpPr>
          <p:nvPr>
            <p:ph type="dt" sz="half" idx="10"/>
          </p:nvPr>
        </p:nvSpPr>
        <p:spPr/>
        <p:txBody>
          <a:bodyPr/>
          <a:lstStyle/>
          <a:p>
            <a:pPr>
              <a:defRPr/>
            </a:pPr>
            <a:fld id="{E05E7082-274E-4477-86CB-E084B840B61F}" type="datetime1">
              <a:rPr lang="zh-CN" altLang="en-US" smtClean="0"/>
              <a:t>2025/9/25</a:t>
            </a:fld>
            <a:endParaRPr lang="en-US" altLang="zh-CN"/>
          </a:p>
        </p:txBody>
      </p:sp>
      <p:sp>
        <p:nvSpPr>
          <p:cNvPr id="4" name="页脚占位符 3">
            <a:extLst>
              <a:ext uri="{FF2B5EF4-FFF2-40B4-BE49-F238E27FC236}">
                <a16:creationId xmlns:a16="http://schemas.microsoft.com/office/drawing/2014/main" id="{00BBB415-00F5-29C9-EEDA-9540B93D904B}"/>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5" name="灯片编号占位符 4">
            <a:extLst>
              <a:ext uri="{FF2B5EF4-FFF2-40B4-BE49-F238E27FC236}">
                <a16:creationId xmlns:a16="http://schemas.microsoft.com/office/drawing/2014/main" id="{337C7F87-08A7-A7DF-64CE-410F2768BC28}"/>
              </a:ext>
            </a:extLst>
          </p:cNvPr>
          <p:cNvSpPr>
            <a:spLocks noGrp="1"/>
          </p:cNvSpPr>
          <p:nvPr>
            <p:ph type="sldNum" sz="quarter" idx="12"/>
          </p:nvPr>
        </p:nvSpPr>
        <p:spPr/>
        <p:txBody>
          <a:bodyPr/>
          <a:lstStyle/>
          <a:p>
            <a:pPr>
              <a:defRPr/>
            </a:pPr>
            <a:fld id="{8BCAC33D-D29A-48B3-BCD6-381D3D720D26}" type="slidenum">
              <a:rPr lang="zh-CN" altLang="en-US" smtClean="0"/>
              <a:t>28</a:t>
            </a:fld>
            <a:endParaRPr lang="en-US" altLang="zh-CN"/>
          </a:p>
        </p:txBody>
      </p:sp>
    </p:spTree>
    <p:extLst>
      <p:ext uri="{BB962C8B-B14F-4D97-AF65-F5344CB8AC3E}">
        <p14:creationId xmlns:p14="http://schemas.microsoft.com/office/powerpoint/2010/main" val="1970871022"/>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684212" y="836712"/>
            <a:ext cx="7488237"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dirty="0">
                <a:latin typeface="华文中宋" pitchFamily="2" charset="-122"/>
                <a:ea typeface="华文中宋" pitchFamily="2" charset="-122"/>
              </a:rPr>
              <a:t>	</a:t>
            </a:r>
            <a:r>
              <a:rPr lang="zh-CN" altLang="en-US" sz="2800" b="1" dirty="0">
                <a:latin typeface="华文中宋" pitchFamily="2" charset="-122"/>
                <a:ea typeface="华文中宋" pitchFamily="2" charset="-122"/>
              </a:rPr>
              <a:t>（</a:t>
            </a:r>
            <a:r>
              <a:rPr lang="en-US" altLang="zh-CN" sz="2800" b="1" dirty="0">
                <a:latin typeface="华文中宋" pitchFamily="2" charset="-122"/>
                <a:ea typeface="华文中宋" pitchFamily="2" charset="-122"/>
              </a:rPr>
              <a:t>2</a:t>
            </a:r>
            <a:r>
              <a:rPr lang="zh-CN" altLang="en-US" sz="2800" b="1" dirty="0">
                <a:latin typeface="华文中宋" pitchFamily="2" charset="-122"/>
                <a:ea typeface="华文中宋" pitchFamily="2" charset="-122"/>
              </a:rPr>
              <a:t>）</a:t>
            </a:r>
            <a:r>
              <a:rPr lang="en-US" altLang="zh-CN" sz="2800" b="1" dirty="0">
                <a:latin typeface="华文中宋" pitchFamily="2" charset="-122"/>
                <a:ea typeface="华文中宋" pitchFamily="2" charset="-122"/>
              </a:rPr>
              <a:t>PC</a:t>
            </a:r>
            <a:r>
              <a:rPr lang="zh-CN" altLang="en-US" sz="2800" b="1" dirty="0">
                <a:latin typeface="华文中宋" pitchFamily="2" charset="-122"/>
                <a:ea typeface="华文中宋" pitchFamily="2" charset="-122"/>
              </a:rPr>
              <a:t>计算问题</a:t>
            </a:r>
          </a:p>
          <a:p>
            <a:pPr lvl="1" eaLnBrk="1" hangingPunct="1">
              <a:spcBef>
                <a:spcPct val="50000"/>
              </a:spcBef>
            </a:pPr>
            <a:r>
              <a:rPr lang="zh-CN" altLang="en-US" sz="2400" b="1" dirty="0">
                <a:latin typeface="华文中宋" pitchFamily="2" charset="-122"/>
                <a:ea typeface="华文中宋" pitchFamily="2" charset="-122"/>
              </a:rPr>
              <a:t>	为了能够在每个时钟周期启动一条新的指令，流水线必须在</a:t>
            </a:r>
            <a:r>
              <a:rPr lang="en-US" altLang="zh-CN" sz="2400" b="1" dirty="0">
                <a:latin typeface="华文中宋" pitchFamily="2" charset="-122"/>
                <a:ea typeface="华文中宋" pitchFamily="2" charset="-122"/>
                <a:hlinkClick r:id="rId3" action="ppaction://hlinksldjump"/>
              </a:rPr>
              <a:t>IF</a:t>
            </a:r>
            <a:r>
              <a:rPr lang="zh-CN" altLang="en-US" sz="2400" b="1" dirty="0">
                <a:latin typeface="华文中宋" pitchFamily="2" charset="-122"/>
                <a:ea typeface="华文中宋" pitchFamily="2" charset="-122"/>
                <a:hlinkClick r:id="rId3" action="ppaction://hlinksldjump"/>
              </a:rPr>
              <a:t>段</a:t>
            </a:r>
            <a:r>
              <a:rPr lang="zh-CN" altLang="en-US" sz="2400" b="1" dirty="0">
                <a:latin typeface="华文中宋" pitchFamily="2" charset="-122"/>
                <a:ea typeface="华文中宋" pitchFamily="2" charset="-122"/>
              </a:rPr>
              <a:t>获得下一条指令的地址，并将其保存在</a:t>
            </a:r>
            <a:r>
              <a:rPr lang="en-US" altLang="zh-CN" sz="2400" b="1" dirty="0">
                <a:latin typeface="华文中宋" pitchFamily="2" charset="-122"/>
                <a:ea typeface="华文中宋" pitchFamily="2" charset="-122"/>
              </a:rPr>
              <a:t>PC</a:t>
            </a:r>
            <a:r>
              <a:rPr lang="zh-CN" altLang="en-US" sz="2400" b="1" dirty="0">
                <a:latin typeface="华文中宋" pitchFamily="2" charset="-122"/>
                <a:ea typeface="华文中宋" pitchFamily="2" charset="-122"/>
              </a:rPr>
              <a:t>中。</a:t>
            </a:r>
          </a:p>
          <a:p>
            <a:pPr lvl="1" eaLnBrk="1" hangingPunct="1">
              <a:spcBef>
                <a:spcPct val="50000"/>
              </a:spcBef>
            </a:pPr>
            <a:r>
              <a:rPr lang="zh-CN" altLang="en-US" sz="2400" b="1" dirty="0">
                <a:latin typeface="华文中宋" pitchFamily="2" charset="-122"/>
                <a:ea typeface="华文中宋" pitchFamily="2" charset="-122"/>
              </a:rPr>
              <a:t>	但是，分支指令会改变</a:t>
            </a:r>
            <a:r>
              <a:rPr lang="en-US" altLang="zh-CN" sz="2400" b="1" dirty="0">
                <a:latin typeface="华文中宋" pitchFamily="2" charset="-122"/>
                <a:ea typeface="华文中宋" pitchFamily="2" charset="-122"/>
              </a:rPr>
              <a:t>PC</a:t>
            </a:r>
            <a:r>
              <a:rPr lang="zh-CN" altLang="en-US" sz="2400" b="1" dirty="0">
                <a:latin typeface="华文中宋" pitchFamily="2" charset="-122"/>
                <a:ea typeface="华文中宋" pitchFamily="2" charset="-122"/>
              </a:rPr>
              <a:t>的值，而且只有在</a:t>
            </a:r>
            <a:r>
              <a:rPr lang="en-US" altLang="zh-CN" sz="2400" b="1" dirty="0" err="1">
                <a:latin typeface="华文中宋" pitchFamily="2" charset="-122"/>
                <a:ea typeface="华文中宋" pitchFamily="2" charset="-122"/>
                <a:hlinkClick r:id="rId4" action="ppaction://hlinksldjump"/>
              </a:rPr>
              <a:t>Mem</a:t>
            </a:r>
            <a:r>
              <a:rPr lang="zh-CN" altLang="en-US" sz="2400" b="1" dirty="0">
                <a:latin typeface="华文中宋" pitchFamily="2" charset="-122"/>
                <a:ea typeface="华文中宋" pitchFamily="2" charset="-122"/>
                <a:hlinkClick r:id="rId4" action="ppaction://hlinksldjump"/>
              </a:rPr>
              <a:t>段</a:t>
            </a:r>
            <a:r>
              <a:rPr lang="zh-CN" altLang="en-US" sz="2400" b="1" dirty="0">
                <a:latin typeface="华文中宋" pitchFamily="2" charset="-122"/>
                <a:ea typeface="华文中宋" pitchFamily="2" charset="-122"/>
              </a:rPr>
              <a:t>结束时，这个新值才会被写入</a:t>
            </a:r>
            <a:r>
              <a:rPr lang="en-US" altLang="zh-CN" sz="2400" b="1" dirty="0">
                <a:latin typeface="华文中宋" pitchFamily="2" charset="-122"/>
                <a:ea typeface="华文中宋" pitchFamily="2" charset="-122"/>
              </a:rPr>
              <a:t>PC</a:t>
            </a:r>
            <a:r>
              <a:rPr lang="zh-CN" altLang="en-US" sz="2400" b="1" dirty="0">
                <a:latin typeface="华文中宋" pitchFamily="2" charset="-122"/>
                <a:ea typeface="华文中宋" pitchFamily="2" charset="-122"/>
              </a:rPr>
              <a:t>，出现矛盾。</a:t>
            </a:r>
          </a:p>
          <a:p>
            <a:pPr lvl="1" eaLnBrk="1" hangingPunct="1">
              <a:spcBef>
                <a:spcPct val="50000"/>
              </a:spcBef>
            </a:pPr>
            <a:r>
              <a:rPr lang="zh-CN" altLang="en-US" sz="2400" b="1" dirty="0">
                <a:latin typeface="华文中宋" pitchFamily="2" charset="-122"/>
                <a:ea typeface="华文中宋" pitchFamily="2" charset="-122"/>
              </a:rPr>
              <a:t>	解决方法：</a:t>
            </a:r>
            <a:endParaRPr lang="en-US" altLang="zh-CN" sz="2400" b="1" dirty="0">
              <a:latin typeface="华文中宋" pitchFamily="2" charset="-122"/>
              <a:ea typeface="华文中宋" pitchFamily="2" charset="-122"/>
            </a:endParaRPr>
          </a:p>
          <a:p>
            <a:pPr lvl="1" eaLnBrk="1" hangingPunct="1">
              <a:spcBef>
                <a:spcPct val="50000"/>
              </a:spcBef>
            </a:pPr>
            <a:r>
              <a:rPr lang="en-US" altLang="zh-CN" sz="2400" dirty="0">
                <a:latin typeface="华文中宋" pitchFamily="2" charset="-122"/>
                <a:ea typeface="华文中宋" pitchFamily="2" charset="-122"/>
              </a:rPr>
              <a:t>   </a:t>
            </a:r>
            <a:r>
              <a:rPr lang="zh-CN" altLang="en-US" sz="2400" dirty="0">
                <a:latin typeface="华文中宋" pitchFamily="2" charset="-122"/>
                <a:ea typeface="华文中宋" pitchFamily="2" charset="-122"/>
              </a:rPr>
              <a:t>对于顺序执行，可以</a:t>
            </a:r>
            <a:r>
              <a:rPr lang="zh-CN" altLang="en-US" sz="2400" dirty="0">
                <a:latin typeface="华文中宋" pitchFamily="2" charset="-122"/>
                <a:ea typeface="华文中宋" pitchFamily="2" charset="-122"/>
                <a:hlinkClick r:id="rId5" action="ppaction://hlinksldjump"/>
              </a:rPr>
              <a:t>修改数据通路</a:t>
            </a:r>
            <a:r>
              <a:rPr lang="zh-CN" altLang="en-US" sz="2400" b="1" dirty="0">
                <a:latin typeface="华文中宋" pitchFamily="2" charset="-122"/>
                <a:ea typeface="华文中宋" pitchFamily="2" charset="-122"/>
              </a:rPr>
              <a:t>，在</a:t>
            </a:r>
            <a:r>
              <a:rPr lang="en-US" altLang="zh-CN" sz="2400" b="1" dirty="0">
                <a:latin typeface="华文中宋" pitchFamily="2" charset="-122"/>
                <a:ea typeface="华文中宋" pitchFamily="2" charset="-122"/>
              </a:rPr>
              <a:t>IF</a:t>
            </a:r>
            <a:r>
              <a:rPr lang="zh-CN" altLang="en-US" sz="2400" b="1" dirty="0">
                <a:latin typeface="华文中宋" pitchFamily="2" charset="-122"/>
                <a:ea typeface="华文中宋" pitchFamily="2" charset="-122"/>
              </a:rPr>
              <a:t>段完成</a:t>
            </a:r>
            <a:r>
              <a:rPr lang="en-US" altLang="zh-CN" sz="2400" b="1" dirty="0">
                <a:latin typeface="华文中宋" pitchFamily="2" charset="-122"/>
                <a:ea typeface="华文中宋" pitchFamily="2" charset="-122"/>
              </a:rPr>
              <a:t>PC</a:t>
            </a:r>
            <a:r>
              <a:rPr lang="zh-CN" altLang="en-US" sz="2400" b="1" dirty="0">
                <a:latin typeface="华文中宋" pitchFamily="2" charset="-122"/>
                <a:ea typeface="华文中宋" pitchFamily="2" charset="-122"/>
              </a:rPr>
              <a:t>计算。但分支指令如何处理？</a:t>
            </a:r>
          </a:p>
        </p:txBody>
      </p:sp>
      <p:sp>
        <p:nvSpPr>
          <p:cNvPr id="2" name="日期占位符 1">
            <a:extLst>
              <a:ext uri="{FF2B5EF4-FFF2-40B4-BE49-F238E27FC236}">
                <a16:creationId xmlns:a16="http://schemas.microsoft.com/office/drawing/2014/main" id="{EAD9D79D-1433-5B2A-C88B-A565D4FE4DBD}"/>
              </a:ext>
            </a:extLst>
          </p:cNvPr>
          <p:cNvSpPr>
            <a:spLocks noGrp="1"/>
          </p:cNvSpPr>
          <p:nvPr>
            <p:ph type="dt" sz="half" idx="10"/>
          </p:nvPr>
        </p:nvSpPr>
        <p:spPr/>
        <p:txBody>
          <a:bodyPr/>
          <a:lstStyle/>
          <a:p>
            <a:pPr>
              <a:defRPr/>
            </a:pPr>
            <a:fld id="{8350BDC7-6EB4-4706-A7B4-FF4D9EE74F4A}" type="datetime1">
              <a:rPr lang="zh-CN" altLang="en-US" smtClean="0"/>
              <a:t>2025/9/25</a:t>
            </a:fld>
            <a:endParaRPr lang="en-US" altLang="zh-CN"/>
          </a:p>
        </p:txBody>
      </p:sp>
      <p:sp>
        <p:nvSpPr>
          <p:cNvPr id="3" name="页脚占位符 2">
            <a:extLst>
              <a:ext uri="{FF2B5EF4-FFF2-40B4-BE49-F238E27FC236}">
                <a16:creationId xmlns:a16="http://schemas.microsoft.com/office/drawing/2014/main" id="{F36F6422-DA59-323D-257C-5628C14D78BE}"/>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90D9B0FA-B8E1-297D-8006-5B9EEB8017DC}"/>
              </a:ext>
            </a:extLst>
          </p:cNvPr>
          <p:cNvSpPr>
            <a:spLocks noGrp="1"/>
          </p:cNvSpPr>
          <p:nvPr>
            <p:ph type="sldNum" sz="quarter" idx="12"/>
          </p:nvPr>
        </p:nvSpPr>
        <p:spPr/>
        <p:txBody>
          <a:bodyPr/>
          <a:lstStyle/>
          <a:p>
            <a:pPr>
              <a:defRPr/>
            </a:pPr>
            <a:fld id="{8BCAC33D-D29A-48B3-BCD6-381D3D720D26}" type="slidenum">
              <a:rPr lang="zh-CN" altLang="en-US" smtClean="0"/>
              <a:t>29</a:t>
            </a:fld>
            <a:endParaRPr lang="en-US" altLang="zh-CN"/>
          </a:p>
        </p:txBody>
      </p:sp>
    </p:spTree>
    <p:extLst>
      <p:ext uri="{BB962C8B-B14F-4D97-AF65-F5344CB8AC3E}">
        <p14:creationId xmlns:p14="http://schemas.microsoft.com/office/powerpoint/2010/main" val="3300362918"/>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611188" y="1166813"/>
            <a:ext cx="7488237" cy="492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80000"/>
              </a:spcBef>
            </a:pPr>
            <a:r>
              <a:rPr lang="en-US" altLang="zh-CN" sz="2800" dirty="0">
                <a:latin typeface="华文中宋" pitchFamily="2" charset="-122"/>
                <a:ea typeface="华文中宋" pitchFamily="2" charset="-122"/>
              </a:rPr>
              <a:t>	</a:t>
            </a:r>
            <a:r>
              <a:rPr lang="zh-CN" altLang="en-US" sz="2400" b="1" dirty="0">
                <a:latin typeface="华文中宋" pitchFamily="2" charset="-122"/>
                <a:ea typeface="华文中宋" pitchFamily="2" charset="-122"/>
              </a:rPr>
              <a:t>（</a:t>
            </a:r>
            <a:r>
              <a:rPr lang="en-US" altLang="zh-CN" sz="2400" b="1" dirty="0">
                <a:latin typeface="华文中宋" pitchFamily="2" charset="-122"/>
                <a:ea typeface="华文中宋" pitchFamily="2" charset="-122"/>
              </a:rPr>
              <a:t>3</a:t>
            </a:r>
            <a:r>
              <a:rPr lang="zh-CN" altLang="en-US" sz="2400" b="1" dirty="0">
                <a:latin typeface="华文中宋" pitchFamily="2" charset="-122"/>
                <a:ea typeface="华文中宋" pitchFamily="2" charset="-122"/>
              </a:rPr>
              <a:t>）合理划分流水段，每段内的操作都必须在一个时钟周期内完成。</a:t>
            </a:r>
          </a:p>
          <a:p>
            <a:pPr eaLnBrk="1" hangingPunct="1">
              <a:spcBef>
                <a:spcPct val="80000"/>
              </a:spcBef>
            </a:pPr>
            <a:r>
              <a:rPr lang="zh-CN" altLang="en-US" sz="2400" b="1" dirty="0">
                <a:latin typeface="华文中宋" pitchFamily="2" charset="-122"/>
                <a:ea typeface="华文中宋" pitchFamily="2" charset="-122"/>
              </a:rPr>
              <a:t>	（</a:t>
            </a:r>
            <a:r>
              <a:rPr lang="en-US" altLang="zh-CN" sz="2400" b="1" dirty="0">
                <a:latin typeface="华文中宋" pitchFamily="2" charset="-122"/>
                <a:ea typeface="华文中宋" pitchFamily="2" charset="-122"/>
              </a:rPr>
              <a:t>4</a:t>
            </a:r>
            <a:r>
              <a:rPr lang="zh-CN" altLang="en-US" sz="2400" b="1" dirty="0">
                <a:latin typeface="华文中宋" pitchFamily="2" charset="-122"/>
                <a:ea typeface="华文中宋" pitchFamily="2" charset="-122"/>
              </a:rPr>
              <a:t>）流水线寄存器设计</a:t>
            </a:r>
          </a:p>
          <a:p>
            <a:pPr lvl="1" eaLnBrk="1" hangingPunct="1">
              <a:spcBef>
                <a:spcPct val="25000"/>
              </a:spcBef>
              <a:spcAft>
                <a:spcPct val="25000"/>
              </a:spcAft>
              <a:buSzPct val="60000"/>
              <a:buFont typeface="Wingdings" pitchFamily="2" charset="2"/>
              <a:buChar char="u"/>
            </a:pPr>
            <a:r>
              <a:rPr lang="zh-CN" altLang="en-US" sz="2400" b="1" dirty="0">
                <a:latin typeface="华文中宋" pitchFamily="2" charset="-122"/>
                <a:ea typeface="华文中宋" pitchFamily="2" charset="-122"/>
              </a:rPr>
              <a:t>为防止寄存器中的值在为流水线中某条指令所用时被流水线中其它的指令所重写，可在流水线各段之间设置</a:t>
            </a:r>
            <a:r>
              <a:rPr lang="zh-CN" altLang="en-US" sz="2400" b="1" dirty="0">
                <a:latin typeface="华文中宋" pitchFamily="2" charset="-122"/>
                <a:ea typeface="华文中宋" pitchFamily="2" charset="-122"/>
                <a:hlinkClick r:id="rId3" action="ppaction://hlinksldjump"/>
              </a:rPr>
              <a:t>流水线寄存器文件</a:t>
            </a:r>
            <a:r>
              <a:rPr lang="zh-CN" altLang="en-US" sz="2400" b="1" dirty="0">
                <a:latin typeface="华文中宋" pitchFamily="2" charset="-122"/>
                <a:ea typeface="华文中宋" pitchFamily="2" charset="-122"/>
              </a:rPr>
              <a:t>，也称锁存器。</a:t>
            </a:r>
          </a:p>
          <a:p>
            <a:pPr lvl="1" eaLnBrk="1" hangingPunct="1">
              <a:spcBef>
                <a:spcPct val="25000"/>
              </a:spcBef>
              <a:spcAft>
                <a:spcPct val="25000"/>
              </a:spcAft>
              <a:buSzPct val="60000"/>
              <a:buFont typeface="Wingdings" pitchFamily="2" charset="2"/>
              <a:buChar char="u"/>
            </a:pPr>
            <a:r>
              <a:rPr lang="zh-CN" altLang="en-US" sz="2400" b="1" dirty="0">
                <a:latin typeface="华文中宋" pitchFamily="2" charset="-122"/>
                <a:ea typeface="华文中宋" pitchFamily="2" charset="-122"/>
              </a:rPr>
              <a:t>流水线寄存器文件的</a:t>
            </a:r>
            <a:r>
              <a:rPr lang="zh-CN" altLang="en-US" sz="2400" b="1" dirty="0">
                <a:latin typeface="华文中宋" pitchFamily="2" charset="-122"/>
                <a:ea typeface="华文中宋" pitchFamily="2" charset="-122"/>
                <a:hlinkClick r:id="rId4" action="ppaction://hlinksldjump"/>
              </a:rPr>
              <a:t>命名</a:t>
            </a:r>
            <a:endParaRPr lang="zh-CN" altLang="en-US" sz="2400" b="1" dirty="0">
              <a:latin typeface="华文中宋" pitchFamily="2" charset="-122"/>
              <a:ea typeface="华文中宋" pitchFamily="2" charset="-122"/>
            </a:endParaRPr>
          </a:p>
          <a:p>
            <a:pPr lvl="1" eaLnBrk="1" hangingPunct="1">
              <a:spcBef>
                <a:spcPct val="25000"/>
              </a:spcBef>
              <a:spcAft>
                <a:spcPct val="25000"/>
              </a:spcAft>
              <a:buSzPct val="60000"/>
              <a:buFont typeface="Wingdings" pitchFamily="2" charset="2"/>
              <a:buChar char="u"/>
            </a:pPr>
            <a:r>
              <a:rPr lang="zh-CN" altLang="en-US" sz="2400" b="1" dirty="0">
                <a:latin typeface="华文中宋" pitchFamily="2" charset="-122"/>
                <a:ea typeface="华文中宋" pitchFamily="2" charset="-122"/>
              </a:rPr>
              <a:t>段</a:t>
            </a:r>
            <a:r>
              <a:rPr lang="en-US" altLang="zh-CN" sz="2400" b="1" dirty="0">
                <a:latin typeface="华文中宋" pitchFamily="2" charset="-122"/>
                <a:ea typeface="华文中宋" pitchFamily="2" charset="-122"/>
              </a:rPr>
              <a:t>A</a:t>
            </a:r>
            <a:r>
              <a:rPr lang="zh-CN" altLang="en-US" sz="2400" b="1" dirty="0">
                <a:latin typeface="华文中宋" pitchFamily="2" charset="-122"/>
                <a:ea typeface="华文中宋" pitchFamily="2" charset="-122"/>
              </a:rPr>
              <a:t>与</a:t>
            </a:r>
            <a:r>
              <a:rPr lang="en-US" altLang="zh-CN" sz="2400" b="1" dirty="0">
                <a:latin typeface="华文中宋" pitchFamily="2" charset="-122"/>
                <a:ea typeface="华文中宋" pitchFamily="2" charset="-122"/>
              </a:rPr>
              <a:t>B</a:t>
            </a:r>
            <a:r>
              <a:rPr lang="zh-CN" altLang="en-US" sz="2400" b="1" dirty="0">
                <a:latin typeface="华文中宋" pitchFamily="2" charset="-122"/>
                <a:ea typeface="华文中宋" pitchFamily="2" charset="-122"/>
              </a:rPr>
              <a:t>之间的流水线寄存器文件称为</a:t>
            </a:r>
            <a:r>
              <a:rPr lang="en-US" altLang="zh-CN" sz="2400" b="1" dirty="0">
                <a:latin typeface="华文中宋" pitchFamily="2" charset="-122"/>
                <a:ea typeface="华文中宋" pitchFamily="2" charset="-122"/>
              </a:rPr>
              <a:t>A/B</a:t>
            </a:r>
          </a:p>
          <a:p>
            <a:pPr lvl="1" eaLnBrk="1" hangingPunct="1">
              <a:spcBef>
                <a:spcPct val="25000"/>
              </a:spcBef>
              <a:spcAft>
                <a:spcPct val="25000"/>
              </a:spcAft>
              <a:buSzPct val="60000"/>
              <a:buFont typeface="Wingdings" pitchFamily="2" charset="2"/>
              <a:buChar char="u"/>
            </a:pPr>
            <a:r>
              <a:rPr lang="zh-CN" altLang="en-US" sz="2400" b="1" dirty="0">
                <a:latin typeface="华文中宋" pitchFamily="2" charset="-122"/>
                <a:ea typeface="华文中宋" pitchFamily="2" charset="-122"/>
                <a:hlinkClick r:id="rId5" action="ppaction://hlinksldjump"/>
              </a:rPr>
              <a:t>流水线寄存器的作用</a:t>
            </a:r>
            <a:endParaRPr lang="zh-CN" altLang="en-US" sz="2400" b="1" dirty="0">
              <a:latin typeface="华文中宋" pitchFamily="2" charset="-122"/>
              <a:ea typeface="华文中宋" pitchFamily="2" charset="-122"/>
            </a:endParaRPr>
          </a:p>
          <a:p>
            <a:pPr lvl="1" eaLnBrk="1" hangingPunct="1">
              <a:spcBef>
                <a:spcPct val="25000"/>
              </a:spcBef>
              <a:spcAft>
                <a:spcPct val="25000"/>
              </a:spcAft>
              <a:buSzPct val="60000"/>
              <a:buFont typeface="Wingdings" pitchFamily="2" charset="2"/>
              <a:buChar char="u"/>
            </a:pPr>
            <a:r>
              <a:rPr lang="zh-CN" altLang="en-US" sz="2400" b="1" dirty="0">
                <a:latin typeface="华文中宋" pitchFamily="2" charset="-122"/>
                <a:ea typeface="华文中宋" pitchFamily="2" charset="-122"/>
                <a:hlinkClick r:id="rId6" action="ppaction://hlinksldjump"/>
              </a:rPr>
              <a:t>流水线寄存器文件的构成</a:t>
            </a:r>
            <a:endParaRPr lang="zh-CN" altLang="en-US" sz="2400" b="1" dirty="0">
              <a:latin typeface="华文中宋" pitchFamily="2" charset="-122"/>
              <a:ea typeface="华文中宋" pitchFamily="2" charset="-122"/>
            </a:endParaRPr>
          </a:p>
        </p:txBody>
      </p:sp>
      <p:sp>
        <p:nvSpPr>
          <p:cNvPr id="2" name="日期占位符 1">
            <a:extLst>
              <a:ext uri="{FF2B5EF4-FFF2-40B4-BE49-F238E27FC236}">
                <a16:creationId xmlns:a16="http://schemas.microsoft.com/office/drawing/2014/main" id="{61178EF0-8F24-D1BD-001C-DD6701D324A9}"/>
              </a:ext>
            </a:extLst>
          </p:cNvPr>
          <p:cNvSpPr>
            <a:spLocks noGrp="1"/>
          </p:cNvSpPr>
          <p:nvPr>
            <p:ph type="dt" sz="half" idx="10"/>
          </p:nvPr>
        </p:nvSpPr>
        <p:spPr/>
        <p:txBody>
          <a:bodyPr/>
          <a:lstStyle/>
          <a:p>
            <a:pPr>
              <a:defRPr/>
            </a:pPr>
            <a:fld id="{EA519E6D-E1D7-4764-B6F9-84D7C8EE85EF}" type="datetime1">
              <a:rPr lang="zh-CN" altLang="en-US" smtClean="0"/>
              <a:t>2025/9/25</a:t>
            </a:fld>
            <a:endParaRPr lang="en-US" altLang="zh-CN"/>
          </a:p>
        </p:txBody>
      </p:sp>
      <p:sp>
        <p:nvSpPr>
          <p:cNvPr id="3" name="页脚占位符 2">
            <a:extLst>
              <a:ext uri="{FF2B5EF4-FFF2-40B4-BE49-F238E27FC236}">
                <a16:creationId xmlns:a16="http://schemas.microsoft.com/office/drawing/2014/main" id="{69419682-EC24-A51D-5F7D-D1E49DFF0352}"/>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4AF8D810-6354-EE94-B604-6F19826524A2}"/>
              </a:ext>
            </a:extLst>
          </p:cNvPr>
          <p:cNvSpPr>
            <a:spLocks noGrp="1"/>
          </p:cNvSpPr>
          <p:nvPr>
            <p:ph type="sldNum" sz="quarter" idx="12"/>
          </p:nvPr>
        </p:nvSpPr>
        <p:spPr/>
        <p:txBody>
          <a:bodyPr/>
          <a:lstStyle/>
          <a:p>
            <a:pPr>
              <a:defRPr/>
            </a:pPr>
            <a:fld id="{8BCAC33D-D29A-48B3-BCD6-381D3D720D26}" type="slidenum">
              <a:rPr lang="zh-CN" altLang="en-US" smtClean="0"/>
              <a:t>30</a:t>
            </a:fld>
            <a:endParaRPr lang="en-US" altLang="zh-CN"/>
          </a:p>
        </p:txBody>
      </p:sp>
    </p:spTree>
    <p:extLst>
      <p:ext uri="{BB962C8B-B14F-4D97-AF65-F5344CB8AC3E}">
        <p14:creationId xmlns:p14="http://schemas.microsoft.com/office/powerpoint/2010/main" val="2102154996"/>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611188" y="1196975"/>
            <a:ext cx="7488237"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b="1" dirty="0">
                <a:latin typeface="华文中宋" pitchFamily="2" charset="-122"/>
                <a:ea typeface="华文中宋" pitchFamily="2" charset="-122"/>
              </a:rPr>
              <a:t>3.MIPS</a:t>
            </a:r>
            <a:r>
              <a:rPr lang="zh-CN" altLang="en-US" sz="2800" b="1" dirty="0">
                <a:latin typeface="华文中宋" pitchFamily="2" charset="-122"/>
                <a:ea typeface="华文中宋" pitchFamily="2" charset="-122"/>
              </a:rPr>
              <a:t>流水线的操作</a:t>
            </a:r>
          </a:p>
          <a:p>
            <a:pPr eaLnBrk="1" hangingPunct="1">
              <a:spcBef>
                <a:spcPct val="100000"/>
              </a:spcBef>
            </a:pPr>
            <a:r>
              <a:rPr lang="zh-CN" altLang="en-US" sz="2400" b="1" dirty="0">
                <a:latin typeface="华文中宋" pitchFamily="2" charset="-122"/>
                <a:ea typeface="华文中宋" pitchFamily="2" charset="-122"/>
              </a:rPr>
              <a:t>	在任一时刻，流水中的指令仅在流水线中的某一段内执行操作。</a:t>
            </a:r>
          </a:p>
          <a:p>
            <a:pPr eaLnBrk="1" hangingPunct="1">
              <a:spcBef>
                <a:spcPct val="100000"/>
              </a:spcBef>
            </a:pPr>
            <a:r>
              <a:rPr lang="zh-CN" altLang="en-US" sz="2400" b="1" dirty="0">
                <a:latin typeface="华文中宋" pitchFamily="2" charset="-122"/>
                <a:ea typeface="华文中宋" pitchFamily="2" charset="-122"/>
              </a:rPr>
              <a:t>	因此，只要知道每一流水段在各指令下进行何种操作，就知道了整个流水线的操作。</a:t>
            </a:r>
          </a:p>
          <a:p>
            <a:pPr eaLnBrk="1" hangingPunct="1">
              <a:spcBef>
                <a:spcPct val="100000"/>
              </a:spcBef>
            </a:pPr>
            <a:r>
              <a:rPr lang="en-US" altLang="zh-CN" sz="2400" dirty="0">
                <a:latin typeface="华文中宋" pitchFamily="2" charset="-122"/>
                <a:ea typeface="华文中宋" pitchFamily="2" charset="-122"/>
              </a:rPr>
              <a:t>	</a:t>
            </a:r>
            <a:r>
              <a:rPr lang="zh-CN" altLang="en-US" sz="2400" dirty="0">
                <a:latin typeface="华文中宋" pitchFamily="2" charset="-122"/>
                <a:ea typeface="华文中宋" pitchFamily="2" charset="-122"/>
              </a:rPr>
              <a:t>下表</a:t>
            </a:r>
            <a:r>
              <a:rPr lang="zh-CN" altLang="en-US" sz="2400" b="1" dirty="0">
                <a:latin typeface="华文中宋" pitchFamily="2" charset="-122"/>
                <a:ea typeface="华文中宋" pitchFamily="2" charset="-122"/>
              </a:rPr>
              <a:t>给出了</a:t>
            </a:r>
            <a:r>
              <a:rPr lang="en-US" altLang="zh-CN" sz="2400" b="1" dirty="0">
                <a:latin typeface="华文中宋" pitchFamily="2" charset="-122"/>
                <a:ea typeface="华文中宋" pitchFamily="2" charset="-122"/>
                <a:hlinkClick r:id="rId3" action="ppaction://hlinksldjump"/>
              </a:rPr>
              <a:t>MIPS</a:t>
            </a:r>
            <a:r>
              <a:rPr lang="zh-CN" altLang="en-US" sz="2400" b="1" dirty="0">
                <a:latin typeface="华文中宋" pitchFamily="2" charset="-122"/>
                <a:ea typeface="华文中宋" pitchFamily="2" charset="-122"/>
                <a:hlinkClick r:id="rId3" action="ppaction://hlinksldjump"/>
              </a:rPr>
              <a:t>流水线中每一段的操作</a:t>
            </a:r>
            <a:endParaRPr lang="zh-CN" altLang="en-US" sz="2400" b="1" dirty="0">
              <a:latin typeface="华文中宋" pitchFamily="2" charset="-122"/>
              <a:ea typeface="华文中宋" pitchFamily="2" charset="-122"/>
            </a:endParaRPr>
          </a:p>
        </p:txBody>
      </p:sp>
      <p:sp>
        <p:nvSpPr>
          <p:cNvPr id="2" name="日期占位符 1">
            <a:extLst>
              <a:ext uri="{FF2B5EF4-FFF2-40B4-BE49-F238E27FC236}">
                <a16:creationId xmlns:a16="http://schemas.microsoft.com/office/drawing/2014/main" id="{4D67A4FB-AA63-798A-C174-9D959A569FDF}"/>
              </a:ext>
            </a:extLst>
          </p:cNvPr>
          <p:cNvSpPr>
            <a:spLocks noGrp="1"/>
          </p:cNvSpPr>
          <p:nvPr>
            <p:ph type="dt" sz="half" idx="10"/>
          </p:nvPr>
        </p:nvSpPr>
        <p:spPr/>
        <p:txBody>
          <a:bodyPr/>
          <a:lstStyle/>
          <a:p>
            <a:pPr>
              <a:defRPr/>
            </a:pPr>
            <a:fld id="{E0087323-6CD7-4060-A7DD-0BB9DC3B5BB4}" type="datetime1">
              <a:rPr lang="zh-CN" altLang="en-US" smtClean="0"/>
              <a:t>2025/9/25</a:t>
            </a:fld>
            <a:endParaRPr lang="en-US" altLang="zh-CN"/>
          </a:p>
        </p:txBody>
      </p:sp>
      <p:sp>
        <p:nvSpPr>
          <p:cNvPr id="3" name="页脚占位符 2">
            <a:extLst>
              <a:ext uri="{FF2B5EF4-FFF2-40B4-BE49-F238E27FC236}">
                <a16:creationId xmlns:a16="http://schemas.microsoft.com/office/drawing/2014/main" id="{47630751-A22F-1ADA-0637-2D436738D425}"/>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0B6332EE-33F3-FE5D-04A0-E87E0BCEC147}"/>
              </a:ext>
            </a:extLst>
          </p:cNvPr>
          <p:cNvSpPr>
            <a:spLocks noGrp="1"/>
          </p:cNvSpPr>
          <p:nvPr>
            <p:ph type="sldNum" sz="quarter" idx="12"/>
          </p:nvPr>
        </p:nvSpPr>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2319283061"/>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611188" y="1268413"/>
            <a:ext cx="7488237"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pPr>
            <a:r>
              <a:rPr lang="en-US" altLang="zh-CN" sz="2800" b="1" dirty="0">
                <a:latin typeface="华文中宋" pitchFamily="2" charset="-122"/>
                <a:ea typeface="华文中宋" pitchFamily="2" charset="-122"/>
              </a:rPr>
              <a:t>4.MIPS</a:t>
            </a:r>
            <a:r>
              <a:rPr lang="zh-CN" altLang="en-US" sz="2800" b="1" dirty="0">
                <a:latin typeface="华文中宋" pitchFamily="2" charset="-122"/>
                <a:ea typeface="华文中宋" pitchFamily="2" charset="-122"/>
              </a:rPr>
              <a:t>流水线中多路选择器的控制</a:t>
            </a:r>
          </a:p>
          <a:p>
            <a:pPr eaLnBrk="1" hangingPunct="1">
              <a:spcBef>
                <a:spcPct val="100000"/>
              </a:spcBef>
            </a:pPr>
            <a:r>
              <a:rPr lang="zh-CN" altLang="en-US" sz="2800" dirty="0">
                <a:latin typeface="华文中宋" pitchFamily="2" charset="-122"/>
                <a:ea typeface="华文中宋" pitchFamily="2" charset="-122"/>
              </a:rPr>
              <a:t>	</a:t>
            </a:r>
            <a:r>
              <a:rPr lang="zh-CN" altLang="en-US" sz="2400" b="1" dirty="0">
                <a:latin typeface="华文中宋" pitchFamily="2" charset="-122"/>
                <a:ea typeface="华文中宋" pitchFamily="2" charset="-122"/>
              </a:rPr>
              <a:t>主要是确定</a:t>
            </a:r>
            <a:r>
              <a:rPr lang="zh-CN" altLang="en-US" sz="2400" b="1" dirty="0">
                <a:latin typeface="华文中宋" pitchFamily="2" charset="-122"/>
                <a:ea typeface="华文中宋" pitchFamily="2" charset="-122"/>
                <a:hlinkClick r:id="rId3" action="ppaction://hlinksldjump"/>
              </a:rPr>
              <a:t>如何控制那四个多路选择器</a:t>
            </a:r>
            <a:r>
              <a:rPr lang="zh-CN" altLang="en-US" sz="2400" b="1" dirty="0">
                <a:latin typeface="华文中宋" pitchFamily="2" charset="-122"/>
                <a:ea typeface="华文中宋" pitchFamily="2" charset="-122"/>
              </a:rPr>
              <a:t>：</a:t>
            </a:r>
          </a:p>
          <a:p>
            <a:pPr lvl="1" eaLnBrk="1" hangingPunct="1">
              <a:spcBef>
                <a:spcPct val="100000"/>
              </a:spcBef>
              <a:buSzPct val="60000"/>
              <a:buFont typeface="Wingdings" pitchFamily="2" charset="2"/>
              <a:buChar char="u"/>
            </a:pPr>
            <a:r>
              <a:rPr lang="en-US" altLang="zh-CN" sz="2400" b="1" dirty="0">
                <a:latin typeface="华文中宋" pitchFamily="2" charset="-122"/>
                <a:ea typeface="华文中宋" pitchFamily="2" charset="-122"/>
              </a:rPr>
              <a:t>ALU</a:t>
            </a:r>
            <a:r>
              <a:rPr lang="zh-CN" altLang="en-US" sz="2400" b="1" dirty="0">
                <a:latin typeface="华文中宋" pitchFamily="2" charset="-122"/>
                <a:ea typeface="华文中宋" pitchFamily="2" charset="-122"/>
              </a:rPr>
              <a:t>输入端的两个</a:t>
            </a:r>
            <a:r>
              <a:rPr lang="en-US" altLang="zh-CN" sz="2400" b="1" dirty="0">
                <a:latin typeface="华文中宋" pitchFamily="2" charset="-122"/>
                <a:ea typeface="华文中宋" pitchFamily="2" charset="-122"/>
              </a:rPr>
              <a:t>MUX</a:t>
            </a:r>
            <a:r>
              <a:rPr lang="zh-CN" altLang="en-US" sz="2400" b="1" dirty="0">
                <a:latin typeface="华文中宋" pitchFamily="2" charset="-122"/>
                <a:ea typeface="华文中宋" pitchFamily="2" charset="-122"/>
              </a:rPr>
              <a:t>由</a:t>
            </a:r>
            <a:r>
              <a:rPr lang="en-US" altLang="zh-CN" sz="2400" b="1" dirty="0">
                <a:latin typeface="华文中宋" pitchFamily="2" charset="-122"/>
                <a:ea typeface="华文中宋" pitchFamily="2" charset="-122"/>
              </a:rPr>
              <a:t>ID/EX.IR</a:t>
            </a:r>
            <a:r>
              <a:rPr lang="zh-CN" altLang="en-US" sz="2400" b="1" dirty="0">
                <a:latin typeface="华文中宋" pitchFamily="2" charset="-122"/>
                <a:ea typeface="华文中宋" pitchFamily="2" charset="-122"/>
              </a:rPr>
              <a:t>所指出的指令类型控制</a:t>
            </a:r>
          </a:p>
          <a:p>
            <a:pPr lvl="1" eaLnBrk="1" hangingPunct="1">
              <a:spcBef>
                <a:spcPct val="100000"/>
              </a:spcBef>
              <a:buSzPct val="60000"/>
              <a:buFont typeface="Wingdings" pitchFamily="2" charset="2"/>
              <a:buChar char="u"/>
            </a:pPr>
            <a:r>
              <a:rPr lang="en-US" altLang="zh-CN" sz="2400" b="1" dirty="0">
                <a:latin typeface="华文中宋" pitchFamily="2" charset="-122"/>
                <a:ea typeface="华文中宋" pitchFamily="2" charset="-122"/>
              </a:rPr>
              <a:t>IF</a:t>
            </a:r>
            <a:r>
              <a:rPr lang="zh-CN" altLang="en-US" sz="2400" b="1" dirty="0">
                <a:latin typeface="华文中宋" pitchFamily="2" charset="-122"/>
                <a:ea typeface="华文中宋" pitchFamily="2" charset="-122"/>
              </a:rPr>
              <a:t>段的</a:t>
            </a:r>
            <a:r>
              <a:rPr lang="en-US" altLang="zh-CN" sz="2400" b="1" dirty="0">
                <a:latin typeface="华文中宋" pitchFamily="2" charset="-122"/>
                <a:ea typeface="华文中宋" pitchFamily="2" charset="-122"/>
              </a:rPr>
              <a:t>MUX</a:t>
            </a:r>
            <a:r>
              <a:rPr lang="zh-CN" altLang="en-US" sz="2400" b="1" dirty="0">
                <a:latin typeface="华文中宋" pitchFamily="2" charset="-122"/>
                <a:ea typeface="华文中宋" pitchFamily="2" charset="-122"/>
              </a:rPr>
              <a:t>由</a:t>
            </a:r>
            <a:r>
              <a:rPr lang="en-US" altLang="zh-CN" sz="2400" b="1" dirty="0">
                <a:latin typeface="华文中宋" pitchFamily="2" charset="-122"/>
                <a:ea typeface="华文中宋" pitchFamily="2" charset="-122"/>
              </a:rPr>
              <a:t>EX/</a:t>
            </a:r>
            <a:r>
              <a:rPr lang="en-US" altLang="zh-CN" sz="2400" b="1" dirty="0" err="1">
                <a:latin typeface="华文中宋" pitchFamily="2" charset="-122"/>
                <a:ea typeface="华文中宋" pitchFamily="2" charset="-122"/>
              </a:rPr>
              <a:t>MEM.Cond</a:t>
            </a:r>
            <a:r>
              <a:rPr lang="zh-CN" altLang="en-US" sz="2400" b="1" dirty="0">
                <a:latin typeface="华文中宋" pitchFamily="2" charset="-122"/>
                <a:ea typeface="华文中宋" pitchFamily="2" charset="-122"/>
              </a:rPr>
              <a:t>域的值控制</a:t>
            </a:r>
          </a:p>
          <a:p>
            <a:pPr lvl="1" eaLnBrk="1" hangingPunct="1">
              <a:spcBef>
                <a:spcPct val="100000"/>
              </a:spcBef>
              <a:buSzPct val="60000"/>
              <a:buFont typeface="Wingdings" pitchFamily="2" charset="2"/>
              <a:buChar char="u"/>
            </a:pPr>
            <a:r>
              <a:rPr lang="en-US" altLang="zh-CN" sz="2400" b="1" dirty="0">
                <a:latin typeface="华文中宋" pitchFamily="2" charset="-122"/>
                <a:ea typeface="华文中宋" pitchFamily="2" charset="-122"/>
              </a:rPr>
              <a:t>WB</a:t>
            </a:r>
            <a:r>
              <a:rPr lang="zh-CN" altLang="en-US" sz="2400" b="1" dirty="0">
                <a:latin typeface="华文中宋" pitchFamily="2" charset="-122"/>
                <a:ea typeface="华文中宋" pitchFamily="2" charset="-122"/>
              </a:rPr>
              <a:t>段的</a:t>
            </a:r>
            <a:r>
              <a:rPr lang="en-US" altLang="zh-CN" sz="2400" b="1" dirty="0">
                <a:latin typeface="华文中宋" pitchFamily="2" charset="-122"/>
                <a:ea typeface="华文中宋" pitchFamily="2" charset="-122"/>
              </a:rPr>
              <a:t>MUX</a:t>
            </a:r>
            <a:r>
              <a:rPr lang="zh-CN" altLang="en-US" sz="2400" b="1" dirty="0">
                <a:latin typeface="华文中宋" pitchFamily="2" charset="-122"/>
                <a:ea typeface="华文中宋" pitchFamily="2" charset="-122"/>
              </a:rPr>
              <a:t>由当前指令类型</a:t>
            </a:r>
            <a:r>
              <a:rPr lang="en-US" altLang="zh-CN" sz="2400" b="1" dirty="0">
                <a:latin typeface="华文中宋" pitchFamily="2" charset="-122"/>
                <a:ea typeface="华文中宋" pitchFamily="2" charset="-122"/>
              </a:rPr>
              <a:t>(Load/ALU)</a:t>
            </a:r>
            <a:r>
              <a:rPr lang="zh-CN" altLang="en-US" sz="2400" b="1" dirty="0">
                <a:latin typeface="华文中宋" pitchFamily="2" charset="-122"/>
                <a:ea typeface="华文中宋" pitchFamily="2" charset="-122"/>
              </a:rPr>
              <a:t>控制</a:t>
            </a:r>
          </a:p>
        </p:txBody>
      </p:sp>
      <p:sp>
        <p:nvSpPr>
          <p:cNvPr id="2" name="日期占位符 1">
            <a:extLst>
              <a:ext uri="{FF2B5EF4-FFF2-40B4-BE49-F238E27FC236}">
                <a16:creationId xmlns:a16="http://schemas.microsoft.com/office/drawing/2014/main" id="{176F15B0-A643-901C-2EB4-613B96D0939F}"/>
              </a:ext>
            </a:extLst>
          </p:cNvPr>
          <p:cNvSpPr>
            <a:spLocks noGrp="1"/>
          </p:cNvSpPr>
          <p:nvPr>
            <p:ph type="dt" sz="half" idx="10"/>
          </p:nvPr>
        </p:nvSpPr>
        <p:spPr/>
        <p:txBody>
          <a:bodyPr/>
          <a:lstStyle/>
          <a:p>
            <a:pPr>
              <a:defRPr/>
            </a:pPr>
            <a:fld id="{1084139B-8F7A-4C05-A831-77EA9A4A3A9B}" type="datetime1">
              <a:rPr lang="zh-CN" altLang="en-US" smtClean="0"/>
              <a:t>2025/9/25</a:t>
            </a:fld>
            <a:endParaRPr lang="en-US" altLang="zh-CN"/>
          </a:p>
        </p:txBody>
      </p:sp>
      <p:sp>
        <p:nvSpPr>
          <p:cNvPr id="3" name="页脚占位符 2">
            <a:extLst>
              <a:ext uri="{FF2B5EF4-FFF2-40B4-BE49-F238E27FC236}">
                <a16:creationId xmlns:a16="http://schemas.microsoft.com/office/drawing/2014/main" id="{9DF69B4A-6251-0221-747F-B0321F0CA897}"/>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11C363EB-A6ED-C435-8532-16338EC50DBF}"/>
              </a:ext>
            </a:extLst>
          </p:cNvPr>
          <p:cNvSpPr>
            <a:spLocks noGrp="1"/>
          </p:cNvSpPr>
          <p:nvPr>
            <p:ph type="sldNum" sz="quarter" idx="12"/>
          </p:nvPr>
        </p:nvSpPr>
        <p:spPr/>
        <p:txBody>
          <a:bodyPr/>
          <a:lstStyle/>
          <a:p>
            <a:pPr>
              <a:defRPr/>
            </a:pPr>
            <a:fld id="{8BCAC33D-D29A-48B3-BCD6-381D3D720D26}" type="slidenum">
              <a:rPr lang="zh-CN" altLang="en-US" smtClean="0"/>
              <a:t>32</a:t>
            </a:fld>
            <a:endParaRPr lang="en-US" altLang="zh-CN"/>
          </a:p>
        </p:txBody>
      </p:sp>
    </p:spTree>
    <p:extLst>
      <p:ext uri="{BB962C8B-B14F-4D97-AF65-F5344CB8AC3E}">
        <p14:creationId xmlns:p14="http://schemas.microsoft.com/office/powerpoint/2010/main" val="2944262278"/>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arch11">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350"/>
            <a:ext cx="9144000" cy="685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D2E1C58F-97CF-BF54-115C-87DB7FD43B7E}"/>
              </a:ext>
            </a:extLst>
          </p:cNvPr>
          <p:cNvSpPr>
            <a:spLocks noGrp="1"/>
          </p:cNvSpPr>
          <p:nvPr>
            <p:ph type="dt" sz="half" idx="10"/>
          </p:nvPr>
        </p:nvSpPr>
        <p:spPr/>
        <p:txBody>
          <a:bodyPr/>
          <a:lstStyle/>
          <a:p>
            <a:pPr>
              <a:defRPr/>
            </a:pPr>
            <a:fld id="{8FDE74FE-EEC5-43E8-AD75-122488E01F68}" type="datetime1">
              <a:rPr lang="zh-CN" altLang="en-US" smtClean="0"/>
              <a:t>2025/9/25</a:t>
            </a:fld>
            <a:endParaRPr lang="en-US" altLang="zh-CN"/>
          </a:p>
        </p:txBody>
      </p:sp>
      <p:sp>
        <p:nvSpPr>
          <p:cNvPr id="3" name="页脚占位符 2">
            <a:extLst>
              <a:ext uri="{FF2B5EF4-FFF2-40B4-BE49-F238E27FC236}">
                <a16:creationId xmlns:a16="http://schemas.microsoft.com/office/drawing/2014/main" id="{97B6A811-8472-4639-E9B7-45C75FFF89B9}"/>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593EE657-90B5-6528-289E-B44482C2119F}"/>
              </a:ext>
            </a:extLst>
          </p:cNvPr>
          <p:cNvSpPr>
            <a:spLocks noGrp="1"/>
          </p:cNvSpPr>
          <p:nvPr>
            <p:ph type="sldNum" sz="quarter" idx="12"/>
          </p:nvPr>
        </p:nvSpPr>
        <p:spPr/>
        <p:txBody>
          <a:bodyPr/>
          <a:lstStyle/>
          <a:p>
            <a:pPr>
              <a:defRPr/>
            </a:pPr>
            <a:fld id="{65B7EA61-351E-4105-9AD9-76D38C6E9934}" type="slidenum">
              <a:rPr lang="zh-CN" altLang="en-US" smtClean="0"/>
              <a:t>33</a:t>
            </a:fld>
            <a:endParaRPr lang="en-US" altLang="zh-CN"/>
          </a:p>
        </p:txBody>
      </p:sp>
    </p:spTree>
    <p:extLst>
      <p:ext uri="{BB962C8B-B14F-4D97-AF65-F5344CB8AC3E}">
        <p14:creationId xmlns:p14="http://schemas.microsoft.com/office/powerpoint/2010/main" val="569808505"/>
      </p:ext>
    </p:extLst>
  </p:cSld>
  <p:clrMapOvr>
    <a:masterClrMapping/>
  </p:clrMapOvr>
  <p:transition spd="slow"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arch12">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AutoShape 3">
            <a:hlinkClick r:id="rId5" action="ppaction://hlinksldjump" highlightClick="1"/>
          </p:cNvPr>
          <p:cNvSpPr>
            <a:spLocks noChangeArrowheads="1"/>
          </p:cNvSpPr>
          <p:nvPr/>
        </p:nvSpPr>
        <p:spPr bwMode="auto">
          <a:xfrm>
            <a:off x="7423150" y="549275"/>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E8BED746-0025-39AE-9525-1FFEE5170886}"/>
              </a:ext>
            </a:extLst>
          </p:cNvPr>
          <p:cNvSpPr>
            <a:spLocks noGrp="1"/>
          </p:cNvSpPr>
          <p:nvPr>
            <p:ph type="dt" sz="half" idx="10"/>
          </p:nvPr>
        </p:nvSpPr>
        <p:spPr/>
        <p:txBody>
          <a:bodyPr/>
          <a:lstStyle/>
          <a:p>
            <a:pPr>
              <a:defRPr/>
            </a:pPr>
            <a:fld id="{1A88C6BF-4038-4AB5-95CE-3871D5EBE1C0}" type="datetime1">
              <a:rPr lang="zh-CN" altLang="en-US" smtClean="0"/>
              <a:t>2025/9/25</a:t>
            </a:fld>
            <a:endParaRPr lang="en-US" altLang="zh-CN"/>
          </a:p>
        </p:txBody>
      </p:sp>
      <p:sp>
        <p:nvSpPr>
          <p:cNvPr id="3" name="页脚占位符 2">
            <a:extLst>
              <a:ext uri="{FF2B5EF4-FFF2-40B4-BE49-F238E27FC236}">
                <a16:creationId xmlns:a16="http://schemas.microsoft.com/office/drawing/2014/main" id="{790EC4BA-2FD9-1790-1F95-D9AFDCCBD6AE}"/>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C46CF916-9A62-0706-6AB3-BA49CF4F82F7}"/>
              </a:ext>
            </a:extLst>
          </p:cNvPr>
          <p:cNvSpPr>
            <a:spLocks noGrp="1"/>
          </p:cNvSpPr>
          <p:nvPr>
            <p:ph type="sldNum" sz="quarter" idx="12"/>
          </p:nvPr>
        </p:nvSpPr>
        <p:spPr/>
        <p:txBody>
          <a:bodyPr/>
          <a:lstStyle/>
          <a:p>
            <a:pPr>
              <a:defRPr/>
            </a:pPr>
            <a:fld id="{65B7EA61-351E-4105-9AD9-76D38C6E9934}" type="slidenum">
              <a:rPr lang="zh-CN" altLang="en-US" smtClean="0"/>
              <a:t>34</a:t>
            </a:fld>
            <a:endParaRPr lang="en-US" altLang="zh-CN"/>
          </a:p>
        </p:txBody>
      </p:sp>
    </p:spTree>
    <p:extLst>
      <p:ext uri="{BB962C8B-B14F-4D97-AF65-F5344CB8AC3E}">
        <p14:creationId xmlns:p14="http://schemas.microsoft.com/office/powerpoint/2010/main" val="885206071"/>
      </p:ext>
    </p:extLst>
  </p:cSld>
  <p:clrMapOvr>
    <a:masterClrMapping/>
  </p:clrMapOvr>
  <p:transition spd="slow"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2" name="Picture 2" descr="arch13">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2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AutoShape 3">
            <a:hlinkClick r:id="rId3" action="ppaction://hlinksldjump" highlightClick="1"/>
          </p:cNvPr>
          <p:cNvSpPr>
            <a:spLocks noChangeArrowheads="1"/>
          </p:cNvSpPr>
          <p:nvPr/>
        </p:nvSpPr>
        <p:spPr bwMode="auto">
          <a:xfrm>
            <a:off x="7423150" y="549275"/>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F18CDCF2-4FC3-9927-8FF3-1F63BC5597EB}"/>
              </a:ext>
            </a:extLst>
          </p:cNvPr>
          <p:cNvSpPr>
            <a:spLocks noGrp="1"/>
          </p:cNvSpPr>
          <p:nvPr>
            <p:ph type="dt" sz="half" idx="10"/>
          </p:nvPr>
        </p:nvSpPr>
        <p:spPr/>
        <p:txBody>
          <a:bodyPr/>
          <a:lstStyle/>
          <a:p>
            <a:pPr>
              <a:defRPr/>
            </a:pPr>
            <a:fld id="{31C80A05-EE1B-4D88-B8C1-12EB94E9BF82}" type="datetime1">
              <a:rPr lang="zh-CN" altLang="en-US" smtClean="0"/>
              <a:t>2025/9/25</a:t>
            </a:fld>
            <a:endParaRPr lang="en-US" altLang="zh-CN"/>
          </a:p>
        </p:txBody>
      </p:sp>
      <p:sp>
        <p:nvSpPr>
          <p:cNvPr id="3" name="页脚占位符 2">
            <a:extLst>
              <a:ext uri="{FF2B5EF4-FFF2-40B4-BE49-F238E27FC236}">
                <a16:creationId xmlns:a16="http://schemas.microsoft.com/office/drawing/2014/main" id="{806CA8B5-25AF-6017-2311-97AAE954EE67}"/>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604E58FE-591C-BD62-9DF1-DC645790CABD}"/>
              </a:ext>
            </a:extLst>
          </p:cNvPr>
          <p:cNvSpPr>
            <a:spLocks noGrp="1"/>
          </p:cNvSpPr>
          <p:nvPr>
            <p:ph type="sldNum" sz="quarter" idx="12"/>
          </p:nvPr>
        </p:nvSpPr>
        <p:spPr/>
        <p:txBody>
          <a:bodyPr/>
          <a:lstStyle/>
          <a:p>
            <a:pPr>
              <a:defRPr/>
            </a:pPr>
            <a:fld id="{65B7EA61-351E-4105-9AD9-76D38C6E9934}" type="slidenum">
              <a:rPr lang="zh-CN" altLang="en-US" smtClean="0"/>
              <a:t>35</a:t>
            </a:fld>
            <a:endParaRPr lang="en-US" altLang="zh-CN"/>
          </a:p>
        </p:txBody>
      </p:sp>
    </p:spTree>
    <p:extLst>
      <p:ext uri="{BB962C8B-B14F-4D97-AF65-F5344CB8AC3E}">
        <p14:creationId xmlns:p14="http://schemas.microsoft.com/office/powerpoint/2010/main" val="1675629990"/>
      </p:ext>
    </p:extLst>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194562"/>
                                        </p:tgtEl>
                                      </p:cBhvr>
                                      <p:by x="150000" y="150000"/>
                                    </p:animScale>
                                  </p:childTnLst>
                                </p:cTn>
                              </p:par>
                              <p:par>
                                <p:cTn id="7" presetID="63" presetClass="path" presetSubtype="0" accel="50000" decel="50000" fill="hold" nodeType="withEffect">
                                  <p:stCondLst>
                                    <p:cond delay="0"/>
                                  </p:stCondLst>
                                  <p:childTnLst>
                                    <p:animMotion origin="layout" path="M 0 0  L 0.25 0  E" pathEditMode="relative" ptsTypes="">
                                      <p:cBhvr>
                                        <p:cTn id="8" dur="2000" fill="hold"/>
                                        <p:tgtEl>
                                          <p:spTgt spid="194562"/>
                                        </p:tgtEl>
                                        <p:attrNameLst>
                                          <p:attrName>ppt_x</p:attrName>
                                          <p:attrName>ppt_y</p:attrName>
                                        </p:attrNameLst>
                                      </p:cBhvr>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35" presetClass="path" presetSubtype="0" accel="50000" decel="50000" fill="hold" nodeType="clickEffect">
                                  <p:stCondLst>
                                    <p:cond delay="0"/>
                                  </p:stCondLst>
                                  <p:childTnLst>
                                    <p:animMotion origin="layout" path="M 0 4.81481E-6 L -0.10243 -0.10278 " pathEditMode="relative" rAng="0" ptsTypes="AA">
                                      <p:cBhvr>
                                        <p:cTn id="12" dur="2000" fill="hold"/>
                                        <p:tgtEl>
                                          <p:spTgt spid="194562"/>
                                        </p:tgtEl>
                                        <p:attrNameLst>
                                          <p:attrName>ppt_x</p:attrName>
                                          <p:attrName>ppt_y</p:attrName>
                                        </p:attrNameLst>
                                      </p:cBhvr>
                                      <p:rCtr x="-5122" y="-5139"/>
                                    </p:animMotion>
                                  </p:childTnLst>
                                </p:cTn>
                              </p:par>
                            </p:childTnLst>
                          </p:cTn>
                        </p:par>
                      </p:childTnLst>
                    </p:cTn>
                  </p:par>
                  <p:par>
                    <p:cTn id="13" fill="hold" nodeType="clickPar">
                      <p:stCondLst>
                        <p:cond delay="indefinite"/>
                      </p:stCondLst>
                      <p:childTnLst>
                        <p:par>
                          <p:cTn id="14" fill="hold" nodeType="withGroup">
                            <p:stCondLst>
                              <p:cond delay="0"/>
                            </p:stCondLst>
                            <p:childTnLst>
                              <p:par>
                                <p:cTn id="15" presetID="35" presetClass="path" presetSubtype="0" accel="50000" decel="50000" fill="hold" nodeType="clickEffect">
                                  <p:stCondLst>
                                    <p:cond delay="0"/>
                                  </p:stCondLst>
                                  <p:childTnLst>
                                    <p:animMotion origin="layout" path="M 0 4.81481E-6 L -0.2283 -0.13426 " pathEditMode="relative" rAng="0" ptsTypes="AA">
                                      <p:cBhvr>
                                        <p:cTn id="16" dur="2000" fill="hold"/>
                                        <p:tgtEl>
                                          <p:spTgt spid="194562"/>
                                        </p:tgtEl>
                                        <p:attrNameLst>
                                          <p:attrName>ppt_x</p:attrName>
                                          <p:attrName>ppt_y</p:attrName>
                                        </p:attrNameLst>
                                      </p:cBhvr>
                                      <p:rCtr x="-11424" y="-671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3"/>
          <p:cNvSpPr txBox="1">
            <a:spLocks noChangeArrowheads="1"/>
          </p:cNvSpPr>
          <p:nvPr/>
        </p:nvSpPr>
        <p:spPr bwMode="auto">
          <a:xfrm>
            <a:off x="2484438" y="450850"/>
            <a:ext cx="3436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400" b="1">
                <a:latin typeface="仿宋_GB2312"/>
                <a:ea typeface="仿宋_GB2312"/>
                <a:cs typeface="仿宋_GB2312"/>
              </a:rPr>
              <a:t> </a:t>
            </a:r>
            <a:r>
              <a:rPr lang="zh-CN" altLang="en-US" sz="2400" b="1">
                <a:latin typeface="仿宋_GB2312"/>
                <a:ea typeface="仿宋_GB2312"/>
                <a:cs typeface="仿宋_GB2312"/>
              </a:rPr>
              <a:t>一种简单的</a:t>
            </a:r>
            <a:r>
              <a:rPr lang="en-US" altLang="zh-CN" sz="2400" b="1">
                <a:latin typeface="仿宋_GB2312"/>
                <a:ea typeface="仿宋_GB2312"/>
                <a:cs typeface="仿宋_GB2312"/>
              </a:rPr>
              <a:t>MIPS</a:t>
            </a:r>
            <a:r>
              <a:rPr lang="zh-CN" altLang="en-US" sz="2400" b="1">
                <a:latin typeface="仿宋_GB2312"/>
                <a:ea typeface="仿宋_GB2312"/>
                <a:cs typeface="仿宋_GB2312"/>
              </a:rPr>
              <a:t>流水线</a:t>
            </a:r>
          </a:p>
        </p:txBody>
      </p:sp>
      <p:sp>
        <p:nvSpPr>
          <p:cNvPr id="48131" name="AutoShape 4">
            <a:hlinkClick r:id="rId3" action="ppaction://hlinksldjump" highlightClick="1"/>
          </p:cNvPr>
          <p:cNvSpPr>
            <a:spLocks noChangeArrowheads="1"/>
          </p:cNvSpPr>
          <p:nvPr/>
        </p:nvSpPr>
        <p:spPr bwMode="auto">
          <a:xfrm>
            <a:off x="7740650" y="549275"/>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graphicFrame>
        <p:nvGraphicFramePr>
          <p:cNvPr id="192968" name="Group 456"/>
          <p:cNvGraphicFramePr>
            <a:graphicFrameLocks noGrp="1"/>
          </p:cNvGraphicFramePr>
          <p:nvPr>
            <p:extLst>
              <p:ext uri="{D42A27DB-BD31-4B8C-83A1-F6EECF244321}">
                <p14:modId xmlns:p14="http://schemas.microsoft.com/office/powerpoint/2010/main" val="2865577399"/>
              </p:ext>
            </p:extLst>
          </p:nvPr>
        </p:nvGraphicFramePr>
        <p:xfrm>
          <a:off x="684213" y="1268413"/>
          <a:ext cx="7848600" cy="2987677"/>
        </p:xfrm>
        <a:graphic>
          <a:graphicData uri="http://schemas.openxmlformats.org/drawingml/2006/table">
            <a:tbl>
              <a:tblPr/>
              <a:tblGrid>
                <a:gridCol w="1584325">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719138">
                  <a:extLst>
                    <a:ext uri="{9D8B030D-6E8A-4147-A177-3AD203B41FA5}">
                      <a16:colId xmlns:a16="http://schemas.microsoft.com/office/drawing/2014/main" val="20005"/>
                    </a:ext>
                  </a:extLst>
                </a:gridCol>
                <a:gridCol w="720725">
                  <a:extLst>
                    <a:ext uri="{9D8B030D-6E8A-4147-A177-3AD203B41FA5}">
                      <a16:colId xmlns:a16="http://schemas.microsoft.com/office/drawing/2014/main" val="20006"/>
                    </a:ext>
                  </a:extLst>
                </a:gridCol>
                <a:gridCol w="720725">
                  <a:extLst>
                    <a:ext uri="{9D8B030D-6E8A-4147-A177-3AD203B41FA5}">
                      <a16:colId xmlns:a16="http://schemas.microsoft.com/office/drawing/2014/main" val="20007"/>
                    </a:ext>
                  </a:extLst>
                </a:gridCol>
                <a:gridCol w="790575">
                  <a:extLst>
                    <a:ext uri="{9D8B030D-6E8A-4147-A177-3AD203B41FA5}">
                      <a16:colId xmlns:a16="http://schemas.microsoft.com/office/drawing/2014/main" val="20008"/>
                    </a:ext>
                  </a:extLst>
                </a:gridCol>
                <a:gridCol w="504825">
                  <a:extLst>
                    <a:ext uri="{9D8B030D-6E8A-4147-A177-3AD203B41FA5}">
                      <a16:colId xmlns:a16="http://schemas.microsoft.com/office/drawing/2014/main" val="20009"/>
                    </a:ext>
                  </a:extLst>
                </a:gridCol>
              </a:tblGrid>
              <a:tr h="426811">
                <a:tc rowSpan="2">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2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指令编号</a:t>
                      </a: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gridSpan="9">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时钟周期</a:t>
                      </a: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26811">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1</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2</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3</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4</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5</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6</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7</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8</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9</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1"/>
                  </a:ext>
                </a:extLst>
              </a:tr>
              <a:tr h="426811">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指令</a:t>
                      </a: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IF</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ID</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EX</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MEM</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WB</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2"/>
                  </a:ext>
                </a:extLst>
              </a:tr>
              <a:tr h="426811">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指令</a:t>
                      </a: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i+1</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IF</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ID</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EX</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MEM</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WB</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3"/>
                  </a:ext>
                </a:extLst>
              </a:tr>
              <a:tr h="426811">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指令</a:t>
                      </a: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i+2</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IF</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ID</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EX</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MEM</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WB</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4"/>
                  </a:ext>
                </a:extLst>
              </a:tr>
              <a:tr h="426811">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指令</a:t>
                      </a:r>
                      <a:r>
                        <a:rPr kumimoji="0" lang="en-US" altLang="zh-CN" sz="22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i+3</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IF</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ID</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EX</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MEM</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WB</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5"/>
                  </a:ext>
                </a:extLst>
              </a:tr>
              <a:tr h="426811">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2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指令</a:t>
                      </a:r>
                      <a:r>
                        <a:rPr kumimoji="0" lang="en-US" altLang="zh-CN" sz="22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i+4</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000" b="0" i="0" u="none" strike="noStrike" cap="none" normalizeH="0" baseline="0">
                        <a:ln>
                          <a:noFill/>
                        </a:ln>
                        <a:solidFill>
                          <a:srgbClr val="000000"/>
                        </a:solidFill>
                        <a:effectLst/>
                        <a:latin typeface="楷体_GB2312" pitchFamily="49" charset="-122"/>
                        <a:ea typeface="楷体_GB2312" pitchFamily="49" charset="-122"/>
                      </a:endParaRP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a:ln>
                            <a:noFill/>
                          </a:ln>
                          <a:solidFill>
                            <a:srgbClr val="000000"/>
                          </a:solidFill>
                          <a:effectLst/>
                          <a:latin typeface="楷体_GB2312" pitchFamily="49" charset="-122"/>
                          <a:ea typeface="楷体_GB2312" pitchFamily="49" charset="-122"/>
                          <a:cs typeface="Times New Roman" pitchFamily="18" charset="0"/>
                        </a:rPr>
                        <a:t>IF</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ID</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EX</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MEM</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rgbClr val="000000"/>
                          </a:solidFill>
                          <a:effectLst/>
                          <a:latin typeface="楷体_GB2312" pitchFamily="49" charset="-122"/>
                          <a:ea typeface="楷体_GB2312" pitchFamily="49" charset="-122"/>
                          <a:cs typeface="Times New Roman" pitchFamily="18" charset="0"/>
                        </a:rPr>
                        <a:t>WB</a:t>
                      </a:r>
                    </a:p>
                  </a:txBody>
                  <a:tcPr marT="45730" marB="4573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27870374"/>
      </p:ext>
    </p:extLst>
  </p:cSld>
  <p:clrMapOvr>
    <a:masterClrMapping/>
  </p:clrMapOvr>
  <p:transition>
    <p:pull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arch25">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AutoShape 4">
            <a:hlinkClick r:id="rId3" action="ppaction://hlinksldjump" highlightClick="1"/>
          </p:cNvPr>
          <p:cNvSpPr>
            <a:spLocks noChangeArrowheads="1"/>
          </p:cNvSpPr>
          <p:nvPr/>
        </p:nvSpPr>
        <p:spPr bwMode="auto">
          <a:xfrm>
            <a:off x="8007350" y="387350"/>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77E19467-23E8-6457-D504-F5C56D764B92}"/>
              </a:ext>
            </a:extLst>
          </p:cNvPr>
          <p:cNvSpPr>
            <a:spLocks noGrp="1"/>
          </p:cNvSpPr>
          <p:nvPr>
            <p:ph type="dt" sz="half" idx="10"/>
          </p:nvPr>
        </p:nvSpPr>
        <p:spPr/>
        <p:txBody>
          <a:bodyPr/>
          <a:lstStyle/>
          <a:p>
            <a:pPr>
              <a:defRPr/>
            </a:pPr>
            <a:fld id="{A377F6AC-6657-44CC-89A6-CE4CB1EC76B2}" type="datetime1">
              <a:rPr lang="zh-CN" altLang="en-US" smtClean="0"/>
              <a:t>2025/9/25</a:t>
            </a:fld>
            <a:endParaRPr lang="en-US" altLang="zh-CN"/>
          </a:p>
        </p:txBody>
      </p:sp>
      <p:sp>
        <p:nvSpPr>
          <p:cNvPr id="3" name="页脚占位符 2">
            <a:extLst>
              <a:ext uri="{FF2B5EF4-FFF2-40B4-BE49-F238E27FC236}">
                <a16:creationId xmlns:a16="http://schemas.microsoft.com/office/drawing/2014/main" id="{97DC3BBE-9992-1C1B-7F11-7E83BE58096D}"/>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8705E8D1-EC69-A6BC-1DBD-9D2E60C8FEC4}"/>
              </a:ext>
            </a:extLst>
          </p:cNvPr>
          <p:cNvSpPr>
            <a:spLocks noGrp="1"/>
          </p:cNvSpPr>
          <p:nvPr>
            <p:ph type="sldNum" sz="quarter" idx="12"/>
          </p:nvPr>
        </p:nvSpPr>
        <p:spPr/>
        <p:txBody>
          <a:bodyPr/>
          <a:lstStyle/>
          <a:p>
            <a:pPr>
              <a:defRPr/>
            </a:pPr>
            <a:fld id="{65B7EA61-351E-4105-9AD9-76D38C6E9934}" type="slidenum">
              <a:rPr lang="zh-CN" altLang="en-US" smtClean="0"/>
              <a:t>37</a:t>
            </a:fld>
            <a:endParaRPr lang="en-US" altLang="zh-CN"/>
          </a:p>
        </p:txBody>
      </p:sp>
    </p:spTree>
    <p:extLst>
      <p:ext uri="{BB962C8B-B14F-4D97-AF65-F5344CB8AC3E}">
        <p14:creationId xmlns:p14="http://schemas.microsoft.com/office/powerpoint/2010/main" val="1764927427"/>
      </p:ext>
    </p:extLst>
  </p:cSld>
  <p:clrMapOvr>
    <a:masterClrMapping/>
  </p:clrMapOvr>
  <p:transition spd="slow"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426" name="Picture 2" descr="arch26">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685800"/>
            <a:ext cx="7543800" cy="548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AutoShape 4">
            <a:hlinkClick r:id="rId3" action="ppaction://hlinksldjump" highlightClick="1"/>
          </p:cNvPr>
          <p:cNvSpPr>
            <a:spLocks noChangeArrowheads="1"/>
          </p:cNvSpPr>
          <p:nvPr/>
        </p:nvSpPr>
        <p:spPr bwMode="auto">
          <a:xfrm>
            <a:off x="7458075" y="836613"/>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67628048-49A9-44DC-D054-8E9DB6DB6C3F}"/>
              </a:ext>
            </a:extLst>
          </p:cNvPr>
          <p:cNvSpPr>
            <a:spLocks noGrp="1"/>
          </p:cNvSpPr>
          <p:nvPr>
            <p:ph type="dt" sz="half" idx="10"/>
          </p:nvPr>
        </p:nvSpPr>
        <p:spPr/>
        <p:txBody>
          <a:bodyPr/>
          <a:lstStyle/>
          <a:p>
            <a:pPr>
              <a:defRPr/>
            </a:pPr>
            <a:fld id="{CFE34AED-184C-4C47-895E-6AF32987F352}" type="datetime1">
              <a:rPr lang="zh-CN" altLang="en-US" smtClean="0"/>
              <a:t>2025/9/25</a:t>
            </a:fld>
            <a:endParaRPr lang="en-US" altLang="zh-CN"/>
          </a:p>
        </p:txBody>
      </p:sp>
      <p:sp>
        <p:nvSpPr>
          <p:cNvPr id="3" name="页脚占位符 2">
            <a:extLst>
              <a:ext uri="{FF2B5EF4-FFF2-40B4-BE49-F238E27FC236}">
                <a16:creationId xmlns:a16="http://schemas.microsoft.com/office/drawing/2014/main" id="{051B1CCF-C749-5EA2-DF15-57B70A15B9FA}"/>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C8516A61-7796-CA12-415A-469DF7BCB063}"/>
              </a:ext>
            </a:extLst>
          </p:cNvPr>
          <p:cNvSpPr>
            <a:spLocks noGrp="1"/>
          </p:cNvSpPr>
          <p:nvPr>
            <p:ph type="sldNum" sz="quarter" idx="12"/>
          </p:nvPr>
        </p:nvSpPr>
        <p:spPr/>
        <p:txBody>
          <a:bodyPr/>
          <a:lstStyle/>
          <a:p>
            <a:pPr>
              <a:defRPr/>
            </a:pPr>
            <a:fld id="{65B7EA61-351E-4105-9AD9-76D38C6E9934}" type="slidenum">
              <a:rPr lang="zh-CN" altLang="en-US" smtClean="0"/>
              <a:t>38</a:t>
            </a:fld>
            <a:endParaRPr lang="en-US" altLang="zh-CN"/>
          </a:p>
        </p:txBody>
      </p:sp>
    </p:spTree>
    <p:extLst>
      <p:ext uri="{BB962C8B-B14F-4D97-AF65-F5344CB8AC3E}">
        <p14:creationId xmlns:p14="http://schemas.microsoft.com/office/powerpoint/2010/main" val="2999873671"/>
      </p:ext>
    </p:extLst>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231426"/>
                                        </p:tgtEl>
                                      </p:cBhvr>
                                      <p:by x="180000" y="180000"/>
                                    </p:animScale>
                                  </p:childTnLst>
                                </p:cTn>
                              </p:par>
                              <p:par>
                                <p:cTn id="7" presetID="63" presetClass="path" presetSubtype="0" accel="50000" decel="50000" fill="hold" nodeType="withEffect">
                                  <p:stCondLst>
                                    <p:cond delay="0"/>
                                  </p:stCondLst>
                                  <p:childTnLst>
                                    <p:animMotion origin="layout" path="M 0 0  L 0.25 0  E" pathEditMode="relative" ptsTypes="">
                                      <p:cBhvr>
                                        <p:cTn id="8" dur="500" fill="hold"/>
                                        <p:tgtEl>
                                          <p:spTgt spid="2314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474" name="Picture 2" descr="arch27">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481012"/>
            <a:ext cx="7391400" cy="53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AutoShape 4">
            <a:hlinkClick r:id="rId3" action="ppaction://hlinksldjump" highlightClick="1"/>
          </p:cNvPr>
          <p:cNvSpPr>
            <a:spLocks noChangeArrowheads="1"/>
          </p:cNvSpPr>
          <p:nvPr/>
        </p:nvSpPr>
        <p:spPr bwMode="auto">
          <a:xfrm>
            <a:off x="7308850" y="981075"/>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26A0D33A-4F1A-1E7B-FF3E-B5EAD88E2BB2}"/>
              </a:ext>
            </a:extLst>
          </p:cNvPr>
          <p:cNvSpPr>
            <a:spLocks noGrp="1"/>
          </p:cNvSpPr>
          <p:nvPr>
            <p:ph type="dt" sz="half" idx="10"/>
          </p:nvPr>
        </p:nvSpPr>
        <p:spPr/>
        <p:txBody>
          <a:bodyPr/>
          <a:lstStyle/>
          <a:p>
            <a:pPr>
              <a:defRPr/>
            </a:pPr>
            <a:fld id="{7F7DF37C-4E43-44FE-965F-93F3BBA7FB03}" type="datetime1">
              <a:rPr lang="zh-CN" altLang="en-US" smtClean="0"/>
              <a:t>2025/9/25</a:t>
            </a:fld>
            <a:endParaRPr lang="en-US" altLang="zh-CN"/>
          </a:p>
        </p:txBody>
      </p:sp>
      <p:sp>
        <p:nvSpPr>
          <p:cNvPr id="3" name="页脚占位符 2">
            <a:extLst>
              <a:ext uri="{FF2B5EF4-FFF2-40B4-BE49-F238E27FC236}">
                <a16:creationId xmlns:a16="http://schemas.microsoft.com/office/drawing/2014/main" id="{956F01CE-DFE3-8303-2D25-2D5CEF0A12D7}"/>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62536B01-4C5B-A060-05BC-E8FBCBD498C0}"/>
              </a:ext>
            </a:extLst>
          </p:cNvPr>
          <p:cNvSpPr>
            <a:spLocks noGrp="1"/>
          </p:cNvSpPr>
          <p:nvPr>
            <p:ph type="sldNum" sz="quarter" idx="12"/>
          </p:nvPr>
        </p:nvSpPr>
        <p:spPr/>
        <p:txBody>
          <a:bodyPr/>
          <a:lstStyle/>
          <a:p>
            <a:pPr>
              <a:defRPr/>
            </a:pPr>
            <a:fld id="{65B7EA61-351E-4105-9AD9-76D38C6E9934}" type="slidenum">
              <a:rPr lang="zh-CN" altLang="en-US" smtClean="0"/>
              <a:t>39</a:t>
            </a:fld>
            <a:endParaRPr lang="en-US" altLang="zh-CN"/>
          </a:p>
        </p:txBody>
      </p:sp>
    </p:spTree>
    <p:extLst>
      <p:ext uri="{BB962C8B-B14F-4D97-AF65-F5344CB8AC3E}">
        <p14:creationId xmlns:p14="http://schemas.microsoft.com/office/powerpoint/2010/main" val="3976969873"/>
      </p:ext>
    </p:extLst>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233474"/>
                                        </p:tgtEl>
                                      </p:cBhvr>
                                      <p:by x="180000" y="180000"/>
                                    </p:animScale>
                                  </p:childTnLst>
                                </p:cTn>
                              </p:par>
                              <p:par>
                                <p:cTn id="7" presetID="35" presetClass="path" presetSubtype="0" accel="50000" decel="50000" fill="hold" nodeType="withEffect">
                                  <p:stCondLst>
                                    <p:cond delay="0"/>
                                  </p:stCondLst>
                                  <p:childTnLst>
                                    <p:animMotion origin="layout" path="M 3.33333E-6 4.07407E-6 L -0.14549 -0.0051 " pathEditMode="relative" rAng="0" ptsTypes="AA">
                                      <p:cBhvr>
                                        <p:cTn id="8" dur="500" fill="hold"/>
                                        <p:tgtEl>
                                          <p:spTgt spid="233474"/>
                                        </p:tgtEl>
                                        <p:attrNameLst>
                                          <p:attrName>ppt_x</p:attrName>
                                          <p:attrName>ppt_y</p:attrName>
                                        </p:attrNameLst>
                                      </p:cBhvr>
                                      <p:rCtr x="-7274"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2" name="Picture 2" descr="arch28">
            <a:hlinkClick r:id="rId3" action="ppaction://hlinksldjump"/>
            <a:extLst>
              <a:ext uri="{FF2B5EF4-FFF2-40B4-BE49-F238E27FC236}">
                <a16:creationId xmlns:a16="http://schemas.microsoft.com/office/drawing/2014/main" id="{B465241A-111C-48D3-9FE6-DC707DE28E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990600"/>
            <a:ext cx="7772400"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733748C4-0626-1EB3-E17A-1959F2024B81}"/>
              </a:ext>
            </a:extLst>
          </p:cNvPr>
          <p:cNvSpPr>
            <a:spLocks noGrp="1"/>
          </p:cNvSpPr>
          <p:nvPr>
            <p:ph type="dt" sz="half" idx="10"/>
          </p:nvPr>
        </p:nvSpPr>
        <p:spPr/>
        <p:txBody>
          <a:bodyPr/>
          <a:lstStyle/>
          <a:p>
            <a:pPr>
              <a:defRPr/>
            </a:pPr>
            <a:fld id="{B4A62FC8-3B5B-40E5-B9A0-6FA7FC7B8603}" type="datetime1">
              <a:rPr lang="zh-CN" altLang="en-US" smtClean="0"/>
              <a:t>2025/9/25</a:t>
            </a:fld>
            <a:endParaRPr lang="en-US" altLang="zh-CN"/>
          </a:p>
        </p:txBody>
      </p:sp>
      <p:sp>
        <p:nvSpPr>
          <p:cNvPr id="3" name="页脚占位符 2">
            <a:extLst>
              <a:ext uri="{FF2B5EF4-FFF2-40B4-BE49-F238E27FC236}">
                <a16:creationId xmlns:a16="http://schemas.microsoft.com/office/drawing/2014/main" id="{D82670AC-6636-D4B2-A2A7-72CF1A50DD76}"/>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3CC0C483-7FAA-D5DE-D013-2477CE787D7D}"/>
              </a:ext>
            </a:extLst>
          </p:cNvPr>
          <p:cNvSpPr>
            <a:spLocks noGrp="1"/>
          </p:cNvSpPr>
          <p:nvPr>
            <p:ph type="sldNum" sz="quarter" idx="12"/>
          </p:nvPr>
        </p:nvSpPr>
        <p:spPr/>
        <p:txBody>
          <a:bodyPr/>
          <a:lstStyle/>
          <a:p>
            <a:pPr>
              <a:defRPr/>
            </a:pPr>
            <a:fld id="{65B7EA61-351E-4105-9AD9-76D38C6E9934}" type="slidenum">
              <a:rPr lang="zh-CN" altLang="en-US" smtClean="0"/>
              <a:t>40</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235522"/>
                                        </p:tgtEl>
                                      </p:cBhvr>
                                      <p:by x="180000" y="18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path" presetSubtype="0" accel="50000" decel="50000" fill="hold" nodeType="clickEffect">
                                  <p:stCondLst>
                                    <p:cond delay="0"/>
                                  </p:stCondLst>
                                  <p:childTnLst>
                                    <p:animMotion origin="layout" path="M -3.33333E-6 7.40741E-7 L 0.21216 -0.00509 " pathEditMode="relative" rAng="0" ptsTypes="AA">
                                      <p:cBhvr>
                                        <p:cTn id="10" dur="500" fill="hold"/>
                                        <p:tgtEl>
                                          <p:spTgt spid="235522"/>
                                        </p:tgtEl>
                                        <p:attrNameLst>
                                          <p:attrName>ppt_x</p:attrName>
                                          <p:attrName>ppt_y</p:attrName>
                                        </p:attrNameLst>
                                      </p:cBhvr>
                                      <p:rCtr x="10608"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arch29">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8" y="-26988"/>
            <a:ext cx="9144000"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1" name="AutoShape 4">
            <a:hlinkClick r:id="rId5" action="ppaction://hlinksldjump" highlightClick="1"/>
          </p:cNvPr>
          <p:cNvSpPr>
            <a:spLocks noChangeArrowheads="1"/>
          </p:cNvSpPr>
          <p:nvPr/>
        </p:nvSpPr>
        <p:spPr bwMode="auto">
          <a:xfrm>
            <a:off x="7883525" y="381000"/>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AFDDFC96-1E63-CF01-EF09-A092F5C341CD}"/>
              </a:ext>
            </a:extLst>
          </p:cNvPr>
          <p:cNvSpPr>
            <a:spLocks noGrp="1"/>
          </p:cNvSpPr>
          <p:nvPr>
            <p:ph type="dt" sz="half" idx="10"/>
          </p:nvPr>
        </p:nvSpPr>
        <p:spPr/>
        <p:txBody>
          <a:bodyPr/>
          <a:lstStyle/>
          <a:p>
            <a:pPr>
              <a:defRPr/>
            </a:pPr>
            <a:fld id="{762A97DE-5AC1-42AB-A414-2431BC116D8C}" type="datetime1">
              <a:rPr lang="zh-CN" altLang="en-US" smtClean="0"/>
              <a:t>2025/9/25</a:t>
            </a:fld>
            <a:endParaRPr lang="en-US" altLang="zh-CN"/>
          </a:p>
        </p:txBody>
      </p:sp>
      <p:sp>
        <p:nvSpPr>
          <p:cNvPr id="3" name="页脚占位符 2">
            <a:extLst>
              <a:ext uri="{FF2B5EF4-FFF2-40B4-BE49-F238E27FC236}">
                <a16:creationId xmlns:a16="http://schemas.microsoft.com/office/drawing/2014/main" id="{EE368A39-96D2-99AB-F54D-B7B2EB993280}"/>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4AC9D55E-01F5-F387-E1AB-B112CA8249D1}"/>
              </a:ext>
            </a:extLst>
          </p:cNvPr>
          <p:cNvSpPr>
            <a:spLocks noGrp="1"/>
          </p:cNvSpPr>
          <p:nvPr>
            <p:ph type="sldNum" sz="quarter" idx="12"/>
          </p:nvPr>
        </p:nvSpPr>
        <p:spPr/>
        <p:txBody>
          <a:bodyPr/>
          <a:lstStyle/>
          <a:p>
            <a:pPr>
              <a:defRPr/>
            </a:pPr>
            <a:fld id="{65B7EA61-351E-4105-9AD9-76D38C6E9934}" type="slidenum">
              <a:rPr lang="zh-CN" altLang="en-US" smtClean="0"/>
              <a:t>41</a:t>
            </a:fld>
            <a:endParaRPr lang="en-US" altLang="zh-CN"/>
          </a:p>
        </p:txBody>
      </p:sp>
    </p:spTree>
    <p:extLst>
      <p:ext uri="{BB962C8B-B14F-4D97-AF65-F5344CB8AC3E}">
        <p14:creationId xmlns:p14="http://schemas.microsoft.com/office/powerpoint/2010/main" val="2520133265"/>
      </p:ext>
    </p:extLst>
  </p:cSld>
  <p:clrMapOvr>
    <a:masterClrMapping/>
  </p:clrMapOvr>
  <p:transition spd="slow"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arch30">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4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D720BB7E-5296-891A-535B-83AE61A89685}"/>
              </a:ext>
            </a:extLst>
          </p:cNvPr>
          <p:cNvSpPr>
            <a:spLocks noGrp="1"/>
          </p:cNvSpPr>
          <p:nvPr>
            <p:ph type="dt" sz="half" idx="10"/>
          </p:nvPr>
        </p:nvSpPr>
        <p:spPr/>
        <p:txBody>
          <a:bodyPr/>
          <a:lstStyle/>
          <a:p>
            <a:pPr>
              <a:defRPr/>
            </a:pPr>
            <a:fld id="{C168D835-5100-45AE-AC5A-75B460F405CB}" type="datetime1">
              <a:rPr lang="zh-CN" altLang="en-US" smtClean="0"/>
              <a:t>2025/9/25</a:t>
            </a:fld>
            <a:endParaRPr lang="en-US" altLang="zh-CN"/>
          </a:p>
        </p:txBody>
      </p:sp>
      <p:sp>
        <p:nvSpPr>
          <p:cNvPr id="3" name="页脚占位符 2">
            <a:extLst>
              <a:ext uri="{FF2B5EF4-FFF2-40B4-BE49-F238E27FC236}">
                <a16:creationId xmlns:a16="http://schemas.microsoft.com/office/drawing/2014/main" id="{10F46D91-90D9-FC04-0894-37B50A76F788}"/>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258D281D-6CE0-5115-95E1-0FF64D86FD98}"/>
              </a:ext>
            </a:extLst>
          </p:cNvPr>
          <p:cNvSpPr>
            <a:spLocks noGrp="1"/>
          </p:cNvSpPr>
          <p:nvPr>
            <p:ph type="sldNum" sz="quarter" idx="12"/>
          </p:nvPr>
        </p:nvSpPr>
        <p:spPr/>
        <p:txBody>
          <a:bodyPr/>
          <a:lstStyle/>
          <a:p>
            <a:pPr>
              <a:defRPr/>
            </a:pPr>
            <a:fld id="{65B7EA61-351E-4105-9AD9-76D38C6E9934}" type="slidenum">
              <a:rPr lang="zh-CN" altLang="en-US" smtClean="0"/>
              <a:t>42</a:t>
            </a:fld>
            <a:endParaRPr lang="en-US" altLang="zh-CN"/>
          </a:p>
        </p:txBody>
      </p:sp>
    </p:spTree>
    <p:extLst>
      <p:ext uri="{BB962C8B-B14F-4D97-AF65-F5344CB8AC3E}">
        <p14:creationId xmlns:p14="http://schemas.microsoft.com/office/powerpoint/2010/main" val="3645546122"/>
      </p:ext>
    </p:extLst>
  </p:cSld>
  <p:clrMapOvr>
    <a:masterClrMapping/>
  </p:clrMapOvr>
  <p:transition spd="slow"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arch31">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27FA044C-C1BD-B69D-88F4-E30064E3573F}"/>
              </a:ext>
            </a:extLst>
          </p:cNvPr>
          <p:cNvSpPr>
            <a:spLocks noGrp="1"/>
          </p:cNvSpPr>
          <p:nvPr>
            <p:ph type="dt" sz="half" idx="10"/>
          </p:nvPr>
        </p:nvSpPr>
        <p:spPr/>
        <p:txBody>
          <a:bodyPr/>
          <a:lstStyle/>
          <a:p>
            <a:pPr>
              <a:defRPr/>
            </a:pPr>
            <a:fld id="{FCF187A0-FB2F-4CEE-8E85-54B7454C924E}" type="datetime1">
              <a:rPr lang="zh-CN" altLang="en-US" smtClean="0"/>
              <a:t>2025/9/25</a:t>
            </a:fld>
            <a:endParaRPr lang="en-US" altLang="zh-CN"/>
          </a:p>
        </p:txBody>
      </p:sp>
      <p:sp>
        <p:nvSpPr>
          <p:cNvPr id="3" name="页脚占位符 2">
            <a:extLst>
              <a:ext uri="{FF2B5EF4-FFF2-40B4-BE49-F238E27FC236}">
                <a16:creationId xmlns:a16="http://schemas.microsoft.com/office/drawing/2014/main" id="{76590074-25D0-EF36-D6E4-CC47E320F02D}"/>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91B35C08-C0EC-D63E-D3AA-FBBF75AAF2B8}"/>
              </a:ext>
            </a:extLst>
          </p:cNvPr>
          <p:cNvSpPr>
            <a:spLocks noGrp="1"/>
          </p:cNvSpPr>
          <p:nvPr>
            <p:ph type="sldNum" sz="quarter" idx="12"/>
          </p:nvPr>
        </p:nvSpPr>
        <p:spPr/>
        <p:txBody>
          <a:bodyPr/>
          <a:lstStyle/>
          <a:p>
            <a:pPr>
              <a:defRPr/>
            </a:pPr>
            <a:fld id="{65B7EA61-351E-4105-9AD9-76D38C6E9934}" type="slidenum">
              <a:rPr lang="zh-CN" altLang="en-US" smtClean="0"/>
              <a:t>43</a:t>
            </a:fld>
            <a:endParaRPr lang="en-US" altLang="zh-CN"/>
          </a:p>
        </p:txBody>
      </p:sp>
    </p:spTree>
    <p:extLst>
      <p:ext uri="{BB962C8B-B14F-4D97-AF65-F5344CB8AC3E}">
        <p14:creationId xmlns:p14="http://schemas.microsoft.com/office/powerpoint/2010/main" val="1209123857"/>
      </p:ext>
    </p:extLst>
  </p:cSld>
  <p:clrMapOvr>
    <a:masterClrMapping/>
  </p:clrMapOvr>
  <p:transition spd="slow"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714" name="Picture 2" descr="arch32">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914400"/>
            <a:ext cx="7620000"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454E76A1-76C2-E10C-6093-BC0C6AB2827D}"/>
              </a:ext>
            </a:extLst>
          </p:cNvPr>
          <p:cNvSpPr>
            <a:spLocks noGrp="1"/>
          </p:cNvSpPr>
          <p:nvPr>
            <p:ph type="dt" sz="half" idx="10"/>
          </p:nvPr>
        </p:nvSpPr>
        <p:spPr/>
        <p:txBody>
          <a:bodyPr/>
          <a:lstStyle/>
          <a:p>
            <a:pPr>
              <a:defRPr/>
            </a:pPr>
            <a:fld id="{070DC2D1-8FF8-4CB6-82ED-5EE08A25D350}" type="datetime1">
              <a:rPr lang="zh-CN" altLang="en-US" smtClean="0"/>
              <a:t>2025/9/25</a:t>
            </a:fld>
            <a:endParaRPr lang="en-US" altLang="zh-CN"/>
          </a:p>
        </p:txBody>
      </p:sp>
      <p:sp>
        <p:nvSpPr>
          <p:cNvPr id="3" name="页脚占位符 2">
            <a:extLst>
              <a:ext uri="{FF2B5EF4-FFF2-40B4-BE49-F238E27FC236}">
                <a16:creationId xmlns:a16="http://schemas.microsoft.com/office/drawing/2014/main" id="{952F03E3-71FF-4F92-6D26-B0946BF5FC8E}"/>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122652FC-6C08-14FA-B1EF-F12C4B6440E7}"/>
              </a:ext>
            </a:extLst>
          </p:cNvPr>
          <p:cNvSpPr>
            <a:spLocks noGrp="1"/>
          </p:cNvSpPr>
          <p:nvPr>
            <p:ph type="sldNum" sz="quarter" idx="12"/>
          </p:nvPr>
        </p:nvSpPr>
        <p:spPr/>
        <p:txBody>
          <a:bodyPr/>
          <a:lstStyle/>
          <a:p>
            <a:pPr>
              <a:defRPr/>
            </a:pPr>
            <a:fld id="{65B7EA61-351E-4105-9AD9-76D38C6E9934}" type="slidenum">
              <a:rPr lang="zh-CN" altLang="en-US" smtClean="0"/>
              <a:t>44</a:t>
            </a:fld>
            <a:endParaRPr lang="en-US" altLang="zh-CN"/>
          </a:p>
        </p:txBody>
      </p:sp>
    </p:spTree>
    <p:extLst>
      <p:ext uri="{BB962C8B-B14F-4D97-AF65-F5344CB8AC3E}">
        <p14:creationId xmlns:p14="http://schemas.microsoft.com/office/powerpoint/2010/main" val="636969528"/>
      </p:ext>
    </p:extLst>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243714"/>
                                        </p:tgtEl>
                                      </p:cBhvr>
                                      <p:by x="180000" y="18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63" presetClass="path" presetSubtype="0" accel="50000" decel="50000" fill="hold" nodeType="clickEffect">
                                  <p:stCondLst>
                                    <p:cond delay="0"/>
                                  </p:stCondLst>
                                  <p:childTnLst>
                                    <p:animMotion origin="layout" path="M -3.33333E-6 2.96296E-6 L 0.26736 -0.14861 " pathEditMode="relative" rAng="0" ptsTypes="AA">
                                      <p:cBhvr>
                                        <p:cTn id="10" dur="2000" fill="hold"/>
                                        <p:tgtEl>
                                          <p:spTgt spid="243714"/>
                                        </p:tgtEl>
                                        <p:attrNameLst>
                                          <p:attrName>ppt_x</p:attrName>
                                          <p:attrName>ppt_y</p:attrName>
                                        </p:attrNameLst>
                                      </p:cBhvr>
                                      <p:rCtr x="13368" y="-7431"/>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path" presetSubtype="0" accel="50000" decel="50000" fill="hold" nodeType="clickEffect">
                                  <p:stCondLst>
                                    <p:cond delay="0"/>
                                  </p:stCondLst>
                                  <p:childTnLst>
                                    <p:animMotion origin="layout" path="M -3.33333E-6 2.96296E-6 L -0.23663 -0.06459 " pathEditMode="relative" rAng="0" ptsTypes="AA">
                                      <p:cBhvr>
                                        <p:cTn id="14" dur="2000" fill="hold"/>
                                        <p:tgtEl>
                                          <p:spTgt spid="243714"/>
                                        </p:tgtEl>
                                        <p:attrNameLst>
                                          <p:attrName>ppt_x</p:attrName>
                                          <p:attrName>ppt_y</p:attrName>
                                        </p:attrNameLst>
                                      </p:cBhvr>
                                      <p:rCtr x="-11840" y="-32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1"/>
          <p:cNvGrpSpPr>
            <a:grpSpLocks/>
          </p:cNvGrpSpPr>
          <p:nvPr/>
        </p:nvGrpSpPr>
        <p:grpSpPr bwMode="auto">
          <a:xfrm>
            <a:off x="266700" y="84138"/>
            <a:ext cx="8877300" cy="6432550"/>
            <a:chOff x="168" y="53"/>
            <a:chExt cx="5592" cy="4052"/>
          </a:xfrm>
        </p:grpSpPr>
        <p:sp>
          <p:nvSpPr>
            <p:cNvPr id="57349" name="Text Box 3"/>
            <p:cNvSpPr txBox="1">
              <a:spLocks noChangeArrowheads="1"/>
            </p:cNvSpPr>
            <p:nvPr/>
          </p:nvSpPr>
          <p:spPr bwMode="auto">
            <a:xfrm>
              <a:off x="168" y="381"/>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zh-CN" altLang="en-US" sz="1800" b="1">
                  <a:solidFill>
                    <a:schemeClr val="accent2"/>
                  </a:solidFill>
                  <a:latin typeface="宋体" pitchFamily="2" charset="-122"/>
                  <a:ea typeface="华文中宋" pitchFamily="2" charset="-122"/>
                </a:rPr>
                <a:t>流水段</a:t>
              </a:r>
              <a:endParaRPr kumimoji="1" lang="zh-CN" altLang="en-US" sz="1800" b="1">
                <a:solidFill>
                  <a:schemeClr val="accent2"/>
                </a:solidFill>
                <a:latin typeface="Times New Roman" pitchFamily="18" charset="0"/>
                <a:ea typeface="华文中宋" pitchFamily="2" charset="-122"/>
              </a:endParaRPr>
            </a:p>
          </p:txBody>
        </p:sp>
        <p:sp>
          <p:nvSpPr>
            <p:cNvPr id="57350" name="Text Box 4"/>
            <p:cNvSpPr txBox="1">
              <a:spLocks noChangeArrowheads="1"/>
            </p:cNvSpPr>
            <p:nvPr/>
          </p:nvSpPr>
          <p:spPr bwMode="auto">
            <a:xfrm>
              <a:off x="1546" y="53"/>
              <a:ext cx="34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2400" b="1" dirty="0">
                  <a:solidFill>
                    <a:srgbClr val="003366"/>
                  </a:solidFill>
                  <a:latin typeface="华文中宋" pitchFamily="2" charset="-122"/>
                  <a:ea typeface="华文中宋" pitchFamily="2" charset="-122"/>
                </a:rPr>
                <a:t>MIPS</a:t>
              </a:r>
              <a:r>
                <a:rPr kumimoji="1" lang="zh-CN" altLang="en-US" sz="2400" b="1" dirty="0">
                  <a:solidFill>
                    <a:srgbClr val="003366"/>
                  </a:solidFill>
                  <a:latin typeface="华文中宋" pitchFamily="2" charset="-122"/>
                  <a:ea typeface="华文中宋" pitchFamily="2" charset="-122"/>
                </a:rPr>
                <a:t>流水线的每个流水段的操作</a:t>
              </a:r>
            </a:p>
          </p:txBody>
        </p:sp>
        <p:sp>
          <p:nvSpPr>
            <p:cNvPr id="57351" name="Text Box 5"/>
            <p:cNvSpPr txBox="1">
              <a:spLocks noChangeArrowheads="1"/>
            </p:cNvSpPr>
            <p:nvPr/>
          </p:nvSpPr>
          <p:spPr bwMode="auto">
            <a:xfrm>
              <a:off x="2592" y="381"/>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zh-CN" altLang="en-US" sz="1800" b="1">
                  <a:solidFill>
                    <a:schemeClr val="accent2"/>
                  </a:solidFill>
                  <a:latin typeface="宋体" pitchFamily="2" charset="-122"/>
                  <a:ea typeface="华文中宋" pitchFamily="2" charset="-122"/>
                </a:rPr>
                <a:t>任何指令类型</a:t>
              </a:r>
              <a:endParaRPr kumimoji="1" lang="zh-CN" altLang="en-US" sz="1800" b="1">
                <a:solidFill>
                  <a:schemeClr val="accent2"/>
                </a:solidFill>
                <a:latin typeface="Times New Roman" pitchFamily="18" charset="0"/>
                <a:ea typeface="华文中宋" pitchFamily="2" charset="-122"/>
              </a:endParaRPr>
            </a:p>
          </p:txBody>
        </p:sp>
        <p:sp>
          <p:nvSpPr>
            <p:cNvPr id="57352" name="Line 6"/>
            <p:cNvSpPr>
              <a:spLocks noChangeShapeType="1"/>
            </p:cNvSpPr>
            <p:nvPr/>
          </p:nvSpPr>
          <p:spPr bwMode="auto">
            <a:xfrm>
              <a:off x="2400" y="2109"/>
              <a:ext cx="0" cy="19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53" name="Line 7"/>
            <p:cNvSpPr>
              <a:spLocks noChangeShapeType="1"/>
            </p:cNvSpPr>
            <p:nvPr/>
          </p:nvSpPr>
          <p:spPr bwMode="auto">
            <a:xfrm>
              <a:off x="4080" y="2109"/>
              <a:ext cx="0" cy="19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54" name="Text Box 8"/>
            <p:cNvSpPr txBox="1">
              <a:spLocks noChangeArrowheads="1"/>
            </p:cNvSpPr>
            <p:nvPr/>
          </p:nvSpPr>
          <p:spPr bwMode="auto">
            <a:xfrm>
              <a:off x="1152" y="2148"/>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华文中宋" pitchFamily="2" charset="-122"/>
                  <a:ea typeface="华文中宋" pitchFamily="2" charset="-122"/>
                </a:rPr>
                <a:t>ALU </a:t>
              </a:r>
              <a:r>
                <a:rPr kumimoji="1" lang="zh-CN" altLang="en-US" sz="1800" b="1">
                  <a:solidFill>
                    <a:schemeClr val="accent2"/>
                  </a:solidFill>
                  <a:latin typeface="华文中宋" pitchFamily="2" charset="-122"/>
                  <a:ea typeface="华文中宋" pitchFamily="2" charset="-122"/>
                </a:rPr>
                <a:t>指令</a:t>
              </a:r>
            </a:p>
          </p:txBody>
        </p:sp>
        <p:sp>
          <p:nvSpPr>
            <p:cNvPr id="57355" name="Text Box 9"/>
            <p:cNvSpPr txBox="1">
              <a:spLocks noChangeArrowheads="1"/>
            </p:cNvSpPr>
            <p:nvPr/>
          </p:nvSpPr>
          <p:spPr bwMode="auto">
            <a:xfrm>
              <a:off x="2616" y="2136"/>
              <a:ext cx="13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华文中宋" pitchFamily="2" charset="-122"/>
                  <a:ea typeface="华文中宋" pitchFamily="2" charset="-122"/>
                </a:rPr>
                <a:t>Load/Store </a:t>
              </a:r>
              <a:r>
                <a:rPr kumimoji="1" lang="zh-CN" altLang="en-US" sz="1800" b="1">
                  <a:solidFill>
                    <a:schemeClr val="accent2"/>
                  </a:solidFill>
                  <a:latin typeface="华文中宋" pitchFamily="2" charset="-122"/>
                  <a:ea typeface="华文中宋" pitchFamily="2" charset="-122"/>
                </a:rPr>
                <a:t>指令</a:t>
              </a:r>
            </a:p>
          </p:txBody>
        </p:sp>
        <p:sp>
          <p:nvSpPr>
            <p:cNvPr id="57356" name="Text Box 10"/>
            <p:cNvSpPr txBox="1">
              <a:spLocks noChangeArrowheads="1"/>
            </p:cNvSpPr>
            <p:nvPr/>
          </p:nvSpPr>
          <p:spPr bwMode="auto">
            <a:xfrm>
              <a:off x="4452" y="2136"/>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zh-CN" altLang="en-US" sz="1800" b="1">
                  <a:solidFill>
                    <a:schemeClr val="accent2"/>
                  </a:solidFill>
                  <a:latin typeface="华文中宋" pitchFamily="2" charset="-122"/>
                  <a:ea typeface="华文中宋" pitchFamily="2" charset="-122"/>
                </a:rPr>
                <a:t>分支指令</a:t>
              </a:r>
            </a:p>
          </p:txBody>
        </p:sp>
        <p:sp>
          <p:nvSpPr>
            <p:cNvPr id="57357" name="Text Box 11"/>
            <p:cNvSpPr txBox="1">
              <a:spLocks noChangeArrowheads="1"/>
            </p:cNvSpPr>
            <p:nvPr/>
          </p:nvSpPr>
          <p:spPr bwMode="auto">
            <a:xfrm>
              <a:off x="276" y="798"/>
              <a:ext cx="2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宋体" pitchFamily="2" charset="-122"/>
                </a:rPr>
                <a:t>IF</a:t>
              </a:r>
              <a:endParaRPr kumimoji="1" lang="en-US" altLang="zh-CN" sz="1800" b="1">
                <a:solidFill>
                  <a:schemeClr val="accent2"/>
                </a:solidFill>
                <a:latin typeface="Times New Roman" pitchFamily="18" charset="0"/>
              </a:endParaRPr>
            </a:p>
          </p:txBody>
        </p:sp>
        <p:sp>
          <p:nvSpPr>
            <p:cNvPr id="57358" name="Text Box 12"/>
            <p:cNvSpPr txBox="1">
              <a:spLocks noChangeArrowheads="1"/>
            </p:cNvSpPr>
            <p:nvPr/>
          </p:nvSpPr>
          <p:spPr bwMode="auto">
            <a:xfrm>
              <a:off x="276" y="1518"/>
              <a:ext cx="2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宋体" pitchFamily="2" charset="-122"/>
                </a:rPr>
                <a:t>ID</a:t>
              </a:r>
              <a:endParaRPr kumimoji="1" lang="en-US" altLang="zh-CN" sz="1800" b="1">
                <a:solidFill>
                  <a:schemeClr val="accent2"/>
                </a:solidFill>
                <a:latin typeface="Times New Roman" pitchFamily="18" charset="0"/>
              </a:endParaRPr>
            </a:p>
          </p:txBody>
        </p:sp>
        <p:sp>
          <p:nvSpPr>
            <p:cNvPr id="57359" name="Text Box 13"/>
            <p:cNvSpPr txBox="1">
              <a:spLocks noChangeArrowheads="1"/>
            </p:cNvSpPr>
            <p:nvPr/>
          </p:nvSpPr>
          <p:spPr bwMode="auto">
            <a:xfrm>
              <a:off x="276" y="3102"/>
              <a:ext cx="2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宋体" pitchFamily="2" charset="-122"/>
                </a:rPr>
                <a:t>EX</a:t>
              </a:r>
              <a:endParaRPr kumimoji="1" lang="en-US" altLang="zh-CN" sz="1800" b="1">
                <a:solidFill>
                  <a:schemeClr val="accent2"/>
                </a:solidFill>
                <a:latin typeface="Times New Roman" pitchFamily="18" charset="0"/>
              </a:endParaRPr>
            </a:p>
          </p:txBody>
        </p:sp>
        <p:sp>
          <p:nvSpPr>
            <p:cNvPr id="57360" name="Text Box 14"/>
            <p:cNvSpPr txBox="1">
              <a:spLocks noChangeArrowheads="1"/>
            </p:cNvSpPr>
            <p:nvPr/>
          </p:nvSpPr>
          <p:spPr bwMode="auto">
            <a:xfrm>
              <a:off x="720" y="742"/>
              <a:ext cx="163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80000"/>
                </a:lnSpc>
                <a:spcBef>
                  <a:spcPct val="50000"/>
                </a:spcBef>
              </a:pPr>
              <a:r>
                <a:rPr kumimoji="1" lang="en-US" altLang="zh-CN" sz="1800" b="1" dirty="0">
                  <a:latin typeface="宋体" pitchFamily="2" charset="-122"/>
                </a:rPr>
                <a:t>IF/ID.IR ← </a:t>
              </a:r>
              <a:r>
                <a:rPr kumimoji="1" lang="en-US" altLang="zh-CN" sz="1800" b="1" dirty="0" err="1">
                  <a:latin typeface="宋体" pitchFamily="2" charset="-122"/>
                </a:rPr>
                <a:t>Mem</a:t>
              </a:r>
              <a:r>
                <a:rPr kumimoji="1" lang="en-US" altLang="zh-CN" sz="1800" b="1" dirty="0">
                  <a:latin typeface="宋体" pitchFamily="2" charset="-122"/>
                </a:rPr>
                <a:t>[PC]</a:t>
              </a:r>
              <a:endParaRPr kumimoji="1" lang="en-US" altLang="zh-CN" sz="1800" b="1" dirty="0">
                <a:latin typeface="Times New Roman" pitchFamily="18" charset="0"/>
              </a:endParaRPr>
            </a:p>
          </p:txBody>
        </p:sp>
        <p:sp>
          <p:nvSpPr>
            <p:cNvPr id="57361" name="Text Box 15"/>
            <p:cNvSpPr txBox="1">
              <a:spLocks noChangeArrowheads="1"/>
            </p:cNvSpPr>
            <p:nvPr/>
          </p:nvSpPr>
          <p:spPr bwMode="auto">
            <a:xfrm>
              <a:off x="720" y="923"/>
              <a:ext cx="4791"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80000"/>
                </a:lnSpc>
                <a:spcBef>
                  <a:spcPct val="50000"/>
                </a:spcBef>
              </a:pPr>
              <a:r>
                <a:rPr kumimoji="1" lang="en-US" altLang="zh-CN" sz="1800" b="1" dirty="0">
                  <a:latin typeface="宋体" pitchFamily="2" charset="-122"/>
                </a:rPr>
                <a:t>IF/ID.NPC,PC ← (if EX/</a:t>
              </a:r>
              <a:r>
                <a:rPr kumimoji="1" lang="en-US" altLang="zh-CN" sz="1800" b="1" dirty="0" err="1">
                  <a:latin typeface="宋体" pitchFamily="2" charset="-122"/>
                </a:rPr>
                <a:t>MEM.cond</a:t>
              </a:r>
              <a:r>
                <a:rPr kumimoji="1" lang="en-US" altLang="zh-CN" sz="1800" b="1" dirty="0">
                  <a:latin typeface="宋体" pitchFamily="2" charset="-122"/>
                </a:rPr>
                <a:t> {EX/</a:t>
              </a:r>
              <a:r>
                <a:rPr kumimoji="1" lang="en-US" altLang="zh-CN" sz="1800" b="1" dirty="0" err="1">
                  <a:latin typeface="宋体" pitchFamily="2" charset="-122"/>
                </a:rPr>
                <a:t>MEM.ALUOutput</a:t>
              </a:r>
              <a:r>
                <a:rPr kumimoji="1" lang="en-US" altLang="zh-CN" sz="1800" b="1" dirty="0">
                  <a:latin typeface="宋体" pitchFamily="2" charset="-122"/>
                </a:rPr>
                <a:t>} else {PC+4});</a:t>
              </a:r>
              <a:endParaRPr kumimoji="1" lang="en-US" altLang="zh-CN" sz="1800" b="1" dirty="0">
                <a:latin typeface="Times New Roman" pitchFamily="18" charset="0"/>
              </a:endParaRPr>
            </a:p>
          </p:txBody>
        </p:sp>
        <p:sp>
          <p:nvSpPr>
            <p:cNvPr id="57362" name="Line 16"/>
            <p:cNvSpPr>
              <a:spLocks noChangeShapeType="1"/>
            </p:cNvSpPr>
            <p:nvPr/>
          </p:nvSpPr>
          <p:spPr bwMode="auto">
            <a:xfrm>
              <a:off x="218" y="4105"/>
              <a:ext cx="5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63" name="Line 17"/>
            <p:cNvSpPr>
              <a:spLocks noChangeShapeType="1"/>
            </p:cNvSpPr>
            <p:nvPr/>
          </p:nvSpPr>
          <p:spPr bwMode="auto">
            <a:xfrm>
              <a:off x="218" y="648"/>
              <a:ext cx="5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64" name="Line 18"/>
            <p:cNvSpPr>
              <a:spLocks noChangeShapeType="1"/>
            </p:cNvSpPr>
            <p:nvPr/>
          </p:nvSpPr>
          <p:spPr bwMode="auto">
            <a:xfrm>
              <a:off x="218" y="1224"/>
              <a:ext cx="5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65" name="Line 19"/>
            <p:cNvSpPr>
              <a:spLocks noChangeShapeType="1"/>
            </p:cNvSpPr>
            <p:nvPr/>
          </p:nvSpPr>
          <p:spPr bwMode="auto">
            <a:xfrm>
              <a:off x="218" y="2100"/>
              <a:ext cx="5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66" name="Line 20"/>
            <p:cNvSpPr>
              <a:spLocks noChangeShapeType="1"/>
            </p:cNvSpPr>
            <p:nvPr/>
          </p:nvSpPr>
          <p:spPr bwMode="auto">
            <a:xfrm>
              <a:off x="218" y="2387"/>
              <a:ext cx="5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67" name="Line 21"/>
            <p:cNvSpPr>
              <a:spLocks noChangeShapeType="1"/>
            </p:cNvSpPr>
            <p:nvPr/>
          </p:nvSpPr>
          <p:spPr bwMode="auto">
            <a:xfrm>
              <a:off x="218" y="360"/>
              <a:ext cx="5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7368" name="Text Box 22"/>
            <p:cNvSpPr txBox="1">
              <a:spLocks noChangeArrowheads="1"/>
            </p:cNvSpPr>
            <p:nvPr/>
          </p:nvSpPr>
          <p:spPr bwMode="auto">
            <a:xfrm>
              <a:off x="720" y="1360"/>
              <a:ext cx="4655"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80000"/>
                </a:lnSpc>
                <a:spcBef>
                  <a:spcPct val="50000"/>
                </a:spcBef>
              </a:pPr>
              <a:r>
                <a:rPr kumimoji="1" lang="en-US" altLang="zh-CN" sz="1800" b="1">
                  <a:latin typeface="宋体" pitchFamily="2" charset="-122"/>
                </a:rPr>
                <a:t>ID/EX.A ← Regs[IF/ID.IR</a:t>
              </a:r>
              <a:r>
                <a:rPr kumimoji="1" lang="en-US" altLang="zh-CN" sz="1800" b="1" baseline="-25000">
                  <a:latin typeface="宋体" pitchFamily="2" charset="-122"/>
                </a:rPr>
                <a:t>6...10</a:t>
              </a:r>
              <a:r>
                <a:rPr kumimoji="1" lang="en-US" altLang="zh-CN" sz="1800" b="1">
                  <a:latin typeface="宋体" pitchFamily="2" charset="-122"/>
                </a:rPr>
                <a:t>]; ID/EX.B ← Regs[IF/ID.IR</a:t>
              </a:r>
              <a:r>
                <a:rPr kumimoji="1" lang="en-US" altLang="zh-CN" sz="1800" b="1" baseline="-25000">
                  <a:latin typeface="宋体" pitchFamily="2" charset="-122"/>
                </a:rPr>
                <a:t>11...15</a:t>
              </a:r>
              <a:r>
                <a:rPr kumimoji="1" lang="en-US" altLang="zh-CN" sz="1800" b="1">
                  <a:latin typeface="宋体" pitchFamily="2" charset="-122"/>
                </a:rPr>
                <a:t>];</a:t>
              </a:r>
            </a:p>
          </p:txBody>
        </p:sp>
        <p:sp>
          <p:nvSpPr>
            <p:cNvPr id="57369" name="Text Box 23"/>
            <p:cNvSpPr txBox="1">
              <a:spLocks noChangeArrowheads="1"/>
            </p:cNvSpPr>
            <p:nvPr/>
          </p:nvSpPr>
          <p:spPr bwMode="auto">
            <a:xfrm>
              <a:off x="720" y="1548"/>
              <a:ext cx="345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80000"/>
                </a:lnSpc>
                <a:spcBef>
                  <a:spcPct val="50000"/>
                </a:spcBef>
              </a:pPr>
              <a:r>
                <a:rPr kumimoji="1" lang="en-US" altLang="zh-CN" sz="1800" b="1">
                  <a:latin typeface="宋体" pitchFamily="2" charset="-122"/>
                </a:rPr>
                <a:t>ID/EX.NPC ← IF/ID.NPC; ID/EX.IR ← IF/ID.IR;</a:t>
              </a:r>
            </a:p>
          </p:txBody>
        </p:sp>
        <p:sp>
          <p:nvSpPr>
            <p:cNvPr id="57370" name="Text Box 24"/>
            <p:cNvSpPr txBox="1">
              <a:spLocks noChangeArrowheads="1"/>
            </p:cNvSpPr>
            <p:nvPr/>
          </p:nvSpPr>
          <p:spPr bwMode="auto">
            <a:xfrm>
              <a:off x="720" y="1740"/>
              <a:ext cx="23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80000"/>
                </a:lnSpc>
                <a:spcBef>
                  <a:spcPct val="50000"/>
                </a:spcBef>
              </a:pPr>
              <a:r>
                <a:rPr kumimoji="1" lang="en-US" altLang="zh-CN" sz="1800" b="1">
                  <a:latin typeface="宋体" pitchFamily="2" charset="-122"/>
                </a:rPr>
                <a:t>ID/EX.Imm ← (IR</a:t>
              </a:r>
              <a:r>
                <a:rPr kumimoji="1" lang="en-US" altLang="zh-CN" sz="1800" b="1" baseline="-25000">
                  <a:latin typeface="宋体" pitchFamily="2" charset="-122"/>
                </a:rPr>
                <a:t>16</a:t>
              </a:r>
              <a:r>
                <a:rPr kumimoji="1" lang="en-US" altLang="zh-CN" sz="1800" b="1">
                  <a:latin typeface="宋体" pitchFamily="2" charset="-122"/>
                </a:rPr>
                <a:t>)</a:t>
              </a:r>
              <a:r>
                <a:rPr kumimoji="1" lang="en-US" altLang="zh-CN" sz="1800" b="1" baseline="30000">
                  <a:latin typeface="宋体" pitchFamily="2" charset="-122"/>
                </a:rPr>
                <a:t>16</a:t>
              </a:r>
              <a:r>
                <a:rPr kumimoji="1" lang="en-US" altLang="zh-CN" sz="1800" b="1">
                  <a:latin typeface="宋体" pitchFamily="2" charset="-122"/>
                </a:rPr>
                <a:t>##IR</a:t>
              </a:r>
              <a:r>
                <a:rPr kumimoji="1" lang="en-US" altLang="zh-CN" sz="1800" b="1" baseline="-25000">
                  <a:latin typeface="宋体" pitchFamily="2" charset="-122"/>
                </a:rPr>
                <a:t>16...31</a:t>
              </a:r>
              <a:r>
                <a:rPr kumimoji="1" lang="en-US" altLang="zh-CN" sz="1800" b="1">
                  <a:latin typeface="宋体" pitchFamily="2" charset="-122"/>
                </a:rPr>
                <a:t>;</a:t>
              </a:r>
            </a:p>
          </p:txBody>
        </p:sp>
        <p:sp>
          <p:nvSpPr>
            <p:cNvPr id="57371" name="Text Box 25"/>
            <p:cNvSpPr txBox="1">
              <a:spLocks noChangeArrowheads="1"/>
            </p:cNvSpPr>
            <p:nvPr/>
          </p:nvSpPr>
          <p:spPr bwMode="auto">
            <a:xfrm>
              <a:off x="672" y="2361"/>
              <a:ext cx="1812" cy="1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dirty="0">
                  <a:latin typeface="宋体" pitchFamily="2" charset="-122"/>
                </a:rPr>
                <a:t>EX/MEM.IR ← ID/EX.IR; </a:t>
              </a:r>
            </a:p>
            <a:p>
              <a:pPr eaLnBrk="1" hangingPunct="1">
                <a:spcBef>
                  <a:spcPct val="50000"/>
                </a:spcBef>
              </a:pPr>
              <a:r>
                <a:rPr kumimoji="1" lang="en-US" altLang="zh-CN" sz="1800" b="1" dirty="0">
                  <a:latin typeface="宋体" pitchFamily="2" charset="-122"/>
                </a:rPr>
                <a:t>EX/</a:t>
              </a:r>
              <a:r>
                <a:rPr kumimoji="1" lang="en-US" altLang="zh-CN" sz="1800" b="1" dirty="0" err="1">
                  <a:latin typeface="宋体" pitchFamily="2" charset="-122"/>
                </a:rPr>
                <a:t>MEM.ALUOutput</a:t>
              </a:r>
              <a:r>
                <a:rPr kumimoji="1" lang="en-US" altLang="zh-CN" sz="1800" b="1" dirty="0">
                  <a:latin typeface="宋体" pitchFamily="2" charset="-122"/>
                </a:rPr>
                <a:t> ← </a:t>
              </a:r>
              <a:br>
                <a:rPr kumimoji="1" lang="en-US" altLang="zh-CN" sz="1800" b="1" dirty="0">
                  <a:latin typeface="宋体" pitchFamily="2" charset="-122"/>
                </a:rPr>
              </a:br>
              <a:r>
                <a:rPr kumimoji="1" lang="en-US" altLang="zh-CN" sz="1800" b="1" dirty="0">
                  <a:latin typeface="宋体" pitchFamily="2" charset="-122"/>
                </a:rPr>
                <a:t>ID/EX.A op ID/EX.B </a:t>
              </a:r>
              <a:br>
                <a:rPr kumimoji="1" lang="en-US" altLang="zh-CN" sz="1800" b="1" dirty="0">
                  <a:latin typeface="宋体" pitchFamily="2" charset="-122"/>
                </a:rPr>
              </a:br>
              <a:r>
                <a:rPr kumimoji="1" lang="zh-CN" altLang="en-US" sz="1800" b="1" dirty="0">
                  <a:latin typeface="宋体" pitchFamily="2" charset="-122"/>
                </a:rPr>
                <a:t>或</a:t>
              </a:r>
              <a:br>
                <a:rPr kumimoji="1" lang="zh-CN" altLang="en-US" sz="1800" b="1" dirty="0">
                  <a:latin typeface="宋体" pitchFamily="2" charset="-122"/>
                </a:rPr>
              </a:br>
              <a:r>
                <a:rPr kumimoji="1" lang="en-US" altLang="zh-CN" sz="1800" b="1" dirty="0">
                  <a:latin typeface="宋体" pitchFamily="2" charset="-122"/>
                </a:rPr>
                <a:t>EX/</a:t>
              </a:r>
              <a:r>
                <a:rPr kumimoji="1" lang="en-US" altLang="zh-CN" sz="1800" b="1" dirty="0" err="1">
                  <a:latin typeface="宋体" pitchFamily="2" charset="-122"/>
                </a:rPr>
                <a:t>MEM.ALUOutput</a:t>
              </a:r>
              <a:r>
                <a:rPr kumimoji="1" lang="en-US" altLang="zh-CN" sz="1800" b="1" dirty="0">
                  <a:latin typeface="宋体" pitchFamily="2" charset="-122"/>
                </a:rPr>
                <a:t> ← </a:t>
              </a:r>
              <a:br>
                <a:rPr kumimoji="1" lang="en-US" altLang="zh-CN" sz="1800" b="1" dirty="0">
                  <a:latin typeface="宋体" pitchFamily="2" charset="-122"/>
                </a:rPr>
              </a:br>
              <a:r>
                <a:rPr kumimoji="1" lang="en-US" altLang="zh-CN" sz="1800" b="1" dirty="0">
                  <a:latin typeface="宋体" pitchFamily="2" charset="-122"/>
                </a:rPr>
                <a:t>ID/EX.A op ID/</a:t>
              </a:r>
              <a:r>
                <a:rPr kumimoji="1" lang="en-US" altLang="zh-CN" sz="1800" b="1" dirty="0" err="1">
                  <a:latin typeface="宋体" pitchFamily="2" charset="-122"/>
                </a:rPr>
                <a:t>EX.Imm</a:t>
              </a:r>
              <a:r>
                <a:rPr kumimoji="1" lang="en-US" altLang="zh-CN" sz="1800" b="1" dirty="0">
                  <a:latin typeface="宋体" pitchFamily="2" charset="-122"/>
                </a:rPr>
                <a:t>;</a:t>
              </a:r>
              <a:br>
                <a:rPr kumimoji="1" lang="en-US" altLang="zh-CN" sz="1800" b="1" dirty="0">
                  <a:latin typeface="宋体" pitchFamily="2" charset="-122"/>
                </a:rPr>
              </a:br>
              <a:r>
                <a:rPr kumimoji="1" lang="en-US" altLang="zh-CN" sz="1800" b="1" dirty="0">
                  <a:latin typeface="宋体" pitchFamily="2" charset="-122"/>
                </a:rPr>
                <a:t>EX/</a:t>
              </a:r>
              <a:r>
                <a:rPr kumimoji="1" lang="en-US" altLang="zh-CN" sz="1800" b="1" dirty="0" err="1">
                  <a:latin typeface="宋体" pitchFamily="2" charset="-122"/>
                </a:rPr>
                <a:t>MEM.cond</a:t>
              </a:r>
              <a:r>
                <a:rPr kumimoji="1" lang="en-US" altLang="zh-CN" sz="1800" b="1" dirty="0">
                  <a:latin typeface="宋体" pitchFamily="2" charset="-122"/>
                </a:rPr>
                <a:t> ← 0;</a:t>
              </a:r>
            </a:p>
          </p:txBody>
        </p:sp>
        <p:sp>
          <p:nvSpPr>
            <p:cNvPr id="57372" name="Text Box 26"/>
            <p:cNvSpPr txBox="1">
              <a:spLocks noChangeArrowheads="1"/>
            </p:cNvSpPr>
            <p:nvPr/>
          </p:nvSpPr>
          <p:spPr bwMode="auto">
            <a:xfrm>
              <a:off x="2400" y="2614"/>
              <a:ext cx="1764"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latin typeface="宋体" pitchFamily="2" charset="-122"/>
                </a:rPr>
                <a:t>EX/MEM.IR ← ID/EX.IR; </a:t>
              </a:r>
            </a:p>
            <a:p>
              <a:pPr eaLnBrk="1" hangingPunct="1">
                <a:spcBef>
                  <a:spcPct val="50000"/>
                </a:spcBef>
              </a:pPr>
              <a:r>
                <a:rPr kumimoji="1" lang="en-US" altLang="zh-CN" sz="1800" b="1">
                  <a:latin typeface="宋体" pitchFamily="2" charset="-122"/>
                </a:rPr>
                <a:t>EX/MEM.B ←ID/EX.B</a:t>
              </a:r>
            </a:p>
            <a:p>
              <a:pPr eaLnBrk="1" hangingPunct="1">
                <a:spcBef>
                  <a:spcPct val="50000"/>
                </a:spcBef>
              </a:pPr>
              <a:r>
                <a:rPr kumimoji="1" lang="en-US" altLang="zh-CN" sz="1800" b="1">
                  <a:latin typeface="宋体" pitchFamily="2" charset="-122"/>
                </a:rPr>
                <a:t>EX/MEM.ALUOutput ← </a:t>
              </a:r>
              <a:br>
                <a:rPr kumimoji="1" lang="en-US" altLang="zh-CN" sz="1800" b="1">
                  <a:latin typeface="宋体" pitchFamily="2" charset="-122"/>
                </a:rPr>
              </a:br>
              <a:r>
                <a:rPr kumimoji="1" lang="en-US" altLang="zh-CN" sz="1800" b="1">
                  <a:latin typeface="宋体" pitchFamily="2" charset="-122"/>
                </a:rPr>
                <a:t>ID/EX.A + ID/EX.Imm;</a:t>
              </a:r>
            </a:p>
            <a:p>
              <a:pPr eaLnBrk="1" hangingPunct="1">
                <a:spcBef>
                  <a:spcPct val="50000"/>
                </a:spcBef>
              </a:pPr>
              <a:r>
                <a:rPr kumimoji="1" lang="en-US" altLang="zh-CN" sz="1800" b="1">
                  <a:latin typeface="宋体" pitchFamily="2" charset="-122"/>
                </a:rPr>
                <a:t>EX/MEM.cond ← 0;</a:t>
              </a:r>
            </a:p>
          </p:txBody>
        </p:sp>
        <p:sp>
          <p:nvSpPr>
            <p:cNvPr id="57373" name="Text Box 27"/>
            <p:cNvSpPr txBox="1">
              <a:spLocks noChangeArrowheads="1"/>
            </p:cNvSpPr>
            <p:nvPr/>
          </p:nvSpPr>
          <p:spPr bwMode="auto">
            <a:xfrm>
              <a:off x="4104" y="2581"/>
              <a:ext cx="1656" cy="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latin typeface="宋体" pitchFamily="2" charset="-122"/>
                </a:rPr>
                <a:t>EX/MEM.ALUOutput←</a:t>
              </a:r>
              <a:br>
                <a:rPr kumimoji="1" lang="en-US" altLang="zh-CN" sz="1800" b="1">
                  <a:latin typeface="宋体" pitchFamily="2" charset="-122"/>
                </a:rPr>
              </a:br>
              <a:r>
                <a:rPr kumimoji="1" lang="en-US" altLang="zh-CN" sz="1800" b="1">
                  <a:latin typeface="宋体" pitchFamily="2" charset="-122"/>
                </a:rPr>
                <a:t>ID/EX.NPC+ID/EX.Imm;</a:t>
              </a:r>
              <a:br>
                <a:rPr kumimoji="1" lang="en-US" altLang="zh-CN" sz="1800" b="1">
                  <a:latin typeface="宋体" pitchFamily="2" charset="-122"/>
                </a:rPr>
              </a:br>
              <a:endParaRPr kumimoji="1" lang="en-US" altLang="zh-CN" sz="1800" b="1">
                <a:latin typeface="宋体" pitchFamily="2" charset="-122"/>
              </a:endParaRPr>
            </a:p>
            <a:p>
              <a:pPr eaLnBrk="1" hangingPunct="1">
                <a:spcBef>
                  <a:spcPct val="50000"/>
                </a:spcBef>
              </a:pPr>
              <a:r>
                <a:rPr kumimoji="1" lang="en-US" altLang="zh-CN" sz="1800" b="1">
                  <a:latin typeface="宋体" pitchFamily="2" charset="-122"/>
                </a:rPr>
                <a:t>EX/MEM.cond ←  (ID/EX.A op 0);</a:t>
              </a:r>
            </a:p>
          </p:txBody>
        </p:sp>
        <p:sp>
          <p:nvSpPr>
            <p:cNvPr id="57374" name="Line 28"/>
            <p:cNvSpPr>
              <a:spLocks noChangeShapeType="1"/>
            </p:cNvSpPr>
            <p:nvPr/>
          </p:nvSpPr>
          <p:spPr bwMode="auto">
            <a:xfrm>
              <a:off x="703" y="357"/>
              <a:ext cx="0" cy="37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grpSp>
      <p:sp>
        <p:nvSpPr>
          <p:cNvPr id="57347" name="AutoShape 29">
            <a:hlinkClick r:id="" action="ppaction://hlinkshowjump?jump=nextslide" highlightClick="1"/>
          </p:cNvPr>
          <p:cNvSpPr>
            <a:spLocks noChangeArrowheads="1"/>
          </p:cNvSpPr>
          <p:nvPr/>
        </p:nvSpPr>
        <p:spPr bwMode="auto">
          <a:xfrm>
            <a:off x="8248650" y="304800"/>
            <a:ext cx="457200" cy="228600"/>
          </a:xfrm>
          <a:prstGeom prst="actionButtonForwardNext">
            <a:avLst/>
          </a:prstGeom>
          <a:solidFill>
            <a:srgbClr val="EDA9EB"/>
          </a:solidFill>
          <a:ln w="3175">
            <a:solidFill>
              <a:srgbClr val="FFFF00"/>
            </a:solidFill>
            <a:miter lim="800000"/>
            <a:headEnd/>
            <a:tailEnd/>
          </a:ln>
        </p:spPr>
        <p:txBody>
          <a:bodyPr wrap="none" anchor="ctr"/>
          <a:lstStyle/>
          <a:p>
            <a:endParaRPr lang="zh-CN" altLang="en-US"/>
          </a:p>
        </p:txBody>
      </p:sp>
      <p:sp>
        <p:nvSpPr>
          <p:cNvPr id="57348" name="AutoShape 30">
            <a:hlinkClick r:id="rId3" action="ppaction://hlinksldjump" highlightClick="1"/>
          </p:cNvPr>
          <p:cNvSpPr>
            <a:spLocks noChangeArrowheads="1"/>
          </p:cNvSpPr>
          <p:nvPr/>
        </p:nvSpPr>
        <p:spPr bwMode="auto">
          <a:xfrm>
            <a:off x="7696200" y="304800"/>
            <a:ext cx="438150" cy="228600"/>
          </a:xfrm>
          <a:prstGeom prst="actionButtonReturn">
            <a:avLst/>
          </a:prstGeom>
          <a:solidFill>
            <a:srgbClr val="EDA9EB"/>
          </a:solidFill>
          <a:ln w="9525">
            <a:solidFill>
              <a:srgbClr val="FFFF00"/>
            </a:solidFill>
            <a:miter lim="800000"/>
            <a:headEnd/>
            <a:tailEnd/>
          </a:ln>
        </p:spPr>
        <p:txBody>
          <a:bodyPr wrap="none" anchor="ctr"/>
          <a:lstStyle/>
          <a:p>
            <a:endParaRPr lang="zh-CN" altLang="en-US"/>
          </a:p>
        </p:txBody>
      </p:sp>
      <p:sp>
        <p:nvSpPr>
          <p:cNvPr id="3" name="日期占位符 2">
            <a:extLst>
              <a:ext uri="{FF2B5EF4-FFF2-40B4-BE49-F238E27FC236}">
                <a16:creationId xmlns:a16="http://schemas.microsoft.com/office/drawing/2014/main" id="{0666FB5E-6334-0A8E-047C-7D1AA35B0685}"/>
              </a:ext>
            </a:extLst>
          </p:cNvPr>
          <p:cNvSpPr>
            <a:spLocks noGrp="1"/>
          </p:cNvSpPr>
          <p:nvPr>
            <p:ph type="dt" sz="half" idx="10"/>
          </p:nvPr>
        </p:nvSpPr>
        <p:spPr/>
        <p:txBody>
          <a:bodyPr/>
          <a:lstStyle/>
          <a:p>
            <a:pPr>
              <a:defRPr/>
            </a:pPr>
            <a:fld id="{06777BE6-D8A3-43A5-8BEB-5B99241890DC}" type="datetime1">
              <a:rPr lang="zh-CN" altLang="en-US" smtClean="0"/>
              <a:t>2025/9/25</a:t>
            </a:fld>
            <a:endParaRPr lang="en-US" altLang="zh-CN"/>
          </a:p>
        </p:txBody>
      </p:sp>
      <p:sp>
        <p:nvSpPr>
          <p:cNvPr id="4" name="页脚占位符 3">
            <a:extLst>
              <a:ext uri="{FF2B5EF4-FFF2-40B4-BE49-F238E27FC236}">
                <a16:creationId xmlns:a16="http://schemas.microsoft.com/office/drawing/2014/main" id="{D4054B0C-6E74-6052-E514-B1CF7A316E07}"/>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5" name="灯片编号占位符 4">
            <a:extLst>
              <a:ext uri="{FF2B5EF4-FFF2-40B4-BE49-F238E27FC236}">
                <a16:creationId xmlns:a16="http://schemas.microsoft.com/office/drawing/2014/main" id="{05EE9632-7022-20F3-B114-C79838332383}"/>
              </a:ext>
            </a:extLst>
          </p:cNvPr>
          <p:cNvSpPr>
            <a:spLocks noGrp="1"/>
          </p:cNvSpPr>
          <p:nvPr>
            <p:ph type="sldNum" sz="quarter" idx="12"/>
          </p:nvPr>
        </p:nvSpPr>
        <p:spPr/>
        <p:txBody>
          <a:bodyPr/>
          <a:lstStyle/>
          <a:p>
            <a:pPr>
              <a:defRPr/>
            </a:pPr>
            <a:fld id="{65B7EA61-351E-4105-9AD9-76D38C6E9934}" type="slidenum">
              <a:rPr lang="zh-CN" altLang="en-US" smtClean="0"/>
              <a:t>45</a:t>
            </a:fld>
            <a:endParaRPr lang="en-US" altLang="zh-CN"/>
          </a:p>
        </p:txBody>
      </p:sp>
    </p:spTree>
    <p:extLst>
      <p:ext uri="{BB962C8B-B14F-4D97-AF65-F5344CB8AC3E}">
        <p14:creationId xmlns:p14="http://schemas.microsoft.com/office/powerpoint/2010/main" val="323217334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2"/>
                                        </p:tgtEl>
                                      </p:cBhvr>
                                      <p:by x="120000" y="120000"/>
                                    </p:animScale>
                                  </p:childTnLst>
                                </p:cTn>
                              </p:par>
                              <p:par>
                                <p:cTn id="7" presetID="42" presetClass="path" presetSubtype="0" accel="50000" decel="50000" fill="hold" nodeType="withEffect">
                                  <p:stCondLst>
                                    <p:cond delay="0"/>
                                  </p:stCondLst>
                                  <p:childTnLst>
                                    <p:animMotion origin="layout" path="M -3.33333E-6 0 L -0.03038 0.34005 " pathEditMode="relative" rAng="0" ptsTypes="AA">
                                      <p:cBhvr>
                                        <p:cTn id="8" dur="2000" fill="hold"/>
                                        <p:tgtEl>
                                          <p:spTgt spid="2"/>
                                        </p:tgtEl>
                                        <p:attrNameLst>
                                          <p:attrName>ppt_x</p:attrName>
                                          <p:attrName>ppt_y</p:attrName>
                                        </p:attrNameLst>
                                      </p:cBhvr>
                                      <p:rCtr x="-1528" y="16991"/>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64" presetClass="path" presetSubtype="0" accel="50000" decel="50000" fill="hold" nodeType="clickEffect">
                                  <p:stCondLst>
                                    <p:cond delay="0"/>
                                  </p:stCondLst>
                                  <p:childTnLst>
                                    <p:animMotion origin="layout" path="M -3.33333E-6 0 L -0.046 -0.32153 " pathEditMode="relative" rAng="0" ptsTypes="AA">
                                      <p:cBhvr>
                                        <p:cTn id="12" dur="2000" fill="hold"/>
                                        <p:tgtEl>
                                          <p:spTgt spid="2"/>
                                        </p:tgtEl>
                                        <p:attrNameLst>
                                          <p:attrName>ppt_x</p:attrName>
                                          <p:attrName>ppt_y</p:attrName>
                                        </p:attrNameLst>
                                      </p:cBhvr>
                                      <p:rCtr x="-2309" y="-1608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8"/>
          <p:cNvGrpSpPr>
            <a:grpSpLocks/>
          </p:cNvGrpSpPr>
          <p:nvPr/>
        </p:nvGrpSpPr>
        <p:grpSpPr bwMode="auto">
          <a:xfrm>
            <a:off x="285750" y="306388"/>
            <a:ext cx="8553450" cy="5930900"/>
            <a:chOff x="180" y="193"/>
            <a:chExt cx="5388" cy="3736"/>
          </a:xfrm>
        </p:grpSpPr>
        <p:sp>
          <p:nvSpPr>
            <p:cNvPr id="58373" name="Text Box 2"/>
            <p:cNvSpPr txBox="1">
              <a:spLocks noChangeArrowheads="1"/>
            </p:cNvSpPr>
            <p:nvPr/>
          </p:nvSpPr>
          <p:spPr bwMode="auto">
            <a:xfrm>
              <a:off x="180" y="557"/>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zh-CN" altLang="en-US" sz="1800" b="1" dirty="0">
                  <a:solidFill>
                    <a:schemeClr val="accent2"/>
                  </a:solidFill>
                  <a:latin typeface="华文中宋" pitchFamily="2" charset="-122"/>
                  <a:ea typeface="华文中宋" pitchFamily="2" charset="-122"/>
                </a:rPr>
                <a:t>流水段</a:t>
              </a:r>
            </a:p>
          </p:txBody>
        </p:sp>
        <p:sp>
          <p:nvSpPr>
            <p:cNvPr id="58374" name="Text Box 3"/>
            <p:cNvSpPr txBox="1">
              <a:spLocks noChangeArrowheads="1"/>
            </p:cNvSpPr>
            <p:nvPr/>
          </p:nvSpPr>
          <p:spPr bwMode="auto">
            <a:xfrm>
              <a:off x="1079" y="193"/>
              <a:ext cx="40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2400" b="1" dirty="0">
                  <a:solidFill>
                    <a:srgbClr val="003366"/>
                  </a:solidFill>
                  <a:latin typeface="华文中宋" pitchFamily="2" charset="-122"/>
                  <a:ea typeface="华文中宋" pitchFamily="2" charset="-122"/>
                </a:rPr>
                <a:t>MIPS</a:t>
              </a:r>
              <a:r>
                <a:rPr kumimoji="1" lang="zh-CN" altLang="en-US" sz="2400" b="1" dirty="0">
                  <a:solidFill>
                    <a:srgbClr val="003366"/>
                  </a:solidFill>
                  <a:latin typeface="华文中宋" pitchFamily="2" charset="-122"/>
                  <a:ea typeface="华文中宋" pitchFamily="2" charset="-122"/>
                </a:rPr>
                <a:t>流水线的每个流水段的操作（续）</a:t>
              </a:r>
            </a:p>
          </p:txBody>
        </p:sp>
        <p:sp>
          <p:nvSpPr>
            <p:cNvPr id="58375" name="Text Box 4"/>
            <p:cNvSpPr txBox="1">
              <a:spLocks noChangeArrowheads="1"/>
            </p:cNvSpPr>
            <p:nvPr/>
          </p:nvSpPr>
          <p:spPr bwMode="auto">
            <a:xfrm>
              <a:off x="2592" y="557"/>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zh-CN" altLang="en-US" sz="1800" b="1">
                  <a:solidFill>
                    <a:schemeClr val="accent2"/>
                  </a:solidFill>
                  <a:latin typeface="华文中宋" pitchFamily="2" charset="-122"/>
                  <a:ea typeface="华文中宋" pitchFamily="2" charset="-122"/>
                </a:rPr>
                <a:t>任何指令类型</a:t>
              </a:r>
            </a:p>
          </p:txBody>
        </p:sp>
        <p:sp>
          <p:nvSpPr>
            <p:cNvPr id="58376" name="Text Box 5"/>
            <p:cNvSpPr txBox="1">
              <a:spLocks noChangeArrowheads="1"/>
            </p:cNvSpPr>
            <p:nvPr/>
          </p:nvSpPr>
          <p:spPr bwMode="auto">
            <a:xfrm>
              <a:off x="1152" y="800"/>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华文中宋" pitchFamily="2" charset="-122"/>
                  <a:ea typeface="华文中宋" pitchFamily="2" charset="-122"/>
                </a:rPr>
                <a:t>ALU </a:t>
              </a:r>
              <a:r>
                <a:rPr kumimoji="1" lang="zh-CN" altLang="en-US" sz="1800" b="1">
                  <a:solidFill>
                    <a:schemeClr val="accent2"/>
                  </a:solidFill>
                  <a:latin typeface="华文中宋" pitchFamily="2" charset="-122"/>
                  <a:ea typeface="华文中宋" pitchFamily="2" charset="-122"/>
                </a:rPr>
                <a:t>指令</a:t>
              </a:r>
            </a:p>
          </p:txBody>
        </p:sp>
        <p:sp>
          <p:nvSpPr>
            <p:cNvPr id="58377" name="Text Box 6"/>
            <p:cNvSpPr txBox="1">
              <a:spLocks noChangeArrowheads="1"/>
            </p:cNvSpPr>
            <p:nvPr/>
          </p:nvSpPr>
          <p:spPr bwMode="auto">
            <a:xfrm>
              <a:off x="2712" y="800"/>
              <a:ext cx="13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华文中宋" pitchFamily="2" charset="-122"/>
                  <a:ea typeface="华文中宋" pitchFamily="2" charset="-122"/>
                </a:rPr>
                <a:t>Load/Store </a:t>
              </a:r>
              <a:r>
                <a:rPr kumimoji="1" lang="zh-CN" altLang="en-US" sz="1800" b="1">
                  <a:solidFill>
                    <a:schemeClr val="accent2"/>
                  </a:solidFill>
                  <a:latin typeface="华文中宋" pitchFamily="2" charset="-122"/>
                  <a:ea typeface="华文中宋" pitchFamily="2" charset="-122"/>
                </a:rPr>
                <a:t>指令</a:t>
              </a:r>
            </a:p>
          </p:txBody>
        </p:sp>
        <p:sp>
          <p:nvSpPr>
            <p:cNvPr id="58378" name="Text Box 7"/>
            <p:cNvSpPr txBox="1">
              <a:spLocks noChangeArrowheads="1"/>
            </p:cNvSpPr>
            <p:nvPr/>
          </p:nvSpPr>
          <p:spPr bwMode="auto">
            <a:xfrm>
              <a:off x="4512" y="800"/>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zh-CN" altLang="en-US" sz="1800" b="1">
                  <a:solidFill>
                    <a:schemeClr val="accent2"/>
                  </a:solidFill>
                  <a:latin typeface="华文中宋" pitchFamily="2" charset="-122"/>
                  <a:ea typeface="华文中宋" pitchFamily="2" charset="-122"/>
                </a:rPr>
                <a:t>分支指令</a:t>
              </a:r>
            </a:p>
          </p:txBody>
        </p:sp>
        <p:sp>
          <p:nvSpPr>
            <p:cNvPr id="58379" name="Text Box 8"/>
            <p:cNvSpPr txBox="1">
              <a:spLocks noChangeArrowheads="1"/>
            </p:cNvSpPr>
            <p:nvPr/>
          </p:nvSpPr>
          <p:spPr bwMode="auto">
            <a:xfrm>
              <a:off x="288" y="138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宋体" pitchFamily="2" charset="-122"/>
                </a:rPr>
                <a:t>MEM</a:t>
              </a:r>
              <a:endParaRPr kumimoji="1" lang="en-US" altLang="zh-CN" sz="1800" b="1">
                <a:solidFill>
                  <a:schemeClr val="accent2"/>
                </a:solidFill>
                <a:latin typeface="Times New Roman" pitchFamily="18" charset="0"/>
              </a:endParaRPr>
            </a:p>
          </p:txBody>
        </p:sp>
        <p:sp>
          <p:nvSpPr>
            <p:cNvPr id="58380" name="Text Box 9"/>
            <p:cNvSpPr txBox="1">
              <a:spLocks noChangeArrowheads="1"/>
            </p:cNvSpPr>
            <p:nvPr/>
          </p:nvSpPr>
          <p:spPr bwMode="auto">
            <a:xfrm>
              <a:off x="264" y="2909"/>
              <a:ext cx="2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solidFill>
                    <a:schemeClr val="accent2"/>
                  </a:solidFill>
                  <a:latin typeface="宋体" pitchFamily="2" charset="-122"/>
                </a:rPr>
                <a:t>WB</a:t>
              </a:r>
              <a:endParaRPr kumimoji="1" lang="en-US" altLang="zh-CN" sz="1800" b="1">
                <a:solidFill>
                  <a:schemeClr val="accent2"/>
                </a:solidFill>
                <a:latin typeface="Times New Roman" pitchFamily="18" charset="0"/>
              </a:endParaRPr>
            </a:p>
          </p:txBody>
        </p:sp>
        <p:sp>
          <p:nvSpPr>
            <p:cNvPr id="58381" name="Line 10"/>
            <p:cNvSpPr>
              <a:spLocks noChangeShapeType="1"/>
            </p:cNvSpPr>
            <p:nvPr/>
          </p:nvSpPr>
          <p:spPr bwMode="auto">
            <a:xfrm>
              <a:off x="218" y="3929"/>
              <a:ext cx="5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82" name="Line 11"/>
            <p:cNvSpPr>
              <a:spLocks noChangeShapeType="1"/>
            </p:cNvSpPr>
            <p:nvPr/>
          </p:nvSpPr>
          <p:spPr bwMode="auto">
            <a:xfrm>
              <a:off x="218" y="800"/>
              <a:ext cx="5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83" name="Line 12"/>
            <p:cNvSpPr>
              <a:spLocks noChangeShapeType="1"/>
            </p:cNvSpPr>
            <p:nvPr/>
          </p:nvSpPr>
          <p:spPr bwMode="auto">
            <a:xfrm>
              <a:off x="204" y="2426"/>
              <a:ext cx="53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84" name="Line 13"/>
            <p:cNvSpPr>
              <a:spLocks noChangeShapeType="1"/>
            </p:cNvSpPr>
            <p:nvPr/>
          </p:nvSpPr>
          <p:spPr bwMode="auto">
            <a:xfrm>
              <a:off x="218" y="1040"/>
              <a:ext cx="5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85" name="Line 14"/>
            <p:cNvSpPr>
              <a:spLocks noChangeShapeType="1"/>
            </p:cNvSpPr>
            <p:nvPr/>
          </p:nvSpPr>
          <p:spPr bwMode="auto">
            <a:xfrm>
              <a:off x="218" y="560"/>
              <a:ext cx="5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86" name="Text Box 15"/>
            <p:cNvSpPr txBox="1">
              <a:spLocks noChangeArrowheads="1"/>
            </p:cNvSpPr>
            <p:nvPr/>
          </p:nvSpPr>
          <p:spPr bwMode="auto">
            <a:xfrm>
              <a:off x="684" y="1070"/>
              <a:ext cx="1716"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latin typeface="宋体" pitchFamily="2" charset="-122"/>
                </a:rPr>
                <a:t>MEM/WB.IR ←EX/MEM.IR; </a:t>
              </a:r>
            </a:p>
            <a:p>
              <a:pPr eaLnBrk="1" hangingPunct="1">
                <a:spcBef>
                  <a:spcPct val="50000"/>
                </a:spcBef>
              </a:pPr>
              <a:r>
                <a:rPr kumimoji="1" lang="en-US" altLang="zh-CN" sz="1800" b="1">
                  <a:latin typeface="宋体" pitchFamily="2" charset="-122"/>
                </a:rPr>
                <a:t>MEM/WB.ALUOutput ← </a:t>
              </a:r>
              <a:br>
                <a:rPr kumimoji="1" lang="en-US" altLang="zh-CN" sz="1800" b="1">
                  <a:latin typeface="宋体" pitchFamily="2" charset="-122"/>
                </a:rPr>
              </a:br>
              <a:r>
                <a:rPr kumimoji="1" lang="en-US" altLang="zh-CN" sz="1800" b="1">
                  <a:latin typeface="宋体" pitchFamily="2" charset="-122"/>
                </a:rPr>
                <a:t>EX/MEM.ALUOutput;</a:t>
              </a:r>
            </a:p>
          </p:txBody>
        </p:sp>
        <p:sp>
          <p:nvSpPr>
            <p:cNvPr id="58387" name="Line 16"/>
            <p:cNvSpPr>
              <a:spLocks noChangeShapeType="1"/>
            </p:cNvSpPr>
            <p:nvPr/>
          </p:nvSpPr>
          <p:spPr bwMode="auto">
            <a:xfrm>
              <a:off x="2400" y="797"/>
              <a:ext cx="0" cy="31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88" name="Line 17"/>
            <p:cNvSpPr>
              <a:spLocks noChangeShapeType="1"/>
            </p:cNvSpPr>
            <p:nvPr/>
          </p:nvSpPr>
          <p:spPr bwMode="auto">
            <a:xfrm>
              <a:off x="4272" y="813"/>
              <a:ext cx="0" cy="31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89" name="Text Box 18"/>
            <p:cNvSpPr txBox="1">
              <a:spLocks noChangeArrowheads="1"/>
            </p:cNvSpPr>
            <p:nvPr/>
          </p:nvSpPr>
          <p:spPr bwMode="auto">
            <a:xfrm>
              <a:off x="2412" y="1085"/>
              <a:ext cx="1860" cy="1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pPr>
              <a:r>
                <a:rPr kumimoji="1" lang="en-US" altLang="zh-CN" sz="1800" b="1">
                  <a:latin typeface="宋体" pitchFamily="2" charset="-122"/>
                </a:rPr>
                <a:t>MEM/WB.IR ← EX/MEM.IR; </a:t>
              </a:r>
            </a:p>
            <a:p>
              <a:pPr eaLnBrk="1" hangingPunct="1">
                <a:spcBef>
                  <a:spcPct val="50000"/>
                </a:spcBef>
              </a:pPr>
              <a:r>
                <a:rPr kumimoji="1" lang="en-US" altLang="zh-CN" sz="1800" b="1">
                  <a:latin typeface="宋体" pitchFamily="2" charset="-122"/>
                </a:rPr>
                <a:t>MEM/WB.LMD ←    </a:t>
              </a:r>
              <a:br>
                <a:rPr kumimoji="1" lang="en-US" altLang="zh-CN" sz="1800" b="1">
                  <a:latin typeface="宋体" pitchFamily="2" charset="-122"/>
                </a:rPr>
              </a:br>
              <a:r>
                <a:rPr kumimoji="1" lang="en-US" altLang="zh-CN" sz="1800" b="1">
                  <a:latin typeface="宋体" pitchFamily="2" charset="-122"/>
                </a:rPr>
                <a:t>Mem[EX/MEM.ALUOutput];</a:t>
              </a:r>
              <a:br>
                <a:rPr kumimoji="1" lang="en-US" altLang="zh-CN" sz="1800" b="1">
                  <a:latin typeface="宋体" pitchFamily="2" charset="-122"/>
                </a:rPr>
              </a:br>
              <a:r>
                <a:rPr kumimoji="1" lang="zh-CN" altLang="en-US" sz="1800" b="1">
                  <a:latin typeface="宋体" pitchFamily="2" charset="-122"/>
                </a:rPr>
                <a:t>或</a:t>
              </a:r>
              <a:br>
                <a:rPr kumimoji="1" lang="zh-CN" altLang="en-US" sz="1800" b="1">
                  <a:latin typeface="宋体" pitchFamily="2" charset="-122"/>
                </a:rPr>
              </a:br>
              <a:r>
                <a:rPr kumimoji="1" lang="en-US" altLang="zh-CN" sz="1800" b="1">
                  <a:latin typeface="宋体" pitchFamily="2" charset="-122"/>
                </a:rPr>
                <a:t>Mem[EX/MEM.ALUOutput] ← EX/MEM.B;</a:t>
              </a:r>
            </a:p>
          </p:txBody>
        </p:sp>
        <p:sp>
          <p:nvSpPr>
            <p:cNvPr id="58390" name="Line 19"/>
            <p:cNvSpPr>
              <a:spLocks noChangeShapeType="1"/>
            </p:cNvSpPr>
            <p:nvPr/>
          </p:nvSpPr>
          <p:spPr bwMode="auto">
            <a:xfrm>
              <a:off x="703" y="569"/>
              <a:ext cx="0" cy="33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58391" name="Text Box 20"/>
            <p:cNvSpPr txBox="1">
              <a:spLocks noChangeArrowheads="1"/>
            </p:cNvSpPr>
            <p:nvPr/>
          </p:nvSpPr>
          <p:spPr bwMode="auto">
            <a:xfrm>
              <a:off x="720" y="2441"/>
              <a:ext cx="1728" cy="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10000"/>
                </a:lnSpc>
                <a:spcBef>
                  <a:spcPct val="50000"/>
                </a:spcBef>
              </a:pPr>
              <a:r>
                <a:rPr kumimoji="1" lang="en-US" altLang="zh-CN" sz="1800" b="1">
                  <a:latin typeface="宋体" pitchFamily="2" charset="-122"/>
                </a:rPr>
                <a:t>Regs[MEM/WB.IR</a:t>
              </a:r>
              <a:r>
                <a:rPr kumimoji="1" lang="en-US" altLang="zh-CN" sz="1800" b="1" baseline="-25000">
                  <a:latin typeface="宋体" pitchFamily="2" charset="-122"/>
                </a:rPr>
                <a:t>16...20</a:t>
              </a:r>
              <a:r>
                <a:rPr kumimoji="1" lang="en-US" altLang="zh-CN" sz="1800" b="1">
                  <a:latin typeface="宋体" pitchFamily="2" charset="-122"/>
                </a:rPr>
                <a:t>]</a:t>
              </a:r>
              <a:br>
                <a:rPr kumimoji="1" lang="en-US" altLang="zh-CN" sz="1800" b="1">
                  <a:latin typeface="宋体" pitchFamily="2" charset="-122"/>
                </a:rPr>
              </a:br>
              <a:r>
                <a:rPr kumimoji="1" lang="en-US" altLang="zh-CN" sz="1800" b="1">
                  <a:latin typeface="宋体" pitchFamily="2" charset="-122"/>
                </a:rPr>
                <a:t>← MEM/WB.ALUOutput;</a:t>
              </a:r>
              <a:br>
                <a:rPr kumimoji="1" lang="en-US" altLang="zh-CN" sz="1800" b="1">
                  <a:latin typeface="宋体" pitchFamily="2" charset="-122"/>
                </a:rPr>
              </a:br>
              <a:r>
                <a:rPr kumimoji="1" lang="zh-CN" altLang="en-US" sz="1800" b="1">
                  <a:latin typeface="宋体" pitchFamily="2" charset="-122"/>
                </a:rPr>
                <a:t>或</a:t>
              </a:r>
              <a:br>
                <a:rPr kumimoji="1" lang="zh-CN" altLang="en-US" sz="1800" b="1">
                  <a:latin typeface="宋体" pitchFamily="2" charset="-122"/>
                </a:rPr>
              </a:br>
              <a:r>
                <a:rPr kumimoji="1" lang="en-US" altLang="zh-CN" sz="1800" b="1">
                  <a:latin typeface="宋体" pitchFamily="2" charset="-122"/>
                </a:rPr>
                <a:t>Regs[MEM/WB.IR</a:t>
              </a:r>
              <a:r>
                <a:rPr kumimoji="1" lang="en-US" altLang="zh-CN" sz="1800" b="1" baseline="-25000">
                  <a:latin typeface="宋体" pitchFamily="2" charset="-122"/>
                </a:rPr>
                <a:t>11...15</a:t>
              </a:r>
              <a:r>
                <a:rPr kumimoji="1" lang="en-US" altLang="zh-CN" sz="1800" b="1">
                  <a:latin typeface="宋体" pitchFamily="2" charset="-122"/>
                </a:rPr>
                <a:t>]</a:t>
              </a:r>
              <a:br>
                <a:rPr kumimoji="1" lang="en-US" altLang="zh-CN" sz="1800" b="1">
                  <a:latin typeface="宋体" pitchFamily="2" charset="-122"/>
                </a:rPr>
              </a:br>
              <a:r>
                <a:rPr kumimoji="1" lang="en-US" altLang="zh-CN" sz="1800" b="1">
                  <a:latin typeface="宋体" pitchFamily="2" charset="-122"/>
                </a:rPr>
                <a:t>← MEM/WB.ALUOutput;</a:t>
              </a:r>
            </a:p>
          </p:txBody>
        </p:sp>
        <p:sp>
          <p:nvSpPr>
            <p:cNvPr id="58392" name="Rectangle 21"/>
            <p:cNvSpPr>
              <a:spLocks noChangeArrowheads="1"/>
            </p:cNvSpPr>
            <p:nvPr/>
          </p:nvSpPr>
          <p:spPr bwMode="auto">
            <a:xfrm>
              <a:off x="2428" y="2798"/>
              <a:ext cx="1547"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10000"/>
                </a:lnSpc>
              </a:pPr>
              <a:r>
                <a:rPr kumimoji="1" lang="en-US" altLang="zh-CN" sz="1800" b="1">
                  <a:latin typeface="宋体" pitchFamily="2" charset="-122"/>
                </a:rPr>
                <a:t>Regs[MEM/WB.IR</a:t>
              </a:r>
              <a:r>
                <a:rPr kumimoji="1" lang="en-US" altLang="zh-CN" sz="1800" b="1" baseline="-25000">
                  <a:latin typeface="宋体" pitchFamily="2" charset="-122"/>
                </a:rPr>
                <a:t>11...15</a:t>
              </a:r>
              <a:r>
                <a:rPr kumimoji="1" lang="en-US" altLang="zh-CN" sz="1800" b="1">
                  <a:latin typeface="宋体" pitchFamily="2" charset="-122"/>
                </a:rPr>
                <a:t>]</a:t>
              </a:r>
              <a:br>
                <a:rPr kumimoji="1" lang="en-US" altLang="zh-CN" sz="1800" b="1">
                  <a:latin typeface="宋体" pitchFamily="2" charset="-122"/>
                </a:rPr>
              </a:br>
              <a:r>
                <a:rPr kumimoji="1" lang="en-US" altLang="zh-CN" sz="1800" b="1">
                  <a:latin typeface="宋体" pitchFamily="2" charset="-122"/>
                </a:rPr>
                <a:t>← MEM/WB.LMD;</a:t>
              </a:r>
            </a:p>
          </p:txBody>
        </p:sp>
      </p:grpSp>
      <p:sp>
        <p:nvSpPr>
          <p:cNvPr id="58371" name="AutoShape 22">
            <a:hlinkClick r:id="" action="ppaction://hlinkshowjump?jump=previousslide" highlightClick="1"/>
          </p:cNvPr>
          <p:cNvSpPr>
            <a:spLocks noChangeArrowheads="1"/>
          </p:cNvSpPr>
          <p:nvPr/>
        </p:nvSpPr>
        <p:spPr bwMode="auto">
          <a:xfrm>
            <a:off x="7791450" y="419100"/>
            <a:ext cx="457200" cy="228600"/>
          </a:xfrm>
          <a:prstGeom prst="actionButtonBackPrevious">
            <a:avLst/>
          </a:prstGeom>
          <a:solidFill>
            <a:srgbClr val="EDA9EB"/>
          </a:solidFill>
          <a:ln w="9525">
            <a:solidFill>
              <a:srgbClr val="FFFF00"/>
            </a:solidFill>
            <a:miter lim="800000"/>
            <a:headEnd/>
            <a:tailEnd/>
          </a:ln>
        </p:spPr>
        <p:txBody>
          <a:bodyPr wrap="none" anchor="ctr"/>
          <a:lstStyle/>
          <a:p>
            <a:endParaRPr lang="zh-CN" altLang="en-US"/>
          </a:p>
        </p:txBody>
      </p:sp>
      <p:sp>
        <p:nvSpPr>
          <p:cNvPr id="58372" name="AutoShape 23">
            <a:hlinkClick r:id="rId3" action="ppaction://hlinksldjump" highlightClick="1"/>
          </p:cNvPr>
          <p:cNvSpPr>
            <a:spLocks noChangeArrowheads="1"/>
          </p:cNvSpPr>
          <p:nvPr/>
        </p:nvSpPr>
        <p:spPr bwMode="auto">
          <a:xfrm>
            <a:off x="8324850" y="419100"/>
            <a:ext cx="438150" cy="228600"/>
          </a:xfrm>
          <a:prstGeom prst="actionButtonReturn">
            <a:avLst/>
          </a:prstGeom>
          <a:solidFill>
            <a:srgbClr val="EDA9EB"/>
          </a:solidFill>
          <a:ln w="9525">
            <a:solidFill>
              <a:srgbClr val="FFFF00"/>
            </a:solidFill>
            <a:miter lim="800000"/>
            <a:headEnd/>
            <a:tailEnd/>
          </a:ln>
        </p:spPr>
        <p:txBody>
          <a:bodyPr wrap="none" anchor="ctr"/>
          <a:lstStyle/>
          <a:p>
            <a:endParaRPr lang="zh-CN" altLang="en-US"/>
          </a:p>
        </p:txBody>
      </p:sp>
      <p:sp>
        <p:nvSpPr>
          <p:cNvPr id="3" name="日期占位符 2">
            <a:extLst>
              <a:ext uri="{FF2B5EF4-FFF2-40B4-BE49-F238E27FC236}">
                <a16:creationId xmlns:a16="http://schemas.microsoft.com/office/drawing/2014/main" id="{0DE5B635-71B1-DFCF-AF7E-8C4813EE8CE7}"/>
              </a:ext>
            </a:extLst>
          </p:cNvPr>
          <p:cNvSpPr>
            <a:spLocks noGrp="1"/>
          </p:cNvSpPr>
          <p:nvPr>
            <p:ph type="dt" sz="half" idx="10"/>
          </p:nvPr>
        </p:nvSpPr>
        <p:spPr/>
        <p:txBody>
          <a:bodyPr/>
          <a:lstStyle/>
          <a:p>
            <a:pPr>
              <a:defRPr/>
            </a:pPr>
            <a:fld id="{CDBCF27A-C075-4791-86EB-2BAD1A286E4D}" type="datetime1">
              <a:rPr lang="zh-CN" altLang="en-US" smtClean="0"/>
              <a:t>2025/9/25</a:t>
            </a:fld>
            <a:endParaRPr lang="en-US" altLang="zh-CN"/>
          </a:p>
        </p:txBody>
      </p:sp>
      <p:sp>
        <p:nvSpPr>
          <p:cNvPr id="4" name="页脚占位符 3">
            <a:extLst>
              <a:ext uri="{FF2B5EF4-FFF2-40B4-BE49-F238E27FC236}">
                <a16:creationId xmlns:a16="http://schemas.microsoft.com/office/drawing/2014/main" id="{544B4834-4BFE-9D70-16DF-EDD7D0D68DED}"/>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5" name="灯片编号占位符 4">
            <a:extLst>
              <a:ext uri="{FF2B5EF4-FFF2-40B4-BE49-F238E27FC236}">
                <a16:creationId xmlns:a16="http://schemas.microsoft.com/office/drawing/2014/main" id="{3522BD57-5388-2E3A-0E1B-B6223A426968}"/>
              </a:ext>
            </a:extLst>
          </p:cNvPr>
          <p:cNvSpPr>
            <a:spLocks noGrp="1"/>
          </p:cNvSpPr>
          <p:nvPr>
            <p:ph type="sldNum" sz="quarter" idx="12"/>
          </p:nvPr>
        </p:nvSpPr>
        <p:spPr/>
        <p:txBody>
          <a:bodyPr/>
          <a:lstStyle/>
          <a:p>
            <a:pPr>
              <a:defRPr/>
            </a:pPr>
            <a:fld id="{65B7EA61-351E-4105-9AD9-76D38C6E9934}" type="slidenum">
              <a:rPr lang="zh-CN" altLang="en-US" smtClean="0"/>
              <a:t>46</a:t>
            </a:fld>
            <a:endParaRPr lang="en-US" altLang="zh-CN"/>
          </a:p>
        </p:txBody>
      </p:sp>
    </p:spTree>
    <p:extLst>
      <p:ext uri="{BB962C8B-B14F-4D97-AF65-F5344CB8AC3E}">
        <p14:creationId xmlns:p14="http://schemas.microsoft.com/office/powerpoint/2010/main" val="358062874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2"/>
                                        </p:tgtEl>
                                      </p:cBhvr>
                                      <p:by x="150000" y="15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63" presetClass="path" presetSubtype="0" accel="50000" decel="50000" fill="hold" nodeType="clickEffect">
                                  <p:stCondLst>
                                    <p:cond delay="0"/>
                                  </p:stCondLst>
                                  <p:childTnLst>
                                    <p:animMotion origin="layout" path="M 1.66667E-6 1.85185E-6 L 0.14271 0.00162 " pathEditMode="relative" rAng="0" ptsTypes="AA">
                                      <p:cBhvr>
                                        <p:cTn id="10" dur="500" fill="hold"/>
                                        <p:tgtEl>
                                          <p:spTgt spid="2"/>
                                        </p:tgtEl>
                                        <p:attrNameLst>
                                          <p:attrName>ppt_x</p:attrName>
                                          <p:attrName>ppt_y</p:attrName>
                                        </p:attrNameLst>
                                      </p:cBhvr>
                                      <p:rCtr x="7135"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arch33">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95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CD1DCED2-BEC5-25C4-B715-F3259DAE521D}"/>
              </a:ext>
            </a:extLst>
          </p:cNvPr>
          <p:cNvSpPr>
            <a:spLocks noGrp="1"/>
          </p:cNvSpPr>
          <p:nvPr>
            <p:ph type="dt" sz="half" idx="10"/>
          </p:nvPr>
        </p:nvSpPr>
        <p:spPr/>
        <p:txBody>
          <a:bodyPr/>
          <a:lstStyle/>
          <a:p>
            <a:pPr>
              <a:defRPr/>
            </a:pPr>
            <a:fld id="{11FD78C6-E5DB-4840-B840-F6A8D045367D}" type="datetime1">
              <a:rPr lang="zh-CN" altLang="en-US" smtClean="0"/>
              <a:t>2025/9/25</a:t>
            </a:fld>
            <a:endParaRPr lang="en-US" altLang="zh-CN"/>
          </a:p>
        </p:txBody>
      </p:sp>
      <p:sp>
        <p:nvSpPr>
          <p:cNvPr id="3" name="页脚占位符 2">
            <a:extLst>
              <a:ext uri="{FF2B5EF4-FFF2-40B4-BE49-F238E27FC236}">
                <a16:creationId xmlns:a16="http://schemas.microsoft.com/office/drawing/2014/main" id="{F9221332-95CB-4927-5640-D71A48A1D096}"/>
              </a:ext>
            </a:extLst>
          </p:cNvPr>
          <p:cNvSpPr>
            <a:spLocks noGrp="1"/>
          </p:cNvSpPr>
          <p:nvPr>
            <p:ph type="ftr" sz="quarter" idx="11"/>
          </p:nvPr>
        </p:nvSpPr>
        <p:spPr/>
        <p:txBody>
          <a:bodyPr/>
          <a:lstStyle/>
          <a:p>
            <a:pPr>
              <a:defRPr/>
            </a:pPr>
            <a:r>
              <a:rPr lang="zh-CN" altLang="en-US"/>
              <a:t>计算机科学与技术学院 计算机体系结构 刘宏伟</a:t>
            </a:r>
            <a:endParaRPr lang="en-US" altLang="zh-CN"/>
          </a:p>
        </p:txBody>
      </p:sp>
      <p:sp>
        <p:nvSpPr>
          <p:cNvPr id="4" name="灯片编号占位符 3">
            <a:extLst>
              <a:ext uri="{FF2B5EF4-FFF2-40B4-BE49-F238E27FC236}">
                <a16:creationId xmlns:a16="http://schemas.microsoft.com/office/drawing/2014/main" id="{A1ADF6CC-3171-5806-A972-8EB9DED8EEF5}"/>
              </a:ext>
            </a:extLst>
          </p:cNvPr>
          <p:cNvSpPr>
            <a:spLocks noGrp="1"/>
          </p:cNvSpPr>
          <p:nvPr>
            <p:ph type="sldNum" sz="quarter" idx="12"/>
          </p:nvPr>
        </p:nvSpPr>
        <p:spPr/>
        <p:txBody>
          <a:bodyPr/>
          <a:lstStyle/>
          <a:p>
            <a:pPr>
              <a:defRPr/>
            </a:pPr>
            <a:fld id="{65B7EA61-351E-4105-9AD9-76D38C6E9934}" type="slidenum">
              <a:rPr lang="zh-CN" altLang="en-US" smtClean="0"/>
              <a:t>47</a:t>
            </a:fld>
            <a:endParaRPr lang="en-US" altLang="zh-CN"/>
          </a:p>
        </p:txBody>
      </p:sp>
    </p:spTree>
    <p:extLst>
      <p:ext uri="{BB962C8B-B14F-4D97-AF65-F5344CB8AC3E}">
        <p14:creationId xmlns:p14="http://schemas.microsoft.com/office/powerpoint/2010/main" val="3672770198"/>
      </p:ext>
    </p:extLst>
  </p:cSld>
  <p:clrMapOvr>
    <a:masterClrMapping/>
  </p:clrMapOvr>
  <p:transition spd="slow" advClick="0"/>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4845</TotalTime>
  <Words>2676</Words>
  <Application>Microsoft Office PowerPoint</Application>
  <PresentationFormat>全屏显示(4:3)</PresentationFormat>
  <Paragraphs>431</Paragraphs>
  <Slides>47</Slides>
  <Notes>44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47</vt:i4>
      </vt:variant>
    </vt:vector>
  </HeadingPairs>
  <TitlesOfParts>
    <vt:vector size="56" baseType="lpstr">
      <vt:lpstr>仿宋_GB2312</vt:lpstr>
      <vt:lpstr>华文中宋</vt:lpstr>
      <vt:lpstr>楷体_GB2312</vt:lpstr>
      <vt:lpstr>宋体</vt:lpstr>
      <vt:lpstr>Arial</vt:lpstr>
      <vt:lpstr>Calibri</vt:lpstr>
      <vt:lpstr>Times New Roman</vt:lpstr>
      <vt:lpstr>Wingdings</vt:lpstr>
      <vt:lpstr>Office 主题​​</vt:lpstr>
      <vt:lpstr>计算机体系结构</vt:lpstr>
      <vt:lpstr>Recap</vt:lpstr>
      <vt:lpstr>PowerPoint 演示文稿</vt:lpstr>
      <vt:lpstr>第3章 流水线技术</vt:lpstr>
      <vt:lpstr>3.1  流水线概述</vt:lpstr>
      <vt:lpstr>3.1.1 流水线的基本概念</vt:lpstr>
      <vt:lpstr>PowerPoint 演示文稿</vt:lpstr>
      <vt:lpstr>PowerPoint 演示文稿</vt:lpstr>
      <vt:lpstr>PowerPoint 演示文稿</vt:lpstr>
      <vt:lpstr>3.1.1 流水线基本概念</vt:lpstr>
      <vt:lpstr>PowerPoint 演示文稿</vt:lpstr>
      <vt:lpstr>PowerPoint 演示文稿</vt:lpstr>
      <vt:lpstr>PowerPoint 演示文稿</vt:lpstr>
      <vt:lpstr>3.1  流水线概述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    MIPS基本流水线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1851</cp:revision>
  <cp:lastPrinted>2021-10-14T03:00:37Z</cp:lastPrinted>
  <dcterms:created xsi:type="dcterms:W3CDTF">2113-01-01T00:00:00Z</dcterms:created>
  <dcterms:modified xsi:type="dcterms:W3CDTF">2025-09-25T14:38:47Z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