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4"/>
  </p:notesMasterIdLst>
  <p:handoutMasterIdLst>
    <p:handoutMasterId r:id="rId65"/>
  </p:handoutMasterIdLst>
  <p:sldIdLst>
    <p:sldId id="256" r:id="rId2"/>
    <p:sldId id="1033" r:id="rId3"/>
    <p:sldId id="1708" r:id="rId4"/>
    <p:sldId id="1807" r:id="rId5"/>
    <p:sldId id="1808" r:id="rId6"/>
    <p:sldId id="1809" r:id="rId7"/>
    <p:sldId id="1810" r:id="rId8"/>
    <p:sldId id="1811" r:id="rId9"/>
    <p:sldId id="1812" r:id="rId10"/>
    <p:sldId id="1813" r:id="rId11"/>
    <p:sldId id="1919" r:id="rId12"/>
    <p:sldId id="1709" r:id="rId13"/>
    <p:sldId id="1710" r:id="rId14"/>
    <p:sldId id="1712" r:id="rId15"/>
    <p:sldId id="1713" r:id="rId16"/>
    <p:sldId id="1714" r:id="rId17"/>
    <p:sldId id="1715" r:id="rId18"/>
    <p:sldId id="1887" r:id="rId19"/>
    <p:sldId id="1716" r:id="rId20"/>
    <p:sldId id="1815" r:id="rId21"/>
    <p:sldId id="1888" r:id="rId22"/>
    <p:sldId id="1889" r:id="rId23"/>
    <p:sldId id="1890" r:id="rId24"/>
    <p:sldId id="1891" r:id="rId25"/>
    <p:sldId id="1892" r:id="rId26"/>
    <p:sldId id="1893" r:id="rId27"/>
    <p:sldId id="1894" r:id="rId28"/>
    <p:sldId id="1895" r:id="rId29"/>
    <p:sldId id="1896" r:id="rId30"/>
    <p:sldId id="1897" r:id="rId31"/>
    <p:sldId id="1898" r:id="rId32"/>
    <p:sldId id="1899" r:id="rId33"/>
    <p:sldId id="1900" r:id="rId34"/>
    <p:sldId id="1901" r:id="rId35"/>
    <p:sldId id="1902" r:id="rId36"/>
    <p:sldId id="1903" r:id="rId37"/>
    <p:sldId id="1904" r:id="rId38"/>
    <p:sldId id="1905" r:id="rId39"/>
    <p:sldId id="1906" r:id="rId40"/>
    <p:sldId id="1907" r:id="rId41"/>
    <p:sldId id="1908" r:id="rId42"/>
    <p:sldId id="1909" r:id="rId43"/>
    <p:sldId id="1910" r:id="rId44"/>
    <p:sldId id="1911" r:id="rId45"/>
    <p:sldId id="1912" r:id="rId46"/>
    <p:sldId id="1913" r:id="rId47"/>
    <p:sldId id="293" r:id="rId48"/>
    <p:sldId id="1759" r:id="rId49"/>
    <p:sldId id="1760" r:id="rId50"/>
    <p:sldId id="1820" r:id="rId51"/>
    <p:sldId id="1830" r:id="rId52"/>
    <p:sldId id="1831" r:id="rId53"/>
    <p:sldId id="1832" r:id="rId54"/>
    <p:sldId id="1915" r:id="rId55"/>
    <p:sldId id="1833" r:id="rId56"/>
    <p:sldId id="1836" r:id="rId57"/>
    <p:sldId id="1844" r:id="rId58"/>
    <p:sldId id="1845" r:id="rId59"/>
    <p:sldId id="1916" r:id="rId60"/>
    <p:sldId id="1917" r:id="rId61"/>
    <p:sldId id="1918" r:id="rId62"/>
    <p:sldId id="1842" r:id="rId63"/>
  </p:sldIdLst>
  <p:sldSz cx="9144000" cy="6858000" type="screen4x3"/>
  <p:notesSz cx="7102475" cy="10233025"/>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66FF"/>
    <a:srgbClr val="0033CC"/>
    <a:srgbClr val="003399"/>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2620" autoAdjust="0"/>
  </p:normalViewPr>
  <p:slideViewPr>
    <p:cSldViewPr>
      <p:cViewPr varScale="1">
        <p:scale>
          <a:sx n="73" d="100"/>
          <a:sy n="73" d="100"/>
        </p:scale>
        <p:origin x="1305" y="3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713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7951" cy="511096"/>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2937" y="0"/>
            <a:ext cx="3077951" cy="511096"/>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2025/10/23</a:t>
            </a:fld>
            <a:endParaRPr lang="zh-CN" altLang="en-US"/>
          </a:p>
        </p:txBody>
      </p:sp>
      <p:sp>
        <p:nvSpPr>
          <p:cNvPr id="4" name="页脚占位符 3"/>
          <p:cNvSpPr>
            <a:spLocks noGrp="1"/>
          </p:cNvSpPr>
          <p:nvPr>
            <p:ph type="ftr" sz="quarter" idx="2"/>
          </p:nvPr>
        </p:nvSpPr>
        <p:spPr>
          <a:xfrm>
            <a:off x="0" y="9720342"/>
            <a:ext cx="3077951" cy="511096"/>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2937" y="9720342"/>
            <a:ext cx="3077951" cy="511096"/>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7951" cy="511096"/>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4525" y="0"/>
            <a:ext cx="3077951" cy="511096"/>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3775"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573" y="4860171"/>
            <a:ext cx="5209329" cy="4604623"/>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1930"/>
            <a:ext cx="3077951" cy="511096"/>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4525" y="9721930"/>
            <a:ext cx="3077951" cy="511096"/>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759BDA9-715D-4C83-A3ED-4603A9C2B1B9}" type="slidenum">
              <a:rPr lang="en-US" altLang="zh-CN" smtClean="0">
                <a:latin typeface="Arial" pitchFamily="34" charset="0"/>
              </a:rPr>
              <a:pPr eaLnBrk="1" fontAlgn="base" hangingPunct="1">
                <a:spcBef>
                  <a:spcPct val="0"/>
                </a:spcBef>
                <a:spcAft>
                  <a:spcPct val="0"/>
                </a:spcAft>
              </a:pPr>
              <a:t>3</a:t>
            </a:fld>
            <a:endParaRPr lang="en-US" altLang="zh-CN">
              <a:latin typeface="Arial" pitchFamily="34"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3C9A71F-D0EB-4B8D-943C-B0076550A85E}" type="slidenum">
              <a:rPr lang="en-US" altLang="zh-CN" smtClean="0">
                <a:latin typeface="Times New Roman" pitchFamily="18" charset="0"/>
              </a:rPr>
              <a:pPr eaLnBrk="1" fontAlgn="base" hangingPunct="1">
                <a:spcBef>
                  <a:spcPct val="0"/>
                </a:spcBef>
                <a:spcAft>
                  <a:spcPct val="0"/>
                </a:spcAft>
              </a:pPr>
              <a:t>4</a:t>
            </a:fld>
            <a:endParaRPr lang="en-US" altLang="zh-CN">
              <a:latin typeface="Times New Roman" pitchFamily="18" charset="0"/>
            </a:endParaRPr>
          </a:p>
        </p:txBody>
      </p:sp>
      <p:sp>
        <p:nvSpPr>
          <p:cNvPr id="921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955A8A57-4792-468D-9FFA-92C33BF71DAF}" type="slidenum">
              <a:rPr lang="en-US" altLang="zh-CN" smtClean="0">
                <a:latin typeface="Times New Roman" pitchFamily="18" charset="0"/>
              </a:rPr>
              <a:pPr eaLnBrk="1" fontAlgn="base" hangingPunct="1">
                <a:spcBef>
                  <a:spcPct val="0"/>
                </a:spcBef>
                <a:spcAft>
                  <a:spcPct val="0"/>
                </a:spcAft>
              </a:pPr>
              <a:t>5</a:t>
            </a:fld>
            <a:endParaRPr lang="en-US" altLang="zh-CN">
              <a:latin typeface="Times New Roman" pitchFamily="18" charset="0"/>
            </a:endParaRPr>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4C682DF-FEBC-4A84-8627-B51B6AF15327}" type="slidenum">
              <a:rPr lang="en-US" altLang="zh-CN" smtClean="0">
                <a:latin typeface="Times New Roman" pitchFamily="18" charset="0"/>
              </a:rPr>
              <a:pPr eaLnBrk="1" fontAlgn="base" hangingPunct="1">
                <a:spcBef>
                  <a:spcPct val="0"/>
                </a:spcBef>
                <a:spcAft>
                  <a:spcPct val="0"/>
                </a:spcAft>
              </a:pPr>
              <a:t>6</a:t>
            </a:fld>
            <a:endParaRPr lang="en-US" altLang="zh-CN">
              <a:latin typeface="Times New Roman" pitchFamily="18" charset="0"/>
            </a:endParaRPr>
          </a:p>
        </p:txBody>
      </p:sp>
      <p:sp>
        <p:nvSpPr>
          <p:cNvPr id="942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95236" name="幻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FB2DE7F1-1C13-4139-B389-C09E84EAD38B}" type="slidenum">
              <a:rPr lang="en-US" altLang="zh-CN" smtClean="0">
                <a:latin typeface="Times New Roman" pitchFamily="18" charset="0"/>
              </a:rPr>
              <a:pPr eaLnBrk="1" fontAlgn="base" hangingPunct="1">
                <a:spcBef>
                  <a:spcPct val="0"/>
                </a:spcBef>
                <a:spcAft>
                  <a:spcPct val="0"/>
                </a:spcAft>
              </a:pPr>
              <a:t>9</a:t>
            </a:fld>
            <a:endParaRPr lang="en-US" altLang="zh-CN">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96260" name="幻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B01831A-6957-4966-AC59-297376F85B15}" type="slidenum">
              <a:rPr lang="en-US" altLang="zh-CN" smtClean="0">
                <a:latin typeface="Times New Roman" pitchFamily="18" charset="0"/>
              </a:rPr>
              <a:pPr eaLnBrk="1" fontAlgn="base" hangingPunct="1">
                <a:spcBef>
                  <a:spcPct val="0"/>
                </a:spcBef>
                <a:spcAft>
                  <a:spcPct val="0"/>
                </a:spcAft>
              </a:pPr>
              <a:t>10</a:t>
            </a:fld>
            <a:endParaRPr lang="en-US" altLang="zh-CN">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759BDA9-715D-4C83-A3ED-4603A9C2B1B9}" type="slidenum">
              <a:rPr lang="en-US" altLang="zh-CN" smtClean="0">
                <a:latin typeface="Arial" pitchFamily="34" charset="0"/>
              </a:rPr>
              <a:pPr eaLnBrk="1" fontAlgn="base" hangingPunct="1">
                <a:spcBef>
                  <a:spcPct val="0"/>
                </a:spcBef>
                <a:spcAft>
                  <a:spcPct val="0"/>
                </a:spcAft>
              </a:pPr>
              <a:t>11</a:t>
            </a:fld>
            <a:endParaRPr lang="en-US" altLang="zh-CN">
              <a:latin typeface="Arial" pitchFamily="34"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4016102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293A8654-769C-4015-9A72-E4C932169EF7}" type="slidenum">
              <a:rPr lang="en-US" altLang="zh-CN" smtClean="0">
                <a:latin typeface="Times New Roman" pitchFamily="18" charset="0"/>
              </a:rPr>
              <a:pPr eaLnBrk="1" fontAlgn="base" hangingPunct="1">
                <a:spcBef>
                  <a:spcPct val="0"/>
                </a:spcBef>
                <a:spcAft>
                  <a:spcPct val="0"/>
                </a:spcAft>
              </a:pPr>
              <a:t>12</a:t>
            </a:fld>
            <a:endParaRPr lang="en-US" altLang="zh-CN">
              <a:latin typeface="Times New Roman" pitchFamily="18"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8143F39E-FFE4-4179-B4DE-57D07B7E0665}" type="slidenum">
              <a:rPr lang="en-US" altLang="zh-CN" smtClean="0">
                <a:latin typeface="Times New Roman" pitchFamily="18" charset="0"/>
              </a:rPr>
              <a:pPr eaLnBrk="1" fontAlgn="base" hangingPunct="1">
                <a:spcBef>
                  <a:spcPct val="0"/>
                </a:spcBef>
                <a:spcAft>
                  <a:spcPct val="0"/>
                </a:spcAft>
              </a:pPr>
              <a:t>14</a:t>
            </a:fld>
            <a:endParaRPr lang="en-US" altLang="zh-CN">
              <a:latin typeface="Times New Roman" pitchFamily="18" charset="0"/>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4E75F45-E502-418C-B0CF-39522FACB6F5}" type="slidenum">
              <a:rPr lang="en-US" altLang="zh-CN" smtClean="0">
                <a:latin typeface="Times New Roman" pitchFamily="18" charset="0"/>
              </a:rPr>
              <a:pPr eaLnBrk="1" fontAlgn="base" hangingPunct="1">
                <a:spcBef>
                  <a:spcPct val="0"/>
                </a:spcBef>
                <a:spcAft>
                  <a:spcPct val="0"/>
                </a:spcAft>
              </a:pPr>
              <a:t>15</a:t>
            </a:fld>
            <a:endParaRPr lang="en-US" altLang="zh-CN">
              <a:latin typeface="Times New Roman" pitchFamily="18" charset="0"/>
            </a:endParaRPr>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AC3C28E8-DE19-45F4-BC52-5574B251A72C}" type="slidenum">
              <a:rPr lang="en-US" altLang="zh-CN" smtClean="0">
                <a:latin typeface="Times New Roman" pitchFamily="18" charset="0"/>
              </a:rPr>
              <a:pPr eaLnBrk="1" fontAlgn="base" hangingPunct="1">
                <a:spcBef>
                  <a:spcPct val="0"/>
                </a:spcBef>
                <a:spcAft>
                  <a:spcPct val="0"/>
                </a:spcAft>
              </a:pPr>
              <a:t>16</a:t>
            </a:fld>
            <a:endParaRPr lang="en-US" altLang="zh-CN">
              <a:latin typeface="Times New Roman" pitchFamily="18" charset="0"/>
            </a:endParaRPr>
          </a:p>
        </p:txBody>
      </p:sp>
      <p:sp>
        <p:nvSpPr>
          <p:cNvPr id="1126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A21B4ED7-4CD5-4EBE-9FE4-781965D66058}" type="slidenum">
              <a:rPr lang="en-US" altLang="zh-CN" smtClean="0">
                <a:latin typeface="Times New Roman" pitchFamily="18" charset="0"/>
              </a:rPr>
              <a:pPr eaLnBrk="1" fontAlgn="base" hangingPunct="1">
                <a:spcBef>
                  <a:spcPct val="0"/>
                </a:spcBef>
                <a:spcAft>
                  <a:spcPct val="0"/>
                </a:spcAft>
              </a:pPr>
              <a:t>17</a:t>
            </a:fld>
            <a:endParaRPr lang="en-US" altLang="zh-CN">
              <a:latin typeface="Times New Roman" pitchFamily="18" charset="0"/>
            </a:endParaRPr>
          </a:p>
        </p:txBody>
      </p:sp>
      <p:sp>
        <p:nvSpPr>
          <p:cNvPr id="1136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DDC5E8F1-674F-4A00-AB6C-F796492CE6F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141A468-7184-4235-A772-F25D680638C9}" type="slidenum">
              <a:rPr lang="zh-CN" altLang="zh-CN" smtClean="0">
                <a:latin typeface="Calibri" panose="020F0502020204030204" pitchFamily="34" charset="0"/>
              </a:rPr>
              <a:pPr>
                <a:spcBef>
                  <a:spcPct val="0"/>
                </a:spcBef>
                <a:buClrTx/>
                <a:buFontTx/>
                <a:buNone/>
              </a:pPr>
              <a:t>18</a:t>
            </a:fld>
            <a:endParaRPr lang="zh-CN" altLang="zh-CN">
              <a:latin typeface="Calibri" panose="020F0502020204030204" pitchFamily="34" charset="0"/>
            </a:endParaRPr>
          </a:p>
        </p:txBody>
      </p:sp>
      <p:sp>
        <p:nvSpPr>
          <p:cNvPr id="88067" name="Rectangle 1">
            <a:extLst>
              <a:ext uri="{FF2B5EF4-FFF2-40B4-BE49-F238E27FC236}">
                <a16:creationId xmlns:a16="http://schemas.microsoft.com/office/drawing/2014/main" id="{8F56B506-DFDA-4E8C-B1B9-28D6401A627E}"/>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8" name="Text Box 2">
            <a:extLst>
              <a:ext uri="{FF2B5EF4-FFF2-40B4-BE49-F238E27FC236}">
                <a16:creationId xmlns:a16="http://schemas.microsoft.com/office/drawing/2014/main" id="{C4F99DB7-43DD-4500-B324-334FE50C2503}"/>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A81E5FB-988D-48FC-9229-069BB05AB656}" type="slidenum">
              <a:rPr lang="en-US" altLang="zh-CN" smtClean="0">
                <a:latin typeface="Times New Roman" pitchFamily="18" charset="0"/>
              </a:rPr>
              <a:pPr eaLnBrk="1" fontAlgn="base" hangingPunct="1">
                <a:spcBef>
                  <a:spcPct val="0"/>
                </a:spcBef>
                <a:spcAft>
                  <a:spcPct val="0"/>
                </a:spcAft>
              </a:pPr>
              <a:t>19</a:t>
            </a:fld>
            <a:endParaRPr lang="en-US" altLang="zh-CN">
              <a:latin typeface="Times New Roman" pitchFamily="18" charset="0"/>
            </a:endParaRPr>
          </a:p>
        </p:txBody>
      </p:sp>
      <p:sp>
        <p:nvSpPr>
          <p:cNvPr id="1146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5743D8F6-3B37-47F9-AC7D-62650336B8A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7241DE6-7D67-420C-9998-A8FD171EE7FA}" type="slidenum">
              <a:rPr lang="zh-CN" altLang="zh-CN" smtClean="0">
                <a:latin typeface="Calibri" panose="020F0502020204030204" pitchFamily="34" charset="0"/>
              </a:rPr>
              <a:pPr>
                <a:spcBef>
                  <a:spcPct val="0"/>
                </a:spcBef>
                <a:buClrTx/>
                <a:buFontTx/>
                <a:buNone/>
              </a:pPr>
              <a:t>21</a:t>
            </a:fld>
            <a:endParaRPr lang="zh-CN" altLang="zh-CN">
              <a:latin typeface="Calibri" panose="020F0502020204030204" pitchFamily="34" charset="0"/>
            </a:endParaRPr>
          </a:p>
        </p:txBody>
      </p:sp>
      <p:sp>
        <p:nvSpPr>
          <p:cNvPr id="90115" name="Rectangle 1">
            <a:extLst>
              <a:ext uri="{FF2B5EF4-FFF2-40B4-BE49-F238E27FC236}">
                <a16:creationId xmlns:a16="http://schemas.microsoft.com/office/drawing/2014/main" id="{965C7D92-808A-4B5B-9B0D-1810DD66A42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Text Box 2">
            <a:extLst>
              <a:ext uri="{FF2B5EF4-FFF2-40B4-BE49-F238E27FC236}">
                <a16:creationId xmlns:a16="http://schemas.microsoft.com/office/drawing/2014/main" id="{5D167DE5-FD9C-440A-9DE1-EF9FF691A8AB}"/>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02DF4C03-BCA3-402A-80CF-13CF8207331C}"/>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6693D25-D4AA-45A7-B1F4-98A5BCC0E504}" type="slidenum">
              <a:rPr lang="zh-CN" altLang="zh-CN" smtClean="0">
                <a:latin typeface="Calibri" panose="020F0502020204030204" pitchFamily="34" charset="0"/>
              </a:rPr>
              <a:pPr>
                <a:spcBef>
                  <a:spcPct val="0"/>
                </a:spcBef>
                <a:buClrTx/>
                <a:buFontTx/>
                <a:buNone/>
              </a:pPr>
              <a:t>22</a:t>
            </a:fld>
            <a:endParaRPr lang="zh-CN" altLang="zh-CN">
              <a:latin typeface="Calibri" panose="020F0502020204030204" pitchFamily="34" charset="0"/>
            </a:endParaRPr>
          </a:p>
        </p:txBody>
      </p:sp>
      <p:sp>
        <p:nvSpPr>
          <p:cNvPr id="92163" name="Rectangle 1">
            <a:extLst>
              <a:ext uri="{FF2B5EF4-FFF2-40B4-BE49-F238E27FC236}">
                <a16:creationId xmlns:a16="http://schemas.microsoft.com/office/drawing/2014/main" id="{45D89652-E104-4BDB-8A07-2E9795CF26F5}"/>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Text Box 2">
            <a:extLst>
              <a:ext uri="{FF2B5EF4-FFF2-40B4-BE49-F238E27FC236}">
                <a16:creationId xmlns:a16="http://schemas.microsoft.com/office/drawing/2014/main" id="{7D39C7F6-7B73-47ED-8956-F27F1F4AAAD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81C9D41-0587-4870-B774-12AE12166D9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84632D9-E9E9-4C70-AF5C-3417169C9733}" type="slidenum">
              <a:rPr lang="zh-CN" altLang="zh-CN" smtClean="0">
                <a:latin typeface="Calibri" panose="020F0502020204030204" pitchFamily="34" charset="0"/>
              </a:rPr>
              <a:pPr>
                <a:spcBef>
                  <a:spcPct val="0"/>
                </a:spcBef>
                <a:buClrTx/>
                <a:buFontTx/>
                <a:buNone/>
              </a:pPr>
              <a:t>23</a:t>
            </a:fld>
            <a:endParaRPr lang="zh-CN" altLang="zh-CN">
              <a:latin typeface="Calibri" panose="020F0502020204030204" pitchFamily="34" charset="0"/>
            </a:endParaRPr>
          </a:p>
        </p:txBody>
      </p:sp>
      <p:sp>
        <p:nvSpPr>
          <p:cNvPr id="94211" name="Rectangle 1">
            <a:extLst>
              <a:ext uri="{FF2B5EF4-FFF2-40B4-BE49-F238E27FC236}">
                <a16:creationId xmlns:a16="http://schemas.microsoft.com/office/drawing/2014/main" id="{7A79EE2D-DE94-493E-9C6D-368847523D9E}"/>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Text Box 2">
            <a:extLst>
              <a:ext uri="{FF2B5EF4-FFF2-40B4-BE49-F238E27FC236}">
                <a16:creationId xmlns:a16="http://schemas.microsoft.com/office/drawing/2014/main" id="{AD418D2E-DD43-48A0-848F-0D1593C0492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4A33C078-F2B0-495F-A0B1-0F51D9F412D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0A8E7659-3B77-4087-AD9F-814013C184A8}" type="slidenum">
              <a:rPr lang="zh-CN" altLang="zh-CN" smtClean="0">
                <a:latin typeface="Calibri" panose="020F0502020204030204" pitchFamily="34" charset="0"/>
              </a:rPr>
              <a:pPr>
                <a:spcBef>
                  <a:spcPct val="0"/>
                </a:spcBef>
                <a:buClrTx/>
                <a:buFontTx/>
                <a:buNone/>
              </a:pPr>
              <a:t>24</a:t>
            </a:fld>
            <a:endParaRPr lang="zh-CN" altLang="zh-CN">
              <a:latin typeface="Calibri" panose="020F0502020204030204" pitchFamily="34" charset="0"/>
            </a:endParaRPr>
          </a:p>
        </p:txBody>
      </p:sp>
      <p:sp>
        <p:nvSpPr>
          <p:cNvPr id="96259" name="Rectangle 1">
            <a:extLst>
              <a:ext uri="{FF2B5EF4-FFF2-40B4-BE49-F238E27FC236}">
                <a16:creationId xmlns:a16="http://schemas.microsoft.com/office/drawing/2014/main" id="{05F40AAC-42B3-497B-A1C6-BC48227D399C}"/>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60" name="Text Box 2">
            <a:extLst>
              <a:ext uri="{FF2B5EF4-FFF2-40B4-BE49-F238E27FC236}">
                <a16:creationId xmlns:a16="http://schemas.microsoft.com/office/drawing/2014/main" id="{B03167B4-CD52-45BA-8DF8-BB38105CE5D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BBB4DC2-C020-424F-825F-AD3C86C5CBD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E406545-37A1-4A8A-A091-E06A5059B373}" type="slidenum">
              <a:rPr lang="zh-CN" altLang="zh-CN" smtClean="0">
                <a:latin typeface="Calibri" panose="020F0502020204030204" pitchFamily="34" charset="0"/>
              </a:rPr>
              <a:pPr>
                <a:spcBef>
                  <a:spcPct val="0"/>
                </a:spcBef>
                <a:buClrTx/>
                <a:buFontTx/>
                <a:buNone/>
              </a:pPr>
              <a:t>25</a:t>
            </a:fld>
            <a:endParaRPr lang="zh-CN" altLang="zh-CN">
              <a:latin typeface="Calibri" panose="020F0502020204030204" pitchFamily="34" charset="0"/>
            </a:endParaRPr>
          </a:p>
        </p:txBody>
      </p:sp>
      <p:sp>
        <p:nvSpPr>
          <p:cNvPr id="98307" name="Rectangle 1">
            <a:extLst>
              <a:ext uri="{FF2B5EF4-FFF2-40B4-BE49-F238E27FC236}">
                <a16:creationId xmlns:a16="http://schemas.microsoft.com/office/drawing/2014/main" id="{E21691E2-1314-45D2-931B-6DB36648CA74}"/>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8" name="Text Box 2">
            <a:extLst>
              <a:ext uri="{FF2B5EF4-FFF2-40B4-BE49-F238E27FC236}">
                <a16:creationId xmlns:a16="http://schemas.microsoft.com/office/drawing/2014/main" id="{A3C43A19-079D-4DF2-A73C-3651D2B11675}"/>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A94BD81F-A3DF-44E9-A2EA-B406FE8F386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9EE9D834-5E84-44C9-A089-746B5B83480D}" type="slidenum">
              <a:rPr lang="zh-CN" altLang="zh-CN" smtClean="0">
                <a:latin typeface="Calibri" panose="020F0502020204030204" pitchFamily="34" charset="0"/>
              </a:rPr>
              <a:pPr>
                <a:spcBef>
                  <a:spcPct val="0"/>
                </a:spcBef>
                <a:buClrTx/>
                <a:buFontTx/>
                <a:buNone/>
              </a:pPr>
              <a:t>26</a:t>
            </a:fld>
            <a:endParaRPr lang="zh-CN" altLang="zh-CN">
              <a:latin typeface="Calibri" panose="020F0502020204030204" pitchFamily="34" charset="0"/>
            </a:endParaRPr>
          </a:p>
        </p:txBody>
      </p:sp>
      <p:sp>
        <p:nvSpPr>
          <p:cNvPr id="100355" name="Rectangle 1">
            <a:extLst>
              <a:ext uri="{FF2B5EF4-FFF2-40B4-BE49-F238E27FC236}">
                <a16:creationId xmlns:a16="http://schemas.microsoft.com/office/drawing/2014/main" id="{69C66698-6B43-4FA0-BCA8-40D527DA83EF}"/>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6" name="Text Box 2">
            <a:extLst>
              <a:ext uri="{FF2B5EF4-FFF2-40B4-BE49-F238E27FC236}">
                <a16:creationId xmlns:a16="http://schemas.microsoft.com/office/drawing/2014/main" id="{90131785-31CB-4840-A6F9-71F848EBE5B5}"/>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FDBD9F66-1220-428C-83BC-8F9063AE854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0C32154-167B-4996-9A92-F40F1124FC1A}" type="slidenum">
              <a:rPr lang="zh-CN" altLang="zh-CN" smtClean="0">
                <a:latin typeface="Calibri" panose="020F0502020204030204" pitchFamily="34" charset="0"/>
              </a:rPr>
              <a:pPr>
                <a:spcBef>
                  <a:spcPct val="0"/>
                </a:spcBef>
                <a:buClrTx/>
                <a:buFontTx/>
                <a:buNone/>
              </a:pPr>
              <a:t>27</a:t>
            </a:fld>
            <a:endParaRPr lang="zh-CN" altLang="zh-CN">
              <a:latin typeface="Calibri" panose="020F0502020204030204" pitchFamily="34" charset="0"/>
            </a:endParaRPr>
          </a:p>
        </p:txBody>
      </p:sp>
      <p:sp>
        <p:nvSpPr>
          <p:cNvPr id="102403" name="Rectangle 1">
            <a:extLst>
              <a:ext uri="{FF2B5EF4-FFF2-40B4-BE49-F238E27FC236}">
                <a16:creationId xmlns:a16="http://schemas.microsoft.com/office/drawing/2014/main" id="{E495FC9B-5213-4B2A-A45E-197727B8D66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4" name="Text Box 2">
            <a:extLst>
              <a:ext uri="{FF2B5EF4-FFF2-40B4-BE49-F238E27FC236}">
                <a16:creationId xmlns:a16="http://schemas.microsoft.com/office/drawing/2014/main" id="{3E21C938-356A-4F88-A138-211DFC7BD921}"/>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A42281C-4F24-4F65-846D-6E04A1C662A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E1DC5C42-8FB8-47E0-B309-5C4D1FDFFF70}" type="slidenum">
              <a:rPr lang="zh-CN" altLang="zh-CN" smtClean="0">
                <a:latin typeface="Calibri" panose="020F0502020204030204" pitchFamily="34" charset="0"/>
              </a:rPr>
              <a:pPr>
                <a:spcBef>
                  <a:spcPct val="0"/>
                </a:spcBef>
                <a:buClrTx/>
                <a:buFontTx/>
                <a:buNone/>
              </a:pPr>
              <a:t>28</a:t>
            </a:fld>
            <a:endParaRPr lang="zh-CN" altLang="zh-CN">
              <a:latin typeface="Calibri" panose="020F0502020204030204" pitchFamily="34" charset="0"/>
            </a:endParaRPr>
          </a:p>
        </p:txBody>
      </p:sp>
      <p:sp>
        <p:nvSpPr>
          <p:cNvPr id="104451" name="Rectangle 1">
            <a:extLst>
              <a:ext uri="{FF2B5EF4-FFF2-40B4-BE49-F238E27FC236}">
                <a16:creationId xmlns:a16="http://schemas.microsoft.com/office/drawing/2014/main" id="{5A414207-9250-4007-86CF-80FB3D40BFB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2" name="Text Box 2">
            <a:extLst>
              <a:ext uri="{FF2B5EF4-FFF2-40B4-BE49-F238E27FC236}">
                <a16:creationId xmlns:a16="http://schemas.microsoft.com/office/drawing/2014/main" id="{D602E1B7-48E6-489B-A606-D6DE4A241877}"/>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8D8CE615-04B0-4107-81B5-A848BE0A320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4E16A74-0238-41C7-97E8-6449D0CA6F71}" type="slidenum">
              <a:rPr lang="zh-CN" altLang="zh-CN" smtClean="0">
                <a:latin typeface="Calibri" panose="020F0502020204030204" pitchFamily="34" charset="0"/>
              </a:rPr>
              <a:pPr>
                <a:spcBef>
                  <a:spcPct val="0"/>
                </a:spcBef>
                <a:buClrTx/>
                <a:buFontTx/>
                <a:buNone/>
              </a:pPr>
              <a:t>29</a:t>
            </a:fld>
            <a:endParaRPr lang="zh-CN" altLang="zh-CN">
              <a:latin typeface="Calibri" panose="020F0502020204030204" pitchFamily="34" charset="0"/>
            </a:endParaRPr>
          </a:p>
        </p:txBody>
      </p:sp>
      <p:sp>
        <p:nvSpPr>
          <p:cNvPr id="106499" name="Rectangle 1">
            <a:extLst>
              <a:ext uri="{FF2B5EF4-FFF2-40B4-BE49-F238E27FC236}">
                <a16:creationId xmlns:a16="http://schemas.microsoft.com/office/drawing/2014/main" id="{1169132C-6EF8-4CBE-9DB7-C1296938C6C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0" name="Text Box 2">
            <a:extLst>
              <a:ext uri="{FF2B5EF4-FFF2-40B4-BE49-F238E27FC236}">
                <a16:creationId xmlns:a16="http://schemas.microsoft.com/office/drawing/2014/main" id="{677A99DD-0F7B-4977-A8B0-D4839194F73A}"/>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A3FECD8C-1A8B-4B4D-A89F-80FBE4715BB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AAD36E3-7205-4AC1-912B-484B5259F32D}" type="slidenum">
              <a:rPr lang="zh-CN" altLang="zh-CN" smtClean="0">
                <a:latin typeface="Calibri" panose="020F0502020204030204" pitchFamily="34" charset="0"/>
              </a:rPr>
              <a:pPr>
                <a:spcBef>
                  <a:spcPct val="0"/>
                </a:spcBef>
                <a:buClrTx/>
                <a:buFontTx/>
                <a:buNone/>
              </a:pPr>
              <a:t>30</a:t>
            </a:fld>
            <a:endParaRPr lang="zh-CN" altLang="zh-CN">
              <a:latin typeface="Calibri" panose="020F0502020204030204" pitchFamily="34" charset="0"/>
            </a:endParaRPr>
          </a:p>
        </p:txBody>
      </p:sp>
      <p:sp>
        <p:nvSpPr>
          <p:cNvPr id="108547" name="Rectangle 1">
            <a:extLst>
              <a:ext uri="{FF2B5EF4-FFF2-40B4-BE49-F238E27FC236}">
                <a16:creationId xmlns:a16="http://schemas.microsoft.com/office/drawing/2014/main" id="{6D002964-5084-41C8-8F01-B07EBBF74402}"/>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8" name="Text Box 2">
            <a:extLst>
              <a:ext uri="{FF2B5EF4-FFF2-40B4-BE49-F238E27FC236}">
                <a16:creationId xmlns:a16="http://schemas.microsoft.com/office/drawing/2014/main" id="{48846CD7-B0E1-4682-A46E-FD33B45D8686}"/>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43FFF040-8D5F-4C18-A368-53546105827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D78A802-D64A-416A-845C-AF3FDF17607F}" type="slidenum">
              <a:rPr lang="zh-CN" altLang="zh-CN" smtClean="0">
                <a:latin typeface="Calibri" panose="020F0502020204030204" pitchFamily="34" charset="0"/>
              </a:rPr>
              <a:pPr>
                <a:spcBef>
                  <a:spcPct val="0"/>
                </a:spcBef>
                <a:buClrTx/>
                <a:buFontTx/>
                <a:buNone/>
              </a:pPr>
              <a:t>31</a:t>
            </a:fld>
            <a:endParaRPr lang="zh-CN" altLang="zh-CN">
              <a:latin typeface="Calibri" panose="020F0502020204030204" pitchFamily="34" charset="0"/>
            </a:endParaRPr>
          </a:p>
        </p:txBody>
      </p:sp>
      <p:sp>
        <p:nvSpPr>
          <p:cNvPr id="110595" name="Rectangle 1">
            <a:extLst>
              <a:ext uri="{FF2B5EF4-FFF2-40B4-BE49-F238E27FC236}">
                <a16:creationId xmlns:a16="http://schemas.microsoft.com/office/drawing/2014/main" id="{7BA32936-BCD8-4684-A993-343AF67D455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6" name="Text Box 2">
            <a:extLst>
              <a:ext uri="{FF2B5EF4-FFF2-40B4-BE49-F238E27FC236}">
                <a16:creationId xmlns:a16="http://schemas.microsoft.com/office/drawing/2014/main" id="{C1A15644-3C9B-444D-B3F4-B227D35279DC}"/>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217701BE-9E9D-4690-8E39-242C7558B17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249D861-EB1F-415C-8A91-E33015407B91}" type="slidenum">
              <a:rPr lang="zh-CN" altLang="zh-CN" smtClean="0">
                <a:latin typeface="Calibri" panose="020F0502020204030204" pitchFamily="34" charset="0"/>
              </a:rPr>
              <a:pPr>
                <a:spcBef>
                  <a:spcPct val="0"/>
                </a:spcBef>
                <a:buClrTx/>
                <a:buFontTx/>
                <a:buNone/>
              </a:pPr>
              <a:t>32</a:t>
            </a:fld>
            <a:endParaRPr lang="zh-CN" altLang="zh-CN">
              <a:latin typeface="Calibri" panose="020F0502020204030204" pitchFamily="34" charset="0"/>
            </a:endParaRPr>
          </a:p>
        </p:txBody>
      </p:sp>
      <p:sp>
        <p:nvSpPr>
          <p:cNvPr id="112643" name="Rectangle 1">
            <a:extLst>
              <a:ext uri="{FF2B5EF4-FFF2-40B4-BE49-F238E27FC236}">
                <a16:creationId xmlns:a16="http://schemas.microsoft.com/office/drawing/2014/main" id="{6DDC33B2-4D28-4CCF-B294-6B1DC4EF8FF2}"/>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4" name="Text Box 2">
            <a:extLst>
              <a:ext uri="{FF2B5EF4-FFF2-40B4-BE49-F238E27FC236}">
                <a16:creationId xmlns:a16="http://schemas.microsoft.com/office/drawing/2014/main" id="{B60E06EC-7055-4041-84F0-663B12547A0C}"/>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ABA6915B-BE13-4BDE-9065-BB1A1C7EA72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0687070-8C02-4282-9E1E-B0C2438A0A84}" type="slidenum">
              <a:rPr lang="zh-CN" altLang="zh-CN" smtClean="0">
                <a:latin typeface="Calibri" panose="020F0502020204030204" pitchFamily="34" charset="0"/>
              </a:rPr>
              <a:pPr>
                <a:spcBef>
                  <a:spcPct val="0"/>
                </a:spcBef>
                <a:buClrTx/>
                <a:buFontTx/>
                <a:buNone/>
              </a:pPr>
              <a:t>33</a:t>
            </a:fld>
            <a:endParaRPr lang="zh-CN" altLang="zh-CN">
              <a:latin typeface="Calibri" panose="020F0502020204030204" pitchFamily="34" charset="0"/>
            </a:endParaRPr>
          </a:p>
        </p:txBody>
      </p:sp>
      <p:sp>
        <p:nvSpPr>
          <p:cNvPr id="114691" name="Rectangle 1">
            <a:extLst>
              <a:ext uri="{FF2B5EF4-FFF2-40B4-BE49-F238E27FC236}">
                <a16:creationId xmlns:a16="http://schemas.microsoft.com/office/drawing/2014/main" id="{AA3AAFC5-ADA0-450A-9307-14C038634EF9}"/>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Text Box 2">
            <a:extLst>
              <a:ext uri="{FF2B5EF4-FFF2-40B4-BE49-F238E27FC236}">
                <a16:creationId xmlns:a16="http://schemas.microsoft.com/office/drawing/2014/main" id="{3E9D39BF-A7ED-4E49-9162-DB56B5E3BDE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771454CA-36D4-48D5-A68E-D0ADF3EFAD8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DB892F0-1E44-44FE-BCBA-94021D180D2E}" type="slidenum">
              <a:rPr lang="zh-CN" altLang="zh-CN" smtClean="0">
                <a:latin typeface="Calibri" panose="020F0502020204030204" pitchFamily="34" charset="0"/>
              </a:rPr>
              <a:pPr>
                <a:spcBef>
                  <a:spcPct val="0"/>
                </a:spcBef>
                <a:buClrTx/>
                <a:buFontTx/>
                <a:buNone/>
              </a:pPr>
              <a:t>34</a:t>
            </a:fld>
            <a:endParaRPr lang="zh-CN" altLang="zh-CN">
              <a:latin typeface="Calibri" panose="020F0502020204030204" pitchFamily="34" charset="0"/>
            </a:endParaRPr>
          </a:p>
        </p:txBody>
      </p:sp>
      <p:sp>
        <p:nvSpPr>
          <p:cNvPr id="116739" name="Rectangle 1">
            <a:extLst>
              <a:ext uri="{FF2B5EF4-FFF2-40B4-BE49-F238E27FC236}">
                <a16:creationId xmlns:a16="http://schemas.microsoft.com/office/drawing/2014/main" id="{711DD302-D249-4F83-822D-1D752748DF94}"/>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Text Box 2">
            <a:extLst>
              <a:ext uri="{FF2B5EF4-FFF2-40B4-BE49-F238E27FC236}">
                <a16:creationId xmlns:a16="http://schemas.microsoft.com/office/drawing/2014/main" id="{E1B53DE1-8602-487B-92A6-59FA27DE7BC6}"/>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DAEDDADE-BCF1-414C-81E2-135034430BF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EDCF7B-73C6-4F0D-80BD-D4C6903C42D9}" type="slidenum">
              <a:rPr lang="zh-CN" altLang="zh-CN" smtClean="0">
                <a:latin typeface="Calibri" panose="020F0502020204030204" pitchFamily="34" charset="0"/>
              </a:rPr>
              <a:pPr>
                <a:spcBef>
                  <a:spcPct val="0"/>
                </a:spcBef>
                <a:buClrTx/>
                <a:buFontTx/>
                <a:buNone/>
              </a:pPr>
              <a:t>35</a:t>
            </a:fld>
            <a:endParaRPr lang="zh-CN" altLang="zh-CN">
              <a:latin typeface="Calibri" panose="020F0502020204030204" pitchFamily="34" charset="0"/>
            </a:endParaRPr>
          </a:p>
        </p:txBody>
      </p:sp>
      <p:sp>
        <p:nvSpPr>
          <p:cNvPr id="118787" name="Rectangle 1">
            <a:extLst>
              <a:ext uri="{FF2B5EF4-FFF2-40B4-BE49-F238E27FC236}">
                <a16:creationId xmlns:a16="http://schemas.microsoft.com/office/drawing/2014/main" id="{E9BE83DD-13BA-4093-BC83-0A4C64203208}"/>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8" name="Text Box 2">
            <a:extLst>
              <a:ext uri="{FF2B5EF4-FFF2-40B4-BE49-F238E27FC236}">
                <a16:creationId xmlns:a16="http://schemas.microsoft.com/office/drawing/2014/main" id="{451440DE-4D48-4730-B866-E6E1E3B1B81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10854C73-6EE0-4A34-A91F-A3D7B891F2E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A8ECD31-DA5D-4890-9AA8-190625735C83}" type="slidenum">
              <a:rPr lang="zh-CN" altLang="zh-CN" smtClean="0">
                <a:latin typeface="Calibri" panose="020F0502020204030204" pitchFamily="34" charset="0"/>
              </a:rPr>
              <a:pPr>
                <a:spcBef>
                  <a:spcPct val="0"/>
                </a:spcBef>
                <a:buClrTx/>
                <a:buFontTx/>
                <a:buNone/>
              </a:pPr>
              <a:t>36</a:t>
            </a:fld>
            <a:endParaRPr lang="zh-CN" altLang="zh-CN">
              <a:latin typeface="Calibri" panose="020F0502020204030204" pitchFamily="34" charset="0"/>
            </a:endParaRPr>
          </a:p>
        </p:txBody>
      </p:sp>
      <p:sp>
        <p:nvSpPr>
          <p:cNvPr id="120835" name="Rectangle 1">
            <a:extLst>
              <a:ext uri="{FF2B5EF4-FFF2-40B4-BE49-F238E27FC236}">
                <a16:creationId xmlns:a16="http://schemas.microsoft.com/office/drawing/2014/main" id="{687DE175-59AC-486A-A8E3-2E173B1129D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Text Box 2">
            <a:extLst>
              <a:ext uri="{FF2B5EF4-FFF2-40B4-BE49-F238E27FC236}">
                <a16:creationId xmlns:a16="http://schemas.microsoft.com/office/drawing/2014/main" id="{705715F7-151F-4C6E-9A16-A05B6B77B8C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456727B9-26C1-4C27-A81F-4DC447C8C18C}"/>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FD5376B-4D83-4502-A8EE-DD131EA79160}" type="slidenum">
              <a:rPr lang="zh-CN" altLang="zh-CN" smtClean="0">
                <a:latin typeface="Calibri" panose="020F0502020204030204" pitchFamily="34" charset="0"/>
              </a:rPr>
              <a:pPr>
                <a:spcBef>
                  <a:spcPct val="0"/>
                </a:spcBef>
                <a:buClrTx/>
                <a:buFontTx/>
                <a:buNone/>
              </a:pPr>
              <a:t>37</a:t>
            </a:fld>
            <a:endParaRPr lang="zh-CN" altLang="zh-CN">
              <a:latin typeface="Calibri" panose="020F0502020204030204" pitchFamily="34" charset="0"/>
            </a:endParaRPr>
          </a:p>
        </p:txBody>
      </p:sp>
      <p:sp>
        <p:nvSpPr>
          <p:cNvPr id="122883" name="Rectangle 1">
            <a:extLst>
              <a:ext uri="{FF2B5EF4-FFF2-40B4-BE49-F238E27FC236}">
                <a16:creationId xmlns:a16="http://schemas.microsoft.com/office/drawing/2014/main" id="{99CDDABD-04B3-44B4-8659-C4B3C53C4FF2}"/>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4" name="Text Box 2">
            <a:extLst>
              <a:ext uri="{FF2B5EF4-FFF2-40B4-BE49-F238E27FC236}">
                <a16:creationId xmlns:a16="http://schemas.microsoft.com/office/drawing/2014/main" id="{A95E3FE5-7D34-4802-BC68-4146ECD4DCCC}"/>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BB688887-B207-4F5E-986B-D9070EDD67E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DF2B6C97-545B-482D-BD8C-5AA26B6C7D70}" type="slidenum">
              <a:rPr lang="zh-CN" altLang="zh-CN" smtClean="0">
                <a:latin typeface="Calibri" panose="020F0502020204030204" pitchFamily="34" charset="0"/>
              </a:rPr>
              <a:pPr>
                <a:spcBef>
                  <a:spcPct val="0"/>
                </a:spcBef>
                <a:buClrTx/>
                <a:buFontTx/>
                <a:buNone/>
              </a:pPr>
              <a:t>38</a:t>
            </a:fld>
            <a:endParaRPr lang="zh-CN" altLang="zh-CN">
              <a:latin typeface="Calibri" panose="020F0502020204030204" pitchFamily="34" charset="0"/>
            </a:endParaRPr>
          </a:p>
        </p:txBody>
      </p:sp>
      <p:sp>
        <p:nvSpPr>
          <p:cNvPr id="124931" name="Rectangle 1">
            <a:extLst>
              <a:ext uri="{FF2B5EF4-FFF2-40B4-BE49-F238E27FC236}">
                <a16:creationId xmlns:a16="http://schemas.microsoft.com/office/drawing/2014/main" id="{3F281DEA-AB95-45AA-A91C-89BDC6CEA02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2" name="Text Box 2">
            <a:extLst>
              <a:ext uri="{FF2B5EF4-FFF2-40B4-BE49-F238E27FC236}">
                <a16:creationId xmlns:a16="http://schemas.microsoft.com/office/drawing/2014/main" id="{0F04B678-184D-4968-A769-F39674DD423B}"/>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2712EAFE-8124-46DC-A141-2CFC2597AD4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799F20A-598B-42E1-9F56-39E4EC3C7544}" type="slidenum">
              <a:rPr lang="zh-CN" altLang="zh-CN" smtClean="0">
                <a:latin typeface="Calibri" panose="020F0502020204030204" pitchFamily="34" charset="0"/>
              </a:rPr>
              <a:pPr>
                <a:spcBef>
                  <a:spcPct val="0"/>
                </a:spcBef>
                <a:buClrTx/>
                <a:buFontTx/>
                <a:buNone/>
              </a:pPr>
              <a:t>39</a:t>
            </a:fld>
            <a:endParaRPr lang="zh-CN" altLang="zh-CN">
              <a:latin typeface="Calibri" panose="020F0502020204030204" pitchFamily="34" charset="0"/>
            </a:endParaRPr>
          </a:p>
        </p:txBody>
      </p:sp>
      <p:sp>
        <p:nvSpPr>
          <p:cNvPr id="126979" name="Rectangle 1">
            <a:extLst>
              <a:ext uri="{FF2B5EF4-FFF2-40B4-BE49-F238E27FC236}">
                <a16:creationId xmlns:a16="http://schemas.microsoft.com/office/drawing/2014/main" id="{58914E95-FA18-45E3-97F6-43DB0B2BA962}"/>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80" name="Text Box 2">
            <a:extLst>
              <a:ext uri="{FF2B5EF4-FFF2-40B4-BE49-F238E27FC236}">
                <a16:creationId xmlns:a16="http://schemas.microsoft.com/office/drawing/2014/main" id="{998E1E53-9608-4492-876F-8B8087150FF2}"/>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2A53C3B4-8D7E-4319-A15C-7AFA64040A6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66219DB-BBAD-4551-B3DD-8B937EEAEB46}" type="slidenum">
              <a:rPr lang="zh-CN" altLang="zh-CN" smtClean="0">
                <a:latin typeface="Calibri" panose="020F0502020204030204" pitchFamily="34" charset="0"/>
              </a:rPr>
              <a:pPr>
                <a:spcBef>
                  <a:spcPct val="0"/>
                </a:spcBef>
                <a:buClrTx/>
                <a:buFontTx/>
                <a:buNone/>
              </a:pPr>
              <a:t>40</a:t>
            </a:fld>
            <a:endParaRPr lang="zh-CN" altLang="zh-CN">
              <a:latin typeface="Calibri" panose="020F0502020204030204" pitchFamily="34" charset="0"/>
            </a:endParaRPr>
          </a:p>
        </p:txBody>
      </p:sp>
      <p:sp>
        <p:nvSpPr>
          <p:cNvPr id="129027" name="Rectangle 1">
            <a:extLst>
              <a:ext uri="{FF2B5EF4-FFF2-40B4-BE49-F238E27FC236}">
                <a16:creationId xmlns:a16="http://schemas.microsoft.com/office/drawing/2014/main" id="{354F97AA-9E40-4A91-8702-CBC9D14181A1}"/>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8" name="Text Box 2">
            <a:extLst>
              <a:ext uri="{FF2B5EF4-FFF2-40B4-BE49-F238E27FC236}">
                <a16:creationId xmlns:a16="http://schemas.microsoft.com/office/drawing/2014/main" id="{CBE2006B-FB22-46A7-B8ED-A77C24769BE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947A3045-65C7-44C0-8E0A-D37036193B8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AE2B1E3-6CA2-4368-950F-3B1B0C2B8286}" type="slidenum">
              <a:rPr lang="zh-CN" altLang="zh-CN" smtClean="0">
                <a:latin typeface="Calibri" panose="020F0502020204030204" pitchFamily="34" charset="0"/>
              </a:rPr>
              <a:pPr>
                <a:spcBef>
                  <a:spcPct val="0"/>
                </a:spcBef>
                <a:buClrTx/>
                <a:buFontTx/>
                <a:buNone/>
              </a:pPr>
              <a:t>41</a:t>
            </a:fld>
            <a:endParaRPr lang="zh-CN" altLang="zh-CN">
              <a:latin typeface="Calibri" panose="020F0502020204030204" pitchFamily="34" charset="0"/>
            </a:endParaRPr>
          </a:p>
        </p:txBody>
      </p:sp>
      <p:sp>
        <p:nvSpPr>
          <p:cNvPr id="131075" name="Rectangle 1">
            <a:extLst>
              <a:ext uri="{FF2B5EF4-FFF2-40B4-BE49-F238E27FC236}">
                <a16:creationId xmlns:a16="http://schemas.microsoft.com/office/drawing/2014/main" id="{C556849E-A1DC-40C5-877E-C19856F86941}"/>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1076" name="Text Box 2">
            <a:extLst>
              <a:ext uri="{FF2B5EF4-FFF2-40B4-BE49-F238E27FC236}">
                <a16:creationId xmlns:a16="http://schemas.microsoft.com/office/drawing/2014/main" id="{B331D406-7F6E-4A3B-962B-DBC2C3F6AADB}"/>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42EB5DB5-F313-4391-9AD6-CBDA630EC5A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0355119-4D10-4A89-A4BF-67D3EAE1EFEE}" type="slidenum">
              <a:rPr lang="zh-CN" altLang="zh-CN" smtClean="0">
                <a:latin typeface="Calibri" panose="020F0502020204030204" pitchFamily="34" charset="0"/>
              </a:rPr>
              <a:pPr>
                <a:spcBef>
                  <a:spcPct val="0"/>
                </a:spcBef>
                <a:buClrTx/>
                <a:buFontTx/>
                <a:buNone/>
              </a:pPr>
              <a:t>42</a:t>
            </a:fld>
            <a:endParaRPr lang="zh-CN" altLang="zh-CN">
              <a:latin typeface="Calibri" panose="020F0502020204030204" pitchFamily="34" charset="0"/>
            </a:endParaRPr>
          </a:p>
        </p:txBody>
      </p:sp>
      <p:sp>
        <p:nvSpPr>
          <p:cNvPr id="133123" name="Rectangle 1">
            <a:extLst>
              <a:ext uri="{FF2B5EF4-FFF2-40B4-BE49-F238E27FC236}">
                <a16:creationId xmlns:a16="http://schemas.microsoft.com/office/drawing/2014/main" id="{BBF58D61-FF9D-4377-A60F-3871EDA50DB8}"/>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4" name="Text Box 2">
            <a:extLst>
              <a:ext uri="{FF2B5EF4-FFF2-40B4-BE49-F238E27FC236}">
                <a16:creationId xmlns:a16="http://schemas.microsoft.com/office/drawing/2014/main" id="{A7B1E310-AB08-4FE8-B2BE-4AD2F99FBB47}"/>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5F791F28-E852-4DEF-95C0-24EDC490AFC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3A358030-F108-4155-A85D-A5DC6594D08B}" type="slidenum">
              <a:rPr lang="zh-CN" altLang="zh-CN" smtClean="0">
                <a:latin typeface="Calibri" panose="020F0502020204030204" pitchFamily="34" charset="0"/>
              </a:rPr>
              <a:pPr>
                <a:spcBef>
                  <a:spcPct val="0"/>
                </a:spcBef>
                <a:buClrTx/>
                <a:buFontTx/>
                <a:buNone/>
              </a:pPr>
              <a:t>43</a:t>
            </a:fld>
            <a:endParaRPr lang="zh-CN" altLang="zh-CN">
              <a:latin typeface="Calibri" panose="020F0502020204030204" pitchFamily="34" charset="0"/>
            </a:endParaRPr>
          </a:p>
        </p:txBody>
      </p:sp>
      <p:sp>
        <p:nvSpPr>
          <p:cNvPr id="135171" name="Rectangle 1">
            <a:extLst>
              <a:ext uri="{FF2B5EF4-FFF2-40B4-BE49-F238E27FC236}">
                <a16:creationId xmlns:a16="http://schemas.microsoft.com/office/drawing/2014/main" id="{0D04EC71-FE1C-4358-83BA-E3BA64D6E9F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2" name="Text Box 2">
            <a:extLst>
              <a:ext uri="{FF2B5EF4-FFF2-40B4-BE49-F238E27FC236}">
                <a16:creationId xmlns:a16="http://schemas.microsoft.com/office/drawing/2014/main" id="{AE05BA03-4A19-4976-84F7-DE80C5C92BF6}"/>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75B57905-94B5-49B2-BCB3-81603E10DE4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EFB8C4DC-FD87-484B-8B3A-D6AE90E87AC0}" type="slidenum">
              <a:rPr lang="zh-CN" altLang="zh-CN" smtClean="0">
                <a:latin typeface="Calibri" panose="020F0502020204030204" pitchFamily="34" charset="0"/>
              </a:rPr>
              <a:pPr>
                <a:spcBef>
                  <a:spcPct val="0"/>
                </a:spcBef>
                <a:buClrTx/>
                <a:buFontTx/>
                <a:buNone/>
              </a:pPr>
              <a:t>44</a:t>
            </a:fld>
            <a:endParaRPr lang="zh-CN" altLang="zh-CN">
              <a:latin typeface="Calibri" panose="020F0502020204030204" pitchFamily="34" charset="0"/>
            </a:endParaRPr>
          </a:p>
        </p:txBody>
      </p:sp>
      <p:sp>
        <p:nvSpPr>
          <p:cNvPr id="139267" name="Rectangle 1">
            <a:extLst>
              <a:ext uri="{FF2B5EF4-FFF2-40B4-BE49-F238E27FC236}">
                <a16:creationId xmlns:a16="http://schemas.microsoft.com/office/drawing/2014/main" id="{8AF12949-AC7C-4FBA-BDCF-D109C55994FA}"/>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Text Box 2">
            <a:extLst>
              <a:ext uri="{FF2B5EF4-FFF2-40B4-BE49-F238E27FC236}">
                <a16:creationId xmlns:a16="http://schemas.microsoft.com/office/drawing/2014/main" id="{5FD14DB4-1A01-4B9C-896C-EC4FCE47ED70}"/>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D3603C9E-F658-4931-B4B5-7809FA6B072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6F6E73A-EBD5-4F26-A964-9777C59E5AFF}" type="slidenum">
              <a:rPr lang="zh-CN" altLang="zh-CN" smtClean="0">
                <a:latin typeface="Calibri" panose="020F0502020204030204" pitchFamily="34" charset="0"/>
              </a:rPr>
              <a:pPr>
                <a:spcBef>
                  <a:spcPct val="0"/>
                </a:spcBef>
                <a:buClrTx/>
                <a:buFontTx/>
                <a:buNone/>
              </a:pPr>
              <a:t>45</a:t>
            </a:fld>
            <a:endParaRPr lang="zh-CN" altLang="zh-CN">
              <a:latin typeface="Calibri" panose="020F0502020204030204" pitchFamily="34" charset="0"/>
            </a:endParaRPr>
          </a:p>
        </p:txBody>
      </p:sp>
      <p:sp>
        <p:nvSpPr>
          <p:cNvPr id="141315" name="Rectangle 1">
            <a:extLst>
              <a:ext uri="{FF2B5EF4-FFF2-40B4-BE49-F238E27FC236}">
                <a16:creationId xmlns:a16="http://schemas.microsoft.com/office/drawing/2014/main" id="{97030434-0C46-46AE-BFB8-50DCCE2C959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1316" name="Text Box 2">
            <a:extLst>
              <a:ext uri="{FF2B5EF4-FFF2-40B4-BE49-F238E27FC236}">
                <a16:creationId xmlns:a16="http://schemas.microsoft.com/office/drawing/2014/main" id="{2C93F321-7EBA-45CD-88F6-B095832802EC}"/>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1AD4C601-A3C1-4D24-8947-43DF34BEEBB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CC30552-9A80-459F-96D9-703B17C23DAF}" type="slidenum">
              <a:rPr lang="zh-CN" altLang="zh-CN" smtClean="0">
                <a:latin typeface="Calibri" panose="020F0502020204030204" pitchFamily="34" charset="0"/>
              </a:rPr>
              <a:pPr>
                <a:spcBef>
                  <a:spcPct val="0"/>
                </a:spcBef>
                <a:buClrTx/>
                <a:buFontTx/>
                <a:buNone/>
              </a:pPr>
              <a:t>46</a:t>
            </a:fld>
            <a:endParaRPr lang="zh-CN" altLang="zh-CN">
              <a:latin typeface="Calibri" panose="020F0502020204030204" pitchFamily="34" charset="0"/>
            </a:endParaRPr>
          </a:p>
        </p:txBody>
      </p:sp>
      <p:sp>
        <p:nvSpPr>
          <p:cNvPr id="143363" name="Rectangle 1">
            <a:extLst>
              <a:ext uri="{FF2B5EF4-FFF2-40B4-BE49-F238E27FC236}">
                <a16:creationId xmlns:a16="http://schemas.microsoft.com/office/drawing/2014/main" id="{0C8A55D1-43EA-4A2D-99B6-9927627B38FC}"/>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64" name="Text Box 2">
            <a:extLst>
              <a:ext uri="{FF2B5EF4-FFF2-40B4-BE49-F238E27FC236}">
                <a16:creationId xmlns:a16="http://schemas.microsoft.com/office/drawing/2014/main" id="{57FEE0EE-1C05-44C3-82BE-B7E4118FF803}"/>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备注占位符 1">
            <a:extLst>
              <a:ext uri="{FF2B5EF4-FFF2-40B4-BE49-F238E27FC236}">
                <a16:creationId xmlns:a16="http://schemas.microsoft.com/office/drawing/2014/main" id="{8DD760ED-B95C-408B-8934-BB12EB50BD65}"/>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7B19A676-0AF7-4881-9CCE-107E31E3FA0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BCAA6BF-046F-466E-A8D3-313693C9AB1B}" type="slidenum">
              <a:rPr lang="zh-CN" altLang="zh-CN" smtClean="0">
                <a:latin typeface="Calibri" panose="020F0502020204030204" pitchFamily="34" charset="0"/>
              </a:rPr>
              <a:pPr>
                <a:spcBef>
                  <a:spcPct val="0"/>
                </a:spcBef>
                <a:buClrTx/>
                <a:buFontTx/>
                <a:buNone/>
              </a:pPr>
              <a:t>47</a:t>
            </a:fld>
            <a:endParaRPr lang="zh-CN" altLang="zh-CN">
              <a:latin typeface="Calibri" panose="020F0502020204030204" pitchFamily="34" charset="0"/>
            </a:endParaRPr>
          </a:p>
        </p:txBody>
      </p:sp>
      <p:sp>
        <p:nvSpPr>
          <p:cNvPr id="86019" name="Text Box 1">
            <a:extLst>
              <a:ext uri="{FF2B5EF4-FFF2-40B4-BE49-F238E27FC236}">
                <a16:creationId xmlns:a16="http://schemas.microsoft.com/office/drawing/2014/main" id="{144B7229-851B-48BC-B577-1DE4C355F77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zh-CN">
                <a:latin typeface="Calibri" panose="020F0502020204030204" pitchFamily="34" charset="0"/>
              </a:rPr>
              <a:t>1.Issue - if no structural haards AND non wAW (no Funtional Unit is going to write this destination register; 1 per clock cycle</a:t>
            </a:r>
          </a:p>
          <a:p>
            <a:pPr eaLnBrk="1" hangingPunct="1">
              <a:spcBef>
                <a:spcPct val="0"/>
              </a:spcBef>
              <a:buClrTx/>
              <a:buFontTx/>
              <a:buNone/>
            </a:pPr>
            <a:r>
              <a:rPr lang="en-US" altLang="zh-CN">
                <a:latin typeface="Calibri" panose="020F0502020204030204" pitchFamily="34" charset="0"/>
              </a:rPr>
              <a:t>2. Read -(RAW)  if no instructions is going to write a source register of this instruction (alternatively, no write signal this clock cycle) +&gt; gein exection of the instruction; many read ports, so can read many times</a:t>
            </a:r>
          </a:p>
          <a:p>
            <a:pPr eaLnBrk="1" hangingPunct="1">
              <a:spcBef>
                <a:spcPct val="0"/>
              </a:spcBef>
              <a:buClrTx/>
              <a:buFontTx/>
              <a:buNone/>
            </a:pPr>
            <a:r>
              <a:rPr lang="en-US" altLang="zh-CN">
                <a:latin typeface="Calibri" panose="020F0502020204030204" pitchFamily="34" charset="0"/>
              </a:rPr>
              <a:t>3. Execution Complete; multiple during clock cyle</a:t>
            </a:r>
          </a:p>
          <a:p>
            <a:pPr eaLnBrk="1" hangingPunct="1">
              <a:spcBef>
                <a:spcPct val="0"/>
              </a:spcBef>
              <a:buClrTx/>
              <a:buFontTx/>
              <a:buNone/>
            </a:pPr>
            <a:r>
              <a:rPr lang="en-US" altLang="zh-CN">
                <a:latin typeface="Calibri" panose="020F0502020204030204" pitchFamily="34" charset="0"/>
              </a:rPr>
              <a:t>4. Write result - (WAR) If no instructiion is watiing to read the destination register; assume multiple wriite ports; wait for clock cycle to write and tehn read the results; assume can oerlap issue &amp; write</a:t>
            </a:r>
          </a:p>
          <a:p>
            <a:pPr eaLnBrk="1" hangingPunct="1">
              <a:spcBef>
                <a:spcPct val="0"/>
              </a:spcBef>
              <a:buClrTx/>
              <a:buFontTx/>
              <a:buNone/>
            </a:pPr>
            <a:r>
              <a:rPr lang="en-US" altLang="zh-CN">
                <a:latin typeface="Calibri" panose="020F0502020204030204" pitchFamily="34" charset="0"/>
              </a:rPr>
              <a:t>show clock cyclesneed 20 or so</a:t>
            </a:r>
          </a:p>
          <a:p>
            <a:pPr eaLnBrk="1" hangingPunct="1">
              <a:spcBef>
                <a:spcPct val="0"/>
              </a:spcBef>
              <a:buClrTx/>
              <a:buFontTx/>
              <a:buNone/>
            </a:pPr>
            <a:r>
              <a:rPr lang="en-US" altLang="zh-CN">
                <a:latin typeface="Calibri" panose="020F0502020204030204" pitchFamily="34" charset="0"/>
              </a:rPr>
              <a:t>Latency: minimum is 4 through 4 stages</a:t>
            </a:r>
          </a:p>
        </p:txBody>
      </p:sp>
      <p:sp>
        <p:nvSpPr>
          <p:cNvPr id="86020" name="Rectangle 2">
            <a:extLst>
              <a:ext uri="{FF2B5EF4-FFF2-40B4-BE49-F238E27FC236}">
                <a16:creationId xmlns:a16="http://schemas.microsoft.com/office/drawing/2014/main" id="{AED9CB55-D7FF-4081-89C3-26FE7C9513B8}"/>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备注占位符 1">
            <a:extLst>
              <a:ext uri="{FF2B5EF4-FFF2-40B4-BE49-F238E27FC236}">
                <a16:creationId xmlns:a16="http://schemas.microsoft.com/office/drawing/2014/main" id="{BA15DA8F-4D12-474D-9902-86C58697450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595825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85" eaLnBrk="0" hangingPunct="0">
              <a:defRPr>
                <a:solidFill>
                  <a:schemeClr val="tx1"/>
                </a:solidFill>
                <a:latin typeface="Calibri" pitchFamily="34" charset="0"/>
                <a:ea typeface="宋体" pitchFamily="2" charset="-122"/>
              </a:defRPr>
            </a:lvl1pPr>
            <a:lvl2pPr marL="804763" indent="-309524" defTabSz="964685" eaLnBrk="0" hangingPunct="0">
              <a:defRPr>
                <a:solidFill>
                  <a:schemeClr val="tx1"/>
                </a:solidFill>
                <a:latin typeface="Calibri" pitchFamily="34" charset="0"/>
                <a:ea typeface="宋体" pitchFamily="2" charset="-122"/>
              </a:defRPr>
            </a:lvl2pPr>
            <a:lvl3pPr marL="1238098" indent="-247620" defTabSz="964685" eaLnBrk="0" hangingPunct="0">
              <a:defRPr>
                <a:solidFill>
                  <a:schemeClr val="tx1"/>
                </a:solidFill>
                <a:latin typeface="Calibri" pitchFamily="34" charset="0"/>
                <a:ea typeface="宋体" pitchFamily="2" charset="-122"/>
              </a:defRPr>
            </a:lvl3pPr>
            <a:lvl4pPr marL="1733337" indent="-247620" defTabSz="964685" eaLnBrk="0" hangingPunct="0">
              <a:defRPr>
                <a:solidFill>
                  <a:schemeClr val="tx1"/>
                </a:solidFill>
                <a:latin typeface="Calibri" pitchFamily="34" charset="0"/>
                <a:ea typeface="宋体" pitchFamily="2" charset="-122"/>
              </a:defRPr>
            </a:lvl4pPr>
            <a:lvl5pPr marL="2228576" indent="-247620" defTabSz="964685" eaLnBrk="0" hangingPunct="0">
              <a:defRPr>
                <a:solidFill>
                  <a:schemeClr val="tx1"/>
                </a:solidFill>
                <a:latin typeface="Calibri" pitchFamily="34" charset="0"/>
                <a:ea typeface="宋体" pitchFamily="2" charset="-122"/>
              </a:defRPr>
            </a:lvl5pPr>
            <a:lvl6pPr marL="2723815" indent="-247620" defTabSz="964685"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defTabSz="964685"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defTabSz="964685"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defTabSz="964685"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C947796-7419-4139-919D-FA82C9E71AFB}" type="slidenum">
              <a:rPr lang="en-US" altLang="zh-CN" smtClean="0">
                <a:latin typeface="Times New Roman" pitchFamily="18" charset="0"/>
              </a:rPr>
              <a:pPr eaLnBrk="1" fontAlgn="base" hangingPunct="1">
                <a:spcBef>
                  <a:spcPct val="0"/>
                </a:spcBef>
                <a:spcAft>
                  <a:spcPct val="0"/>
                </a:spcAft>
              </a:pPr>
              <a:t>48</a:t>
            </a:fld>
            <a:endParaRPr lang="en-US" altLang="zh-CN">
              <a:latin typeface="Times New Roman" pitchFamily="18" charset="0"/>
            </a:endParaRPr>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a:p>
            <a:endParaRPr lang="zh-CN" altLang="en-US" dirty="0"/>
          </a:p>
        </p:txBody>
      </p:sp>
      <p:sp>
        <p:nvSpPr>
          <p:cNvPr id="11878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9095780-FD61-469A-87AC-A03F35861F98}" type="slidenum">
              <a:rPr lang="en-US" altLang="zh-CN" smtClean="0">
                <a:latin typeface="Times New Roman" pitchFamily="18" charset="0"/>
              </a:rPr>
              <a:pPr eaLnBrk="1" fontAlgn="base" hangingPunct="1">
                <a:spcBef>
                  <a:spcPct val="0"/>
                </a:spcBef>
                <a:spcAft>
                  <a:spcPct val="0"/>
                </a:spcAft>
              </a:pPr>
              <a:t>49</a:t>
            </a:fld>
            <a:endParaRPr lang="en-US" altLang="zh-CN">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24" indent="-309509" eaLnBrk="0" hangingPunct="0">
              <a:defRPr>
                <a:solidFill>
                  <a:schemeClr val="tx1"/>
                </a:solidFill>
                <a:latin typeface="Calibri" pitchFamily="34" charset="0"/>
                <a:ea typeface="宋体" pitchFamily="2" charset="-122"/>
              </a:defRPr>
            </a:lvl2pPr>
            <a:lvl3pPr marL="1238038" indent="-247608" eaLnBrk="0" hangingPunct="0">
              <a:defRPr>
                <a:solidFill>
                  <a:schemeClr val="tx1"/>
                </a:solidFill>
                <a:latin typeface="Calibri" pitchFamily="34" charset="0"/>
                <a:ea typeface="宋体" pitchFamily="2" charset="-122"/>
              </a:defRPr>
            </a:lvl3pPr>
            <a:lvl4pPr marL="1733254" indent="-247608" eaLnBrk="0" hangingPunct="0">
              <a:defRPr>
                <a:solidFill>
                  <a:schemeClr val="tx1"/>
                </a:solidFill>
                <a:latin typeface="Calibri" pitchFamily="34" charset="0"/>
                <a:ea typeface="宋体" pitchFamily="2" charset="-122"/>
              </a:defRPr>
            </a:lvl4pPr>
            <a:lvl5pPr marL="2228469" indent="-247608" eaLnBrk="0" hangingPunct="0">
              <a:defRPr>
                <a:solidFill>
                  <a:schemeClr val="tx1"/>
                </a:solidFill>
                <a:latin typeface="Calibri" pitchFamily="34" charset="0"/>
                <a:ea typeface="宋体" pitchFamily="2" charset="-122"/>
              </a:defRPr>
            </a:lvl5pPr>
            <a:lvl6pPr marL="2723683" indent="-247608" eaLnBrk="0" fontAlgn="base" hangingPunct="0">
              <a:spcBef>
                <a:spcPct val="0"/>
              </a:spcBef>
              <a:spcAft>
                <a:spcPct val="0"/>
              </a:spcAft>
              <a:defRPr>
                <a:solidFill>
                  <a:schemeClr val="tx1"/>
                </a:solidFill>
                <a:latin typeface="Calibri" pitchFamily="34" charset="0"/>
                <a:ea typeface="宋体" pitchFamily="2" charset="-122"/>
              </a:defRPr>
            </a:lvl6pPr>
            <a:lvl7pPr marL="3218899" indent="-247608" eaLnBrk="0" fontAlgn="base" hangingPunct="0">
              <a:spcBef>
                <a:spcPct val="0"/>
              </a:spcBef>
              <a:spcAft>
                <a:spcPct val="0"/>
              </a:spcAft>
              <a:defRPr>
                <a:solidFill>
                  <a:schemeClr val="tx1"/>
                </a:solidFill>
                <a:latin typeface="Calibri" pitchFamily="34" charset="0"/>
                <a:ea typeface="宋体" pitchFamily="2" charset="-122"/>
              </a:defRPr>
            </a:lvl7pPr>
            <a:lvl8pPr marL="3714114" indent="-247608" eaLnBrk="0" fontAlgn="base" hangingPunct="0">
              <a:spcBef>
                <a:spcPct val="0"/>
              </a:spcBef>
              <a:spcAft>
                <a:spcPct val="0"/>
              </a:spcAft>
              <a:defRPr>
                <a:solidFill>
                  <a:schemeClr val="tx1"/>
                </a:solidFill>
                <a:latin typeface="Calibri" pitchFamily="34" charset="0"/>
                <a:ea typeface="宋体" pitchFamily="2" charset="-122"/>
              </a:defRPr>
            </a:lvl8pPr>
            <a:lvl9pPr marL="4209329" indent="-247608"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759BDA9-715D-4C83-A3ED-4603A9C2B1B9}" type="slidenum">
              <a:rPr lang="en-US" altLang="zh-CN" smtClean="0">
                <a:latin typeface="Arial" pitchFamily="34" charset="0"/>
              </a:rPr>
              <a:pPr eaLnBrk="1" fontAlgn="base" hangingPunct="1">
                <a:spcBef>
                  <a:spcPct val="0"/>
                </a:spcBef>
                <a:spcAft>
                  <a:spcPct val="0"/>
                </a:spcAft>
              </a:pPr>
              <a:t>50</a:t>
            </a:fld>
            <a:endParaRPr lang="en-US" altLang="zh-CN">
              <a:latin typeface="Arial" pitchFamily="34"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4639" eaLnBrk="0" hangingPunct="0">
              <a:defRPr>
                <a:solidFill>
                  <a:schemeClr val="tx1"/>
                </a:solidFill>
                <a:latin typeface="Calibri" pitchFamily="34" charset="0"/>
                <a:ea typeface="宋体" pitchFamily="2" charset="-122"/>
              </a:defRPr>
            </a:lvl1pPr>
            <a:lvl2pPr marL="804724" indent="-309509" defTabSz="964639" eaLnBrk="0" hangingPunct="0">
              <a:defRPr>
                <a:solidFill>
                  <a:schemeClr val="tx1"/>
                </a:solidFill>
                <a:latin typeface="Calibri" pitchFamily="34" charset="0"/>
                <a:ea typeface="宋体" pitchFamily="2" charset="-122"/>
              </a:defRPr>
            </a:lvl2pPr>
            <a:lvl3pPr marL="1238038" indent="-247608" defTabSz="964639" eaLnBrk="0" hangingPunct="0">
              <a:defRPr>
                <a:solidFill>
                  <a:schemeClr val="tx1"/>
                </a:solidFill>
                <a:latin typeface="Calibri" pitchFamily="34" charset="0"/>
                <a:ea typeface="宋体" pitchFamily="2" charset="-122"/>
              </a:defRPr>
            </a:lvl3pPr>
            <a:lvl4pPr marL="1733254" indent="-247608" defTabSz="964639" eaLnBrk="0" hangingPunct="0">
              <a:defRPr>
                <a:solidFill>
                  <a:schemeClr val="tx1"/>
                </a:solidFill>
                <a:latin typeface="Calibri" pitchFamily="34" charset="0"/>
                <a:ea typeface="宋体" pitchFamily="2" charset="-122"/>
              </a:defRPr>
            </a:lvl4pPr>
            <a:lvl5pPr marL="2228469" indent="-247608" defTabSz="964639" eaLnBrk="0" hangingPunct="0">
              <a:defRPr>
                <a:solidFill>
                  <a:schemeClr val="tx1"/>
                </a:solidFill>
                <a:latin typeface="Calibri" pitchFamily="34" charset="0"/>
                <a:ea typeface="宋体" pitchFamily="2" charset="-122"/>
              </a:defRPr>
            </a:lvl5pPr>
            <a:lvl6pPr marL="2723683" indent="-247608" defTabSz="964639" eaLnBrk="0" fontAlgn="base" hangingPunct="0">
              <a:spcBef>
                <a:spcPct val="0"/>
              </a:spcBef>
              <a:spcAft>
                <a:spcPct val="0"/>
              </a:spcAft>
              <a:defRPr>
                <a:solidFill>
                  <a:schemeClr val="tx1"/>
                </a:solidFill>
                <a:latin typeface="Calibri" pitchFamily="34" charset="0"/>
                <a:ea typeface="宋体" pitchFamily="2" charset="-122"/>
              </a:defRPr>
            </a:lvl6pPr>
            <a:lvl7pPr marL="3218899" indent="-247608" defTabSz="964639" eaLnBrk="0" fontAlgn="base" hangingPunct="0">
              <a:spcBef>
                <a:spcPct val="0"/>
              </a:spcBef>
              <a:spcAft>
                <a:spcPct val="0"/>
              </a:spcAft>
              <a:defRPr>
                <a:solidFill>
                  <a:schemeClr val="tx1"/>
                </a:solidFill>
                <a:latin typeface="Calibri" pitchFamily="34" charset="0"/>
                <a:ea typeface="宋体" pitchFamily="2" charset="-122"/>
              </a:defRPr>
            </a:lvl7pPr>
            <a:lvl8pPr marL="3714114" indent="-247608" defTabSz="964639" eaLnBrk="0" fontAlgn="base" hangingPunct="0">
              <a:spcBef>
                <a:spcPct val="0"/>
              </a:spcBef>
              <a:spcAft>
                <a:spcPct val="0"/>
              </a:spcAft>
              <a:defRPr>
                <a:solidFill>
                  <a:schemeClr val="tx1"/>
                </a:solidFill>
                <a:latin typeface="Calibri" pitchFamily="34" charset="0"/>
                <a:ea typeface="宋体" pitchFamily="2" charset="-122"/>
              </a:defRPr>
            </a:lvl8pPr>
            <a:lvl9pPr marL="4209329" indent="-247608" defTabSz="964639"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12B4542-81E5-4170-A81D-CB84CDCD6762}" type="slidenum">
              <a:rPr lang="en-US" altLang="zh-CN" smtClean="0">
                <a:latin typeface="Times New Roman" pitchFamily="18" charset="0"/>
              </a:rPr>
              <a:pPr eaLnBrk="1" fontAlgn="base" hangingPunct="1">
                <a:spcBef>
                  <a:spcPct val="0"/>
                </a:spcBef>
                <a:spcAft>
                  <a:spcPct val="0"/>
                </a:spcAft>
              </a:pPr>
              <a:t>51</a:t>
            </a:fld>
            <a:endParaRPr lang="en-US" altLang="zh-CN">
              <a:latin typeface="Times New Roman" pitchFamily="18" charset="0"/>
            </a:endParaRPr>
          </a:p>
        </p:txBody>
      </p:sp>
      <p:sp>
        <p:nvSpPr>
          <p:cNvPr id="1198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53</a:t>
            </a:fld>
            <a:endParaRPr lang="en-US" altLang="zh-CN"/>
          </a:p>
        </p:txBody>
      </p:sp>
    </p:spTree>
    <p:extLst>
      <p:ext uri="{BB962C8B-B14F-4D97-AF65-F5344CB8AC3E}">
        <p14:creationId xmlns:p14="http://schemas.microsoft.com/office/powerpoint/2010/main" val="27946923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p:cNvSpPr>
            <a:spLocks noGrp="1" noRot="1" noChangeAspect="1" noChangeArrowheads="1" noTextEdit="1"/>
          </p:cNvSpPr>
          <p:nvPr>
            <p:ph type="sldImg" idx="4294967295"/>
          </p:nvPr>
        </p:nvSpPr>
        <p:spPr>
          <a:ln/>
        </p:spPr>
      </p:sp>
      <p:sp>
        <p:nvSpPr>
          <p:cNvPr id="105474" name="备注占位符 2"/>
          <p:cNvSpPr>
            <a:spLocks noGrp="1" noChangeArrowheads="1"/>
          </p:cNvSpPr>
          <p:nvPr>
            <p:ph type="body" idx="4294967295"/>
          </p:nvPr>
        </p:nvSpPr>
        <p:spPr/>
        <p:txBody>
          <a:bodyPr/>
          <a:lstStyle/>
          <a:p>
            <a:endParaRPr lang="zh-CN" altLang="en-US" dirty="0"/>
          </a:p>
        </p:txBody>
      </p:sp>
      <p:sp>
        <p:nvSpPr>
          <p:cNvPr id="105475"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Times New Roman" pitchFamily="18" charset="0"/>
                <a:ea typeface="宋体" pitchFamily="2" charset="-122"/>
              </a:defRPr>
            </a:lvl1pPr>
            <a:lvl2pPr marL="804724" indent="-309509">
              <a:defRPr sz="1300">
                <a:solidFill>
                  <a:schemeClr val="tx1"/>
                </a:solidFill>
                <a:latin typeface="Times New Roman" pitchFamily="18" charset="0"/>
                <a:ea typeface="宋体" pitchFamily="2" charset="-122"/>
              </a:defRPr>
            </a:lvl2pPr>
            <a:lvl3pPr marL="1238038" indent="-247608">
              <a:defRPr sz="1300">
                <a:solidFill>
                  <a:schemeClr val="tx1"/>
                </a:solidFill>
                <a:latin typeface="Times New Roman" pitchFamily="18" charset="0"/>
                <a:ea typeface="宋体" pitchFamily="2" charset="-122"/>
              </a:defRPr>
            </a:lvl3pPr>
            <a:lvl4pPr marL="1733254" indent="-247608">
              <a:defRPr sz="1300">
                <a:solidFill>
                  <a:schemeClr val="tx1"/>
                </a:solidFill>
                <a:latin typeface="Times New Roman" pitchFamily="18" charset="0"/>
                <a:ea typeface="宋体" pitchFamily="2" charset="-122"/>
              </a:defRPr>
            </a:lvl4pPr>
            <a:lvl5pPr marL="2228469" indent="-247608">
              <a:defRPr sz="1300">
                <a:solidFill>
                  <a:schemeClr val="tx1"/>
                </a:solidFill>
                <a:latin typeface="Times New Roman" pitchFamily="18" charset="0"/>
                <a:ea typeface="宋体" pitchFamily="2" charset="-122"/>
              </a:defRPr>
            </a:lvl5pPr>
            <a:lvl6pPr marL="2723683" indent="-247608" eaLnBrk="0" fontAlgn="base" hangingPunct="0">
              <a:spcBef>
                <a:spcPct val="30000"/>
              </a:spcBef>
              <a:spcAft>
                <a:spcPct val="0"/>
              </a:spcAft>
              <a:defRPr sz="1300">
                <a:solidFill>
                  <a:schemeClr val="tx1"/>
                </a:solidFill>
                <a:latin typeface="Times New Roman" pitchFamily="18" charset="0"/>
                <a:ea typeface="宋体" pitchFamily="2" charset="-122"/>
              </a:defRPr>
            </a:lvl6pPr>
            <a:lvl7pPr marL="3218899" indent="-247608" eaLnBrk="0" fontAlgn="base" hangingPunct="0">
              <a:spcBef>
                <a:spcPct val="30000"/>
              </a:spcBef>
              <a:spcAft>
                <a:spcPct val="0"/>
              </a:spcAft>
              <a:defRPr sz="1300">
                <a:solidFill>
                  <a:schemeClr val="tx1"/>
                </a:solidFill>
                <a:latin typeface="Times New Roman" pitchFamily="18" charset="0"/>
                <a:ea typeface="宋体" pitchFamily="2" charset="-122"/>
              </a:defRPr>
            </a:lvl7pPr>
            <a:lvl8pPr marL="3714114" indent="-247608" eaLnBrk="0" fontAlgn="base" hangingPunct="0">
              <a:spcBef>
                <a:spcPct val="30000"/>
              </a:spcBef>
              <a:spcAft>
                <a:spcPct val="0"/>
              </a:spcAft>
              <a:defRPr sz="1300">
                <a:solidFill>
                  <a:schemeClr val="tx1"/>
                </a:solidFill>
                <a:latin typeface="Times New Roman" pitchFamily="18" charset="0"/>
                <a:ea typeface="宋体" pitchFamily="2" charset="-122"/>
              </a:defRPr>
            </a:lvl8pPr>
            <a:lvl9pPr marL="4209329" indent="-247608" eaLnBrk="0" fontAlgn="base" hangingPunct="0">
              <a:spcBef>
                <a:spcPct val="30000"/>
              </a:spcBef>
              <a:spcAft>
                <a:spcPct val="0"/>
              </a:spcAft>
              <a:defRPr sz="1300">
                <a:solidFill>
                  <a:schemeClr val="tx1"/>
                </a:solidFill>
                <a:latin typeface="Times New Roman" pitchFamily="18" charset="0"/>
                <a:ea typeface="宋体" pitchFamily="2" charset="-122"/>
              </a:defRPr>
            </a:lvl9pPr>
          </a:lstStyle>
          <a:p>
            <a:fld id="{B09F7BF2-0C2B-4CD7-8E39-64E5AA8C8356}" type="slidenum">
              <a:rPr kumimoji="0" lang="en-US" altLang="zh-CN"/>
              <a:pPr/>
              <a:t>55</a:t>
            </a:fld>
            <a:endParaRPr kumimoji="0"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noChangeArrowheads="1" noTextEdit="1"/>
          </p:cNvSpPr>
          <p:nvPr>
            <p:ph type="sldImg" idx="4294967295"/>
          </p:nvPr>
        </p:nvSpPr>
        <p:spPr>
          <a:ln/>
        </p:spPr>
      </p:sp>
      <p:sp>
        <p:nvSpPr>
          <p:cNvPr id="117762" name="备注占位符 2"/>
          <p:cNvSpPr>
            <a:spLocks noGrp="1" noChangeArrowheads="1"/>
          </p:cNvSpPr>
          <p:nvPr>
            <p:ph type="body" idx="4294967295"/>
          </p:nvPr>
        </p:nvSpPr>
        <p:spPr/>
        <p:txBody>
          <a:bodyPr/>
          <a:lstStyle/>
          <a:p>
            <a:endParaRPr lang="zh-CN" altLang="en-US" dirty="0"/>
          </a:p>
        </p:txBody>
      </p:sp>
      <p:sp>
        <p:nvSpPr>
          <p:cNvPr id="117763" name="幻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Times New Roman" pitchFamily="18" charset="0"/>
                <a:ea typeface="宋体" pitchFamily="2" charset="-122"/>
              </a:defRPr>
            </a:lvl1pPr>
            <a:lvl2pPr marL="804724" indent="-309509">
              <a:defRPr sz="1300">
                <a:solidFill>
                  <a:schemeClr val="tx1"/>
                </a:solidFill>
                <a:latin typeface="Times New Roman" pitchFamily="18" charset="0"/>
                <a:ea typeface="宋体" pitchFamily="2" charset="-122"/>
              </a:defRPr>
            </a:lvl2pPr>
            <a:lvl3pPr marL="1238038" indent="-247608">
              <a:defRPr sz="1300">
                <a:solidFill>
                  <a:schemeClr val="tx1"/>
                </a:solidFill>
                <a:latin typeface="Times New Roman" pitchFamily="18" charset="0"/>
                <a:ea typeface="宋体" pitchFamily="2" charset="-122"/>
              </a:defRPr>
            </a:lvl3pPr>
            <a:lvl4pPr marL="1733254" indent="-247608">
              <a:defRPr sz="1300">
                <a:solidFill>
                  <a:schemeClr val="tx1"/>
                </a:solidFill>
                <a:latin typeface="Times New Roman" pitchFamily="18" charset="0"/>
                <a:ea typeface="宋体" pitchFamily="2" charset="-122"/>
              </a:defRPr>
            </a:lvl4pPr>
            <a:lvl5pPr marL="2228469" indent="-247608">
              <a:defRPr sz="1300">
                <a:solidFill>
                  <a:schemeClr val="tx1"/>
                </a:solidFill>
                <a:latin typeface="Times New Roman" pitchFamily="18" charset="0"/>
                <a:ea typeface="宋体" pitchFamily="2" charset="-122"/>
              </a:defRPr>
            </a:lvl5pPr>
            <a:lvl6pPr marL="2723683" indent="-247608" eaLnBrk="0" fontAlgn="base" hangingPunct="0">
              <a:spcBef>
                <a:spcPct val="30000"/>
              </a:spcBef>
              <a:spcAft>
                <a:spcPct val="0"/>
              </a:spcAft>
              <a:defRPr sz="1300">
                <a:solidFill>
                  <a:schemeClr val="tx1"/>
                </a:solidFill>
                <a:latin typeface="Times New Roman" pitchFamily="18" charset="0"/>
                <a:ea typeface="宋体" pitchFamily="2" charset="-122"/>
              </a:defRPr>
            </a:lvl6pPr>
            <a:lvl7pPr marL="3218899" indent="-247608" eaLnBrk="0" fontAlgn="base" hangingPunct="0">
              <a:spcBef>
                <a:spcPct val="30000"/>
              </a:spcBef>
              <a:spcAft>
                <a:spcPct val="0"/>
              </a:spcAft>
              <a:defRPr sz="1300">
                <a:solidFill>
                  <a:schemeClr val="tx1"/>
                </a:solidFill>
                <a:latin typeface="Times New Roman" pitchFamily="18" charset="0"/>
                <a:ea typeface="宋体" pitchFamily="2" charset="-122"/>
              </a:defRPr>
            </a:lvl7pPr>
            <a:lvl8pPr marL="3714114" indent="-247608" eaLnBrk="0" fontAlgn="base" hangingPunct="0">
              <a:spcBef>
                <a:spcPct val="30000"/>
              </a:spcBef>
              <a:spcAft>
                <a:spcPct val="0"/>
              </a:spcAft>
              <a:defRPr sz="1300">
                <a:solidFill>
                  <a:schemeClr val="tx1"/>
                </a:solidFill>
                <a:latin typeface="Times New Roman" pitchFamily="18" charset="0"/>
                <a:ea typeface="宋体" pitchFamily="2" charset="-122"/>
              </a:defRPr>
            </a:lvl8pPr>
            <a:lvl9pPr marL="4209329" indent="-247608" eaLnBrk="0" fontAlgn="base" hangingPunct="0">
              <a:spcBef>
                <a:spcPct val="30000"/>
              </a:spcBef>
              <a:spcAft>
                <a:spcPct val="0"/>
              </a:spcAft>
              <a:defRPr sz="1300">
                <a:solidFill>
                  <a:schemeClr val="tx1"/>
                </a:solidFill>
                <a:latin typeface="Times New Roman" pitchFamily="18" charset="0"/>
                <a:ea typeface="宋体" pitchFamily="2" charset="-122"/>
              </a:defRPr>
            </a:lvl9pPr>
          </a:lstStyle>
          <a:p>
            <a:fld id="{124E5988-B122-4FD0-877B-C6E1C874FC3D}" type="slidenum">
              <a:rPr kumimoji="0" lang="en-US" altLang="zh-CN"/>
              <a:pPr/>
              <a:t>61</a:t>
            </a:fld>
            <a:endParaRPr kumimoji="0"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2518718-BE2F-4B07-B2F0-575026EDCEB2}" type="datetime1">
              <a:rPr lang="zh-CN" altLang="en-US" smtClean="0"/>
              <a:t>2025/10/23</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3E433D6-9631-4C75-AC6A-72F4D7CF8E5C}" type="datetime1">
              <a:rPr lang="zh-CN" altLang="en-US" smtClean="0"/>
              <a:t>2025/10/23</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9CDE8EC-8BF4-42D8-BF03-06C5413C89BA}" type="datetime1">
              <a:rPr lang="zh-CN" altLang="en-US" smtClean="0"/>
              <a:t>2025/10/23</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929C9C6-6093-46D7-B596-9CB485493495}" type="datetime1">
              <a:rPr lang="zh-CN" altLang="en-US" smtClean="0"/>
              <a:t>2025/10/23</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161E30E0-09DE-4E75-9608-B2A3C33E4491}" type="datetime1">
              <a:rPr lang="zh-CN" altLang="en-US" smtClean="0"/>
              <a:t>2025/10/23</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3B4477C0-2866-4CCC-B5F7-FEEB73BDE97F}" type="datetime1">
              <a:rPr lang="zh-CN" altLang="en-US" smtClean="0"/>
              <a:t>2025/10/23</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B34975F-88F7-4263-BA56-2941C75D31EF}" type="datetime1">
              <a:rPr lang="zh-CN" altLang="en-US" smtClean="0"/>
              <a:t>2025/10/23</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55EF587-E8C4-406B-8AF0-D1061A96FF49}" type="datetime1">
              <a:rPr lang="zh-CN" altLang="en-US" smtClean="0"/>
              <a:t>2025/10/23</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08A6B28-C0EF-4F5D-BAA1-18DC5D675931}" type="datetime1">
              <a:rPr lang="zh-CN" altLang="en-US" smtClean="0"/>
              <a:t>2025/10/23</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73D316F-A760-4076-8C78-C520E9061803}" type="datetime1">
              <a:rPr lang="zh-CN" altLang="en-US" smtClean="0"/>
              <a:t>2025/10/23</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5DA1CCC-E2D6-490D-8B2F-72E4BA4113A5}" type="datetime1">
              <a:rPr lang="zh-CN" altLang="en-US" smtClean="0"/>
              <a:t>2025/10/23</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86200" y="247650"/>
            <a:ext cx="5105400" cy="381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219200"/>
            <a:ext cx="3810000" cy="4953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219200"/>
            <a:ext cx="3810000" cy="4953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
            <a:extLst>
              <a:ext uri="{FF2B5EF4-FFF2-40B4-BE49-F238E27FC236}">
                <a16:creationId xmlns:a16="http://schemas.microsoft.com/office/drawing/2014/main" id="{7ED7BEC1-01DA-9A48-3A57-418BB0A4D61A}"/>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6" name="页脚占位符 2">
            <a:extLst>
              <a:ext uri="{FF2B5EF4-FFF2-40B4-BE49-F238E27FC236}">
                <a16:creationId xmlns:a16="http://schemas.microsoft.com/office/drawing/2014/main" id="{A8179BE9-DDBD-C22E-5E46-BDB1AB90EBF2}"/>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7" name="灯片编号占位符 3">
            <a:extLst>
              <a:ext uri="{FF2B5EF4-FFF2-40B4-BE49-F238E27FC236}">
                <a16:creationId xmlns:a16="http://schemas.microsoft.com/office/drawing/2014/main" id="{2D2C7F91-5B84-67EA-33BE-7B0DB5D6083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a:t>
            </a:fld>
            <a:endParaRPr lang="en-US" altLang="zh-CN"/>
          </a:p>
        </p:txBody>
      </p:sp>
    </p:spTree>
    <p:extLst>
      <p:ext uri="{BB962C8B-B14F-4D97-AF65-F5344CB8AC3E}">
        <p14:creationId xmlns:p14="http://schemas.microsoft.com/office/powerpoint/2010/main" val="2599216163"/>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15C959A6-C2B0-44BA-94C5-46C7A045B4EA}" type="datetime1">
              <a:rPr lang="zh-CN" altLang="en-US" smtClean="0"/>
              <a:t>2025/10/23</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3.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6.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8.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9.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29.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31.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546275" y="1332522"/>
            <a:ext cx="6408638"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第十二讲</a:t>
            </a:r>
          </a:p>
        </p:txBody>
      </p:sp>
      <p:sp>
        <p:nvSpPr>
          <p:cNvPr id="2" name="日期占位符 1">
            <a:extLst>
              <a:ext uri="{FF2B5EF4-FFF2-40B4-BE49-F238E27FC236}">
                <a16:creationId xmlns:a16="http://schemas.microsoft.com/office/drawing/2014/main" id="{56943D5B-BB63-8A91-3F52-C135F7400044}"/>
              </a:ext>
            </a:extLst>
          </p:cNvPr>
          <p:cNvSpPr>
            <a:spLocks noGrp="1"/>
          </p:cNvSpPr>
          <p:nvPr>
            <p:ph type="dt" sz="half" idx="10"/>
          </p:nvPr>
        </p:nvSpPr>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A100D6B2-3255-F4A7-597D-AA624D429D2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2920584E-D119-ADE3-61FF-7C4AFA809ACD}"/>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22907"/>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179512" y="985323"/>
            <a:ext cx="8352927" cy="5718994"/>
          </a:xfrm>
        </p:spPr>
        <p:txBody>
          <a:bodyPr rtlCol="0">
            <a:noAutofit/>
          </a:bodyPr>
          <a:lstStyle/>
          <a:p>
            <a:pPr lvl="1" eaLnBrk="1" fontAlgn="auto" hangingPunct="1">
              <a:spcAft>
                <a:spcPts val="0"/>
              </a:spcAft>
              <a:defRPr/>
            </a:pPr>
            <a:r>
              <a:rPr lang="zh-CN" altLang="en-US" sz="2400" b="1" dirty="0"/>
              <a:t>指令级并行的概念</a:t>
            </a:r>
            <a:endParaRPr lang="en-US" altLang="zh-CN" sz="2400" b="1" dirty="0"/>
          </a:p>
          <a:p>
            <a:pPr marL="1101600" lvl="1" eaLnBrk="1" fontAlgn="auto" hangingPunct="1">
              <a:spcAft>
                <a:spcPts val="0"/>
              </a:spcAft>
              <a:buFont typeface="Wingdings" panose="05000000000000000000" pitchFamily="2" charset="2"/>
              <a:buChar char="ü"/>
              <a:defRPr/>
            </a:pPr>
            <a:r>
              <a:rPr lang="en-US" altLang="zh-CN" sz="2400" b="1" dirty="0"/>
              <a:t> ILP</a:t>
            </a:r>
            <a:r>
              <a:rPr lang="zh-CN" altLang="en-US" sz="2400" b="1" dirty="0"/>
              <a:t>是指令序列潜在的并行性、软硬件技术相结合</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结构冲突、数据冲突、控制冲突对</a:t>
            </a:r>
            <a:r>
              <a:rPr lang="en-US" altLang="zh-CN" sz="2400" b="1" dirty="0"/>
              <a:t>CPI</a:t>
            </a:r>
            <a:r>
              <a:rPr lang="zh-CN" altLang="en-US" sz="2400" b="1" dirty="0"/>
              <a:t>的影响</a:t>
            </a:r>
            <a:endParaRPr lang="en-US" altLang="zh-CN" sz="2400" b="1" dirty="0"/>
          </a:p>
          <a:p>
            <a:pPr marL="1101600" lvl="1" eaLnBrk="1" fontAlgn="auto" hangingPunct="1">
              <a:spcAft>
                <a:spcPts val="0"/>
              </a:spcAft>
              <a:buFont typeface="Wingdings" panose="05000000000000000000" pitchFamily="2" charset="2"/>
              <a:buChar char="ü"/>
              <a:defRPr/>
            </a:pPr>
            <a:r>
              <a:rPr lang="en-US" altLang="zh-CN" sz="2400" b="1" dirty="0"/>
              <a:t> </a:t>
            </a:r>
            <a:r>
              <a:rPr lang="zh-CN" altLang="en-US" sz="2400" b="1" dirty="0"/>
              <a:t>基本块和循环级并行</a:t>
            </a:r>
            <a:endParaRPr lang="en-US" altLang="zh-CN" sz="2400" b="1" dirty="0"/>
          </a:p>
          <a:p>
            <a:pPr lvl="1" eaLnBrk="1" hangingPunct="1">
              <a:defRPr/>
            </a:pPr>
            <a:r>
              <a:rPr lang="zh-CN" altLang="en-US" sz="2400" b="1" dirty="0"/>
              <a:t>循环展开调度的基本方法</a:t>
            </a:r>
            <a:endParaRPr lang="en-US" altLang="zh-CN" sz="2400" b="1" dirty="0"/>
          </a:p>
          <a:p>
            <a:pPr marL="1101600" lvl="1" eaLnBrk="1" hangingPunct="1">
              <a:buFont typeface="Wingdings" panose="05000000000000000000" pitchFamily="2" charset="2"/>
              <a:buChar char="ü"/>
              <a:defRPr/>
            </a:pPr>
            <a:r>
              <a:rPr lang="zh-CN" altLang="en-US" sz="2400" b="1" dirty="0"/>
              <a:t> 浮点流水线、整数流水线的特性</a:t>
            </a:r>
            <a:endParaRPr lang="en-US" altLang="zh-CN" sz="2400" b="1" dirty="0"/>
          </a:p>
          <a:p>
            <a:pPr marL="1101600" lvl="1" eaLnBrk="1" hangingPunct="1">
              <a:buFont typeface="Wingdings" panose="05000000000000000000" pitchFamily="2" charset="2"/>
              <a:buChar char="ü"/>
              <a:defRPr/>
            </a:pPr>
            <a:r>
              <a:rPr lang="zh-CN" altLang="en-US" sz="2400" b="1" dirty="0"/>
              <a:t> 循环无调度执行</a:t>
            </a:r>
            <a:endParaRPr lang="en-US" altLang="zh-CN" sz="2400" b="1" dirty="0">
              <a:latin typeface="+mj-lt"/>
            </a:endParaRPr>
          </a:p>
          <a:p>
            <a:pPr marL="1101600" lvl="1" indent="-284400" eaLnBrk="1" fontAlgn="auto" hangingPunct="1">
              <a:spcBef>
                <a:spcPts val="24"/>
              </a:spcBef>
              <a:spcAft>
                <a:spcPts val="0"/>
              </a:spcAft>
              <a:buFont typeface="Wingdings" panose="05000000000000000000" pitchFamily="2" charset="2"/>
              <a:buChar char="ü"/>
              <a:defRPr/>
            </a:pPr>
            <a:r>
              <a:rPr lang="zh-CN" altLang="en-US" sz="2400" b="1" dirty="0"/>
              <a:t> 循环调度、循环展开</a:t>
            </a:r>
            <a:endParaRPr lang="en-US" altLang="zh-CN" sz="2400" b="1" dirty="0"/>
          </a:p>
          <a:p>
            <a:pPr marL="1101600" lvl="1" indent="-284400" eaLnBrk="1" fontAlgn="auto" hangingPunct="1">
              <a:spcBef>
                <a:spcPts val="24"/>
              </a:spcBef>
              <a:spcAft>
                <a:spcPts val="0"/>
              </a:spcAft>
              <a:buFont typeface="Wingdings" panose="05000000000000000000" pitchFamily="2" charset="2"/>
              <a:buChar char="ü"/>
              <a:defRPr/>
            </a:pPr>
            <a:r>
              <a:rPr lang="zh-CN" altLang="en-US" sz="2400" b="1" dirty="0"/>
              <a:t> 循环展开并结合调度执行</a:t>
            </a:r>
            <a:endParaRPr lang="en-US" altLang="zh-CN" sz="2400" b="1" dirty="0"/>
          </a:p>
          <a:p>
            <a:pPr lvl="1" eaLnBrk="1" hangingPunct="1">
              <a:lnSpc>
                <a:spcPct val="90000"/>
              </a:lnSpc>
              <a:defRPr/>
            </a:pPr>
            <a:r>
              <a:rPr lang="zh-CN" altLang="en-US" sz="2400" b="1" dirty="0"/>
              <a:t>相关性</a:t>
            </a:r>
            <a:endParaRPr lang="en-US" altLang="zh-CN" sz="2400" b="1" dirty="0"/>
          </a:p>
          <a:p>
            <a:pPr marL="1101600" lvl="1" eaLnBrk="1" hangingPunct="1">
              <a:lnSpc>
                <a:spcPct val="90000"/>
              </a:lnSpc>
              <a:buFont typeface="Wingdings" panose="05000000000000000000" pitchFamily="2" charset="2"/>
              <a:buChar char="ü"/>
              <a:defRPr/>
            </a:pPr>
            <a:r>
              <a:rPr lang="zh-CN" altLang="en-US" sz="2400" b="1" dirty="0"/>
              <a:t> 数据相关（</a:t>
            </a:r>
            <a:r>
              <a:rPr lang="en-US" altLang="zh-CN" sz="2400" b="1" dirty="0"/>
              <a:t>RAW</a:t>
            </a:r>
            <a:r>
              <a:rPr lang="zh-CN" altLang="en-US" sz="2400" b="1" dirty="0"/>
              <a:t>）</a:t>
            </a:r>
            <a:endParaRPr lang="en-US" altLang="zh-CN" sz="2400" b="1" dirty="0"/>
          </a:p>
          <a:p>
            <a:pPr marL="1101600" lvl="1" eaLnBrk="1" hangingPunct="1">
              <a:lnSpc>
                <a:spcPct val="90000"/>
              </a:lnSpc>
              <a:buFont typeface="Wingdings" panose="05000000000000000000" pitchFamily="2" charset="2"/>
              <a:buChar char="ü"/>
              <a:defRPr/>
            </a:pPr>
            <a:r>
              <a:rPr lang="zh-CN" altLang="en-US" sz="2400" b="1" dirty="0"/>
              <a:t> 名相关（反相关</a:t>
            </a:r>
            <a:r>
              <a:rPr lang="en-US" altLang="zh-CN" sz="2400" b="1" dirty="0"/>
              <a:t>WAR</a:t>
            </a:r>
            <a:r>
              <a:rPr lang="zh-CN" altLang="en-US" sz="2400" b="1" dirty="0"/>
              <a:t>，输出相关</a:t>
            </a:r>
            <a:r>
              <a:rPr lang="en-US" altLang="zh-CN" sz="2400" b="1" dirty="0"/>
              <a:t>WAW</a:t>
            </a:r>
            <a:r>
              <a:rPr lang="zh-CN" altLang="en-US" sz="2400" b="1" dirty="0"/>
              <a:t>）</a:t>
            </a:r>
            <a:endParaRPr lang="en-US" altLang="zh-CN" sz="2400" b="1" dirty="0"/>
          </a:p>
          <a:p>
            <a:pPr marL="1101600" lvl="1" eaLnBrk="1" hangingPunct="1">
              <a:lnSpc>
                <a:spcPct val="90000"/>
              </a:lnSpc>
              <a:buFont typeface="Wingdings" panose="05000000000000000000" pitchFamily="2" charset="2"/>
              <a:buChar char="ü"/>
              <a:defRPr/>
            </a:pPr>
            <a:r>
              <a:rPr lang="en-US" altLang="zh-CN" sz="2400" b="1" dirty="0"/>
              <a:t> </a:t>
            </a:r>
            <a:r>
              <a:rPr lang="zh-CN" altLang="en-US" sz="2400" b="1" dirty="0"/>
              <a:t>控制相关</a:t>
            </a:r>
            <a:endParaRPr lang="en-US" altLang="zh-CN" sz="2400" b="1" dirty="0"/>
          </a:p>
          <a:p>
            <a:pPr marL="817200" lvl="1" indent="0" eaLnBrk="1" fontAlgn="auto" hangingPunct="1">
              <a:spcBef>
                <a:spcPts val="24"/>
              </a:spcBef>
              <a:spcAft>
                <a:spcPts val="0"/>
              </a:spcAft>
              <a:buNone/>
              <a:defRPr/>
            </a:pPr>
            <a:endParaRPr lang="en-US" altLang="zh-CN" sz="2400" b="1" dirty="0"/>
          </a:p>
        </p:txBody>
      </p:sp>
      <p:sp>
        <p:nvSpPr>
          <p:cNvPr id="2" name="日期占位符 1">
            <a:extLst>
              <a:ext uri="{FF2B5EF4-FFF2-40B4-BE49-F238E27FC236}">
                <a16:creationId xmlns:a16="http://schemas.microsoft.com/office/drawing/2014/main" id="{6FA506A1-3C51-D4D5-E36C-262DC0BBE1FF}"/>
              </a:ext>
            </a:extLst>
          </p:cNvPr>
          <p:cNvSpPr>
            <a:spLocks noGrp="1"/>
          </p:cNvSpPr>
          <p:nvPr>
            <p:ph type="dt" sz="half" idx="10"/>
          </p:nvPr>
        </p:nvSpPr>
        <p:spPr/>
        <p:txBody>
          <a:bodyPr/>
          <a:lstStyle/>
          <a:p>
            <a:pPr>
              <a:defRPr/>
            </a:pPr>
            <a:fld id="{67D2A04A-18D4-44B4-AA09-9728E16288C6}"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D7DC58A6-E937-5482-7AB5-35B780B7BBA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35E28D8A-F792-AEB6-0FBC-4290CD4CFE7C}"/>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260350"/>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4.2  </a:t>
            </a:r>
            <a:r>
              <a:rPr lang="zh-CN" altLang="en-US" sz="4000" b="1" dirty="0">
                <a:latin typeface="Times New Roman" panose="02020603050405020304" pitchFamily="18" charset="0"/>
                <a:cs typeface="Times New Roman" panose="02020603050405020304" pitchFamily="18" charset="0"/>
              </a:rPr>
              <a:t>指令的动态调度</a:t>
            </a:r>
          </a:p>
        </p:txBody>
      </p:sp>
      <p:sp>
        <p:nvSpPr>
          <p:cNvPr id="4099" name="Rectangle 2"/>
          <p:cNvSpPr>
            <a:spLocks noGrp="1" noChangeArrowheads="1"/>
          </p:cNvSpPr>
          <p:nvPr>
            <p:ph idx="1"/>
          </p:nvPr>
        </p:nvSpPr>
        <p:spPr>
          <a:xfrm>
            <a:off x="755650" y="1700213"/>
            <a:ext cx="7064375" cy="3600450"/>
          </a:xfrm>
        </p:spPr>
        <p:txBody>
          <a:bodyPr/>
          <a:lstStyle/>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4.2.1  </a:t>
            </a:r>
            <a:r>
              <a:rPr lang="zh-CN" altLang="en-US" sz="2800" b="1" dirty="0">
                <a:latin typeface="Times New Roman" pitchFamily="18" charset="0"/>
                <a:cs typeface="Times New Roman" panose="02020603050405020304" pitchFamily="18" charset="0"/>
              </a:rPr>
              <a:t>动态调度的原理</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4.2.2  </a:t>
            </a:r>
            <a:r>
              <a:rPr lang="zh-CN" altLang="en-US" sz="2800" b="1" dirty="0">
                <a:latin typeface="Times New Roman" pitchFamily="18" charset="0"/>
                <a:cs typeface="Times New Roman" panose="02020603050405020304" pitchFamily="18" charset="0"/>
              </a:rPr>
              <a:t>动态调度算法之一：记分牌</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4.2.3  </a:t>
            </a:r>
            <a:r>
              <a:rPr lang="zh-CN" altLang="en-US" sz="2800" b="1" dirty="0">
                <a:latin typeface="Times New Roman" pitchFamily="18" charset="0"/>
                <a:cs typeface="Times New Roman" panose="02020603050405020304" pitchFamily="18" charset="0"/>
              </a:rPr>
              <a:t>动态调度算法之二：</a:t>
            </a:r>
            <a:r>
              <a:rPr lang="en-US" altLang="zh-CN" sz="2800" b="1" dirty="0" err="1">
                <a:latin typeface="Times New Roman" pitchFamily="18" charset="0"/>
                <a:cs typeface="Times New Roman" panose="02020603050405020304" pitchFamily="18" charset="0"/>
              </a:rPr>
              <a:t>Tomasulo</a:t>
            </a:r>
            <a:r>
              <a:rPr lang="zh-CN" altLang="en-US" sz="2800" b="1" dirty="0">
                <a:latin typeface="Times New Roman" pitchFamily="18" charset="0"/>
                <a:cs typeface="Times New Roman" panose="02020603050405020304" pitchFamily="18" charset="0"/>
              </a:rPr>
              <a:t>算法</a:t>
            </a:r>
            <a:endParaRPr lang="en-US" altLang="zh-CN" sz="2800" b="1" dirty="0">
              <a:latin typeface="Times New Roman"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C7FCC30A-984F-8218-C233-955BC12B1400}"/>
              </a:ext>
            </a:extLst>
          </p:cNvPr>
          <p:cNvSpPr>
            <a:spLocks noGrp="1"/>
          </p:cNvSpPr>
          <p:nvPr>
            <p:ph type="dt" sz="half" idx="10"/>
          </p:nvPr>
        </p:nvSpPr>
        <p:spPr/>
        <p:txBody>
          <a:bodyPr/>
          <a:lstStyle/>
          <a:p>
            <a:pPr>
              <a:defRPr/>
            </a:pPr>
            <a:fld id="{CEBF8700-533F-4348-B968-951B11B5165A}"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18A1AD21-4A06-FE3E-8236-E95AC89B5295}"/>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F0EAFBF8-9E4F-6022-43E3-E104961FEA1A}"/>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78439101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4.2</a:t>
            </a:r>
            <a:r>
              <a:rPr lang="en-US" altLang="zh-CN" sz="3600" b="1" dirty="0">
                <a:latin typeface="+mj-ea"/>
              </a:rPr>
              <a:t> </a:t>
            </a:r>
            <a:r>
              <a:rPr lang="zh-CN" altLang="en-US" sz="3600" b="1" dirty="0">
                <a:latin typeface="+mj-ea"/>
              </a:rPr>
              <a:t>指令的动态调度</a:t>
            </a:r>
          </a:p>
        </p:txBody>
      </p:sp>
      <p:sp>
        <p:nvSpPr>
          <p:cNvPr id="25608" name="Rectangle 8"/>
          <p:cNvSpPr>
            <a:spLocks noGrp="1" noChangeArrowheads="1"/>
          </p:cNvSpPr>
          <p:nvPr>
            <p:ph type="body" idx="4294967295"/>
          </p:nvPr>
        </p:nvSpPr>
        <p:spPr>
          <a:xfrm>
            <a:off x="457200" y="1600200"/>
            <a:ext cx="7859216" cy="4525963"/>
          </a:xfrm>
        </p:spPr>
        <p:txBody>
          <a:bodyPr/>
          <a:lstStyle/>
          <a:p>
            <a:pPr eaLnBrk="1" hangingPunct="1"/>
            <a:r>
              <a:rPr lang="zh-CN" altLang="en-US" sz="2400" b="1" noProof="1">
                <a:latin typeface="Times New Roman" panose="02020603050405020304" pitchFamily="18" charset="0"/>
                <a:cs typeface="Times New Roman" panose="02020603050405020304" pitchFamily="18" charset="0"/>
              </a:rPr>
              <a:t>编译器本质上通过对每个循环迭代中寄存器重命名来展开循环。</a:t>
            </a:r>
            <a:endParaRPr lang="zh-CN" altLang="zh-CN" sz="2400" b="1" noProof="1">
              <a:latin typeface="Times New Roman" panose="02020603050405020304" pitchFamily="18" charset="0"/>
              <a:cs typeface="Times New Roman" panose="02020603050405020304" pitchFamily="18" charset="0"/>
            </a:endParaRPr>
          </a:p>
          <a:p>
            <a:pPr eaLnBrk="1" hangingPunct="1"/>
            <a:r>
              <a:rPr lang="zh-CN" altLang="en-US" sz="2400" b="1" noProof="1">
                <a:latin typeface="Times New Roman" panose="02020603050405020304" pitchFamily="18" charset="0"/>
                <a:cs typeface="Times New Roman" panose="02020603050405020304" pitchFamily="18" charset="0"/>
              </a:rPr>
              <a:t>硬件也可通过寄存器重命名和乱序执行（</a:t>
            </a:r>
            <a:r>
              <a:rPr lang="en-US" altLang="zh-CN" sz="2400" b="1" noProof="1">
                <a:latin typeface="Times New Roman" panose="02020603050405020304" pitchFamily="18" charset="0"/>
                <a:cs typeface="Times New Roman" panose="02020603050405020304" pitchFamily="18" charset="0"/>
              </a:rPr>
              <a:t>Out-of-Order</a:t>
            </a:r>
            <a:r>
              <a:rPr lang="zh-CN" altLang="en-US" sz="2400" b="1" noProof="1">
                <a:latin typeface="Times New Roman" panose="02020603050405020304" pitchFamily="18" charset="0"/>
                <a:cs typeface="Times New Roman" panose="02020603050405020304" pitchFamily="18" charset="0"/>
              </a:rPr>
              <a:t>， </a:t>
            </a:r>
            <a:r>
              <a:rPr lang="en-US" altLang="zh-CN" sz="2400" b="1" noProof="1">
                <a:latin typeface="Times New Roman" panose="02020603050405020304" pitchFamily="18" charset="0"/>
                <a:cs typeface="Times New Roman" panose="02020603050405020304" pitchFamily="18" charset="0"/>
              </a:rPr>
              <a:t>OoO</a:t>
            </a:r>
            <a:r>
              <a:rPr lang="zh-CN" altLang="en-US" sz="2400" b="1" noProof="1">
                <a:latin typeface="Times New Roman" panose="02020603050405020304" pitchFamily="18" charset="0"/>
                <a:cs typeface="Times New Roman" panose="02020603050405020304" pitchFamily="18" charset="0"/>
              </a:rPr>
              <a:t>）来获得同样的效果。</a:t>
            </a:r>
            <a:endParaRPr lang="zh-CN" altLang="zh-CN" sz="2400" b="1" noProof="1">
              <a:latin typeface="Times New Roman" panose="02020603050405020304" pitchFamily="18" charset="0"/>
              <a:cs typeface="Times New Roman" panose="02020603050405020304" pitchFamily="18" charset="0"/>
            </a:endParaRPr>
          </a:p>
          <a:p>
            <a:pPr eaLnBrk="1" hangingPunct="1"/>
            <a:r>
              <a:rPr lang="zh-CN" altLang="en-US" sz="2400" b="1" noProof="1">
                <a:latin typeface="Times New Roman" panose="02020603050405020304" pitchFamily="18" charset="0"/>
                <a:cs typeface="Times New Roman" panose="02020603050405020304" pitchFamily="18" charset="0"/>
              </a:rPr>
              <a:t>动态调度</a:t>
            </a:r>
            <a:endParaRPr lang="zh-CN" altLang="zh-CN" sz="2400" b="1" noProof="1">
              <a:latin typeface="Times New Roman" panose="02020603050405020304" pitchFamily="18" charset="0"/>
              <a:cs typeface="Times New Roman" panose="02020603050405020304" pitchFamily="18" charset="0"/>
            </a:endParaRPr>
          </a:p>
          <a:p>
            <a:pPr lvl="1" eaLnBrk="1" hangingPunct="1"/>
            <a:r>
              <a:rPr lang="zh-CN" altLang="en-US" sz="2400" b="1" noProof="1">
                <a:latin typeface="Times New Roman" panose="02020603050405020304" pitchFamily="18" charset="0"/>
                <a:cs typeface="Times New Roman" panose="02020603050405020304" pitchFamily="18" charset="0"/>
              </a:rPr>
              <a:t>记分牌</a:t>
            </a:r>
            <a:endParaRPr lang="zh-CN" altLang="zh-CN" sz="2400" b="1" noProof="1">
              <a:latin typeface="Times New Roman" panose="02020603050405020304" pitchFamily="18" charset="0"/>
              <a:cs typeface="Times New Roman" panose="02020603050405020304" pitchFamily="18" charset="0"/>
            </a:endParaRPr>
          </a:p>
          <a:p>
            <a:pPr lvl="1" eaLnBrk="1" hangingPunct="1"/>
            <a:r>
              <a:rPr lang="en-US" altLang="zh-CN" sz="2400" b="1" noProof="1">
                <a:latin typeface="Times New Roman" panose="02020603050405020304" pitchFamily="18" charset="0"/>
                <a:cs typeface="Times New Roman" panose="02020603050405020304" pitchFamily="18" charset="0"/>
              </a:rPr>
              <a:t>Tomasulo’s</a:t>
            </a:r>
            <a:r>
              <a:rPr lang="zh-CN" altLang="en-US" sz="2400" b="1" noProof="1">
                <a:latin typeface="Times New Roman" panose="02020603050405020304" pitchFamily="18" charset="0"/>
                <a:cs typeface="Times New Roman" panose="02020603050405020304" pitchFamily="18" charset="0"/>
              </a:rPr>
              <a:t>算法</a:t>
            </a:r>
            <a:endParaRPr lang="zh-CN" altLang="zh-CN" sz="2400" b="1" noProof="1">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49E68002-E14A-A561-FCFE-791D840ACE14}"/>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44BCEDC7-06C0-2668-A5F9-2EFC5FD32367}"/>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9E83CEC-3315-E73B-F107-CE02999AAC4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707575377"/>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1"/>
          <p:cNvSpPr>
            <a:spLocks noGrp="1" noChangeArrowheads="1"/>
          </p:cNvSpPr>
          <p:nvPr>
            <p:ph type="title" idx="4294967295"/>
          </p:nvPr>
        </p:nvSpPr>
        <p:spPr>
          <a:xfrm>
            <a:off x="590872" y="188640"/>
            <a:ext cx="8229600" cy="1143000"/>
          </a:xfrm>
        </p:spPr>
        <p:txBody>
          <a:bodyPr/>
          <a:lstStyle/>
          <a:p>
            <a:pPr eaLnBrk="1" hangingPunct="1"/>
            <a:r>
              <a:rPr lang="zh-CN" altLang="en-US" sz="3600" b="1" dirty="0">
                <a:latin typeface="+mj-ea"/>
              </a:rPr>
              <a:t>冲突的检测和调度</a:t>
            </a:r>
          </a:p>
        </p:txBody>
      </p:sp>
      <p:sp>
        <p:nvSpPr>
          <p:cNvPr id="26636" name="Rectangle 12"/>
          <p:cNvSpPr>
            <a:spLocks noGrp="1" noChangeArrowheads="1"/>
          </p:cNvSpPr>
          <p:nvPr>
            <p:ph type="body" idx="4294967295"/>
          </p:nvPr>
        </p:nvSpPr>
        <p:spPr>
          <a:xfrm>
            <a:off x="457200" y="1268760"/>
            <a:ext cx="8229600" cy="5328592"/>
          </a:xfrm>
        </p:spPr>
        <p:txBody>
          <a:bodyPr rtlCol="0">
            <a:normAutofit fontScale="92500"/>
          </a:bodyPr>
          <a:lstStyle/>
          <a:p>
            <a:pPr eaLnBrk="1" fontAlgn="auto" hangingPunct="1">
              <a:lnSpc>
                <a:spcPct val="110000"/>
              </a:lnSpc>
              <a:spcAft>
                <a:spcPts val="0"/>
              </a:spcAft>
              <a:defRPr/>
            </a:pPr>
            <a:r>
              <a:rPr lang="zh-CN" altLang="en-US" sz="2400" b="1" noProof="1">
                <a:latin typeface="Times New Roman" panose="02020603050405020304" pitchFamily="18" charset="0"/>
                <a:cs typeface="Times New Roman" panose="02020603050405020304" pitchFamily="18" charset="0"/>
              </a:rPr>
              <a:t>如果存在数据相关，硬件检测机制会做如下的事情直到相关消除动态调度</a:t>
            </a:r>
            <a:endParaRPr lang="zh-CN" altLang="zh-CN" sz="2400" b="1" noProof="1">
              <a:latin typeface="Times New Roman" panose="02020603050405020304" pitchFamily="18" charset="0"/>
              <a:cs typeface="Times New Roman" panose="02020603050405020304" pitchFamily="18" charset="0"/>
            </a:endParaRPr>
          </a:p>
          <a:p>
            <a:pPr lvl="1" eaLnBrk="1" fontAlgn="auto" hangingPunct="1">
              <a:lnSpc>
                <a:spcPct val="110000"/>
              </a:lnSpc>
              <a:spcAft>
                <a:spcPts val="0"/>
              </a:spcAft>
              <a:buFont typeface="Wingdings" panose="05000000000000000000" pitchFamily="2" charset="2"/>
              <a:buChar char="ü"/>
              <a:defRPr/>
            </a:pPr>
            <a:r>
              <a:rPr lang="zh-CN" altLang="en-US" sz="2400" b="1" noProof="1">
                <a:latin typeface="Times New Roman" panose="02020603050405020304" pitchFamily="18" charset="0"/>
                <a:cs typeface="Times New Roman" panose="02020603050405020304" pitchFamily="18" charset="0"/>
              </a:rPr>
              <a:t>暂停指令</a:t>
            </a:r>
            <a:endParaRPr lang="zh-CN" altLang="zh-CN" sz="2400" b="1" noProof="1">
              <a:latin typeface="Times New Roman" panose="02020603050405020304" pitchFamily="18" charset="0"/>
              <a:cs typeface="Times New Roman" panose="02020603050405020304" pitchFamily="18" charset="0"/>
            </a:endParaRPr>
          </a:p>
          <a:p>
            <a:pPr lvl="1" eaLnBrk="1" fontAlgn="auto" hangingPunct="1">
              <a:lnSpc>
                <a:spcPct val="110000"/>
              </a:lnSpc>
              <a:spcAft>
                <a:spcPts val="0"/>
              </a:spcAft>
              <a:buFont typeface="Wingdings" panose="05000000000000000000" pitchFamily="2" charset="2"/>
              <a:buChar char="ü"/>
              <a:defRPr/>
            </a:pPr>
            <a:r>
              <a:rPr lang="zh-CN" altLang="en-US" sz="2400" b="1" noProof="1">
                <a:latin typeface="Times New Roman" panose="02020603050405020304" pitchFamily="18" charset="0"/>
                <a:cs typeface="Times New Roman" panose="02020603050405020304" pitchFamily="18" charset="0"/>
              </a:rPr>
              <a:t>停止取指令和发射指令</a:t>
            </a:r>
            <a:endParaRPr lang="en-US" altLang="zh-CN" sz="2400" b="1" dirty="0">
              <a:latin typeface="Times New Roman" panose="02020603050405020304" pitchFamily="18" charset="0"/>
              <a:cs typeface="Times New Roman" panose="02020603050405020304" pitchFamily="18" charset="0"/>
            </a:endParaRPr>
          </a:p>
          <a:p>
            <a:pPr eaLnBrk="1" fontAlgn="auto" hangingPunct="1">
              <a:lnSpc>
                <a:spcPct val="110000"/>
              </a:lnSpc>
              <a:spcAft>
                <a:spcPts val="0"/>
              </a:spcAft>
              <a:defRPr/>
            </a:pPr>
            <a:r>
              <a:rPr lang="zh-CN" altLang="en-US" sz="2400" b="1" noProof="1">
                <a:latin typeface="Times New Roman" panose="02020603050405020304" pitchFamily="18" charset="0"/>
                <a:cs typeface="Times New Roman" panose="02020603050405020304" pitchFamily="18" charset="0"/>
              </a:rPr>
              <a:t>静态调度（开始于</a:t>
            </a:r>
            <a:r>
              <a:rPr lang="en-US" altLang="zh-CN" sz="2400" b="1" noProof="1">
                <a:latin typeface="Times New Roman" panose="02020603050405020304" pitchFamily="18" charset="0"/>
                <a:cs typeface="Times New Roman" panose="02020603050405020304" pitchFamily="18" charset="0"/>
              </a:rPr>
              <a:t>60s</a:t>
            </a:r>
            <a:r>
              <a:rPr lang="zh-CN" altLang="en-US" sz="2400" b="1" noProof="1">
                <a:latin typeface="Times New Roman" panose="02020603050405020304" pitchFamily="18" charset="0"/>
                <a:cs typeface="Times New Roman" panose="02020603050405020304" pitchFamily="18" charset="0"/>
              </a:rPr>
              <a:t>，流行于</a:t>
            </a:r>
            <a:r>
              <a:rPr lang="en-US" altLang="zh-CN" sz="2400" b="1" noProof="1">
                <a:latin typeface="Times New Roman" panose="02020603050405020304" pitchFamily="18" charset="0"/>
                <a:cs typeface="Times New Roman" panose="02020603050405020304" pitchFamily="18" charset="0"/>
              </a:rPr>
              <a:t>80s</a:t>
            </a:r>
            <a:r>
              <a:rPr lang="zh-CN" altLang="en-US" sz="2400" b="1" noProof="1">
                <a:latin typeface="Times New Roman" panose="02020603050405020304" pitchFamily="18" charset="0"/>
                <a:cs typeface="Times New Roman" panose="02020603050405020304" pitchFamily="18" charset="0"/>
              </a:rPr>
              <a:t>）</a:t>
            </a:r>
            <a:endParaRPr lang="zh-CN" altLang="zh-CN" sz="2400" b="1" noProof="1">
              <a:latin typeface="Times New Roman" panose="02020603050405020304" pitchFamily="18" charset="0"/>
              <a:cs typeface="Times New Roman" panose="02020603050405020304" pitchFamily="18" charset="0"/>
            </a:endParaRPr>
          </a:p>
          <a:p>
            <a:pPr marL="741600" lvl="2" indent="-284400" eaLnBrk="1" hangingPunct="1">
              <a:lnSpc>
                <a:spcPct val="110000"/>
              </a:lnSpc>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依靠编译器对代码进行静态调度，以减少相关造成的冲突。</a:t>
            </a:r>
          </a:p>
          <a:p>
            <a:pPr marL="741600" lvl="2" indent="-284400" eaLnBrk="1" hangingPunct="1">
              <a:lnSpc>
                <a:spcPct val="110000"/>
              </a:lnSpc>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它不是在程序执行的过程中、而是在编译期间进行代码调度和优化。</a:t>
            </a:r>
          </a:p>
          <a:p>
            <a:pPr marL="741600" lvl="2" indent="-284400" eaLnBrk="1" hangingPunct="1">
              <a:lnSpc>
                <a:spcPct val="110000"/>
              </a:lnSpc>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通过把相关的指令拉开距离来减少可能产生的停顿。</a:t>
            </a:r>
          </a:p>
          <a:p>
            <a:pPr eaLnBrk="1" fontAlgn="auto" hangingPunct="1">
              <a:lnSpc>
                <a:spcPct val="110000"/>
              </a:lnSpc>
              <a:spcAft>
                <a:spcPts val="0"/>
              </a:spcAft>
              <a:defRPr/>
            </a:pPr>
            <a:r>
              <a:rPr lang="zh-CN" altLang="en-US" sz="2400" b="1" noProof="1">
                <a:latin typeface="Times New Roman" panose="02020603050405020304" pitchFamily="18" charset="0"/>
                <a:cs typeface="Times New Roman" panose="02020603050405020304" pitchFamily="18" charset="0"/>
              </a:rPr>
              <a:t>动态调度</a:t>
            </a:r>
            <a:endParaRPr lang="zh-CN" altLang="zh-CN" sz="2400" b="1" noProof="1">
              <a:latin typeface="Times New Roman" panose="02020603050405020304" pitchFamily="18" charset="0"/>
              <a:cs typeface="Times New Roman" panose="02020603050405020304" pitchFamily="18" charset="0"/>
            </a:endParaRPr>
          </a:p>
          <a:p>
            <a:pPr marL="741600" lvl="2" eaLnBrk="1" hangingPunct="1">
              <a:lnSpc>
                <a:spcPct val="110000"/>
              </a:lnSpc>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在程序的执行过程中，依靠专门硬件对代码进行调度，减少数据相关导致的停顿。</a:t>
            </a:r>
          </a:p>
        </p:txBody>
      </p:sp>
      <p:sp>
        <p:nvSpPr>
          <p:cNvPr id="2" name="日期占位符 1">
            <a:extLst>
              <a:ext uri="{FF2B5EF4-FFF2-40B4-BE49-F238E27FC236}">
                <a16:creationId xmlns:a16="http://schemas.microsoft.com/office/drawing/2014/main" id="{977A5ABA-4E05-BA53-906C-C697EF1B3901}"/>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AE4DDC6C-E2C6-8EB9-0E8F-74155A1CFA1E}"/>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7D51478E-6F0C-A684-5668-07529D6ADA8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286442270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3"/>
          <p:cNvSpPr>
            <a:spLocks noGrp="1" noChangeArrowheads="1"/>
          </p:cNvSpPr>
          <p:nvPr>
            <p:ph type="title" idx="4294967295"/>
          </p:nvPr>
        </p:nvSpPr>
        <p:spPr/>
        <p:txBody>
          <a:bodyPr/>
          <a:lstStyle/>
          <a:p>
            <a:pPr eaLnBrk="1" hangingPunct="1"/>
            <a:r>
              <a:rPr lang="zh-CN" altLang="en-US" sz="3600" b="1" dirty="0">
                <a:latin typeface="+mj-ea"/>
              </a:rPr>
              <a:t>动态调度</a:t>
            </a:r>
          </a:p>
        </p:txBody>
      </p:sp>
      <p:sp>
        <p:nvSpPr>
          <p:cNvPr id="28686" name="Rectangle 14"/>
          <p:cNvSpPr>
            <a:spLocks noGrp="1" noChangeArrowheads="1"/>
          </p:cNvSpPr>
          <p:nvPr>
            <p:ph type="body" idx="4294967295"/>
          </p:nvPr>
        </p:nvSpPr>
        <p:spPr/>
        <p:txBody>
          <a:bodyPr rtlCol="0">
            <a:normAutofit/>
          </a:bodyPr>
          <a:lstStyle/>
          <a:p>
            <a:pPr eaLnBrk="1" fontAlgn="auto" hangingPunct="1">
              <a:lnSpc>
                <a:spcPct val="90000"/>
              </a:lnSpc>
              <a:spcAft>
                <a:spcPts val="0"/>
              </a:spcAft>
              <a:defRPr/>
            </a:pPr>
            <a:r>
              <a:rPr lang="zh-CN" altLang="en-US" sz="2400" b="1" dirty="0">
                <a:latin typeface="+mn-ea"/>
              </a:rPr>
              <a:t>动态调度的目的</a:t>
            </a:r>
          </a:p>
          <a:p>
            <a:pPr lvl="1" eaLnBrk="1" fontAlgn="auto" hangingPunct="1">
              <a:lnSpc>
                <a:spcPct val="90000"/>
              </a:lnSpc>
              <a:spcAft>
                <a:spcPts val="0"/>
              </a:spcAft>
              <a:defRPr/>
            </a:pPr>
            <a:r>
              <a:rPr lang="en-US" altLang="zh-CN" sz="2400" b="1" dirty="0">
                <a:latin typeface="+mn-ea"/>
              </a:rPr>
              <a:t>在</a:t>
            </a:r>
            <a:r>
              <a:rPr lang="zh-CN" altLang="en-US" sz="2400" b="1" dirty="0">
                <a:latin typeface="+mn-ea"/>
              </a:rPr>
              <a:t>程序执行的时候</a:t>
            </a:r>
            <a:r>
              <a:rPr lang="zh-CN" altLang="en-US" sz="2400" dirty="0">
                <a:latin typeface="+mn-ea"/>
              </a:rPr>
              <a:t>，</a:t>
            </a:r>
            <a:r>
              <a:rPr lang="zh-CN" altLang="en-US" sz="2400" b="1" dirty="0">
                <a:latin typeface="+mn-ea"/>
              </a:rPr>
              <a:t>解决</a:t>
            </a:r>
            <a:r>
              <a:rPr lang="en-US" sz="2400" dirty="0">
                <a:latin typeface="+mn-ea"/>
              </a:rPr>
              <a:t> </a:t>
            </a:r>
            <a:r>
              <a:rPr lang="en-US" altLang="zh-CN" sz="2400" b="1" noProof="1">
                <a:latin typeface="Times New Roman" panose="02020603050405020304" pitchFamily="18" charset="0"/>
                <a:cs typeface="Times New Roman" panose="02020603050405020304" pitchFamily="18" charset="0"/>
              </a:rPr>
              <a:t>WAW</a:t>
            </a:r>
            <a:r>
              <a:rPr lang="zh-CN" altLang="en-US" sz="2400" b="1" noProof="1">
                <a:latin typeface="Times New Roman" panose="02020603050405020304" pitchFamily="18" charset="0"/>
                <a:cs typeface="Times New Roman" panose="02020603050405020304" pitchFamily="18" charset="0"/>
              </a:rPr>
              <a:t>、</a:t>
            </a:r>
            <a:r>
              <a:rPr lang="en-US" altLang="zh-CN" sz="2400" b="1" noProof="1">
                <a:latin typeface="Times New Roman" panose="02020603050405020304" pitchFamily="18" charset="0"/>
                <a:cs typeface="Times New Roman" panose="02020603050405020304" pitchFamily="18" charset="0"/>
              </a:rPr>
              <a:t>WAR</a:t>
            </a:r>
            <a:r>
              <a:rPr lang="zh-CN" altLang="en-US" sz="2400" b="1" noProof="1">
                <a:latin typeface="Times New Roman" panose="02020603050405020304" pitchFamily="18" charset="0"/>
                <a:cs typeface="Times New Roman" panose="02020603050405020304" pitchFamily="18" charset="0"/>
              </a:rPr>
              <a:t>、</a:t>
            </a:r>
            <a:r>
              <a:rPr lang="en-US" altLang="zh-CN" sz="2400" b="1" noProof="1">
                <a:latin typeface="Times New Roman" panose="02020603050405020304" pitchFamily="18" charset="0"/>
                <a:cs typeface="Times New Roman" panose="02020603050405020304" pitchFamily="18" charset="0"/>
              </a:rPr>
              <a:t>RAW</a:t>
            </a:r>
            <a:r>
              <a:rPr lang="zh-CN" altLang="en-US" sz="2400" b="1" dirty="0">
                <a:latin typeface="+mn-ea"/>
              </a:rPr>
              <a:t>带来的流水线冲突</a:t>
            </a:r>
            <a:r>
              <a:rPr lang="en-US" sz="2400" b="1" dirty="0">
                <a:latin typeface="+mn-ea"/>
              </a:rPr>
              <a:t> </a:t>
            </a:r>
            <a:endParaRPr lang="zh-CN" altLang="en-US" sz="2400" b="1" dirty="0">
              <a:latin typeface="+mn-ea"/>
            </a:endParaRPr>
          </a:p>
          <a:p>
            <a:pPr eaLnBrk="1" fontAlgn="auto" hangingPunct="1">
              <a:lnSpc>
                <a:spcPct val="90000"/>
              </a:lnSpc>
              <a:spcAft>
                <a:spcPts val="0"/>
              </a:spcAft>
              <a:defRPr/>
            </a:pPr>
            <a:r>
              <a:rPr lang="zh-CN" altLang="en-US" sz="2400" b="1" noProof="1">
                <a:latin typeface="+mn-ea"/>
              </a:rPr>
              <a:t>优点：</a:t>
            </a:r>
            <a:endParaRPr lang="zh-CN" altLang="zh-CN" sz="2400" b="1" noProof="1">
              <a:latin typeface="+mn-ea"/>
            </a:endParaRPr>
          </a:p>
          <a:p>
            <a:pPr lvl="1" eaLnBrk="1" fontAlgn="auto" hangingPunct="1">
              <a:lnSpc>
                <a:spcPct val="90000"/>
              </a:lnSpc>
              <a:spcAft>
                <a:spcPts val="0"/>
              </a:spcAft>
              <a:defRPr/>
            </a:pPr>
            <a:r>
              <a:rPr lang="zh-CN" altLang="en-US" sz="2400" b="1" noProof="1">
                <a:latin typeface="+mn-ea"/>
              </a:rPr>
              <a:t>处理在编译的时候未知的相关</a:t>
            </a:r>
            <a:r>
              <a:rPr lang="en-US" altLang="zh-CN" sz="2400" b="1" dirty="0">
                <a:latin typeface="+mn-ea"/>
              </a:rPr>
              <a:t>，</a:t>
            </a:r>
            <a:r>
              <a:rPr lang="zh-CN" altLang="en-US" sz="2400" b="1" noProof="1">
                <a:latin typeface="+mn-ea"/>
              </a:rPr>
              <a:t>简化编译器</a:t>
            </a:r>
            <a:endParaRPr lang="zh-CN" altLang="zh-CN" sz="2400" b="1" noProof="1">
              <a:latin typeface="+mn-ea"/>
            </a:endParaRPr>
          </a:p>
          <a:p>
            <a:pPr lvl="1" eaLnBrk="1" fontAlgn="auto" hangingPunct="1">
              <a:lnSpc>
                <a:spcPct val="90000"/>
              </a:lnSpc>
              <a:spcAft>
                <a:spcPts val="0"/>
              </a:spcAft>
              <a:defRPr/>
            </a:pPr>
            <a:r>
              <a:rPr lang="zh-CN" altLang="en-US" sz="2400" b="1" noProof="1">
                <a:latin typeface="+mn-ea"/>
              </a:rPr>
              <a:t>在不同的流水线上都能有效的运行</a:t>
            </a:r>
            <a:endParaRPr lang="zh-CN" altLang="zh-CN" sz="2400" b="1" noProof="1">
              <a:latin typeface="+mn-ea"/>
            </a:endParaRPr>
          </a:p>
          <a:p>
            <a:pPr eaLnBrk="1" fontAlgn="auto" hangingPunct="1">
              <a:lnSpc>
                <a:spcPct val="90000"/>
              </a:lnSpc>
              <a:spcAft>
                <a:spcPts val="0"/>
              </a:spcAft>
              <a:defRPr/>
            </a:pPr>
            <a:r>
              <a:rPr lang="zh-CN" altLang="en-US" sz="2400" b="1" noProof="1">
                <a:latin typeface="+mn-ea"/>
              </a:rPr>
              <a:t>缺点：</a:t>
            </a:r>
            <a:endParaRPr lang="zh-CN" altLang="zh-CN" sz="2400" b="1" noProof="1">
              <a:latin typeface="+mn-ea"/>
            </a:endParaRPr>
          </a:p>
          <a:p>
            <a:pPr lvl="1" eaLnBrk="1" fontAlgn="auto" hangingPunct="1">
              <a:lnSpc>
                <a:spcPct val="90000"/>
              </a:lnSpc>
              <a:spcAft>
                <a:spcPts val="0"/>
              </a:spcAft>
              <a:defRPr/>
            </a:pPr>
            <a:r>
              <a:rPr lang="zh-CN" altLang="en-US" sz="2400" b="1" noProof="1">
                <a:latin typeface="+mn-ea"/>
              </a:rPr>
              <a:t>很大地增加了硬件的</a:t>
            </a:r>
            <a:r>
              <a:rPr lang="zh-CN" altLang="en-US" sz="2400" b="1" dirty="0">
                <a:latin typeface="+mn-ea"/>
              </a:rPr>
              <a:t>复杂性</a:t>
            </a:r>
            <a:endParaRPr lang="zh-CN" sz="2400" b="1" dirty="0">
              <a:latin typeface="+mn-ea"/>
            </a:endParaRPr>
          </a:p>
          <a:p>
            <a:pPr eaLnBrk="1" fontAlgn="auto" hangingPunct="1">
              <a:lnSpc>
                <a:spcPct val="90000"/>
              </a:lnSpc>
              <a:spcAft>
                <a:spcPts val="0"/>
              </a:spcAft>
              <a:defRPr/>
            </a:pPr>
            <a:r>
              <a:rPr lang="zh-CN" altLang="en-US" sz="2400" b="1" noProof="1">
                <a:latin typeface="+mn-ea"/>
              </a:rPr>
              <a:t>两个动态调度技术</a:t>
            </a:r>
            <a:endParaRPr lang="zh-CN" altLang="zh-CN" sz="2400" b="1" noProof="1">
              <a:latin typeface="+mn-ea"/>
            </a:endParaRPr>
          </a:p>
          <a:p>
            <a:pPr lvl="1" eaLnBrk="1" fontAlgn="auto" hangingPunct="1">
              <a:lnSpc>
                <a:spcPct val="90000"/>
              </a:lnSpc>
              <a:spcAft>
                <a:spcPts val="0"/>
              </a:spcAft>
              <a:defRPr/>
            </a:pPr>
            <a:r>
              <a:rPr lang="zh-CN" altLang="en-US" sz="2400" b="1" noProof="1">
                <a:latin typeface="+mn-ea"/>
              </a:rPr>
              <a:t>记分牌</a:t>
            </a:r>
            <a:endParaRPr lang="zh-CN" altLang="zh-CN" sz="2400" b="1" noProof="1">
              <a:latin typeface="+mn-ea"/>
            </a:endParaRPr>
          </a:p>
          <a:p>
            <a:pPr lvl="1" eaLnBrk="1" fontAlgn="auto" hangingPunct="1">
              <a:lnSpc>
                <a:spcPct val="90000"/>
              </a:lnSpc>
              <a:spcAft>
                <a:spcPts val="0"/>
              </a:spcAft>
              <a:defRPr/>
            </a:pPr>
            <a:r>
              <a:rPr lang="en-US" altLang="zh-CN" sz="2400" b="1" noProof="1">
                <a:latin typeface="Times New Roman" panose="02020603050405020304" pitchFamily="18" charset="0"/>
                <a:cs typeface="Times New Roman" panose="02020603050405020304" pitchFamily="18" charset="0"/>
              </a:rPr>
              <a:t>Tomasulo</a:t>
            </a:r>
            <a:r>
              <a:rPr lang="zh-CN" altLang="en-US" sz="2400" b="1" noProof="1">
                <a:latin typeface="+mn-ea"/>
              </a:rPr>
              <a:t>算法</a:t>
            </a:r>
            <a:endParaRPr lang="zh-CN" altLang="zh-CN" sz="2400" b="1" noProof="1">
              <a:latin typeface="+mn-ea"/>
            </a:endParaRPr>
          </a:p>
        </p:txBody>
      </p:sp>
      <p:sp>
        <p:nvSpPr>
          <p:cNvPr id="2" name="日期占位符 1">
            <a:extLst>
              <a:ext uri="{FF2B5EF4-FFF2-40B4-BE49-F238E27FC236}">
                <a16:creationId xmlns:a16="http://schemas.microsoft.com/office/drawing/2014/main" id="{DB40EE37-1790-72F0-DB82-93F04BC18855}"/>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7E0D895-7152-43A5-5B6F-B9906D00A264}"/>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51EE2BAE-88BA-6BE0-A59E-E774B3739C3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249150208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57200" y="116632"/>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4.2.1 </a:t>
            </a:r>
            <a:r>
              <a:rPr lang="zh-CN" altLang="en-US" sz="3600" b="1" dirty="0">
                <a:latin typeface="Times New Roman" panose="02020603050405020304" pitchFamily="18" charset="0"/>
                <a:cs typeface="Times New Roman" panose="02020603050405020304" pitchFamily="18" charset="0"/>
              </a:rPr>
              <a:t>动态调度的原理</a:t>
            </a:r>
          </a:p>
        </p:txBody>
      </p:sp>
      <p:sp>
        <p:nvSpPr>
          <p:cNvPr id="62466" name="Rectangle 3" descr="Rectangle: Click to edit Master text styles&#10;Second level&#10;Third level&#10;Fourth level&#10;Fifth level"/>
          <p:cNvSpPr>
            <a:spLocks noGrp="1" noChangeArrowheads="1"/>
          </p:cNvSpPr>
          <p:nvPr>
            <p:ph idx="1"/>
          </p:nvPr>
        </p:nvSpPr>
        <p:spPr>
          <a:xfrm>
            <a:off x="684213" y="1412875"/>
            <a:ext cx="7920037" cy="4608513"/>
          </a:xfrm>
        </p:spPr>
        <p:txBody>
          <a:bodyPr/>
          <a:lstStyle/>
          <a:p>
            <a:pPr marL="457200" indent="-457200" eaLnBrk="1" hangingPunct="1">
              <a:lnSpc>
                <a:spcPct val="110000"/>
              </a:lnSpc>
              <a:buFont typeface="Arial" charset="0"/>
              <a:buChar char="•"/>
              <a:defRPr/>
            </a:pPr>
            <a:r>
              <a:rPr lang="zh-CN" altLang="en-US" sz="2400" b="1" dirty="0">
                <a:latin typeface="Times New Roman" panose="02020603050405020304" pitchFamily="18" charset="0"/>
                <a:cs typeface="Times New Roman" panose="02020603050405020304" pitchFamily="18" charset="0"/>
              </a:rPr>
              <a:t>到目前为止我们所使用流水线的最大的</a:t>
            </a:r>
            <a:r>
              <a:rPr lang="zh-CN" altLang="en-US" sz="2400" b="1" dirty="0">
                <a:solidFill>
                  <a:srgbClr val="008000"/>
                </a:solidFill>
                <a:latin typeface="Times New Roman" panose="02020603050405020304" pitchFamily="18" charset="0"/>
                <a:cs typeface="Times New Roman" panose="02020603050405020304" pitchFamily="18" charset="0"/>
              </a:rPr>
              <a:t>局限性</a:t>
            </a:r>
            <a:r>
              <a:rPr lang="en-US" altLang="zh-CN" sz="2400" b="1" dirty="0">
                <a:solidFill>
                  <a:srgbClr val="008000"/>
                </a:solidFill>
                <a:latin typeface="Times New Roman" panose="02020603050405020304" pitchFamily="18" charset="0"/>
                <a:cs typeface="Times New Roman" panose="02020603050405020304" pitchFamily="18" charset="0"/>
              </a:rPr>
              <a:t>:</a:t>
            </a:r>
          </a:p>
          <a:p>
            <a:pPr marL="1085850" lvl="1" indent="-457200" eaLnBrk="1" hangingPunct="1">
              <a:lnSpc>
                <a:spcPct val="110000"/>
              </a:lnSpc>
              <a:buFont typeface="Arial" charset="0"/>
              <a:buChar char="–"/>
              <a:defRPr/>
            </a:pPr>
            <a:r>
              <a:rPr lang="zh-CN" altLang="en-US" sz="2400" b="1" dirty="0">
                <a:latin typeface="Times New Roman" panose="02020603050405020304" pitchFamily="18" charset="0"/>
                <a:cs typeface="Times New Roman" panose="02020603050405020304" pitchFamily="18" charset="0"/>
              </a:rPr>
              <a:t>指令是</a:t>
            </a:r>
            <a:r>
              <a:rPr lang="zh-CN" altLang="en-US" sz="2400" b="1" dirty="0">
                <a:solidFill>
                  <a:srgbClr val="D60093"/>
                </a:solidFill>
                <a:latin typeface="Times New Roman" panose="02020603050405020304" pitchFamily="18" charset="0"/>
                <a:cs typeface="Times New Roman" panose="02020603050405020304" pitchFamily="18" charset="0"/>
              </a:rPr>
              <a:t>按序流出</a:t>
            </a:r>
            <a:r>
              <a:rPr lang="zh-CN" altLang="en-US" sz="2400" b="1" dirty="0">
                <a:latin typeface="Times New Roman" panose="02020603050405020304" pitchFamily="18" charset="0"/>
                <a:cs typeface="Times New Roman" panose="02020603050405020304" pitchFamily="18" charset="0"/>
              </a:rPr>
              <a:t>和</a:t>
            </a:r>
            <a:r>
              <a:rPr lang="zh-CN" altLang="en-US" sz="2400" b="1" dirty="0">
                <a:solidFill>
                  <a:srgbClr val="D60093"/>
                </a:solidFill>
                <a:latin typeface="Times New Roman" panose="02020603050405020304" pitchFamily="18" charset="0"/>
                <a:cs typeface="Times New Roman" panose="02020603050405020304" pitchFamily="18" charset="0"/>
              </a:rPr>
              <a:t>按序执行的</a:t>
            </a:r>
          </a:p>
          <a:p>
            <a:pPr marL="1085850" lvl="1" indent="-457200" eaLnBrk="1" hangingPunct="1">
              <a:lnSpc>
                <a:spcPct val="110000"/>
              </a:lnSpc>
              <a:buFont typeface="Arial" charset="0"/>
              <a:buChar char="–"/>
              <a:defRPr/>
            </a:pPr>
            <a:r>
              <a:rPr lang="zh-CN" altLang="en-US" sz="2400" b="1" dirty="0">
                <a:latin typeface="Times New Roman" panose="02020603050405020304" pitchFamily="18" charset="0"/>
                <a:cs typeface="Times New Roman" panose="02020603050405020304" pitchFamily="18" charset="0"/>
              </a:rPr>
              <a:t>考虑下面一段代码：</a:t>
            </a:r>
          </a:p>
          <a:p>
            <a:pPr lvl="2" eaLnBrk="1" hangingPunct="1">
              <a:lnSpc>
                <a:spcPct val="110000"/>
              </a:lnSpc>
              <a:buFont typeface="Wingdings" pitchFamily="2" charset="2"/>
              <a:buNone/>
              <a:defRPr/>
            </a:pPr>
            <a:r>
              <a:rPr lang="en-US" altLang="zh-CN" b="1" dirty="0">
                <a:latin typeface="Times New Roman" panose="02020603050405020304" pitchFamily="18" charset="0"/>
                <a:cs typeface="Times New Roman" panose="02020603050405020304" pitchFamily="18" charset="0"/>
              </a:rPr>
              <a:t>DIVD	 </a:t>
            </a:r>
            <a:r>
              <a:rPr lang="en-US" altLang="zh-CN" b="1" dirty="0">
                <a:solidFill>
                  <a:srgbClr val="D60093"/>
                </a:solidFill>
                <a:latin typeface="Times New Roman" panose="02020603050405020304" pitchFamily="18" charset="0"/>
                <a:cs typeface="Times New Roman" panose="02020603050405020304" pitchFamily="18" charset="0"/>
              </a:rPr>
              <a:t>F4</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F0</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F2</a:t>
            </a:r>
          </a:p>
          <a:p>
            <a:pPr lvl="2" eaLnBrk="1" hangingPunct="1">
              <a:lnSpc>
                <a:spcPct val="110000"/>
              </a:lnSpc>
              <a:buFont typeface="Wingdings" pitchFamily="2" charset="2"/>
              <a:buNone/>
              <a:defRPr/>
            </a:pPr>
            <a:r>
              <a:rPr lang="en-US" altLang="zh-CN" b="1" dirty="0">
                <a:latin typeface="Times New Roman" panose="02020603050405020304" pitchFamily="18" charset="0"/>
                <a:cs typeface="Times New Roman" panose="02020603050405020304" pitchFamily="18" charset="0"/>
              </a:rPr>
              <a:t>ADDD	 F10</a:t>
            </a:r>
            <a:r>
              <a:rPr lang="zh-CN" altLang="en-US" b="1" dirty="0">
                <a:latin typeface="Times New Roman" panose="02020603050405020304" pitchFamily="18" charset="0"/>
                <a:cs typeface="Times New Roman" panose="02020603050405020304" pitchFamily="18" charset="0"/>
              </a:rPr>
              <a:t>，</a:t>
            </a:r>
            <a:r>
              <a:rPr lang="en-US" altLang="zh-CN" b="1" dirty="0">
                <a:solidFill>
                  <a:srgbClr val="D60093"/>
                </a:solidFill>
                <a:latin typeface="Times New Roman" panose="02020603050405020304" pitchFamily="18" charset="0"/>
                <a:cs typeface="Times New Roman" panose="02020603050405020304" pitchFamily="18" charset="0"/>
              </a:rPr>
              <a:t>F4</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F6 </a:t>
            </a:r>
          </a:p>
          <a:p>
            <a:pPr lvl="2" eaLnBrk="1" hangingPunct="1">
              <a:lnSpc>
                <a:spcPct val="110000"/>
              </a:lnSpc>
              <a:buFont typeface="Wingdings" pitchFamily="2" charset="2"/>
              <a:buNone/>
              <a:defRPr/>
            </a:pPr>
            <a:r>
              <a:rPr lang="en-US" altLang="zh-CN" b="1" dirty="0">
                <a:latin typeface="Times New Roman" panose="02020603050405020304" pitchFamily="18" charset="0"/>
                <a:cs typeface="Times New Roman" panose="02020603050405020304" pitchFamily="18" charset="0"/>
              </a:rPr>
              <a:t>SUBD	 F12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F6</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F14</a:t>
            </a:r>
          </a:p>
          <a:p>
            <a:pPr marL="36000" lvl="2" indent="0" eaLnBrk="1" hangingPunct="1">
              <a:lnSpc>
                <a:spcPct val="110000"/>
              </a:lnSpc>
              <a:buFont typeface="Wingdings" pitchFamily="2" charset="2"/>
              <a:buNone/>
              <a:defRPr/>
            </a:pPr>
            <a:r>
              <a:rPr lang="en-US" altLang="zh-CN" b="1" dirty="0">
                <a:solidFill>
                  <a:srgbClr val="D60093"/>
                </a:solidFill>
                <a:latin typeface="Times New Roman" panose="02020603050405020304" pitchFamily="18" charset="0"/>
                <a:cs typeface="Times New Roman" panose="02020603050405020304" pitchFamily="18" charset="0"/>
              </a:rPr>
              <a:t>   ADDD</a:t>
            </a:r>
            <a:r>
              <a:rPr lang="zh-CN" altLang="en-US" b="1" dirty="0">
                <a:solidFill>
                  <a:srgbClr val="000000"/>
                </a:solidFill>
                <a:latin typeface="Times New Roman" panose="02020603050405020304" pitchFamily="18" charset="0"/>
                <a:cs typeface="Times New Roman" panose="02020603050405020304" pitchFamily="18" charset="0"/>
              </a:rPr>
              <a:t>指令与</a:t>
            </a:r>
            <a:r>
              <a:rPr lang="en-US" altLang="zh-CN" b="1" dirty="0">
                <a:solidFill>
                  <a:srgbClr val="D60093"/>
                </a:solidFill>
                <a:latin typeface="Times New Roman" panose="02020603050405020304" pitchFamily="18" charset="0"/>
                <a:cs typeface="Times New Roman" panose="02020603050405020304" pitchFamily="18" charset="0"/>
              </a:rPr>
              <a:t>DIVD</a:t>
            </a:r>
            <a:r>
              <a:rPr lang="zh-CN" altLang="en-US" b="1" dirty="0">
                <a:solidFill>
                  <a:srgbClr val="000000"/>
                </a:solidFill>
                <a:latin typeface="Times New Roman" panose="02020603050405020304" pitchFamily="18" charset="0"/>
                <a:cs typeface="Times New Roman" panose="02020603050405020304" pitchFamily="18" charset="0"/>
              </a:rPr>
              <a:t>指令关于</a:t>
            </a:r>
            <a:r>
              <a:rPr lang="en-US" altLang="zh-CN" b="1" dirty="0">
                <a:solidFill>
                  <a:srgbClr val="D60093"/>
                </a:solidFill>
                <a:latin typeface="Times New Roman" panose="02020603050405020304" pitchFamily="18" charset="0"/>
                <a:cs typeface="Times New Roman" panose="02020603050405020304" pitchFamily="18" charset="0"/>
              </a:rPr>
              <a:t>F4</a:t>
            </a:r>
            <a:r>
              <a:rPr lang="zh-CN" altLang="en-US" b="1" dirty="0">
                <a:solidFill>
                  <a:srgbClr val="000000"/>
                </a:solidFill>
                <a:latin typeface="Times New Roman" panose="02020603050405020304" pitchFamily="18" charset="0"/>
                <a:cs typeface="Times New Roman" panose="02020603050405020304" pitchFamily="18" charset="0"/>
              </a:rPr>
              <a:t>相关，导致流水线停顿。</a:t>
            </a:r>
            <a:endParaRPr lang="en-US" altLang="zh-CN" b="1" dirty="0">
              <a:solidFill>
                <a:srgbClr val="000000"/>
              </a:solidFill>
              <a:latin typeface="Times New Roman" panose="02020603050405020304" pitchFamily="18" charset="0"/>
              <a:cs typeface="Times New Roman" panose="02020603050405020304" pitchFamily="18" charset="0"/>
            </a:endParaRPr>
          </a:p>
          <a:p>
            <a:pPr marL="36000" lvl="1" indent="0" eaLnBrk="1" hangingPunct="1">
              <a:lnSpc>
                <a:spcPct val="110000"/>
              </a:lnSpc>
              <a:buFont typeface="Wingdings" pitchFamily="2" charset="2"/>
              <a:buNone/>
              <a:defRPr/>
            </a:pP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D60093"/>
                </a:solidFill>
                <a:latin typeface="Times New Roman" panose="02020603050405020304" pitchFamily="18" charset="0"/>
                <a:cs typeface="Times New Roman" panose="02020603050405020304" pitchFamily="18" charset="0"/>
              </a:rPr>
              <a:t>SUBD</a:t>
            </a:r>
            <a:r>
              <a:rPr lang="zh-CN" altLang="en-US" sz="2400" b="1" dirty="0">
                <a:solidFill>
                  <a:srgbClr val="000000"/>
                </a:solidFill>
                <a:latin typeface="Times New Roman" panose="02020603050405020304" pitchFamily="18" charset="0"/>
                <a:cs typeface="Times New Roman" panose="02020603050405020304" pitchFamily="18" charset="0"/>
              </a:rPr>
              <a:t>指令与流水线中的任何指令都没有关系，</a:t>
            </a:r>
            <a:r>
              <a:rPr lang="zh-CN" altLang="en-US" sz="2400" b="1" dirty="0">
                <a:solidFill>
                  <a:srgbClr val="D60093"/>
                </a:solidFill>
                <a:latin typeface="Times New Roman" panose="02020603050405020304" pitchFamily="18" charset="0"/>
                <a:cs typeface="Times New Roman" panose="02020603050405020304" pitchFamily="18" charset="0"/>
              </a:rPr>
              <a:t>但也因此受阻</a:t>
            </a:r>
            <a:r>
              <a:rPr lang="zh-CN" altLang="en-US" sz="2400" b="1" dirty="0">
                <a:solidFill>
                  <a:srgbClr val="000000"/>
                </a:solidFill>
                <a:latin typeface="Times New Roman" panose="02020603050405020304" pitchFamily="18" charset="0"/>
                <a:cs typeface="Times New Roman" panose="02020603050405020304" pitchFamily="18" charset="0"/>
              </a:rPr>
              <a:t>。</a:t>
            </a:r>
          </a:p>
        </p:txBody>
      </p:sp>
      <p:sp>
        <p:nvSpPr>
          <p:cNvPr id="2" name="日期占位符 1">
            <a:extLst>
              <a:ext uri="{FF2B5EF4-FFF2-40B4-BE49-F238E27FC236}">
                <a16:creationId xmlns:a16="http://schemas.microsoft.com/office/drawing/2014/main" id="{F486AD60-8EAB-1123-C315-9DB75D6DCB9D}"/>
              </a:ext>
            </a:extLst>
          </p:cNvPr>
          <p:cNvSpPr>
            <a:spLocks noGrp="1"/>
          </p:cNvSpPr>
          <p:nvPr>
            <p:ph type="dt" sz="half" idx="10"/>
          </p:nvPr>
        </p:nvSpPr>
        <p:spPr/>
        <p:txBody>
          <a:bodyPr/>
          <a:lstStyle/>
          <a:p>
            <a:pPr>
              <a:defRPr/>
            </a:pPr>
            <a:fld id="{D0BA58FC-6440-488D-A04A-9BB90CB12771}"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C031ACBE-C822-6B71-2445-199D84319B67}"/>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7752533-32FF-4C24-1885-CD9DB4805C17}"/>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428797616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descr="Rectangle: Click to edit Master text styles&#10;Second level&#10;Third level&#10;Fourth level&#10;Fifth level"/>
          <p:cNvSpPr>
            <a:spLocks noGrp="1" noChangeArrowheads="1"/>
          </p:cNvSpPr>
          <p:nvPr>
            <p:ph idx="1"/>
          </p:nvPr>
        </p:nvSpPr>
        <p:spPr>
          <a:xfrm>
            <a:off x="958850" y="1412875"/>
            <a:ext cx="4679950" cy="576263"/>
          </a:xfrm>
        </p:spPr>
        <p:txBody>
          <a:bodyPr/>
          <a:lstStyle/>
          <a:p>
            <a:pPr marL="457200" indent="-457200" eaLnBrk="1" hangingPunct="1">
              <a:buFont typeface="Wingdings" pitchFamily="2" charset="2"/>
              <a:buNone/>
            </a:pPr>
            <a:r>
              <a:rPr lang="zh-CN" altLang="en-US" sz="2800" b="1" dirty="0"/>
              <a:t>在前面的基本流水线中：</a:t>
            </a:r>
          </a:p>
        </p:txBody>
      </p:sp>
      <p:sp>
        <p:nvSpPr>
          <p:cNvPr id="58371" name="Rectangle 4"/>
          <p:cNvSpPr>
            <a:spLocks noChangeArrowheads="1"/>
          </p:cNvSpPr>
          <p:nvPr/>
        </p:nvSpPr>
        <p:spPr bwMode="auto">
          <a:xfrm>
            <a:off x="4191000" y="2128838"/>
            <a:ext cx="990600" cy="1447800"/>
          </a:xfrm>
          <a:prstGeom prst="rect">
            <a:avLst/>
          </a:prstGeom>
          <a:solidFill>
            <a:schemeClr val="accent1"/>
          </a:solidFill>
          <a:ln w="9525">
            <a:solidFill>
              <a:schemeClr val="tx1"/>
            </a:solidFill>
            <a:miter lim="800000"/>
            <a:headEnd/>
            <a:tailEnd/>
          </a:ln>
        </p:spPr>
        <p:txBody>
          <a:bodyPr wrap="none" anchor="ctr"/>
          <a:lstStyle/>
          <a:p>
            <a:pPr>
              <a:buFont typeface="Wingdings" pitchFamily="2" charset="2"/>
              <a:buNone/>
            </a:pPr>
            <a:endParaRPr lang="zh-CN" altLang="en-US"/>
          </a:p>
        </p:txBody>
      </p:sp>
      <p:sp>
        <p:nvSpPr>
          <p:cNvPr id="58372" name="Text Box 5"/>
          <p:cNvSpPr txBox="1">
            <a:spLocks noChangeArrowheads="1"/>
          </p:cNvSpPr>
          <p:nvPr/>
        </p:nvSpPr>
        <p:spPr bwMode="auto">
          <a:xfrm>
            <a:off x="4419600" y="2630488"/>
            <a:ext cx="1219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buFont typeface="Wingdings" pitchFamily="2" charset="2"/>
              <a:buNone/>
            </a:pPr>
            <a:r>
              <a:rPr lang="en-US" altLang="zh-CN" sz="2600">
                <a:solidFill>
                  <a:srgbClr val="000000"/>
                </a:solidFill>
                <a:latin typeface="黑体" pitchFamily="49" charset="-122"/>
                <a:ea typeface="黑体" pitchFamily="49" charset="-122"/>
              </a:rPr>
              <a:t>ID</a:t>
            </a:r>
          </a:p>
        </p:txBody>
      </p:sp>
      <p:sp>
        <p:nvSpPr>
          <p:cNvPr id="58373" name="Line 6"/>
          <p:cNvSpPr>
            <a:spLocks noChangeShapeType="1"/>
          </p:cNvSpPr>
          <p:nvPr/>
        </p:nvSpPr>
        <p:spPr bwMode="auto">
          <a:xfrm>
            <a:off x="3124200" y="2890838"/>
            <a:ext cx="1066800" cy="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4" name="Line 7"/>
          <p:cNvSpPr>
            <a:spLocks noChangeShapeType="1"/>
          </p:cNvSpPr>
          <p:nvPr/>
        </p:nvSpPr>
        <p:spPr bwMode="auto">
          <a:xfrm>
            <a:off x="5181600" y="2890838"/>
            <a:ext cx="1066800" cy="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5" name="Text Box 8"/>
          <p:cNvSpPr txBox="1">
            <a:spLocks noChangeArrowheads="1"/>
          </p:cNvSpPr>
          <p:nvPr/>
        </p:nvSpPr>
        <p:spPr bwMode="auto">
          <a:xfrm>
            <a:off x="3725863" y="3835400"/>
            <a:ext cx="2232025" cy="92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buFont typeface="Wingdings" pitchFamily="2" charset="2"/>
              <a:buNone/>
            </a:pPr>
            <a:r>
              <a:rPr lang="zh-CN" altLang="en-US" sz="2400" dirty="0">
                <a:latin typeface="Tahoma" pitchFamily="34" charset="0"/>
                <a:ea typeface="黑体" pitchFamily="49" charset="-122"/>
              </a:rPr>
              <a:t>检测</a:t>
            </a:r>
            <a:r>
              <a:rPr lang="zh-CN" altLang="en-US" sz="2400" dirty="0">
                <a:solidFill>
                  <a:srgbClr val="D60093"/>
                </a:solidFill>
                <a:latin typeface="Tahoma" pitchFamily="34" charset="0"/>
                <a:ea typeface="黑体" pitchFamily="49" charset="-122"/>
              </a:rPr>
              <a:t>结构</a:t>
            </a:r>
            <a:r>
              <a:rPr lang="zh-CN" altLang="en-US" sz="2400" dirty="0">
                <a:latin typeface="Tahoma" pitchFamily="34" charset="0"/>
                <a:ea typeface="黑体" pitchFamily="49" charset="-122"/>
              </a:rPr>
              <a:t>冲突</a:t>
            </a:r>
          </a:p>
          <a:p>
            <a:pPr eaLnBrk="1" hangingPunct="1">
              <a:lnSpc>
                <a:spcPct val="120000"/>
              </a:lnSpc>
              <a:buFont typeface="Wingdings" pitchFamily="2" charset="2"/>
              <a:buNone/>
            </a:pPr>
            <a:r>
              <a:rPr lang="zh-CN" altLang="en-US" sz="2400" dirty="0">
                <a:latin typeface="Tahoma" pitchFamily="34" charset="0"/>
                <a:ea typeface="黑体" pitchFamily="49" charset="-122"/>
              </a:rPr>
              <a:t>检测</a:t>
            </a:r>
            <a:r>
              <a:rPr lang="zh-CN" altLang="en-US" sz="2400" dirty="0">
                <a:solidFill>
                  <a:srgbClr val="D60093"/>
                </a:solidFill>
                <a:latin typeface="Tahoma" pitchFamily="34" charset="0"/>
                <a:ea typeface="黑体" pitchFamily="49" charset="-122"/>
              </a:rPr>
              <a:t>数据</a:t>
            </a:r>
            <a:r>
              <a:rPr lang="zh-CN" altLang="en-US" sz="2400" dirty="0">
                <a:latin typeface="Tahoma" pitchFamily="34" charset="0"/>
                <a:ea typeface="黑体" pitchFamily="49" charset="-122"/>
              </a:rPr>
              <a:t>冲突</a:t>
            </a:r>
          </a:p>
        </p:txBody>
      </p:sp>
      <p:sp>
        <p:nvSpPr>
          <p:cNvPr id="58376" name="Text Box 9"/>
          <p:cNvSpPr txBox="1">
            <a:spLocks noChangeArrowheads="1"/>
          </p:cNvSpPr>
          <p:nvPr/>
        </p:nvSpPr>
        <p:spPr bwMode="auto">
          <a:xfrm>
            <a:off x="685800" y="4872038"/>
            <a:ext cx="77724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buFont typeface="Wingdings" pitchFamily="2" charset="2"/>
              <a:buNone/>
            </a:pPr>
            <a:r>
              <a:rPr lang="en-US" altLang="zh-CN" sz="2400" dirty="0">
                <a:latin typeface="Tahoma" pitchFamily="34" charset="0"/>
                <a:ea typeface="黑体" pitchFamily="49" charset="-122"/>
              </a:rPr>
              <a:t>       </a:t>
            </a:r>
            <a:r>
              <a:rPr lang="zh-CN" altLang="en-US" sz="2400" dirty="0">
                <a:latin typeface="Tahoma" pitchFamily="34" charset="0"/>
                <a:ea typeface="黑体" pitchFamily="49" charset="-122"/>
              </a:rPr>
              <a:t>一旦一条指令受阻，其后的指令都将停顿。</a:t>
            </a:r>
          </a:p>
          <a:p>
            <a:pPr eaLnBrk="1" hangingPunct="1">
              <a:lnSpc>
                <a:spcPct val="150000"/>
              </a:lnSpc>
              <a:buFont typeface="Wingdings" pitchFamily="2" charset="2"/>
              <a:buNone/>
            </a:pPr>
            <a:r>
              <a:rPr lang="zh-CN" altLang="en-US" sz="2400" dirty="0">
                <a:latin typeface="Tahoma" pitchFamily="34" charset="0"/>
                <a:ea typeface="黑体" pitchFamily="49" charset="-122"/>
              </a:rPr>
              <a:t>       </a:t>
            </a:r>
            <a:endParaRPr lang="zh-CN" altLang="en-US" sz="2400" dirty="0">
              <a:solidFill>
                <a:srgbClr val="FF0000"/>
              </a:solidFill>
              <a:latin typeface="Tahoma" pitchFamily="34" charset="0"/>
              <a:ea typeface="黑体" pitchFamily="49" charset="-122"/>
            </a:endParaRPr>
          </a:p>
        </p:txBody>
      </p:sp>
      <p:sp>
        <p:nvSpPr>
          <p:cNvPr id="11" name="Rectangle 2"/>
          <p:cNvSpPr>
            <a:spLocks noGrp="1" noChangeArrowheads="1"/>
          </p:cNvSpPr>
          <p:nvPr>
            <p:ph type="title"/>
          </p:nvPr>
        </p:nvSpPr>
        <p:spPr>
          <a:xfrm>
            <a:off x="457200" y="115888"/>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4.2.1</a:t>
            </a:r>
            <a:r>
              <a:rPr lang="en-US" altLang="zh-CN" sz="3600" b="1" dirty="0">
                <a:latin typeface="+mj-ea"/>
              </a:rPr>
              <a:t> </a:t>
            </a:r>
            <a:r>
              <a:rPr lang="zh-CN" altLang="en-US" sz="3600" b="1" dirty="0">
                <a:latin typeface="+mj-ea"/>
              </a:rPr>
              <a:t>动态调度的原理</a:t>
            </a:r>
          </a:p>
        </p:txBody>
      </p:sp>
      <p:sp>
        <p:nvSpPr>
          <p:cNvPr id="2" name="日期占位符 1">
            <a:extLst>
              <a:ext uri="{FF2B5EF4-FFF2-40B4-BE49-F238E27FC236}">
                <a16:creationId xmlns:a16="http://schemas.microsoft.com/office/drawing/2014/main" id="{AE46AB7D-BE87-7369-9D9A-FD8E802A1D4B}"/>
              </a:ext>
            </a:extLst>
          </p:cNvPr>
          <p:cNvSpPr>
            <a:spLocks noGrp="1"/>
          </p:cNvSpPr>
          <p:nvPr>
            <p:ph type="dt" sz="half" idx="10"/>
          </p:nvPr>
        </p:nvSpPr>
        <p:spPr/>
        <p:txBody>
          <a:bodyPr/>
          <a:lstStyle/>
          <a:p>
            <a:pPr>
              <a:defRPr/>
            </a:pPr>
            <a:fld id="{87B296B0-6CDD-48DF-A884-19729C52FA94}"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D6474727-A745-4964-7724-81291DF051B7}"/>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DC48AB65-B757-0CF8-6DE5-7445DF711ECE}"/>
              </a:ext>
            </a:extLst>
          </p:cNvPr>
          <p:cNvSpPr>
            <a:spLocks noGrp="1"/>
          </p:cNvSpPr>
          <p:nvPr>
            <p:ph type="sldNum" sz="quarter" idx="12"/>
          </p:nvPr>
        </p:nvSpPr>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160447429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descr="Rectangle: Click to edit Master text styles&#10;Second level&#10;Third level&#10;Fourth level&#10;Fifth level"/>
          <p:cNvSpPr>
            <a:spLocks noGrp="1" noChangeArrowheads="1"/>
          </p:cNvSpPr>
          <p:nvPr>
            <p:ph idx="1"/>
          </p:nvPr>
        </p:nvSpPr>
        <p:spPr>
          <a:xfrm>
            <a:off x="395288" y="692150"/>
            <a:ext cx="8229600" cy="5400675"/>
          </a:xfrm>
        </p:spPr>
        <p:txBody>
          <a:bodyPr/>
          <a:lstStyle/>
          <a:p>
            <a:pPr marL="1085850" lvl="1" indent="-457200" eaLnBrk="1" hangingPunct="1">
              <a:lnSpc>
                <a:spcPct val="110000"/>
              </a:lnSpc>
              <a:buFont typeface="Arial" charset="0"/>
              <a:buChar char="–"/>
              <a:defRPr/>
            </a:pPr>
            <a:r>
              <a:rPr lang="zh-CN" altLang="en-US" sz="2400" b="1" dirty="0">
                <a:latin typeface="Times New Roman" pitchFamily="18" charset="0"/>
              </a:rPr>
              <a:t>为了使上述指令序列中的</a:t>
            </a:r>
            <a:r>
              <a:rPr lang="en-US" altLang="zh-CN" sz="2400" b="1" dirty="0">
                <a:solidFill>
                  <a:srgbClr val="D60093"/>
                </a:solidFill>
                <a:latin typeface="Times New Roman" pitchFamily="18" charset="0"/>
              </a:rPr>
              <a:t>SUBD</a:t>
            </a:r>
            <a:r>
              <a:rPr lang="zh-CN" altLang="en-US" sz="2400" b="1" dirty="0">
                <a:latin typeface="Times New Roman" pitchFamily="18" charset="0"/>
              </a:rPr>
              <a:t>指令能继续执行下去，必须把指令流出的工作拆分为两步：</a:t>
            </a:r>
          </a:p>
          <a:p>
            <a:pPr lvl="2" eaLnBrk="1" hangingPunct="1">
              <a:lnSpc>
                <a:spcPct val="110000"/>
              </a:lnSpc>
              <a:buFont typeface="Arial" charset="0"/>
              <a:buChar char="•"/>
              <a:defRPr/>
            </a:pPr>
            <a:r>
              <a:rPr lang="zh-CN" altLang="en-US" b="1" dirty="0"/>
              <a:t>检测结构冲突</a:t>
            </a:r>
          </a:p>
          <a:p>
            <a:pPr lvl="2" eaLnBrk="1" hangingPunct="1">
              <a:lnSpc>
                <a:spcPct val="110000"/>
              </a:lnSpc>
              <a:buFont typeface="Arial" charset="0"/>
              <a:buChar char="•"/>
              <a:defRPr/>
            </a:pPr>
            <a:r>
              <a:rPr lang="zh-CN" altLang="en-US" b="1" dirty="0"/>
              <a:t>等待数据冲突消失</a:t>
            </a:r>
          </a:p>
          <a:p>
            <a:pPr marL="0" lvl="1" indent="0" eaLnBrk="1" hangingPunct="1">
              <a:lnSpc>
                <a:spcPct val="110000"/>
              </a:lnSpc>
              <a:buFont typeface="Wingdings" pitchFamily="2" charset="2"/>
              <a:buNone/>
              <a:defRPr/>
            </a:pPr>
            <a:r>
              <a:rPr lang="zh-CN" altLang="en-US" sz="2400" b="1" dirty="0"/>
              <a:t>           只要检测到没有结构冲突，就可以让指令发射，并且流出后的指令一旦其操作数就绪就可以立即执行。 </a:t>
            </a:r>
            <a:endParaRPr lang="en-US" altLang="zh-CN" sz="2400" b="1" dirty="0"/>
          </a:p>
          <a:p>
            <a:pPr marL="0" lvl="1" indent="0" eaLnBrk="1" hangingPunct="1">
              <a:lnSpc>
                <a:spcPct val="110000"/>
              </a:lnSpc>
              <a:buFont typeface="Wingdings" pitchFamily="2" charset="2"/>
              <a:buNone/>
              <a:defRPr/>
            </a:pPr>
            <a:endParaRPr lang="zh-CN" altLang="en-US" sz="2400" b="1" dirty="0"/>
          </a:p>
          <a:p>
            <a:pPr marL="0" indent="0" eaLnBrk="1" hangingPunct="1">
              <a:lnSpc>
                <a:spcPct val="110000"/>
              </a:lnSpc>
              <a:buFont typeface="Wingdings" pitchFamily="2" charset="2"/>
              <a:buNone/>
              <a:defRPr/>
            </a:pPr>
            <a:r>
              <a:rPr lang="zh-CN" altLang="en-US" sz="2400" b="1" dirty="0">
                <a:solidFill>
                  <a:srgbClr val="C00000"/>
                </a:solidFill>
              </a:rPr>
              <a:t>乱序执行</a:t>
            </a:r>
          </a:p>
          <a:p>
            <a:pPr marL="1085850" lvl="1" indent="-457200" eaLnBrk="1" hangingPunct="1">
              <a:lnSpc>
                <a:spcPct val="110000"/>
              </a:lnSpc>
              <a:buFont typeface="Arial" charset="0"/>
              <a:buChar char="–"/>
              <a:defRPr/>
            </a:pPr>
            <a:r>
              <a:rPr lang="zh-CN" altLang="en-US" sz="2400" b="1" dirty="0"/>
              <a:t>指令的执行顺序与程序顺序不相同</a:t>
            </a:r>
          </a:p>
          <a:p>
            <a:pPr marL="1085850" lvl="1" indent="-457200" eaLnBrk="1" hangingPunct="1">
              <a:lnSpc>
                <a:spcPct val="110000"/>
              </a:lnSpc>
              <a:buFont typeface="Arial" charset="0"/>
              <a:buChar char="–"/>
              <a:defRPr/>
            </a:pPr>
            <a:r>
              <a:rPr lang="zh-CN" altLang="en-US" sz="2400" b="1" dirty="0"/>
              <a:t>指令的完成也是乱序完成的</a:t>
            </a:r>
          </a:p>
          <a:p>
            <a:pPr lvl="2" eaLnBrk="1" hangingPunct="1">
              <a:lnSpc>
                <a:spcPct val="110000"/>
              </a:lnSpc>
              <a:buFont typeface="Arial" charset="0"/>
              <a:buChar char="•"/>
              <a:defRPr/>
            </a:pPr>
            <a:r>
              <a:rPr lang="zh-CN" altLang="en-US" b="1" dirty="0"/>
              <a:t>即指令的完成顺序与程序顺序不相同。 </a:t>
            </a:r>
          </a:p>
        </p:txBody>
      </p:sp>
      <p:sp>
        <p:nvSpPr>
          <p:cNvPr id="2" name="日期占位符 1">
            <a:extLst>
              <a:ext uri="{FF2B5EF4-FFF2-40B4-BE49-F238E27FC236}">
                <a16:creationId xmlns:a16="http://schemas.microsoft.com/office/drawing/2014/main" id="{02B61703-65F9-0C65-4BF6-4F90822BE0F9}"/>
              </a:ext>
            </a:extLst>
          </p:cNvPr>
          <p:cNvSpPr>
            <a:spLocks noGrp="1"/>
          </p:cNvSpPr>
          <p:nvPr>
            <p:ph type="dt" sz="half" idx="10"/>
          </p:nvPr>
        </p:nvSpPr>
        <p:spPr/>
        <p:txBody>
          <a:bodyPr/>
          <a:lstStyle/>
          <a:p>
            <a:pPr>
              <a:defRPr/>
            </a:pPr>
            <a:fld id="{54E3E9C5-0DAC-4A1C-8BAF-807E8257DFD7}"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58EE2DE0-4544-E306-604C-7E6E27655074}"/>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34382F15-919B-2E7D-0E41-6BDA5EC57B07}"/>
              </a:ext>
            </a:extLst>
          </p:cNvPr>
          <p:cNvSpPr>
            <a:spLocks noGrp="1"/>
          </p:cNvSpPr>
          <p:nvPr>
            <p:ph type="sldNum" sz="quarter" idx="12"/>
          </p:nvPr>
        </p:nvSpPr>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311288010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descr="Rectangle: Click to edit Master text styles&#10;Second level&#10;Third level&#10;Fourth level&#10;Fifth level"/>
          <p:cNvSpPr>
            <a:spLocks noGrp="1" noChangeArrowheads="1"/>
          </p:cNvSpPr>
          <p:nvPr>
            <p:ph idx="1"/>
          </p:nvPr>
        </p:nvSpPr>
        <p:spPr>
          <a:xfrm>
            <a:off x="496888" y="1125538"/>
            <a:ext cx="8226425" cy="2663825"/>
          </a:xfrm>
        </p:spPr>
        <p:txBody>
          <a:bodyPr/>
          <a:lstStyle/>
          <a:p>
            <a:pPr marL="0" indent="0" eaLnBrk="1" hangingPunct="1">
              <a:buFont typeface="Arial" pitchFamily="34" charset="0"/>
              <a:buNone/>
            </a:pPr>
            <a:r>
              <a:rPr lang="zh-CN" altLang="en-US" sz="2400" b="1" dirty="0">
                <a:latin typeface="黑体" pitchFamily="49" charset="-122"/>
              </a:rPr>
              <a:t>为了支持乱序执行，我们将</a:t>
            </a:r>
            <a:r>
              <a:rPr lang="en-US" altLang="zh-CN" sz="2400" b="1" dirty="0">
                <a:latin typeface="黑体" pitchFamily="49" charset="-122"/>
              </a:rPr>
              <a:t>5</a:t>
            </a:r>
            <a:r>
              <a:rPr lang="zh-CN" altLang="en-US" sz="2400" b="1" dirty="0">
                <a:latin typeface="黑体" pitchFamily="49" charset="-122"/>
              </a:rPr>
              <a:t>段流水线的译码阶段再分为两个阶段：</a:t>
            </a:r>
          </a:p>
          <a:p>
            <a:pPr marL="1085850" lvl="1" indent="-457200" eaLnBrk="1" hangingPunct="1"/>
            <a:r>
              <a:rPr lang="zh-CN" altLang="en-US" sz="2400" b="1" dirty="0">
                <a:solidFill>
                  <a:srgbClr val="D60093"/>
                </a:solidFill>
                <a:latin typeface="黑体" pitchFamily="49" charset="-122"/>
              </a:rPr>
              <a:t>流出（</a:t>
            </a:r>
            <a:r>
              <a:rPr lang="en-US" altLang="zh-CN" sz="2400" b="1" dirty="0">
                <a:solidFill>
                  <a:srgbClr val="D60093"/>
                </a:solidFill>
                <a:latin typeface="黑体" pitchFamily="49" charset="-122"/>
              </a:rPr>
              <a:t>Issue</a:t>
            </a:r>
            <a:r>
              <a:rPr lang="zh-CN" altLang="en-US" sz="2400" b="1" dirty="0">
                <a:solidFill>
                  <a:srgbClr val="D60093"/>
                </a:solidFill>
                <a:latin typeface="黑体" pitchFamily="49" charset="-122"/>
              </a:rPr>
              <a:t>，</a:t>
            </a:r>
            <a:r>
              <a:rPr lang="en-US" altLang="zh-CN" sz="2400" b="1" dirty="0">
                <a:solidFill>
                  <a:srgbClr val="D60093"/>
                </a:solidFill>
                <a:latin typeface="黑体" pitchFamily="49" charset="-122"/>
              </a:rPr>
              <a:t>IS</a:t>
            </a:r>
            <a:r>
              <a:rPr lang="zh-CN" altLang="en-US" sz="2400" b="1" dirty="0">
                <a:solidFill>
                  <a:srgbClr val="D60093"/>
                </a:solidFill>
                <a:latin typeface="黑体" pitchFamily="49" charset="-122"/>
              </a:rPr>
              <a:t>）</a:t>
            </a:r>
            <a:r>
              <a:rPr lang="zh-CN" altLang="en-US" sz="2400" b="1" dirty="0">
                <a:latin typeface="+mn-ea"/>
              </a:rPr>
              <a:t>：指令译码，检查是否存在结构冲突。  （</a:t>
            </a:r>
            <a:r>
              <a:rPr lang="en-US" altLang="zh-CN" sz="2400" b="1" dirty="0">
                <a:latin typeface="+mn-ea"/>
              </a:rPr>
              <a:t>in-order issue)</a:t>
            </a:r>
          </a:p>
          <a:p>
            <a:pPr marL="1085850" lvl="1" indent="-457200" eaLnBrk="1" hangingPunct="1"/>
            <a:r>
              <a:rPr lang="zh-CN" altLang="en-US" sz="2400" b="1" dirty="0">
                <a:solidFill>
                  <a:srgbClr val="D60093"/>
                </a:solidFill>
                <a:latin typeface="+mn-ea"/>
              </a:rPr>
              <a:t>读操作数</a:t>
            </a:r>
            <a:r>
              <a:rPr lang="zh-CN" altLang="en-US" sz="2400" b="1" dirty="0">
                <a:solidFill>
                  <a:srgbClr val="D60093"/>
                </a:solidFill>
                <a:latin typeface="黑体" pitchFamily="49" charset="-122"/>
              </a:rPr>
              <a:t>（</a:t>
            </a:r>
            <a:r>
              <a:rPr lang="en-US" altLang="zh-CN" sz="2400" b="1" dirty="0">
                <a:solidFill>
                  <a:srgbClr val="D60093"/>
                </a:solidFill>
                <a:latin typeface="黑体" pitchFamily="49" charset="-122"/>
              </a:rPr>
              <a:t>Read Operands</a:t>
            </a:r>
            <a:r>
              <a:rPr lang="zh-CN" altLang="en-US" sz="2400" b="1" dirty="0">
                <a:solidFill>
                  <a:srgbClr val="D60093"/>
                </a:solidFill>
                <a:latin typeface="黑体" pitchFamily="49" charset="-122"/>
              </a:rPr>
              <a:t>，</a:t>
            </a:r>
            <a:r>
              <a:rPr lang="en-US" altLang="zh-CN" sz="2400" b="1" dirty="0">
                <a:solidFill>
                  <a:srgbClr val="D60093"/>
                </a:solidFill>
                <a:latin typeface="黑体" pitchFamily="49" charset="-122"/>
              </a:rPr>
              <a:t>RO</a:t>
            </a:r>
            <a:r>
              <a:rPr lang="zh-CN" altLang="en-US" sz="2400" b="1" dirty="0">
                <a:solidFill>
                  <a:srgbClr val="D60093"/>
                </a:solidFill>
                <a:latin typeface="黑体" pitchFamily="49" charset="-122"/>
              </a:rPr>
              <a:t>）</a:t>
            </a:r>
            <a:r>
              <a:rPr lang="zh-CN" altLang="en-US" sz="2400" b="1" dirty="0">
                <a:latin typeface="+mn-ea"/>
              </a:rPr>
              <a:t>：等待数据冲突消失，然后读操作数。（</a:t>
            </a:r>
            <a:r>
              <a:rPr lang="en-US" altLang="zh-CN" sz="2400" b="1" dirty="0">
                <a:latin typeface="+mn-ea"/>
              </a:rPr>
              <a:t>Out-of-Order execution</a:t>
            </a:r>
            <a:r>
              <a:rPr lang="zh-CN" altLang="en-US" sz="2400" b="1" dirty="0">
                <a:latin typeface="+mn-ea"/>
              </a:rPr>
              <a:t>）</a:t>
            </a:r>
            <a:endParaRPr lang="en-US" altLang="zh-CN" sz="2400" b="1" dirty="0">
              <a:latin typeface="+mn-ea"/>
            </a:endParaRPr>
          </a:p>
        </p:txBody>
      </p:sp>
      <p:sp>
        <p:nvSpPr>
          <p:cNvPr id="60419" name="Rectangle 4"/>
          <p:cNvSpPr>
            <a:spLocks noChangeArrowheads="1"/>
          </p:cNvSpPr>
          <p:nvPr/>
        </p:nvSpPr>
        <p:spPr bwMode="auto">
          <a:xfrm>
            <a:off x="3376613" y="4408488"/>
            <a:ext cx="838200" cy="1008062"/>
          </a:xfrm>
          <a:prstGeom prst="rect">
            <a:avLst/>
          </a:prstGeom>
          <a:solidFill>
            <a:schemeClr val="accent1"/>
          </a:solidFill>
          <a:ln w="9525">
            <a:solidFill>
              <a:schemeClr val="tx1"/>
            </a:solidFill>
            <a:miter lim="800000"/>
            <a:headEnd/>
            <a:tailEnd/>
          </a:ln>
        </p:spPr>
        <p:txBody>
          <a:bodyPr wrap="none" anchor="ctr"/>
          <a:lstStyle/>
          <a:p>
            <a:pPr>
              <a:buFont typeface="Wingdings" pitchFamily="2" charset="2"/>
              <a:buNone/>
            </a:pPr>
            <a:endParaRPr lang="zh-CN" altLang="en-US"/>
          </a:p>
        </p:txBody>
      </p:sp>
      <p:sp>
        <p:nvSpPr>
          <p:cNvPr id="60420" name="Text Box 5"/>
          <p:cNvSpPr txBox="1">
            <a:spLocks noChangeArrowheads="1"/>
          </p:cNvSpPr>
          <p:nvPr/>
        </p:nvSpPr>
        <p:spPr bwMode="auto">
          <a:xfrm>
            <a:off x="3529013" y="4640263"/>
            <a:ext cx="1219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buFont typeface="Wingdings" pitchFamily="2" charset="2"/>
              <a:buNone/>
            </a:pPr>
            <a:r>
              <a:rPr lang="en-US" altLang="zh-CN" sz="2600">
                <a:solidFill>
                  <a:srgbClr val="000000"/>
                </a:solidFill>
                <a:latin typeface="黑体" pitchFamily="49" charset="-122"/>
                <a:ea typeface="黑体" pitchFamily="49" charset="-122"/>
              </a:rPr>
              <a:t>IS</a:t>
            </a:r>
          </a:p>
        </p:txBody>
      </p:sp>
      <p:sp>
        <p:nvSpPr>
          <p:cNvPr id="60421" name="Line 6"/>
          <p:cNvSpPr>
            <a:spLocks noChangeShapeType="1"/>
          </p:cNvSpPr>
          <p:nvPr/>
        </p:nvSpPr>
        <p:spPr bwMode="auto">
          <a:xfrm>
            <a:off x="2309813" y="4910138"/>
            <a:ext cx="1066800" cy="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2" name="Line 7"/>
          <p:cNvSpPr>
            <a:spLocks noChangeShapeType="1"/>
          </p:cNvSpPr>
          <p:nvPr/>
        </p:nvSpPr>
        <p:spPr bwMode="auto">
          <a:xfrm>
            <a:off x="5586413" y="4910138"/>
            <a:ext cx="1066800" cy="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3" name="Rectangle 8"/>
          <p:cNvSpPr>
            <a:spLocks noChangeArrowheads="1"/>
          </p:cNvSpPr>
          <p:nvPr/>
        </p:nvSpPr>
        <p:spPr bwMode="auto">
          <a:xfrm>
            <a:off x="4748213" y="4408488"/>
            <a:ext cx="838200" cy="1008062"/>
          </a:xfrm>
          <a:prstGeom prst="rect">
            <a:avLst/>
          </a:prstGeom>
          <a:solidFill>
            <a:schemeClr val="accent1"/>
          </a:solidFill>
          <a:ln w="9525">
            <a:solidFill>
              <a:schemeClr val="tx1"/>
            </a:solidFill>
            <a:miter lim="800000"/>
            <a:headEnd/>
            <a:tailEnd/>
          </a:ln>
        </p:spPr>
        <p:txBody>
          <a:bodyPr wrap="none" anchor="ctr"/>
          <a:lstStyle/>
          <a:p>
            <a:pPr>
              <a:buFont typeface="Wingdings" pitchFamily="2" charset="2"/>
              <a:buNone/>
            </a:pPr>
            <a:endParaRPr lang="zh-CN" altLang="en-US"/>
          </a:p>
        </p:txBody>
      </p:sp>
      <p:sp>
        <p:nvSpPr>
          <p:cNvPr id="60424" name="Line 9"/>
          <p:cNvSpPr>
            <a:spLocks noChangeShapeType="1"/>
          </p:cNvSpPr>
          <p:nvPr/>
        </p:nvSpPr>
        <p:spPr bwMode="auto">
          <a:xfrm>
            <a:off x="4214813" y="4910138"/>
            <a:ext cx="533400" cy="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5" name="Text Box 10"/>
          <p:cNvSpPr txBox="1">
            <a:spLocks noChangeArrowheads="1"/>
          </p:cNvSpPr>
          <p:nvPr/>
        </p:nvSpPr>
        <p:spPr bwMode="auto">
          <a:xfrm>
            <a:off x="4900613" y="4606925"/>
            <a:ext cx="1219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buFont typeface="Wingdings" pitchFamily="2" charset="2"/>
              <a:buNone/>
            </a:pPr>
            <a:r>
              <a:rPr lang="en-US" altLang="zh-CN" sz="2600">
                <a:solidFill>
                  <a:srgbClr val="000000"/>
                </a:solidFill>
                <a:latin typeface="黑体" pitchFamily="49" charset="-122"/>
                <a:ea typeface="黑体" pitchFamily="49" charset="-122"/>
              </a:rPr>
              <a:t>RO</a:t>
            </a:r>
          </a:p>
        </p:txBody>
      </p:sp>
      <p:sp>
        <p:nvSpPr>
          <p:cNvPr id="60426" name="Text Box 11"/>
          <p:cNvSpPr txBox="1">
            <a:spLocks noChangeArrowheads="1"/>
          </p:cNvSpPr>
          <p:nvPr/>
        </p:nvSpPr>
        <p:spPr bwMode="auto">
          <a:xfrm>
            <a:off x="2483984" y="5502533"/>
            <a:ext cx="2233613" cy="48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20000"/>
              </a:lnSpc>
              <a:buFont typeface="Wingdings" pitchFamily="2" charset="2"/>
              <a:buNone/>
            </a:pPr>
            <a:r>
              <a:rPr lang="zh-CN" altLang="en-US" sz="2400" dirty="0">
                <a:latin typeface="Tahoma" pitchFamily="34" charset="0"/>
                <a:ea typeface="黑体" pitchFamily="49" charset="-122"/>
              </a:rPr>
              <a:t>检测</a:t>
            </a:r>
            <a:r>
              <a:rPr lang="zh-CN" altLang="en-US" sz="2400" dirty="0">
                <a:solidFill>
                  <a:srgbClr val="D60093"/>
                </a:solidFill>
                <a:latin typeface="Tahoma" pitchFamily="34" charset="0"/>
                <a:ea typeface="黑体" pitchFamily="49" charset="-122"/>
              </a:rPr>
              <a:t>结构</a:t>
            </a:r>
            <a:r>
              <a:rPr lang="zh-CN" altLang="en-US" sz="2400" dirty="0">
                <a:latin typeface="Tahoma" pitchFamily="34" charset="0"/>
                <a:ea typeface="黑体" pitchFamily="49" charset="-122"/>
              </a:rPr>
              <a:t>冲突</a:t>
            </a:r>
          </a:p>
        </p:txBody>
      </p:sp>
      <p:sp>
        <p:nvSpPr>
          <p:cNvPr id="60427" name="Text Box 12"/>
          <p:cNvSpPr txBox="1">
            <a:spLocks noChangeArrowheads="1"/>
          </p:cNvSpPr>
          <p:nvPr/>
        </p:nvSpPr>
        <p:spPr bwMode="auto">
          <a:xfrm>
            <a:off x="4572000" y="5561013"/>
            <a:ext cx="2700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buFont typeface="Wingdings" pitchFamily="2" charset="2"/>
              <a:buNone/>
            </a:pPr>
            <a:r>
              <a:rPr lang="zh-CN" altLang="en-US" sz="2400" dirty="0">
                <a:latin typeface="Tahoma" pitchFamily="34" charset="0"/>
                <a:ea typeface="黑体" pitchFamily="49" charset="-122"/>
              </a:rPr>
              <a:t>检测</a:t>
            </a:r>
            <a:r>
              <a:rPr lang="zh-CN" altLang="en-US" sz="2400" dirty="0">
                <a:solidFill>
                  <a:srgbClr val="D60093"/>
                </a:solidFill>
                <a:latin typeface="Tahoma" pitchFamily="34" charset="0"/>
                <a:ea typeface="黑体" pitchFamily="49" charset="-122"/>
              </a:rPr>
              <a:t>数据</a:t>
            </a:r>
            <a:r>
              <a:rPr lang="zh-CN" altLang="en-US" sz="2400" dirty="0">
                <a:latin typeface="Tahoma" pitchFamily="34" charset="0"/>
                <a:ea typeface="黑体" pitchFamily="49" charset="-122"/>
              </a:rPr>
              <a:t>冲突</a:t>
            </a:r>
          </a:p>
        </p:txBody>
      </p:sp>
      <p:sp>
        <p:nvSpPr>
          <p:cNvPr id="2" name="日期占位符 1">
            <a:extLst>
              <a:ext uri="{FF2B5EF4-FFF2-40B4-BE49-F238E27FC236}">
                <a16:creationId xmlns:a16="http://schemas.microsoft.com/office/drawing/2014/main" id="{8FEEE83D-7465-4CDB-5F9C-F8D9EAC08C24}"/>
              </a:ext>
            </a:extLst>
          </p:cNvPr>
          <p:cNvSpPr>
            <a:spLocks noGrp="1"/>
          </p:cNvSpPr>
          <p:nvPr>
            <p:ph type="dt" sz="half" idx="10"/>
          </p:nvPr>
        </p:nvSpPr>
        <p:spPr/>
        <p:txBody>
          <a:bodyPr/>
          <a:lstStyle/>
          <a:p>
            <a:pPr>
              <a:defRPr/>
            </a:pPr>
            <a:fld id="{49212786-0FA9-401B-8442-5EAA9701D196}"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8D1B89D1-22B9-BB26-815E-FE082B0ADE0C}"/>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A781563-072D-7619-B6BA-B97AF689C9B8}"/>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2610643642"/>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260350"/>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4.2  </a:t>
            </a:r>
            <a:r>
              <a:rPr lang="zh-CN" altLang="en-US" sz="4000" b="1" dirty="0">
                <a:latin typeface="Times New Roman" panose="02020603050405020304" pitchFamily="18" charset="0"/>
                <a:cs typeface="Times New Roman" panose="02020603050405020304" pitchFamily="18" charset="0"/>
              </a:rPr>
              <a:t>指令的动态调度</a:t>
            </a:r>
          </a:p>
        </p:txBody>
      </p:sp>
      <p:sp>
        <p:nvSpPr>
          <p:cNvPr id="4099" name="Rectangle 2"/>
          <p:cNvSpPr>
            <a:spLocks noGrp="1" noChangeArrowheads="1"/>
          </p:cNvSpPr>
          <p:nvPr>
            <p:ph idx="1"/>
          </p:nvPr>
        </p:nvSpPr>
        <p:spPr>
          <a:xfrm>
            <a:off x="755650" y="1700213"/>
            <a:ext cx="7064375" cy="3600450"/>
          </a:xfrm>
        </p:spPr>
        <p:txBody>
          <a:bodyPr/>
          <a:lstStyle/>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4.2.1  </a:t>
            </a:r>
            <a:r>
              <a:rPr lang="zh-CN" altLang="en-US" sz="2800" b="1" dirty="0">
                <a:latin typeface="Times New Roman" pitchFamily="18" charset="0"/>
                <a:cs typeface="Times New Roman" panose="02020603050405020304" pitchFamily="18" charset="0"/>
              </a:rPr>
              <a:t>动态调度的原理</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4.2.2  </a:t>
            </a:r>
            <a:r>
              <a:rPr lang="zh-CN" altLang="en-US" sz="2800" b="1" dirty="0">
                <a:latin typeface="Times New Roman" pitchFamily="18" charset="0"/>
                <a:cs typeface="Times New Roman" panose="02020603050405020304" pitchFamily="18" charset="0"/>
              </a:rPr>
              <a:t>动态调度算法之一：记分牌</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4.2.3  </a:t>
            </a:r>
            <a:r>
              <a:rPr lang="zh-CN" altLang="en-US" sz="2800" b="1" dirty="0">
                <a:latin typeface="Times New Roman" pitchFamily="18" charset="0"/>
                <a:cs typeface="Times New Roman" panose="02020603050405020304" pitchFamily="18" charset="0"/>
              </a:rPr>
              <a:t>动态调度算法之二：</a:t>
            </a:r>
            <a:r>
              <a:rPr lang="en-US" altLang="zh-CN" sz="2800" b="1" dirty="0" err="1">
                <a:latin typeface="Times New Roman" pitchFamily="18" charset="0"/>
                <a:cs typeface="Times New Roman" panose="02020603050405020304" pitchFamily="18" charset="0"/>
              </a:rPr>
              <a:t>Tomasulo</a:t>
            </a:r>
            <a:r>
              <a:rPr lang="zh-CN" altLang="en-US" sz="2800" b="1" dirty="0">
                <a:latin typeface="Times New Roman" pitchFamily="18" charset="0"/>
                <a:cs typeface="Times New Roman" panose="02020603050405020304" pitchFamily="18" charset="0"/>
              </a:rPr>
              <a:t>算法</a:t>
            </a:r>
            <a:endParaRPr lang="en-US" altLang="zh-CN" sz="2800" b="1" dirty="0">
              <a:latin typeface="Times New Roman"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3EA591A3-7036-0775-5A06-A6B13117EE33}"/>
              </a:ext>
            </a:extLst>
          </p:cNvPr>
          <p:cNvSpPr>
            <a:spLocks noGrp="1"/>
          </p:cNvSpPr>
          <p:nvPr>
            <p:ph type="dt" sz="half" idx="10"/>
          </p:nvPr>
        </p:nvSpPr>
        <p:spPr/>
        <p:txBody>
          <a:bodyPr/>
          <a:lstStyle/>
          <a:p>
            <a:pPr>
              <a:defRPr/>
            </a:pPr>
            <a:fld id="{756196B2-A335-4243-9102-248549D3D727}"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2A815695-B462-20C8-F567-E65D3725C117}"/>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704F39FC-AB64-3D03-B8D5-71F01505CA6B}"/>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311592233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title" idx="4294967295"/>
          </p:nvPr>
        </p:nvSpPr>
        <p:spPr>
          <a:xfrm>
            <a:off x="448863" y="116632"/>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4.2.2 </a:t>
            </a:r>
            <a:r>
              <a:rPr lang="zh-CN" altLang="en-US" sz="3600" b="1" dirty="0">
                <a:latin typeface="Times New Roman" pitchFamily="18" charset="0"/>
              </a:rPr>
              <a:t>动态调度算法之一：</a:t>
            </a:r>
            <a:r>
              <a:rPr lang="zh-CN" altLang="en-US" sz="3600" b="1" dirty="0">
                <a:latin typeface="+mj-ea"/>
              </a:rPr>
              <a:t>记分牌</a:t>
            </a:r>
          </a:p>
        </p:txBody>
      </p:sp>
      <p:sp>
        <p:nvSpPr>
          <p:cNvPr id="32776" name="Rectangle 8"/>
          <p:cNvSpPr>
            <a:spLocks noGrp="1" noChangeArrowheads="1"/>
          </p:cNvSpPr>
          <p:nvPr>
            <p:ph type="body" idx="4294967295"/>
          </p:nvPr>
        </p:nvSpPr>
        <p:spPr>
          <a:xfrm>
            <a:off x="448863" y="1124744"/>
            <a:ext cx="8507413" cy="5616624"/>
          </a:xfrm>
        </p:spPr>
        <p:txBody>
          <a:bodyPr rtlCol="0">
            <a:noAutofit/>
          </a:bodyPr>
          <a:lstStyle/>
          <a:p>
            <a:pPr eaLnBrk="1" fontAlgn="auto" hangingPunct="1">
              <a:lnSpc>
                <a:spcPct val="120000"/>
              </a:lnSpc>
              <a:spcAft>
                <a:spcPts val="0"/>
              </a:spcAft>
              <a:defRPr/>
            </a:pPr>
            <a:r>
              <a:rPr lang="zh-CN" altLang="en-US" sz="2400" b="1" noProof="1">
                <a:latin typeface="Times New Roman" panose="02020603050405020304" pitchFamily="18" charset="0"/>
                <a:ea typeface="+mj-ea"/>
                <a:cs typeface="Times New Roman" panose="02020603050405020304" pitchFamily="18" charset="0"/>
              </a:rPr>
              <a:t>记分牌在</a:t>
            </a:r>
            <a:r>
              <a:rPr lang="zh-CN" altLang="zh-CN" sz="2400" b="1" noProof="1">
                <a:latin typeface="Times New Roman" panose="02020603050405020304" pitchFamily="18" charset="0"/>
                <a:ea typeface="+mj-ea"/>
                <a:cs typeface="Times New Roman" panose="02020603050405020304" pitchFamily="18" charset="0"/>
              </a:rPr>
              <a:t>1964</a:t>
            </a:r>
            <a:r>
              <a:rPr lang="zh-CN" altLang="en-US" sz="2400" b="1" noProof="1">
                <a:latin typeface="Times New Roman" panose="02020603050405020304" pitchFamily="18" charset="0"/>
                <a:ea typeface="+mj-ea"/>
                <a:cs typeface="Times New Roman" panose="02020603050405020304" pitchFamily="18" charset="0"/>
              </a:rPr>
              <a:t>年</a:t>
            </a:r>
            <a:r>
              <a:rPr lang="zh-CN" altLang="en-US" sz="2400" b="1" dirty="0">
                <a:latin typeface="Times New Roman" panose="02020603050405020304" pitchFamily="18" charset="0"/>
                <a:ea typeface="+mj-ea"/>
                <a:cs typeface="Times New Roman" panose="02020603050405020304" pitchFamily="18" charset="0"/>
              </a:rPr>
              <a:t>被</a:t>
            </a:r>
            <a:r>
              <a:rPr lang="en-US" altLang="zh-CN" sz="2400" b="1" dirty="0">
                <a:latin typeface="Times New Roman" panose="02020603050405020304" pitchFamily="18" charset="0"/>
                <a:ea typeface="+mj-ea"/>
                <a:cs typeface="Times New Roman" panose="02020603050405020304" pitchFamily="18" charset="0"/>
              </a:rPr>
              <a:t>Cray</a:t>
            </a:r>
            <a:r>
              <a:rPr lang="zh-CN" altLang="en-US" sz="2400" b="1" noProof="1">
                <a:latin typeface="Times New Roman" panose="02020603050405020304" pitchFamily="18" charset="0"/>
                <a:ea typeface="+mj-ea"/>
                <a:cs typeface="Times New Roman" panose="02020603050405020304" pitchFamily="18" charset="0"/>
              </a:rPr>
              <a:t>用于</a:t>
            </a:r>
            <a:r>
              <a:rPr lang="en-US" altLang="zh-CN" sz="2400" b="1" noProof="1">
                <a:latin typeface="Times New Roman" panose="02020603050405020304" pitchFamily="18" charset="0"/>
                <a:ea typeface="+mj-ea"/>
                <a:cs typeface="Times New Roman" panose="02020603050405020304" pitchFamily="18" charset="0"/>
              </a:rPr>
              <a:t>CDC 6600</a:t>
            </a:r>
          </a:p>
          <a:p>
            <a:pPr eaLnBrk="1" fontAlgn="auto" hangingPunct="1">
              <a:lnSpc>
                <a:spcPct val="120000"/>
              </a:lnSpc>
              <a:spcAft>
                <a:spcPts val="0"/>
              </a:spcAft>
              <a:defRPr/>
            </a:pPr>
            <a:r>
              <a:rPr lang="zh-CN" altLang="en-US" sz="2400" b="1" noProof="1">
                <a:latin typeface="Times New Roman" panose="02020603050405020304" pitchFamily="18" charset="0"/>
                <a:ea typeface="+mj-ea"/>
                <a:cs typeface="Times New Roman" panose="02020603050405020304" pitchFamily="18" charset="0"/>
              </a:rPr>
              <a:t>记分牌允许指令乱序执行，</a:t>
            </a:r>
            <a:r>
              <a:rPr lang="en-US" altLang="zh-CN" sz="2400" b="1" dirty="0" err="1">
                <a:latin typeface="Times New Roman" panose="02020603050405020304" pitchFamily="18" charset="0"/>
                <a:ea typeface="+mj-ea"/>
                <a:cs typeface="Times New Roman" panose="02020603050405020304" pitchFamily="18" charset="0"/>
              </a:rPr>
              <a:t>前提</a:t>
            </a:r>
            <a:r>
              <a:rPr lang="zh-CN" altLang="en-US" sz="2400" b="1" dirty="0">
                <a:latin typeface="Times New Roman" panose="02020603050405020304" pitchFamily="18" charset="0"/>
                <a:ea typeface="+mj-ea"/>
                <a:cs typeface="Times New Roman" panose="02020603050405020304" pitchFamily="18" charset="0"/>
              </a:rPr>
              <a:t>是</a:t>
            </a:r>
            <a:r>
              <a:rPr lang="en-US" altLang="zh-CN" sz="2400" b="1" dirty="0">
                <a:latin typeface="Times New Roman" panose="02020603050405020304" pitchFamily="18" charset="0"/>
                <a:ea typeface="+mj-ea"/>
                <a:cs typeface="Times New Roman" panose="02020603050405020304" pitchFamily="18" charset="0"/>
              </a:rPr>
              <a:t>:</a:t>
            </a:r>
            <a:endParaRPr 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noProof="1">
                <a:latin typeface="Times New Roman" panose="02020603050405020304" pitchFamily="18" charset="0"/>
                <a:ea typeface="+mj-ea"/>
                <a:cs typeface="Times New Roman" panose="02020603050405020304" pitchFamily="18" charset="0"/>
              </a:rPr>
              <a:t>充足的资源</a:t>
            </a:r>
            <a:endParaRPr lang="zh-CN" altLang="zh-CN" sz="2400" b="1" noProof="1">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指令可以乱序执行</a:t>
            </a:r>
            <a:endParaRPr lang="zh-CN" altLang="zh-CN" sz="2400" b="1" noProof="1">
              <a:latin typeface="Times New Roman" panose="02020603050405020304" pitchFamily="18" charset="0"/>
              <a:ea typeface="+mj-ea"/>
              <a:cs typeface="Times New Roman" panose="02020603050405020304" pitchFamily="18" charset="0"/>
            </a:endParaRPr>
          </a:p>
          <a:p>
            <a:pPr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基本原理</a:t>
            </a: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每条指令均经过记分牌，记录各指令间数据相关的信息，进行相关检测，控制指令的流出和执行</a:t>
            </a: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如果记分牌判断出一条指令不能立即执行，它就检测硬件的变化从而决定何时能够执行</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dirty="0">
                <a:solidFill>
                  <a:srgbClr val="FF0000"/>
                </a:solidFill>
                <a:latin typeface="Times New Roman" panose="02020603050405020304" pitchFamily="18" charset="0"/>
                <a:ea typeface="+mj-ea"/>
                <a:cs typeface="Times New Roman" panose="02020603050405020304" pitchFamily="18" charset="0"/>
              </a:rPr>
              <a:t>集中控制</a:t>
            </a:r>
            <a:r>
              <a:rPr lang="zh-CN" altLang="en-US" sz="2400" b="1" dirty="0">
                <a:latin typeface="Times New Roman" panose="02020603050405020304" pitchFamily="18" charset="0"/>
                <a:ea typeface="+mj-ea"/>
                <a:cs typeface="Times New Roman" panose="02020603050405020304" pitchFamily="18" charset="0"/>
              </a:rPr>
              <a:t>寄存器与处理单元的数据传送，检测或消除数据相关性，加快程序执行速度。</a:t>
            </a:r>
          </a:p>
        </p:txBody>
      </p:sp>
      <p:sp>
        <p:nvSpPr>
          <p:cNvPr id="2" name="日期占位符 1">
            <a:extLst>
              <a:ext uri="{FF2B5EF4-FFF2-40B4-BE49-F238E27FC236}">
                <a16:creationId xmlns:a16="http://schemas.microsoft.com/office/drawing/2014/main" id="{7E294111-8AAD-FD29-B2A7-1B941545D2BA}"/>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A599AEBE-2298-53FB-65A3-08C851F2C280}"/>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6337C7C-4A7E-C4AE-81DC-F943403BEFB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12</a:t>
            </a:fld>
            <a:endParaRPr lang="en-US" altLang="zh-CN"/>
          </a:p>
        </p:txBody>
      </p:sp>
    </p:spTree>
    <p:extLst>
      <p:ext uri="{BB962C8B-B14F-4D97-AF65-F5344CB8AC3E}">
        <p14:creationId xmlns:p14="http://schemas.microsoft.com/office/powerpoint/2010/main" val="4449416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457200" y="44450"/>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CDC6600</a:t>
            </a:r>
            <a:r>
              <a:rPr lang="zh-CN" altLang="en-US" sz="3600" b="1" dirty="0">
                <a:latin typeface="Times New Roman" panose="02020603050405020304" pitchFamily="18" charset="0"/>
                <a:cs typeface="Times New Roman" panose="02020603050405020304" pitchFamily="18" charset="0"/>
              </a:rPr>
              <a:t>的照片 </a:t>
            </a:r>
          </a:p>
        </p:txBody>
      </p:sp>
      <p:pic>
        <p:nvPicPr>
          <p:cNvPr id="6147" name="Picture 3"/>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663575" y="1150938"/>
            <a:ext cx="3151188" cy="2552700"/>
          </a:xfrm>
        </p:spPr>
      </p:pic>
      <p:pic>
        <p:nvPicPr>
          <p:cNvPr id="6148" name="Picture 4"/>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669925" y="3778250"/>
            <a:ext cx="3146425" cy="2462213"/>
          </a:xfrm>
        </p:spPr>
      </p:pic>
      <p:pic>
        <p:nvPicPr>
          <p:cNvPr id="6149" name="Picture 5" descr="cdc6600"/>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3898900" y="1193800"/>
            <a:ext cx="4692650" cy="5118100"/>
          </a:xfrm>
        </p:spPr>
      </p:pic>
      <p:sp>
        <p:nvSpPr>
          <p:cNvPr id="2" name="日期占位符 1">
            <a:extLst>
              <a:ext uri="{FF2B5EF4-FFF2-40B4-BE49-F238E27FC236}">
                <a16:creationId xmlns:a16="http://schemas.microsoft.com/office/drawing/2014/main" id="{C2A30DD2-2C31-AB6E-502D-D78D0247888C}"/>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F6D2234D-733E-B246-D077-FCC7F437172C}"/>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981A2DC0-F79C-6A07-1C37-DF0A8F55E5E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13</a:t>
            </a:fld>
            <a:endParaRPr lang="en-US" altLang="zh-CN"/>
          </a:p>
        </p:txBody>
      </p:sp>
    </p:spTree>
    <p:extLst>
      <p:ext uri="{BB962C8B-B14F-4D97-AF65-F5344CB8AC3E}">
        <p14:creationId xmlns:p14="http://schemas.microsoft.com/office/powerpoint/2010/main" val="401668987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idx="4294967295"/>
          </p:nvPr>
        </p:nvSpPr>
        <p:spPr>
          <a:xfrm>
            <a:off x="457200" y="115888"/>
            <a:ext cx="8229600" cy="1143000"/>
          </a:xfrm>
        </p:spPr>
        <p:txBody>
          <a:bodyPr/>
          <a:lstStyle/>
          <a:p>
            <a:pPr eaLnBrk="1" hangingPunct="1">
              <a:defRPr/>
            </a:pPr>
            <a:r>
              <a:rPr lang="zh-CN" altLang="en-US" sz="3600" b="1" dirty="0">
                <a:latin typeface="+mj-ea"/>
              </a:rPr>
              <a:t>具有记分牌的</a:t>
            </a:r>
            <a:r>
              <a:rPr lang="en-US" altLang="zh-CN" sz="3600" b="1" dirty="0">
                <a:latin typeface="Times New Roman" panose="02020603050405020304" pitchFamily="18" charset="0"/>
                <a:cs typeface="Times New Roman" panose="02020603050405020304" pitchFamily="18" charset="0"/>
              </a:rPr>
              <a:t>MIPS</a:t>
            </a:r>
            <a:r>
              <a:rPr lang="zh-CN" altLang="en-US" sz="3600" b="1" dirty="0">
                <a:latin typeface="+mj-ea"/>
              </a:rPr>
              <a:t>处理器基本结构</a:t>
            </a:r>
          </a:p>
        </p:txBody>
      </p:sp>
      <p:grpSp>
        <p:nvGrpSpPr>
          <p:cNvPr id="8195" name="Group 52"/>
          <p:cNvGrpSpPr>
            <a:grpSpLocks/>
          </p:cNvGrpSpPr>
          <p:nvPr/>
        </p:nvGrpSpPr>
        <p:grpSpPr bwMode="auto">
          <a:xfrm>
            <a:off x="496888" y="1196975"/>
            <a:ext cx="8156575" cy="5048250"/>
            <a:chOff x="115" y="749"/>
            <a:chExt cx="5415" cy="3331"/>
          </a:xfrm>
        </p:grpSpPr>
        <p:sp>
          <p:nvSpPr>
            <p:cNvPr id="8196" name="Freeform 53"/>
            <p:cNvSpPr>
              <a:spLocks/>
            </p:cNvSpPr>
            <p:nvPr/>
          </p:nvSpPr>
          <p:spPr bwMode="auto">
            <a:xfrm>
              <a:off x="4032" y="1344"/>
              <a:ext cx="288" cy="2400"/>
            </a:xfrm>
            <a:custGeom>
              <a:avLst/>
              <a:gdLst>
                <a:gd name="T0" fmla="*/ 0 w 240"/>
                <a:gd name="T1" fmla="*/ 2400 h 2400"/>
                <a:gd name="T2" fmla="*/ 1034 w 240"/>
                <a:gd name="T3" fmla="*/ 2400 h 2400"/>
                <a:gd name="T4" fmla="*/ 1034 w 240"/>
                <a:gd name="T5" fmla="*/ 0 h 2400"/>
                <a:gd name="T6" fmla="*/ 0 60000 65536"/>
                <a:gd name="T7" fmla="*/ 0 60000 65536"/>
                <a:gd name="T8" fmla="*/ 0 60000 65536"/>
              </a:gdLst>
              <a:ahLst/>
              <a:cxnLst>
                <a:cxn ang="T6">
                  <a:pos x="T0" y="T1"/>
                </a:cxn>
                <a:cxn ang="T7">
                  <a:pos x="T2" y="T3"/>
                </a:cxn>
                <a:cxn ang="T8">
                  <a:pos x="T4" y="T5"/>
                </a:cxn>
              </a:cxnLst>
              <a:rect l="0" t="0" r="r" b="b"/>
              <a:pathLst>
                <a:path w="240" h="2400">
                  <a:moveTo>
                    <a:pt x="0" y="2400"/>
                  </a:moveTo>
                  <a:lnTo>
                    <a:pt x="240" y="2400"/>
                  </a:lnTo>
                  <a:lnTo>
                    <a:pt x="240" y="0"/>
                  </a:lnTo>
                </a:path>
              </a:pathLst>
            </a:custGeom>
            <a:noFill/>
            <a:ln w="762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7" name="Text Box 54"/>
            <p:cNvSpPr txBox="1">
              <a:spLocks noChangeArrowheads="1"/>
            </p:cNvSpPr>
            <p:nvPr/>
          </p:nvSpPr>
          <p:spPr bwMode="auto">
            <a:xfrm rot="-5400000">
              <a:off x="4491" y="1914"/>
              <a:ext cx="1630"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400">
                  <a:latin typeface="Century Gothic" pitchFamily="34" charset="0"/>
                </a:rPr>
                <a:t>Functional Units</a:t>
              </a:r>
            </a:p>
          </p:txBody>
        </p:sp>
        <p:sp>
          <p:nvSpPr>
            <p:cNvPr id="8198" name="Text Box 55"/>
            <p:cNvSpPr txBox="1">
              <a:spLocks noChangeArrowheads="1"/>
            </p:cNvSpPr>
            <p:nvPr/>
          </p:nvSpPr>
          <p:spPr bwMode="auto">
            <a:xfrm rot="-5400000">
              <a:off x="-217" y="1917"/>
              <a:ext cx="96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400">
                  <a:latin typeface="Century Gothic" pitchFamily="34" charset="0"/>
                </a:rPr>
                <a:t>Registers</a:t>
              </a:r>
            </a:p>
          </p:txBody>
        </p:sp>
        <p:grpSp>
          <p:nvGrpSpPr>
            <p:cNvPr id="8199" name="Group 56"/>
            <p:cNvGrpSpPr>
              <a:grpSpLocks/>
            </p:cNvGrpSpPr>
            <p:nvPr/>
          </p:nvGrpSpPr>
          <p:grpSpPr bwMode="auto">
            <a:xfrm>
              <a:off x="582" y="749"/>
              <a:ext cx="4416" cy="2640"/>
              <a:chOff x="582" y="749"/>
              <a:chExt cx="4416" cy="2640"/>
            </a:xfrm>
          </p:grpSpPr>
          <p:grpSp>
            <p:nvGrpSpPr>
              <p:cNvPr id="8204" name="Group 57"/>
              <p:cNvGrpSpPr>
                <a:grpSpLocks/>
              </p:cNvGrpSpPr>
              <p:nvPr/>
            </p:nvGrpSpPr>
            <p:grpSpPr bwMode="auto">
              <a:xfrm>
                <a:off x="582" y="749"/>
                <a:ext cx="864" cy="660"/>
                <a:chOff x="768" y="816"/>
                <a:chExt cx="576" cy="256"/>
              </a:xfrm>
            </p:grpSpPr>
            <p:sp>
              <p:nvSpPr>
                <p:cNvPr id="8234" name="Rectangle 58"/>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sp>
              <p:nvSpPr>
                <p:cNvPr id="8235" name="Rectangle 59"/>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grpSp>
          <p:grpSp>
            <p:nvGrpSpPr>
              <p:cNvPr id="8205" name="Group 60"/>
              <p:cNvGrpSpPr>
                <a:grpSpLocks/>
              </p:cNvGrpSpPr>
              <p:nvPr/>
            </p:nvGrpSpPr>
            <p:grpSpPr bwMode="auto">
              <a:xfrm>
                <a:off x="582" y="1409"/>
                <a:ext cx="864" cy="660"/>
                <a:chOff x="768" y="816"/>
                <a:chExt cx="576" cy="256"/>
              </a:xfrm>
            </p:grpSpPr>
            <p:sp>
              <p:nvSpPr>
                <p:cNvPr id="8232" name="Rectangle 61"/>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sp>
              <p:nvSpPr>
                <p:cNvPr id="8233" name="Rectangle 62"/>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grpSp>
          <p:grpSp>
            <p:nvGrpSpPr>
              <p:cNvPr id="8206" name="Group 63"/>
              <p:cNvGrpSpPr>
                <a:grpSpLocks/>
              </p:cNvGrpSpPr>
              <p:nvPr/>
            </p:nvGrpSpPr>
            <p:grpSpPr bwMode="auto">
              <a:xfrm>
                <a:off x="582" y="2069"/>
                <a:ext cx="864" cy="660"/>
                <a:chOff x="768" y="816"/>
                <a:chExt cx="576" cy="256"/>
              </a:xfrm>
            </p:grpSpPr>
            <p:sp>
              <p:nvSpPr>
                <p:cNvPr id="8230" name="Rectangle 64"/>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sp>
              <p:nvSpPr>
                <p:cNvPr id="8231" name="Rectangle 65"/>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grpSp>
          <p:grpSp>
            <p:nvGrpSpPr>
              <p:cNvPr id="8207" name="Group 66"/>
              <p:cNvGrpSpPr>
                <a:grpSpLocks/>
              </p:cNvGrpSpPr>
              <p:nvPr/>
            </p:nvGrpSpPr>
            <p:grpSpPr bwMode="auto">
              <a:xfrm>
                <a:off x="582" y="2729"/>
                <a:ext cx="864" cy="660"/>
                <a:chOff x="768" y="816"/>
                <a:chExt cx="576" cy="256"/>
              </a:xfrm>
            </p:grpSpPr>
            <p:sp>
              <p:nvSpPr>
                <p:cNvPr id="8228" name="Rectangle 67"/>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sp>
              <p:nvSpPr>
                <p:cNvPr id="8229" name="Rectangle 68"/>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endParaRPr lang="zh-CN" altLang="en-US"/>
                </a:p>
              </p:txBody>
            </p:sp>
          </p:grpSp>
          <p:sp>
            <p:nvSpPr>
              <p:cNvPr id="8208" name="Rectangle 69"/>
              <p:cNvSpPr>
                <a:spLocks noChangeArrowheads="1"/>
              </p:cNvSpPr>
              <p:nvPr/>
            </p:nvSpPr>
            <p:spPr bwMode="auto">
              <a:xfrm>
                <a:off x="3906" y="893"/>
                <a:ext cx="816" cy="216"/>
              </a:xfrm>
              <a:prstGeom prst="rect">
                <a:avLst/>
              </a:prstGeom>
              <a:solidFill>
                <a:schemeClr val="accent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400">
                    <a:latin typeface="Century Gothic" pitchFamily="34" charset="0"/>
                  </a:rPr>
                  <a:t>FP Mult</a:t>
                </a:r>
              </a:p>
            </p:txBody>
          </p:sp>
          <p:sp>
            <p:nvSpPr>
              <p:cNvPr id="8209" name="Rectangle 70"/>
              <p:cNvSpPr>
                <a:spLocks noChangeArrowheads="1"/>
              </p:cNvSpPr>
              <p:nvPr/>
            </p:nvSpPr>
            <p:spPr bwMode="auto">
              <a:xfrm>
                <a:off x="3906" y="1109"/>
                <a:ext cx="816" cy="216"/>
              </a:xfrm>
              <a:prstGeom prst="rect">
                <a:avLst/>
              </a:prstGeom>
              <a:solidFill>
                <a:schemeClr val="accent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400">
                    <a:latin typeface="Century Gothic" pitchFamily="34" charset="0"/>
                  </a:rPr>
                  <a:t>FP Mult</a:t>
                </a:r>
              </a:p>
            </p:txBody>
          </p:sp>
          <p:sp>
            <p:nvSpPr>
              <p:cNvPr id="8210" name="Rectangle 71"/>
              <p:cNvSpPr>
                <a:spLocks noChangeArrowheads="1"/>
              </p:cNvSpPr>
              <p:nvPr/>
            </p:nvSpPr>
            <p:spPr bwMode="auto">
              <a:xfrm>
                <a:off x="3906" y="1709"/>
                <a:ext cx="816" cy="216"/>
              </a:xfrm>
              <a:prstGeom prst="rect">
                <a:avLst/>
              </a:prstGeom>
              <a:solidFill>
                <a:schemeClr val="accent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000" b="1">
                    <a:latin typeface="Century Gothic" pitchFamily="34" charset="0"/>
                  </a:rPr>
                  <a:t>FP Divide</a:t>
                </a:r>
              </a:p>
            </p:txBody>
          </p:sp>
          <p:sp>
            <p:nvSpPr>
              <p:cNvPr id="8211" name="Rectangle 72"/>
              <p:cNvSpPr>
                <a:spLocks noChangeArrowheads="1"/>
              </p:cNvSpPr>
              <p:nvPr/>
            </p:nvSpPr>
            <p:spPr bwMode="auto">
              <a:xfrm>
                <a:off x="3906" y="2237"/>
                <a:ext cx="816" cy="216"/>
              </a:xfrm>
              <a:prstGeom prst="rect">
                <a:avLst/>
              </a:prstGeom>
              <a:solidFill>
                <a:schemeClr val="accent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400">
                    <a:latin typeface="Century Gothic" pitchFamily="34" charset="0"/>
                  </a:rPr>
                  <a:t>FP Add</a:t>
                </a:r>
              </a:p>
            </p:txBody>
          </p:sp>
          <p:sp>
            <p:nvSpPr>
              <p:cNvPr id="8212" name="Rectangle 73"/>
              <p:cNvSpPr>
                <a:spLocks noChangeArrowheads="1"/>
              </p:cNvSpPr>
              <p:nvPr/>
            </p:nvSpPr>
            <p:spPr bwMode="auto">
              <a:xfrm>
                <a:off x="3906" y="2861"/>
                <a:ext cx="816" cy="216"/>
              </a:xfrm>
              <a:prstGeom prst="rect">
                <a:avLst/>
              </a:prstGeom>
              <a:solidFill>
                <a:schemeClr val="accent1"/>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400">
                    <a:latin typeface="Century Gothic" pitchFamily="34" charset="0"/>
                  </a:rPr>
                  <a:t>Integer</a:t>
                </a:r>
              </a:p>
            </p:txBody>
          </p:sp>
          <p:sp>
            <p:nvSpPr>
              <p:cNvPr id="8213" name="Line 74"/>
              <p:cNvSpPr>
                <a:spLocks noChangeShapeType="1"/>
              </p:cNvSpPr>
              <p:nvPr/>
            </p:nvSpPr>
            <p:spPr bwMode="auto">
              <a:xfrm>
                <a:off x="1514" y="93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4" name="Line 75"/>
              <p:cNvSpPr>
                <a:spLocks noChangeShapeType="1"/>
              </p:cNvSpPr>
              <p:nvPr/>
            </p:nvSpPr>
            <p:spPr bwMode="auto">
              <a:xfrm>
                <a:off x="1514" y="1037"/>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5" name="Line 76"/>
              <p:cNvSpPr>
                <a:spLocks noChangeShapeType="1"/>
              </p:cNvSpPr>
              <p:nvPr/>
            </p:nvSpPr>
            <p:spPr bwMode="auto">
              <a:xfrm>
                <a:off x="1514" y="1757"/>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Line 77"/>
              <p:cNvSpPr>
                <a:spLocks noChangeShapeType="1"/>
              </p:cNvSpPr>
              <p:nvPr/>
            </p:nvSpPr>
            <p:spPr bwMode="auto">
              <a:xfrm>
                <a:off x="1514" y="1863"/>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7" name="Line 78"/>
              <p:cNvSpPr>
                <a:spLocks noChangeShapeType="1"/>
              </p:cNvSpPr>
              <p:nvPr/>
            </p:nvSpPr>
            <p:spPr bwMode="auto">
              <a:xfrm>
                <a:off x="1515" y="2295"/>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79"/>
              <p:cNvSpPr>
                <a:spLocks noChangeShapeType="1"/>
              </p:cNvSpPr>
              <p:nvPr/>
            </p:nvSpPr>
            <p:spPr bwMode="auto">
              <a:xfrm>
                <a:off x="1515" y="240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80"/>
              <p:cNvSpPr>
                <a:spLocks noChangeShapeType="1"/>
              </p:cNvSpPr>
              <p:nvPr/>
            </p:nvSpPr>
            <p:spPr bwMode="auto">
              <a:xfrm>
                <a:off x="1514" y="2895"/>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81"/>
              <p:cNvSpPr>
                <a:spLocks noChangeShapeType="1"/>
              </p:cNvSpPr>
              <p:nvPr/>
            </p:nvSpPr>
            <p:spPr bwMode="auto">
              <a:xfrm>
                <a:off x="1514" y="300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Freeform 82"/>
              <p:cNvSpPr>
                <a:spLocks/>
              </p:cNvSpPr>
              <p:nvPr/>
            </p:nvSpPr>
            <p:spPr bwMode="auto">
              <a:xfrm>
                <a:off x="3654" y="941"/>
                <a:ext cx="240" cy="223"/>
              </a:xfrm>
              <a:custGeom>
                <a:avLst/>
                <a:gdLst>
                  <a:gd name="T0" fmla="*/ 0 w 240"/>
                  <a:gd name="T1" fmla="*/ 0 h 240"/>
                  <a:gd name="T2" fmla="*/ 0 w 240"/>
                  <a:gd name="T3" fmla="*/ 132 h 240"/>
                  <a:gd name="T4" fmla="*/ 240 w 240"/>
                  <a:gd name="T5" fmla="*/ 132 h 240"/>
                  <a:gd name="T6" fmla="*/ 0 60000 65536"/>
                  <a:gd name="T7" fmla="*/ 0 60000 65536"/>
                  <a:gd name="T8" fmla="*/ 0 60000 65536"/>
                </a:gdLst>
                <a:ahLst/>
                <a:cxnLst>
                  <a:cxn ang="T6">
                    <a:pos x="T0" y="T1"/>
                  </a:cxn>
                  <a:cxn ang="T7">
                    <a:pos x="T2" y="T3"/>
                  </a:cxn>
                  <a:cxn ang="T8">
                    <a:pos x="T4" y="T5"/>
                  </a:cxn>
                </a:cxnLst>
                <a:rect l="0" t="0" r="r" b="b"/>
                <a:pathLst>
                  <a:path w="240" h="240">
                    <a:moveTo>
                      <a:pt x="0" y="0"/>
                    </a:moveTo>
                    <a:lnTo>
                      <a:pt x="0" y="240"/>
                    </a:lnTo>
                    <a:lnTo>
                      <a:pt x="240" y="24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Freeform 83"/>
              <p:cNvSpPr>
                <a:spLocks/>
              </p:cNvSpPr>
              <p:nvPr/>
            </p:nvSpPr>
            <p:spPr bwMode="auto">
              <a:xfrm>
                <a:off x="3572" y="1054"/>
                <a:ext cx="322" cy="203"/>
              </a:xfrm>
              <a:custGeom>
                <a:avLst/>
                <a:gdLst>
                  <a:gd name="T0" fmla="*/ 0 w 240"/>
                  <a:gd name="T1" fmla="*/ 0 h 240"/>
                  <a:gd name="T2" fmla="*/ 0 w 240"/>
                  <a:gd name="T3" fmla="*/ 63 h 240"/>
                  <a:gd name="T4" fmla="*/ 2522 w 240"/>
                  <a:gd name="T5" fmla="*/ 63 h 240"/>
                  <a:gd name="T6" fmla="*/ 0 60000 65536"/>
                  <a:gd name="T7" fmla="*/ 0 60000 65536"/>
                  <a:gd name="T8" fmla="*/ 0 60000 65536"/>
                </a:gdLst>
                <a:ahLst/>
                <a:cxnLst>
                  <a:cxn ang="T6">
                    <a:pos x="T0" y="T1"/>
                  </a:cxn>
                  <a:cxn ang="T7">
                    <a:pos x="T2" y="T3"/>
                  </a:cxn>
                  <a:cxn ang="T8">
                    <a:pos x="T4" y="T5"/>
                  </a:cxn>
                </a:cxnLst>
                <a:rect l="0" t="0" r="r" b="b"/>
                <a:pathLst>
                  <a:path w="240" h="240">
                    <a:moveTo>
                      <a:pt x="0" y="0"/>
                    </a:moveTo>
                    <a:lnTo>
                      <a:pt x="0" y="240"/>
                    </a:lnTo>
                    <a:lnTo>
                      <a:pt x="240" y="24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Freeform 84"/>
              <p:cNvSpPr>
                <a:spLocks/>
              </p:cNvSpPr>
              <p:nvPr/>
            </p:nvSpPr>
            <p:spPr bwMode="auto">
              <a:xfrm>
                <a:off x="1494" y="1181"/>
                <a:ext cx="3504" cy="240"/>
              </a:xfrm>
              <a:custGeom>
                <a:avLst/>
                <a:gdLst>
                  <a:gd name="T0" fmla="*/ 3216 w 3504"/>
                  <a:gd name="T1" fmla="*/ 0 h 240"/>
                  <a:gd name="T2" fmla="*/ 3504 w 3504"/>
                  <a:gd name="T3" fmla="*/ 0 h 240"/>
                  <a:gd name="T4" fmla="*/ 3504 w 3504"/>
                  <a:gd name="T5" fmla="*/ 240 h 240"/>
                  <a:gd name="T6" fmla="*/ 0 w 3504"/>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4" name="Freeform 85"/>
              <p:cNvSpPr>
                <a:spLocks/>
              </p:cNvSpPr>
              <p:nvPr/>
            </p:nvSpPr>
            <p:spPr bwMode="auto">
              <a:xfrm>
                <a:off x="1494" y="1805"/>
                <a:ext cx="3504" cy="240"/>
              </a:xfrm>
              <a:custGeom>
                <a:avLst/>
                <a:gdLst>
                  <a:gd name="T0" fmla="*/ 3216 w 3504"/>
                  <a:gd name="T1" fmla="*/ 0 h 240"/>
                  <a:gd name="T2" fmla="*/ 3504 w 3504"/>
                  <a:gd name="T3" fmla="*/ 0 h 240"/>
                  <a:gd name="T4" fmla="*/ 3504 w 3504"/>
                  <a:gd name="T5" fmla="*/ 240 h 240"/>
                  <a:gd name="T6" fmla="*/ 0 w 3504"/>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Freeform 86"/>
              <p:cNvSpPr>
                <a:spLocks/>
              </p:cNvSpPr>
              <p:nvPr/>
            </p:nvSpPr>
            <p:spPr bwMode="auto">
              <a:xfrm>
                <a:off x="1494" y="2957"/>
                <a:ext cx="3504" cy="240"/>
              </a:xfrm>
              <a:custGeom>
                <a:avLst/>
                <a:gdLst>
                  <a:gd name="T0" fmla="*/ 3216 w 3504"/>
                  <a:gd name="T1" fmla="*/ 0 h 240"/>
                  <a:gd name="T2" fmla="*/ 3504 w 3504"/>
                  <a:gd name="T3" fmla="*/ 0 h 240"/>
                  <a:gd name="T4" fmla="*/ 3504 w 3504"/>
                  <a:gd name="T5" fmla="*/ 240 h 240"/>
                  <a:gd name="T6" fmla="*/ 0 w 3504"/>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Freeform 87"/>
              <p:cNvSpPr>
                <a:spLocks/>
              </p:cNvSpPr>
              <p:nvPr/>
            </p:nvSpPr>
            <p:spPr bwMode="auto">
              <a:xfrm>
                <a:off x="1494" y="2333"/>
                <a:ext cx="3504" cy="240"/>
              </a:xfrm>
              <a:custGeom>
                <a:avLst/>
                <a:gdLst>
                  <a:gd name="T0" fmla="*/ 3216 w 3504"/>
                  <a:gd name="T1" fmla="*/ 0 h 240"/>
                  <a:gd name="T2" fmla="*/ 3504 w 3504"/>
                  <a:gd name="T3" fmla="*/ 0 h 240"/>
                  <a:gd name="T4" fmla="*/ 3504 w 3504"/>
                  <a:gd name="T5" fmla="*/ 240 h 240"/>
                  <a:gd name="T6" fmla="*/ 0 w 3504"/>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Freeform 88"/>
              <p:cNvSpPr>
                <a:spLocks/>
              </p:cNvSpPr>
              <p:nvPr/>
            </p:nvSpPr>
            <p:spPr bwMode="auto">
              <a:xfrm>
                <a:off x="4710" y="989"/>
                <a:ext cx="288" cy="192"/>
              </a:xfrm>
              <a:custGeom>
                <a:avLst/>
                <a:gdLst>
                  <a:gd name="T0" fmla="*/ 0 w 288"/>
                  <a:gd name="T1" fmla="*/ 0 h 192"/>
                  <a:gd name="T2" fmla="*/ 288 w 288"/>
                  <a:gd name="T3" fmla="*/ 0 h 192"/>
                  <a:gd name="T4" fmla="*/ 288 w 288"/>
                  <a:gd name="T5" fmla="*/ 192 h 192"/>
                  <a:gd name="T6" fmla="*/ 0 60000 65536"/>
                  <a:gd name="T7" fmla="*/ 0 60000 65536"/>
                  <a:gd name="T8" fmla="*/ 0 60000 65536"/>
                </a:gdLst>
                <a:ahLst/>
                <a:cxnLst>
                  <a:cxn ang="T6">
                    <a:pos x="T0" y="T1"/>
                  </a:cxn>
                  <a:cxn ang="T7">
                    <a:pos x="T2" y="T3"/>
                  </a:cxn>
                  <a:cxn ang="T8">
                    <a:pos x="T4" y="T5"/>
                  </a:cxn>
                </a:cxnLst>
                <a:rect l="0" t="0" r="r" b="b"/>
                <a:pathLst>
                  <a:path w="288" h="192">
                    <a:moveTo>
                      <a:pt x="0" y="0"/>
                    </a:moveTo>
                    <a:lnTo>
                      <a:pt x="288" y="0"/>
                    </a:lnTo>
                    <a:lnTo>
                      <a:pt x="288" y="192"/>
                    </a:lnTo>
                  </a:path>
                </a:pathLst>
              </a:custGeom>
              <a:noFill/>
              <a:ln w="571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00" name="Line 89"/>
            <p:cNvSpPr>
              <a:spLocks noChangeShapeType="1"/>
            </p:cNvSpPr>
            <p:nvPr/>
          </p:nvSpPr>
          <p:spPr bwMode="auto">
            <a:xfrm>
              <a:off x="4662" y="3101"/>
              <a:ext cx="378" cy="403"/>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1" name="Text Box 90"/>
            <p:cNvSpPr txBox="1">
              <a:spLocks noChangeArrowheads="1"/>
            </p:cNvSpPr>
            <p:nvPr/>
          </p:nvSpPr>
          <p:spPr bwMode="auto">
            <a:xfrm>
              <a:off x="4599" y="3527"/>
              <a:ext cx="931" cy="3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400">
                  <a:latin typeface="Century Gothic" pitchFamily="34" charset="0"/>
                </a:rPr>
                <a:t>Memory</a:t>
              </a:r>
            </a:p>
          </p:txBody>
        </p:sp>
        <p:sp>
          <p:nvSpPr>
            <p:cNvPr id="8202" name="Rectangle 91"/>
            <p:cNvSpPr>
              <a:spLocks noChangeArrowheads="1"/>
            </p:cNvSpPr>
            <p:nvPr/>
          </p:nvSpPr>
          <p:spPr bwMode="auto">
            <a:xfrm>
              <a:off x="1824" y="3408"/>
              <a:ext cx="2208" cy="672"/>
            </a:xfrm>
            <a:prstGeom prst="rect">
              <a:avLst/>
            </a:prstGeom>
            <a:solidFill>
              <a:srgbClr val="FF7C80"/>
            </a:solidFill>
            <a:ln w="28575">
              <a:solidFill>
                <a:schemeClr val="tx1"/>
              </a:solidFill>
              <a:miter lim="800000"/>
              <a:headEnd/>
              <a:tailEnd/>
            </a:ln>
            <a:effectLst>
              <a:outerShdw dist="107763" dir="2700000" algn="ctr" rotWithShape="0">
                <a:schemeClr val="tx1">
                  <a:alpha val="50000"/>
                </a:schemeClr>
              </a:outerShdw>
            </a:effectLst>
          </p:spPr>
          <p:txBody>
            <a:bodyPr wrap="none" anchor="ctr"/>
            <a:lstStyle/>
            <a:p>
              <a:pPr algn="ctr" eaLnBrk="0" hangingPunct="0"/>
              <a:r>
                <a:rPr lang="en-US" altLang="zh-CN" sz="2400">
                  <a:latin typeface="Century Gothic" pitchFamily="34" charset="0"/>
                </a:rPr>
                <a:t>SCOREBOARD</a:t>
              </a:r>
            </a:p>
          </p:txBody>
        </p:sp>
        <p:sp>
          <p:nvSpPr>
            <p:cNvPr id="8203" name="Freeform 92"/>
            <p:cNvSpPr>
              <a:spLocks/>
            </p:cNvSpPr>
            <p:nvPr/>
          </p:nvSpPr>
          <p:spPr bwMode="auto">
            <a:xfrm>
              <a:off x="1056" y="3408"/>
              <a:ext cx="768" cy="336"/>
            </a:xfrm>
            <a:custGeom>
              <a:avLst/>
              <a:gdLst>
                <a:gd name="T0" fmla="*/ 503 w 816"/>
                <a:gd name="T1" fmla="*/ 336 h 336"/>
                <a:gd name="T2" fmla="*/ 0 w 816"/>
                <a:gd name="T3" fmla="*/ 336 h 336"/>
                <a:gd name="T4" fmla="*/ 0 w 816"/>
                <a:gd name="T5" fmla="*/ 0 h 336"/>
                <a:gd name="T6" fmla="*/ 0 60000 65536"/>
                <a:gd name="T7" fmla="*/ 0 60000 65536"/>
                <a:gd name="T8" fmla="*/ 0 60000 65536"/>
              </a:gdLst>
              <a:ahLst/>
              <a:cxnLst>
                <a:cxn ang="T6">
                  <a:pos x="T0" y="T1"/>
                </a:cxn>
                <a:cxn ang="T7">
                  <a:pos x="T2" y="T3"/>
                </a:cxn>
                <a:cxn ang="T8">
                  <a:pos x="T4" y="T5"/>
                </a:cxn>
              </a:cxnLst>
              <a:rect l="0" t="0" r="r" b="b"/>
              <a:pathLst>
                <a:path w="816" h="336">
                  <a:moveTo>
                    <a:pt x="816" y="336"/>
                  </a:moveTo>
                  <a:lnTo>
                    <a:pt x="0" y="336"/>
                  </a:lnTo>
                  <a:lnTo>
                    <a:pt x="0" y="0"/>
                  </a:lnTo>
                </a:path>
              </a:pathLst>
            </a:custGeom>
            <a:noFill/>
            <a:ln w="762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日期占位符 1">
            <a:extLst>
              <a:ext uri="{FF2B5EF4-FFF2-40B4-BE49-F238E27FC236}">
                <a16:creationId xmlns:a16="http://schemas.microsoft.com/office/drawing/2014/main" id="{F9F91E7B-E410-6AD0-DB7A-D2A2BF17E56C}"/>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49FDD89B-9D22-4E20-2A26-4D5D1CA909F1}"/>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4D881E1D-1946-CE2B-B064-59FCF1569B4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14</a:t>
            </a:fld>
            <a:endParaRPr lang="en-US" altLang="zh-CN"/>
          </a:p>
        </p:txBody>
      </p:sp>
    </p:spTree>
    <p:extLst>
      <p:ext uri="{BB962C8B-B14F-4D97-AF65-F5344CB8AC3E}">
        <p14:creationId xmlns:p14="http://schemas.microsoft.com/office/powerpoint/2010/main" val="147098200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Grp="1" noChangeArrowheads="1"/>
          </p:cNvSpPr>
          <p:nvPr>
            <p:ph type="title" idx="4294967295"/>
          </p:nvPr>
        </p:nvSpPr>
        <p:spPr>
          <a:xfrm>
            <a:off x="457200" y="53752"/>
            <a:ext cx="8229600" cy="1143000"/>
          </a:xfrm>
        </p:spPr>
        <p:txBody>
          <a:bodyPr/>
          <a:lstStyle/>
          <a:p>
            <a:pPr eaLnBrk="1" hangingPunct="1">
              <a:defRPr/>
            </a:pPr>
            <a:r>
              <a:rPr lang="zh-CN" altLang="en-US" sz="3600" b="1" dirty="0">
                <a:latin typeface="+mj-ea"/>
              </a:rPr>
              <a:t>记分牌执行过程</a:t>
            </a:r>
          </a:p>
        </p:txBody>
      </p:sp>
      <p:sp>
        <p:nvSpPr>
          <p:cNvPr id="37898" name="Rectangle 10"/>
          <p:cNvSpPr>
            <a:spLocks noGrp="1" noChangeArrowheads="1"/>
          </p:cNvSpPr>
          <p:nvPr>
            <p:ph type="body" idx="4294967295"/>
          </p:nvPr>
        </p:nvSpPr>
        <p:spPr>
          <a:xfrm>
            <a:off x="611560" y="1089025"/>
            <a:ext cx="7920880" cy="4679950"/>
          </a:xfrm>
        </p:spPr>
        <p:txBody>
          <a:bodyPr rtlCol="0">
            <a:normAutofit fontScale="85000" lnSpcReduction="10000"/>
          </a:bodyPr>
          <a:lstStyle/>
          <a:p>
            <a:pPr marL="0" indent="0" eaLnBrk="1" fontAlgn="auto" hangingPunct="1">
              <a:lnSpc>
                <a:spcPct val="120000"/>
              </a:lnSpc>
              <a:spcAft>
                <a:spcPts val="0"/>
              </a:spcAft>
              <a:buFont typeface="Arial" charset="0"/>
              <a:buNone/>
              <a:defRPr/>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）流出（</a:t>
            </a:r>
            <a:r>
              <a:rPr lang="en-US" altLang="zh-CN" sz="2400" b="1" dirty="0">
                <a:latin typeface="Times New Roman" panose="02020603050405020304" pitchFamily="18" charset="0"/>
                <a:cs typeface="Times New Roman" panose="02020603050405020304" pitchFamily="18" charset="0"/>
              </a:rPr>
              <a:t>Issue</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cs typeface="Times New Roman" panose="02020603050405020304" pitchFamily="18" charset="0"/>
              </a:rPr>
              <a:t>本指令所需的功能部件有空闲</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cs typeface="Times New Roman" panose="02020603050405020304" pitchFamily="18" charset="0"/>
              </a:rPr>
              <a:t>正在执行指令使用的目的寄存器与本指令不同</a:t>
            </a:r>
            <a:endParaRPr lang="en-US" altLang="zh-CN" sz="2400" b="1" dirty="0">
              <a:latin typeface="Times New Roman" panose="02020603050405020304" pitchFamily="18" charset="0"/>
              <a:cs typeface="Times New Roman" panose="02020603050405020304" pitchFamily="18" charset="0"/>
            </a:endParaRPr>
          </a:p>
          <a:p>
            <a:pPr marL="1137600" lvl="1" eaLnBrk="1" fontAlgn="auto" hangingPunct="1">
              <a:lnSpc>
                <a:spcPct val="120000"/>
              </a:lnSpc>
              <a:spcAft>
                <a:spcPts val="0"/>
              </a:spcAft>
              <a:buFont typeface="Wingdings" panose="05000000000000000000" pitchFamily="2" charset="2"/>
              <a:buChar char="ü"/>
              <a:defRPr/>
            </a:pPr>
            <a:r>
              <a:rPr lang="zh-CN" altLang="en-US" sz="2400" b="1" dirty="0">
                <a:latin typeface="Times New Roman" panose="02020603050405020304" pitchFamily="18" charset="0"/>
                <a:cs typeface="Times New Roman" panose="02020603050405020304" pitchFamily="18" charset="0"/>
              </a:rPr>
              <a:t>保证没有</a:t>
            </a:r>
            <a:r>
              <a:rPr lang="en-US" altLang="zh-CN" sz="2400" b="1" dirty="0">
                <a:solidFill>
                  <a:srgbClr val="FF0000"/>
                </a:solidFill>
                <a:latin typeface="Times New Roman" panose="02020603050405020304" pitchFamily="18" charset="0"/>
                <a:cs typeface="Times New Roman" panose="02020603050405020304" pitchFamily="18" charset="0"/>
              </a:rPr>
              <a:t>WAW</a:t>
            </a:r>
            <a:r>
              <a:rPr lang="zh-CN" altLang="en-US" sz="2400" b="1" dirty="0">
                <a:latin typeface="Times New Roman" panose="02020603050405020304" pitchFamily="18" charset="0"/>
                <a:cs typeface="Times New Roman" panose="02020603050405020304" pitchFamily="18" charset="0"/>
              </a:rPr>
              <a:t>相关</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cs typeface="Times New Roman" panose="02020603050405020304" pitchFamily="18" charset="0"/>
              </a:rPr>
              <a:t>如果存在结构冲突或</a:t>
            </a:r>
            <a:r>
              <a:rPr lang="en-US" altLang="zh-CN" sz="2400" b="1" dirty="0">
                <a:latin typeface="Times New Roman" panose="02020603050405020304" pitchFamily="18" charset="0"/>
                <a:cs typeface="Times New Roman" panose="02020603050405020304" pitchFamily="18" charset="0"/>
              </a:rPr>
              <a:t>WAW</a:t>
            </a:r>
            <a:r>
              <a:rPr lang="zh-CN" altLang="en-US" sz="2400" b="1" dirty="0">
                <a:latin typeface="Times New Roman" panose="02020603050405020304" pitchFamily="18" charset="0"/>
                <a:cs typeface="Times New Roman" panose="02020603050405020304" pitchFamily="18" charset="0"/>
              </a:rPr>
              <a:t>相关，本指令就不会流出，不能进入到</a:t>
            </a:r>
            <a:r>
              <a:rPr lang="en-US" altLang="zh-CN" sz="2400" b="1" dirty="0">
                <a:latin typeface="Times New Roman" panose="02020603050405020304" pitchFamily="18" charset="0"/>
                <a:cs typeface="Times New Roman" panose="02020603050405020304" pitchFamily="18" charset="0"/>
              </a:rPr>
              <a:t>Issue</a:t>
            </a:r>
            <a:r>
              <a:rPr lang="zh-CN" altLang="en-US" sz="2400" b="1" dirty="0">
                <a:latin typeface="Times New Roman" panose="02020603050405020304" pitchFamily="18" charset="0"/>
                <a:cs typeface="Times New Roman" panose="02020603050405020304" pitchFamily="18" charset="0"/>
              </a:rPr>
              <a:t>段，</a:t>
            </a:r>
            <a:r>
              <a:rPr lang="zh-CN" altLang="en-US" sz="2400" b="1" dirty="0">
                <a:solidFill>
                  <a:srgbClr val="FF0000"/>
                </a:solidFill>
                <a:latin typeface="Times New Roman" panose="02020603050405020304" pitchFamily="18" charset="0"/>
                <a:cs typeface="Times New Roman" panose="02020603050405020304" pitchFamily="18" charset="0"/>
              </a:rPr>
              <a:t>后面的指令也不会流出</a:t>
            </a:r>
            <a:r>
              <a:rPr lang="zh-CN" altLang="en-US" sz="2400" b="1" dirty="0">
                <a:latin typeface="Times New Roman" panose="02020603050405020304" pitchFamily="18" charset="0"/>
                <a:cs typeface="Times New Roman" panose="02020603050405020304" pitchFamily="18" charset="0"/>
              </a:rPr>
              <a:t>，直至阻塞消失</a:t>
            </a:r>
            <a:endParaRPr lang="zh-CN" altLang="en-US" b="1" dirty="0">
              <a:latin typeface="Times New Roman" panose="02020603050405020304" pitchFamily="18" charset="0"/>
              <a:cs typeface="Times New Roman" panose="02020603050405020304" pitchFamily="18" charset="0"/>
            </a:endParaRPr>
          </a:p>
          <a:p>
            <a:pPr marL="0" indent="0" eaLnBrk="1" fontAlgn="auto" hangingPunct="1">
              <a:lnSpc>
                <a:spcPct val="120000"/>
              </a:lnSpc>
              <a:spcAft>
                <a:spcPts val="0"/>
              </a:spcAft>
              <a:buFont typeface="Arial" charset="0"/>
              <a:buNone/>
              <a:defRPr/>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）读操作数（</a:t>
            </a:r>
            <a:r>
              <a:rPr lang="en-US" altLang="zh-CN" sz="2400" b="1" dirty="0">
                <a:latin typeface="Times New Roman" panose="02020603050405020304" pitchFamily="18" charset="0"/>
                <a:cs typeface="Times New Roman" panose="02020603050405020304" pitchFamily="18" charset="0"/>
              </a:rPr>
              <a:t>Read operands</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cs typeface="Times New Roman" panose="02020603050405020304" pitchFamily="18" charset="0"/>
              </a:rPr>
              <a:t>前面已流出的还在运行的指令不对本指令的源操作数寄存器进行写操作</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cs typeface="Times New Roman" panose="02020603050405020304" pitchFamily="18" charset="0"/>
              </a:rPr>
              <a:t>一个正在工作的功能部件已经完成了对这个寄存器的写操作</a:t>
            </a:r>
            <a:endParaRPr lang="en-US" altLang="zh-CN" sz="2400" b="1" dirty="0">
              <a:latin typeface="Times New Roman" panose="02020603050405020304" pitchFamily="18" charset="0"/>
              <a:cs typeface="Times New Roman" panose="02020603050405020304" pitchFamily="18" charset="0"/>
            </a:endParaRPr>
          </a:p>
          <a:p>
            <a:pPr marL="1137600" lvl="1" eaLnBrk="1" fontAlgn="auto" hangingPunct="1">
              <a:lnSpc>
                <a:spcPct val="120000"/>
              </a:lnSpc>
              <a:spcAft>
                <a:spcPts val="0"/>
              </a:spcAft>
              <a:buFont typeface="Wingdings" panose="05000000000000000000" pitchFamily="2" charset="2"/>
              <a:buChar char="ü"/>
              <a:defRPr/>
            </a:pPr>
            <a:r>
              <a:rPr lang="zh-CN" altLang="en-US" sz="2400" b="1" dirty="0">
                <a:latin typeface="Times New Roman" panose="02020603050405020304" pitchFamily="18" charset="0"/>
                <a:cs typeface="Times New Roman" panose="02020603050405020304" pitchFamily="18" charset="0"/>
              </a:rPr>
              <a:t>动态解决</a:t>
            </a:r>
            <a:r>
              <a:rPr lang="en-US" altLang="zh-CN" sz="2400" b="1" dirty="0">
                <a:solidFill>
                  <a:srgbClr val="FF0000"/>
                </a:solidFill>
                <a:latin typeface="Times New Roman" panose="02020603050405020304" pitchFamily="18" charset="0"/>
                <a:cs typeface="Times New Roman" panose="02020603050405020304" pitchFamily="18" charset="0"/>
              </a:rPr>
              <a:t>RAW</a:t>
            </a:r>
            <a:r>
              <a:rPr lang="zh-CN" altLang="en-US" sz="2400" b="1" dirty="0">
                <a:latin typeface="Times New Roman" panose="02020603050405020304" pitchFamily="18" charset="0"/>
                <a:cs typeface="Times New Roman" panose="02020603050405020304" pitchFamily="18" charset="0"/>
              </a:rPr>
              <a:t>相关</a:t>
            </a:r>
            <a:endParaRPr lang="en-US" altLang="zh-CN" sz="2400" b="1"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charset="0"/>
              <a:buNone/>
              <a:defRPr/>
            </a:pPr>
            <a:endParaRPr lang="zh-CN" altLang="en-US" sz="2400" b="1" dirty="0">
              <a:latin typeface="Times New Roman" panose="02020603050405020304" pitchFamily="18" charset="0"/>
              <a:cs typeface="Times New Roman" panose="02020603050405020304" pitchFamily="18" charset="0"/>
            </a:endParaRPr>
          </a:p>
        </p:txBody>
      </p:sp>
      <p:sp>
        <p:nvSpPr>
          <p:cNvPr id="9220" name="矩形 1"/>
          <p:cNvSpPr>
            <a:spLocks noChangeArrowheads="1"/>
          </p:cNvSpPr>
          <p:nvPr/>
        </p:nvSpPr>
        <p:spPr bwMode="auto">
          <a:xfrm>
            <a:off x="2700338" y="5949950"/>
            <a:ext cx="46085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Verdana" pitchFamily="34" charset="0"/>
                <a:ea typeface="华文中宋" pitchFamily="2" charset="-122"/>
              </a:rPr>
              <a:t>前面两步完成了原来</a:t>
            </a:r>
            <a:r>
              <a:rPr lang="en-US" altLang="zh-CN" sz="2400" b="1">
                <a:latin typeface="Verdana" pitchFamily="34" charset="0"/>
                <a:ea typeface="华文中宋" pitchFamily="2" charset="-122"/>
              </a:rPr>
              <a:t>ID</a:t>
            </a:r>
            <a:r>
              <a:rPr lang="zh-CN" altLang="en-US" sz="2400" b="1">
                <a:latin typeface="Verdana" pitchFamily="34" charset="0"/>
                <a:ea typeface="华文中宋" pitchFamily="2" charset="-122"/>
              </a:rPr>
              <a:t>段的功能</a:t>
            </a:r>
          </a:p>
        </p:txBody>
      </p:sp>
      <p:sp>
        <p:nvSpPr>
          <p:cNvPr id="2" name="日期占位符 1">
            <a:extLst>
              <a:ext uri="{FF2B5EF4-FFF2-40B4-BE49-F238E27FC236}">
                <a16:creationId xmlns:a16="http://schemas.microsoft.com/office/drawing/2014/main" id="{585FB8A0-77C2-6D66-19EE-927E5F696843}"/>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9BC7E076-7BC6-7EEC-762E-42EE7418A5C9}"/>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BFA54C48-024C-49EB-7095-0A6A737353C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15</a:t>
            </a:fld>
            <a:endParaRPr lang="en-US" altLang="zh-CN"/>
          </a:p>
        </p:txBody>
      </p:sp>
    </p:spTree>
    <p:extLst>
      <p:ext uri="{BB962C8B-B14F-4D97-AF65-F5344CB8AC3E}">
        <p14:creationId xmlns:p14="http://schemas.microsoft.com/office/powerpoint/2010/main" val="3009375065"/>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1"/>
          <p:cNvSpPr>
            <a:spLocks noGrp="1" noChangeArrowheads="1"/>
          </p:cNvSpPr>
          <p:nvPr>
            <p:ph type="title" idx="4294967295"/>
          </p:nvPr>
        </p:nvSpPr>
        <p:spPr>
          <a:xfrm>
            <a:off x="457200" y="115888"/>
            <a:ext cx="8229600" cy="1143000"/>
          </a:xfrm>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记分牌执行过程</a:t>
            </a:r>
          </a:p>
        </p:txBody>
      </p:sp>
      <p:sp>
        <p:nvSpPr>
          <p:cNvPr id="39948" name="Rectangle 12"/>
          <p:cNvSpPr>
            <a:spLocks noGrp="1" noChangeArrowheads="1"/>
          </p:cNvSpPr>
          <p:nvPr>
            <p:ph type="body" idx="4294967295"/>
          </p:nvPr>
        </p:nvSpPr>
        <p:spPr>
          <a:xfrm>
            <a:off x="823913" y="1341438"/>
            <a:ext cx="7570787" cy="4032250"/>
          </a:xfrm>
        </p:spPr>
        <p:txBody>
          <a:bodyPr rtlCol="0">
            <a:normAutofit lnSpcReduction="10000"/>
          </a:bodyPr>
          <a:lstStyle/>
          <a:p>
            <a:pPr marL="0" indent="0" eaLnBrk="1" fontAlgn="auto" hangingPunct="1">
              <a:spcAft>
                <a:spcPts val="0"/>
              </a:spcAft>
              <a:buFont typeface="Arial" charset="0"/>
              <a:buNone/>
              <a:defRPr/>
            </a:pP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3</a:t>
            </a:r>
            <a:r>
              <a:rPr lang="zh-CN" altLang="en-US" sz="2400" b="1" dirty="0">
                <a:latin typeface="Times New Roman" panose="02020603050405020304" pitchFamily="18" charset="0"/>
                <a:ea typeface="+mj-ea"/>
                <a:cs typeface="Times New Roman" panose="02020603050405020304" pitchFamily="18" charset="0"/>
              </a:rPr>
              <a:t>）执行（</a:t>
            </a:r>
            <a:r>
              <a:rPr lang="en-US" altLang="zh-CN" sz="2400" b="1" dirty="0">
                <a:latin typeface="Times New Roman" panose="02020603050405020304" pitchFamily="18" charset="0"/>
                <a:ea typeface="+mj-ea"/>
                <a:cs typeface="Times New Roman" panose="02020603050405020304" pitchFamily="18" charset="0"/>
              </a:rPr>
              <a:t>Execution</a:t>
            </a:r>
            <a:r>
              <a:rPr lang="zh-CN" altLang="en-US" sz="2400" b="1" dirty="0">
                <a:latin typeface="Times New Roman" panose="02020603050405020304" pitchFamily="18" charset="0"/>
                <a:ea typeface="+mj-ea"/>
                <a:cs typeface="Times New Roman" panose="02020603050405020304" pitchFamily="18" charset="0"/>
              </a:rPr>
              <a:t>）</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zh-CN" altLang="en-US" sz="2400" b="1" dirty="0">
                <a:latin typeface="Times New Roman" panose="02020603050405020304" pitchFamily="18" charset="0"/>
                <a:ea typeface="+mj-ea"/>
                <a:cs typeface="Times New Roman" panose="02020603050405020304" pitchFamily="18" charset="0"/>
              </a:rPr>
              <a:t>开始于取到操作数后</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zh-CN" altLang="en-US" sz="2400" b="1" dirty="0">
                <a:latin typeface="Times New Roman" panose="02020603050405020304" pitchFamily="18" charset="0"/>
                <a:ea typeface="+mj-ea"/>
                <a:cs typeface="Times New Roman" panose="02020603050405020304" pitchFamily="18" charset="0"/>
              </a:rPr>
              <a:t>当结果产生后，修改记分牌</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dirty="0">
                <a:latin typeface="Times New Roman" panose="02020603050405020304" pitchFamily="18" charset="0"/>
                <a:ea typeface="+mj-ea"/>
                <a:cs typeface="Times New Roman" panose="02020603050405020304" pitchFamily="18" charset="0"/>
              </a:rPr>
              <a:t>FP</a:t>
            </a:r>
            <a:r>
              <a:rPr lang="zh-CN" altLang="en-US" sz="2400" b="1" dirty="0">
                <a:latin typeface="Times New Roman" panose="02020603050405020304" pitchFamily="18" charset="0"/>
                <a:ea typeface="+mj-ea"/>
                <a:cs typeface="Times New Roman" panose="02020603050405020304" pitchFamily="18" charset="0"/>
              </a:rPr>
              <a:t>流水部件会占用多个周期</a:t>
            </a:r>
          </a:p>
          <a:p>
            <a:pPr marL="0" indent="0" eaLnBrk="1" fontAlgn="auto" hangingPunct="1">
              <a:spcAft>
                <a:spcPts val="0"/>
              </a:spcAft>
              <a:buFont typeface="Arial" charset="0"/>
              <a:buNone/>
              <a:defRPr/>
            </a:pP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4</a:t>
            </a:r>
            <a:r>
              <a:rPr lang="zh-CN" altLang="en-US" sz="2400" b="1" dirty="0">
                <a:latin typeface="Times New Roman" panose="02020603050405020304" pitchFamily="18" charset="0"/>
                <a:ea typeface="+mj-ea"/>
                <a:cs typeface="Times New Roman" panose="02020603050405020304" pitchFamily="18" charset="0"/>
              </a:rPr>
              <a:t>）写结果（</a:t>
            </a:r>
            <a:r>
              <a:rPr lang="en-US" altLang="zh-CN" sz="2400" b="1" dirty="0">
                <a:latin typeface="Times New Roman" panose="02020603050405020304" pitchFamily="18" charset="0"/>
                <a:ea typeface="+mj-ea"/>
                <a:cs typeface="Times New Roman" panose="02020603050405020304" pitchFamily="18" charset="0"/>
              </a:rPr>
              <a:t>Write result</a:t>
            </a:r>
            <a:r>
              <a:rPr lang="zh-CN" altLang="en-US" sz="2400" b="1" dirty="0">
                <a:latin typeface="Times New Roman" panose="02020603050405020304" pitchFamily="18" charset="0"/>
                <a:ea typeface="+mj-ea"/>
                <a:cs typeface="Times New Roman" panose="02020603050405020304" pitchFamily="18" charset="0"/>
              </a:rPr>
              <a:t>）：检查</a:t>
            </a:r>
            <a:r>
              <a:rPr lang="en-US" altLang="zh-CN" sz="2400" b="1" dirty="0">
                <a:solidFill>
                  <a:srgbClr val="FF0000"/>
                </a:solidFill>
                <a:latin typeface="Times New Roman" panose="02020603050405020304" pitchFamily="18" charset="0"/>
                <a:ea typeface="+mj-ea"/>
                <a:cs typeface="Times New Roman" panose="02020603050405020304" pitchFamily="18" charset="0"/>
              </a:rPr>
              <a:t>WAR</a:t>
            </a:r>
            <a:r>
              <a:rPr lang="zh-CN" altLang="en-US" sz="2400" b="1" dirty="0">
                <a:latin typeface="Times New Roman" panose="02020603050405020304" pitchFamily="18" charset="0"/>
                <a:ea typeface="+mj-ea"/>
                <a:cs typeface="Times New Roman" panose="02020603050405020304" pitchFamily="18" charset="0"/>
              </a:rPr>
              <a:t>相关</a:t>
            </a:r>
            <a:endParaRPr lang="en-US" altLang="zh-CN" sz="2400" b="1" dirty="0">
              <a:latin typeface="Times New Roman" panose="02020603050405020304" pitchFamily="18" charset="0"/>
              <a:ea typeface="+mj-ea"/>
              <a:cs typeface="Times New Roman" panose="02020603050405020304" pitchFamily="18" charset="0"/>
            </a:endParaRPr>
          </a:p>
          <a:p>
            <a:pPr marL="0" indent="0" eaLnBrk="1" fontAlgn="auto" hangingPunct="1">
              <a:spcAft>
                <a:spcPts val="0"/>
              </a:spcAft>
              <a:buFont typeface="Arial" charset="0"/>
              <a:buNone/>
              <a:defRPr/>
            </a:pPr>
            <a:r>
              <a:rPr lang="zh-CN" altLang="en-US" sz="2400" b="1" dirty="0">
                <a:latin typeface="Times New Roman" panose="02020603050405020304" pitchFamily="18" charset="0"/>
                <a:ea typeface="+mj-ea"/>
                <a:cs typeface="Times New Roman" panose="02020603050405020304" pitchFamily="18" charset="0"/>
              </a:rPr>
              <a:t>  出现以下情况时，不允许指令写结果：</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zh-CN" altLang="en-US" sz="2400" b="1" dirty="0">
                <a:latin typeface="Times New Roman" panose="02020603050405020304" pitchFamily="18" charset="0"/>
                <a:ea typeface="+mj-ea"/>
                <a:cs typeface="Times New Roman" panose="02020603050405020304" pitchFamily="18" charset="0"/>
              </a:rPr>
              <a:t>前面的某条指令（已按顺序流出）还没有读取操作数</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zh-CN" altLang="en-US" sz="2400" b="1" dirty="0">
                <a:latin typeface="Times New Roman" panose="02020603050405020304" pitchFamily="18" charset="0"/>
                <a:ea typeface="+mj-ea"/>
                <a:cs typeface="Times New Roman" panose="02020603050405020304" pitchFamily="18" charset="0"/>
              </a:rPr>
              <a:t>而且其中某个源操作数寄存器与本指令的目的寄存器相同</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10244" name="矩形 3"/>
          <p:cNvSpPr>
            <a:spLocks noChangeArrowheads="1"/>
          </p:cNvSpPr>
          <p:nvPr/>
        </p:nvSpPr>
        <p:spPr bwMode="auto">
          <a:xfrm>
            <a:off x="2627313" y="5589588"/>
            <a:ext cx="3963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Verdana" pitchFamily="34" charset="0"/>
                <a:ea typeface="华文中宋" pitchFamily="2" charset="-122"/>
              </a:rPr>
              <a:t>对应</a:t>
            </a:r>
            <a:r>
              <a:rPr lang="en-US" altLang="zh-CN" sz="2400" b="1" dirty="0">
                <a:latin typeface="Verdana" pitchFamily="34" charset="0"/>
                <a:ea typeface="华文中宋" pitchFamily="2" charset="-122"/>
              </a:rPr>
              <a:t>MIPS</a:t>
            </a:r>
            <a:r>
              <a:rPr lang="zh-CN" altLang="en-US" sz="2400" b="1" dirty="0">
                <a:latin typeface="Verdana" pitchFamily="34" charset="0"/>
                <a:ea typeface="华文中宋" pitchFamily="2" charset="-122"/>
              </a:rPr>
              <a:t>的</a:t>
            </a:r>
            <a:r>
              <a:rPr lang="en-US" altLang="zh-CN" sz="2400" b="1" dirty="0">
                <a:latin typeface="Verdana" pitchFamily="34" charset="0"/>
                <a:ea typeface="华文中宋" pitchFamily="2" charset="-122"/>
              </a:rPr>
              <a:t>EX</a:t>
            </a:r>
            <a:r>
              <a:rPr lang="zh-CN" altLang="en-US" sz="2400" b="1" dirty="0">
                <a:latin typeface="Verdana" pitchFamily="34" charset="0"/>
                <a:ea typeface="华文中宋" pitchFamily="2" charset="-122"/>
              </a:rPr>
              <a:t>段和</a:t>
            </a:r>
            <a:r>
              <a:rPr lang="en-US" altLang="zh-CN" sz="2400" b="1" dirty="0">
                <a:latin typeface="Verdana" pitchFamily="34" charset="0"/>
                <a:ea typeface="华文中宋" pitchFamily="2" charset="-122"/>
              </a:rPr>
              <a:t>WB</a:t>
            </a:r>
            <a:r>
              <a:rPr lang="zh-CN" altLang="en-US" sz="2400" b="1" dirty="0">
                <a:latin typeface="Verdana" pitchFamily="34" charset="0"/>
                <a:ea typeface="华文中宋" pitchFamily="2" charset="-122"/>
              </a:rPr>
              <a:t>段</a:t>
            </a:r>
          </a:p>
        </p:txBody>
      </p:sp>
      <p:sp>
        <p:nvSpPr>
          <p:cNvPr id="2" name="日期占位符 1">
            <a:extLst>
              <a:ext uri="{FF2B5EF4-FFF2-40B4-BE49-F238E27FC236}">
                <a16:creationId xmlns:a16="http://schemas.microsoft.com/office/drawing/2014/main" id="{B309511C-6B69-7846-5EB7-D82EF2357C0B}"/>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1F7427CD-07C7-C9D1-41C6-4490FAA1D7B5}"/>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395325FA-85BC-BA49-89E8-459AB32D142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16</a:t>
            </a:fld>
            <a:endParaRPr lang="en-US" altLang="zh-CN"/>
          </a:p>
        </p:txBody>
      </p:sp>
    </p:spTree>
    <p:extLst>
      <p:ext uri="{BB962C8B-B14F-4D97-AF65-F5344CB8AC3E}">
        <p14:creationId xmlns:p14="http://schemas.microsoft.com/office/powerpoint/2010/main" val="3368534743"/>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title" idx="4294967295"/>
          </p:nvPr>
        </p:nvSpPr>
        <p:spPr/>
        <p:txBody>
          <a:bodyPr/>
          <a:lstStyle/>
          <a:p>
            <a:pPr eaLnBrk="1" hangingPunct="1">
              <a:defRPr/>
            </a:pPr>
            <a:r>
              <a:rPr lang="zh-CN" altLang="en-US" sz="3600" b="1" dirty="0">
                <a:latin typeface="+mj-ea"/>
              </a:rPr>
              <a:t>记分牌结构</a:t>
            </a:r>
          </a:p>
        </p:txBody>
      </p:sp>
      <p:sp>
        <p:nvSpPr>
          <p:cNvPr id="45064" name="Rectangle 8"/>
          <p:cNvSpPr>
            <a:spLocks noGrp="1" noChangeArrowheads="1"/>
          </p:cNvSpPr>
          <p:nvPr>
            <p:ph type="body" idx="4294967295"/>
          </p:nvPr>
        </p:nvSpPr>
        <p:spPr/>
        <p:txBody>
          <a:bodyPr rtlCol="0">
            <a:normAutofit/>
          </a:bodyPr>
          <a:lstStyle/>
          <a:p>
            <a:pPr eaLnBrk="1" fontAlgn="auto" hangingPunct="1">
              <a:spcAft>
                <a:spcPts val="0"/>
              </a:spcAft>
              <a:defRPr/>
            </a:pPr>
            <a:r>
              <a:rPr lang="zh-CN" altLang="en-US" sz="2400" b="1" dirty="0">
                <a:solidFill>
                  <a:srgbClr val="C00000"/>
                </a:solidFill>
                <a:latin typeface="Times New Roman" panose="02020603050405020304" pitchFamily="18" charset="0"/>
                <a:ea typeface="+mj-ea"/>
                <a:cs typeface="Times New Roman" panose="02020603050405020304" pitchFamily="18" charset="0"/>
              </a:rPr>
              <a:t>指令状态表</a:t>
            </a:r>
            <a:r>
              <a:rPr lang="zh-CN" altLang="en-US" sz="2400" b="1" dirty="0">
                <a:latin typeface="Times New Roman" panose="02020603050405020304" pitchFamily="18" charset="0"/>
                <a:ea typeface="+mj-ea"/>
                <a:cs typeface="Times New Roman" panose="02020603050405020304" pitchFamily="18" charset="0"/>
              </a:rPr>
              <a:t>：记录正在执行的各条指令进入到哪一个阶段</a:t>
            </a:r>
            <a:endParaRPr lang="en-US" altLang="zh-CN" sz="2400" b="1" dirty="0">
              <a:latin typeface="Times New Roman" panose="02020603050405020304" pitchFamily="18" charset="0"/>
              <a:ea typeface="+mj-ea"/>
              <a:cs typeface="Times New Roman" panose="02020603050405020304" pitchFamily="18" charset="0"/>
            </a:endParaRPr>
          </a:p>
          <a:p>
            <a:pPr eaLnBrk="1" fontAlgn="auto" hangingPunct="1">
              <a:spcAft>
                <a:spcPts val="0"/>
              </a:spcAft>
              <a:defRPr/>
            </a:pPr>
            <a:r>
              <a:rPr lang="zh-CN" altLang="en-US" sz="2400" b="1" dirty="0">
                <a:solidFill>
                  <a:srgbClr val="C00000"/>
                </a:solidFill>
                <a:latin typeface="Times New Roman" panose="02020603050405020304" pitchFamily="18" charset="0"/>
                <a:ea typeface="+mj-ea"/>
                <a:cs typeface="Times New Roman" panose="02020603050405020304" pitchFamily="18" charset="0"/>
              </a:rPr>
              <a:t>功能部件的状态表</a:t>
            </a:r>
            <a:r>
              <a:rPr lang="zh-CN" altLang="en-US" sz="2400" b="1" dirty="0">
                <a:latin typeface="Times New Roman" panose="02020603050405020304" pitchFamily="18" charset="0"/>
                <a:ea typeface="+mj-ea"/>
                <a:cs typeface="Times New Roman" panose="02020603050405020304" pitchFamily="18" charset="0"/>
              </a:rPr>
              <a:t>：</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a:latin typeface="Times New Roman" panose="02020603050405020304" pitchFamily="18" charset="0"/>
                <a:ea typeface="+mj-ea"/>
                <a:cs typeface="Times New Roman" panose="02020603050405020304" pitchFamily="18" charset="0"/>
              </a:rPr>
              <a:t>Busy</a:t>
            </a:r>
            <a:r>
              <a:rPr lang="zh-CN" altLang="en-US" sz="2400" b="1" dirty="0">
                <a:latin typeface="Times New Roman" panose="02020603050405020304" pitchFamily="18" charset="0"/>
                <a:ea typeface="+mj-ea"/>
                <a:cs typeface="Times New Roman" panose="02020603050405020304" pitchFamily="18" charset="0"/>
              </a:rPr>
              <a:t>：指示功能部件是否工作</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a:latin typeface="Times New Roman" panose="02020603050405020304" pitchFamily="18" charset="0"/>
                <a:ea typeface="+mj-ea"/>
                <a:cs typeface="Times New Roman" panose="02020603050405020304" pitchFamily="18" charset="0"/>
              </a:rPr>
              <a:t>Op</a:t>
            </a:r>
            <a:r>
              <a:rPr lang="zh-CN" altLang="en-US" sz="2400" b="1" dirty="0">
                <a:latin typeface="Times New Roman" panose="02020603050405020304" pitchFamily="18" charset="0"/>
                <a:ea typeface="+mj-ea"/>
                <a:cs typeface="Times New Roman" panose="02020603050405020304" pitchFamily="18" charset="0"/>
              </a:rPr>
              <a:t>：功能部件当前执行的操作</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a:latin typeface="Times New Roman" panose="02020603050405020304" pitchFamily="18" charset="0"/>
                <a:ea typeface="+mj-ea"/>
                <a:cs typeface="Times New Roman" panose="02020603050405020304" pitchFamily="18" charset="0"/>
              </a:rPr>
              <a:t>Fi</a:t>
            </a:r>
            <a:r>
              <a:rPr lang="zh-CN" altLang="en-US" sz="2400" b="1" dirty="0">
                <a:latin typeface="Times New Roman" panose="02020603050405020304" pitchFamily="18" charset="0"/>
                <a:ea typeface="+mj-ea"/>
                <a:cs typeface="Times New Roman" panose="02020603050405020304" pitchFamily="18" charset="0"/>
              </a:rPr>
              <a:t>：目的寄存器编号</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err="1">
                <a:latin typeface="Times New Roman" panose="02020603050405020304" pitchFamily="18" charset="0"/>
                <a:ea typeface="+mj-ea"/>
                <a:cs typeface="Times New Roman" panose="02020603050405020304" pitchFamily="18" charset="0"/>
              </a:rPr>
              <a:t>Fj</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i="1" dirty="0" err="1">
                <a:latin typeface="Times New Roman" panose="02020603050405020304" pitchFamily="18" charset="0"/>
                <a:ea typeface="+mj-ea"/>
                <a:cs typeface="Times New Roman" panose="02020603050405020304" pitchFamily="18" charset="0"/>
              </a:rPr>
              <a:t>Fk</a:t>
            </a:r>
            <a:r>
              <a:rPr lang="zh-CN" altLang="en-US" sz="2400" b="1" dirty="0">
                <a:latin typeface="Times New Roman" panose="02020603050405020304" pitchFamily="18" charset="0"/>
                <a:ea typeface="+mj-ea"/>
                <a:cs typeface="Times New Roman" panose="02020603050405020304" pitchFamily="18" charset="0"/>
              </a:rPr>
              <a:t>：源寄存器编号</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err="1">
                <a:latin typeface="Times New Roman" panose="02020603050405020304" pitchFamily="18" charset="0"/>
                <a:ea typeface="+mj-ea"/>
                <a:cs typeface="Times New Roman" panose="02020603050405020304" pitchFamily="18" charset="0"/>
              </a:rPr>
              <a:t>Qj</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i="1" dirty="0" err="1">
                <a:latin typeface="Times New Roman" panose="02020603050405020304" pitchFamily="18" charset="0"/>
                <a:ea typeface="+mj-ea"/>
                <a:cs typeface="Times New Roman" panose="02020603050405020304" pitchFamily="18" charset="0"/>
              </a:rPr>
              <a:t>Qk</a:t>
            </a:r>
            <a:r>
              <a:rPr lang="zh-CN" altLang="en-US" sz="2400" b="1" dirty="0">
                <a:latin typeface="Times New Roman" panose="02020603050405020304" pitchFamily="18" charset="0"/>
                <a:ea typeface="+mj-ea"/>
                <a:cs typeface="Times New Roman" panose="02020603050405020304" pitchFamily="18" charset="0"/>
              </a:rPr>
              <a:t>：向源寄存器</a:t>
            </a:r>
            <a:r>
              <a:rPr lang="en-US" altLang="zh-CN" sz="2400" b="1" i="1" dirty="0" err="1">
                <a:latin typeface="Times New Roman" panose="02020603050405020304" pitchFamily="18" charset="0"/>
                <a:ea typeface="+mj-ea"/>
                <a:cs typeface="Times New Roman" panose="02020603050405020304" pitchFamily="18" charset="0"/>
              </a:rPr>
              <a:t>Fj</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i="1" dirty="0" err="1">
                <a:latin typeface="Times New Roman" panose="02020603050405020304" pitchFamily="18" charset="0"/>
                <a:ea typeface="+mj-ea"/>
                <a:cs typeface="Times New Roman" panose="02020603050405020304" pitchFamily="18" charset="0"/>
              </a:rPr>
              <a:t>Fk</a:t>
            </a:r>
            <a:r>
              <a:rPr lang="zh-CN" altLang="en-US" sz="2400" b="1" dirty="0">
                <a:latin typeface="Times New Roman" panose="02020603050405020304" pitchFamily="18" charset="0"/>
                <a:ea typeface="+mj-ea"/>
                <a:cs typeface="Times New Roman" panose="02020603050405020304" pitchFamily="18" charset="0"/>
              </a:rPr>
              <a:t>中写结果的功能部件</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defRPr/>
            </a:pPr>
            <a:r>
              <a:rPr lang="en-US" altLang="zh-CN" sz="2400" b="1" i="1" dirty="0" err="1">
                <a:latin typeface="Times New Roman" panose="02020603050405020304" pitchFamily="18" charset="0"/>
                <a:ea typeface="+mj-ea"/>
                <a:cs typeface="Times New Roman" panose="02020603050405020304" pitchFamily="18" charset="0"/>
              </a:rPr>
              <a:t>Rj</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i="1" dirty="0" err="1">
                <a:latin typeface="Times New Roman" panose="02020603050405020304" pitchFamily="18" charset="0"/>
                <a:ea typeface="+mj-ea"/>
                <a:cs typeface="Times New Roman" panose="02020603050405020304" pitchFamily="18" charset="0"/>
              </a:rPr>
              <a:t>Rk</a:t>
            </a:r>
            <a:r>
              <a:rPr lang="zh-CN" altLang="en-US" sz="2400" b="1" dirty="0">
                <a:latin typeface="Times New Roman" panose="02020603050405020304" pitchFamily="18" charset="0"/>
                <a:ea typeface="+mj-ea"/>
                <a:cs typeface="Times New Roman" panose="02020603050405020304" pitchFamily="18" charset="0"/>
              </a:rPr>
              <a:t>：标示</a:t>
            </a:r>
            <a:r>
              <a:rPr lang="en-US" altLang="zh-CN" sz="2400" b="1" i="1" dirty="0" err="1">
                <a:latin typeface="Times New Roman" panose="02020603050405020304" pitchFamily="18" charset="0"/>
                <a:ea typeface="+mj-ea"/>
                <a:cs typeface="Times New Roman" panose="02020603050405020304" pitchFamily="18" charset="0"/>
              </a:rPr>
              <a:t>Fj</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i="1" dirty="0" err="1">
                <a:latin typeface="Times New Roman" panose="02020603050405020304" pitchFamily="18" charset="0"/>
                <a:ea typeface="+mj-ea"/>
                <a:cs typeface="Times New Roman" panose="02020603050405020304" pitchFamily="18" charset="0"/>
              </a:rPr>
              <a:t>Fk</a:t>
            </a:r>
            <a:r>
              <a:rPr lang="zh-CN" altLang="en-US" sz="2400" b="1" dirty="0">
                <a:latin typeface="Times New Roman" panose="02020603050405020304" pitchFamily="18" charset="0"/>
                <a:ea typeface="+mj-ea"/>
                <a:cs typeface="Times New Roman" panose="02020603050405020304" pitchFamily="18" charset="0"/>
              </a:rPr>
              <a:t>是否就绪，是否已经被使用</a:t>
            </a:r>
            <a:endParaRPr lang="en-US" altLang="zh-CN" sz="2400" b="1" dirty="0">
              <a:latin typeface="Times New Roman" panose="02020603050405020304" pitchFamily="18" charset="0"/>
              <a:ea typeface="+mj-ea"/>
              <a:cs typeface="Times New Roman" panose="02020603050405020304" pitchFamily="18" charset="0"/>
            </a:endParaRPr>
          </a:p>
          <a:p>
            <a:pPr marL="438750" lvl="1" indent="-342900" eaLnBrk="1" fontAlgn="auto" hangingPunct="1">
              <a:spcAft>
                <a:spcPts val="0"/>
              </a:spcAft>
              <a:buSzPct val="100000"/>
              <a:buFont typeface="Arial" panose="020B0604020202020204" pitchFamily="34" charset="0"/>
              <a:buChar char="•"/>
              <a:defRPr/>
            </a:pPr>
            <a:r>
              <a:rPr lang="zh-CN" altLang="en-US" sz="2400" b="1" dirty="0">
                <a:solidFill>
                  <a:srgbClr val="C00000"/>
                </a:solidFill>
                <a:latin typeface="Times New Roman" panose="02020603050405020304" pitchFamily="18" charset="0"/>
                <a:ea typeface="+mj-ea"/>
                <a:cs typeface="Times New Roman" panose="02020603050405020304" pitchFamily="18" charset="0"/>
              </a:rPr>
              <a:t>结果寄存器状态表</a:t>
            </a:r>
            <a:r>
              <a:rPr lang="zh-CN" altLang="en-US" sz="2400" b="1" dirty="0">
                <a:latin typeface="Times New Roman" panose="02020603050405020304" pitchFamily="18" charset="0"/>
                <a:ea typeface="+mj-ea"/>
                <a:cs typeface="Times New Roman" panose="02020603050405020304" pitchFamily="18" charset="0"/>
              </a:rPr>
              <a:t>：记录写入寄存器的功能部件编号。</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F10F2637-124A-2599-F748-4B93772A2483}"/>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A7CDDE3-73FB-783B-11BB-C3B491F88186}"/>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9D1F872-A622-1586-1C8A-8532A795C3BA}"/>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17</a:t>
            </a:fld>
            <a:endParaRPr lang="en-US" altLang="zh-CN"/>
          </a:p>
        </p:txBody>
      </p:sp>
    </p:spTree>
    <p:extLst>
      <p:ext uri="{BB962C8B-B14F-4D97-AF65-F5344CB8AC3E}">
        <p14:creationId xmlns:p14="http://schemas.microsoft.com/office/powerpoint/2010/main" val="1524262478"/>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a:extLst>
              <a:ext uri="{FF2B5EF4-FFF2-40B4-BE49-F238E27FC236}">
                <a16:creationId xmlns:a16="http://schemas.microsoft.com/office/drawing/2014/main" id="{5B556CF9-6614-4BF7-83EC-68A8CA0E8BC3}"/>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endParaRPr lang="en-US" altLang="zh-CN" sz="32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27BC2692-0607-4E9F-BF21-D8707EA4A2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634" y="1196752"/>
            <a:ext cx="7444732" cy="4790904"/>
          </a:xfrm>
          <a:prstGeom prst="rect">
            <a:avLst/>
          </a:prstGeom>
        </p:spPr>
      </p:pic>
      <p:sp>
        <p:nvSpPr>
          <p:cNvPr id="2" name="日期占位符 1">
            <a:extLst>
              <a:ext uri="{FF2B5EF4-FFF2-40B4-BE49-F238E27FC236}">
                <a16:creationId xmlns:a16="http://schemas.microsoft.com/office/drawing/2014/main" id="{7E5D538B-769E-3672-74F7-CF9A5B150CF5}"/>
              </a:ext>
            </a:extLst>
          </p:cNvPr>
          <p:cNvSpPr>
            <a:spLocks noGrp="1"/>
          </p:cNvSpPr>
          <p:nvPr>
            <p:ph type="dt" sz="half" idx="10"/>
          </p:nvPr>
        </p:nvSpPr>
        <p:spPr/>
        <p:txBody>
          <a:bodyPr/>
          <a:lstStyle/>
          <a:p>
            <a:pPr>
              <a:defRPr/>
            </a:pPr>
            <a:fld id="{AD24EB16-BB60-4565-81DB-4BB40337C917}"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4935A17A-4D2F-B0A0-21BD-47A586BC6990}"/>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C3579997-A027-FCA9-095A-CDF458179F64}"/>
              </a:ext>
            </a:extLst>
          </p:cNvPr>
          <p:cNvSpPr>
            <a:spLocks noGrp="1"/>
          </p:cNvSpPr>
          <p:nvPr>
            <p:ph type="sldNum" sz="quarter" idx="12"/>
          </p:nvPr>
        </p:nvSpPr>
        <p:spPr/>
        <p:txBody>
          <a:bodyPr/>
          <a:lstStyle/>
          <a:p>
            <a:pPr>
              <a:defRPr/>
            </a:pPr>
            <a:fld id="{65B7EA61-351E-4105-9AD9-76D38C6E9934}" type="slidenum">
              <a:rPr lang="zh-CN" altLang="en-US" smtClean="0"/>
              <a:t>18</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idx="4294967295"/>
          </p:nvPr>
        </p:nvSpPr>
        <p:spPr>
          <a:xfrm>
            <a:off x="457200" y="-27384"/>
            <a:ext cx="8229600" cy="1143000"/>
          </a:xfrm>
        </p:spPr>
        <p:txBody>
          <a:bodyPr/>
          <a:lstStyle/>
          <a:p>
            <a:pPr eaLnBrk="1" hangingPunct="1">
              <a:defRPr/>
            </a:pPr>
            <a:r>
              <a:rPr lang="zh-CN" altLang="en-US" sz="3600" b="1" dirty="0">
                <a:latin typeface="+mj-ea"/>
              </a:rPr>
              <a:t>数据结构：程序实例</a:t>
            </a:r>
          </a:p>
        </p:txBody>
      </p:sp>
      <p:sp>
        <p:nvSpPr>
          <p:cNvPr id="129029" name="Rectangle 5"/>
          <p:cNvSpPr>
            <a:spLocks noGrp="1" noChangeArrowheads="1"/>
          </p:cNvSpPr>
          <p:nvPr>
            <p:ph type="body" idx="4294967295"/>
          </p:nvPr>
        </p:nvSpPr>
        <p:spPr>
          <a:xfrm>
            <a:off x="395288" y="836712"/>
            <a:ext cx="8229600" cy="4525962"/>
          </a:xfrm>
        </p:spPr>
        <p:txBody>
          <a:bodyPr rtlCol="0">
            <a:noAutofit/>
          </a:bodyPr>
          <a:lstStyle/>
          <a:p>
            <a:pPr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指令序列</a:t>
            </a:r>
            <a:endParaRPr lang="en-US" altLang="zh-CN" sz="2400" b="1" dirty="0">
              <a:latin typeface="Times New Roman" panose="02020603050405020304" pitchFamily="18" charset="0"/>
              <a:ea typeface="+mj-ea"/>
              <a:cs typeface="Times New Roman" panose="02020603050405020304" pitchFamily="18" charset="0"/>
            </a:endParaRP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LD		F6, 34(R2)</a:t>
            </a: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LD		F2, 45(R3)</a:t>
            </a: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MULTD	F0, F2, F4</a:t>
            </a: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SUBD	F8, F6, F2</a:t>
            </a: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DIVD	F10, F0, F6</a:t>
            </a:r>
          </a:p>
          <a:p>
            <a:pPr lvl="1" algn="just" eaLnBrk="1" fontAlgn="auto" hangingPunct="1">
              <a:spcBef>
                <a:spcPts val="76"/>
              </a:spcBef>
              <a:spcAft>
                <a:spcPts val="0"/>
              </a:spcAft>
              <a:buFont typeface="Wingdings" pitchFamily="2" charset="2"/>
              <a:buNone/>
              <a:defRPr/>
            </a:pPr>
            <a:r>
              <a:rPr lang="en-US" altLang="zh-CN" sz="2400" b="1" dirty="0">
                <a:latin typeface="Times New Roman" panose="02020603050405020304" pitchFamily="18" charset="0"/>
                <a:ea typeface="+mj-ea"/>
                <a:cs typeface="Times New Roman" panose="02020603050405020304" pitchFamily="18" charset="0"/>
              </a:rPr>
              <a:t>ADDD	F6, F8, F2</a:t>
            </a:r>
          </a:p>
          <a:p>
            <a:pPr lvl="1" algn="just" eaLnBrk="1" fontAlgn="auto" hangingPunct="1">
              <a:spcAft>
                <a:spcPts val="0"/>
              </a:spcAft>
              <a:buFont typeface="Wingdings" pitchFamily="2" charset="2"/>
              <a:buNone/>
              <a:defRPr/>
            </a:pPr>
            <a:endParaRPr lang="en-US" altLang="zh-CN" sz="2400" b="1" dirty="0">
              <a:latin typeface="Times New Roman" panose="02020603050405020304" pitchFamily="18" charset="0"/>
              <a:ea typeface="+mj-ea"/>
              <a:cs typeface="Times New Roman" panose="02020603050405020304" pitchFamily="18" charset="0"/>
            </a:endParaRPr>
          </a:p>
          <a:p>
            <a:pPr marL="424800" lvl="1" eaLnBrk="1" fontAlgn="auto" hangingPunct="1">
              <a:spcBef>
                <a:spcPts val="76"/>
              </a:spcBef>
              <a:spcAft>
                <a:spcPts val="0"/>
              </a:spcAft>
              <a:buFont typeface="Wingdings" panose="05000000000000000000" pitchFamily="2" charset="2"/>
              <a:buChar char="Ø"/>
              <a:defRPr/>
            </a:pPr>
            <a:r>
              <a:rPr lang="zh-CN" altLang="en-US" sz="2400" b="1" dirty="0">
                <a:latin typeface="Times New Roman" panose="02020603050405020304" pitchFamily="18" charset="0"/>
                <a:ea typeface="+mj-ea"/>
                <a:cs typeface="Times New Roman" panose="02020603050405020304" pitchFamily="18" charset="0"/>
              </a:rPr>
              <a:t>浮点部件执行时间延迟</a:t>
            </a:r>
          </a:p>
          <a:p>
            <a:pPr lvl="2" eaLnBrk="1" fontAlgn="auto" hangingPunct="1">
              <a:spcBef>
                <a:spcPts val="76"/>
              </a:spcBef>
              <a:spcAft>
                <a:spcPts val="0"/>
              </a:spcAft>
              <a:defRPr/>
            </a:pPr>
            <a:r>
              <a:rPr lang="zh-CN" altLang="en-US" b="1" dirty="0">
                <a:latin typeface="Times New Roman" panose="02020603050405020304" pitchFamily="18" charset="0"/>
                <a:ea typeface="+mj-ea"/>
                <a:cs typeface="Times New Roman" panose="02020603050405020304" pitchFamily="18" charset="0"/>
              </a:rPr>
              <a:t>加（减）法</a:t>
            </a:r>
            <a:r>
              <a:rPr lang="en-US" altLang="zh-CN" b="1" dirty="0">
                <a:solidFill>
                  <a:schemeClr val="hlink"/>
                </a:solidFill>
                <a:latin typeface="Times New Roman" panose="02020603050405020304" pitchFamily="18" charset="0"/>
                <a:ea typeface="+mj-ea"/>
                <a:cs typeface="Times New Roman" panose="02020603050405020304" pitchFamily="18" charset="0"/>
              </a:rPr>
              <a:t>2</a:t>
            </a:r>
            <a:r>
              <a:rPr lang="zh-CN" altLang="en-US" b="1" dirty="0">
                <a:latin typeface="Times New Roman" panose="02020603050405020304" pitchFamily="18" charset="0"/>
                <a:ea typeface="+mj-ea"/>
                <a:cs typeface="Times New Roman" panose="02020603050405020304" pitchFamily="18" charset="0"/>
              </a:rPr>
              <a:t>拍</a:t>
            </a:r>
          </a:p>
          <a:p>
            <a:pPr lvl="2" eaLnBrk="1" fontAlgn="auto" hangingPunct="1">
              <a:spcBef>
                <a:spcPts val="76"/>
              </a:spcBef>
              <a:spcAft>
                <a:spcPts val="0"/>
              </a:spcAft>
              <a:defRPr/>
            </a:pPr>
            <a:r>
              <a:rPr lang="zh-CN" altLang="en-US" b="1" dirty="0">
                <a:latin typeface="Times New Roman" panose="02020603050405020304" pitchFamily="18" charset="0"/>
                <a:ea typeface="+mj-ea"/>
                <a:cs typeface="Times New Roman" panose="02020603050405020304" pitchFamily="18" charset="0"/>
              </a:rPr>
              <a:t>乘法 </a:t>
            </a:r>
            <a:r>
              <a:rPr lang="en-US" altLang="zh-CN" b="1" dirty="0">
                <a:solidFill>
                  <a:schemeClr val="hlink"/>
                </a:solidFill>
                <a:latin typeface="Times New Roman" panose="02020603050405020304" pitchFamily="18" charset="0"/>
                <a:ea typeface="+mj-ea"/>
                <a:cs typeface="Times New Roman" panose="02020603050405020304" pitchFamily="18" charset="0"/>
              </a:rPr>
              <a:t>10</a:t>
            </a:r>
            <a:r>
              <a:rPr lang="en-US" altLang="zh-CN" b="1" dirty="0">
                <a:latin typeface="Times New Roman" panose="02020603050405020304" pitchFamily="18" charset="0"/>
                <a:ea typeface="+mj-ea"/>
                <a:cs typeface="Times New Roman" panose="02020603050405020304" pitchFamily="18" charset="0"/>
              </a:rPr>
              <a:t> </a:t>
            </a:r>
            <a:r>
              <a:rPr lang="zh-CN" altLang="en-US" b="1" dirty="0">
                <a:latin typeface="Times New Roman" panose="02020603050405020304" pitchFamily="18" charset="0"/>
                <a:ea typeface="+mj-ea"/>
                <a:cs typeface="Times New Roman" panose="02020603050405020304" pitchFamily="18" charset="0"/>
              </a:rPr>
              <a:t>拍</a:t>
            </a:r>
          </a:p>
          <a:p>
            <a:pPr lvl="2" eaLnBrk="1" fontAlgn="auto" hangingPunct="1">
              <a:spcBef>
                <a:spcPts val="76"/>
              </a:spcBef>
              <a:spcAft>
                <a:spcPts val="0"/>
              </a:spcAft>
              <a:defRPr/>
            </a:pPr>
            <a:r>
              <a:rPr lang="zh-CN" altLang="en-US" b="1" dirty="0">
                <a:latin typeface="Times New Roman" panose="02020603050405020304" pitchFamily="18" charset="0"/>
                <a:ea typeface="+mj-ea"/>
                <a:cs typeface="Times New Roman" panose="02020603050405020304" pitchFamily="18" charset="0"/>
              </a:rPr>
              <a:t>除法 </a:t>
            </a:r>
            <a:r>
              <a:rPr lang="en-US" altLang="zh-CN" b="1" dirty="0">
                <a:solidFill>
                  <a:schemeClr val="hlink"/>
                </a:solidFill>
                <a:latin typeface="Times New Roman" panose="02020603050405020304" pitchFamily="18" charset="0"/>
                <a:ea typeface="+mj-ea"/>
                <a:cs typeface="Times New Roman" panose="02020603050405020304" pitchFamily="18" charset="0"/>
              </a:rPr>
              <a:t>40</a:t>
            </a:r>
            <a:r>
              <a:rPr lang="en-US" altLang="zh-CN" b="1" dirty="0">
                <a:latin typeface="Times New Roman" panose="02020603050405020304" pitchFamily="18" charset="0"/>
                <a:ea typeface="+mj-ea"/>
                <a:cs typeface="Times New Roman" panose="02020603050405020304" pitchFamily="18" charset="0"/>
              </a:rPr>
              <a:t> </a:t>
            </a:r>
            <a:r>
              <a:rPr lang="zh-CN" altLang="en-US" b="1" dirty="0">
                <a:latin typeface="Times New Roman" panose="02020603050405020304" pitchFamily="18" charset="0"/>
                <a:ea typeface="+mj-ea"/>
                <a:cs typeface="Times New Roman" panose="02020603050405020304" pitchFamily="18" charset="0"/>
              </a:rPr>
              <a:t>拍</a:t>
            </a:r>
            <a:endParaRPr lang="en-US" altLang="zh-CN" b="1" dirty="0">
              <a:latin typeface="Times New Roman" panose="02020603050405020304" pitchFamily="18" charset="0"/>
              <a:ea typeface="+mj-ea"/>
              <a:cs typeface="Times New Roman" panose="02020603050405020304" pitchFamily="18" charset="0"/>
            </a:endParaRPr>
          </a:p>
          <a:p>
            <a:pPr marL="914400" lvl="2" indent="0" eaLnBrk="1" fontAlgn="auto" hangingPunct="1">
              <a:spcBef>
                <a:spcPts val="176"/>
              </a:spcBef>
              <a:spcAft>
                <a:spcPts val="0"/>
              </a:spcAft>
              <a:buNone/>
              <a:defRPr/>
            </a:pPr>
            <a:endParaRPr lang="en-US" altLang="zh-CN"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D879235D-23D8-3AF9-A246-CE8E318D9D79}"/>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996D662-0EF4-817D-9C18-C0AE25BC2150}"/>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470D6BA-2012-A8C3-48D3-49F8ADFE5E3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453341486"/>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descr="Rectangle: Click to edit Master text styles&#10;Second level&#10;Third level&#10;Fourth level&#10;Fifth level"/>
          <p:cNvSpPr>
            <a:spLocks noGrp="1" noChangeArrowheads="1"/>
          </p:cNvSpPr>
          <p:nvPr>
            <p:ph idx="1"/>
          </p:nvPr>
        </p:nvSpPr>
        <p:spPr>
          <a:xfrm>
            <a:off x="432656" y="3429000"/>
            <a:ext cx="8278688" cy="3152800"/>
          </a:xfrm>
        </p:spPr>
        <p:txBody>
          <a:bodyPr/>
          <a:lstStyle/>
          <a:p>
            <a:pPr eaLnBrk="1" hangingPunct="1">
              <a:spcBef>
                <a:spcPts val="276"/>
              </a:spcBef>
            </a:pPr>
            <a:r>
              <a:rPr lang="zh-CN" altLang="en-US" sz="2400" b="1" dirty="0">
                <a:solidFill>
                  <a:srgbClr val="000000"/>
                </a:solidFill>
                <a:latin typeface="宋体" pitchFamily="2" charset="-122"/>
                <a:ea typeface="宋体" pitchFamily="2" charset="-122"/>
              </a:rPr>
              <a:t>代码段存在以下相关性</a:t>
            </a:r>
            <a:r>
              <a:rPr lang="zh-CN" altLang="en-US" sz="2400" dirty="0">
                <a:solidFill>
                  <a:srgbClr val="000000"/>
                </a:solidFill>
              </a:rPr>
              <a:t>：</a:t>
            </a:r>
            <a:endParaRPr lang="en-US" altLang="zh-CN" sz="2400" dirty="0">
              <a:solidFill>
                <a:srgbClr val="000000"/>
              </a:solidFill>
            </a:endParaRPr>
          </a:p>
          <a:p>
            <a:pPr marL="0" indent="0" eaLnBrk="1" hangingPunct="1">
              <a:spcBef>
                <a:spcPts val="276"/>
              </a:spcBef>
              <a:buNone/>
            </a:pPr>
            <a:r>
              <a:rPr lang="zh-CN" altLang="en-US" sz="2400" b="1" dirty="0">
                <a:solidFill>
                  <a:srgbClr val="000000"/>
                </a:solidFill>
                <a:latin typeface="宋体" pitchFamily="2" charset="-122"/>
                <a:ea typeface="宋体" pitchFamily="2" charset="-122"/>
              </a:rPr>
              <a:t>（</a:t>
            </a:r>
            <a:r>
              <a:rPr lang="en-US" altLang="zh-CN" sz="2400" b="1" dirty="0">
                <a:solidFill>
                  <a:srgbClr val="000000"/>
                </a:solidFill>
                <a:latin typeface="宋体" pitchFamily="2" charset="-122"/>
                <a:ea typeface="宋体" pitchFamily="2" charset="-122"/>
              </a:rPr>
              <a:t>1</a:t>
            </a:r>
            <a:r>
              <a:rPr lang="zh-CN" altLang="en-US" sz="2400" b="1" dirty="0">
                <a:solidFill>
                  <a:srgbClr val="000000"/>
                </a:solidFill>
                <a:latin typeface="Times New Roman" pitchFamily="18" charset="0"/>
                <a:ea typeface="宋体" pitchFamily="2" charset="-122"/>
              </a:rPr>
              <a:t>）先写后读</a:t>
            </a:r>
            <a:r>
              <a:rPr lang="en-US" altLang="zh-CN" sz="2400" b="1" dirty="0">
                <a:solidFill>
                  <a:srgbClr val="000000"/>
                </a:solidFill>
                <a:latin typeface="Times New Roman" pitchFamily="18" charset="0"/>
                <a:ea typeface="宋体" pitchFamily="2" charset="-122"/>
              </a:rPr>
              <a:t>RAW</a:t>
            </a:r>
            <a:r>
              <a:rPr lang="zh-CN" altLang="en-US" sz="2400" b="1" dirty="0">
                <a:solidFill>
                  <a:srgbClr val="000000"/>
                </a:solidFill>
                <a:latin typeface="Times New Roman" pitchFamily="18" charset="0"/>
                <a:ea typeface="宋体" pitchFamily="2" charset="-122"/>
              </a:rPr>
              <a:t>相关：第二条</a:t>
            </a:r>
            <a:r>
              <a:rPr lang="en-US" altLang="zh-CN" sz="2400" b="1" dirty="0">
                <a:solidFill>
                  <a:srgbClr val="9933FF"/>
                </a:solidFill>
                <a:latin typeface="Times New Roman" pitchFamily="18" charset="0"/>
                <a:ea typeface="宋体" pitchFamily="2" charset="-122"/>
              </a:rPr>
              <a:t>LD</a:t>
            </a:r>
            <a:r>
              <a:rPr lang="zh-CN" altLang="en-US" sz="2400" b="1" dirty="0">
                <a:solidFill>
                  <a:srgbClr val="000000"/>
                </a:solidFill>
                <a:latin typeface="Times New Roman" pitchFamily="18" charset="0"/>
                <a:ea typeface="宋体" pitchFamily="2" charset="-122"/>
              </a:rPr>
              <a:t>到</a:t>
            </a:r>
            <a:r>
              <a:rPr lang="en-US" altLang="zh-CN" sz="2400" b="1" dirty="0">
                <a:solidFill>
                  <a:srgbClr val="9933FF"/>
                </a:solidFill>
                <a:latin typeface="Times New Roman" pitchFamily="18" charset="0"/>
                <a:ea typeface="宋体" pitchFamily="2" charset="-122"/>
              </a:rPr>
              <a:t>MULTD</a:t>
            </a:r>
            <a:r>
              <a:rPr lang="zh-CN" altLang="en-US" sz="2400" b="1" dirty="0">
                <a:solidFill>
                  <a:srgbClr val="000000"/>
                </a:solidFill>
                <a:latin typeface="Times New Roman" pitchFamily="18" charset="0"/>
                <a:ea typeface="宋体" pitchFamily="2" charset="-122"/>
              </a:rPr>
              <a:t>和</a:t>
            </a:r>
            <a:r>
              <a:rPr lang="en-US" altLang="zh-CN" sz="2400" b="1" dirty="0">
                <a:solidFill>
                  <a:srgbClr val="9933FF"/>
                </a:solidFill>
                <a:latin typeface="Times New Roman" pitchFamily="18" charset="0"/>
                <a:ea typeface="宋体" pitchFamily="2" charset="-122"/>
              </a:rPr>
              <a:t>SUBD</a:t>
            </a:r>
            <a:r>
              <a:rPr lang="zh-CN" altLang="en-US" sz="2400" b="1" dirty="0">
                <a:solidFill>
                  <a:srgbClr val="000000"/>
                </a:solidFill>
                <a:latin typeface="Times New Roman" pitchFamily="18" charset="0"/>
                <a:ea typeface="宋体" pitchFamily="2" charset="-122"/>
              </a:rPr>
              <a:t>之间， </a:t>
            </a:r>
            <a:r>
              <a:rPr lang="en-US" altLang="zh-CN" sz="2400" b="1" dirty="0">
                <a:solidFill>
                  <a:srgbClr val="9933FF"/>
                </a:solidFill>
                <a:latin typeface="Times New Roman" pitchFamily="18" charset="0"/>
                <a:ea typeface="宋体" pitchFamily="2" charset="-122"/>
              </a:rPr>
              <a:t>MULTD</a:t>
            </a:r>
            <a:r>
              <a:rPr lang="zh-CN" altLang="en-US" sz="2400" b="1" dirty="0">
                <a:solidFill>
                  <a:srgbClr val="000000"/>
                </a:solidFill>
                <a:latin typeface="Times New Roman" pitchFamily="18" charset="0"/>
                <a:ea typeface="宋体" pitchFamily="2" charset="-122"/>
              </a:rPr>
              <a:t>到</a:t>
            </a:r>
            <a:r>
              <a:rPr lang="en-US" altLang="zh-CN" sz="2400" b="1" dirty="0">
                <a:solidFill>
                  <a:srgbClr val="9933FF"/>
                </a:solidFill>
                <a:latin typeface="Times New Roman" pitchFamily="18" charset="0"/>
                <a:ea typeface="宋体" pitchFamily="2" charset="-122"/>
              </a:rPr>
              <a:t>DIVD</a:t>
            </a:r>
            <a:r>
              <a:rPr lang="zh-CN" altLang="en-US" sz="2400" b="1" dirty="0">
                <a:solidFill>
                  <a:srgbClr val="000000"/>
                </a:solidFill>
                <a:latin typeface="Times New Roman" pitchFamily="18" charset="0"/>
                <a:ea typeface="宋体" pitchFamily="2" charset="-122"/>
              </a:rPr>
              <a:t>之间，</a:t>
            </a:r>
            <a:r>
              <a:rPr lang="en-US" altLang="zh-CN" sz="2400" b="1" dirty="0">
                <a:solidFill>
                  <a:srgbClr val="9933FF"/>
                </a:solidFill>
                <a:latin typeface="Times New Roman" pitchFamily="18" charset="0"/>
                <a:ea typeface="宋体" pitchFamily="2" charset="-122"/>
              </a:rPr>
              <a:t>SUBD</a:t>
            </a:r>
            <a:r>
              <a:rPr lang="zh-CN" altLang="en-US" sz="2400" b="1" dirty="0">
                <a:solidFill>
                  <a:srgbClr val="000000"/>
                </a:solidFill>
                <a:latin typeface="Times New Roman" pitchFamily="18" charset="0"/>
                <a:ea typeface="宋体" pitchFamily="2" charset="-122"/>
              </a:rPr>
              <a:t>到</a:t>
            </a:r>
            <a:r>
              <a:rPr lang="en-US" altLang="zh-CN" sz="2400" b="1" dirty="0">
                <a:solidFill>
                  <a:srgbClr val="9933FF"/>
                </a:solidFill>
                <a:latin typeface="Times New Roman" pitchFamily="18" charset="0"/>
                <a:ea typeface="宋体" pitchFamily="2" charset="-122"/>
              </a:rPr>
              <a:t>ADDD</a:t>
            </a:r>
            <a:r>
              <a:rPr lang="zh-CN" altLang="en-US" sz="2400" b="1" dirty="0">
                <a:solidFill>
                  <a:srgbClr val="000000"/>
                </a:solidFill>
                <a:latin typeface="Times New Roman" pitchFamily="18" charset="0"/>
                <a:ea typeface="宋体" pitchFamily="2" charset="-122"/>
              </a:rPr>
              <a:t>之间；</a:t>
            </a:r>
            <a:endParaRPr lang="en-US" altLang="zh-CN" sz="2400" b="1" dirty="0">
              <a:solidFill>
                <a:srgbClr val="000000"/>
              </a:solidFill>
              <a:latin typeface="Times New Roman" pitchFamily="18" charset="0"/>
              <a:ea typeface="宋体" pitchFamily="2" charset="-122"/>
            </a:endParaRPr>
          </a:p>
          <a:p>
            <a:pPr marL="0" indent="0" eaLnBrk="1" hangingPunct="1">
              <a:spcBef>
                <a:spcPts val="276"/>
              </a:spcBef>
              <a:buNone/>
            </a:pPr>
            <a:r>
              <a:rPr lang="zh-CN" altLang="en-US" sz="2400" b="1" dirty="0">
                <a:solidFill>
                  <a:srgbClr val="000000"/>
                </a:solidFill>
                <a:latin typeface="Times New Roman" pitchFamily="18" charset="0"/>
                <a:ea typeface="宋体" pitchFamily="2" charset="-122"/>
              </a:rPr>
              <a:t>（</a:t>
            </a:r>
            <a:r>
              <a:rPr lang="en-US" altLang="zh-CN" sz="2400" b="1" dirty="0">
                <a:solidFill>
                  <a:srgbClr val="000000"/>
                </a:solidFill>
                <a:latin typeface="Times New Roman" pitchFamily="18" charset="0"/>
                <a:ea typeface="宋体" pitchFamily="2" charset="-122"/>
              </a:rPr>
              <a:t>2</a:t>
            </a:r>
            <a:r>
              <a:rPr lang="zh-CN" altLang="en-US" sz="2400" b="1" dirty="0">
                <a:solidFill>
                  <a:srgbClr val="000000"/>
                </a:solidFill>
                <a:latin typeface="Times New Roman" pitchFamily="18" charset="0"/>
                <a:ea typeface="宋体" pitchFamily="2" charset="-122"/>
              </a:rPr>
              <a:t>）先读后写</a:t>
            </a:r>
            <a:r>
              <a:rPr lang="en-US" altLang="zh-CN" sz="2400" b="1" dirty="0">
                <a:solidFill>
                  <a:srgbClr val="000000"/>
                </a:solidFill>
                <a:latin typeface="Times New Roman" pitchFamily="18" charset="0"/>
                <a:ea typeface="宋体" pitchFamily="2" charset="-122"/>
              </a:rPr>
              <a:t>WAR</a:t>
            </a:r>
            <a:r>
              <a:rPr lang="zh-CN" altLang="en-US" sz="2400" b="1" dirty="0">
                <a:solidFill>
                  <a:srgbClr val="000000"/>
                </a:solidFill>
                <a:latin typeface="Times New Roman" pitchFamily="18" charset="0"/>
                <a:ea typeface="宋体" pitchFamily="2" charset="-122"/>
              </a:rPr>
              <a:t>相关：</a:t>
            </a:r>
            <a:r>
              <a:rPr lang="en-US" altLang="zh-CN" sz="2400" b="1" dirty="0">
                <a:solidFill>
                  <a:srgbClr val="9933FF"/>
                </a:solidFill>
                <a:latin typeface="Times New Roman" pitchFamily="18" charset="0"/>
                <a:ea typeface="宋体" pitchFamily="2" charset="-122"/>
              </a:rPr>
              <a:t>DIVD</a:t>
            </a:r>
            <a:r>
              <a:rPr lang="zh-CN" altLang="en-US" sz="2400" b="1" dirty="0">
                <a:solidFill>
                  <a:srgbClr val="000000"/>
                </a:solidFill>
                <a:latin typeface="Times New Roman" pitchFamily="18" charset="0"/>
                <a:ea typeface="宋体" pitchFamily="2" charset="-122"/>
              </a:rPr>
              <a:t>和</a:t>
            </a:r>
            <a:r>
              <a:rPr lang="en-US" altLang="zh-CN" sz="2400" b="1" dirty="0">
                <a:solidFill>
                  <a:srgbClr val="9933FF"/>
                </a:solidFill>
                <a:latin typeface="Times New Roman" pitchFamily="18" charset="0"/>
                <a:ea typeface="宋体" pitchFamily="2" charset="-122"/>
              </a:rPr>
              <a:t>ADDD</a:t>
            </a:r>
            <a:r>
              <a:rPr lang="zh-CN" altLang="en-US" sz="2400" b="1" dirty="0">
                <a:solidFill>
                  <a:srgbClr val="000000"/>
                </a:solidFill>
                <a:latin typeface="Times New Roman" pitchFamily="18" charset="0"/>
                <a:ea typeface="宋体" pitchFamily="2" charset="-122"/>
              </a:rPr>
              <a:t>之间，</a:t>
            </a:r>
            <a:r>
              <a:rPr lang="en-US" altLang="zh-CN" sz="2400" b="1" dirty="0">
                <a:solidFill>
                  <a:srgbClr val="9933FF"/>
                </a:solidFill>
                <a:latin typeface="Times New Roman" pitchFamily="18" charset="0"/>
                <a:ea typeface="宋体" pitchFamily="2" charset="-122"/>
              </a:rPr>
              <a:t>SUBD</a:t>
            </a:r>
            <a:r>
              <a:rPr lang="zh-CN" altLang="en-US" sz="2400" b="1" dirty="0">
                <a:solidFill>
                  <a:srgbClr val="000000"/>
                </a:solidFill>
                <a:latin typeface="Times New Roman" pitchFamily="18" charset="0"/>
                <a:ea typeface="宋体" pitchFamily="2" charset="-122"/>
              </a:rPr>
              <a:t>和</a:t>
            </a:r>
            <a:r>
              <a:rPr lang="en-US" altLang="zh-CN" sz="2400" b="1" dirty="0">
                <a:solidFill>
                  <a:srgbClr val="9933FF"/>
                </a:solidFill>
                <a:latin typeface="Times New Roman" pitchFamily="18" charset="0"/>
                <a:ea typeface="宋体" pitchFamily="2" charset="-122"/>
              </a:rPr>
              <a:t>ADDD</a:t>
            </a:r>
            <a:r>
              <a:rPr lang="zh-CN" altLang="en-US" sz="2400" b="1" dirty="0">
                <a:solidFill>
                  <a:srgbClr val="000000"/>
                </a:solidFill>
                <a:latin typeface="Times New Roman" pitchFamily="18" charset="0"/>
                <a:ea typeface="宋体" pitchFamily="2" charset="-122"/>
              </a:rPr>
              <a:t>之间；</a:t>
            </a:r>
            <a:endParaRPr lang="en-US" altLang="zh-CN" sz="2400" b="1" dirty="0">
              <a:solidFill>
                <a:srgbClr val="000000"/>
              </a:solidFill>
              <a:latin typeface="Times New Roman" pitchFamily="18" charset="0"/>
              <a:ea typeface="宋体" pitchFamily="2" charset="-122"/>
            </a:endParaRPr>
          </a:p>
          <a:p>
            <a:pPr marL="0" indent="0" eaLnBrk="1" hangingPunct="1">
              <a:spcBef>
                <a:spcPts val="276"/>
              </a:spcBef>
              <a:buNone/>
            </a:pPr>
            <a:r>
              <a:rPr lang="zh-CN" altLang="en-US" sz="2400" b="1" dirty="0">
                <a:solidFill>
                  <a:srgbClr val="000000"/>
                </a:solidFill>
                <a:latin typeface="Times New Roman" pitchFamily="18" charset="0"/>
                <a:ea typeface="宋体" pitchFamily="2" charset="-122"/>
              </a:rPr>
              <a:t>（</a:t>
            </a:r>
            <a:r>
              <a:rPr lang="en-US" altLang="zh-CN" sz="2400" b="1" dirty="0">
                <a:solidFill>
                  <a:srgbClr val="000000"/>
                </a:solidFill>
                <a:latin typeface="Times New Roman" pitchFamily="18" charset="0"/>
                <a:ea typeface="宋体" pitchFamily="2" charset="-122"/>
              </a:rPr>
              <a:t>3</a:t>
            </a:r>
            <a:r>
              <a:rPr lang="zh-CN" altLang="en-US" sz="2400" b="1" dirty="0">
                <a:solidFill>
                  <a:srgbClr val="000000"/>
                </a:solidFill>
                <a:latin typeface="Times New Roman" pitchFamily="18" charset="0"/>
                <a:ea typeface="宋体" pitchFamily="2" charset="-122"/>
              </a:rPr>
              <a:t>）写后写</a:t>
            </a:r>
            <a:r>
              <a:rPr lang="en-US" altLang="zh-CN" sz="2400" b="1" dirty="0">
                <a:solidFill>
                  <a:srgbClr val="000000"/>
                </a:solidFill>
                <a:latin typeface="Times New Roman" pitchFamily="18" charset="0"/>
                <a:ea typeface="宋体" pitchFamily="2" charset="-122"/>
              </a:rPr>
              <a:t>WAW</a:t>
            </a:r>
            <a:r>
              <a:rPr lang="zh-CN" altLang="en-US" sz="2400" b="1" dirty="0">
                <a:solidFill>
                  <a:srgbClr val="000000"/>
                </a:solidFill>
                <a:latin typeface="Times New Roman" pitchFamily="18" charset="0"/>
                <a:ea typeface="宋体" pitchFamily="2" charset="-122"/>
              </a:rPr>
              <a:t>相关：第一条</a:t>
            </a:r>
            <a:r>
              <a:rPr lang="en-US" altLang="zh-CN" sz="2400" b="1" dirty="0">
                <a:solidFill>
                  <a:srgbClr val="000000"/>
                </a:solidFill>
                <a:latin typeface="Times New Roman" pitchFamily="18" charset="0"/>
                <a:ea typeface="宋体" pitchFamily="2" charset="-122"/>
              </a:rPr>
              <a:t>LD</a:t>
            </a:r>
            <a:r>
              <a:rPr lang="zh-CN" altLang="en-US" sz="2400" b="1" dirty="0">
                <a:solidFill>
                  <a:srgbClr val="000000"/>
                </a:solidFill>
                <a:latin typeface="Times New Roman" pitchFamily="18" charset="0"/>
                <a:ea typeface="宋体" pitchFamily="2" charset="-122"/>
              </a:rPr>
              <a:t>和</a:t>
            </a:r>
            <a:r>
              <a:rPr lang="en-US" altLang="zh-CN" sz="2400" b="1" dirty="0">
                <a:solidFill>
                  <a:srgbClr val="000000"/>
                </a:solidFill>
                <a:latin typeface="Times New Roman" pitchFamily="18" charset="0"/>
                <a:ea typeface="宋体" pitchFamily="2" charset="-122"/>
              </a:rPr>
              <a:t>ADDD</a:t>
            </a:r>
            <a:r>
              <a:rPr lang="zh-CN" altLang="en-US" sz="2400" b="1" dirty="0">
                <a:solidFill>
                  <a:srgbClr val="000000"/>
                </a:solidFill>
                <a:latin typeface="Times New Roman" pitchFamily="18" charset="0"/>
                <a:ea typeface="宋体" pitchFamily="2" charset="-122"/>
              </a:rPr>
              <a:t>之间；</a:t>
            </a:r>
            <a:endParaRPr lang="en-US" altLang="zh-CN" sz="2400" b="1" dirty="0">
              <a:solidFill>
                <a:srgbClr val="000000"/>
              </a:solidFill>
              <a:latin typeface="Times New Roman" pitchFamily="18" charset="0"/>
              <a:ea typeface="宋体" pitchFamily="2" charset="-122"/>
            </a:endParaRPr>
          </a:p>
          <a:p>
            <a:pPr marL="0" indent="0" eaLnBrk="1" hangingPunct="1">
              <a:spcBef>
                <a:spcPts val="276"/>
              </a:spcBef>
              <a:buNone/>
            </a:pPr>
            <a:r>
              <a:rPr lang="zh-CN" altLang="en-US" sz="2400" b="1" dirty="0">
                <a:solidFill>
                  <a:srgbClr val="000000"/>
                </a:solidFill>
                <a:latin typeface="Times New Roman" pitchFamily="18" charset="0"/>
                <a:ea typeface="宋体" pitchFamily="2" charset="-122"/>
              </a:rPr>
              <a:t>（</a:t>
            </a:r>
            <a:r>
              <a:rPr lang="en-US" altLang="zh-CN" sz="2400" b="1" dirty="0">
                <a:solidFill>
                  <a:srgbClr val="000000"/>
                </a:solidFill>
                <a:latin typeface="Times New Roman" pitchFamily="18" charset="0"/>
                <a:ea typeface="宋体" pitchFamily="2" charset="-122"/>
              </a:rPr>
              <a:t>4</a:t>
            </a:r>
            <a:r>
              <a:rPr lang="zh-CN" altLang="en-US" sz="2400" b="1" dirty="0">
                <a:solidFill>
                  <a:srgbClr val="000000"/>
                </a:solidFill>
                <a:latin typeface="Times New Roman" pitchFamily="18" charset="0"/>
                <a:ea typeface="宋体" pitchFamily="2" charset="-122"/>
              </a:rPr>
              <a:t>）结构冲突：</a:t>
            </a:r>
            <a:r>
              <a:rPr lang="en-US" altLang="zh-CN" sz="2400" b="1" dirty="0">
                <a:solidFill>
                  <a:srgbClr val="9933FF"/>
                </a:solidFill>
                <a:latin typeface="Times New Roman" pitchFamily="18" charset="0"/>
                <a:ea typeface="宋体" pitchFamily="2" charset="-122"/>
              </a:rPr>
              <a:t>ADDD</a:t>
            </a:r>
            <a:r>
              <a:rPr lang="zh-CN" altLang="en-US" sz="2400" b="1" dirty="0">
                <a:solidFill>
                  <a:srgbClr val="000000"/>
                </a:solidFill>
                <a:latin typeface="Times New Roman" pitchFamily="18" charset="0"/>
                <a:ea typeface="宋体" pitchFamily="2" charset="-122"/>
              </a:rPr>
              <a:t>和</a:t>
            </a:r>
            <a:r>
              <a:rPr lang="en-US" altLang="zh-CN" sz="2400" b="1" dirty="0">
                <a:solidFill>
                  <a:srgbClr val="9933FF"/>
                </a:solidFill>
                <a:latin typeface="Times New Roman" pitchFamily="18" charset="0"/>
                <a:ea typeface="宋体" pitchFamily="2" charset="-122"/>
              </a:rPr>
              <a:t>SUBD</a:t>
            </a:r>
            <a:r>
              <a:rPr lang="zh-CN" altLang="en-US" sz="2400" b="1" dirty="0">
                <a:solidFill>
                  <a:srgbClr val="000000"/>
                </a:solidFill>
                <a:latin typeface="Times New Roman" pitchFamily="18" charset="0"/>
                <a:ea typeface="宋体" pitchFamily="2" charset="-122"/>
              </a:rPr>
              <a:t>指令关于浮点加法部件。</a:t>
            </a:r>
            <a:endParaRPr lang="en-US" altLang="zh-CN" sz="2400" dirty="0">
              <a:solidFill>
                <a:srgbClr val="000000"/>
              </a:solidFill>
            </a:endParaRPr>
          </a:p>
        </p:txBody>
      </p:sp>
      <p:sp>
        <p:nvSpPr>
          <p:cNvPr id="2" name="矩形 1"/>
          <p:cNvSpPr/>
          <p:nvPr/>
        </p:nvSpPr>
        <p:spPr>
          <a:xfrm>
            <a:off x="467544" y="404664"/>
            <a:ext cx="4572000" cy="2828467"/>
          </a:xfrm>
          <a:prstGeom prst="rect">
            <a:avLst/>
          </a:prstGeom>
        </p:spPr>
        <p:txBody>
          <a:bodyPr>
            <a:spAutoFit/>
          </a:bodyPr>
          <a:lstStyle/>
          <a:p>
            <a:pPr marL="342900" indent="-342900" eaLnBrk="1" fontAlgn="auto" hangingPunct="1">
              <a:lnSpc>
                <a:spcPct val="120000"/>
              </a:lnSpc>
              <a:spcAft>
                <a:spcPts val="0"/>
              </a:spcAft>
              <a:buFont typeface="Arial" panose="020B0604020202020204" pitchFamily="34" charset="0"/>
              <a:buChar char="•"/>
              <a:defRPr/>
            </a:pPr>
            <a:r>
              <a:rPr lang="zh-CN" altLang="en-US" sz="2400" dirty="0">
                <a:latin typeface="Times New Roman" panose="02020603050405020304" pitchFamily="18" charset="0"/>
                <a:cs typeface="Times New Roman" panose="02020603050405020304" pitchFamily="18" charset="0"/>
              </a:rPr>
              <a:t>指令序列</a:t>
            </a:r>
            <a:endParaRPr lang="en-US" altLang="zh-CN" sz="2400" dirty="0">
              <a:latin typeface="Times New Roman" panose="02020603050405020304" pitchFamily="18" charset="0"/>
              <a:cs typeface="Times New Roman" panose="02020603050405020304" pitchFamily="18" charset="0"/>
            </a:endParaRP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LD		F6, 34(R2)</a:t>
            </a: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LD		F2, 45(R3)</a:t>
            </a: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MULTD	F0, F2, F4</a:t>
            </a: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SUBD	F8, F6, F2</a:t>
            </a: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DIVD	F10, F0, F6</a:t>
            </a:r>
          </a:p>
          <a:p>
            <a:pPr lvl="1" algn="just" eaLnBrk="1" fontAlgn="auto" hangingPunct="1">
              <a:spcBef>
                <a:spcPts val="76"/>
              </a:spcBef>
              <a:spcAft>
                <a:spcPts val="0"/>
              </a:spcAft>
              <a:buFont typeface="Wingdings" pitchFamily="2" charset="2"/>
              <a:buNone/>
              <a:defRPr/>
            </a:pPr>
            <a:r>
              <a:rPr lang="en-US" altLang="zh-CN" sz="2400" dirty="0">
                <a:latin typeface="Times New Roman" panose="02020603050405020304" pitchFamily="18" charset="0"/>
                <a:cs typeface="Times New Roman" panose="02020603050405020304" pitchFamily="18" charset="0"/>
              </a:rPr>
              <a:t>ADDD	F6, F8, F2</a:t>
            </a:r>
          </a:p>
        </p:txBody>
      </p:sp>
      <p:sp>
        <p:nvSpPr>
          <p:cNvPr id="3" name="日期占位符 2">
            <a:extLst>
              <a:ext uri="{FF2B5EF4-FFF2-40B4-BE49-F238E27FC236}">
                <a16:creationId xmlns:a16="http://schemas.microsoft.com/office/drawing/2014/main" id="{AC2B7792-94B7-F702-8DF3-5B3158677757}"/>
              </a:ext>
            </a:extLst>
          </p:cNvPr>
          <p:cNvSpPr>
            <a:spLocks noGrp="1"/>
          </p:cNvSpPr>
          <p:nvPr>
            <p:ph type="dt" sz="half" idx="10"/>
          </p:nvPr>
        </p:nvSpPr>
        <p:spPr/>
        <p:txBody>
          <a:bodyPr/>
          <a:lstStyle/>
          <a:p>
            <a:pPr>
              <a:defRPr/>
            </a:pPr>
            <a:fld id="{518D67AA-7799-4FB8-B119-AD297FD3E1E2}"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F9208BAF-D572-A281-A395-CECE9F659027}"/>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B96AE2C6-6F36-59FD-DF2D-B30D79F57943}"/>
              </a:ext>
            </a:extLst>
          </p:cNvPr>
          <p:cNvSpPr>
            <a:spLocks noGrp="1"/>
          </p:cNvSpPr>
          <p:nvPr>
            <p:ph type="sldNum" sz="quarter" idx="12"/>
          </p:nvPr>
        </p:nvSpPr>
        <p:spPr/>
        <p:txBody>
          <a:bodyPr/>
          <a:lstStyle/>
          <a:p>
            <a:pPr>
              <a:defRPr/>
            </a:pPr>
            <a:fld id="{8BCAC33D-D29A-48B3-BCD6-381D3D720D26}" type="slidenum">
              <a:rPr lang="zh-CN" altLang="en-US" smtClean="0"/>
              <a:t>20</a:t>
            </a:fld>
            <a:endParaRPr lang="en-US" altLang="zh-CN"/>
          </a:p>
        </p:txBody>
      </p:sp>
    </p:spTree>
    <p:extLst>
      <p:ext uri="{BB962C8B-B14F-4D97-AF65-F5344CB8AC3E}">
        <p14:creationId xmlns:p14="http://schemas.microsoft.com/office/powerpoint/2010/main" val="192701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1">
            <a:extLst>
              <a:ext uri="{FF2B5EF4-FFF2-40B4-BE49-F238E27FC236}">
                <a16:creationId xmlns:a16="http://schemas.microsoft.com/office/drawing/2014/main" id="{9B1C629B-02E2-4B76-A309-CCD66B8EB3A1}"/>
              </a:ext>
            </a:extLst>
          </p:cNvPr>
          <p:cNvGraphicFramePr>
            <a:graphicFrameLocks noChangeAspect="1"/>
          </p:cNvGraphicFramePr>
          <p:nvPr/>
        </p:nvGraphicFramePr>
        <p:xfrm>
          <a:off x="381000" y="119221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89090" name="Object 1">
                        <a:extLst>
                          <a:ext uri="{FF2B5EF4-FFF2-40B4-BE49-F238E27FC236}">
                            <a16:creationId xmlns:a16="http://schemas.microsoft.com/office/drawing/2014/main" id="{9B1C629B-02E2-4B76-A309-CCD66B8EB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19221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1" name="AutoShape 2">
            <a:extLst>
              <a:ext uri="{FF2B5EF4-FFF2-40B4-BE49-F238E27FC236}">
                <a16:creationId xmlns:a16="http://schemas.microsoft.com/office/drawing/2014/main" id="{8C5104A3-A161-4EEB-96ED-8FC061B687AF}"/>
              </a:ext>
            </a:extLst>
          </p:cNvPr>
          <p:cNvSpPr>
            <a:spLocks noChangeArrowheads="1"/>
          </p:cNvSpPr>
          <p:nvPr/>
        </p:nvSpPr>
        <p:spPr bwMode="auto">
          <a:xfrm>
            <a:off x="2814638" y="1481138"/>
            <a:ext cx="758825" cy="7588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9092" name="AutoShape 3">
            <a:extLst>
              <a:ext uri="{FF2B5EF4-FFF2-40B4-BE49-F238E27FC236}">
                <a16:creationId xmlns:a16="http://schemas.microsoft.com/office/drawing/2014/main" id="{1A10A789-B0A1-44EB-9DD7-3813064F7417}"/>
              </a:ext>
            </a:extLst>
          </p:cNvPr>
          <p:cNvSpPr>
            <a:spLocks noChangeArrowheads="1"/>
          </p:cNvSpPr>
          <p:nvPr/>
        </p:nvSpPr>
        <p:spPr bwMode="auto">
          <a:xfrm>
            <a:off x="730250" y="5646738"/>
            <a:ext cx="758825" cy="7588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9093" name="AutoShape 4">
            <a:extLst>
              <a:ext uri="{FF2B5EF4-FFF2-40B4-BE49-F238E27FC236}">
                <a16:creationId xmlns:a16="http://schemas.microsoft.com/office/drawing/2014/main" id="{D80AC51A-6210-4C13-B65C-41783E64684C}"/>
              </a:ext>
            </a:extLst>
          </p:cNvPr>
          <p:cNvSpPr>
            <a:spLocks noChangeArrowheads="1"/>
          </p:cNvSpPr>
          <p:nvPr/>
        </p:nvSpPr>
        <p:spPr bwMode="auto">
          <a:xfrm>
            <a:off x="4724400" y="5600700"/>
            <a:ext cx="758825" cy="7588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9094" name="AutoShape 5">
            <a:extLst>
              <a:ext uri="{FF2B5EF4-FFF2-40B4-BE49-F238E27FC236}">
                <a16:creationId xmlns:a16="http://schemas.microsoft.com/office/drawing/2014/main" id="{456A55C7-DE17-4AC5-8EC8-B8D8BB162B1A}"/>
              </a:ext>
            </a:extLst>
          </p:cNvPr>
          <p:cNvSpPr>
            <a:spLocks noChangeArrowheads="1"/>
          </p:cNvSpPr>
          <p:nvPr/>
        </p:nvSpPr>
        <p:spPr bwMode="auto">
          <a:xfrm>
            <a:off x="2743200" y="3645024"/>
            <a:ext cx="6019800" cy="5302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9095" name="Text Box 6">
            <a:extLst>
              <a:ext uri="{FF2B5EF4-FFF2-40B4-BE49-F238E27FC236}">
                <a16:creationId xmlns:a16="http://schemas.microsoft.com/office/drawing/2014/main" id="{F9AC0B00-63E0-4628-ADF2-4F3D48AC858A}"/>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a:t>
            </a:r>
          </a:p>
        </p:txBody>
      </p:sp>
      <p:sp>
        <p:nvSpPr>
          <p:cNvPr id="2" name="日期占位符 1">
            <a:extLst>
              <a:ext uri="{FF2B5EF4-FFF2-40B4-BE49-F238E27FC236}">
                <a16:creationId xmlns:a16="http://schemas.microsoft.com/office/drawing/2014/main" id="{22C93145-580A-D86E-033F-8F2FBA3B5F42}"/>
              </a:ext>
            </a:extLst>
          </p:cNvPr>
          <p:cNvSpPr>
            <a:spLocks noGrp="1"/>
          </p:cNvSpPr>
          <p:nvPr>
            <p:ph type="dt" sz="half" idx="10"/>
          </p:nvPr>
        </p:nvSpPr>
        <p:spPr/>
        <p:txBody>
          <a:bodyPr/>
          <a:lstStyle/>
          <a:p>
            <a:pPr>
              <a:defRPr/>
            </a:pPr>
            <a:fld id="{84D61DAA-CE66-4438-B18D-D286C2FF9CCC}"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1ABECB1F-C016-BF84-A1A9-4B0DC81BB52C}"/>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FA41CA6D-1F43-CC58-6084-C2AE1FA5B0C4}"/>
              </a:ext>
            </a:extLst>
          </p:cNvPr>
          <p:cNvSpPr>
            <a:spLocks noGrp="1"/>
          </p:cNvSpPr>
          <p:nvPr>
            <p:ph type="sldNum" sz="quarter" idx="12"/>
          </p:nvPr>
        </p:nvSpPr>
        <p:spPr/>
        <p:txBody>
          <a:bodyPr/>
          <a:lstStyle/>
          <a:p>
            <a:pPr>
              <a:defRPr/>
            </a:pPr>
            <a:fld id="{65B7EA61-351E-4105-9AD9-76D38C6E9934}" type="slidenum">
              <a:rPr lang="zh-CN" altLang="en-US" smtClean="0"/>
              <a:t>21</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8" name="Object 1">
            <a:extLst>
              <a:ext uri="{FF2B5EF4-FFF2-40B4-BE49-F238E27FC236}">
                <a16:creationId xmlns:a16="http://schemas.microsoft.com/office/drawing/2014/main" id="{66EDA7A6-5BA7-4D79-832B-556EEC3F58EB}"/>
              </a:ext>
            </a:extLst>
          </p:cNvPr>
          <p:cNvGraphicFramePr>
            <a:graphicFrameLocks noChangeAspect="1"/>
          </p:cNvGraphicFramePr>
          <p:nvPr/>
        </p:nvGraphicFramePr>
        <p:xfrm>
          <a:off x="381000" y="103981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91138" name="Object 1">
                        <a:extLst>
                          <a:ext uri="{FF2B5EF4-FFF2-40B4-BE49-F238E27FC236}">
                            <a16:creationId xmlns:a16="http://schemas.microsoft.com/office/drawing/2014/main" id="{66EDA7A6-5BA7-4D79-832B-556EEC3F58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981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4" name="Rectangle 2">
            <a:extLst>
              <a:ext uri="{FF2B5EF4-FFF2-40B4-BE49-F238E27FC236}">
                <a16:creationId xmlns:a16="http://schemas.microsoft.com/office/drawing/2014/main" id="{AA9822FC-18EB-4A2B-86F6-A4EBB73FB83C}"/>
              </a:ext>
            </a:extLst>
          </p:cNvPr>
          <p:cNvSpPr>
            <a:spLocks noChangeArrowheads="1"/>
          </p:cNvSpPr>
          <p:nvPr/>
        </p:nvSpPr>
        <p:spPr bwMode="auto">
          <a:xfrm>
            <a:off x="5868144" y="1562100"/>
            <a:ext cx="30845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Issue 2nd LD?</a:t>
            </a:r>
          </a:p>
        </p:txBody>
      </p:sp>
      <p:sp>
        <p:nvSpPr>
          <p:cNvPr id="91140" name="AutoShape 3">
            <a:extLst>
              <a:ext uri="{FF2B5EF4-FFF2-40B4-BE49-F238E27FC236}">
                <a16:creationId xmlns:a16="http://schemas.microsoft.com/office/drawing/2014/main" id="{0B293B25-443B-4920-9ECF-E63E17FA4857}"/>
              </a:ext>
            </a:extLst>
          </p:cNvPr>
          <p:cNvSpPr>
            <a:spLocks noChangeArrowheads="1"/>
          </p:cNvSpPr>
          <p:nvPr/>
        </p:nvSpPr>
        <p:spPr bwMode="auto">
          <a:xfrm>
            <a:off x="3389313" y="1011238"/>
            <a:ext cx="758825" cy="1071562"/>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9" name="Text Box 6">
            <a:extLst>
              <a:ext uri="{FF2B5EF4-FFF2-40B4-BE49-F238E27FC236}">
                <a16:creationId xmlns:a16="http://schemas.microsoft.com/office/drawing/2014/main" id="{DB1EAF8D-B23E-4098-92A0-6A3F349D0EA1}"/>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2</a:t>
            </a:r>
          </a:p>
        </p:txBody>
      </p:sp>
      <p:sp>
        <p:nvSpPr>
          <p:cNvPr id="2" name="日期占位符 1">
            <a:extLst>
              <a:ext uri="{FF2B5EF4-FFF2-40B4-BE49-F238E27FC236}">
                <a16:creationId xmlns:a16="http://schemas.microsoft.com/office/drawing/2014/main" id="{FDA9E5B6-8B43-8D9D-499E-E3368BAA4E7A}"/>
              </a:ext>
            </a:extLst>
          </p:cNvPr>
          <p:cNvSpPr>
            <a:spLocks noGrp="1"/>
          </p:cNvSpPr>
          <p:nvPr>
            <p:ph type="dt" sz="half" idx="10"/>
          </p:nvPr>
        </p:nvSpPr>
        <p:spPr/>
        <p:txBody>
          <a:bodyPr/>
          <a:lstStyle/>
          <a:p>
            <a:pPr>
              <a:defRPr/>
            </a:pPr>
            <a:fld id="{522777C7-74D5-4318-9F3D-622182B1F206}"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D56A383A-7C8F-91C4-732C-4584236F4292}"/>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DBF427C-C68B-7C56-5FFA-BFFCBE542C83}"/>
              </a:ext>
            </a:extLst>
          </p:cNvPr>
          <p:cNvSpPr>
            <a:spLocks noGrp="1"/>
          </p:cNvSpPr>
          <p:nvPr>
            <p:ph type="sldNum" sz="quarter" idx="12"/>
          </p:nvPr>
        </p:nvSpPr>
        <p:spPr/>
        <p:txBody>
          <a:bodyPr/>
          <a:lstStyle/>
          <a:p>
            <a:pPr>
              <a:defRPr/>
            </a:pPr>
            <a:fld id="{65B7EA61-351E-4105-9AD9-76D38C6E9934}" type="slidenum">
              <a:rPr lang="zh-CN" altLang="en-US" smtClean="0"/>
              <a:t>22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44034"/>
                                        </p:tgtEl>
                                        <p:attrNameLst>
                                          <p:attrName>style.visibility</p:attrName>
                                        </p:attrNameLst>
                                      </p:cBhvr>
                                      <p:to>
                                        <p:strVal val="visible"/>
                                      </p:to>
                                    </p:set>
                                    <p:anim calcmode="lin" valueType="num">
                                      <p:cBhvr>
                                        <p:cTn id="7" dur="500" fill="hold"/>
                                        <p:tgtEl>
                                          <p:spTgt spid="44034"/>
                                        </p:tgtEl>
                                        <p:attrNameLst>
                                          <p:attrName>ppt_x</p:attrName>
                                        </p:attrNameLst>
                                      </p:cBhvr>
                                      <p:tavLst>
                                        <p:tav tm="100000">
                                          <p:val>
                                            <p:strVal val="1+#ppt_w/2"/>
                                          </p:val>
                                        </p:tav>
                                        <p:tav>
                                          <p:val>
                                            <p:strVal val="#ppt_x"/>
                                          </p:val>
                                        </p:tav>
                                      </p:tavLst>
                                    </p:anim>
                                    <p:anim calcmode="lin" valueType="num">
                                      <p:cBhvr>
                                        <p:cTn id="8" dur="500" fill="hold"/>
                                        <p:tgtEl>
                                          <p:spTgt spid="44034"/>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6" name="Object 1">
            <a:extLst>
              <a:ext uri="{FF2B5EF4-FFF2-40B4-BE49-F238E27FC236}">
                <a16:creationId xmlns:a16="http://schemas.microsoft.com/office/drawing/2014/main" id="{1EDDC37E-6F2D-4D81-8661-07A6F258009F}"/>
              </a:ext>
            </a:extLst>
          </p:cNvPr>
          <p:cNvGraphicFramePr>
            <a:graphicFrameLocks noChangeAspect="1"/>
          </p:cNvGraphicFramePr>
          <p:nvPr/>
        </p:nvGraphicFramePr>
        <p:xfrm>
          <a:off x="381000" y="109220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93186" name="Object 1">
                        <a:extLst>
                          <a:ext uri="{FF2B5EF4-FFF2-40B4-BE49-F238E27FC236}">
                            <a16:creationId xmlns:a16="http://schemas.microsoft.com/office/drawing/2014/main" id="{1EDDC37E-6F2D-4D81-8661-07A6F25800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9220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8" name="Rectangle 2">
            <a:extLst>
              <a:ext uri="{FF2B5EF4-FFF2-40B4-BE49-F238E27FC236}">
                <a16:creationId xmlns:a16="http://schemas.microsoft.com/office/drawing/2014/main" id="{08D52989-AA48-46FB-8989-8685C9CC0955}"/>
              </a:ext>
            </a:extLst>
          </p:cNvPr>
          <p:cNvSpPr>
            <a:spLocks noChangeArrowheads="1"/>
          </p:cNvSpPr>
          <p:nvPr/>
        </p:nvSpPr>
        <p:spPr bwMode="auto">
          <a:xfrm>
            <a:off x="5861484" y="1408013"/>
            <a:ext cx="275503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Issue MULT?</a:t>
            </a:r>
          </a:p>
        </p:txBody>
      </p:sp>
      <p:sp>
        <p:nvSpPr>
          <p:cNvPr id="93188" name="AutoShape 3">
            <a:extLst>
              <a:ext uri="{FF2B5EF4-FFF2-40B4-BE49-F238E27FC236}">
                <a16:creationId xmlns:a16="http://schemas.microsoft.com/office/drawing/2014/main" id="{D06CB19E-C0AE-47FF-97F2-426A3A998CF1}"/>
              </a:ext>
            </a:extLst>
          </p:cNvPr>
          <p:cNvSpPr>
            <a:spLocks noChangeArrowheads="1"/>
          </p:cNvSpPr>
          <p:nvPr/>
        </p:nvSpPr>
        <p:spPr bwMode="auto">
          <a:xfrm>
            <a:off x="4029075" y="1052513"/>
            <a:ext cx="758825" cy="1071562"/>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93189" name="AutoShape 4">
            <a:extLst>
              <a:ext uri="{FF2B5EF4-FFF2-40B4-BE49-F238E27FC236}">
                <a16:creationId xmlns:a16="http://schemas.microsoft.com/office/drawing/2014/main" id="{A87A55CE-7682-4147-BACF-C5396A59F172}"/>
              </a:ext>
            </a:extLst>
          </p:cNvPr>
          <p:cNvSpPr>
            <a:spLocks noChangeArrowheads="1"/>
          </p:cNvSpPr>
          <p:nvPr/>
        </p:nvSpPr>
        <p:spPr bwMode="auto">
          <a:xfrm>
            <a:off x="7772400" y="3232150"/>
            <a:ext cx="758825" cy="1071563"/>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0" name="Text Box 6">
            <a:extLst>
              <a:ext uri="{FF2B5EF4-FFF2-40B4-BE49-F238E27FC236}">
                <a16:creationId xmlns:a16="http://schemas.microsoft.com/office/drawing/2014/main" id="{8D8B54D9-611B-4688-A4DE-48D4668A9E8C}"/>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3</a:t>
            </a:r>
          </a:p>
        </p:txBody>
      </p:sp>
      <p:sp>
        <p:nvSpPr>
          <p:cNvPr id="2" name="日期占位符 1">
            <a:extLst>
              <a:ext uri="{FF2B5EF4-FFF2-40B4-BE49-F238E27FC236}">
                <a16:creationId xmlns:a16="http://schemas.microsoft.com/office/drawing/2014/main" id="{E38C3F5E-9B69-C889-BFF9-8F6437F7F93B}"/>
              </a:ext>
            </a:extLst>
          </p:cNvPr>
          <p:cNvSpPr>
            <a:spLocks noGrp="1"/>
          </p:cNvSpPr>
          <p:nvPr>
            <p:ph type="dt" sz="half" idx="10"/>
          </p:nvPr>
        </p:nvSpPr>
        <p:spPr/>
        <p:txBody>
          <a:bodyPr/>
          <a:lstStyle/>
          <a:p>
            <a:pPr>
              <a:defRPr/>
            </a:pPr>
            <a:fld id="{DE10FE17-9071-41AD-AA2B-7D75746FA9C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6F64FA83-2411-ACE8-7A02-03D43E7643DF}"/>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D9EA3B81-BE8D-26E9-B02C-9B042E6B47EF}"/>
              </a:ext>
            </a:extLst>
          </p:cNvPr>
          <p:cNvSpPr>
            <a:spLocks noGrp="1"/>
          </p:cNvSpPr>
          <p:nvPr>
            <p:ph type="sldNum" sz="quarter" idx="12"/>
          </p:nvPr>
        </p:nvSpPr>
        <p:spPr/>
        <p:txBody>
          <a:bodyPr/>
          <a:lstStyle/>
          <a:p>
            <a:pPr>
              <a:defRPr/>
            </a:pPr>
            <a:fld id="{65B7EA61-351E-4105-9AD9-76D38C6E9934}" type="slidenum">
              <a:rPr lang="zh-CN" altLang="en-US" smtClean="0"/>
              <a:t>23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45058"/>
                                        </p:tgtEl>
                                        <p:attrNameLst>
                                          <p:attrName>style.visibility</p:attrName>
                                        </p:attrNameLst>
                                      </p:cBhvr>
                                      <p:to>
                                        <p:strVal val="visible"/>
                                      </p:to>
                                    </p:set>
                                    <p:anim calcmode="lin" valueType="num">
                                      <p:cBhvr>
                                        <p:cTn id="7" dur="500" fill="hold"/>
                                        <p:tgtEl>
                                          <p:spTgt spid="45058"/>
                                        </p:tgtEl>
                                        <p:attrNameLst>
                                          <p:attrName>ppt_x</p:attrName>
                                        </p:attrNameLst>
                                      </p:cBhvr>
                                      <p:tavLst>
                                        <p:tav tm="100000">
                                          <p:val>
                                            <p:strVal val="1+#ppt_w/2"/>
                                          </p:val>
                                        </p:tav>
                                        <p:tav>
                                          <p:val>
                                            <p:strVal val="#ppt_x"/>
                                          </p:val>
                                        </p:tav>
                                      </p:tavLst>
                                    </p:anim>
                                    <p:anim calcmode="lin" valueType="num">
                                      <p:cBhvr>
                                        <p:cTn id="8" dur="500" fill="hold"/>
                                        <p:tgtEl>
                                          <p:spTgt spid="45058"/>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1">
            <a:extLst>
              <a:ext uri="{FF2B5EF4-FFF2-40B4-BE49-F238E27FC236}">
                <a16:creationId xmlns:a16="http://schemas.microsoft.com/office/drawing/2014/main" id="{F4282424-2895-4CD4-A26F-3A180FFA11DD}"/>
              </a:ext>
            </a:extLst>
          </p:cNvPr>
          <p:cNvGraphicFramePr>
            <a:graphicFrameLocks noChangeAspect="1"/>
          </p:cNvGraphicFramePr>
          <p:nvPr/>
        </p:nvGraphicFramePr>
        <p:xfrm>
          <a:off x="381000" y="98901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95234" name="Object 1">
                        <a:extLst>
                          <a:ext uri="{FF2B5EF4-FFF2-40B4-BE49-F238E27FC236}">
                            <a16:creationId xmlns:a16="http://schemas.microsoft.com/office/drawing/2014/main" id="{F4282424-2895-4CD4-A26F-3A180FFA11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8901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5" name="AutoShape 2">
            <a:extLst>
              <a:ext uri="{FF2B5EF4-FFF2-40B4-BE49-F238E27FC236}">
                <a16:creationId xmlns:a16="http://schemas.microsoft.com/office/drawing/2014/main" id="{CE7290FA-FA2E-4D46-9462-282C12431348}"/>
              </a:ext>
            </a:extLst>
          </p:cNvPr>
          <p:cNvSpPr>
            <a:spLocks noChangeArrowheads="1"/>
          </p:cNvSpPr>
          <p:nvPr/>
        </p:nvSpPr>
        <p:spPr bwMode="auto">
          <a:xfrm>
            <a:off x="4652963" y="949325"/>
            <a:ext cx="758825" cy="1071563"/>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95236" name="AutoShape 3">
            <a:extLst>
              <a:ext uri="{FF2B5EF4-FFF2-40B4-BE49-F238E27FC236}">
                <a16:creationId xmlns:a16="http://schemas.microsoft.com/office/drawing/2014/main" id="{46620FEA-7C3D-488F-B31C-74452961B848}"/>
              </a:ext>
            </a:extLst>
          </p:cNvPr>
          <p:cNvSpPr>
            <a:spLocks noChangeArrowheads="1"/>
          </p:cNvSpPr>
          <p:nvPr/>
        </p:nvSpPr>
        <p:spPr bwMode="auto">
          <a:xfrm>
            <a:off x="2743200" y="3497263"/>
            <a:ext cx="6019800" cy="5302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9" name="Text Box 6">
            <a:extLst>
              <a:ext uri="{FF2B5EF4-FFF2-40B4-BE49-F238E27FC236}">
                <a16:creationId xmlns:a16="http://schemas.microsoft.com/office/drawing/2014/main" id="{E7380F0F-CBF2-400C-B42F-799A53DE16B5}"/>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4</a:t>
            </a:r>
          </a:p>
        </p:txBody>
      </p:sp>
      <p:sp>
        <p:nvSpPr>
          <p:cNvPr id="2" name="日期占位符 1">
            <a:extLst>
              <a:ext uri="{FF2B5EF4-FFF2-40B4-BE49-F238E27FC236}">
                <a16:creationId xmlns:a16="http://schemas.microsoft.com/office/drawing/2014/main" id="{9E482402-6DE3-0F28-67FB-931090A9741C}"/>
              </a:ext>
            </a:extLst>
          </p:cNvPr>
          <p:cNvSpPr>
            <a:spLocks noGrp="1"/>
          </p:cNvSpPr>
          <p:nvPr>
            <p:ph type="dt" sz="half" idx="10"/>
          </p:nvPr>
        </p:nvSpPr>
        <p:spPr/>
        <p:txBody>
          <a:bodyPr/>
          <a:lstStyle/>
          <a:p>
            <a:pPr>
              <a:defRPr/>
            </a:pPr>
            <a:fld id="{ACDFDF74-27FD-4101-9651-D3C0DC2FA059}"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71838CC0-FFAC-8121-EFD8-50BE7CBF12C8}"/>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59FCE510-155B-4986-B605-6BB76E152113}"/>
              </a:ext>
            </a:extLst>
          </p:cNvPr>
          <p:cNvSpPr>
            <a:spLocks noGrp="1"/>
          </p:cNvSpPr>
          <p:nvPr>
            <p:ph type="sldNum" sz="quarter" idx="12"/>
          </p:nvPr>
        </p:nvSpPr>
        <p:spPr/>
        <p:txBody>
          <a:bodyPr/>
          <a:lstStyle/>
          <a:p>
            <a:pPr>
              <a:defRPr/>
            </a:pPr>
            <a:fld id="{65B7EA61-351E-4105-9AD9-76D38C6E9934}" type="slidenum">
              <a:rPr lang="zh-CN" altLang="en-US" smtClean="0"/>
              <a:t>24</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Object 1">
            <a:extLst>
              <a:ext uri="{FF2B5EF4-FFF2-40B4-BE49-F238E27FC236}">
                <a16:creationId xmlns:a16="http://schemas.microsoft.com/office/drawing/2014/main" id="{CC48E98D-1405-4359-866D-E077F2A49CAF}"/>
              </a:ext>
            </a:extLst>
          </p:cNvPr>
          <p:cNvGraphicFramePr>
            <a:graphicFrameLocks noChangeAspect="1"/>
          </p:cNvGraphicFramePr>
          <p:nvPr/>
        </p:nvGraphicFramePr>
        <p:xfrm>
          <a:off x="381000" y="98901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97282" name="Object 1">
                        <a:extLst>
                          <a:ext uri="{FF2B5EF4-FFF2-40B4-BE49-F238E27FC236}">
                            <a16:creationId xmlns:a16="http://schemas.microsoft.com/office/drawing/2014/main" id="{CC48E98D-1405-4359-866D-E077F2A49C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8901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3" name="AutoShape 2">
            <a:extLst>
              <a:ext uri="{FF2B5EF4-FFF2-40B4-BE49-F238E27FC236}">
                <a16:creationId xmlns:a16="http://schemas.microsoft.com/office/drawing/2014/main" id="{BCF96EA5-72F0-4848-AEAE-D9662D2E4D12}"/>
              </a:ext>
            </a:extLst>
          </p:cNvPr>
          <p:cNvSpPr>
            <a:spLocks noChangeArrowheads="1"/>
          </p:cNvSpPr>
          <p:nvPr/>
        </p:nvSpPr>
        <p:spPr bwMode="auto">
          <a:xfrm>
            <a:off x="2743200" y="3474839"/>
            <a:ext cx="6019800" cy="5302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 name="Text Box 6">
            <a:extLst>
              <a:ext uri="{FF2B5EF4-FFF2-40B4-BE49-F238E27FC236}">
                <a16:creationId xmlns:a16="http://schemas.microsoft.com/office/drawing/2014/main" id="{B9597282-9F45-477C-9532-58AF3364BF33}"/>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5</a:t>
            </a:r>
          </a:p>
        </p:txBody>
      </p:sp>
      <p:sp>
        <p:nvSpPr>
          <p:cNvPr id="2" name="日期占位符 1">
            <a:extLst>
              <a:ext uri="{FF2B5EF4-FFF2-40B4-BE49-F238E27FC236}">
                <a16:creationId xmlns:a16="http://schemas.microsoft.com/office/drawing/2014/main" id="{45AD33E3-F39B-15F2-FF75-BEC2FDB36129}"/>
              </a:ext>
            </a:extLst>
          </p:cNvPr>
          <p:cNvSpPr>
            <a:spLocks noGrp="1"/>
          </p:cNvSpPr>
          <p:nvPr>
            <p:ph type="dt" sz="half" idx="10"/>
          </p:nvPr>
        </p:nvSpPr>
        <p:spPr/>
        <p:txBody>
          <a:bodyPr/>
          <a:lstStyle/>
          <a:p>
            <a:pPr>
              <a:defRPr/>
            </a:pPr>
            <a:fld id="{F3182983-D3CA-4C6D-851E-8AA82CF3596B}"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57F5908F-FDA5-5558-2BE0-594528F8F2CB}"/>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21B9141C-DE07-3A05-E4BA-067DFEC1B42F}"/>
              </a:ext>
            </a:extLst>
          </p:cNvPr>
          <p:cNvSpPr>
            <a:spLocks noGrp="1"/>
          </p:cNvSpPr>
          <p:nvPr>
            <p:ph type="sldNum" sz="quarter" idx="12"/>
          </p:nvPr>
        </p:nvSpPr>
        <p:spPr/>
        <p:txBody>
          <a:bodyPr/>
          <a:lstStyle/>
          <a:p>
            <a:pPr>
              <a:defRPr/>
            </a:pPr>
            <a:fld id="{65B7EA61-351E-4105-9AD9-76D38C6E9934}" type="slidenum">
              <a:rPr lang="zh-CN" altLang="en-US" smtClean="0"/>
              <a:t>25</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0" name="Object 1">
            <a:extLst>
              <a:ext uri="{FF2B5EF4-FFF2-40B4-BE49-F238E27FC236}">
                <a16:creationId xmlns:a16="http://schemas.microsoft.com/office/drawing/2014/main" id="{4317B0B3-0FE9-48E5-89DE-C9202E49EE39}"/>
              </a:ext>
            </a:extLst>
          </p:cNvPr>
          <p:cNvGraphicFramePr>
            <a:graphicFrameLocks noChangeAspect="1"/>
          </p:cNvGraphicFramePr>
          <p:nvPr/>
        </p:nvGraphicFramePr>
        <p:xfrm>
          <a:off x="381000" y="109220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99330" name="Object 1">
                        <a:extLst>
                          <a:ext uri="{FF2B5EF4-FFF2-40B4-BE49-F238E27FC236}">
                            <a16:creationId xmlns:a16="http://schemas.microsoft.com/office/drawing/2014/main" id="{4317B0B3-0FE9-48E5-89DE-C9202E49E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9220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31" name="AutoShape 2">
            <a:extLst>
              <a:ext uri="{FF2B5EF4-FFF2-40B4-BE49-F238E27FC236}">
                <a16:creationId xmlns:a16="http://schemas.microsoft.com/office/drawing/2014/main" id="{03A7B81E-6ECB-4E31-AD70-811E8637801C}"/>
              </a:ext>
            </a:extLst>
          </p:cNvPr>
          <p:cNvSpPr>
            <a:spLocks noChangeArrowheads="1"/>
          </p:cNvSpPr>
          <p:nvPr/>
        </p:nvSpPr>
        <p:spPr bwMode="auto">
          <a:xfrm>
            <a:off x="2725738" y="3983038"/>
            <a:ext cx="6019800" cy="5302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 name="Text Box 6">
            <a:extLst>
              <a:ext uri="{FF2B5EF4-FFF2-40B4-BE49-F238E27FC236}">
                <a16:creationId xmlns:a16="http://schemas.microsoft.com/office/drawing/2014/main" id="{1173AB45-1B56-4552-BE07-D3ACACBE4F7B}"/>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6</a:t>
            </a:r>
          </a:p>
        </p:txBody>
      </p:sp>
      <p:sp>
        <p:nvSpPr>
          <p:cNvPr id="2" name="日期占位符 1">
            <a:extLst>
              <a:ext uri="{FF2B5EF4-FFF2-40B4-BE49-F238E27FC236}">
                <a16:creationId xmlns:a16="http://schemas.microsoft.com/office/drawing/2014/main" id="{F70AC7F2-713B-780B-9EBE-E999DBF52474}"/>
              </a:ext>
            </a:extLst>
          </p:cNvPr>
          <p:cNvSpPr>
            <a:spLocks noGrp="1"/>
          </p:cNvSpPr>
          <p:nvPr>
            <p:ph type="dt" sz="half" idx="10"/>
          </p:nvPr>
        </p:nvSpPr>
        <p:spPr/>
        <p:txBody>
          <a:bodyPr/>
          <a:lstStyle/>
          <a:p>
            <a:pPr>
              <a:defRPr/>
            </a:pPr>
            <a:fld id="{1BF7AF4E-CD01-42DB-B1F7-07DDCE8D54D6}"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552E58B5-55C1-4DB6-0791-4C3EC1632956}"/>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3262772A-7532-7136-B856-1CDA170D1DED}"/>
              </a:ext>
            </a:extLst>
          </p:cNvPr>
          <p:cNvSpPr>
            <a:spLocks noGrp="1"/>
          </p:cNvSpPr>
          <p:nvPr>
            <p:ph type="sldNum" sz="quarter" idx="12"/>
          </p:nvPr>
        </p:nvSpPr>
        <p:spPr/>
        <p:txBody>
          <a:bodyPr/>
          <a:lstStyle/>
          <a:p>
            <a:pPr>
              <a:defRPr/>
            </a:pPr>
            <a:fld id="{65B7EA61-351E-4105-9AD9-76D38C6E9934}" type="slidenum">
              <a:rPr lang="zh-CN" altLang="en-US" smtClean="0"/>
              <a:t>26</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8" name="Object 1">
            <a:extLst>
              <a:ext uri="{FF2B5EF4-FFF2-40B4-BE49-F238E27FC236}">
                <a16:creationId xmlns:a16="http://schemas.microsoft.com/office/drawing/2014/main" id="{5D85AA30-A6D8-4623-8728-58B3C48C9A5F}"/>
              </a:ext>
            </a:extLst>
          </p:cNvPr>
          <p:cNvGraphicFramePr>
            <a:graphicFrameLocks noChangeAspect="1"/>
          </p:cNvGraphicFramePr>
          <p:nvPr/>
        </p:nvGraphicFramePr>
        <p:xfrm>
          <a:off x="381000" y="106680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01378" name="Object 1">
                        <a:extLst>
                          <a:ext uri="{FF2B5EF4-FFF2-40B4-BE49-F238E27FC236}">
                            <a16:creationId xmlns:a16="http://schemas.microsoft.com/office/drawing/2014/main" id="{5D85AA30-A6D8-4623-8728-58B3C48C9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6680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4" name="Rectangle 2">
            <a:extLst>
              <a:ext uri="{FF2B5EF4-FFF2-40B4-BE49-F238E27FC236}">
                <a16:creationId xmlns:a16="http://schemas.microsoft.com/office/drawing/2014/main" id="{E5A98925-F91F-4979-B210-CE991F601114}"/>
              </a:ext>
            </a:extLst>
          </p:cNvPr>
          <p:cNvSpPr>
            <a:spLocks noChangeArrowheads="1"/>
          </p:cNvSpPr>
          <p:nvPr/>
        </p:nvSpPr>
        <p:spPr bwMode="auto">
          <a:xfrm>
            <a:off x="6077322" y="1556792"/>
            <a:ext cx="2818656"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Read multiply operands?</a:t>
            </a:r>
          </a:p>
        </p:txBody>
      </p:sp>
      <p:sp>
        <p:nvSpPr>
          <p:cNvPr id="101380" name="AutoShape 3">
            <a:extLst>
              <a:ext uri="{FF2B5EF4-FFF2-40B4-BE49-F238E27FC236}">
                <a16:creationId xmlns:a16="http://schemas.microsoft.com/office/drawing/2014/main" id="{EDCDDA53-31D2-43CE-B089-C8B479F0BCC0}"/>
              </a:ext>
            </a:extLst>
          </p:cNvPr>
          <p:cNvSpPr>
            <a:spLocks noChangeArrowheads="1"/>
          </p:cNvSpPr>
          <p:nvPr/>
        </p:nvSpPr>
        <p:spPr bwMode="auto">
          <a:xfrm>
            <a:off x="2667000" y="4419600"/>
            <a:ext cx="6019800" cy="53022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01384" name="Text Box 7">
            <a:extLst>
              <a:ext uri="{FF2B5EF4-FFF2-40B4-BE49-F238E27FC236}">
                <a16:creationId xmlns:a16="http://schemas.microsoft.com/office/drawing/2014/main" id="{397DCE0F-DA7C-4F57-A20B-7F2F38146F54}"/>
              </a:ext>
            </a:extLst>
          </p:cNvPr>
          <p:cNvSpPr txBox="1">
            <a:spLocks noChangeArrowheads="1"/>
          </p:cNvSpPr>
          <p:nvPr/>
        </p:nvSpPr>
        <p:spPr bwMode="auto">
          <a:xfrm>
            <a:off x="6457950" y="6356350"/>
            <a:ext cx="20574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r" eaLnBrk="1" hangingPunct="1">
              <a:lnSpc>
                <a:spcPct val="100000"/>
              </a:lnSpc>
              <a:spcBef>
                <a:spcPct val="0"/>
              </a:spcBef>
              <a:buClrTx/>
              <a:buFontTx/>
              <a:buNone/>
            </a:pPr>
            <a:fld id="{45F6DD59-313A-43AB-A35C-67D625319F78}" type="slidenum">
              <a:rPr lang="zh-CN" altLang="zh-CN" sz="1200">
                <a:solidFill>
                  <a:srgbClr val="898989"/>
                </a:solidFill>
              </a:rPr>
              <a:pPr algn="r" eaLnBrk="1" hangingPunct="1">
                <a:lnSpc>
                  <a:spcPct val="100000"/>
                </a:lnSpc>
                <a:spcBef>
                  <a:spcPct val="0"/>
                </a:spcBef>
                <a:buClrTx/>
                <a:buFontTx/>
                <a:buNone/>
              </a:pPr>
              <a:t>27</a:t>
            </a:fld>
            <a:endParaRPr lang="zh-CN" altLang="zh-CN" sz="1200">
              <a:solidFill>
                <a:srgbClr val="898989"/>
              </a:solidFill>
            </a:endParaRPr>
          </a:p>
        </p:txBody>
      </p:sp>
      <p:sp>
        <p:nvSpPr>
          <p:cNvPr id="9" name="Text Box 6">
            <a:extLst>
              <a:ext uri="{FF2B5EF4-FFF2-40B4-BE49-F238E27FC236}">
                <a16:creationId xmlns:a16="http://schemas.microsoft.com/office/drawing/2014/main" id="{BA061CF4-F261-427D-9727-DD137C4F46B3}"/>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7</a:t>
            </a:r>
          </a:p>
        </p:txBody>
      </p:sp>
      <p:sp>
        <p:nvSpPr>
          <p:cNvPr id="2" name="日期占位符 1">
            <a:extLst>
              <a:ext uri="{FF2B5EF4-FFF2-40B4-BE49-F238E27FC236}">
                <a16:creationId xmlns:a16="http://schemas.microsoft.com/office/drawing/2014/main" id="{5F19E0EA-D68E-1EC1-8571-02F864B5DC8D}"/>
              </a:ext>
            </a:extLst>
          </p:cNvPr>
          <p:cNvSpPr>
            <a:spLocks noGrp="1"/>
          </p:cNvSpPr>
          <p:nvPr>
            <p:ph type="dt" sz="half" idx="10"/>
          </p:nvPr>
        </p:nvSpPr>
        <p:spPr/>
        <p:txBody>
          <a:bodyPr/>
          <a:lstStyle/>
          <a:p>
            <a:pPr>
              <a:defRPr/>
            </a:pPr>
            <a:fld id="{AEDAA9CD-D88D-4299-A242-D869813CE1F1}"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8F086F41-0F08-67A5-52E0-8AAEA5AB03E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6DE578C-1CF8-AFEB-936E-550B55536725}"/>
              </a:ext>
            </a:extLst>
          </p:cNvPr>
          <p:cNvSpPr>
            <a:spLocks noGrp="1"/>
          </p:cNvSpPr>
          <p:nvPr>
            <p:ph type="sldNum" sz="quarter" idx="12"/>
          </p:nvPr>
        </p:nvSpPr>
        <p:spPr/>
        <p:txBody>
          <a:bodyPr/>
          <a:lstStyle/>
          <a:p>
            <a:pPr>
              <a:defRPr/>
            </a:pPr>
            <a:fld id="{65B7EA61-351E-4105-9AD9-76D38C6E9934}" type="slidenum">
              <a:rPr lang="zh-CN" altLang="en-US" smtClean="0"/>
              <a:t>27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49154"/>
                                        </p:tgtEl>
                                        <p:attrNameLst>
                                          <p:attrName>style.visibility</p:attrName>
                                        </p:attrNameLst>
                                      </p:cBhvr>
                                      <p:to>
                                        <p:strVal val="visible"/>
                                      </p:to>
                                    </p:set>
                                    <p:anim calcmode="lin" valueType="num">
                                      <p:cBhvr>
                                        <p:cTn id="7" dur="500" fill="hold"/>
                                        <p:tgtEl>
                                          <p:spTgt spid="49154"/>
                                        </p:tgtEl>
                                        <p:attrNameLst>
                                          <p:attrName>ppt_x</p:attrName>
                                        </p:attrNameLst>
                                      </p:cBhvr>
                                      <p:tavLst>
                                        <p:tav tm="100000">
                                          <p:val>
                                            <p:strVal val="1+#ppt_w/2"/>
                                          </p:val>
                                        </p:tav>
                                        <p:tav>
                                          <p:val>
                                            <p:strVal val="#ppt_x"/>
                                          </p:val>
                                        </p:tav>
                                      </p:tavLst>
                                    </p:anim>
                                    <p:anim calcmode="lin" valueType="num">
                                      <p:cBhvr>
                                        <p:cTn id="8" dur="500" fill="hold"/>
                                        <p:tgtEl>
                                          <p:spTgt spid="49154"/>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1">
            <a:extLst>
              <a:ext uri="{FF2B5EF4-FFF2-40B4-BE49-F238E27FC236}">
                <a16:creationId xmlns:a16="http://schemas.microsoft.com/office/drawing/2014/main" id="{12B586ED-140E-4969-99CD-41DF48551335}"/>
              </a:ext>
            </a:extLst>
          </p:cNvPr>
          <p:cNvGraphicFramePr>
            <a:graphicFrameLocks noChangeAspect="1"/>
          </p:cNvGraphicFramePr>
          <p:nvPr/>
        </p:nvGraphicFramePr>
        <p:xfrm>
          <a:off x="381000" y="107156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03426" name="Object 1">
                        <a:extLst>
                          <a:ext uri="{FF2B5EF4-FFF2-40B4-BE49-F238E27FC236}">
                            <a16:creationId xmlns:a16="http://schemas.microsoft.com/office/drawing/2014/main" id="{12B586ED-140E-4969-99CD-41DF485513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7156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EFFBE797-DEE3-4218-A93D-22D76C2C4472}"/>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8a (</a:t>
            </a:r>
            <a:r>
              <a:rPr lang="zh-CN" altLang="en-US" sz="3200" dirty="0">
                <a:latin typeface="Times New Roman" panose="02020603050405020304" pitchFamily="18" charset="0"/>
                <a:cs typeface="Times New Roman" panose="02020603050405020304" pitchFamily="18" charset="0"/>
              </a:rPr>
              <a:t>前半拍</a:t>
            </a:r>
            <a:r>
              <a:rPr lang="en-US" altLang="zh-CN" sz="3200" dirty="0">
                <a:latin typeface="Times New Roman" panose="02020603050405020304" pitchFamily="18" charset="0"/>
                <a:cs typeface="Times New Roman" panose="02020603050405020304" pitchFamily="18" charset="0"/>
              </a:rPr>
              <a:t>)</a:t>
            </a:r>
          </a:p>
        </p:txBody>
      </p:sp>
      <p:sp>
        <p:nvSpPr>
          <p:cNvPr id="4" name="AutoShape 3">
            <a:extLst>
              <a:ext uri="{FF2B5EF4-FFF2-40B4-BE49-F238E27FC236}">
                <a16:creationId xmlns:a16="http://schemas.microsoft.com/office/drawing/2014/main" id="{62E636C1-62BB-4CC2-919F-F93D7AFA9892}"/>
              </a:ext>
            </a:extLst>
          </p:cNvPr>
          <p:cNvSpPr>
            <a:spLocks noChangeArrowheads="1"/>
          </p:cNvSpPr>
          <p:nvPr/>
        </p:nvSpPr>
        <p:spPr bwMode="auto">
          <a:xfrm>
            <a:off x="2776736" y="4725144"/>
            <a:ext cx="6019800" cy="360040"/>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日期占位符 1">
            <a:extLst>
              <a:ext uri="{FF2B5EF4-FFF2-40B4-BE49-F238E27FC236}">
                <a16:creationId xmlns:a16="http://schemas.microsoft.com/office/drawing/2014/main" id="{FA4B9D40-8A52-0DA3-7763-990490530577}"/>
              </a:ext>
            </a:extLst>
          </p:cNvPr>
          <p:cNvSpPr>
            <a:spLocks noGrp="1"/>
          </p:cNvSpPr>
          <p:nvPr>
            <p:ph type="dt" sz="half" idx="10"/>
          </p:nvPr>
        </p:nvSpPr>
        <p:spPr/>
        <p:txBody>
          <a:bodyPr/>
          <a:lstStyle/>
          <a:p>
            <a:pPr>
              <a:defRPr/>
            </a:pPr>
            <a:fld id="{EEA9E38D-4F5D-4968-8FE9-C844E70E3E47}"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454818BD-A607-6E68-2694-AF48E91B0E3C}"/>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58F76F14-6B19-E5AA-8099-EB41CCB5E063}"/>
              </a:ext>
            </a:extLst>
          </p:cNvPr>
          <p:cNvSpPr>
            <a:spLocks noGrp="1"/>
          </p:cNvSpPr>
          <p:nvPr>
            <p:ph type="sldNum" sz="quarter" idx="12"/>
          </p:nvPr>
        </p:nvSpPr>
        <p:spPr/>
        <p:txBody>
          <a:bodyPr/>
          <a:lstStyle/>
          <a:p>
            <a:pPr>
              <a:defRPr/>
            </a:pPr>
            <a:fld id="{65B7EA61-351E-4105-9AD9-76D38C6E9934}" type="slidenum">
              <a:rPr lang="zh-CN" altLang="en-US" smtClean="0"/>
              <a:t>28</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1">
            <a:extLst>
              <a:ext uri="{FF2B5EF4-FFF2-40B4-BE49-F238E27FC236}">
                <a16:creationId xmlns:a16="http://schemas.microsoft.com/office/drawing/2014/main" id="{BB730F51-124B-46B4-B0A9-CF061371F409}"/>
              </a:ext>
            </a:extLst>
          </p:cNvPr>
          <p:cNvGraphicFramePr>
            <a:graphicFrameLocks noChangeAspect="1"/>
          </p:cNvGraphicFramePr>
          <p:nvPr/>
        </p:nvGraphicFramePr>
        <p:xfrm>
          <a:off x="381000" y="1030288"/>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05474" name="Object 1">
                        <a:extLst>
                          <a:ext uri="{FF2B5EF4-FFF2-40B4-BE49-F238E27FC236}">
                            <a16:creationId xmlns:a16="http://schemas.microsoft.com/office/drawing/2014/main" id="{BB730F51-124B-46B4-B0A9-CF061371F4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028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33B8AB3D-18AF-465E-BAF7-E6E647211205}"/>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8b (</a:t>
            </a:r>
            <a:r>
              <a:rPr lang="zh-CN" altLang="en-US" sz="3200" dirty="0">
                <a:latin typeface="Times New Roman" panose="02020603050405020304" pitchFamily="18" charset="0"/>
                <a:cs typeface="Times New Roman" panose="02020603050405020304" pitchFamily="18" charset="0"/>
              </a:rPr>
              <a:t>后半拍</a:t>
            </a:r>
            <a:r>
              <a:rPr lang="en-US" altLang="zh-CN" sz="3200" dirty="0">
                <a:latin typeface="Times New Roman" panose="02020603050405020304" pitchFamily="18" charset="0"/>
                <a:cs typeface="Times New Roman" panose="02020603050405020304" pitchFamily="18" charset="0"/>
              </a:rPr>
              <a:t>)</a:t>
            </a:r>
          </a:p>
        </p:txBody>
      </p:sp>
      <p:sp>
        <p:nvSpPr>
          <p:cNvPr id="5" name="AutoShape 3">
            <a:extLst>
              <a:ext uri="{FF2B5EF4-FFF2-40B4-BE49-F238E27FC236}">
                <a16:creationId xmlns:a16="http://schemas.microsoft.com/office/drawing/2014/main" id="{68515CAE-8142-446D-B184-158DF035B5BA}"/>
              </a:ext>
            </a:extLst>
          </p:cNvPr>
          <p:cNvSpPr>
            <a:spLocks noChangeArrowheads="1"/>
          </p:cNvSpPr>
          <p:nvPr/>
        </p:nvSpPr>
        <p:spPr bwMode="auto">
          <a:xfrm>
            <a:off x="2743200" y="3933056"/>
            <a:ext cx="6019800" cy="360040"/>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6" name="AutoShape 3">
            <a:extLst>
              <a:ext uri="{FF2B5EF4-FFF2-40B4-BE49-F238E27FC236}">
                <a16:creationId xmlns:a16="http://schemas.microsoft.com/office/drawing/2014/main" id="{D04C428A-5DAB-4C12-8651-9D22D1B2534E}"/>
              </a:ext>
            </a:extLst>
          </p:cNvPr>
          <p:cNvSpPr>
            <a:spLocks noChangeArrowheads="1"/>
          </p:cNvSpPr>
          <p:nvPr/>
        </p:nvSpPr>
        <p:spPr bwMode="auto">
          <a:xfrm>
            <a:off x="2743200" y="4408984"/>
            <a:ext cx="6019800" cy="360040"/>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日期占位符 1">
            <a:extLst>
              <a:ext uri="{FF2B5EF4-FFF2-40B4-BE49-F238E27FC236}">
                <a16:creationId xmlns:a16="http://schemas.microsoft.com/office/drawing/2014/main" id="{EEE4AF76-BD8D-1F90-8E8D-8965CFA756F1}"/>
              </a:ext>
            </a:extLst>
          </p:cNvPr>
          <p:cNvSpPr>
            <a:spLocks noGrp="1"/>
          </p:cNvSpPr>
          <p:nvPr>
            <p:ph type="dt" sz="half" idx="10"/>
          </p:nvPr>
        </p:nvSpPr>
        <p:spPr/>
        <p:txBody>
          <a:bodyPr/>
          <a:lstStyle/>
          <a:p>
            <a:pPr>
              <a:defRPr/>
            </a:pPr>
            <a:fld id="{C75E64DC-D300-4318-B7AA-ADF4CED05F06}"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772F3F9D-DB5D-1E67-9830-D0A665D6C32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B9B8ED72-200F-DF01-F701-2CF9F5CF159C}"/>
              </a:ext>
            </a:extLst>
          </p:cNvPr>
          <p:cNvSpPr>
            <a:spLocks noGrp="1"/>
          </p:cNvSpPr>
          <p:nvPr>
            <p:ph type="sldNum" sz="quarter" idx="12"/>
          </p:nvPr>
        </p:nvSpPr>
        <p:spPr/>
        <p:txBody>
          <a:bodyPr/>
          <a:lstStyle/>
          <a:p>
            <a:pPr>
              <a:defRPr/>
            </a:pPr>
            <a:fld id="{65B7EA61-351E-4105-9AD9-76D38C6E9934}" type="slidenum">
              <a:rPr lang="zh-CN" altLang="en-US" smtClean="0"/>
              <a:t>29</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522" name="Object 1">
            <a:extLst>
              <a:ext uri="{FF2B5EF4-FFF2-40B4-BE49-F238E27FC236}">
                <a16:creationId xmlns:a16="http://schemas.microsoft.com/office/drawing/2014/main" id="{D4A35EEB-D166-424C-BFCE-0C34572D1E88}"/>
              </a:ext>
            </a:extLst>
          </p:cNvPr>
          <p:cNvGraphicFramePr>
            <a:graphicFrameLocks noChangeAspect="1"/>
          </p:cNvGraphicFramePr>
          <p:nvPr>
            <p:extLst>
              <p:ext uri="{D42A27DB-BD31-4B8C-83A1-F6EECF244321}">
                <p14:modId xmlns:p14="http://schemas.microsoft.com/office/powerpoint/2010/main" val="1047205573"/>
              </p:ext>
            </p:extLst>
          </p:nvPr>
        </p:nvGraphicFramePr>
        <p:xfrm>
          <a:off x="400047" y="96703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07522" name="Object 1">
                        <a:extLst>
                          <a:ext uri="{FF2B5EF4-FFF2-40B4-BE49-F238E27FC236}">
                            <a16:creationId xmlns:a16="http://schemas.microsoft.com/office/drawing/2014/main" id="{D4A35EEB-D166-424C-BFCE-0C34572D1E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47" y="96703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6" name="Rectangle 2">
            <a:extLst>
              <a:ext uri="{FF2B5EF4-FFF2-40B4-BE49-F238E27FC236}">
                <a16:creationId xmlns:a16="http://schemas.microsoft.com/office/drawing/2014/main" id="{6020CFEF-ACBB-4A46-A505-EE9F6ABD559E}"/>
              </a:ext>
            </a:extLst>
          </p:cNvPr>
          <p:cNvSpPr>
            <a:spLocks noChangeArrowheads="1"/>
          </p:cNvSpPr>
          <p:nvPr/>
        </p:nvSpPr>
        <p:spPr bwMode="auto">
          <a:xfrm>
            <a:off x="5879042" y="1700808"/>
            <a:ext cx="2626891"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Issue ADDD?</a:t>
            </a:r>
          </a:p>
        </p:txBody>
      </p:sp>
      <p:sp>
        <p:nvSpPr>
          <p:cNvPr id="10" name="Text Box 6">
            <a:extLst>
              <a:ext uri="{FF2B5EF4-FFF2-40B4-BE49-F238E27FC236}">
                <a16:creationId xmlns:a16="http://schemas.microsoft.com/office/drawing/2014/main" id="{16E8B353-A368-497D-A552-61B19D930FE8}"/>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9</a:t>
            </a:r>
          </a:p>
        </p:txBody>
      </p:sp>
      <p:sp>
        <p:nvSpPr>
          <p:cNvPr id="2" name="日期占位符 1">
            <a:extLst>
              <a:ext uri="{FF2B5EF4-FFF2-40B4-BE49-F238E27FC236}">
                <a16:creationId xmlns:a16="http://schemas.microsoft.com/office/drawing/2014/main" id="{3602D07F-7A3D-6EFF-A9EA-191164ECE469}"/>
              </a:ext>
            </a:extLst>
          </p:cNvPr>
          <p:cNvSpPr>
            <a:spLocks noGrp="1"/>
          </p:cNvSpPr>
          <p:nvPr>
            <p:ph type="dt" sz="half" idx="10"/>
          </p:nvPr>
        </p:nvSpPr>
        <p:spPr/>
        <p:txBody>
          <a:bodyPr/>
          <a:lstStyle/>
          <a:p>
            <a:pPr>
              <a:defRPr/>
            </a:pPr>
            <a:fld id="{601BD934-2987-46FD-B6DC-D03EAE74D493}"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C8806C6-E81F-7B31-356E-39F24FAFDADC}"/>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B2C76E90-216E-E49B-71C7-B58A132360B2}"/>
              </a:ext>
            </a:extLst>
          </p:cNvPr>
          <p:cNvSpPr>
            <a:spLocks noGrp="1"/>
          </p:cNvSpPr>
          <p:nvPr>
            <p:ph type="sldNum" sz="quarter" idx="12"/>
          </p:nvPr>
        </p:nvSpPr>
        <p:spPr/>
        <p:txBody>
          <a:bodyPr/>
          <a:lstStyle/>
          <a:p>
            <a:pPr>
              <a:defRPr/>
            </a:pPr>
            <a:fld id="{65B7EA61-351E-4105-9AD9-76D38C6E9934}" type="slidenum">
              <a:rPr lang="zh-CN" altLang="en-US" smtClean="0"/>
              <a:t>30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52226"/>
                                        </p:tgtEl>
                                        <p:attrNameLst>
                                          <p:attrName>style.visibility</p:attrName>
                                        </p:attrNameLst>
                                      </p:cBhvr>
                                      <p:to>
                                        <p:strVal val="visible"/>
                                      </p:to>
                                    </p:set>
                                    <p:anim calcmode="lin" valueType="num">
                                      <p:cBhvr>
                                        <p:cTn id="7" dur="500" fill="hold"/>
                                        <p:tgtEl>
                                          <p:spTgt spid="52226"/>
                                        </p:tgtEl>
                                        <p:attrNameLst>
                                          <p:attrName>ppt_x</p:attrName>
                                        </p:attrNameLst>
                                      </p:cBhvr>
                                      <p:tavLst>
                                        <p:tav tm="100000">
                                          <p:val>
                                            <p:strVal val="1+#ppt_w/2"/>
                                          </p:val>
                                        </p:tav>
                                        <p:tav>
                                          <p:val>
                                            <p:strVal val="#ppt_x"/>
                                          </p:val>
                                        </p:tav>
                                      </p:tavLst>
                                    </p:anim>
                                    <p:anim calcmode="lin" valueType="num">
                                      <p:cBhvr>
                                        <p:cTn id="8" dur="500" fill="hold"/>
                                        <p:tgtEl>
                                          <p:spTgt spid="52226"/>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70" name="Object 1">
            <a:extLst>
              <a:ext uri="{FF2B5EF4-FFF2-40B4-BE49-F238E27FC236}">
                <a16:creationId xmlns:a16="http://schemas.microsoft.com/office/drawing/2014/main" id="{3CC812C2-EF50-4E20-A136-7345EE68D1AF}"/>
              </a:ext>
            </a:extLst>
          </p:cNvPr>
          <p:cNvGraphicFramePr>
            <a:graphicFrameLocks noChangeAspect="1"/>
          </p:cNvGraphicFramePr>
          <p:nvPr/>
        </p:nvGraphicFramePr>
        <p:xfrm>
          <a:off x="381000" y="100965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09570" name="Object 1">
                        <a:extLst>
                          <a:ext uri="{FF2B5EF4-FFF2-40B4-BE49-F238E27FC236}">
                            <a16:creationId xmlns:a16="http://schemas.microsoft.com/office/drawing/2014/main" id="{3CC812C2-EF50-4E20-A136-7345EE68D1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0965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06E2D502-9C20-45B9-B546-128D3C6E1FB3}"/>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10</a:t>
            </a:r>
          </a:p>
        </p:txBody>
      </p:sp>
      <p:sp>
        <p:nvSpPr>
          <p:cNvPr id="2" name="日期占位符 1">
            <a:extLst>
              <a:ext uri="{FF2B5EF4-FFF2-40B4-BE49-F238E27FC236}">
                <a16:creationId xmlns:a16="http://schemas.microsoft.com/office/drawing/2014/main" id="{43E6E789-3E7B-C5B4-AE83-3641F0BEF7EF}"/>
              </a:ext>
            </a:extLst>
          </p:cNvPr>
          <p:cNvSpPr>
            <a:spLocks noGrp="1"/>
          </p:cNvSpPr>
          <p:nvPr>
            <p:ph type="dt" sz="half" idx="10"/>
          </p:nvPr>
        </p:nvSpPr>
        <p:spPr/>
        <p:txBody>
          <a:bodyPr/>
          <a:lstStyle/>
          <a:p>
            <a:pPr>
              <a:defRPr/>
            </a:pPr>
            <a:fld id="{37BAE0AF-E0E7-465C-9098-BB6791C6AA3D}"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3E327894-AF4D-8B60-226C-65E38C689D13}"/>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906D5E54-C23E-D38C-3771-A995FDBE0EE0}"/>
              </a:ext>
            </a:extLst>
          </p:cNvPr>
          <p:cNvSpPr>
            <a:spLocks noGrp="1"/>
          </p:cNvSpPr>
          <p:nvPr>
            <p:ph type="sldNum" sz="quarter" idx="12"/>
          </p:nvPr>
        </p:nvSpPr>
        <p:spPr/>
        <p:txBody>
          <a:bodyPr/>
          <a:lstStyle/>
          <a:p>
            <a:pPr>
              <a:defRPr/>
            </a:pPr>
            <a:fld id="{65B7EA61-351E-4105-9AD9-76D38C6E9934}" type="slidenum">
              <a:rPr lang="zh-CN" altLang="en-US" smtClean="0"/>
              <a:t>31</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8" name="Object 1">
            <a:extLst>
              <a:ext uri="{FF2B5EF4-FFF2-40B4-BE49-F238E27FC236}">
                <a16:creationId xmlns:a16="http://schemas.microsoft.com/office/drawing/2014/main" id="{682456F7-A33C-463B-8BC7-98D50A9C0792}"/>
              </a:ext>
            </a:extLst>
          </p:cNvPr>
          <p:cNvGraphicFramePr>
            <a:graphicFrameLocks noChangeAspect="1"/>
          </p:cNvGraphicFramePr>
          <p:nvPr/>
        </p:nvGraphicFramePr>
        <p:xfrm>
          <a:off x="381000" y="100965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11618" name="Object 1">
                        <a:extLst>
                          <a:ext uri="{FF2B5EF4-FFF2-40B4-BE49-F238E27FC236}">
                            <a16:creationId xmlns:a16="http://schemas.microsoft.com/office/drawing/2014/main" id="{682456F7-A33C-463B-8BC7-98D50A9C07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0965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33BF2FE8-418D-4ACD-8C67-886700157740}"/>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11</a:t>
            </a:r>
          </a:p>
        </p:txBody>
      </p:sp>
      <p:sp>
        <p:nvSpPr>
          <p:cNvPr id="2" name="日期占位符 1">
            <a:extLst>
              <a:ext uri="{FF2B5EF4-FFF2-40B4-BE49-F238E27FC236}">
                <a16:creationId xmlns:a16="http://schemas.microsoft.com/office/drawing/2014/main" id="{3BFB5BFB-4E06-F37A-FA85-282A3E3027D1}"/>
              </a:ext>
            </a:extLst>
          </p:cNvPr>
          <p:cNvSpPr>
            <a:spLocks noGrp="1"/>
          </p:cNvSpPr>
          <p:nvPr>
            <p:ph type="dt" sz="half" idx="10"/>
          </p:nvPr>
        </p:nvSpPr>
        <p:spPr/>
        <p:txBody>
          <a:bodyPr/>
          <a:lstStyle/>
          <a:p>
            <a:pPr>
              <a:defRPr/>
            </a:pPr>
            <a:fld id="{A715D1CA-748C-452E-B8F6-B26BBEEC4191}"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E3E4A6C5-E094-38B5-8215-99523E34CEE2}"/>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E417EC13-45CA-C3FE-B8F0-59B5EB69A48E}"/>
              </a:ext>
            </a:extLst>
          </p:cNvPr>
          <p:cNvSpPr>
            <a:spLocks noGrp="1"/>
          </p:cNvSpPr>
          <p:nvPr>
            <p:ph type="sldNum" sz="quarter" idx="12"/>
          </p:nvPr>
        </p:nvSpPr>
        <p:spPr/>
        <p:txBody>
          <a:bodyPr/>
          <a:lstStyle/>
          <a:p>
            <a:pPr>
              <a:defRPr/>
            </a:pPr>
            <a:fld id="{65B7EA61-351E-4105-9AD9-76D38C6E9934}" type="slidenum">
              <a:rPr lang="zh-CN" altLang="en-US" smtClean="0"/>
              <a:t>32</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1">
            <a:extLst>
              <a:ext uri="{FF2B5EF4-FFF2-40B4-BE49-F238E27FC236}">
                <a16:creationId xmlns:a16="http://schemas.microsoft.com/office/drawing/2014/main" id="{1745D759-778B-4C54-BB5B-BC45766A8E0A}"/>
              </a:ext>
            </a:extLst>
          </p:cNvPr>
          <p:cNvGraphicFramePr>
            <a:graphicFrameLocks noChangeAspect="1"/>
          </p:cNvGraphicFramePr>
          <p:nvPr>
            <p:extLst>
              <p:ext uri="{D42A27DB-BD31-4B8C-83A1-F6EECF244321}">
                <p14:modId xmlns:p14="http://schemas.microsoft.com/office/powerpoint/2010/main" val="508244707"/>
              </p:ext>
            </p:extLst>
          </p:nvPr>
        </p:nvGraphicFramePr>
        <p:xfrm>
          <a:off x="523875" y="914400"/>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13666" name="Object 1">
                        <a:extLst>
                          <a:ext uri="{FF2B5EF4-FFF2-40B4-BE49-F238E27FC236}">
                            <a16:creationId xmlns:a16="http://schemas.microsoft.com/office/drawing/2014/main" id="{1745D759-778B-4C54-BB5B-BC45766A8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 y="914400"/>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298" name="Rectangle 2">
            <a:extLst>
              <a:ext uri="{FF2B5EF4-FFF2-40B4-BE49-F238E27FC236}">
                <a16:creationId xmlns:a16="http://schemas.microsoft.com/office/drawing/2014/main" id="{137FEF32-FC47-412E-8113-37D7B93089DC}"/>
              </a:ext>
            </a:extLst>
          </p:cNvPr>
          <p:cNvSpPr>
            <a:spLocks noChangeArrowheads="1"/>
          </p:cNvSpPr>
          <p:nvPr/>
        </p:nvSpPr>
        <p:spPr bwMode="auto">
          <a:xfrm>
            <a:off x="5969862" y="1441748"/>
            <a:ext cx="267997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Read operands </a:t>
            </a:r>
          </a:p>
          <a:p>
            <a:pPr marL="0" indent="0" eaLnBrk="1" hangingPunct="1">
              <a:spcBef>
                <a:spcPts val="900"/>
              </a:spcBef>
              <a:buClr>
                <a:srgbClr val="5B9BD5"/>
              </a:buClr>
              <a:buNone/>
            </a:pPr>
            <a:r>
              <a:rPr lang="en-US" altLang="zh-CN" sz="2400" b="1" dirty="0">
                <a:solidFill>
                  <a:srgbClr val="5B9BD5"/>
                </a:solidFill>
                <a:latin typeface="Comic Sans MS" panose="030F0702030302020204" pitchFamily="66" charset="0"/>
              </a:rPr>
              <a:t>  for DIVD?</a:t>
            </a:r>
          </a:p>
        </p:txBody>
      </p:sp>
      <p:sp>
        <p:nvSpPr>
          <p:cNvPr id="8" name="Text Box 6">
            <a:extLst>
              <a:ext uri="{FF2B5EF4-FFF2-40B4-BE49-F238E27FC236}">
                <a16:creationId xmlns:a16="http://schemas.microsoft.com/office/drawing/2014/main" id="{5B2CCBDE-0C0D-4A03-B7E8-937C6F5AF058}"/>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12</a:t>
            </a:r>
          </a:p>
        </p:txBody>
      </p:sp>
      <p:sp>
        <p:nvSpPr>
          <p:cNvPr id="9" name="Rectangle 2">
            <a:extLst>
              <a:ext uri="{FF2B5EF4-FFF2-40B4-BE49-F238E27FC236}">
                <a16:creationId xmlns:a16="http://schemas.microsoft.com/office/drawing/2014/main" id="{2FAC2ABE-E330-43EF-B932-C4D2CBF7665A}"/>
              </a:ext>
            </a:extLst>
          </p:cNvPr>
          <p:cNvSpPr>
            <a:spLocks noChangeArrowheads="1"/>
          </p:cNvSpPr>
          <p:nvPr/>
        </p:nvSpPr>
        <p:spPr bwMode="auto">
          <a:xfrm>
            <a:off x="5940152" y="2044204"/>
            <a:ext cx="267997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marL="0" indent="0" eaLnBrk="1" hangingPunct="1">
              <a:spcBef>
                <a:spcPts val="900"/>
              </a:spcBef>
              <a:buClr>
                <a:srgbClr val="5B9BD5"/>
              </a:buClr>
              <a:buNone/>
            </a:pPr>
            <a:endParaRPr lang="en-US" altLang="zh-CN" sz="2400" b="1" dirty="0">
              <a:solidFill>
                <a:srgbClr val="5B9BD5"/>
              </a:solidFill>
              <a:latin typeface="Comic Sans MS" panose="030F0702030302020204" pitchFamily="66" charset="0"/>
            </a:endParaRPr>
          </a:p>
        </p:txBody>
      </p:sp>
      <p:sp>
        <p:nvSpPr>
          <p:cNvPr id="2" name="日期占位符 1">
            <a:extLst>
              <a:ext uri="{FF2B5EF4-FFF2-40B4-BE49-F238E27FC236}">
                <a16:creationId xmlns:a16="http://schemas.microsoft.com/office/drawing/2014/main" id="{35563C30-E78B-B825-E6FD-7644F927D6A7}"/>
              </a:ext>
            </a:extLst>
          </p:cNvPr>
          <p:cNvSpPr>
            <a:spLocks noGrp="1"/>
          </p:cNvSpPr>
          <p:nvPr>
            <p:ph type="dt" sz="half" idx="10"/>
          </p:nvPr>
        </p:nvSpPr>
        <p:spPr/>
        <p:txBody>
          <a:bodyPr/>
          <a:lstStyle/>
          <a:p>
            <a:pPr>
              <a:defRPr/>
            </a:pPr>
            <a:fld id="{2F193844-E9EC-4842-9854-A2AAB86B1ED3}"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2346F330-2E03-5BFA-A86B-9BD0AE126923}"/>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8AA1D918-5370-1CEB-1FFE-E780B80FD402}"/>
              </a:ext>
            </a:extLst>
          </p:cNvPr>
          <p:cNvSpPr>
            <a:spLocks noGrp="1"/>
          </p:cNvSpPr>
          <p:nvPr>
            <p:ph type="sldNum" sz="quarter" idx="12"/>
          </p:nvPr>
        </p:nvSpPr>
        <p:spPr/>
        <p:txBody>
          <a:bodyPr/>
          <a:lstStyle/>
          <a:p>
            <a:pPr>
              <a:defRPr/>
            </a:pPr>
            <a:fld id="{65B7EA61-351E-4105-9AD9-76D38C6E9934}" type="slidenum">
              <a:rPr lang="zh-CN" altLang="en-US" smtClean="0"/>
              <a:t>33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55298"/>
                                        </p:tgtEl>
                                        <p:attrNameLst>
                                          <p:attrName>style.visibility</p:attrName>
                                        </p:attrNameLst>
                                      </p:cBhvr>
                                      <p:to>
                                        <p:strVal val="visible"/>
                                      </p:to>
                                    </p:set>
                                    <p:anim calcmode="lin" valueType="num">
                                      <p:cBhvr>
                                        <p:cTn id="7" dur="500" fill="hold"/>
                                        <p:tgtEl>
                                          <p:spTgt spid="55298"/>
                                        </p:tgtEl>
                                        <p:attrNameLst>
                                          <p:attrName>ppt_x</p:attrName>
                                        </p:attrNameLst>
                                      </p:cBhvr>
                                      <p:tavLst>
                                        <p:tav tm="100000">
                                          <p:val>
                                            <p:strVal val="1+#ppt_w/2"/>
                                          </p:val>
                                        </p:tav>
                                        <p:tav>
                                          <p:val>
                                            <p:strVal val="#ppt_x"/>
                                          </p:val>
                                        </p:tav>
                                      </p:tavLst>
                                    </p:anim>
                                    <p:anim calcmode="lin" valueType="num">
                                      <p:cBhvr>
                                        <p:cTn id="8" dur="500" fill="hold"/>
                                        <p:tgtEl>
                                          <p:spTgt spid="55298"/>
                                        </p:tgtEl>
                                        <p:attrNameLst>
                                          <p:attrName>ppt_y</p:attrName>
                                        </p:attrNameLst>
                                      </p:cBhvr>
                                      <p:tavLst>
                                        <p:tav tm="100000">
                                          <p:val>
                                            <p:strVal val="#ppt_y"/>
                                          </p:val>
                                        </p:tav>
                                        <p:tav>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additive="repl">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100000">
                                          <p:val>
                                            <p:strVal val="1+#ppt_w/2"/>
                                          </p:val>
                                        </p:tav>
                                        <p:tav>
                                          <p:val>
                                            <p:strVal val="#ppt_x"/>
                                          </p:val>
                                        </p:tav>
                                      </p:tavLst>
                                    </p:anim>
                                    <p:anim calcmode="lin" valueType="num">
                                      <p:cBhvr>
                                        <p:cTn id="14" dur="500" fill="hold"/>
                                        <p:tgtEl>
                                          <p:spTgt spid="9"/>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14" name="Object 1">
            <a:extLst>
              <a:ext uri="{FF2B5EF4-FFF2-40B4-BE49-F238E27FC236}">
                <a16:creationId xmlns:a16="http://schemas.microsoft.com/office/drawing/2014/main" id="{E6A73690-5D20-487B-B60A-9F0F42A0EE98}"/>
              </a:ext>
            </a:extLst>
          </p:cNvPr>
          <p:cNvGraphicFramePr>
            <a:graphicFrameLocks noChangeAspect="1"/>
          </p:cNvGraphicFramePr>
          <p:nvPr/>
        </p:nvGraphicFramePr>
        <p:xfrm>
          <a:off x="381000" y="968375"/>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15714" name="Object 1">
                        <a:extLst>
                          <a:ext uri="{FF2B5EF4-FFF2-40B4-BE49-F238E27FC236}">
                            <a16:creationId xmlns:a16="http://schemas.microsoft.com/office/drawing/2014/main" id="{E6A73690-5D20-487B-B60A-9F0F42A0E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68375"/>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AFEBC911-0217-44E1-A87A-210AE2D8B1DF}"/>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13</a:t>
            </a:r>
          </a:p>
        </p:txBody>
      </p:sp>
      <p:sp>
        <p:nvSpPr>
          <p:cNvPr id="4" name="AutoShape 3">
            <a:extLst>
              <a:ext uri="{FF2B5EF4-FFF2-40B4-BE49-F238E27FC236}">
                <a16:creationId xmlns:a16="http://schemas.microsoft.com/office/drawing/2014/main" id="{DF5A9683-E07B-4F59-916A-EBFFD5321F12}"/>
              </a:ext>
            </a:extLst>
          </p:cNvPr>
          <p:cNvSpPr>
            <a:spLocks noChangeArrowheads="1"/>
          </p:cNvSpPr>
          <p:nvPr/>
        </p:nvSpPr>
        <p:spPr bwMode="auto">
          <a:xfrm>
            <a:off x="2743200" y="4365104"/>
            <a:ext cx="6019800" cy="360040"/>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日期占位符 1">
            <a:extLst>
              <a:ext uri="{FF2B5EF4-FFF2-40B4-BE49-F238E27FC236}">
                <a16:creationId xmlns:a16="http://schemas.microsoft.com/office/drawing/2014/main" id="{B274C5EC-3D36-B3AB-96CD-C980CAAAF81F}"/>
              </a:ext>
            </a:extLst>
          </p:cNvPr>
          <p:cNvSpPr>
            <a:spLocks noGrp="1"/>
          </p:cNvSpPr>
          <p:nvPr>
            <p:ph type="dt" sz="half" idx="10"/>
          </p:nvPr>
        </p:nvSpPr>
        <p:spPr/>
        <p:txBody>
          <a:bodyPr/>
          <a:lstStyle/>
          <a:p>
            <a:pPr>
              <a:defRPr/>
            </a:pPr>
            <a:fld id="{615B790E-FDD2-4A85-806F-43FFA38EB241}"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329F76DD-04B5-94DB-5D26-5E6079DB3544}"/>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6DF24563-496B-B729-A1F4-7385CB7689A8}"/>
              </a:ext>
            </a:extLst>
          </p:cNvPr>
          <p:cNvSpPr>
            <a:spLocks noGrp="1"/>
          </p:cNvSpPr>
          <p:nvPr>
            <p:ph type="sldNum" sz="quarter" idx="12"/>
          </p:nvPr>
        </p:nvSpPr>
        <p:spPr/>
        <p:txBody>
          <a:bodyPr/>
          <a:lstStyle/>
          <a:p>
            <a:pPr>
              <a:defRPr/>
            </a:pPr>
            <a:fld id="{65B7EA61-351E-4105-9AD9-76D38C6E9934}" type="slidenum">
              <a:rPr lang="zh-CN" altLang="en-US" smtClean="0"/>
              <a:t>34</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2" name="Object 1">
            <a:extLst>
              <a:ext uri="{FF2B5EF4-FFF2-40B4-BE49-F238E27FC236}">
                <a16:creationId xmlns:a16="http://schemas.microsoft.com/office/drawing/2014/main" id="{FA515344-0DB9-489D-A146-FAD054BB44A5}"/>
              </a:ext>
            </a:extLst>
          </p:cNvPr>
          <p:cNvGraphicFramePr>
            <a:graphicFrameLocks noChangeAspect="1"/>
          </p:cNvGraphicFramePr>
          <p:nvPr/>
        </p:nvGraphicFramePr>
        <p:xfrm>
          <a:off x="381000" y="1030288"/>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17762" name="Object 1">
                        <a:extLst>
                          <a:ext uri="{FF2B5EF4-FFF2-40B4-BE49-F238E27FC236}">
                            <a16:creationId xmlns:a16="http://schemas.microsoft.com/office/drawing/2014/main" id="{FA515344-0DB9-489D-A146-FAD054BB4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028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7A1A8790-7C68-4F7D-8360-26B30882A8EC}"/>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14</a:t>
            </a:r>
          </a:p>
        </p:txBody>
      </p:sp>
      <p:sp>
        <p:nvSpPr>
          <p:cNvPr id="2" name="日期占位符 1">
            <a:extLst>
              <a:ext uri="{FF2B5EF4-FFF2-40B4-BE49-F238E27FC236}">
                <a16:creationId xmlns:a16="http://schemas.microsoft.com/office/drawing/2014/main" id="{F5481C04-C614-C25D-5493-BEDC31092CC2}"/>
              </a:ext>
            </a:extLst>
          </p:cNvPr>
          <p:cNvSpPr>
            <a:spLocks noGrp="1"/>
          </p:cNvSpPr>
          <p:nvPr>
            <p:ph type="dt" sz="half" idx="10"/>
          </p:nvPr>
        </p:nvSpPr>
        <p:spPr/>
        <p:txBody>
          <a:bodyPr/>
          <a:lstStyle/>
          <a:p>
            <a:pPr>
              <a:defRPr/>
            </a:pPr>
            <a:fld id="{F477347C-248D-4E00-9457-93B919247EFC}"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23669CC9-A6B4-EA14-E9C9-CD80BE0E3FEB}"/>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42F6C880-92B8-55A2-3B97-700F81E12BCE}"/>
              </a:ext>
            </a:extLst>
          </p:cNvPr>
          <p:cNvSpPr>
            <a:spLocks noGrp="1"/>
          </p:cNvSpPr>
          <p:nvPr>
            <p:ph type="sldNum" sz="quarter" idx="12"/>
          </p:nvPr>
        </p:nvSpPr>
        <p:spPr/>
        <p:txBody>
          <a:bodyPr/>
          <a:lstStyle/>
          <a:p>
            <a:pPr>
              <a:defRPr/>
            </a:pPr>
            <a:fld id="{65B7EA61-351E-4105-9AD9-76D38C6E9934}" type="slidenum">
              <a:rPr lang="zh-CN" altLang="en-US" smtClean="0"/>
              <a:t>35</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810" name="Object 1">
            <a:extLst>
              <a:ext uri="{FF2B5EF4-FFF2-40B4-BE49-F238E27FC236}">
                <a16:creationId xmlns:a16="http://schemas.microsoft.com/office/drawing/2014/main" id="{7AF5298D-AC15-4F07-8509-60FC2BE414B6}"/>
              </a:ext>
            </a:extLst>
          </p:cNvPr>
          <p:cNvGraphicFramePr>
            <a:graphicFrameLocks noChangeAspect="1"/>
          </p:cNvGraphicFramePr>
          <p:nvPr/>
        </p:nvGraphicFramePr>
        <p:xfrm>
          <a:off x="381000" y="1071563"/>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19810" name="Object 1">
                        <a:extLst>
                          <a:ext uri="{FF2B5EF4-FFF2-40B4-BE49-F238E27FC236}">
                            <a16:creationId xmlns:a16="http://schemas.microsoft.com/office/drawing/2014/main" id="{7AF5298D-AC15-4F07-8509-60FC2BE414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71563"/>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7AB3E4BB-30AB-4A3F-B935-3AA362A7EADF}"/>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15</a:t>
            </a:r>
          </a:p>
        </p:txBody>
      </p:sp>
      <p:sp>
        <p:nvSpPr>
          <p:cNvPr id="2" name="日期占位符 1">
            <a:extLst>
              <a:ext uri="{FF2B5EF4-FFF2-40B4-BE49-F238E27FC236}">
                <a16:creationId xmlns:a16="http://schemas.microsoft.com/office/drawing/2014/main" id="{F3B22786-5DEB-7B4E-215B-35C95F91C1A6}"/>
              </a:ext>
            </a:extLst>
          </p:cNvPr>
          <p:cNvSpPr>
            <a:spLocks noGrp="1"/>
          </p:cNvSpPr>
          <p:nvPr>
            <p:ph type="dt" sz="half" idx="10"/>
          </p:nvPr>
        </p:nvSpPr>
        <p:spPr/>
        <p:txBody>
          <a:bodyPr/>
          <a:lstStyle/>
          <a:p>
            <a:pPr>
              <a:defRPr/>
            </a:pPr>
            <a:fld id="{4FD8B200-52BE-4DF3-8BC0-81EC1EF7A4A6}"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7FC1E3C5-B77F-DBAB-1B7D-2B3FE6748A83}"/>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4F97948E-BD4B-3A6C-A715-82CED8CF4684}"/>
              </a:ext>
            </a:extLst>
          </p:cNvPr>
          <p:cNvSpPr>
            <a:spLocks noGrp="1"/>
          </p:cNvSpPr>
          <p:nvPr>
            <p:ph type="sldNum" sz="quarter" idx="12"/>
          </p:nvPr>
        </p:nvSpPr>
        <p:spPr/>
        <p:txBody>
          <a:bodyPr/>
          <a:lstStyle/>
          <a:p>
            <a:pPr>
              <a:defRPr/>
            </a:pPr>
            <a:fld id="{65B7EA61-351E-4105-9AD9-76D38C6E9934}" type="slidenum">
              <a:rPr lang="zh-CN" altLang="en-US" smtClean="0"/>
              <a:t>36</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1">
            <a:extLst>
              <a:ext uri="{FF2B5EF4-FFF2-40B4-BE49-F238E27FC236}">
                <a16:creationId xmlns:a16="http://schemas.microsoft.com/office/drawing/2014/main" id="{024F2ED0-A6CF-47B6-863F-BCD8993DB2D2}"/>
              </a:ext>
            </a:extLst>
          </p:cNvPr>
          <p:cNvGraphicFramePr>
            <a:graphicFrameLocks noChangeAspect="1"/>
          </p:cNvGraphicFramePr>
          <p:nvPr/>
        </p:nvGraphicFramePr>
        <p:xfrm>
          <a:off x="381000" y="1050925"/>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21858" name="Object 1">
                        <a:extLst>
                          <a:ext uri="{FF2B5EF4-FFF2-40B4-BE49-F238E27FC236}">
                            <a16:creationId xmlns:a16="http://schemas.microsoft.com/office/drawing/2014/main" id="{024F2ED0-A6CF-47B6-863F-BCD8993DB2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50925"/>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F6E90978-E13A-4542-9FA0-B15E00016361}"/>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16</a:t>
            </a:r>
          </a:p>
        </p:txBody>
      </p:sp>
      <p:sp>
        <p:nvSpPr>
          <p:cNvPr id="2" name="日期占位符 1">
            <a:extLst>
              <a:ext uri="{FF2B5EF4-FFF2-40B4-BE49-F238E27FC236}">
                <a16:creationId xmlns:a16="http://schemas.microsoft.com/office/drawing/2014/main" id="{9A1B1C50-BC71-13A8-4AE3-D65A8435B82E}"/>
              </a:ext>
            </a:extLst>
          </p:cNvPr>
          <p:cNvSpPr>
            <a:spLocks noGrp="1"/>
          </p:cNvSpPr>
          <p:nvPr>
            <p:ph type="dt" sz="half" idx="10"/>
          </p:nvPr>
        </p:nvSpPr>
        <p:spPr/>
        <p:txBody>
          <a:bodyPr/>
          <a:lstStyle/>
          <a:p>
            <a:pPr>
              <a:defRPr/>
            </a:pPr>
            <a:fld id="{59321398-7676-496F-9C5C-64F5F09C6E45}"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94E9DDB9-AA6F-E65F-01E5-D66147C6B4B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F7C0D3BE-B7C1-3231-3AE8-45A5814FBCF2}"/>
              </a:ext>
            </a:extLst>
          </p:cNvPr>
          <p:cNvSpPr>
            <a:spLocks noGrp="1"/>
          </p:cNvSpPr>
          <p:nvPr>
            <p:ph type="sldNum" sz="quarter" idx="12"/>
          </p:nvPr>
        </p:nvSpPr>
        <p:spPr/>
        <p:txBody>
          <a:bodyPr/>
          <a:lstStyle/>
          <a:p>
            <a:pPr>
              <a:defRPr/>
            </a:pPr>
            <a:fld id="{65B7EA61-351E-4105-9AD9-76D38C6E9934}" type="slidenum">
              <a:rPr lang="zh-CN" altLang="en-US" smtClean="0"/>
              <a:t>37</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6" name="Object 1">
            <a:extLst>
              <a:ext uri="{FF2B5EF4-FFF2-40B4-BE49-F238E27FC236}">
                <a16:creationId xmlns:a16="http://schemas.microsoft.com/office/drawing/2014/main" id="{1D36E7F2-2B16-424E-9FA2-372155D79239}"/>
              </a:ext>
            </a:extLst>
          </p:cNvPr>
          <p:cNvGraphicFramePr>
            <a:graphicFrameLocks noChangeAspect="1"/>
          </p:cNvGraphicFramePr>
          <p:nvPr/>
        </p:nvGraphicFramePr>
        <p:xfrm>
          <a:off x="381000" y="1050925"/>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23906" name="Object 1">
                        <a:extLst>
                          <a:ext uri="{FF2B5EF4-FFF2-40B4-BE49-F238E27FC236}">
                            <a16:creationId xmlns:a16="http://schemas.microsoft.com/office/drawing/2014/main" id="{1D36E7F2-2B16-424E-9FA2-372155D792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50925"/>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18" name="Rectangle 2">
            <a:extLst>
              <a:ext uri="{FF2B5EF4-FFF2-40B4-BE49-F238E27FC236}">
                <a16:creationId xmlns:a16="http://schemas.microsoft.com/office/drawing/2014/main" id="{35F676D0-125F-4553-9CF3-38BA766EF93D}"/>
              </a:ext>
            </a:extLst>
          </p:cNvPr>
          <p:cNvSpPr>
            <a:spLocks noChangeArrowheads="1"/>
          </p:cNvSpPr>
          <p:nvPr/>
        </p:nvSpPr>
        <p:spPr bwMode="auto">
          <a:xfrm>
            <a:off x="5623614" y="1346200"/>
            <a:ext cx="31099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Why not write </a:t>
            </a:r>
          </a:p>
          <a:p>
            <a:pPr marL="0" indent="0" eaLnBrk="1" hangingPunct="1">
              <a:spcBef>
                <a:spcPts val="900"/>
              </a:spcBef>
              <a:buClr>
                <a:srgbClr val="5B9BD5"/>
              </a:buClr>
              <a:buNone/>
            </a:pPr>
            <a:r>
              <a:rPr lang="en-US" altLang="zh-CN" sz="2400" dirty="0">
                <a:solidFill>
                  <a:srgbClr val="5B9BD5"/>
                </a:solidFill>
                <a:latin typeface="Comic Sans MS" panose="030F0702030302020204" pitchFamily="66" charset="0"/>
              </a:rPr>
              <a:t>  </a:t>
            </a:r>
            <a:r>
              <a:rPr lang="en-US" altLang="zh-CN" sz="2400" b="1" dirty="0">
                <a:solidFill>
                  <a:srgbClr val="5B9BD5"/>
                </a:solidFill>
                <a:latin typeface="Comic Sans MS" panose="030F0702030302020204" pitchFamily="66" charset="0"/>
              </a:rPr>
              <a:t>result of ADD?</a:t>
            </a:r>
            <a:r>
              <a:rPr lang="en-US" altLang="zh-CN" sz="2400" b="1" dirty="0">
                <a:solidFill>
                  <a:srgbClr val="0563C1"/>
                </a:solidFill>
                <a:latin typeface="Comic Sans MS" panose="030F0702030302020204" pitchFamily="66" charset="0"/>
              </a:rPr>
              <a:t> </a:t>
            </a:r>
          </a:p>
        </p:txBody>
      </p:sp>
      <p:grpSp>
        <p:nvGrpSpPr>
          <p:cNvPr id="60419" name="Group 3">
            <a:extLst>
              <a:ext uri="{FF2B5EF4-FFF2-40B4-BE49-F238E27FC236}">
                <a16:creationId xmlns:a16="http://schemas.microsoft.com/office/drawing/2014/main" id="{F04BBC3B-8BC6-425D-875D-3A7F9D3885A7}"/>
              </a:ext>
            </a:extLst>
          </p:cNvPr>
          <p:cNvGrpSpPr>
            <a:grpSpLocks/>
          </p:cNvGrpSpPr>
          <p:nvPr/>
        </p:nvGrpSpPr>
        <p:grpSpPr bwMode="auto">
          <a:xfrm>
            <a:off x="4272607" y="2564904"/>
            <a:ext cx="4115817" cy="2667000"/>
            <a:chOff x="2640" y="1495"/>
            <a:chExt cx="2638" cy="1680"/>
          </a:xfrm>
        </p:grpSpPr>
        <p:sp>
          <p:nvSpPr>
            <p:cNvPr id="123913" name="AutoShape 4">
              <a:extLst>
                <a:ext uri="{FF2B5EF4-FFF2-40B4-BE49-F238E27FC236}">
                  <a16:creationId xmlns:a16="http://schemas.microsoft.com/office/drawing/2014/main" id="{2585AAF6-6A18-42CB-AF95-E1C1672B0E51}"/>
                </a:ext>
              </a:extLst>
            </p:cNvPr>
            <p:cNvSpPr>
              <a:spLocks noChangeArrowheads="1"/>
            </p:cNvSpPr>
            <p:nvPr/>
          </p:nvSpPr>
          <p:spPr bwMode="auto">
            <a:xfrm>
              <a:off x="4943" y="2840"/>
              <a:ext cx="335" cy="33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23914" name="AutoShape 5">
              <a:extLst>
                <a:ext uri="{FF2B5EF4-FFF2-40B4-BE49-F238E27FC236}">
                  <a16:creationId xmlns:a16="http://schemas.microsoft.com/office/drawing/2014/main" id="{5C6B4283-3D7C-4DBB-AF1C-B51741931656}"/>
                </a:ext>
              </a:extLst>
            </p:cNvPr>
            <p:cNvSpPr>
              <a:spLocks noChangeArrowheads="1"/>
            </p:cNvSpPr>
            <p:nvPr/>
          </p:nvSpPr>
          <p:spPr bwMode="auto">
            <a:xfrm>
              <a:off x="3405" y="2795"/>
              <a:ext cx="335" cy="33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23915" name="AutoShape 6">
              <a:extLst>
                <a:ext uri="{FF2B5EF4-FFF2-40B4-BE49-F238E27FC236}">
                  <a16:creationId xmlns:a16="http://schemas.microsoft.com/office/drawing/2014/main" id="{FA2F01DF-6676-49D9-A866-51DC1C79A8AD}"/>
                </a:ext>
              </a:extLst>
            </p:cNvPr>
            <p:cNvSpPr>
              <a:spLocks noChangeArrowheads="1"/>
            </p:cNvSpPr>
            <p:nvPr/>
          </p:nvSpPr>
          <p:spPr bwMode="auto">
            <a:xfrm>
              <a:off x="2640" y="2596"/>
              <a:ext cx="335" cy="335"/>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23916" name="Line 7">
              <a:extLst>
                <a:ext uri="{FF2B5EF4-FFF2-40B4-BE49-F238E27FC236}">
                  <a16:creationId xmlns:a16="http://schemas.microsoft.com/office/drawing/2014/main" id="{82BE62ED-E718-40C6-BD36-1C7288E7423C}"/>
                </a:ext>
              </a:extLst>
            </p:cNvPr>
            <p:cNvSpPr>
              <a:spLocks noChangeShapeType="1"/>
            </p:cNvSpPr>
            <p:nvPr/>
          </p:nvSpPr>
          <p:spPr bwMode="auto">
            <a:xfrm>
              <a:off x="3765" y="3022"/>
              <a:ext cx="1247" cy="0"/>
            </a:xfrm>
            <a:prstGeom prst="line">
              <a:avLst/>
            </a:prstGeom>
            <a:noFill/>
            <a:ln w="57240" cap="sq">
              <a:solidFill>
                <a:srgbClr val="5B9BD5"/>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917" name="Freeform 8">
              <a:extLst>
                <a:ext uri="{FF2B5EF4-FFF2-40B4-BE49-F238E27FC236}">
                  <a16:creationId xmlns:a16="http://schemas.microsoft.com/office/drawing/2014/main" id="{AB63E617-5FC3-486B-8232-32195F419038}"/>
                </a:ext>
              </a:extLst>
            </p:cNvPr>
            <p:cNvSpPr>
              <a:spLocks/>
            </p:cNvSpPr>
            <p:nvPr/>
          </p:nvSpPr>
          <p:spPr bwMode="auto">
            <a:xfrm>
              <a:off x="2979" y="2387"/>
              <a:ext cx="1487" cy="607"/>
            </a:xfrm>
            <a:custGeom>
              <a:avLst/>
              <a:gdLst>
                <a:gd name="T0" fmla="*/ 0 w 1488"/>
                <a:gd name="T1" fmla="*/ 328 h 608"/>
                <a:gd name="T2" fmla="*/ 576 w 1488"/>
                <a:gd name="T3" fmla="*/ 32 h 608"/>
                <a:gd name="T4" fmla="*/ 1160 w 1488"/>
                <a:gd name="T5" fmla="*/ 176 h 608"/>
                <a:gd name="T6" fmla="*/ 1448 w 1488"/>
                <a:gd name="T7" fmla="*/ 568 h 6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8" h="608">
                  <a:moveTo>
                    <a:pt x="0" y="368"/>
                  </a:moveTo>
                  <a:cubicBezTo>
                    <a:pt x="188" y="216"/>
                    <a:pt x="376" y="64"/>
                    <a:pt x="576" y="32"/>
                  </a:cubicBezTo>
                  <a:cubicBezTo>
                    <a:pt x="776" y="0"/>
                    <a:pt x="1048" y="80"/>
                    <a:pt x="1200" y="176"/>
                  </a:cubicBezTo>
                  <a:cubicBezTo>
                    <a:pt x="1352" y="272"/>
                    <a:pt x="1420" y="440"/>
                    <a:pt x="1488" y="608"/>
                  </a:cubicBezTo>
                </a:path>
              </a:pathLst>
            </a:custGeom>
            <a:noFill/>
            <a:ln w="57240" cap="flat">
              <a:solidFill>
                <a:srgbClr val="5B9BD5"/>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3918" name="Text Box 9">
              <a:extLst>
                <a:ext uri="{FF2B5EF4-FFF2-40B4-BE49-F238E27FC236}">
                  <a16:creationId xmlns:a16="http://schemas.microsoft.com/office/drawing/2014/main" id="{AA9D278A-059A-4ABE-9BCF-E0D016BF3BFC}"/>
                </a:ext>
              </a:extLst>
            </p:cNvPr>
            <p:cNvSpPr txBox="1">
              <a:spLocks noChangeArrowheads="1"/>
            </p:cNvSpPr>
            <p:nvPr/>
          </p:nvSpPr>
          <p:spPr bwMode="auto">
            <a:xfrm>
              <a:off x="3677" y="1495"/>
              <a:ext cx="137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ClrTx/>
                <a:buFontTx/>
                <a:buNone/>
              </a:pPr>
              <a:r>
                <a:rPr lang="en-US" altLang="zh-CN" sz="2400" b="1">
                  <a:solidFill>
                    <a:srgbClr val="5B9BD5"/>
                  </a:solidFill>
                  <a:latin typeface="Comic Sans MS" panose="030F0702030302020204" pitchFamily="66" charset="0"/>
                </a:rPr>
                <a:t>WAR Hazard!</a:t>
              </a:r>
            </a:p>
          </p:txBody>
        </p:sp>
      </p:grpSp>
      <p:sp>
        <p:nvSpPr>
          <p:cNvPr id="15" name="Text Box 6">
            <a:extLst>
              <a:ext uri="{FF2B5EF4-FFF2-40B4-BE49-F238E27FC236}">
                <a16:creationId xmlns:a16="http://schemas.microsoft.com/office/drawing/2014/main" id="{8DBECAB9-4BE1-435D-9000-35842FEEEDE1}"/>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17</a:t>
            </a:r>
          </a:p>
        </p:txBody>
      </p:sp>
      <p:sp>
        <p:nvSpPr>
          <p:cNvPr id="2" name="日期占位符 1">
            <a:extLst>
              <a:ext uri="{FF2B5EF4-FFF2-40B4-BE49-F238E27FC236}">
                <a16:creationId xmlns:a16="http://schemas.microsoft.com/office/drawing/2014/main" id="{8A388C93-F765-83F9-1DE7-3D0EC5DF552F}"/>
              </a:ext>
            </a:extLst>
          </p:cNvPr>
          <p:cNvSpPr>
            <a:spLocks noGrp="1"/>
          </p:cNvSpPr>
          <p:nvPr>
            <p:ph type="dt" sz="half" idx="10"/>
          </p:nvPr>
        </p:nvSpPr>
        <p:spPr/>
        <p:txBody>
          <a:bodyPr/>
          <a:lstStyle/>
          <a:p>
            <a:pPr>
              <a:defRPr/>
            </a:pPr>
            <a:fld id="{F2ACED66-9F89-485E-9B46-1B87BD152CF9}"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E141745E-D3A0-FE57-F402-7FC0AE79E61A}"/>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DADFC8BE-93DB-8BC8-DE27-330F6BBBDB01}"/>
              </a:ext>
            </a:extLst>
          </p:cNvPr>
          <p:cNvSpPr>
            <a:spLocks noGrp="1"/>
          </p:cNvSpPr>
          <p:nvPr>
            <p:ph type="sldNum" sz="quarter" idx="12"/>
          </p:nvPr>
        </p:nvSpPr>
        <p:spPr/>
        <p:txBody>
          <a:bodyPr/>
          <a:lstStyle/>
          <a:p>
            <a:pPr>
              <a:defRPr/>
            </a:pPr>
            <a:fld id="{65B7EA61-351E-4105-9AD9-76D38C6E9934}" type="slidenum">
              <a:rPr lang="zh-CN" altLang="en-US" smtClean="0"/>
              <a:t>38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60418"/>
                                        </p:tgtEl>
                                        <p:attrNameLst>
                                          <p:attrName>style.visibility</p:attrName>
                                        </p:attrNameLst>
                                      </p:cBhvr>
                                      <p:to>
                                        <p:strVal val="visible"/>
                                      </p:to>
                                    </p:set>
                                    <p:anim calcmode="lin" valueType="num">
                                      <p:cBhvr>
                                        <p:cTn id="7" dur="500" fill="hold"/>
                                        <p:tgtEl>
                                          <p:spTgt spid="60418"/>
                                        </p:tgtEl>
                                        <p:attrNameLst>
                                          <p:attrName>ppt_x</p:attrName>
                                        </p:attrNameLst>
                                      </p:cBhvr>
                                      <p:tavLst>
                                        <p:tav tm="100000">
                                          <p:val>
                                            <p:strVal val="1+#ppt_w/2"/>
                                          </p:val>
                                        </p:tav>
                                        <p:tav>
                                          <p:val>
                                            <p:strVal val="#ppt_x"/>
                                          </p:val>
                                        </p:tav>
                                      </p:tavLst>
                                    </p:anim>
                                    <p:anim calcmode="lin" valueType="num">
                                      <p:cBhvr>
                                        <p:cTn id="8" dur="500" fill="hold"/>
                                        <p:tgtEl>
                                          <p:spTgt spid="60418"/>
                                        </p:tgtEl>
                                        <p:attrNameLst>
                                          <p:attrName>ppt_y</p:attrName>
                                        </p:attrNameLst>
                                      </p:cBhvr>
                                      <p:tavLst>
                                        <p:tav tm="100000">
                                          <p:val>
                                            <p:strVal val="#ppt_y"/>
                                          </p:val>
                                        </p:tav>
                                        <p:tav>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528" fill="hold" nodeType="clickEffect">
                                  <p:stCondLst>
                                    <p:cond delay="0"/>
                                  </p:stCondLst>
                                  <p:childTnLst>
                                    <p:set>
                                      <p:cBhvr additive="repl">
                                        <p:cTn id="12" dur="1" fill="hold">
                                          <p:stCondLst>
                                            <p:cond delay="0"/>
                                          </p:stCondLst>
                                        </p:cTn>
                                        <p:tgtEl>
                                          <p:spTgt spid="60419"/>
                                        </p:tgtEl>
                                        <p:attrNameLst>
                                          <p:attrName>style.visibility</p:attrName>
                                        </p:attrNameLst>
                                      </p:cBhvr>
                                      <p:to>
                                        <p:strVal val="visible"/>
                                      </p:to>
                                    </p:set>
                                    <p:anim calcmode="lin" valueType="num">
                                      <p:cBhvr additive="repl">
                                        <p:cTn id="13" dur="500" fill="hold"/>
                                        <p:tgtEl>
                                          <p:spTgt spid="60419"/>
                                        </p:tgtEl>
                                        <p:attrNameLst>
                                          <p:attrName>ppt_w</p:attrName>
                                        </p:attrNameLst>
                                      </p:cBhvr>
                                      <p:tavLst>
                                        <p:tav tm="100000">
                                          <p:val>
                                            <p:fltVal val="0"/>
                                          </p:val>
                                        </p:tav>
                                        <p:tav>
                                          <p:val>
                                            <p:strVal val="#ppt_w"/>
                                          </p:val>
                                        </p:tav>
                                      </p:tavLst>
                                    </p:anim>
                                    <p:anim calcmode="lin" valueType="num">
                                      <p:cBhvr additive="repl">
                                        <p:cTn id="14" dur="500" fill="hold"/>
                                        <p:tgtEl>
                                          <p:spTgt spid="60419"/>
                                        </p:tgtEl>
                                        <p:attrNameLst>
                                          <p:attrName>ppt_h</p:attrName>
                                        </p:attrNameLst>
                                      </p:cBhvr>
                                      <p:tavLst>
                                        <p:tav tm="100000">
                                          <p:val>
                                            <p:fltVal val="0"/>
                                          </p:val>
                                        </p:tav>
                                        <p:tav>
                                          <p:val>
                                            <p:strVal val="#ppt_h"/>
                                          </p:val>
                                        </p:tav>
                                      </p:tavLst>
                                    </p:anim>
                                    <p:anim calcmode="lin" valueType="num">
                                      <p:cBhvr additive="repl">
                                        <p:cTn id="15" dur="500" fill="hold"/>
                                        <p:tgtEl>
                                          <p:spTgt spid="60419"/>
                                        </p:tgtEl>
                                        <p:attrNameLst>
                                          <p:attrName>ppt_x</p:attrName>
                                        </p:attrNameLst>
                                      </p:cBhvr>
                                      <p:tavLst>
                                        <p:tav tm="100000">
                                          <p:val>
                                            <p:fltVal val="0.5"/>
                                          </p:val>
                                        </p:tav>
                                        <p:tav>
                                          <p:val>
                                            <p:strVal val="#ppt_x"/>
                                          </p:val>
                                        </p:tav>
                                      </p:tavLst>
                                    </p:anim>
                                    <p:anim calcmode="lin" valueType="num">
                                      <p:cBhvr additive="repl">
                                        <p:cTn id="16" dur="500" fill="hold"/>
                                        <p:tgtEl>
                                          <p:spTgt spid="60419"/>
                                        </p:tgtEl>
                                        <p:attrNameLst>
                                          <p:attrName>ppt_y</p:attrName>
                                        </p:attrNameLst>
                                      </p:cBhvr>
                                      <p:tavLst>
                                        <p:tav tm="100000">
                                          <p:val>
                                            <p:fltVal val="0.5"/>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5954" name="Object 1">
            <a:extLst>
              <a:ext uri="{FF2B5EF4-FFF2-40B4-BE49-F238E27FC236}">
                <a16:creationId xmlns:a16="http://schemas.microsoft.com/office/drawing/2014/main" id="{70E82BC4-B540-4C8D-B7AB-F33469E8FA3F}"/>
              </a:ext>
            </a:extLst>
          </p:cNvPr>
          <p:cNvGraphicFramePr>
            <a:graphicFrameLocks noChangeAspect="1"/>
          </p:cNvGraphicFramePr>
          <p:nvPr/>
        </p:nvGraphicFramePr>
        <p:xfrm>
          <a:off x="381000" y="100965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25954" name="Object 1">
                        <a:extLst>
                          <a:ext uri="{FF2B5EF4-FFF2-40B4-BE49-F238E27FC236}">
                            <a16:creationId xmlns:a16="http://schemas.microsoft.com/office/drawing/2014/main" id="{70E82BC4-B540-4C8D-B7AB-F33469E8FA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0965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C5D354E6-EF2B-447B-917C-43972338FC72}"/>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18</a:t>
            </a:r>
          </a:p>
        </p:txBody>
      </p:sp>
      <p:sp>
        <p:nvSpPr>
          <p:cNvPr id="2" name="日期占位符 1">
            <a:extLst>
              <a:ext uri="{FF2B5EF4-FFF2-40B4-BE49-F238E27FC236}">
                <a16:creationId xmlns:a16="http://schemas.microsoft.com/office/drawing/2014/main" id="{B93B4287-2383-2A98-EA8C-EDE0F6D37A8B}"/>
              </a:ext>
            </a:extLst>
          </p:cNvPr>
          <p:cNvSpPr>
            <a:spLocks noGrp="1"/>
          </p:cNvSpPr>
          <p:nvPr>
            <p:ph type="dt" sz="half" idx="10"/>
          </p:nvPr>
        </p:nvSpPr>
        <p:spPr/>
        <p:txBody>
          <a:bodyPr/>
          <a:lstStyle/>
          <a:p>
            <a:pPr>
              <a:defRPr/>
            </a:pPr>
            <a:fld id="{26511CE7-9DF9-40E2-BCDB-9C6E43E8E5F1}"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6ACFC51D-80D8-56F5-4D88-E273FE98F6B2}"/>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9AD13CAD-F652-2E21-7AF7-FBF0EFDCF623}"/>
              </a:ext>
            </a:extLst>
          </p:cNvPr>
          <p:cNvSpPr>
            <a:spLocks noGrp="1"/>
          </p:cNvSpPr>
          <p:nvPr>
            <p:ph type="sldNum" sz="quarter" idx="12"/>
          </p:nvPr>
        </p:nvSpPr>
        <p:spPr/>
        <p:txBody>
          <a:bodyPr/>
          <a:lstStyle/>
          <a:p>
            <a:pPr>
              <a:defRPr/>
            </a:pPr>
            <a:fld id="{65B7EA61-351E-4105-9AD9-76D38C6E9934}" type="slidenum">
              <a:rPr lang="zh-CN" altLang="en-US" smtClean="0"/>
              <a:t>39</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2" name="Object 1">
            <a:extLst>
              <a:ext uri="{FF2B5EF4-FFF2-40B4-BE49-F238E27FC236}">
                <a16:creationId xmlns:a16="http://schemas.microsoft.com/office/drawing/2014/main" id="{919D540B-9B05-459A-A2F7-770BA9E1D8C1}"/>
              </a:ext>
            </a:extLst>
          </p:cNvPr>
          <p:cNvGraphicFramePr>
            <a:graphicFrameLocks noChangeAspect="1"/>
          </p:cNvGraphicFramePr>
          <p:nvPr/>
        </p:nvGraphicFramePr>
        <p:xfrm>
          <a:off x="381000" y="968375"/>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28002" name="Object 1">
                        <a:extLst>
                          <a:ext uri="{FF2B5EF4-FFF2-40B4-BE49-F238E27FC236}">
                            <a16:creationId xmlns:a16="http://schemas.microsoft.com/office/drawing/2014/main" id="{919D540B-9B05-459A-A2F7-770BA9E1D8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68375"/>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9979CD32-8947-441C-89BF-1047A1EF0882}"/>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19</a:t>
            </a:r>
          </a:p>
        </p:txBody>
      </p:sp>
      <p:sp>
        <p:nvSpPr>
          <p:cNvPr id="2" name="日期占位符 1">
            <a:extLst>
              <a:ext uri="{FF2B5EF4-FFF2-40B4-BE49-F238E27FC236}">
                <a16:creationId xmlns:a16="http://schemas.microsoft.com/office/drawing/2014/main" id="{EA530244-C049-F7BF-E42E-ACCE37BD6C25}"/>
              </a:ext>
            </a:extLst>
          </p:cNvPr>
          <p:cNvSpPr>
            <a:spLocks noGrp="1"/>
          </p:cNvSpPr>
          <p:nvPr>
            <p:ph type="dt" sz="half" idx="10"/>
          </p:nvPr>
        </p:nvSpPr>
        <p:spPr/>
        <p:txBody>
          <a:bodyPr/>
          <a:lstStyle/>
          <a:p>
            <a:pPr>
              <a:defRPr/>
            </a:pPr>
            <a:fld id="{0723EB0C-FF47-4ECB-911D-36B745BB584B}"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89222246-6DFC-7E65-DEC2-914434104ABA}"/>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BDB6DF77-E8CC-1820-AD80-C5FC9A2B960C}"/>
              </a:ext>
            </a:extLst>
          </p:cNvPr>
          <p:cNvSpPr>
            <a:spLocks noGrp="1"/>
          </p:cNvSpPr>
          <p:nvPr>
            <p:ph type="sldNum" sz="quarter" idx="12"/>
          </p:nvPr>
        </p:nvSpPr>
        <p:spPr/>
        <p:txBody>
          <a:bodyPr/>
          <a:lstStyle/>
          <a:p>
            <a:pPr>
              <a:defRPr/>
            </a:pPr>
            <a:fld id="{65B7EA61-351E-4105-9AD9-76D38C6E9934}" type="slidenum">
              <a:rPr lang="zh-CN" altLang="en-US" smtClean="0"/>
              <a:t>40</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0050" name="Object 1">
            <a:extLst>
              <a:ext uri="{FF2B5EF4-FFF2-40B4-BE49-F238E27FC236}">
                <a16:creationId xmlns:a16="http://schemas.microsoft.com/office/drawing/2014/main" id="{346D6AF9-2028-4642-B750-5B7ED8332184}"/>
              </a:ext>
            </a:extLst>
          </p:cNvPr>
          <p:cNvGraphicFramePr>
            <a:graphicFrameLocks noChangeAspect="1"/>
          </p:cNvGraphicFramePr>
          <p:nvPr/>
        </p:nvGraphicFramePr>
        <p:xfrm>
          <a:off x="381000" y="1112838"/>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30050" name="Object 1">
                        <a:extLst>
                          <a:ext uri="{FF2B5EF4-FFF2-40B4-BE49-F238E27FC236}">
                            <a16:creationId xmlns:a16="http://schemas.microsoft.com/office/drawing/2014/main" id="{346D6AF9-2028-4642-B750-5B7ED83321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11283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A80ACE91-FC65-4DF4-83F8-52A40737F926}"/>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20</a:t>
            </a:r>
          </a:p>
        </p:txBody>
      </p:sp>
      <p:sp>
        <p:nvSpPr>
          <p:cNvPr id="2" name="日期占位符 1">
            <a:extLst>
              <a:ext uri="{FF2B5EF4-FFF2-40B4-BE49-F238E27FC236}">
                <a16:creationId xmlns:a16="http://schemas.microsoft.com/office/drawing/2014/main" id="{10C4DA9E-7B0C-3C4A-2945-9DA82256FBDA}"/>
              </a:ext>
            </a:extLst>
          </p:cNvPr>
          <p:cNvSpPr>
            <a:spLocks noGrp="1"/>
          </p:cNvSpPr>
          <p:nvPr>
            <p:ph type="dt" sz="half" idx="10"/>
          </p:nvPr>
        </p:nvSpPr>
        <p:spPr/>
        <p:txBody>
          <a:bodyPr/>
          <a:lstStyle/>
          <a:p>
            <a:pPr>
              <a:defRPr/>
            </a:pPr>
            <a:fld id="{7D142C1F-3133-4D71-A475-3087E26B5150}"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70AE48F4-3B1D-D536-E6C7-BE3EA94B3C75}"/>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203A35CC-BBAD-77CE-30D8-6FDFD64A4664}"/>
              </a:ext>
            </a:extLst>
          </p:cNvPr>
          <p:cNvSpPr>
            <a:spLocks noGrp="1"/>
          </p:cNvSpPr>
          <p:nvPr>
            <p:ph type="sldNum" sz="quarter" idx="12"/>
          </p:nvPr>
        </p:nvSpPr>
        <p:spPr/>
        <p:txBody>
          <a:bodyPr/>
          <a:lstStyle/>
          <a:p>
            <a:pPr>
              <a:defRPr/>
            </a:pPr>
            <a:fld id="{65B7EA61-351E-4105-9AD9-76D38C6E9934}" type="slidenum">
              <a:rPr lang="zh-CN" altLang="en-US" smtClean="0"/>
              <a:t>41</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098" name="Object 1">
            <a:extLst>
              <a:ext uri="{FF2B5EF4-FFF2-40B4-BE49-F238E27FC236}">
                <a16:creationId xmlns:a16="http://schemas.microsoft.com/office/drawing/2014/main" id="{3EE49739-168C-4951-BCE3-63433397DEE9}"/>
              </a:ext>
            </a:extLst>
          </p:cNvPr>
          <p:cNvGraphicFramePr>
            <a:graphicFrameLocks noChangeAspect="1"/>
          </p:cNvGraphicFramePr>
          <p:nvPr/>
        </p:nvGraphicFramePr>
        <p:xfrm>
          <a:off x="381000" y="1030288"/>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32098" name="Object 1">
                        <a:extLst>
                          <a:ext uri="{FF2B5EF4-FFF2-40B4-BE49-F238E27FC236}">
                            <a16:creationId xmlns:a16="http://schemas.microsoft.com/office/drawing/2014/main" id="{3EE49739-168C-4951-BCE3-63433397DE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028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4" name="Rectangle 2">
            <a:extLst>
              <a:ext uri="{FF2B5EF4-FFF2-40B4-BE49-F238E27FC236}">
                <a16:creationId xmlns:a16="http://schemas.microsoft.com/office/drawing/2014/main" id="{FA3CEB6B-E304-4284-BB9D-9F7542C57615}"/>
              </a:ext>
            </a:extLst>
          </p:cNvPr>
          <p:cNvSpPr>
            <a:spLocks noChangeArrowheads="1"/>
          </p:cNvSpPr>
          <p:nvPr/>
        </p:nvSpPr>
        <p:spPr bwMode="auto">
          <a:xfrm>
            <a:off x="5943873" y="1340768"/>
            <a:ext cx="2736304"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WAR Hazard </a:t>
            </a:r>
          </a:p>
          <a:p>
            <a:pPr marL="0" indent="0" eaLnBrk="1" hangingPunct="1">
              <a:spcBef>
                <a:spcPts val="900"/>
              </a:spcBef>
              <a:buClr>
                <a:srgbClr val="5B9BD5"/>
              </a:buClr>
              <a:buNone/>
            </a:pPr>
            <a:r>
              <a:rPr lang="en-US" altLang="zh-CN" sz="2400" dirty="0">
                <a:solidFill>
                  <a:srgbClr val="5B9BD5"/>
                </a:solidFill>
                <a:latin typeface="Comic Sans MS" panose="030F0702030302020204" pitchFamily="66" charset="0"/>
              </a:rPr>
              <a:t>  </a:t>
            </a:r>
            <a:r>
              <a:rPr lang="en-US" altLang="zh-CN" sz="2400" b="1" dirty="0">
                <a:solidFill>
                  <a:srgbClr val="5B9BD5"/>
                </a:solidFill>
                <a:latin typeface="Comic Sans MS" panose="030F0702030302020204" pitchFamily="66" charset="0"/>
              </a:rPr>
              <a:t>is now gone... </a:t>
            </a:r>
          </a:p>
        </p:txBody>
      </p:sp>
      <p:sp>
        <p:nvSpPr>
          <p:cNvPr id="8" name="Text Box 6">
            <a:extLst>
              <a:ext uri="{FF2B5EF4-FFF2-40B4-BE49-F238E27FC236}">
                <a16:creationId xmlns:a16="http://schemas.microsoft.com/office/drawing/2014/main" id="{1DEC13F4-DE87-4B07-B69E-8548D772B322}"/>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21</a:t>
            </a:r>
          </a:p>
        </p:txBody>
      </p:sp>
      <p:sp>
        <p:nvSpPr>
          <p:cNvPr id="2" name="日期占位符 1">
            <a:extLst>
              <a:ext uri="{FF2B5EF4-FFF2-40B4-BE49-F238E27FC236}">
                <a16:creationId xmlns:a16="http://schemas.microsoft.com/office/drawing/2014/main" id="{0A625BE8-A7DF-DB29-D722-6B58E6EEE529}"/>
              </a:ext>
            </a:extLst>
          </p:cNvPr>
          <p:cNvSpPr>
            <a:spLocks noGrp="1"/>
          </p:cNvSpPr>
          <p:nvPr>
            <p:ph type="dt" sz="half" idx="10"/>
          </p:nvPr>
        </p:nvSpPr>
        <p:spPr/>
        <p:txBody>
          <a:bodyPr/>
          <a:lstStyle/>
          <a:p>
            <a:pPr>
              <a:defRPr/>
            </a:pPr>
            <a:fld id="{FE12397E-F10F-4C59-BD8F-C35DE06A4D80}"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4CFF5D38-03C5-25FA-A774-EA91D132D4D4}"/>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70B02190-0271-12D0-D59C-233F06B2DBEA}"/>
              </a:ext>
            </a:extLst>
          </p:cNvPr>
          <p:cNvSpPr>
            <a:spLocks noGrp="1"/>
          </p:cNvSpPr>
          <p:nvPr>
            <p:ph type="sldNum" sz="quarter" idx="12"/>
          </p:nvPr>
        </p:nvSpPr>
        <p:spPr/>
        <p:txBody>
          <a:bodyPr/>
          <a:lstStyle/>
          <a:p>
            <a:pPr>
              <a:defRPr/>
            </a:pPr>
            <a:fld id="{65B7EA61-351E-4105-9AD9-76D38C6E9934}" type="slidenum">
              <a:rPr lang="zh-CN" altLang="en-US" smtClean="0"/>
              <a:t>42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64514"/>
                                        </p:tgtEl>
                                        <p:attrNameLst>
                                          <p:attrName>style.visibility</p:attrName>
                                        </p:attrNameLst>
                                      </p:cBhvr>
                                      <p:to>
                                        <p:strVal val="visible"/>
                                      </p:to>
                                    </p:set>
                                    <p:anim calcmode="lin" valueType="num">
                                      <p:cBhvr>
                                        <p:cTn id="7" dur="500" fill="hold"/>
                                        <p:tgtEl>
                                          <p:spTgt spid="64514"/>
                                        </p:tgtEl>
                                        <p:attrNameLst>
                                          <p:attrName>ppt_x</p:attrName>
                                        </p:attrNameLst>
                                      </p:cBhvr>
                                      <p:tavLst>
                                        <p:tav tm="100000">
                                          <p:val>
                                            <p:strVal val="1+#ppt_w/2"/>
                                          </p:val>
                                        </p:tav>
                                        <p:tav>
                                          <p:val>
                                            <p:strVal val="#ppt_x"/>
                                          </p:val>
                                        </p:tav>
                                      </p:tavLst>
                                    </p:anim>
                                    <p:anim calcmode="lin" valueType="num">
                                      <p:cBhvr>
                                        <p:cTn id="8" dur="500" fill="hold"/>
                                        <p:tgtEl>
                                          <p:spTgt spid="64514"/>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6" name="Object 1">
            <a:extLst>
              <a:ext uri="{FF2B5EF4-FFF2-40B4-BE49-F238E27FC236}">
                <a16:creationId xmlns:a16="http://schemas.microsoft.com/office/drawing/2014/main" id="{E2780E1B-F675-43FC-8A32-5F3CB08176B7}"/>
              </a:ext>
            </a:extLst>
          </p:cNvPr>
          <p:cNvGraphicFramePr>
            <a:graphicFrameLocks noChangeAspect="1"/>
          </p:cNvGraphicFramePr>
          <p:nvPr/>
        </p:nvGraphicFramePr>
        <p:xfrm>
          <a:off x="381000" y="1030288"/>
          <a:ext cx="8096250" cy="5208587"/>
        </p:xfrm>
        <a:graphic>
          <a:graphicData uri="http://schemas.openxmlformats.org/presentationml/2006/ole">
            <mc:AlternateContent xmlns:mc="http://schemas.openxmlformats.org/markup-compatibility/2006">
              <mc:Choice xmlns:v="urn:schemas-microsoft-com:vml" Requires="v">
                <p:oleObj r:id="rId3" imgW="8483600" imgH="5638800" progId="">
                  <p:embed/>
                </p:oleObj>
              </mc:Choice>
              <mc:Fallback>
                <p:oleObj r:id="rId3" imgW="8483600" imgH="5638800" progId="">
                  <p:embed/>
                  <p:pic>
                    <p:nvPicPr>
                      <p:cNvPr id="134146" name="Object 1">
                        <a:extLst>
                          <a:ext uri="{FF2B5EF4-FFF2-40B4-BE49-F238E27FC236}">
                            <a16:creationId xmlns:a16="http://schemas.microsoft.com/office/drawing/2014/main" id="{E2780E1B-F675-43FC-8A32-5F3CB08176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028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4CFF54C1-DE51-407E-96B4-59AC2132F9AA}"/>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22</a:t>
            </a:r>
          </a:p>
        </p:txBody>
      </p:sp>
      <p:sp>
        <p:nvSpPr>
          <p:cNvPr id="2" name="日期占位符 1">
            <a:extLst>
              <a:ext uri="{FF2B5EF4-FFF2-40B4-BE49-F238E27FC236}">
                <a16:creationId xmlns:a16="http://schemas.microsoft.com/office/drawing/2014/main" id="{7DACCB89-78A9-7000-D174-49F69398B7F3}"/>
              </a:ext>
            </a:extLst>
          </p:cNvPr>
          <p:cNvSpPr>
            <a:spLocks noGrp="1"/>
          </p:cNvSpPr>
          <p:nvPr>
            <p:ph type="dt" sz="half" idx="10"/>
          </p:nvPr>
        </p:nvSpPr>
        <p:spPr/>
        <p:txBody>
          <a:bodyPr/>
          <a:lstStyle/>
          <a:p>
            <a:pPr>
              <a:defRPr/>
            </a:pPr>
            <a:fld id="{CE5836A7-CDA6-4866-9884-E903B8C63004}"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2E04698-78EB-5F3D-DCBE-7B36A779359D}"/>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865B8058-388D-5CB1-3863-32F46C735865}"/>
              </a:ext>
            </a:extLst>
          </p:cNvPr>
          <p:cNvSpPr>
            <a:spLocks noGrp="1"/>
          </p:cNvSpPr>
          <p:nvPr>
            <p:ph type="sldNum" sz="quarter" idx="12"/>
          </p:nvPr>
        </p:nvSpPr>
        <p:spPr/>
        <p:txBody>
          <a:bodyPr/>
          <a:lstStyle/>
          <a:p>
            <a:pPr>
              <a:defRPr/>
            </a:pPr>
            <a:fld id="{65B7EA61-351E-4105-9AD9-76D38C6E9934}" type="slidenum">
              <a:rPr lang="zh-CN" altLang="en-US" smtClean="0"/>
              <a:t>43</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242" name="Object 1">
            <a:extLst>
              <a:ext uri="{FF2B5EF4-FFF2-40B4-BE49-F238E27FC236}">
                <a16:creationId xmlns:a16="http://schemas.microsoft.com/office/drawing/2014/main" id="{E9503A34-B390-4910-BCEB-48639488EACE}"/>
              </a:ext>
            </a:extLst>
          </p:cNvPr>
          <p:cNvGraphicFramePr>
            <a:graphicFrameLocks noChangeAspect="1"/>
          </p:cNvGraphicFramePr>
          <p:nvPr/>
        </p:nvGraphicFramePr>
        <p:xfrm>
          <a:off x="381000" y="1030288"/>
          <a:ext cx="8096250" cy="5208587"/>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38242" name="Object 1">
                        <a:extLst>
                          <a:ext uri="{FF2B5EF4-FFF2-40B4-BE49-F238E27FC236}">
                            <a16:creationId xmlns:a16="http://schemas.microsoft.com/office/drawing/2014/main" id="{E9503A34-B390-4910-BCEB-48639488EA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30288"/>
                        <a:ext cx="8096250" cy="5208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40F6C10F-CF53-4C8C-8426-BEBA52FEF52D}"/>
              </a:ext>
            </a:extLst>
          </p:cNvPr>
          <p:cNvSpPr txBox="1">
            <a:spLocks noChangeArrowheads="1"/>
          </p:cNvSpPr>
          <p:nvPr/>
        </p:nvSpPr>
        <p:spPr bwMode="auto">
          <a:xfrm>
            <a:off x="659234" y="228601"/>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61</a:t>
            </a:r>
            <a:r>
              <a:rPr lang="zh-CN" altLang="en-US" sz="3200" dirty="0">
                <a:latin typeface="Times New Roman" panose="02020603050405020304" pitchFamily="18" charset="0"/>
                <a:cs typeface="Times New Roman" panose="02020603050405020304" pitchFamily="18" charset="0"/>
              </a:rPr>
              <a:t>（跳过一些节拍）</a:t>
            </a:r>
            <a:endParaRPr lang="en-US" altLang="zh-CN" sz="32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819EECD1-73EF-00BA-0CB0-16E0ED9295C6}"/>
              </a:ext>
            </a:extLst>
          </p:cNvPr>
          <p:cNvSpPr>
            <a:spLocks noGrp="1"/>
          </p:cNvSpPr>
          <p:nvPr>
            <p:ph type="dt" sz="half" idx="10"/>
          </p:nvPr>
        </p:nvSpPr>
        <p:spPr/>
        <p:txBody>
          <a:bodyPr/>
          <a:lstStyle/>
          <a:p>
            <a:pPr>
              <a:defRPr/>
            </a:pPr>
            <a:fld id="{8B49DD88-6B88-4593-AA08-AA19D3AE7B7F}"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82DE3EFF-3064-5A1D-1F99-7F20817F5CCB}"/>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8595E188-2008-FE06-98D8-B1EB1495FDE1}"/>
              </a:ext>
            </a:extLst>
          </p:cNvPr>
          <p:cNvSpPr>
            <a:spLocks noGrp="1"/>
          </p:cNvSpPr>
          <p:nvPr>
            <p:ph type="sldNum" sz="quarter" idx="12"/>
          </p:nvPr>
        </p:nvSpPr>
        <p:spPr/>
        <p:txBody>
          <a:bodyPr/>
          <a:lstStyle/>
          <a:p>
            <a:pPr>
              <a:defRPr/>
            </a:pPr>
            <a:fld id="{65B7EA61-351E-4105-9AD9-76D38C6E9934}" type="slidenum">
              <a:rPr lang="zh-CN" altLang="en-US" smtClean="0"/>
              <a:t>44</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0290" name="Object 1">
            <a:extLst>
              <a:ext uri="{FF2B5EF4-FFF2-40B4-BE49-F238E27FC236}">
                <a16:creationId xmlns:a16="http://schemas.microsoft.com/office/drawing/2014/main" id="{927E34A6-9DC2-4196-85E4-0B990CA84FA2}"/>
              </a:ext>
            </a:extLst>
          </p:cNvPr>
          <p:cNvGraphicFramePr>
            <a:graphicFrameLocks noChangeAspect="1"/>
          </p:cNvGraphicFramePr>
          <p:nvPr/>
        </p:nvGraphicFramePr>
        <p:xfrm>
          <a:off x="381000" y="1009650"/>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40290" name="Object 1">
                        <a:extLst>
                          <a:ext uri="{FF2B5EF4-FFF2-40B4-BE49-F238E27FC236}">
                            <a16:creationId xmlns:a16="http://schemas.microsoft.com/office/drawing/2014/main" id="{927E34A6-9DC2-4196-85E4-0B990CA84F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09650"/>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4137B2EF-1597-4BA8-A10E-A77F2C89CBAF}"/>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计分牌实例</a:t>
            </a:r>
            <a:r>
              <a:rPr lang="en-US" altLang="zh-CN" sz="3200" dirty="0">
                <a:latin typeface="Times New Roman" panose="02020603050405020304" pitchFamily="18" charset="0"/>
                <a:cs typeface="Times New Roman" panose="02020603050405020304" pitchFamily="18" charset="0"/>
              </a:rPr>
              <a:t>: Cycle 62</a:t>
            </a:r>
          </a:p>
        </p:txBody>
      </p:sp>
      <p:sp>
        <p:nvSpPr>
          <p:cNvPr id="2" name="日期占位符 1">
            <a:extLst>
              <a:ext uri="{FF2B5EF4-FFF2-40B4-BE49-F238E27FC236}">
                <a16:creationId xmlns:a16="http://schemas.microsoft.com/office/drawing/2014/main" id="{2D1565C9-CC3A-2EAE-EEB3-4832C19DDA89}"/>
              </a:ext>
            </a:extLst>
          </p:cNvPr>
          <p:cNvSpPr>
            <a:spLocks noGrp="1"/>
          </p:cNvSpPr>
          <p:nvPr>
            <p:ph type="dt" sz="half" idx="10"/>
          </p:nvPr>
        </p:nvSpPr>
        <p:spPr/>
        <p:txBody>
          <a:bodyPr/>
          <a:lstStyle/>
          <a:p>
            <a:pPr>
              <a:defRPr/>
            </a:pPr>
            <a:fld id="{5885899F-C29D-41BD-84BE-CA93A162659E}"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62EDFAF1-C0F8-2C03-75E5-72856D11E5F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933D6DB-A93B-9D26-3F17-90EC4E57E0A3}"/>
              </a:ext>
            </a:extLst>
          </p:cNvPr>
          <p:cNvSpPr>
            <a:spLocks noGrp="1"/>
          </p:cNvSpPr>
          <p:nvPr>
            <p:ph type="sldNum" sz="quarter" idx="12"/>
          </p:nvPr>
        </p:nvSpPr>
        <p:spPr/>
        <p:txBody>
          <a:bodyPr/>
          <a:lstStyle/>
          <a:p>
            <a:pPr>
              <a:defRPr/>
            </a:pPr>
            <a:fld id="{65B7EA61-351E-4105-9AD9-76D38C6E9934}" type="slidenum">
              <a:rPr lang="zh-CN" altLang="en-US" smtClean="0"/>
              <a:t>45</a:t>
            </a:fld>
            <a:endParaRPr lang="en-US" altLang="zh-CN"/>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2338" name="Object 1">
            <a:extLst>
              <a:ext uri="{FF2B5EF4-FFF2-40B4-BE49-F238E27FC236}">
                <a16:creationId xmlns:a16="http://schemas.microsoft.com/office/drawing/2014/main" id="{7883677A-5ACF-409C-A7FE-6A9583ACA9D9}"/>
              </a:ext>
            </a:extLst>
          </p:cNvPr>
          <p:cNvGraphicFramePr>
            <a:graphicFrameLocks noChangeAspect="1"/>
          </p:cNvGraphicFramePr>
          <p:nvPr>
            <p:extLst>
              <p:ext uri="{D42A27DB-BD31-4B8C-83A1-F6EECF244321}">
                <p14:modId xmlns:p14="http://schemas.microsoft.com/office/powerpoint/2010/main" val="275671476"/>
              </p:ext>
            </p:extLst>
          </p:nvPr>
        </p:nvGraphicFramePr>
        <p:xfrm>
          <a:off x="251520" y="980728"/>
          <a:ext cx="8096250" cy="5208588"/>
        </p:xfrm>
        <a:graphic>
          <a:graphicData uri="http://schemas.openxmlformats.org/presentationml/2006/ole">
            <mc:AlternateContent xmlns:mc="http://schemas.openxmlformats.org/markup-compatibility/2006">
              <mc:Choice xmlns:v="urn:schemas-microsoft-com:vml" Requires="v">
                <p:oleObj r:id="rId3" imgW="8953500" imgH="6337300" progId="">
                  <p:embed/>
                </p:oleObj>
              </mc:Choice>
              <mc:Fallback>
                <p:oleObj r:id="rId3" imgW="8953500" imgH="6337300" progId="">
                  <p:embed/>
                  <p:pic>
                    <p:nvPicPr>
                      <p:cNvPr id="142338" name="Object 1">
                        <a:extLst>
                          <a:ext uri="{FF2B5EF4-FFF2-40B4-BE49-F238E27FC236}">
                            <a16:creationId xmlns:a16="http://schemas.microsoft.com/office/drawing/2014/main" id="{7883677A-5ACF-409C-A7FE-6A9583ACA9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980728"/>
                        <a:ext cx="8096250" cy="5208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39" name="AutoShape 2">
            <a:extLst>
              <a:ext uri="{FF2B5EF4-FFF2-40B4-BE49-F238E27FC236}">
                <a16:creationId xmlns:a16="http://schemas.microsoft.com/office/drawing/2014/main" id="{85FD159E-0ADD-4EBD-B964-B663B69E2DD2}"/>
              </a:ext>
            </a:extLst>
          </p:cNvPr>
          <p:cNvSpPr>
            <a:spLocks noChangeArrowheads="1"/>
          </p:cNvSpPr>
          <p:nvPr/>
        </p:nvSpPr>
        <p:spPr bwMode="auto">
          <a:xfrm>
            <a:off x="2971800" y="1543050"/>
            <a:ext cx="461963" cy="1522413"/>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42340" name="AutoShape 3">
            <a:extLst>
              <a:ext uri="{FF2B5EF4-FFF2-40B4-BE49-F238E27FC236}">
                <a16:creationId xmlns:a16="http://schemas.microsoft.com/office/drawing/2014/main" id="{59AAB739-B755-4241-B848-E5BA9E3126A3}"/>
              </a:ext>
            </a:extLst>
          </p:cNvPr>
          <p:cNvSpPr>
            <a:spLocks noChangeArrowheads="1"/>
          </p:cNvSpPr>
          <p:nvPr/>
        </p:nvSpPr>
        <p:spPr bwMode="auto">
          <a:xfrm>
            <a:off x="3581400" y="2076450"/>
            <a:ext cx="1066800" cy="989013"/>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42341" name="AutoShape 4">
            <a:extLst>
              <a:ext uri="{FF2B5EF4-FFF2-40B4-BE49-F238E27FC236}">
                <a16:creationId xmlns:a16="http://schemas.microsoft.com/office/drawing/2014/main" id="{A11303FB-6F2A-4DD5-83E8-73249EB953BA}"/>
              </a:ext>
            </a:extLst>
          </p:cNvPr>
          <p:cNvSpPr>
            <a:spLocks noChangeArrowheads="1"/>
          </p:cNvSpPr>
          <p:nvPr/>
        </p:nvSpPr>
        <p:spPr bwMode="auto">
          <a:xfrm>
            <a:off x="4800600" y="1543050"/>
            <a:ext cx="461963" cy="1522413"/>
          </a:xfrm>
          <a:prstGeom prst="roundRect">
            <a:avLst>
              <a:gd name="adj" fmla="val 16667"/>
            </a:avLst>
          </a:prstGeom>
          <a:noFill/>
          <a:ln w="57240" cap="sq">
            <a:solidFill>
              <a:srgbClr val="5B9BD5"/>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69637" name="Rectangle 5">
            <a:extLst>
              <a:ext uri="{FF2B5EF4-FFF2-40B4-BE49-F238E27FC236}">
                <a16:creationId xmlns:a16="http://schemas.microsoft.com/office/drawing/2014/main" id="{303803E5-F713-49CB-8A69-58D4F1EE58A6}"/>
              </a:ext>
            </a:extLst>
          </p:cNvPr>
          <p:cNvSpPr>
            <a:spLocks noChangeArrowheads="1"/>
          </p:cNvSpPr>
          <p:nvPr/>
        </p:nvSpPr>
        <p:spPr bwMode="auto">
          <a:xfrm>
            <a:off x="5419025" y="1282700"/>
            <a:ext cx="388843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In-order issue </a:t>
            </a:r>
          </a:p>
          <a:p>
            <a:pPr eaLnBrk="1" hangingPunct="1">
              <a:spcBef>
                <a:spcPts val="900"/>
              </a:spcBef>
              <a:buClr>
                <a:srgbClr val="5B9BD5"/>
              </a:buClr>
              <a:buFont typeface="Comic Sans MS" panose="030F0702030302020204" pitchFamily="66" charset="0"/>
              <a:buChar char="•"/>
            </a:pPr>
            <a:r>
              <a:rPr lang="en-US" altLang="zh-CN" sz="2400" b="1" dirty="0">
                <a:solidFill>
                  <a:srgbClr val="5B9BD5"/>
                </a:solidFill>
                <a:latin typeface="Comic Sans MS" panose="030F0702030302020204" pitchFamily="66" charset="0"/>
              </a:rPr>
              <a:t>out-of-order execute</a:t>
            </a:r>
          </a:p>
          <a:p>
            <a:pPr>
              <a:spcBef>
                <a:spcPts val="900"/>
              </a:spcBef>
              <a:buClr>
                <a:srgbClr val="5B9BD5"/>
              </a:buClr>
              <a:buFont typeface="Comic Sans MS" panose="030F0702030302020204" pitchFamily="66" charset="0"/>
              <a:buChar char="•"/>
            </a:pPr>
            <a:r>
              <a:rPr lang="en-US" altLang="zh-CN" sz="2400" dirty="0">
                <a:solidFill>
                  <a:srgbClr val="5B9BD5"/>
                </a:solidFill>
                <a:latin typeface="Comic Sans MS" panose="030F0702030302020204" pitchFamily="66" charset="0"/>
              </a:rPr>
              <a:t>out-of-order WR</a:t>
            </a:r>
            <a:endParaRPr lang="en-US" altLang="zh-CN" sz="2400" b="1" dirty="0">
              <a:solidFill>
                <a:srgbClr val="5B9BD5"/>
              </a:solidFill>
              <a:latin typeface="Comic Sans MS" panose="030F0702030302020204" pitchFamily="66" charset="0"/>
            </a:endParaRPr>
          </a:p>
        </p:txBody>
      </p:sp>
      <p:sp>
        <p:nvSpPr>
          <p:cNvPr id="11" name="Text Box 6">
            <a:extLst>
              <a:ext uri="{FF2B5EF4-FFF2-40B4-BE49-F238E27FC236}">
                <a16:creationId xmlns:a16="http://schemas.microsoft.com/office/drawing/2014/main" id="{3091CD8F-0A00-435E-AC62-D1C0A4636185}"/>
              </a:ext>
            </a:extLst>
          </p:cNvPr>
          <p:cNvSpPr txBox="1">
            <a:spLocks noChangeArrowheads="1"/>
          </p:cNvSpPr>
          <p:nvPr/>
        </p:nvSpPr>
        <p:spPr bwMode="auto">
          <a:xfrm>
            <a:off x="765175" y="230188"/>
            <a:ext cx="7083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algn="ctr" eaLnBrk="1" hangingPunct="1">
              <a:spcBef>
                <a:spcPct val="0"/>
              </a:spcBef>
              <a:buClrTx/>
              <a:buFontTx/>
              <a:buNone/>
            </a:pPr>
            <a:r>
              <a:rPr lang="zh-CN" altLang="en-US" sz="3200" dirty="0">
                <a:latin typeface="Times New Roman" panose="02020603050405020304" pitchFamily="18" charset="0"/>
                <a:cs typeface="Times New Roman" panose="02020603050405020304" pitchFamily="18" charset="0"/>
              </a:rPr>
              <a:t>计分牌最终状态</a:t>
            </a:r>
            <a:endParaRPr lang="en-US" altLang="zh-CN" sz="32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E3DBCC48-8E74-89B3-40FA-EC471F47643A}"/>
              </a:ext>
            </a:extLst>
          </p:cNvPr>
          <p:cNvSpPr>
            <a:spLocks noGrp="1"/>
          </p:cNvSpPr>
          <p:nvPr>
            <p:ph type="dt" sz="half" idx="10"/>
          </p:nvPr>
        </p:nvSpPr>
        <p:spPr/>
        <p:txBody>
          <a:bodyPr/>
          <a:lstStyle/>
          <a:p>
            <a:pPr>
              <a:defRPr/>
            </a:pPr>
            <a:fld id="{E502785F-8A09-472C-9D02-76D43F4AF9A3}"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858FE59A-2E21-6C17-E45D-E4DB8C07E029}"/>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35398D3-46C3-AB56-1498-AB9A51BEBBC2}"/>
              </a:ext>
            </a:extLst>
          </p:cNvPr>
          <p:cNvSpPr>
            <a:spLocks noGrp="1"/>
          </p:cNvSpPr>
          <p:nvPr>
            <p:ph type="sldNum" sz="quarter" idx="12"/>
          </p:nvPr>
        </p:nvSpPr>
        <p:spPr/>
        <p:txBody>
          <a:bodyPr/>
          <a:lstStyle/>
          <a:p>
            <a:pPr>
              <a:defRPr/>
            </a:pPr>
            <a:fld id="{65B7EA61-351E-4105-9AD9-76D38C6E9934}" type="slidenum">
              <a:rPr lang="zh-CN" altLang="en-US" smtClean="0"/>
              <a:t>46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69637"/>
                                        </p:tgtEl>
                                        <p:attrNameLst>
                                          <p:attrName>style.visibility</p:attrName>
                                        </p:attrNameLst>
                                      </p:cBhvr>
                                      <p:to>
                                        <p:strVal val="visible"/>
                                      </p:to>
                                    </p:set>
                                    <p:anim calcmode="lin" valueType="num">
                                      <p:cBhvr>
                                        <p:cTn id="7" dur="500" fill="hold"/>
                                        <p:tgtEl>
                                          <p:spTgt spid="69637"/>
                                        </p:tgtEl>
                                        <p:attrNameLst>
                                          <p:attrName>ppt_x</p:attrName>
                                        </p:attrNameLst>
                                      </p:cBhvr>
                                      <p:tavLst>
                                        <p:tav tm="100000">
                                          <p:val>
                                            <p:strVal val="1+#ppt_w/2"/>
                                          </p:val>
                                        </p:tav>
                                        <p:tav>
                                          <p:val>
                                            <p:strVal val="#ppt_x"/>
                                          </p:val>
                                        </p:tav>
                                      </p:tavLst>
                                    </p:anim>
                                    <p:anim calcmode="lin" valueType="num">
                                      <p:cBhvr>
                                        <p:cTn id="8" dur="500" fill="hold"/>
                                        <p:tgtEl>
                                          <p:spTgt spid="69637"/>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
            <a:extLst>
              <a:ext uri="{FF2B5EF4-FFF2-40B4-BE49-F238E27FC236}">
                <a16:creationId xmlns:a16="http://schemas.microsoft.com/office/drawing/2014/main" id="{FD4E67AD-1C87-45C3-B5EF-98B39237B0CB}"/>
              </a:ext>
            </a:extLst>
          </p:cNvPr>
          <p:cNvSpPr txBox="1">
            <a:spLocks noChangeArrowheads="1"/>
          </p:cNvSpPr>
          <p:nvPr/>
        </p:nvSpPr>
        <p:spPr bwMode="auto">
          <a:xfrm>
            <a:off x="2699792" y="293576"/>
            <a:ext cx="5915025" cy="5119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ea typeface="宋体" panose="02010600030101010101" pitchFamily="2" charset="-122"/>
              </a:defRPr>
            </a:lvl9pPr>
          </a:lstStyle>
          <a:p>
            <a:pPr eaLnBrk="1" hangingPunct="1">
              <a:spcBef>
                <a:spcPct val="0"/>
              </a:spcBef>
              <a:buClrTx/>
              <a:buFont typeface="Times New Roman" panose="02020603050405020304" pitchFamily="18" charset="0"/>
              <a:buNone/>
            </a:pPr>
            <a:r>
              <a:rPr lang="zh-CN" altLang="zh-CN" sz="3200" dirty="0">
                <a:solidFill>
                  <a:schemeClr val="tx1"/>
                </a:solidFill>
                <a:latin typeface="Calibri Light" panose="020F0302020204030204" pitchFamily="34" charset="0"/>
              </a:rPr>
              <a:t>记分牌流水线控制</a:t>
            </a:r>
          </a:p>
        </p:txBody>
      </p:sp>
      <p:sp>
        <p:nvSpPr>
          <p:cNvPr id="84995" name="Text Box 2">
            <a:extLst>
              <a:ext uri="{FF2B5EF4-FFF2-40B4-BE49-F238E27FC236}">
                <a16:creationId xmlns:a16="http://schemas.microsoft.com/office/drawing/2014/main" id="{0EAFD0D9-35C0-476E-B95F-3AD6710300D4}"/>
              </a:ext>
            </a:extLst>
          </p:cNvPr>
          <p:cNvSpPr txBox="1">
            <a:spLocks noChangeArrowheads="1"/>
          </p:cNvSpPr>
          <p:nvPr/>
        </p:nvSpPr>
        <p:spPr bwMode="auto">
          <a:xfrm>
            <a:off x="1614488" y="2226469"/>
            <a:ext cx="5915025" cy="3263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sz="600"/>
          </a:p>
        </p:txBody>
      </p:sp>
      <p:graphicFrame>
        <p:nvGraphicFramePr>
          <p:cNvPr id="2" name="表格 1">
            <a:extLst>
              <a:ext uri="{FF2B5EF4-FFF2-40B4-BE49-F238E27FC236}">
                <a16:creationId xmlns:a16="http://schemas.microsoft.com/office/drawing/2014/main" id="{533EE2E2-B72A-4581-851C-56EA6CAF1631}"/>
              </a:ext>
            </a:extLst>
          </p:cNvPr>
          <p:cNvGraphicFramePr>
            <a:graphicFrameLocks noGrp="1"/>
          </p:cNvGraphicFramePr>
          <p:nvPr/>
        </p:nvGraphicFramePr>
        <p:xfrm>
          <a:off x="426356" y="954101"/>
          <a:ext cx="8291288" cy="5808239"/>
        </p:xfrm>
        <a:graphic>
          <a:graphicData uri="http://schemas.openxmlformats.org/drawingml/2006/table">
            <a:tbl>
              <a:tblPr firstRow="1" bandRow="1">
                <a:tableStyleId>{5C22544A-7EE6-4342-B048-85BDC9FD1C3A}</a:tableStyleId>
              </a:tblPr>
              <a:tblGrid>
                <a:gridCol w="1478687">
                  <a:extLst>
                    <a:ext uri="{9D8B030D-6E8A-4147-A177-3AD203B41FA5}">
                      <a16:colId xmlns:a16="http://schemas.microsoft.com/office/drawing/2014/main" val="1074529414"/>
                    </a:ext>
                  </a:extLst>
                </a:gridCol>
                <a:gridCol w="2985853">
                  <a:extLst>
                    <a:ext uri="{9D8B030D-6E8A-4147-A177-3AD203B41FA5}">
                      <a16:colId xmlns:a16="http://schemas.microsoft.com/office/drawing/2014/main" val="94201395"/>
                    </a:ext>
                  </a:extLst>
                </a:gridCol>
                <a:gridCol w="3826748">
                  <a:extLst>
                    <a:ext uri="{9D8B030D-6E8A-4147-A177-3AD203B41FA5}">
                      <a16:colId xmlns:a16="http://schemas.microsoft.com/office/drawing/2014/main" val="761424720"/>
                    </a:ext>
                  </a:extLst>
                </a:gridCol>
              </a:tblGrid>
              <a:tr h="465418">
                <a:tc>
                  <a:txBody>
                    <a:bodyPr/>
                    <a:lstStyle/>
                    <a:p>
                      <a:pPr algn="ctr"/>
                      <a:r>
                        <a:rPr lang="zh-CN" altLang="en-US" sz="2400" b="1" kern="1200" dirty="0">
                          <a:solidFill>
                            <a:schemeClr val="bg1"/>
                          </a:solidFill>
                          <a:latin typeface="+mn-lt"/>
                          <a:ea typeface="+mn-ea"/>
                          <a:cs typeface="+mn-cs"/>
                        </a:rPr>
                        <a:t>指令状态</a:t>
                      </a:r>
                      <a:endParaRPr lang="en-US" altLang="zh-CN" sz="2400" b="1" kern="1200" dirty="0">
                        <a:solidFill>
                          <a:schemeClr val="bg1"/>
                        </a:solidFill>
                        <a:latin typeface="+mn-lt"/>
                        <a:ea typeface="+mn-ea"/>
                        <a:cs typeface="+mn-cs"/>
                      </a:endParaRPr>
                    </a:p>
                  </a:txBody>
                  <a:tcPr/>
                </a:tc>
                <a:tc>
                  <a:txBody>
                    <a:bodyPr/>
                    <a:lstStyle/>
                    <a:p>
                      <a:pPr algn="ctr"/>
                      <a:r>
                        <a:rPr lang="en-US" altLang="zh-CN" sz="2400" b="1" kern="1200" dirty="0">
                          <a:solidFill>
                            <a:schemeClr val="bg1"/>
                          </a:solidFill>
                          <a:latin typeface="+mn-lt"/>
                          <a:ea typeface="+mn-ea"/>
                          <a:cs typeface="+mn-cs"/>
                        </a:rPr>
                        <a:t> </a:t>
                      </a:r>
                      <a:r>
                        <a:rPr lang="zh-CN" altLang="en-US" sz="2400" b="1" kern="1200" dirty="0">
                          <a:solidFill>
                            <a:schemeClr val="bg1"/>
                          </a:solidFill>
                          <a:latin typeface="+mn-lt"/>
                          <a:ea typeface="+mn-ea"/>
                          <a:cs typeface="+mn-cs"/>
                        </a:rPr>
                        <a:t>进入条件</a:t>
                      </a:r>
                    </a:p>
                  </a:txBody>
                  <a:tcPr/>
                </a:tc>
                <a:tc>
                  <a:txBody>
                    <a:bodyPr/>
                    <a:lstStyle/>
                    <a:p>
                      <a:pPr algn="ctr"/>
                      <a:r>
                        <a:rPr lang="zh-CN" altLang="en-US" sz="2400" b="1" kern="1200" dirty="0">
                          <a:solidFill>
                            <a:schemeClr val="bg1"/>
                          </a:solidFill>
                          <a:latin typeface="+mn-lt"/>
                          <a:ea typeface="+mn-ea"/>
                          <a:cs typeface="+mn-cs"/>
                        </a:rPr>
                        <a:t>记分牌内容</a:t>
                      </a:r>
                    </a:p>
                  </a:txBody>
                  <a:tcPr/>
                </a:tc>
                <a:extLst>
                  <a:ext uri="{0D108BD9-81ED-4DB2-BD59-A6C34878D82A}">
                    <a16:rowId xmlns:a16="http://schemas.microsoft.com/office/drawing/2014/main" val="282754209"/>
                  </a:ext>
                </a:extLst>
              </a:tr>
              <a:tr h="2113862">
                <a:tc>
                  <a:txBody>
                    <a:bodyPr/>
                    <a:lstStyle/>
                    <a:p>
                      <a:pPr algn="ctr"/>
                      <a:endParaRPr lang="en-US" altLang="zh-CN" sz="2400" b="1" dirty="0">
                        <a:solidFill>
                          <a:schemeClr val="tx1"/>
                        </a:solidFill>
                      </a:endParaRPr>
                    </a:p>
                    <a:p>
                      <a:pPr algn="ctr"/>
                      <a:r>
                        <a:rPr lang="zh-CN" altLang="en-US" sz="2400" b="1" dirty="0">
                          <a:solidFill>
                            <a:schemeClr val="tx1"/>
                          </a:solidFill>
                        </a:rPr>
                        <a:t>流出</a:t>
                      </a:r>
                    </a:p>
                  </a:txBody>
                  <a:tcPr/>
                </a:tc>
                <a:tc>
                  <a:txBody>
                    <a:bodyPr/>
                    <a:lstStyle/>
                    <a:p>
                      <a:pPr algn="ctr"/>
                      <a:r>
                        <a:rPr lang="en-US" altLang="zh-CN" dirty="0"/>
                        <a:t> </a:t>
                      </a:r>
                    </a:p>
                    <a:p>
                      <a:pPr algn="ctr">
                        <a:lnSpc>
                          <a:spcPct val="150000"/>
                        </a:lnSpc>
                      </a:pPr>
                      <a:r>
                        <a:rPr lang="en-US" altLang="zh-CN" sz="1800" kern="1200" dirty="0">
                          <a:solidFill>
                            <a:schemeClr val="dk1"/>
                          </a:solidFill>
                          <a:latin typeface="Arial" panose="020B0604020202020204" pitchFamily="34" charset="0"/>
                          <a:ea typeface="+mn-ea"/>
                          <a:cs typeface="+mn-cs"/>
                        </a:rPr>
                        <a:t>not Busy(FU) and </a:t>
                      </a:r>
                    </a:p>
                    <a:p>
                      <a:pPr algn="ctr">
                        <a:lnSpc>
                          <a:spcPct val="150000"/>
                        </a:lnSpc>
                      </a:pPr>
                      <a:r>
                        <a:rPr lang="en-US" altLang="zh-CN" sz="1800" kern="1200" dirty="0">
                          <a:solidFill>
                            <a:schemeClr val="dk1"/>
                          </a:solidFill>
                          <a:latin typeface="Arial" panose="020B0604020202020204" pitchFamily="34" charset="0"/>
                          <a:ea typeface="+mn-ea"/>
                          <a:cs typeface="+mn-cs"/>
                        </a:rPr>
                        <a:t>not result (‘D’)</a:t>
                      </a:r>
                      <a:endParaRPr lang="zh-CN" altLang="en-US" sz="1800" kern="1200" dirty="0">
                        <a:solidFill>
                          <a:schemeClr val="dk1"/>
                        </a:solidFill>
                        <a:latin typeface="Arial" panose="020B0604020202020204" pitchFamily="34" charset="0"/>
                        <a:ea typeface="+mn-ea"/>
                        <a:cs typeface="+mn-cs"/>
                      </a:endParaRPr>
                    </a:p>
                  </a:txBody>
                  <a:tcPr/>
                </a:tc>
                <a:tc>
                  <a:txBody>
                    <a:bodyPr/>
                    <a:lstStyle/>
                    <a:p>
                      <a:pPr algn="ctr" eaLnBrk="1" hangingPunct="1">
                        <a:lnSpc>
                          <a:spcPct val="150000"/>
                        </a:lnSpc>
                        <a:spcBef>
                          <a:spcPct val="0"/>
                        </a:spcBef>
                        <a:buClrTx/>
                        <a:buFontTx/>
                        <a:buNone/>
                      </a:pPr>
                      <a:r>
                        <a:rPr lang="en-US" altLang="zh-CN" sz="1800" dirty="0">
                          <a:latin typeface="Arial" panose="020B0604020202020204" pitchFamily="34" charset="0"/>
                        </a:rPr>
                        <a:t>Busy(FU)</a:t>
                      </a:r>
                      <a:r>
                        <a:rPr lang="en-US" altLang="zh-CN" sz="1800" dirty="0">
                          <a:latin typeface="Symbol" panose="05050102010706020507" pitchFamily="18" charset="2"/>
                        </a:rPr>
                        <a:t></a:t>
                      </a:r>
                      <a:r>
                        <a:rPr lang="en-US" altLang="zh-CN" sz="1800" dirty="0">
                          <a:latin typeface="Arial" panose="020B0604020202020204" pitchFamily="34" charset="0"/>
                        </a:rPr>
                        <a:t> yes; Op(FU)</a:t>
                      </a:r>
                      <a:r>
                        <a:rPr lang="en-US" altLang="zh-CN" sz="1800" dirty="0">
                          <a:latin typeface="Symbol" panose="05050102010706020507" pitchFamily="18" charset="2"/>
                        </a:rPr>
                        <a:t></a:t>
                      </a:r>
                      <a:r>
                        <a:rPr lang="en-US" altLang="zh-CN" sz="1800" dirty="0">
                          <a:latin typeface="Arial" panose="020B0604020202020204" pitchFamily="34" charset="0"/>
                        </a:rPr>
                        <a:t> op; </a:t>
                      </a:r>
                      <a:br>
                        <a:rPr lang="en-US" altLang="zh-CN" sz="1800" dirty="0">
                          <a:latin typeface="Arial" panose="020B0604020202020204" pitchFamily="34" charset="0"/>
                        </a:rPr>
                      </a:br>
                      <a:r>
                        <a:rPr lang="en-US" altLang="zh-CN" sz="1800" dirty="0">
                          <a:latin typeface="Arial" panose="020B0604020202020204" pitchFamily="34" charset="0"/>
                        </a:rPr>
                        <a:t>Fi(FU)</a:t>
                      </a:r>
                      <a:r>
                        <a:rPr lang="en-US" altLang="zh-CN" sz="1800" dirty="0">
                          <a:latin typeface="Symbol" panose="05050102010706020507" pitchFamily="18" charset="2"/>
                        </a:rPr>
                        <a:t></a:t>
                      </a:r>
                      <a:r>
                        <a:rPr lang="en-US" altLang="zh-CN" sz="1800" dirty="0">
                          <a:latin typeface="Arial" panose="020B0604020202020204" pitchFamily="34" charset="0"/>
                        </a:rPr>
                        <a:t> `D’; Fj(FU)</a:t>
                      </a:r>
                      <a:r>
                        <a:rPr lang="en-US" altLang="zh-CN" sz="1800" dirty="0">
                          <a:latin typeface="Symbol" panose="05050102010706020507" pitchFamily="18" charset="2"/>
                        </a:rPr>
                        <a:t></a:t>
                      </a:r>
                      <a:r>
                        <a:rPr lang="en-US" altLang="zh-CN" sz="1800" dirty="0">
                          <a:latin typeface="Arial" panose="020B0604020202020204" pitchFamily="34" charset="0"/>
                        </a:rPr>
                        <a:t> `S1’; </a:t>
                      </a:r>
                      <a:br>
                        <a:rPr lang="en-US" altLang="zh-CN" sz="1800" dirty="0">
                          <a:latin typeface="Arial" panose="020B0604020202020204" pitchFamily="34" charset="0"/>
                        </a:rPr>
                      </a:br>
                      <a:r>
                        <a:rPr lang="en-US" altLang="zh-CN" sz="1800" dirty="0" err="1">
                          <a:latin typeface="Arial" panose="020B0604020202020204" pitchFamily="34" charset="0"/>
                        </a:rPr>
                        <a:t>Fk</a:t>
                      </a:r>
                      <a:r>
                        <a:rPr lang="en-US" altLang="zh-CN" sz="1800" dirty="0">
                          <a:latin typeface="Arial" panose="020B0604020202020204" pitchFamily="34" charset="0"/>
                        </a:rPr>
                        <a:t>(FU)</a:t>
                      </a:r>
                      <a:r>
                        <a:rPr lang="en-US" altLang="zh-CN" sz="1800" dirty="0">
                          <a:latin typeface="Symbol" panose="05050102010706020507" pitchFamily="18" charset="2"/>
                        </a:rPr>
                        <a:t></a:t>
                      </a:r>
                      <a:r>
                        <a:rPr lang="en-US" altLang="zh-CN" sz="1800" dirty="0">
                          <a:latin typeface="Arial" panose="020B0604020202020204" pitchFamily="34" charset="0"/>
                        </a:rPr>
                        <a:t> `S2’; </a:t>
                      </a:r>
                      <a:r>
                        <a:rPr lang="en-US" altLang="zh-CN" sz="1800" dirty="0" err="1">
                          <a:latin typeface="Arial" panose="020B0604020202020204" pitchFamily="34" charset="0"/>
                        </a:rPr>
                        <a:t>Qj</a:t>
                      </a:r>
                      <a:r>
                        <a:rPr lang="en-US" altLang="zh-CN" sz="1800" dirty="0">
                          <a:latin typeface="Symbol" panose="05050102010706020507" pitchFamily="18" charset="2"/>
                        </a:rPr>
                        <a:t></a:t>
                      </a:r>
                      <a:r>
                        <a:rPr lang="en-US" altLang="zh-CN" sz="1800" dirty="0">
                          <a:latin typeface="Arial" panose="020B0604020202020204" pitchFamily="34" charset="0"/>
                        </a:rPr>
                        <a:t> Result(‘S1’); </a:t>
                      </a:r>
                      <a:br>
                        <a:rPr lang="en-US" altLang="zh-CN" sz="1800" dirty="0">
                          <a:latin typeface="Arial" panose="020B0604020202020204" pitchFamily="34" charset="0"/>
                        </a:rPr>
                      </a:br>
                      <a:r>
                        <a:rPr lang="en-US" altLang="zh-CN" sz="1800" dirty="0" err="1">
                          <a:latin typeface="Arial" panose="020B0604020202020204" pitchFamily="34" charset="0"/>
                        </a:rPr>
                        <a:t>Qk</a:t>
                      </a:r>
                      <a:r>
                        <a:rPr lang="en-US" altLang="zh-CN" sz="1800" dirty="0">
                          <a:latin typeface="Symbol" panose="05050102010706020507" pitchFamily="18" charset="2"/>
                        </a:rPr>
                        <a:t></a:t>
                      </a:r>
                      <a:r>
                        <a:rPr lang="en-US" altLang="zh-CN" sz="1800" dirty="0">
                          <a:latin typeface="Arial" panose="020B0604020202020204" pitchFamily="34" charset="0"/>
                        </a:rPr>
                        <a:t>  Result(`S2’);  </a:t>
                      </a:r>
                      <a:r>
                        <a:rPr lang="en-US" altLang="zh-CN" sz="1800" dirty="0" err="1">
                          <a:latin typeface="Arial" panose="020B0604020202020204" pitchFamily="34" charset="0"/>
                        </a:rPr>
                        <a:t>Rj</a:t>
                      </a:r>
                      <a:r>
                        <a:rPr lang="en-US" altLang="zh-CN" sz="1800" dirty="0">
                          <a:latin typeface="Symbol" panose="05050102010706020507" pitchFamily="18" charset="2"/>
                        </a:rPr>
                        <a:t></a:t>
                      </a:r>
                      <a:r>
                        <a:rPr lang="en-US" altLang="zh-CN" sz="1800" dirty="0">
                          <a:latin typeface="Arial" panose="020B0604020202020204" pitchFamily="34" charset="0"/>
                        </a:rPr>
                        <a:t> not </a:t>
                      </a:r>
                      <a:r>
                        <a:rPr lang="en-US" altLang="zh-CN" sz="1800" dirty="0" err="1">
                          <a:latin typeface="Arial" panose="020B0604020202020204" pitchFamily="34" charset="0"/>
                        </a:rPr>
                        <a:t>Qj</a:t>
                      </a:r>
                      <a:r>
                        <a:rPr lang="en-US" altLang="zh-CN" sz="1800" dirty="0">
                          <a:latin typeface="Arial" panose="020B0604020202020204" pitchFamily="34" charset="0"/>
                        </a:rPr>
                        <a:t>; </a:t>
                      </a:r>
                      <a:br>
                        <a:rPr lang="en-US" altLang="zh-CN" sz="1800" dirty="0">
                          <a:latin typeface="Arial" panose="020B0604020202020204" pitchFamily="34" charset="0"/>
                        </a:rPr>
                      </a:br>
                      <a:r>
                        <a:rPr lang="en-US" altLang="zh-CN" sz="1800" dirty="0" err="1">
                          <a:latin typeface="Arial" panose="020B0604020202020204" pitchFamily="34" charset="0"/>
                        </a:rPr>
                        <a:t>Rk</a:t>
                      </a:r>
                      <a:r>
                        <a:rPr lang="en-US" altLang="zh-CN" sz="1800" dirty="0">
                          <a:latin typeface="Symbol" panose="05050102010706020507" pitchFamily="18" charset="2"/>
                        </a:rPr>
                        <a:t></a:t>
                      </a:r>
                      <a:r>
                        <a:rPr lang="en-US" altLang="zh-CN" sz="1800" dirty="0">
                          <a:latin typeface="Arial" panose="020B0604020202020204" pitchFamily="34" charset="0"/>
                        </a:rPr>
                        <a:t> not </a:t>
                      </a:r>
                      <a:r>
                        <a:rPr lang="en-US" altLang="zh-CN" sz="1800" dirty="0" err="1">
                          <a:latin typeface="Arial" panose="020B0604020202020204" pitchFamily="34" charset="0"/>
                        </a:rPr>
                        <a:t>Qk</a:t>
                      </a:r>
                      <a:r>
                        <a:rPr lang="en-US" altLang="zh-CN" sz="1800" dirty="0">
                          <a:latin typeface="Arial" panose="020B0604020202020204" pitchFamily="34" charset="0"/>
                        </a:rPr>
                        <a:t>; Result(‘D’)</a:t>
                      </a:r>
                      <a:r>
                        <a:rPr lang="en-US" altLang="zh-CN" sz="1800" dirty="0">
                          <a:latin typeface="Symbol" panose="05050102010706020507" pitchFamily="18" charset="2"/>
                        </a:rPr>
                        <a:t></a:t>
                      </a:r>
                      <a:r>
                        <a:rPr lang="en-US" altLang="zh-CN" sz="1800" dirty="0">
                          <a:latin typeface="Arial" panose="020B0604020202020204" pitchFamily="34" charset="0"/>
                        </a:rPr>
                        <a:t> FU;</a:t>
                      </a:r>
                    </a:p>
                  </a:txBody>
                  <a:tcPr/>
                </a:tc>
                <a:extLst>
                  <a:ext uri="{0D108BD9-81ED-4DB2-BD59-A6C34878D82A}">
                    <a16:rowId xmlns:a16="http://schemas.microsoft.com/office/drawing/2014/main" val="3982913309"/>
                  </a:ext>
                </a:extLst>
              </a:tr>
              <a:tr h="645064">
                <a:tc>
                  <a:txBody>
                    <a:bodyPr/>
                    <a:lstStyle/>
                    <a:p>
                      <a:pPr algn="ctr"/>
                      <a:r>
                        <a:rPr lang="zh-CN" altLang="en-US" sz="2400" b="1" kern="1200" dirty="0">
                          <a:solidFill>
                            <a:schemeClr val="tx1"/>
                          </a:solidFill>
                          <a:latin typeface="+mn-lt"/>
                          <a:ea typeface="+mn-ea"/>
                          <a:cs typeface="+mn-cs"/>
                        </a:rPr>
                        <a:t>读操作数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Arial" panose="020B0604020202020204" pitchFamily="34" charset="0"/>
                        </a:rPr>
                        <a:t>Rj</a:t>
                      </a:r>
                      <a:r>
                        <a:rPr lang="en-US" altLang="zh-CN" sz="1800" dirty="0">
                          <a:latin typeface="Arial" panose="020B0604020202020204" pitchFamily="34" charset="0"/>
                        </a:rPr>
                        <a:t> and </a:t>
                      </a:r>
                      <a:r>
                        <a:rPr lang="en-US" altLang="zh-CN" sz="1800" dirty="0" err="1">
                          <a:latin typeface="Arial" panose="020B0604020202020204" pitchFamily="34" charset="0"/>
                        </a:rPr>
                        <a:t>Rk</a:t>
                      </a:r>
                      <a:endParaRPr lang="en-US" altLang="zh-CN" sz="1800" dirty="0">
                        <a:latin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Arial" panose="020B0604020202020204" pitchFamily="34" charset="0"/>
                        </a:rPr>
                        <a:t>Rj</a:t>
                      </a:r>
                      <a:r>
                        <a:rPr lang="en-US" altLang="zh-CN" sz="1800" dirty="0">
                          <a:latin typeface="Symbol" panose="05050102010706020507" pitchFamily="18" charset="2"/>
                        </a:rPr>
                        <a:t></a:t>
                      </a:r>
                      <a:r>
                        <a:rPr lang="en-US" altLang="zh-CN" sz="1800" dirty="0">
                          <a:latin typeface="Arial" panose="020B0604020202020204" pitchFamily="34" charset="0"/>
                        </a:rPr>
                        <a:t> No; </a:t>
                      </a:r>
                      <a:r>
                        <a:rPr lang="en-US" altLang="zh-CN" sz="1800" dirty="0" err="1">
                          <a:latin typeface="Arial" panose="020B0604020202020204" pitchFamily="34" charset="0"/>
                        </a:rPr>
                        <a:t>Rk</a:t>
                      </a:r>
                      <a:r>
                        <a:rPr lang="en-US" altLang="zh-CN" sz="1800" dirty="0">
                          <a:latin typeface="Symbol" panose="05050102010706020507" pitchFamily="18" charset="2"/>
                        </a:rPr>
                        <a:t></a:t>
                      </a:r>
                      <a:r>
                        <a:rPr lang="en-US" altLang="zh-CN" sz="1800" dirty="0">
                          <a:latin typeface="Arial" panose="020B0604020202020204" pitchFamily="34" charset="0"/>
                        </a:rPr>
                        <a:t> No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Arial" panose="020B0604020202020204" pitchFamily="34" charset="0"/>
                        </a:rPr>
                        <a:t>Qj</a:t>
                      </a:r>
                      <a:r>
                        <a:rPr lang="en-US" altLang="zh-CN" sz="1800" dirty="0">
                          <a:latin typeface="Symbol" panose="05050102010706020507" pitchFamily="18" charset="2"/>
                        </a:rPr>
                        <a:t></a:t>
                      </a:r>
                      <a:r>
                        <a:rPr lang="en-US" altLang="zh-CN" sz="1800" dirty="0">
                          <a:latin typeface="Arial" panose="020B0604020202020204" pitchFamily="34" charset="0"/>
                        </a:rPr>
                        <a:t> 0; Qk</a:t>
                      </a:r>
                      <a:r>
                        <a:rPr lang="en-US" altLang="zh-CN" sz="1800" dirty="0">
                          <a:latin typeface="Symbol" panose="05050102010706020507" pitchFamily="18" charset="2"/>
                        </a:rPr>
                        <a:t>0;</a:t>
                      </a:r>
                      <a:endParaRPr lang="en-US" altLang="zh-CN" sz="1800" dirty="0">
                        <a:latin typeface="Arial" panose="020B0604020202020204" pitchFamily="34" charset="0"/>
                      </a:endParaRPr>
                    </a:p>
                  </a:txBody>
                  <a:tcPr/>
                </a:tc>
                <a:extLst>
                  <a:ext uri="{0D108BD9-81ED-4DB2-BD59-A6C34878D82A}">
                    <a16:rowId xmlns:a16="http://schemas.microsoft.com/office/drawing/2014/main" val="561880763"/>
                  </a:ext>
                </a:extLst>
              </a:tr>
              <a:tr h="971237">
                <a:tc>
                  <a:txBody>
                    <a:bodyPr/>
                    <a:lstStyle/>
                    <a:p>
                      <a:pPr algn="ctr"/>
                      <a:endParaRPr lang="en-US" altLang="zh-CN" sz="2400" b="1" kern="1200" dirty="0">
                        <a:solidFill>
                          <a:schemeClr val="tx1"/>
                        </a:solidFill>
                        <a:latin typeface="+mn-lt"/>
                        <a:ea typeface="+mn-ea"/>
                        <a:cs typeface="+mn-cs"/>
                      </a:endParaRPr>
                    </a:p>
                    <a:p>
                      <a:pPr algn="ctr"/>
                      <a:r>
                        <a:rPr lang="zh-CN" altLang="en-US" sz="2400" b="1" kern="1200" dirty="0">
                          <a:solidFill>
                            <a:schemeClr val="tx1"/>
                          </a:solidFill>
                          <a:latin typeface="+mn-lt"/>
                          <a:ea typeface="+mn-ea"/>
                          <a:cs typeface="+mn-cs"/>
                        </a:rPr>
                        <a:t>执行</a:t>
                      </a:r>
                    </a:p>
                  </a:txBody>
                  <a:tcPr/>
                </a:tc>
                <a:tc>
                  <a:txBody>
                    <a:bodyPr/>
                    <a:lstStyle/>
                    <a:p>
                      <a:pPr algn="ctr"/>
                      <a:endParaRPr lang="en-US" altLang="zh-CN" sz="1800" kern="1200" dirty="0">
                        <a:solidFill>
                          <a:schemeClr val="dk1"/>
                        </a:solidFill>
                        <a:latin typeface="Arial" panose="020B0604020202020204" pitchFamily="34" charset="0"/>
                        <a:ea typeface="+mn-ea"/>
                        <a:cs typeface="+mn-cs"/>
                      </a:endParaRPr>
                    </a:p>
                    <a:p>
                      <a:pPr algn="ctr"/>
                      <a:r>
                        <a:rPr lang="zh-CN" altLang="en-US" sz="1800" b="1" kern="1200" dirty="0">
                          <a:solidFill>
                            <a:schemeClr val="dk1"/>
                          </a:solidFill>
                          <a:latin typeface="Arial" panose="020B0604020202020204" pitchFamily="34" charset="0"/>
                          <a:ea typeface="+mn-ea"/>
                          <a:cs typeface="+mn-cs"/>
                        </a:rPr>
                        <a:t>功能部件操作</a:t>
                      </a:r>
                    </a:p>
                  </a:txBody>
                  <a:tcPr/>
                </a:tc>
                <a:tc>
                  <a:txBody>
                    <a:bodyPr/>
                    <a:lstStyle/>
                    <a:p>
                      <a:endParaRPr lang="zh-CN" altLang="en-US"/>
                    </a:p>
                  </a:txBody>
                  <a:tcPr/>
                </a:tc>
                <a:extLst>
                  <a:ext uri="{0D108BD9-81ED-4DB2-BD59-A6C34878D82A}">
                    <a16:rowId xmlns:a16="http://schemas.microsoft.com/office/drawing/2014/main" val="3447986643"/>
                  </a:ext>
                </a:extLst>
              </a:tr>
              <a:tr h="1612658">
                <a:tc>
                  <a:txBody>
                    <a:bodyPr/>
                    <a:lstStyle/>
                    <a:p>
                      <a:pPr algn="ctr"/>
                      <a:endParaRPr lang="en-US" altLang="zh-CN" sz="2400" b="1" kern="1200" dirty="0">
                        <a:solidFill>
                          <a:schemeClr val="tx1"/>
                        </a:solidFill>
                        <a:latin typeface="+mn-lt"/>
                        <a:ea typeface="+mn-ea"/>
                        <a:cs typeface="+mn-cs"/>
                      </a:endParaRPr>
                    </a:p>
                    <a:p>
                      <a:pPr algn="ctr"/>
                      <a:r>
                        <a:rPr lang="zh-CN" altLang="en-US" sz="2400" b="1" kern="1200" dirty="0">
                          <a:solidFill>
                            <a:schemeClr val="tx1"/>
                          </a:solidFill>
                          <a:latin typeface="+mn-lt"/>
                          <a:ea typeface="+mn-ea"/>
                          <a:cs typeface="+mn-cs"/>
                        </a:rPr>
                        <a:t>写结果</a:t>
                      </a: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1800" dirty="0">
                          <a:latin typeface="Symbol" panose="05050102010706020507" pitchFamily="18" charset="2"/>
                        </a:rPr>
                        <a:t></a:t>
                      </a:r>
                      <a:r>
                        <a:rPr lang="en-US" altLang="zh-CN" sz="1800" dirty="0">
                          <a:latin typeface="Arial" panose="020B0604020202020204" pitchFamily="34" charset="0"/>
                        </a:rPr>
                        <a:t>f((Fj(f)≠Fi(FU) or </a:t>
                      </a:r>
                      <a:r>
                        <a:rPr lang="en-US" altLang="zh-CN" sz="1800" dirty="0" err="1">
                          <a:latin typeface="Arial" panose="020B0604020202020204" pitchFamily="34" charset="0"/>
                        </a:rPr>
                        <a:t>Rj</a:t>
                      </a:r>
                      <a:r>
                        <a:rPr lang="en-US" altLang="zh-CN" sz="1800" dirty="0">
                          <a:latin typeface="Arial" panose="020B0604020202020204" pitchFamily="34" charset="0"/>
                        </a:rPr>
                        <a:t>(f)=No) </a:t>
                      </a:r>
                    </a:p>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1800" dirty="0">
                          <a:latin typeface="Arial" panose="020B0604020202020204" pitchFamily="34" charset="0"/>
                        </a:rPr>
                        <a:t>and (</a:t>
                      </a:r>
                      <a:r>
                        <a:rPr lang="en-US" altLang="zh-CN" sz="1800" dirty="0" err="1">
                          <a:latin typeface="Arial" panose="020B0604020202020204" pitchFamily="34" charset="0"/>
                        </a:rPr>
                        <a:t>Fk</a:t>
                      </a:r>
                      <a:r>
                        <a:rPr lang="en-US" altLang="zh-CN" sz="1800" dirty="0">
                          <a:latin typeface="Arial" panose="020B0604020202020204" pitchFamily="34" charset="0"/>
                        </a:rPr>
                        <a:t>(f) ≠Fi(FU) or </a:t>
                      </a:r>
                      <a:r>
                        <a:rPr lang="en-US" altLang="zh-CN" sz="1800" dirty="0" err="1">
                          <a:latin typeface="Arial" panose="020B0604020202020204" pitchFamily="34" charset="0"/>
                        </a:rPr>
                        <a:t>Rk</a:t>
                      </a:r>
                      <a:r>
                        <a:rPr lang="en-US" altLang="zh-CN" sz="1800" dirty="0">
                          <a:latin typeface="Arial" panose="020B0604020202020204" pitchFamily="34" charset="0"/>
                        </a:rPr>
                        <a:t>(f)=No))</a:t>
                      </a:r>
                    </a:p>
                    <a:p>
                      <a:pPr algn="ctr"/>
                      <a:endParaRPr lang="zh-CN" altLang="en-US" dirty="0"/>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dirty="0">
                          <a:latin typeface="Symbol" panose="05050102010706020507" pitchFamily="18" charset="2"/>
                        </a:rPr>
                        <a:t></a:t>
                      </a:r>
                      <a:r>
                        <a:rPr lang="en-US" altLang="zh-CN" sz="1800" dirty="0">
                          <a:latin typeface="Arial" panose="020B0604020202020204" pitchFamily="34" charset="0"/>
                        </a:rPr>
                        <a:t>f(if </a:t>
                      </a:r>
                      <a:r>
                        <a:rPr lang="en-US" altLang="zh-CN" sz="1800" dirty="0" err="1">
                          <a:latin typeface="Arial" panose="020B0604020202020204" pitchFamily="34" charset="0"/>
                        </a:rPr>
                        <a:t>Qj</a:t>
                      </a:r>
                      <a:r>
                        <a:rPr lang="en-US" altLang="zh-CN" sz="1800" dirty="0">
                          <a:latin typeface="Arial" panose="020B0604020202020204" pitchFamily="34" charset="0"/>
                        </a:rPr>
                        <a:t>(f)=FU then </a:t>
                      </a:r>
                      <a:r>
                        <a:rPr lang="en-US" altLang="zh-CN" sz="1800" dirty="0" err="1">
                          <a:latin typeface="Arial" panose="020B0604020202020204" pitchFamily="34" charset="0"/>
                        </a:rPr>
                        <a:t>Rj</a:t>
                      </a:r>
                      <a:r>
                        <a:rPr lang="en-US" altLang="zh-CN" sz="1800" dirty="0">
                          <a:latin typeface="Arial" panose="020B0604020202020204" pitchFamily="34" charset="0"/>
                        </a:rPr>
                        <a:t>(f)</a:t>
                      </a:r>
                      <a:r>
                        <a:rPr lang="en-US" altLang="zh-CN" sz="1800" dirty="0">
                          <a:latin typeface="Symbol" panose="05050102010706020507" pitchFamily="18" charset="2"/>
                        </a:rPr>
                        <a:t></a:t>
                      </a:r>
                      <a:r>
                        <a:rPr lang="en-US" altLang="zh-CN" sz="1800" dirty="0">
                          <a:latin typeface="Arial" panose="020B0604020202020204" pitchFamily="34" charset="0"/>
                        </a:rPr>
                        <a:t> Yes);</a:t>
                      </a:r>
                      <a:br>
                        <a:rPr lang="en-US" altLang="zh-CN" sz="1800" dirty="0">
                          <a:latin typeface="Arial" panose="020B0604020202020204" pitchFamily="34" charset="0"/>
                        </a:rPr>
                      </a:br>
                      <a:r>
                        <a:rPr lang="en-US" altLang="zh-CN" sz="1800" dirty="0">
                          <a:latin typeface="Symbol" panose="05050102010706020507" pitchFamily="18" charset="2"/>
                        </a:rPr>
                        <a:t></a:t>
                      </a:r>
                      <a:r>
                        <a:rPr lang="en-US" altLang="zh-CN" sz="1800" dirty="0">
                          <a:latin typeface="Arial" panose="020B0604020202020204" pitchFamily="34" charset="0"/>
                        </a:rPr>
                        <a:t>f(if </a:t>
                      </a:r>
                      <a:r>
                        <a:rPr lang="en-US" altLang="zh-CN" sz="1800" dirty="0" err="1">
                          <a:latin typeface="Arial" panose="020B0604020202020204" pitchFamily="34" charset="0"/>
                        </a:rPr>
                        <a:t>Qk</a:t>
                      </a:r>
                      <a:r>
                        <a:rPr lang="en-US" altLang="zh-CN" sz="1800" dirty="0">
                          <a:latin typeface="Arial" panose="020B0604020202020204" pitchFamily="34" charset="0"/>
                        </a:rPr>
                        <a:t>(f)=FU then </a:t>
                      </a:r>
                      <a:r>
                        <a:rPr lang="en-US" altLang="zh-CN" sz="1800" dirty="0" err="1">
                          <a:latin typeface="Arial" panose="020B0604020202020204" pitchFamily="34" charset="0"/>
                        </a:rPr>
                        <a:t>Rk</a:t>
                      </a:r>
                      <a:r>
                        <a:rPr lang="en-US" altLang="zh-CN" sz="1800" dirty="0">
                          <a:latin typeface="Arial" panose="020B0604020202020204" pitchFamily="34" charset="0"/>
                        </a:rPr>
                        <a:t>(f)</a:t>
                      </a:r>
                      <a:r>
                        <a:rPr lang="en-US" altLang="zh-CN" sz="1800" dirty="0">
                          <a:latin typeface="Symbol" panose="05050102010706020507" pitchFamily="18" charset="2"/>
                        </a:rPr>
                        <a:t></a:t>
                      </a:r>
                      <a:r>
                        <a:rPr lang="en-US" altLang="zh-CN" sz="1800" dirty="0">
                          <a:latin typeface="Arial" panose="020B0604020202020204" pitchFamily="34" charset="0"/>
                        </a:rPr>
                        <a:t> Yes); Result(Fi(FU))</a:t>
                      </a:r>
                      <a:r>
                        <a:rPr lang="en-US" altLang="zh-CN" sz="1800" dirty="0">
                          <a:latin typeface="Symbol" panose="05050102010706020507" pitchFamily="18" charset="2"/>
                        </a:rPr>
                        <a:t></a:t>
                      </a:r>
                      <a:r>
                        <a:rPr lang="en-US" altLang="zh-CN" sz="1800" dirty="0">
                          <a:latin typeface="Arial" panose="020B0604020202020204" pitchFamily="34" charset="0"/>
                        </a:rPr>
                        <a:t> 0; Busy(FU)</a:t>
                      </a:r>
                      <a:r>
                        <a:rPr lang="en-US" altLang="zh-CN" sz="1800" dirty="0">
                          <a:latin typeface="Symbol" panose="05050102010706020507" pitchFamily="18" charset="2"/>
                        </a:rPr>
                        <a:t></a:t>
                      </a:r>
                      <a:r>
                        <a:rPr lang="en-US" altLang="zh-CN" sz="1800" dirty="0">
                          <a:latin typeface="Arial" panose="020B0604020202020204" pitchFamily="34" charset="0"/>
                        </a:rPr>
                        <a:t> No</a:t>
                      </a:r>
                    </a:p>
                    <a:p>
                      <a:endParaRPr lang="zh-CN" altLang="en-US" dirty="0"/>
                    </a:p>
                  </a:txBody>
                  <a:tcPr/>
                </a:tc>
                <a:extLst>
                  <a:ext uri="{0D108BD9-81ED-4DB2-BD59-A6C34878D82A}">
                    <a16:rowId xmlns:a16="http://schemas.microsoft.com/office/drawing/2014/main" val="2882018463"/>
                  </a:ext>
                </a:extLst>
              </a:tr>
            </a:tbl>
          </a:graphicData>
        </a:graphic>
      </p:graphicFrame>
      <p:sp>
        <p:nvSpPr>
          <p:cNvPr id="3" name="日期占位符 2">
            <a:extLst>
              <a:ext uri="{FF2B5EF4-FFF2-40B4-BE49-F238E27FC236}">
                <a16:creationId xmlns:a16="http://schemas.microsoft.com/office/drawing/2014/main" id="{2F977611-4A42-0C79-440B-61C413E4D55F}"/>
              </a:ext>
            </a:extLst>
          </p:cNvPr>
          <p:cNvSpPr>
            <a:spLocks noGrp="1"/>
          </p:cNvSpPr>
          <p:nvPr>
            <p:ph type="dt" sz="half" idx="10"/>
          </p:nvPr>
        </p:nvSpPr>
        <p:spPr/>
        <p:txBody>
          <a:bodyPr/>
          <a:lstStyle/>
          <a:p>
            <a:pPr>
              <a:defRPr/>
            </a:pPr>
            <a:fld id="{E8EE0B03-DF37-4347-8EA2-7AC40D010EF6}"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67A77703-EA22-EC7F-6708-79EDFD48559B}"/>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6DDE6397-289E-126E-C117-53E1ACFBA6C5}"/>
              </a:ext>
            </a:extLst>
          </p:cNvPr>
          <p:cNvSpPr>
            <a:spLocks noGrp="1"/>
          </p:cNvSpPr>
          <p:nvPr>
            <p:ph type="sldNum" sz="quarter" idx="12"/>
          </p:nvPr>
        </p:nvSpPr>
        <p:spPr/>
        <p:txBody>
          <a:bodyPr/>
          <a:lstStyle/>
          <a:p>
            <a:pPr>
              <a:defRPr/>
            </a:pPr>
            <a:fld id="{65B7EA61-351E-4105-9AD9-76D38C6E9934}" type="slidenum">
              <a:rPr lang="zh-CN" altLang="en-US" smtClean="0"/>
              <a:t>47</a:t>
            </a:fld>
            <a:endParaRPr lang="en-US" altLang="zh-CN"/>
          </a:p>
        </p:txBody>
      </p:sp>
    </p:spTree>
    <p:extLst>
      <p:ext uri="{BB962C8B-B14F-4D97-AF65-F5344CB8AC3E}">
        <p14:creationId xmlns:p14="http://schemas.microsoft.com/office/powerpoint/2010/main" val="370972406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idx="4294967295"/>
          </p:nvPr>
        </p:nvSpPr>
        <p:spPr>
          <a:xfrm>
            <a:off x="468313" y="188913"/>
            <a:ext cx="8229600" cy="1143000"/>
          </a:xfrm>
        </p:spPr>
        <p:txBody>
          <a:bodyPr/>
          <a:lstStyle/>
          <a:p>
            <a:pPr eaLnBrk="1" hangingPunct="1">
              <a:defRPr/>
            </a:pPr>
            <a:r>
              <a:rPr lang="zh-CN" altLang="en-US" sz="4000" b="1" dirty="0">
                <a:latin typeface="+mj-ea"/>
              </a:rPr>
              <a:t>开销和性能提升</a:t>
            </a:r>
          </a:p>
        </p:txBody>
      </p:sp>
      <p:sp>
        <p:nvSpPr>
          <p:cNvPr id="57347" name="Rectangle 5"/>
          <p:cNvSpPr>
            <a:spLocks noGrp="1" noChangeArrowheads="1"/>
          </p:cNvSpPr>
          <p:nvPr>
            <p:ph type="body" idx="4294967295"/>
          </p:nvPr>
        </p:nvSpPr>
        <p:spPr>
          <a:xfrm>
            <a:off x="468313" y="1484313"/>
            <a:ext cx="8229600" cy="4525962"/>
          </a:xfrm>
        </p:spPr>
        <p:txBody>
          <a:bodyPr rtlCol="0">
            <a:noAutofit/>
          </a:bodyPr>
          <a:lstStyle/>
          <a:p>
            <a:pPr eaLnBrk="1" fontAlgn="auto" hangingPunct="1">
              <a:lnSpc>
                <a:spcPct val="120000"/>
              </a:lnSpc>
              <a:spcAft>
                <a:spcPts val="0"/>
              </a:spcAft>
              <a:defRPr/>
            </a:pPr>
            <a:r>
              <a:rPr lang="en-US" altLang="zh-CN" sz="2400" b="1" dirty="0">
                <a:latin typeface="Times New Roman" panose="02020603050405020304" pitchFamily="18" charset="0"/>
                <a:ea typeface="+mj-ea"/>
                <a:cs typeface="Times New Roman" panose="02020603050405020304" pitchFamily="18" charset="0"/>
              </a:rPr>
              <a:t>CDC6600</a:t>
            </a:r>
          </a:p>
          <a:p>
            <a:pPr lvl="2" eaLnBrk="1" fontAlgn="auto" hangingPunct="1">
              <a:lnSpc>
                <a:spcPct val="90000"/>
              </a:lnSpc>
              <a:spcAft>
                <a:spcPts val="0"/>
              </a:spcAft>
              <a:buFont typeface="Wingdings" pitchFamily="2" charset="2"/>
              <a:buNone/>
              <a:defRPr/>
            </a:pPr>
            <a:r>
              <a:rPr lang="zh-CN" altLang="en-US" b="1" u="sng" dirty="0">
                <a:latin typeface="Times New Roman" panose="02020603050405020304" pitchFamily="18" charset="0"/>
                <a:ea typeface="+mj-ea"/>
                <a:cs typeface="Times New Roman" panose="02020603050405020304" pitchFamily="18" charset="0"/>
              </a:rPr>
              <a:t>性能提升	编码方式	</a:t>
            </a:r>
            <a:endParaRPr lang="zh-CN" altLang="en-US" b="1" dirty="0">
              <a:latin typeface="Times New Roman" panose="02020603050405020304" pitchFamily="18" charset="0"/>
              <a:ea typeface="+mj-ea"/>
              <a:cs typeface="Times New Roman" panose="02020603050405020304" pitchFamily="18" charset="0"/>
            </a:endParaRPr>
          </a:p>
          <a:p>
            <a:pPr lvl="2" eaLnBrk="1" fontAlgn="auto" hangingPunct="1">
              <a:lnSpc>
                <a:spcPct val="90000"/>
              </a:lnSpc>
              <a:spcAft>
                <a:spcPts val="0"/>
              </a:spcAft>
              <a:buFont typeface="Wingdings" pitchFamily="2" charset="2"/>
              <a:buNone/>
              <a:defRPr/>
            </a:pPr>
            <a:r>
              <a:rPr lang="en-US" altLang="zh-CN" b="1" dirty="0">
                <a:latin typeface="Times New Roman" panose="02020603050405020304" pitchFamily="18" charset="0"/>
                <a:ea typeface="+mj-ea"/>
                <a:cs typeface="Times New Roman" panose="02020603050405020304" pitchFamily="18" charset="0"/>
              </a:rPr>
              <a:t>1.7		FORTRAN</a:t>
            </a:r>
          </a:p>
          <a:p>
            <a:pPr lvl="2" eaLnBrk="1" fontAlgn="auto" hangingPunct="1">
              <a:lnSpc>
                <a:spcPct val="90000"/>
              </a:lnSpc>
              <a:spcAft>
                <a:spcPts val="0"/>
              </a:spcAft>
              <a:buFont typeface="Wingdings" pitchFamily="2" charset="2"/>
              <a:buNone/>
              <a:defRPr/>
            </a:pPr>
            <a:r>
              <a:rPr lang="en-US" altLang="zh-CN" b="1" dirty="0">
                <a:latin typeface="Times New Roman" panose="02020603050405020304" pitchFamily="18" charset="0"/>
                <a:ea typeface="+mj-ea"/>
                <a:cs typeface="Times New Roman" panose="02020603050405020304" pitchFamily="18" charset="0"/>
              </a:rPr>
              <a:t>2.5		</a:t>
            </a:r>
            <a:r>
              <a:rPr lang="zh-CN" altLang="en-US" b="1" dirty="0">
                <a:latin typeface="Times New Roman" panose="02020603050405020304" pitchFamily="18" charset="0"/>
                <a:ea typeface="+mj-ea"/>
                <a:cs typeface="Times New Roman" panose="02020603050405020304" pitchFamily="18" charset="0"/>
              </a:rPr>
              <a:t>手工汇编</a:t>
            </a:r>
          </a:p>
          <a:p>
            <a:pPr eaLnBrk="1" fontAlgn="auto" hangingPunct="1">
              <a:lnSpc>
                <a:spcPct val="120000"/>
              </a:lnSpc>
              <a:spcAft>
                <a:spcPts val="0"/>
              </a:spcAft>
              <a:defRPr/>
            </a:pPr>
            <a:r>
              <a:rPr lang="en-US" altLang="zh-CN" sz="2400" b="1" dirty="0">
                <a:latin typeface="Times New Roman" panose="02020603050405020304" pitchFamily="18" charset="0"/>
                <a:ea typeface="+mj-ea"/>
                <a:cs typeface="Times New Roman" panose="02020603050405020304" pitchFamily="18" charset="0"/>
              </a:rPr>
              <a:t>Condition</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CDC6600</a:t>
            </a:r>
            <a:r>
              <a:rPr lang="zh-CN" altLang="en-US" sz="2400" b="1" dirty="0">
                <a:latin typeface="Times New Roman" panose="02020603050405020304" pitchFamily="18" charset="0"/>
                <a:ea typeface="+mj-ea"/>
                <a:cs typeface="Times New Roman" panose="02020603050405020304" pitchFamily="18" charset="0"/>
              </a:rPr>
              <a:t>记分牌）</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无软件流水调度</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无主存储器</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2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无</a:t>
            </a:r>
            <a:r>
              <a:rPr lang="en-US" altLang="zh-CN" sz="2400" b="1" dirty="0">
                <a:latin typeface="Times New Roman" panose="02020603050405020304" pitchFamily="18" charset="0"/>
                <a:ea typeface="+mj-ea"/>
                <a:cs typeface="Times New Roman" panose="02020603050405020304" pitchFamily="18" charset="0"/>
              </a:rPr>
              <a:t>Cache</a:t>
            </a:r>
          </a:p>
          <a:p>
            <a:pPr eaLnBrk="1" fontAlgn="auto" hangingPunct="1">
              <a:lnSpc>
                <a:spcPct val="120000"/>
              </a:lnSpc>
              <a:spcAft>
                <a:spcPts val="0"/>
              </a:spcAft>
              <a:defRPr/>
            </a:pPr>
            <a:r>
              <a:rPr lang="en-US" altLang="zh-CN" sz="2400" b="1" dirty="0">
                <a:latin typeface="Times New Roman" panose="02020603050405020304" pitchFamily="18" charset="0"/>
                <a:ea typeface="+mj-ea"/>
                <a:cs typeface="Times New Roman" panose="02020603050405020304" pitchFamily="18" charset="0"/>
              </a:rPr>
              <a:t>CDC6600</a:t>
            </a:r>
            <a:r>
              <a:rPr lang="zh-CN" altLang="en-US" sz="2400" b="1" dirty="0">
                <a:latin typeface="Times New Roman" panose="02020603050405020304" pitchFamily="18" charset="0"/>
                <a:ea typeface="+mj-ea"/>
                <a:cs typeface="Times New Roman" panose="02020603050405020304" pitchFamily="18" charset="0"/>
              </a:rPr>
              <a:t>上的记分牌的逻辑电路相当于一个功能部件，器件的耗费是非常低的，但增加了大量的连线。</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F9EEE71D-918D-97B0-2527-CD69AEFC946A}"/>
              </a:ext>
            </a:extLst>
          </p:cNvPr>
          <p:cNvSpPr>
            <a:spLocks noGrp="1"/>
          </p:cNvSpPr>
          <p:nvPr>
            <p:ph type="dt" sz="half" idx="10"/>
          </p:nvPr>
        </p:nvSpPr>
        <p:spPr>
          <a:xfrm>
            <a:off x="457200" y="6356350"/>
            <a:ext cx="2133600" cy="365125"/>
          </a:xfrm>
        </p:spPr>
        <p:txBody>
          <a:bodyPr/>
          <a:lstStyle/>
          <a:p>
            <a:pPr>
              <a:defRPr/>
            </a:pPr>
            <a:fld id="{E502785F-8A09-472C-9D02-76D43F4AF9A3}"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AD6992D2-3DCD-FCA2-3212-12544C260BCD}"/>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B83006C7-B926-0207-3E35-73FF9052CF56}"/>
              </a:ext>
            </a:extLst>
          </p:cNvPr>
          <p:cNvSpPr>
            <a:spLocks noGrp="1"/>
          </p:cNvSpPr>
          <p:nvPr>
            <p:ph type="sldNum" sz="quarter" idx="12"/>
          </p:nvPr>
        </p:nvSpPr>
        <p:spPr>
          <a:xfrm>
            <a:off x="6553200" y="6356350"/>
            <a:ext cx="2133600" cy="365125"/>
          </a:xfrm>
        </p:spPr>
        <p:txBody>
          <a:bodyPr/>
          <a:lstStyle/>
          <a:p>
            <a:pPr>
              <a:defRPr/>
            </a:pPr>
            <a:fld id="{65B7EA61-351E-4105-9AD9-76D38C6E9934}" type="slidenum">
              <a:rPr lang="zh-CN" altLang="en-US" smtClean="0"/>
              <a:t>48</a:t>
            </a:fld>
            <a:endParaRPr lang="en-US" altLang="zh-CN"/>
          </a:p>
        </p:txBody>
      </p:sp>
    </p:spTree>
    <p:extLst>
      <p:ext uri="{BB962C8B-B14F-4D97-AF65-F5344CB8AC3E}">
        <p14:creationId xmlns:p14="http://schemas.microsoft.com/office/powerpoint/2010/main" val="1573432291"/>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descr="Rectangle: Click to edit Master text styles&#10;Second level&#10;Third level&#10;Fourth level&#10;Fifth level"/>
          <p:cNvSpPr>
            <a:spLocks noGrp="1" noChangeArrowheads="1"/>
          </p:cNvSpPr>
          <p:nvPr>
            <p:ph idx="1"/>
          </p:nvPr>
        </p:nvSpPr>
        <p:spPr>
          <a:xfrm>
            <a:off x="395288" y="836613"/>
            <a:ext cx="8229600" cy="5832475"/>
          </a:xfrm>
        </p:spPr>
        <p:txBody>
          <a:bodyPr/>
          <a:lstStyle/>
          <a:p>
            <a:pPr eaLnBrk="1" hangingPunct="1">
              <a:lnSpc>
                <a:spcPct val="110000"/>
              </a:lnSpc>
              <a:buFont typeface="Wingdings" pitchFamily="2" charset="2"/>
              <a:buChar char="Ø"/>
            </a:pPr>
            <a:r>
              <a:rPr lang="zh-CN" altLang="en-US" sz="2400" b="1" dirty="0"/>
              <a:t>记分牌的性能受限于以下几个方面：</a:t>
            </a:r>
          </a:p>
          <a:p>
            <a:pPr marL="1085850" lvl="1" indent="-457200" eaLnBrk="1" hangingPunct="1">
              <a:lnSpc>
                <a:spcPct val="110000"/>
              </a:lnSpc>
            </a:pPr>
            <a:r>
              <a:rPr lang="zh-CN" altLang="en-US" sz="2400" b="1" dirty="0"/>
              <a:t>程序代码中可开发的并行性，即是否存在可以并行执行的不相关的指令。</a:t>
            </a:r>
          </a:p>
          <a:p>
            <a:pPr marL="1085850" lvl="1" indent="-457200" eaLnBrk="1" hangingPunct="1">
              <a:lnSpc>
                <a:spcPct val="110000"/>
              </a:lnSpc>
            </a:pPr>
            <a:r>
              <a:rPr lang="zh-CN" altLang="en-US" sz="2400" b="1" dirty="0"/>
              <a:t>记分牌的容量。</a:t>
            </a:r>
          </a:p>
          <a:p>
            <a:pPr lvl="2" eaLnBrk="1" hangingPunct="1">
              <a:lnSpc>
                <a:spcPct val="110000"/>
              </a:lnSpc>
            </a:pPr>
            <a:r>
              <a:rPr lang="zh-CN" altLang="en-US" b="1" dirty="0"/>
              <a:t>记分牌的容量决定了流水线能在多大范围内寻找不相关指令。流水线中可以同时容纳的指令数量称为</a:t>
            </a:r>
            <a:r>
              <a:rPr lang="zh-CN" altLang="en-US" b="1" dirty="0">
                <a:solidFill>
                  <a:srgbClr val="FF0000"/>
                </a:solidFill>
              </a:rPr>
              <a:t>指令窗口</a:t>
            </a:r>
            <a:r>
              <a:rPr lang="zh-CN" altLang="en-US" b="1" dirty="0"/>
              <a:t>。</a:t>
            </a:r>
          </a:p>
          <a:p>
            <a:pPr marL="1085850" lvl="1" indent="-457200" eaLnBrk="1" hangingPunct="1">
              <a:lnSpc>
                <a:spcPct val="110000"/>
              </a:lnSpc>
            </a:pPr>
            <a:r>
              <a:rPr lang="zh-CN" altLang="en-US" sz="2400" b="1" dirty="0">
                <a:latin typeface="Times New Roman" pitchFamily="18" charset="0"/>
              </a:rPr>
              <a:t>功能部件的数目和种类。</a:t>
            </a:r>
          </a:p>
          <a:p>
            <a:pPr lvl="2" eaLnBrk="1" hangingPunct="1">
              <a:lnSpc>
                <a:spcPct val="110000"/>
              </a:lnSpc>
            </a:pPr>
            <a:r>
              <a:rPr lang="zh-CN" altLang="en-US" b="1" dirty="0">
                <a:latin typeface="Times New Roman" pitchFamily="18" charset="0"/>
              </a:rPr>
              <a:t>功能部件的总数决定了结构冲突的严重程度。</a:t>
            </a:r>
          </a:p>
          <a:p>
            <a:pPr marL="1085850" lvl="1" indent="-457200" eaLnBrk="1" hangingPunct="1">
              <a:lnSpc>
                <a:spcPct val="110000"/>
              </a:lnSpc>
            </a:pPr>
            <a:r>
              <a:rPr lang="zh-CN" altLang="en-US" sz="2400" b="1" dirty="0">
                <a:latin typeface="Times New Roman" pitchFamily="18" charset="0"/>
              </a:rPr>
              <a:t>反相关和输出相关。</a:t>
            </a:r>
          </a:p>
          <a:p>
            <a:pPr lvl="2" eaLnBrk="1" hangingPunct="1">
              <a:lnSpc>
                <a:spcPct val="110000"/>
              </a:lnSpc>
            </a:pPr>
            <a:r>
              <a:rPr lang="zh-CN" altLang="en-US" b="1" dirty="0">
                <a:latin typeface="Times New Roman" pitchFamily="18" charset="0"/>
              </a:rPr>
              <a:t>它们引起计分牌中更多的</a:t>
            </a:r>
            <a:r>
              <a:rPr lang="en-US" altLang="zh-CN" b="1" dirty="0">
                <a:latin typeface="Times New Roman" pitchFamily="18" charset="0"/>
              </a:rPr>
              <a:t>WAR</a:t>
            </a:r>
            <a:r>
              <a:rPr lang="zh-CN" altLang="en-US" b="1" dirty="0">
                <a:latin typeface="Times New Roman" pitchFamily="18" charset="0"/>
              </a:rPr>
              <a:t>和</a:t>
            </a:r>
            <a:r>
              <a:rPr lang="en-US" altLang="zh-CN" b="1" dirty="0">
                <a:latin typeface="Times New Roman" pitchFamily="18" charset="0"/>
              </a:rPr>
              <a:t>WAW</a:t>
            </a:r>
            <a:r>
              <a:rPr lang="zh-CN" altLang="en-US" b="1" dirty="0">
                <a:latin typeface="Times New Roman" pitchFamily="18" charset="0"/>
              </a:rPr>
              <a:t>冲突 。</a:t>
            </a:r>
          </a:p>
        </p:txBody>
      </p:sp>
      <p:sp>
        <p:nvSpPr>
          <p:cNvPr id="2" name="日期占位符 1">
            <a:extLst>
              <a:ext uri="{FF2B5EF4-FFF2-40B4-BE49-F238E27FC236}">
                <a16:creationId xmlns:a16="http://schemas.microsoft.com/office/drawing/2014/main" id="{95CF0E32-A72F-DEB5-39BD-2F54C6757213}"/>
              </a:ext>
            </a:extLst>
          </p:cNvPr>
          <p:cNvSpPr>
            <a:spLocks noGrp="1"/>
          </p:cNvSpPr>
          <p:nvPr>
            <p:ph type="dt" sz="half" idx="10"/>
          </p:nvPr>
        </p:nvSpPr>
        <p:spPr/>
        <p:txBody>
          <a:bodyPr/>
          <a:lstStyle/>
          <a:p>
            <a:pPr>
              <a:defRPr/>
            </a:pPr>
            <a:fld id="{8C1C0B89-1FC8-4ED5-A7F0-1EC5BEB16D98}"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0991BAA0-E523-84B0-574E-3CAABE7DEC1F}"/>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16FB8B05-2F6C-E4FB-684D-84A8E32533D8}"/>
              </a:ext>
            </a:extLst>
          </p:cNvPr>
          <p:cNvSpPr>
            <a:spLocks noGrp="1"/>
          </p:cNvSpPr>
          <p:nvPr>
            <p:ph type="sldNum" sz="quarter" idx="12"/>
          </p:nvPr>
        </p:nvSpPr>
        <p:spPr/>
        <p:txBody>
          <a:bodyPr/>
          <a:lstStyle/>
          <a:p>
            <a:pPr>
              <a:defRPr/>
            </a:pPr>
            <a:fld id="{8BCAC33D-D29A-48B3-BCD6-381D3D720D26}" type="slidenum">
              <a:rPr lang="zh-CN" altLang="en-US" smtClean="0"/>
              <a:t>49</a:t>
            </a:fld>
            <a:endParaRPr lang="en-US" altLang="zh-CN"/>
          </a:p>
        </p:txBody>
      </p:sp>
    </p:spTree>
    <p:extLst>
      <p:ext uri="{BB962C8B-B14F-4D97-AF65-F5344CB8AC3E}">
        <p14:creationId xmlns:p14="http://schemas.microsoft.com/office/powerpoint/2010/main" val="293783059"/>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260350"/>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4.2  </a:t>
            </a:r>
            <a:r>
              <a:rPr lang="zh-CN" altLang="en-US" sz="4000" b="1" dirty="0">
                <a:latin typeface="Times New Roman" panose="02020603050405020304" pitchFamily="18" charset="0"/>
                <a:cs typeface="Times New Roman" panose="02020603050405020304" pitchFamily="18" charset="0"/>
              </a:rPr>
              <a:t>指令的动态调度</a:t>
            </a:r>
          </a:p>
        </p:txBody>
      </p:sp>
      <p:sp>
        <p:nvSpPr>
          <p:cNvPr id="4099" name="Rectangle 2"/>
          <p:cNvSpPr>
            <a:spLocks noGrp="1" noChangeArrowheads="1"/>
          </p:cNvSpPr>
          <p:nvPr>
            <p:ph idx="1"/>
          </p:nvPr>
        </p:nvSpPr>
        <p:spPr>
          <a:xfrm>
            <a:off x="755650" y="1700213"/>
            <a:ext cx="7064375" cy="3600450"/>
          </a:xfrm>
        </p:spPr>
        <p:txBody>
          <a:bodyPr/>
          <a:lstStyle/>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4.2.1  </a:t>
            </a:r>
            <a:r>
              <a:rPr lang="zh-CN" altLang="en-US" sz="2800" b="1" dirty="0">
                <a:latin typeface="Times New Roman" pitchFamily="18" charset="0"/>
                <a:cs typeface="Times New Roman" panose="02020603050405020304" pitchFamily="18" charset="0"/>
              </a:rPr>
              <a:t>动态调度的原理</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dirty="0">
                <a:latin typeface="Times New Roman" pitchFamily="18" charset="0"/>
                <a:cs typeface="Times New Roman" panose="02020603050405020304" pitchFamily="18" charset="0"/>
              </a:rPr>
              <a:t>4.2.2  </a:t>
            </a:r>
            <a:r>
              <a:rPr lang="zh-CN" altLang="en-US" sz="2800" b="1" dirty="0">
                <a:latin typeface="Times New Roman" pitchFamily="18" charset="0"/>
                <a:cs typeface="Times New Roman" panose="02020603050405020304" pitchFamily="18" charset="0"/>
              </a:rPr>
              <a:t>动态调度算法之一：记分牌</a:t>
            </a: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cs typeface="Times New Roman" panose="02020603050405020304"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cs typeface="Times New Roman" panose="02020603050405020304" pitchFamily="18" charset="0"/>
              </a:rPr>
              <a:t>4.2.3  </a:t>
            </a:r>
            <a:r>
              <a:rPr lang="zh-CN" altLang="en-US" sz="2800" b="1" u="sng" dirty="0">
                <a:latin typeface="Times New Roman" pitchFamily="18" charset="0"/>
                <a:cs typeface="Times New Roman" panose="02020603050405020304" pitchFamily="18" charset="0"/>
              </a:rPr>
              <a:t>动态调度算法之二：</a:t>
            </a:r>
            <a:r>
              <a:rPr lang="en-US" altLang="zh-CN" sz="2800" b="1" u="sng" dirty="0" err="1">
                <a:latin typeface="Times New Roman" pitchFamily="18" charset="0"/>
                <a:cs typeface="Times New Roman" panose="02020603050405020304" pitchFamily="18" charset="0"/>
              </a:rPr>
              <a:t>Tomasulo</a:t>
            </a:r>
            <a:r>
              <a:rPr lang="zh-CN" altLang="en-US" sz="2800" b="1" u="sng" dirty="0">
                <a:latin typeface="Times New Roman" pitchFamily="18" charset="0"/>
                <a:cs typeface="Times New Roman" panose="02020603050405020304" pitchFamily="18" charset="0"/>
              </a:rPr>
              <a:t>算法</a:t>
            </a:r>
            <a:endParaRPr lang="en-US" altLang="zh-CN" sz="2800" b="1" u="sng" dirty="0">
              <a:latin typeface="Times New Roman"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616D8801-1B4F-2564-8B44-0DADE1D55C05}"/>
              </a:ext>
            </a:extLst>
          </p:cNvPr>
          <p:cNvSpPr>
            <a:spLocks noGrp="1"/>
          </p:cNvSpPr>
          <p:nvPr>
            <p:ph type="dt" sz="half" idx="10"/>
          </p:nvPr>
        </p:nvSpPr>
        <p:spPr/>
        <p:txBody>
          <a:bodyPr/>
          <a:lstStyle/>
          <a:p>
            <a:pPr>
              <a:defRPr/>
            </a:pPr>
            <a:fld id="{2734D84D-DECE-498C-BAF2-377A598FDED3}"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BBF5978D-6982-8214-7793-3C52B5F00656}"/>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7B758EDF-3DB0-6084-B715-11D9EC46F7A8}"/>
              </a:ext>
            </a:extLst>
          </p:cNvPr>
          <p:cNvSpPr>
            <a:spLocks noGrp="1"/>
          </p:cNvSpPr>
          <p:nvPr>
            <p:ph type="sldNum" sz="quarter" idx="12"/>
          </p:nvPr>
        </p:nvSpPr>
        <p:spPr/>
        <p:txBody>
          <a:bodyPr/>
          <a:lstStyle/>
          <a:p>
            <a:pPr>
              <a:defRPr/>
            </a:pPr>
            <a:fld id="{8BCAC33D-D29A-48B3-BCD6-381D3D720D26}" type="slidenum">
              <a:rPr lang="zh-CN" altLang="en-US" smtClean="0"/>
              <a:t>50</a:t>
            </a:fld>
            <a:endParaRPr lang="en-US" altLang="zh-CN"/>
          </a:p>
        </p:txBody>
      </p:sp>
    </p:spTree>
    <p:extLst>
      <p:ext uri="{BB962C8B-B14F-4D97-AF65-F5344CB8AC3E}">
        <p14:creationId xmlns:p14="http://schemas.microsoft.com/office/powerpoint/2010/main" val="3343082369"/>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6" name="Rectangle 22"/>
          <p:cNvSpPr>
            <a:spLocks noGrp="1" noChangeArrowheads="1"/>
          </p:cNvSpPr>
          <p:nvPr>
            <p:ph type="body" idx="4294967295"/>
          </p:nvPr>
        </p:nvSpPr>
        <p:spPr/>
        <p:txBody>
          <a:bodyPr rtlCol="0">
            <a:normAutofit/>
          </a:bodyPr>
          <a:lstStyle/>
          <a:p>
            <a:pPr eaLnBrk="1" fontAlgn="auto" hangingPunct="1">
              <a:lnSpc>
                <a:spcPct val="110000"/>
              </a:lnSpc>
              <a:spcAft>
                <a:spcPts val="0"/>
              </a:spcAft>
              <a:defRPr/>
            </a:pPr>
            <a:r>
              <a:rPr lang="en-US" altLang="zh-CN" sz="2400" b="1" dirty="0">
                <a:latin typeface="Times New Roman" panose="02020603050405020304" pitchFamily="18" charset="0"/>
                <a:ea typeface="+mj-ea"/>
                <a:cs typeface="Times New Roman" panose="02020603050405020304" pitchFamily="18" charset="0"/>
              </a:rPr>
              <a:t>IBM 360/91</a:t>
            </a:r>
            <a:r>
              <a:rPr lang="zh-CN" altLang="en-US" sz="2400" b="1" dirty="0">
                <a:latin typeface="Times New Roman" panose="02020603050405020304" pitchFamily="18" charset="0"/>
                <a:ea typeface="+mj-ea"/>
                <a:cs typeface="Times New Roman" panose="02020603050405020304" pitchFamily="18" charset="0"/>
              </a:rPr>
              <a:t>比</a:t>
            </a:r>
            <a:r>
              <a:rPr lang="en-US" altLang="zh-CN" sz="2400" b="1" dirty="0">
                <a:latin typeface="Times New Roman" panose="02020603050405020304" pitchFamily="18" charset="0"/>
                <a:ea typeface="+mj-ea"/>
                <a:cs typeface="Times New Roman" panose="02020603050405020304" pitchFamily="18" charset="0"/>
              </a:rPr>
              <a:t>CDC6600</a:t>
            </a:r>
            <a:r>
              <a:rPr lang="zh-CN" altLang="en-US" sz="2400" b="1" dirty="0">
                <a:latin typeface="Times New Roman" panose="02020603050405020304" pitchFamily="18" charset="0"/>
                <a:ea typeface="+mj-ea"/>
                <a:cs typeface="Times New Roman" panose="02020603050405020304" pitchFamily="18" charset="0"/>
              </a:rPr>
              <a:t>晚三年推出</a:t>
            </a:r>
          </a:p>
          <a:p>
            <a:pPr lvl="1"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商业计算机使用</a:t>
            </a:r>
            <a:r>
              <a:rPr lang="en-US" altLang="zh-CN" sz="2400" b="1" dirty="0">
                <a:latin typeface="Times New Roman" panose="02020603050405020304" pitchFamily="18" charset="0"/>
                <a:ea typeface="+mj-ea"/>
                <a:cs typeface="Times New Roman" panose="02020603050405020304" pitchFamily="18" charset="0"/>
              </a:rPr>
              <a:t>Cache</a:t>
            </a:r>
            <a:r>
              <a:rPr lang="zh-CN" altLang="en-US" sz="2400" b="1" dirty="0">
                <a:latin typeface="Times New Roman" panose="02020603050405020304" pitchFamily="18" charset="0"/>
                <a:ea typeface="+mj-ea"/>
                <a:cs typeface="Times New Roman" panose="02020603050405020304" pitchFamily="18" charset="0"/>
              </a:rPr>
              <a:t>技术之前</a:t>
            </a:r>
          </a:p>
          <a:p>
            <a:pPr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整个</a:t>
            </a:r>
            <a:r>
              <a:rPr lang="en-US" altLang="zh-CN" sz="2400" b="1" dirty="0">
                <a:latin typeface="Times New Roman" panose="02020603050405020304" pitchFamily="18" charset="0"/>
                <a:ea typeface="+mj-ea"/>
                <a:cs typeface="Times New Roman" panose="02020603050405020304" pitchFamily="18" charset="0"/>
              </a:rPr>
              <a:t>360</a:t>
            </a:r>
            <a:r>
              <a:rPr lang="zh-CN" altLang="en-US" sz="2400" b="1" dirty="0">
                <a:latin typeface="Times New Roman" panose="02020603050405020304" pitchFamily="18" charset="0"/>
                <a:ea typeface="+mj-ea"/>
                <a:cs typeface="Times New Roman" panose="02020603050405020304" pitchFamily="18" charset="0"/>
              </a:rPr>
              <a:t>系列仅一个指令系统和一个编译器</a:t>
            </a:r>
          </a:p>
          <a:p>
            <a:pPr lvl="1"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要求具有很高的浮点性能，但不是通过高端机器的专用的编译器实现</a:t>
            </a:r>
          </a:p>
          <a:p>
            <a:pPr lvl="1"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只有四个双精度浮点寄存器，编译器调度的有效性受到很大限制</a:t>
            </a:r>
          </a:p>
          <a:p>
            <a:pPr lvl="1"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访存时间和浮点计算时间都很长</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1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可支持循环的多次迭代重叠执行</a:t>
            </a:r>
          </a:p>
        </p:txBody>
      </p:sp>
      <p:sp>
        <p:nvSpPr>
          <p:cNvPr id="4" name="Rectangle 7"/>
          <p:cNvSpPr txBox="1">
            <a:spLocks noChangeArrowheads="1"/>
          </p:cNvSpPr>
          <p:nvPr/>
        </p:nvSpPr>
        <p:spPr bwMode="auto">
          <a:xfrm>
            <a:off x="179388" y="188913"/>
            <a:ext cx="87852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hangingPunct="1">
              <a:defRPr/>
            </a:pPr>
            <a:r>
              <a:rPr lang="en-US" altLang="zh-CN" sz="3600" b="1" dirty="0">
                <a:latin typeface="Times New Roman" panose="02020603050405020304" pitchFamily="18" charset="0"/>
                <a:cs typeface="Times New Roman" panose="02020603050405020304" pitchFamily="18" charset="0"/>
              </a:rPr>
              <a:t>4.2.2 </a:t>
            </a:r>
            <a:r>
              <a:rPr lang="zh-CN" altLang="en-US" sz="3600" b="1" dirty="0">
                <a:latin typeface="Times New Roman" pitchFamily="18" charset="0"/>
                <a:cs typeface="Times New Roman" panose="02020603050405020304" pitchFamily="18" charset="0"/>
              </a:rPr>
              <a:t>动态调度算法之二：</a:t>
            </a:r>
            <a:r>
              <a:rPr lang="en-US" altLang="zh-CN" sz="3600" b="1" dirty="0" err="1">
                <a:latin typeface="Times New Roman" panose="02020603050405020304" pitchFamily="18" charset="0"/>
                <a:cs typeface="Times New Roman" panose="02020603050405020304" pitchFamily="18" charset="0"/>
              </a:rPr>
              <a:t>Tomasulo</a:t>
            </a:r>
            <a:r>
              <a:rPr lang="zh-CN" altLang="en-US" sz="3600" b="1" dirty="0">
                <a:latin typeface="Times New Roman" panose="02020603050405020304" pitchFamily="18" charset="0"/>
                <a:cs typeface="Times New Roman" panose="02020603050405020304" pitchFamily="18" charset="0"/>
              </a:rPr>
              <a:t>算法</a:t>
            </a:r>
          </a:p>
        </p:txBody>
      </p:sp>
      <p:sp>
        <p:nvSpPr>
          <p:cNvPr id="2" name="日期占位符 1">
            <a:extLst>
              <a:ext uri="{FF2B5EF4-FFF2-40B4-BE49-F238E27FC236}">
                <a16:creationId xmlns:a16="http://schemas.microsoft.com/office/drawing/2014/main" id="{D1ECBB21-C8A9-93BC-730E-2B19126912AF}"/>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6BE48502-9ABE-0EF8-40EE-BAC62955536F}"/>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3">
            <a:extLst>
              <a:ext uri="{FF2B5EF4-FFF2-40B4-BE49-F238E27FC236}">
                <a16:creationId xmlns:a16="http://schemas.microsoft.com/office/drawing/2014/main" id="{1BDF23F5-2CB0-4859-F8B9-D48D08B4AF2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51</a:t>
            </a:fld>
            <a:endParaRPr lang="en-US" altLang="zh-CN"/>
          </a:p>
        </p:txBody>
      </p:sp>
    </p:spTree>
    <p:extLst>
      <p:ext uri="{BB962C8B-B14F-4D97-AF65-F5344CB8AC3E}">
        <p14:creationId xmlns:p14="http://schemas.microsoft.com/office/powerpoint/2010/main" val="1063400625"/>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title" idx="4294967295"/>
          </p:nvPr>
        </p:nvSpPr>
        <p:spPr>
          <a:xfrm>
            <a:off x="457200" y="-26988"/>
            <a:ext cx="8229600" cy="1143001"/>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IBM 360/91</a:t>
            </a:r>
            <a:r>
              <a:rPr lang="zh-CN" altLang="en-US" sz="3600" b="1" dirty="0">
                <a:latin typeface="Times New Roman" panose="02020603050405020304" pitchFamily="18" charset="0"/>
                <a:cs typeface="Times New Roman" panose="02020603050405020304" pitchFamily="18" charset="0"/>
              </a:rPr>
              <a:t>前面板</a:t>
            </a:r>
          </a:p>
        </p:txBody>
      </p:sp>
      <p:pic>
        <p:nvPicPr>
          <p:cNvPr id="59395" name="Picture 7" descr="36091-museum-1"/>
          <p:cNvPicPr>
            <a:picLocks noGrp="1" noChangeAspect="1" noChangeArrowheads="1"/>
          </p:cNvPicPr>
          <p:nvPr>
            <p:ph idx="4294967295"/>
          </p:nvPr>
        </p:nvPicPr>
        <p:blipFill>
          <a:blip r:embed="rId2" cstate="print">
            <a:extLst>
              <a:ext uri="{28A0092B-C50C-407E-A947-70E740481C1C}">
                <a14:useLocalDpi xmlns:a14="http://schemas.microsoft.com/office/drawing/2010/main" val="0"/>
              </a:ext>
            </a:extLst>
          </a:blip>
          <a:srcRect/>
          <a:stretch>
            <a:fillRect/>
          </a:stretch>
        </p:blipFill>
        <p:spPr>
          <a:xfrm>
            <a:off x="1428750" y="1052513"/>
            <a:ext cx="6286500" cy="532923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日期占位符 1">
            <a:extLst>
              <a:ext uri="{FF2B5EF4-FFF2-40B4-BE49-F238E27FC236}">
                <a16:creationId xmlns:a16="http://schemas.microsoft.com/office/drawing/2014/main" id="{F8ABC088-B2F0-08A7-6A80-8B19631D0516}"/>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3F6C17A5-97C9-E86C-66DB-3F0B843A6019}"/>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AA100073-437C-B649-D4FB-C2452154334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52</a:t>
            </a:fld>
            <a:endParaRPr lang="en-US" altLang="zh-CN"/>
          </a:p>
        </p:txBody>
      </p:sp>
    </p:spTree>
    <p:extLst>
      <p:ext uri="{BB962C8B-B14F-4D97-AF65-F5344CB8AC3E}">
        <p14:creationId xmlns:p14="http://schemas.microsoft.com/office/powerpoint/2010/main" val="653996677"/>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
          <p:cNvSpPr>
            <a:spLocks noGrp="1" noChangeArrowheads="1"/>
          </p:cNvSpPr>
          <p:nvPr>
            <p:ph type="title" idx="4294967295"/>
          </p:nvPr>
        </p:nvSpPr>
        <p:spPr/>
        <p:txBody>
          <a:bodyPr/>
          <a:lstStyle/>
          <a:p>
            <a:pPr eaLnBrk="1" hangingPunct="1">
              <a:defRPr/>
            </a:pPr>
            <a:r>
              <a:rPr lang="en-US" altLang="zh-CN" sz="3600" b="1" dirty="0" err="1">
                <a:latin typeface="Times New Roman" panose="02020603050405020304" pitchFamily="18" charset="0"/>
                <a:cs typeface="Times New Roman" panose="02020603050405020304" pitchFamily="18" charset="0"/>
              </a:rPr>
              <a:t>Tomasulo</a:t>
            </a:r>
            <a:r>
              <a:rPr lang="zh-CN" altLang="en-US" sz="3600" b="1" dirty="0">
                <a:latin typeface="Times New Roman" panose="02020603050405020304" pitchFamily="18" charset="0"/>
                <a:cs typeface="Times New Roman" panose="02020603050405020304" pitchFamily="18" charset="0"/>
              </a:rPr>
              <a:t>算法与记分牌</a:t>
            </a:r>
          </a:p>
        </p:txBody>
      </p:sp>
      <p:sp>
        <p:nvSpPr>
          <p:cNvPr id="53251" name="Rectangle 11"/>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采用了许多记分牌中的理念</a:t>
            </a: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两个较大的差异</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en-US" altLang="zh-CN" sz="2400" b="1" dirty="0" err="1">
                <a:latin typeface="Times New Roman" panose="02020603050405020304" pitchFamily="18" charset="0"/>
                <a:ea typeface="+mj-ea"/>
                <a:cs typeface="Times New Roman" panose="02020603050405020304" pitchFamily="18" charset="0"/>
              </a:rPr>
              <a:t>Tomasulo</a:t>
            </a:r>
            <a:r>
              <a:rPr lang="zh-CN" altLang="en-US" sz="2400" b="1" dirty="0">
                <a:latin typeface="Times New Roman" panose="02020603050405020304" pitchFamily="18" charset="0"/>
                <a:ea typeface="+mj-ea"/>
                <a:cs typeface="Times New Roman" panose="02020603050405020304" pitchFamily="18" charset="0"/>
              </a:rPr>
              <a:t>算法中，冲突检测和执行控制是分布的，利用保留站实现。</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en-US" altLang="zh-CN" sz="2400" b="1" dirty="0" err="1">
                <a:latin typeface="Times New Roman" panose="02020603050405020304" pitchFamily="18" charset="0"/>
                <a:ea typeface="+mj-ea"/>
                <a:cs typeface="Times New Roman" panose="02020603050405020304" pitchFamily="18" charset="0"/>
              </a:rPr>
              <a:t>Tomasulo</a:t>
            </a:r>
            <a:r>
              <a:rPr lang="zh-CN" altLang="en-US" sz="2400" b="1" dirty="0">
                <a:latin typeface="Times New Roman" panose="02020603050405020304" pitchFamily="18" charset="0"/>
                <a:ea typeface="+mj-ea"/>
                <a:cs typeface="Times New Roman" panose="02020603050405020304" pitchFamily="18" charset="0"/>
              </a:rPr>
              <a:t>算法不检查</a:t>
            </a:r>
            <a:r>
              <a:rPr lang="en-US" altLang="zh-CN" sz="2400" b="1" dirty="0">
                <a:latin typeface="Times New Roman" panose="02020603050405020304" pitchFamily="18" charset="0"/>
                <a:ea typeface="+mj-ea"/>
                <a:cs typeface="Times New Roman" panose="02020603050405020304" pitchFamily="18" charset="0"/>
              </a:rPr>
              <a:t>WAR</a:t>
            </a:r>
            <a:r>
              <a:rPr lang="zh-CN" altLang="en-US" sz="2400" b="1" dirty="0">
                <a:latin typeface="Times New Roman" panose="02020603050405020304" pitchFamily="18" charset="0"/>
                <a:ea typeface="+mj-ea"/>
                <a:cs typeface="Times New Roman" panose="02020603050405020304" pitchFamily="18" charset="0"/>
              </a:rPr>
              <a:t>和</a:t>
            </a:r>
            <a:r>
              <a:rPr lang="en-US" altLang="zh-CN" sz="2400" b="1" dirty="0">
                <a:latin typeface="Times New Roman" panose="02020603050405020304" pitchFamily="18" charset="0"/>
                <a:ea typeface="+mj-ea"/>
                <a:cs typeface="Times New Roman" panose="02020603050405020304" pitchFamily="18" charset="0"/>
              </a:rPr>
              <a:t>WAW</a:t>
            </a:r>
            <a:r>
              <a:rPr lang="zh-CN" altLang="en-US" sz="2400" b="1" dirty="0">
                <a:latin typeface="Times New Roman" panose="02020603050405020304" pitchFamily="18" charset="0"/>
                <a:ea typeface="+mj-ea"/>
                <a:cs typeface="Times New Roman" panose="02020603050405020304" pitchFamily="18" charset="0"/>
              </a:rPr>
              <a:t>相关，通过算法本身消除。</a:t>
            </a:r>
            <a:r>
              <a:rPr lang="zh-CN" altLang="en-US" sz="2400" b="1" dirty="0">
                <a:solidFill>
                  <a:srgbClr val="FF0000"/>
                </a:solidFill>
                <a:latin typeface="Times New Roman" panose="02020603050405020304" pitchFamily="18" charset="0"/>
                <a:ea typeface="+mj-ea"/>
                <a:cs typeface="Times New Roman" panose="02020603050405020304" pitchFamily="18" charset="0"/>
              </a:rPr>
              <a:t>计算结果</a:t>
            </a:r>
            <a:r>
              <a:rPr lang="zh-CN" altLang="en-US" sz="2400" b="1" dirty="0">
                <a:latin typeface="Times New Roman" panose="02020603050405020304" pitchFamily="18" charset="0"/>
                <a:ea typeface="+mj-ea"/>
                <a:cs typeface="Times New Roman" panose="02020603050405020304" pitchFamily="18" charset="0"/>
              </a:rPr>
              <a:t>通过专用通道直接从功能部件</a:t>
            </a:r>
            <a:r>
              <a:rPr lang="zh-CN" altLang="en-US" sz="2400" b="1" dirty="0">
                <a:solidFill>
                  <a:srgbClr val="FF0000"/>
                </a:solidFill>
                <a:latin typeface="Times New Roman" panose="02020603050405020304" pitchFamily="18" charset="0"/>
                <a:ea typeface="+mj-ea"/>
                <a:cs typeface="Times New Roman" panose="02020603050405020304" pitchFamily="18" charset="0"/>
              </a:rPr>
              <a:t>进入到保留站进行缓冲</a:t>
            </a:r>
            <a:r>
              <a:rPr lang="zh-CN" altLang="en-US" sz="2400" b="1" dirty="0">
                <a:latin typeface="Times New Roman" panose="02020603050405020304" pitchFamily="18" charset="0"/>
                <a:ea typeface="+mj-ea"/>
                <a:cs typeface="Times New Roman" panose="02020603050405020304" pitchFamily="18" charset="0"/>
              </a:rPr>
              <a:t>，而不是写到寄存器。</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03D94288-099C-8267-E38E-03541895C5C8}"/>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307FBD98-610A-2A6B-D737-78BB38027FB3}"/>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EA6F373-7C82-9D0F-15E5-B2BF65526BA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53</a:t>
            </a:fld>
            <a:endParaRPr lang="en-US" altLang="zh-CN"/>
          </a:p>
        </p:txBody>
      </p:sp>
    </p:spTree>
    <p:extLst>
      <p:ext uri="{BB962C8B-B14F-4D97-AF65-F5344CB8AC3E}">
        <p14:creationId xmlns:p14="http://schemas.microsoft.com/office/powerpoint/2010/main" val="333851897"/>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
          <p:cNvSpPr>
            <a:spLocks noGrp="1" noChangeArrowheads="1"/>
          </p:cNvSpPr>
          <p:nvPr>
            <p:ph type="title" idx="4294967295"/>
          </p:nvPr>
        </p:nvSpPr>
        <p:spPr/>
        <p:txBody>
          <a:bodyPr/>
          <a:lstStyle/>
          <a:p>
            <a:pPr eaLnBrk="1" hangingPunct="1">
              <a:defRPr/>
            </a:pPr>
            <a:r>
              <a:rPr lang="en-US" altLang="zh-CN" sz="3600" b="1" dirty="0" err="1">
                <a:latin typeface="Times New Roman" panose="02020603050405020304" pitchFamily="18" charset="0"/>
                <a:cs typeface="Times New Roman" panose="02020603050405020304" pitchFamily="18" charset="0"/>
              </a:rPr>
              <a:t>Tomasulo</a:t>
            </a:r>
            <a:r>
              <a:rPr lang="zh-CN" altLang="en-US" sz="3600" b="1" dirty="0">
                <a:latin typeface="Times New Roman" panose="02020603050405020304" pitchFamily="18" charset="0"/>
                <a:cs typeface="Times New Roman" panose="02020603050405020304" pitchFamily="18" charset="0"/>
              </a:rPr>
              <a:t>算法核心思想</a:t>
            </a:r>
          </a:p>
        </p:txBody>
      </p:sp>
      <p:sp>
        <p:nvSpPr>
          <p:cNvPr id="53251" name="Rectangle 11"/>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记录并检测指令的</a:t>
            </a:r>
            <a:r>
              <a:rPr lang="en-US" altLang="zh-CN" sz="2400" b="1" dirty="0">
                <a:latin typeface="Times New Roman" panose="02020603050405020304" pitchFamily="18" charset="0"/>
                <a:ea typeface="+mj-ea"/>
                <a:cs typeface="Times New Roman" panose="02020603050405020304" pitchFamily="18" charset="0"/>
              </a:rPr>
              <a:t>RAW</a:t>
            </a:r>
            <a:r>
              <a:rPr lang="zh-CN" altLang="en-US" sz="2400" b="1" dirty="0">
                <a:latin typeface="Times New Roman" panose="02020603050405020304" pitchFamily="18" charset="0"/>
                <a:ea typeface="+mj-ea"/>
                <a:cs typeface="Times New Roman" panose="02020603050405020304" pitchFamily="18" charset="0"/>
              </a:rPr>
              <a:t>相关，操作数一旦准备就绪就立即执行，把发生</a:t>
            </a:r>
            <a:r>
              <a:rPr lang="en-US" altLang="zh-CN" sz="2400" b="1" dirty="0">
                <a:latin typeface="Times New Roman" panose="02020603050405020304" pitchFamily="18" charset="0"/>
                <a:ea typeface="+mj-ea"/>
                <a:cs typeface="Times New Roman" panose="02020603050405020304" pitchFamily="18" charset="0"/>
              </a:rPr>
              <a:t>RAW</a:t>
            </a:r>
            <a:r>
              <a:rPr lang="zh-CN" altLang="en-US" sz="2400" b="1" dirty="0">
                <a:latin typeface="Times New Roman" panose="02020603050405020304" pitchFamily="18" charset="0"/>
                <a:ea typeface="+mj-ea"/>
                <a:cs typeface="Times New Roman" panose="02020603050405020304" pitchFamily="18" charset="0"/>
              </a:rPr>
              <a:t>冲突的可能性降到最低。</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不检查</a:t>
            </a:r>
            <a:r>
              <a:rPr lang="en-US" altLang="zh-CN" sz="2400" b="1" dirty="0">
                <a:latin typeface="Times New Roman" panose="02020603050405020304" pitchFamily="18" charset="0"/>
                <a:ea typeface="+mj-ea"/>
                <a:cs typeface="Times New Roman" panose="02020603050405020304" pitchFamily="18" charset="0"/>
              </a:rPr>
              <a:t>WAR</a:t>
            </a:r>
            <a:r>
              <a:rPr lang="zh-CN" altLang="en-US" sz="2400" b="1" dirty="0">
                <a:latin typeface="Times New Roman" panose="02020603050405020304" pitchFamily="18" charset="0"/>
                <a:ea typeface="+mj-ea"/>
                <a:cs typeface="Times New Roman" panose="02020603050405020304" pitchFamily="18" charset="0"/>
              </a:rPr>
              <a:t>和</a:t>
            </a:r>
            <a:r>
              <a:rPr lang="en-US" altLang="zh-CN" sz="2400" b="1" dirty="0">
                <a:latin typeface="Times New Roman" panose="02020603050405020304" pitchFamily="18" charset="0"/>
                <a:ea typeface="+mj-ea"/>
                <a:cs typeface="Times New Roman" panose="02020603050405020304" pitchFamily="18" charset="0"/>
              </a:rPr>
              <a:t>WAW</a:t>
            </a:r>
            <a:r>
              <a:rPr lang="zh-CN" altLang="en-US" sz="2400" b="1" dirty="0">
                <a:latin typeface="Times New Roman" panose="02020603050405020304" pitchFamily="18" charset="0"/>
                <a:ea typeface="+mj-ea"/>
                <a:cs typeface="Times New Roman" panose="02020603050405020304" pitchFamily="18" charset="0"/>
              </a:rPr>
              <a:t>相关，通过换名（</a:t>
            </a:r>
            <a:r>
              <a:rPr lang="en-US" altLang="zh-CN" sz="2400" b="1" dirty="0">
                <a:latin typeface="Times New Roman" panose="02020603050405020304" pitchFamily="18" charset="0"/>
                <a:ea typeface="+mj-ea"/>
                <a:cs typeface="Times New Roman" panose="02020603050405020304" pitchFamily="18" charset="0"/>
              </a:rPr>
              <a:t>Remaining</a:t>
            </a:r>
            <a:r>
              <a:rPr lang="zh-CN" altLang="en-US" sz="2400" b="1" dirty="0">
                <a:latin typeface="Times New Roman" panose="02020603050405020304" pitchFamily="18" charset="0"/>
                <a:ea typeface="+mj-ea"/>
                <a:cs typeface="Times New Roman" panose="02020603050405020304" pitchFamily="18" charset="0"/>
              </a:rPr>
              <a:t>）技术来消除</a:t>
            </a:r>
            <a:r>
              <a:rPr lang="en-US" altLang="zh-CN" sz="2400" b="1" dirty="0">
                <a:latin typeface="Times New Roman" panose="02020603050405020304" pitchFamily="18" charset="0"/>
                <a:ea typeface="+mj-ea"/>
                <a:cs typeface="Times New Roman" panose="02020603050405020304" pitchFamily="18" charset="0"/>
              </a:rPr>
              <a:t>WAR</a:t>
            </a:r>
            <a:r>
              <a:rPr lang="zh-CN" altLang="en-US" sz="2400" b="1" dirty="0">
                <a:latin typeface="Times New Roman" panose="02020603050405020304" pitchFamily="18" charset="0"/>
                <a:ea typeface="+mj-ea"/>
                <a:cs typeface="Times New Roman" panose="02020603050405020304" pitchFamily="18" charset="0"/>
              </a:rPr>
              <a:t>和</a:t>
            </a:r>
            <a:r>
              <a:rPr lang="en-US" altLang="zh-CN" sz="2400" b="1" dirty="0">
                <a:latin typeface="Times New Roman" panose="02020603050405020304" pitchFamily="18" charset="0"/>
                <a:ea typeface="+mj-ea"/>
                <a:cs typeface="Times New Roman" panose="02020603050405020304" pitchFamily="18" charset="0"/>
              </a:rPr>
              <a:t>WAW</a:t>
            </a:r>
            <a:r>
              <a:rPr lang="zh-CN" altLang="en-US" sz="2400" b="1" dirty="0">
                <a:latin typeface="Times New Roman" panose="02020603050405020304" pitchFamily="18" charset="0"/>
                <a:ea typeface="+mj-ea"/>
                <a:cs typeface="Times New Roman" panose="02020603050405020304" pitchFamily="18" charset="0"/>
              </a:rPr>
              <a:t>冲突（</a:t>
            </a:r>
            <a:r>
              <a:rPr lang="zh-CN" altLang="en-US" sz="2400" b="1" dirty="0">
                <a:solidFill>
                  <a:srgbClr val="C00000"/>
                </a:solidFill>
                <a:latin typeface="Times New Roman" panose="02020603050405020304" pitchFamily="18" charset="0"/>
                <a:ea typeface="+mj-ea"/>
                <a:cs typeface="Times New Roman" panose="02020603050405020304" pitchFamily="18" charset="0"/>
              </a:rPr>
              <a:t>注意：</a:t>
            </a:r>
            <a:r>
              <a:rPr lang="en-US" altLang="zh-CN" sz="2400" b="1" dirty="0" err="1">
                <a:solidFill>
                  <a:srgbClr val="C00000"/>
                </a:solidFill>
                <a:latin typeface="Times New Roman" panose="02020603050405020304" pitchFamily="18" charset="0"/>
                <a:cs typeface="Times New Roman" panose="02020603050405020304" pitchFamily="18" charset="0"/>
              </a:rPr>
              <a:t>Tomasulo</a:t>
            </a:r>
            <a:r>
              <a:rPr lang="zh-CN" altLang="en-US" sz="2400" b="1" dirty="0">
                <a:solidFill>
                  <a:srgbClr val="C00000"/>
                </a:solidFill>
                <a:latin typeface="Times New Roman" panose="02020603050405020304" pitchFamily="18" charset="0"/>
                <a:cs typeface="Times New Roman" panose="02020603050405020304" pitchFamily="18" charset="0"/>
              </a:rPr>
              <a:t>算法利用保留站缓冲实现换名</a:t>
            </a:r>
            <a:r>
              <a:rPr lang="zh-CN" altLang="en-US" sz="2400" b="1" dirty="0">
                <a:latin typeface="Times New Roman" panose="02020603050405020304" pitchFamily="18" charset="0"/>
                <a:ea typeface="+mj-ea"/>
                <a:cs typeface="Times New Roman" panose="02020603050405020304" pitchFamily="18" charset="0"/>
              </a:rPr>
              <a:t>）。</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83A7EB66-50D6-42E3-E2C4-264FA9FAEDED}"/>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1440E0A1-EE2C-AE13-D09D-C28F07168C62}"/>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FF6502A3-E4A9-09DE-4BA7-EF62CF9DC0C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54</a:t>
            </a:fld>
            <a:endParaRPr lang="en-US" altLang="zh-CN"/>
          </a:p>
        </p:txBody>
      </p:sp>
    </p:spTree>
    <p:extLst>
      <p:ext uri="{BB962C8B-B14F-4D97-AF65-F5344CB8AC3E}">
        <p14:creationId xmlns:p14="http://schemas.microsoft.com/office/powerpoint/2010/main" val="28586695"/>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50" name="Object 4" descr="Rectangle: Click to edit Master text styles&#10;Second level&#10;Third level&#10;Fourth level&#10;Fifth level"/>
          <p:cNvGraphicFramePr>
            <a:graphicFrameLocks noGrp="1" noChangeAspect="1"/>
          </p:cNvGraphicFramePr>
          <p:nvPr>
            <p:ph sz="half" idx="2"/>
          </p:nvPr>
        </p:nvGraphicFramePr>
        <p:xfrm>
          <a:off x="611188" y="908050"/>
          <a:ext cx="7488237" cy="5257800"/>
        </p:xfrm>
        <a:graphic>
          <a:graphicData uri="http://schemas.openxmlformats.org/presentationml/2006/ole">
            <mc:AlternateContent xmlns:mc="http://schemas.openxmlformats.org/markup-compatibility/2006">
              <mc:Choice xmlns:v="urn:schemas-microsoft-com:vml" Requires="v">
                <p:oleObj r:id="rId3" imgW="4762500" imgH="3076575" progId="Word.Picture.8">
                  <p:embed/>
                </p:oleObj>
              </mc:Choice>
              <mc:Fallback>
                <p:oleObj r:id="rId3" imgW="4762500" imgH="3076575" progId="Word.Picture.8">
                  <p:embed/>
                  <p:pic>
                    <p:nvPicPr>
                      <p:cNvPr id="104450" name="Object 4" descr="Rectangle: Click to edit Master text styles&#10;Second level&#10;Third level&#10;Fourth level&#10;Fifth lev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908050"/>
                        <a:ext cx="7488237"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1" name="矩形 3"/>
          <p:cNvSpPr>
            <a:spLocks noChangeArrowheads="1"/>
          </p:cNvSpPr>
          <p:nvPr/>
        </p:nvSpPr>
        <p:spPr bwMode="auto">
          <a:xfrm>
            <a:off x="285750" y="214313"/>
            <a:ext cx="2571750" cy="180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20000"/>
              </a:lnSpc>
              <a:spcBef>
                <a:spcPct val="20000"/>
              </a:spcBef>
              <a:buClr>
                <a:schemeClr val="tx1"/>
              </a:buClr>
              <a:buFont typeface="Wingdings" panose="05000000000000000000" pitchFamily="2" charset="2"/>
              <a:buChar char="Ø"/>
            </a:pPr>
            <a:r>
              <a:rPr lang="zh-CN" altLang="en-US" sz="2400" dirty="0">
                <a:solidFill>
                  <a:srgbClr val="E24C05"/>
                </a:solidFill>
                <a:latin typeface="Times New Roman" panose="02020603050405020304" pitchFamily="18" charset="0"/>
                <a:cs typeface="Times New Roman" panose="02020603050405020304" pitchFamily="18" charset="0"/>
              </a:rPr>
              <a:t>基于</a:t>
            </a:r>
            <a:r>
              <a:rPr lang="en-US" altLang="zh-CN" sz="2400" dirty="0" err="1">
                <a:latin typeface="Times New Roman" panose="02020603050405020304" pitchFamily="18" charset="0"/>
                <a:cs typeface="Times New Roman" panose="02020603050405020304" pitchFamily="18" charset="0"/>
              </a:rPr>
              <a:t>Tomasulo</a:t>
            </a:r>
            <a:r>
              <a:rPr lang="zh-CN" altLang="en-US" sz="2400" dirty="0">
                <a:latin typeface="Times New Roman" panose="02020603050405020304" pitchFamily="18" charset="0"/>
                <a:cs typeface="Times New Roman" panose="02020603050405020304" pitchFamily="18" charset="0"/>
              </a:rPr>
              <a:t>算法</a:t>
            </a:r>
            <a:r>
              <a:rPr lang="zh-CN" altLang="en-US" sz="2400" dirty="0">
                <a:solidFill>
                  <a:srgbClr val="E24C05"/>
                </a:solidFill>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MIPS</a:t>
            </a:r>
            <a:r>
              <a:rPr lang="zh-CN" altLang="en-US" sz="2400" dirty="0">
                <a:solidFill>
                  <a:srgbClr val="E24C05"/>
                </a:solidFill>
                <a:latin typeface="Times New Roman" panose="02020603050405020304" pitchFamily="18" charset="0"/>
                <a:cs typeface="Times New Roman" panose="02020603050405020304" pitchFamily="18" charset="0"/>
              </a:rPr>
              <a:t>处理器浮点部件的基本结构 </a:t>
            </a:r>
          </a:p>
        </p:txBody>
      </p:sp>
      <p:sp>
        <p:nvSpPr>
          <p:cNvPr id="2" name="日期占位符 1">
            <a:extLst>
              <a:ext uri="{FF2B5EF4-FFF2-40B4-BE49-F238E27FC236}">
                <a16:creationId xmlns:a16="http://schemas.microsoft.com/office/drawing/2014/main" id="{549D6567-534D-D550-694C-C6BD3E2DA056}"/>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F8B20FF3-F068-C52C-7781-30807CCEE7EE}"/>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64CFFE59-A816-8715-1049-0C3A1BAE2F57}"/>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55</a:t>
            </a:fld>
            <a:endParaRPr lang="en-US" altLang="zh-CN"/>
          </a:p>
        </p:txBody>
      </p:sp>
    </p:spTree>
    <p:extLst>
      <p:ext uri="{BB962C8B-B14F-4D97-AF65-F5344CB8AC3E}">
        <p14:creationId xmlns:p14="http://schemas.microsoft.com/office/powerpoint/2010/main" val="1359710657"/>
      </p:ext>
    </p:extLst>
  </p:cSld>
  <p:clrMapOvr>
    <a:masterClrMapping/>
  </p:clrMapOvr>
  <p:transition>
    <p:pull dir="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6"/>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MIPS</a:t>
            </a:r>
            <a:r>
              <a:rPr lang="zh-CN" altLang="en-US" sz="3600" b="1" dirty="0">
                <a:latin typeface="Times New Roman" panose="02020603050405020304" pitchFamily="18" charset="0"/>
                <a:cs typeface="Times New Roman" panose="02020603050405020304" pitchFamily="18" charset="0"/>
              </a:rPr>
              <a:t>五阶段的流水线的改造</a:t>
            </a:r>
          </a:p>
        </p:txBody>
      </p:sp>
      <p:sp>
        <p:nvSpPr>
          <p:cNvPr id="56323" name="Rectangle 17"/>
          <p:cNvSpPr>
            <a:spLocks noGrp="1" noChangeArrowheads="1"/>
          </p:cNvSpPr>
          <p:nvPr>
            <p:ph type="body" idx="4294967295"/>
          </p:nvPr>
        </p:nvSpPr>
        <p:spPr/>
        <p:txBody>
          <a:bodyPr/>
          <a:lstStyle/>
          <a:p>
            <a:pPr marL="571500" indent="-571500" eaLnBrk="1" hangingPunct="1">
              <a:buFont typeface="Arial" charset="0"/>
              <a:buChar char="•"/>
              <a:defRPr/>
            </a:pPr>
            <a:r>
              <a:rPr lang="en-US" altLang="zh-CN" sz="2600" b="1" dirty="0">
                <a:latin typeface="Times New Roman" panose="02020603050405020304" pitchFamily="18" charset="0"/>
                <a:ea typeface="+mj-ea"/>
                <a:cs typeface="Times New Roman" panose="02020603050405020304" pitchFamily="18" charset="0"/>
              </a:rPr>
              <a:t>ID</a:t>
            </a:r>
            <a:r>
              <a:rPr lang="zh-CN" altLang="en-US" sz="2600" b="1" dirty="0">
                <a:latin typeface="Times New Roman" panose="02020603050405020304" pitchFamily="18" charset="0"/>
                <a:ea typeface="+mj-ea"/>
                <a:cs typeface="Times New Roman" panose="02020603050405020304" pitchFamily="18" charset="0"/>
              </a:rPr>
              <a:t>和</a:t>
            </a:r>
            <a:r>
              <a:rPr lang="en-US" altLang="zh-CN" sz="2600" b="1" dirty="0">
                <a:latin typeface="Times New Roman" panose="02020603050405020304" pitchFamily="18" charset="0"/>
                <a:ea typeface="+mj-ea"/>
                <a:cs typeface="Times New Roman" panose="02020603050405020304" pitchFamily="18" charset="0"/>
              </a:rPr>
              <a:t>EX</a:t>
            </a:r>
            <a:r>
              <a:rPr lang="zh-CN" altLang="en-US" sz="2600" b="1" dirty="0">
                <a:latin typeface="Times New Roman" panose="02020603050405020304" pitchFamily="18" charset="0"/>
                <a:ea typeface="+mj-ea"/>
                <a:cs typeface="Times New Roman" panose="02020603050405020304" pitchFamily="18" charset="0"/>
              </a:rPr>
              <a:t>阶段被以下三个阶段代替：</a:t>
            </a:r>
            <a:endParaRPr lang="en-US" altLang="zh-CN" sz="2600" b="1" dirty="0">
              <a:latin typeface="Times New Roman" panose="02020603050405020304" pitchFamily="18" charset="0"/>
              <a:ea typeface="+mj-ea"/>
              <a:cs typeface="Times New Roman" panose="02020603050405020304" pitchFamily="18" charset="0"/>
            </a:endParaRPr>
          </a:p>
          <a:p>
            <a:pPr marL="966788" lvl="1" indent="-495300" eaLnBrk="1" hangingPunct="1">
              <a:buFont typeface="Wingdings" pitchFamily="2" charset="2"/>
              <a:buNone/>
              <a:defRPr/>
            </a:pPr>
            <a:r>
              <a:rPr lang="en-US" altLang="zh-CN" sz="2600" b="1" dirty="0">
                <a:latin typeface="Times New Roman" panose="02020603050405020304" pitchFamily="18" charset="0"/>
                <a:ea typeface="+mj-ea"/>
                <a:cs typeface="Times New Roman" panose="02020603050405020304" pitchFamily="18" charset="0"/>
              </a:rPr>
              <a:t>1</a:t>
            </a:r>
            <a:r>
              <a:rPr lang="zh-CN" altLang="en-US" sz="2600" b="1" dirty="0">
                <a:latin typeface="Times New Roman" panose="02020603050405020304" pitchFamily="18" charset="0"/>
                <a:ea typeface="+mj-ea"/>
                <a:cs typeface="Times New Roman" panose="02020603050405020304" pitchFamily="18" charset="0"/>
              </a:rPr>
              <a:t>、流出（</a:t>
            </a:r>
            <a:r>
              <a:rPr lang="en-US" altLang="zh-CN" sz="2600" b="1" dirty="0">
                <a:latin typeface="Times New Roman" panose="02020603050405020304" pitchFamily="18" charset="0"/>
                <a:ea typeface="+mj-ea"/>
                <a:cs typeface="Times New Roman" panose="02020603050405020304" pitchFamily="18" charset="0"/>
              </a:rPr>
              <a:t>Issue</a:t>
            </a:r>
            <a:r>
              <a:rPr lang="zh-CN" altLang="en-US" sz="2600" b="1" dirty="0">
                <a:latin typeface="Times New Roman" panose="02020603050405020304" pitchFamily="18" charset="0"/>
                <a:ea typeface="+mj-ea"/>
                <a:cs typeface="Times New Roman" panose="02020603050405020304" pitchFamily="18" charset="0"/>
              </a:rPr>
              <a:t>）</a:t>
            </a:r>
            <a:endParaRPr lang="en-US" altLang="zh-CN" sz="2600" b="1" dirty="0">
              <a:latin typeface="Times New Roman" panose="02020603050405020304" pitchFamily="18" charset="0"/>
              <a:ea typeface="+mj-ea"/>
              <a:cs typeface="Times New Roman" panose="02020603050405020304" pitchFamily="18" charset="0"/>
            </a:endParaRPr>
          </a:p>
          <a:p>
            <a:pPr marL="966788" lvl="1" indent="-495300" eaLnBrk="1" hangingPunct="1">
              <a:buFont typeface="Wingdings" pitchFamily="2" charset="2"/>
              <a:buNone/>
              <a:defRPr/>
            </a:pPr>
            <a:r>
              <a:rPr lang="en-US" altLang="zh-CN" sz="2600" b="1" dirty="0">
                <a:latin typeface="Times New Roman" panose="02020603050405020304" pitchFamily="18" charset="0"/>
                <a:ea typeface="+mj-ea"/>
                <a:cs typeface="Times New Roman" panose="02020603050405020304" pitchFamily="18" charset="0"/>
              </a:rPr>
              <a:t>2</a:t>
            </a:r>
            <a:r>
              <a:rPr lang="zh-CN" altLang="en-US" sz="2600" b="1" dirty="0">
                <a:latin typeface="Times New Roman" panose="02020603050405020304" pitchFamily="18" charset="0"/>
                <a:ea typeface="+mj-ea"/>
                <a:cs typeface="Times New Roman" panose="02020603050405020304" pitchFamily="18" charset="0"/>
              </a:rPr>
              <a:t>、执行（</a:t>
            </a:r>
            <a:r>
              <a:rPr lang="en-US" altLang="zh-CN" sz="2600" b="1" dirty="0">
                <a:latin typeface="Times New Roman" panose="02020603050405020304" pitchFamily="18" charset="0"/>
                <a:ea typeface="+mj-ea"/>
                <a:cs typeface="Times New Roman" panose="02020603050405020304" pitchFamily="18" charset="0"/>
              </a:rPr>
              <a:t>Execute</a:t>
            </a:r>
            <a:r>
              <a:rPr lang="zh-CN" altLang="en-US" sz="2600" b="1" dirty="0">
                <a:latin typeface="Times New Roman" panose="02020603050405020304" pitchFamily="18" charset="0"/>
                <a:ea typeface="+mj-ea"/>
                <a:cs typeface="Times New Roman" panose="02020603050405020304" pitchFamily="18" charset="0"/>
              </a:rPr>
              <a:t>）</a:t>
            </a:r>
            <a:endParaRPr lang="en-US" altLang="zh-CN" sz="2600" b="1" dirty="0">
              <a:latin typeface="Times New Roman" panose="02020603050405020304" pitchFamily="18" charset="0"/>
              <a:ea typeface="+mj-ea"/>
              <a:cs typeface="Times New Roman" panose="02020603050405020304" pitchFamily="18" charset="0"/>
            </a:endParaRPr>
          </a:p>
          <a:p>
            <a:pPr marL="966788" lvl="1" indent="-495300" eaLnBrk="1" hangingPunct="1">
              <a:buFont typeface="Wingdings" pitchFamily="2" charset="2"/>
              <a:buNone/>
              <a:defRPr/>
            </a:pPr>
            <a:r>
              <a:rPr lang="en-US" altLang="zh-CN" sz="2600" b="1" dirty="0">
                <a:latin typeface="Times New Roman" panose="02020603050405020304" pitchFamily="18" charset="0"/>
                <a:ea typeface="+mj-ea"/>
                <a:cs typeface="Times New Roman" panose="02020603050405020304" pitchFamily="18" charset="0"/>
              </a:rPr>
              <a:t>3</a:t>
            </a:r>
            <a:r>
              <a:rPr lang="zh-CN" altLang="en-US" sz="2600" b="1" dirty="0">
                <a:latin typeface="Times New Roman" panose="02020603050405020304" pitchFamily="18" charset="0"/>
                <a:ea typeface="+mj-ea"/>
                <a:cs typeface="Times New Roman" panose="02020603050405020304" pitchFamily="18" charset="0"/>
              </a:rPr>
              <a:t>、结果写回（</a:t>
            </a:r>
            <a:r>
              <a:rPr lang="en-US" altLang="zh-CN" sz="2600" b="1" dirty="0">
                <a:latin typeface="Times New Roman" panose="02020603050405020304" pitchFamily="18" charset="0"/>
                <a:ea typeface="+mj-ea"/>
                <a:cs typeface="Times New Roman" panose="02020603050405020304" pitchFamily="18" charset="0"/>
              </a:rPr>
              <a:t>Write result</a:t>
            </a:r>
            <a:r>
              <a:rPr lang="zh-CN" altLang="en-US" sz="2600" b="1" dirty="0">
                <a:latin typeface="Times New Roman" panose="02020603050405020304" pitchFamily="18" charset="0"/>
                <a:ea typeface="+mj-ea"/>
                <a:cs typeface="Times New Roman" panose="02020603050405020304" pitchFamily="18" charset="0"/>
              </a:rPr>
              <a:t>）</a:t>
            </a:r>
            <a:endParaRPr lang="en-US" altLang="zh-CN" sz="2600" b="1">
              <a:latin typeface="Times New Roman" panose="02020603050405020304" pitchFamily="18" charset="0"/>
              <a:ea typeface="+mj-ea"/>
              <a:cs typeface="Times New Roman" panose="02020603050405020304" pitchFamily="18" charset="0"/>
            </a:endParaRPr>
          </a:p>
          <a:p>
            <a:pPr marL="966788" lvl="1" indent="-495300" eaLnBrk="1" hangingPunct="1">
              <a:buFont typeface="Wingdings" pitchFamily="2" charset="2"/>
              <a:buNone/>
              <a:defRPr/>
            </a:pPr>
            <a:endParaRPr lang="zh-CN" altLang="en-US" sz="2600" b="1" dirty="0">
              <a:latin typeface="Times New Roman" panose="02020603050405020304" pitchFamily="18" charset="0"/>
              <a:ea typeface="+mj-ea"/>
              <a:cs typeface="Times New Roman" panose="02020603050405020304" pitchFamily="18" charset="0"/>
            </a:endParaRPr>
          </a:p>
          <a:p>
            <a:pPr marL="966788" lvl="1" indent="-495300" eaLnBrk="1" hangingPunct="1">
              <a:buFont typeface="Wingdings" pitchFamily="2" charset="2"/>
              <a:buNone/>
              <a:defRPr/>
            </a:pPr>
            <a:endParaRPr lang="zh-CN" altLang="en-US" sz="26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891EE820-7CD0-43C2-A3D1-00A80DB4A925}"/>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CEC66813-F89C-A4A8-115D-F17C076D693D}"/>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EB0D91E5-F3AF-8C1D-0B75-82E4E933180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56</a:t>
            </a:fld>
            <a:endParaRPr lang="en-US" altLang="zh-CN"/>
          </a:p>
        </p:txBody>
      </p:sp>
    </p:spTree>
    <p:extLst>
      <p:ext uri="{BB962C8B-B14F-4D97-AF65-F5344CB8AC3E}">
        <p14:creationId xmlns:p14="http://schemas.microsoft.com/office/powerpoint/2010/main" val="1100383339"/>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3041" y="1484784"/>
            <a:ext cx="8352928" cy="4526880"/>
          </a:xfrm>
          <a:prstGeom prst="rect">
            <a:avLst/>
          </a:prstGeom>
        </p:spPr>
        <p:txBody>
          <a:bodyPr wrap="square">
            <a:spAutoFit/>
          </a:bodyPr>
          <a:lstStyle/>
          <a:p>
            <a:pPr marL="457200" indent="-457200" eaLnBrk="1" hangingPunct="1">
              <a:spcBef>
                <a:spcPts val="575"/>
              </a:spcBef>
              <a:buSzPct val="100000"/>
              <a:buFont typeface="+mj-lt"/>
              <a:buAutoNum type="arabicPeriod"/>
            </a:pPr>
            <a:r>
              <a:rPr lang="en-US" altLang="zh-CN" sz="2400" dirty="0">
                <a:solidFill>
                  <a:srgbClr val="5B9BD5"/>
                </a:solidFill>
                <a:latin typeface="Times New Roman" panose="02020603050405020304" pitchFamily="18" charset="0"/>
                <a:cs typeface="Times New Roman" panose="02020603050405020304" pitchFamily="18" charset="0"/>
              </a:rPr>
              <a:t>Issue</a:t>
            </a:r>
            <a:r>
              <a:rPr lang="zh-CN" altLang="en-US" sz="2400" dirty="0">
                <a:solidFill>
                  <a:srgbClr val="5B9BD5"/>
                </a:solidFill>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从</a:t>
            </a:r>
            <a:r>
              <a:rPr lang="zh-CN" altLang="en-US" sz="2400" dirty="0">
                <a:latin typeface="Times New Roman" panose="02020603050405020304" pitchFamily="18" charset="0"/>
                <a:cs typeface="Times New Roman" panose="02020603050405020304" pitchFamily="18" charset="0"/>
              </a:rPr>
              <a:t>指令</a:t>
            </a:r>
            <a:r>
              <a:rPr lang="zh-CN" altLang="zh-CN" sz="2400" dirty="0">
                <a:latin typeface="Times New Roman" panose="02020603050405020304" pitchFamily="18" charset="0"/>
                <a:cs typeface="Times New Roman" panose="02020603050405020304" pitchFamily="18" charset="0"/>
              </a:rPr>
              <a:t>队列中取指令</a:t>
            </a:r>
          </a:p>
          <a:p>
            <a:pPr lvl="1" eaLnBrk="1" hangingPunct="1">
              <a:spcBef>
                <a:spcPts val="500"/>
              </a:spcBef>
              <a:buSzPct val="100000"/>
            </a:pPr>
            <a:r>
              <a:rPr lang="zh-CN" altLang="zh-CN" sz="2400" dirty="0">
                <a:latin typeface="Times New Roman" panose="02020603050405020304" pitchFamily="18" charset="0"/>
                <a:cs typeface="Times New Roman" panose="02020603050405020304" pitchFamily="18" charset="0"/>
              </a:rPr>
              <a:t>如果</a:t>
            </a:r>
            <a:r>
              <a:rPr lang="zh-CN" altLang="en-US" sz="2400" dirty="0">
                <a:latin typeface="Times New Roman" panose="02020603050405020304" pitchFamily="18" charset="0"/>
                <a:cs typeface="Times New Roman" panose="02020603050405020304" pitchFamily="18" charset="0"/>
              </a:rPr>
              <a:t>存在一个</a:t>
            </a:r>
            <a:r>
              <a:rPr lang="zh-CN" altLang="zh-CN" sz="2400" dirty="0">
                <a:latin typeface="Times New Roman" panose="02020603050405020304" pitchFamily="18" charset="0"/>
                <a:cs typeface="Times New Roman" panose="02020603050405020304" pitchFamily="18" charset="0"/>
              </a:rPr>
              <a:t>空闲</a:t>
            </a:r>
            <a:r>
              <a:rPr lang="zh-CN" altLang="en-US" sz="2400" dirty="0">
                <a:latin typeface="Times New Roman" panose="02020603050405020304" pitchFamily="18" charset="0"/>
                <a:cs typeface="Times New Roman" panose="02020603050405020304" pitchFamily="18" charset="0"/>
              </a:rPr>
              <a:t>的保留站 </a:t>
            </a:r>
            <a:r>
              <a:rPr lang="en-US" altLang="zh-CN" sz="2400" dirty="0">
                <a:latin typeface="Times New Roman" panose="02020603050405020304" pitchFamily="18" charset="0"/>
                <a:cs typeface="Times New Roman" panose="02020603050405020304" pitchFamily="18" charset="0"/>
              </a:rPr>
              <a:t>(no structural hazard)</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则控制发射指令和操作数 </a:t>
            </a:r>
            <a:r>
              <a:rPr lang="en-US" altLang="zh-CN" sz="2400" dirty="0">
                <a:latin typeface="Times New Roman" panose="02020603050405020304" pitchFamily="18" charset="0"/>
                <a:cs typeface="Times New Roman" panose="02020603050405020304" pitchFamily="18" charset="0"/>
              </a:rPr>
              <a:t>(renames registers)</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消除</a:t>
            </a:r>
            <a:r>
              <a:rPr lang="en-US" altLang="zh-CN" sz="2400" dirty="0">
                <a:latin typeface="Times New Roman" panose="02020603050405020304" pitchFamily="18" charset="0"/>
                <a:cs typeface="Times New Roman" panose="02020603050405020304" pitchFamily="18" charset="0"/>
              </a:rPr>
              <a:t>WAR</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WAW</a:t>
            </a:r>
            <a:r>
              <a:rPr lang="zh-CN" altLang="zh-CN" sz="2400" dirty="0">
                <a:latin typeface="Times New Roman" panose="02020603050405020304" pitchFamily="18" charset="0"/>
                <a:cs typeface="Times New Roman" panose="02020603050405020304" pitchFamily="18" charset="0"/>
              </a:rPr>
              <a:t>相关</a:t>
            </a:r>
            <a:r>
              <a:rPr lang="zh-CN" altLang="en-US"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marL="457200" indent="-457200" eaLnBrk="1" hangingPunct="1">
              <a:spcBef>
                <a:spcPts val="575"/>
              </a:spcBef>
              <a:buSzPct val="100000"/>
              <a:buFont typeface="+mj-lt"/>
              <a:buAutoNum type="arabicPeriod"/>
            </a:pPr>
            <a:r>
              <a:rPr lang="en-US" altLang="zh-CN" sz="2400" dirty="0">
                <a:solidFill>
                  <a:srgbClr val="5B9BD5"/>
                </a:solidFill>
                <a:latin typeface="Times New Roman" panose="02020603050405020304" pitchFamily="18" charset="0"/>
                <a:cs typeface="Times New Roman" panose="02020603050405020304" pitchFamily="18" charset="0"/>
              </a:rPr>
              <a:t>Execution</a:t>
            </a:r>
            <a:r>
              <a:rPr lang="zh-CN" altLang="en-US" sz="2400" dirty="0">
                <a:solidFill>
                  <a:srgbClr val="5B9BD5"/>
                </a:solidFill>
                <a:latin typeface="Times New Roman" panose="02020603050405020304" pitchFamily="18" charset="0"/>
                <a:cs typeface="Times New Roman" panose="02020603050405020304" pitchFamily="18" charset="0"/>
              </a:rPr>
              <a:t>：</a:t>
            </a:r>
            <a:r>
              <a:rPr lang="en-US" altLang="zh-CN" sz="2400" dirty="0">
                <a:solidFill>
                  <a:srgbClr val="5B9BD5"/>
                </a:solidFill>
                <a:latin typeface="Times New Roman" panose="02020603050405020304" pitchFamily="18" charset="0"/>
                <a:cs typeface="Times New Roman" panose="02020603050405020304" pitchFamily="18" charset="0"/>
              </a:rPr>
              <a:t>operate on operands (EX)</a:t>
            </a:r>
          </a:p>
          <a:p>
            <a:pPr lvl="1" eaLnBrk="1" hangingPunct="1">
              <a:spcBef>
                <a:spcPts val="550"/>
              </a:spcBef>
              <a:buSzPct val="100000"/>
            </a:pPr>
            <a:r>
              <a:rPr lang="zh-CN" altLang="zh-CN" sz="2400" dirty="0">
                <a:latin typeface="Times New Roman" panose="02020603050405020304" pitchFamily="18" charset="0"/>
                <a:cs typeface="Times New Roman" panose="02020603050405020304" pitchFamily="18" charset="0"/>
              </a:rPr>
              <a:t>当两操作数就绪后，就可以执行</a:t>
            </a:r>
            <a:r>
              <a:rPr lang="zh-CN" altLang="en-US" sz="2400" dirty="0">
                <a:latin typeface="Times New Roman" panose="02020603050405020304" pitchFamily="18" charset="0"/>
                <a:cs typeface="Times New Roman" panose="02020603050405020304" pitchFamily="18" charset="0"/>
              </a:rPr>
              <a:t>；</a:t>
            </a:r>
            <a:br>
              <a:rPr lang="en-US" altLang="zh-CN" sz="2400" dirty="0">
                <a:latin typeface="Times New Roman" panose="02020603050405020304" pitchFamily="18" charset="0"/>
                <a:cs typeface="Times New Roman" panose="02020603050405020304" pitchFamily="18" charset="0"/>
              </a:rPr>
            </a:br>
            <a:r>
              <a:rPr lang="zh-CN" altLang="zh-CN" sz="2400" dirty="0">
                <a:latin typeface="Times New Roman" panose="02020603050405020304" pitchFamily="18" charset="0"/>
                <a:cs typeface="Times New Roman" panose="02020603050405020304" pitchFamily="18" charset="0"/>
              </a:rPr>
              <a:t>如果没有准备好，则监测</a:t>
            </a:r>
            <a:r>
              <a:rPr lang="en-US" altLang="zh-CN" sz="2400" dirty="0">
                <a:latin typeface="Times New Roman" panose="02020603050405020304" pitchFamily="18" charset="0"/>
                <a:cs typeface="Times New Roman" panose="02020603050405020304" pitchFamily="18" charset="0"/>
              </a:rPr>
              <a:t>Common Data Bus </a:t>
            </a:r>
            <a:r>
              <a:rPr lang="zh-CN" altLang="zh-CN" sz="2400" dirty="0">
                <a:latin typeface="Times New Roman" panose="02020603050405020304" pitchFamily="18" charset="0"/>
                <a:cs typeface="Times New Roman" panose="02020603050405020304" pitchFamily="18" charset="0"/>
              </a:rPr>
              <a:t>以获取结果</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通过推迟指令执行避免</a:t>
            </a:r>
            <a:r>
              <a:rPr lang="en-US" altLang="zh-CN" sz="2400" dirty="0">
                <a:latin typeface="Times New Roman" panose="02020603050405020304" pitchFamily="18" charset="0"/>
                <a:cs typeface="Times New Roman" panose="02020603050405020304" pitchFamily="18" charset="0"/>
              </a:rPr>
              <a:t>RAW</a:t>
            </a:r>
            <a:r>
              <a:rPr lang="zh-CN" altLang="zh-CN" sz="2400" dirty="0">
                <a:latin typeface="Times New Roman" panose="02020603050405020304" pitchFamily="18" charset="0"/>
                <a:cs typeface="Times New Roman" panose="02020603050405020304" pitchFamily="18" charset="0"/>
              </a:rPr>
              <a:t>相关</a:t>
            </a:r>
            <a:r>
              <a:rPr lang="zh-CN" altLang="en-US"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marL="457200" indent="-457200" eaLnBrk="1" hangingPunct="1">
              <a:spcBef>
                <a:spcPts val="575"/>
              </a:spcBef>
              <a:buSzPct val="100000"/>
              <a:buFont typeface="+mj-lt"/>
              <a:buAutoNum type="arabicPeriod"/>
            </a:pPr>
            <a:r>
              <a:rPr lang="en-US" altLang="zh-CN" sz="2400" dirty="0">
                <a:solidFill>
                  <a:srgbClr val="5B9BD5"/>
                </a:solidFill>
                <a:latin typeface="Times New Roman" panose="02020603050405020304" pitchFamily="18" charset="0"/>
                <a:cs typeface="Times New Roman" panose="02020603050405020304" pitchFamily="18" charset="0"/>
              </a:rPr>
              <a:t>Write result</a:t>
            </a:r>
            <a:r>
              <a:rPr lang="zh-CN" altLang="en-US" sz="2400" dirty="0">
                <a:solidFill>
                  <a:srgbClr val="5B9BD5"/>
                </a:solidFill>
                <a:latin typeface="Times New Roman" panose="02020603050405020304" pitchFamily="18" charset="0"/>
                <a:cs typeface="Times New Roman" panose="02020603050405020304" pitchFamily="18" charset="0"/>
              </a:rPr>
              <a:t>：</a:t>
            </a:r>
            <a:r>
              <a:rPr lang="en-US" altLang="zh-CN" sz="2400" dirty="0">
                <a:solidFill>
                  <a:srgbClr val="5B9BD5"/>
                </a:solidFill>
                <a:latin typeface="Times New Roman" panose="02020603050405020304" pitchFamily="18" charset="0"/>
                <a:cs typeface="Times New Roman" panose="02020603050405020304" pitchFamily="18" charset="0"/>
              </a:rPr>
              <a:t>finish execution (WB)</a:t>
            </a:r>
          </a:p>
          <a:p>
            <a:pPr lvl="1" eaLnBrk="1" hangingPunct="1">
              <a:spcBef>
                <a:spcPts val="550"/>
              </a:spcBef>
              <a:buSzPct val="100000"/>
            </a:pPr>
            <a:r>
              <a:rPr lang="zh-CN" altLang="zh-CN" sz="2400" dirty="0">
                <a:latin typeface="Times New Roman" panose="02020603050405020304" pitchFamily="18" charset="0"/>
                <a:cs typeface="Times New Roman" panose="02020603050405020304" pitchFamily="18" charset="0"/>
              </a:rPr>
              <a:t>将结果通过</a:t>
            </a:r>
            <a:r>
              <a:rPr lang="en-US" altLang="zh-CN" sz="2400" dirty="0">
                <a:latin typeface="Times New Roman" panose="02020603050405020304" pitchFamily="18" charset="0"/>
                <a:cs typeface="Times New Roman" panose="02020603050405020304" pitchFamily="18" charset="0"/>
              </a:rPr>
              <a:t>Common Data Bus</a:t>
            </a:r>
            <a:r>
              <a:rPr lang="zh-CN" altLang="zh-CN" sz="2400" dirty="0">
                <a:latin typeface="Times New Roman" panose="02020603050405020304" pitchFamily="18" charset="0"/>
                <a:cs typeface="Times New Roman" panose="02020603050405020304" pitchFamily="18" charset="0"/>
              </a:rPr>
              <a:t>传给所有等待该结果的部件</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br>
              <a:rPr lang="en-US" altLang="zh-CN" sz="2400" dirty="0">
                <a:latin typeface="Times New Roman" panose="02020603050405020304" pitchFamily="18" charset="0"/>
                <a:cs typeface="Times New Roman" panose="02020603050405020304" pitchFamily="18" charset="0"/>
              </a:rPr>
            </a:br>
            <a:endParaRPr lang="zh-CN" altLang="zh-CN" sz="2400" dirty="0">
              <a:latin typeface="Times New Roman" panose="02020603050405020304" pitchFamily="18" charset="0"/>
              <a:cs typeface="Times New Roman" panose="02020603050405020304" pitchFamily="18" charset="0"/>
            </a:endParaRPr>
          </a:p>
        </p:txBody>
      </p:sp>
      <p:sp>
        <p:nvSpPr>
          <p:cNvPr id="5" name="Text Box 1"/>
          <p:cNvSpPr txBox="1">
            <a:spLocks noChangeArrowheads="1"/>
          </p:cNvSpPr>
          <p:nvPr/>
        </p:nvSpPr>
        <p:spPr bwMode="auto">
          <a:xfrm>
            <a:off x="328613" y="404466"/>
            <a:ext cx="84867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itchFamily="34" charset="0"/>
                <a:ea typeface="宋体" pitchFamily="2"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itchFamily="34" charset="0"/>
                <a:ea typeface="宋体" pitchFamily="2"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itchFamily="34" charset="0"/>
                <a:ea typeface="宋体" pitchFamily="2"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5pPr>
            <a:lvl6pPr defTabSz="449263" eaLnBrk="0" fontAlgn="base" hangingPunct="0">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6pPr>
            <a:lvl7pPr defTabSz="449263" eaLnBrk="0" fontAlgn="base" hangingPunct="0">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7pPr>
            <a:lvl8pPr defTabSz="449263" eaLnBrk="0" fontAlgn="base" hangingPunct="0">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8pPr>
            <a:lvl9pPr defTabSz="449263" eaLnBrk="0" fontAlgn="base" hangingPunct="0">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itchFamily="34" charset="0"/>
                <a:ea typeface="宋体" pitchFamily="2" charset="-122"/>
              </a:defRPr>
            </a:lvl9pPr>
          </a:lstStyle>
          <a:p>
            <a:pPr algn="ctr" eaLnBrk="1" hangingPunct="1">
              <a:lnSpc>
                <a:spcPct val="90000"/>
              </a:lnSpc>
              <a:buSzPct val="100000"/>
              <a:buFont typeface="Times New Roman" pitchFamily="18" charset="0"/>
              <a:buNone/>
            </a:pPr>
            <a:r>
              <a:rPr lang="en-US" altLang="zh-CN" sz="3600" b="1" dirty="0" err="1">
                <a:solidFill>
                  <a:schemeClr val="tx1"/>
                </a:solidFill>
                <a:latin typeface="Times New Roman" panose="02020603050405020304" pitchFamily="18" charset="0"/>
                <a:cs typeface="Times New Roman" panose="02020603050405020304" pitchFamily="18" charset="0"/>
              </a:rPr>
              <a:t>Tomasulo</a:t>
            </a:r>
            <a:r>
              <a:rPr lang="en-US" altLang="zh-CN" sz="3600" b="1" dirty="0">
                <a:solidFill>
                  <a:schemeClr val="tx1"/>
                </a:solidFill>
                <a:latin typeface="Times New Roman" panose="02020603050405020304" pitchFamily="18" charset="0"/>
                <a:cs typeface="Times New Roman" panose="02020603050405020304" pitchFamily="18" charset="0"/>
              </a:rPr>
              <a:t> </a:t>
            </a:r>
            <a:r>
              <a:rPr lang="zh-CN" altLang="zh-CN" sz="3600" b="1" dirty="0">
                <a:solidFill>
                  <a:schemeClr val="tx1"/>
                </a:solidFill>
                <a:latin typeface="Times New Roman" panose="02020603050405020304" pitchFamily="18" charset="0"/>
                <a:cs typeface="Times New Roman" panose="02020603050405020304" pitchFamily="18" charset="0"/>
              </a:rPr>
              <a:t>算法的三阶段</a:t>
            </a:r>
          </a:p>
        </p:txBody>
      </p:sp>
      <p:sp>
        <p:nvSpPr>
          <p:cNvPr id="3" name="日期占位符 1">
            <a:extLst>
              <a:ext uri="{FF2B5EF4-FFF2-40B4-BE49-F238E27FC236}">
                <a16:creationId xmlns:a16="http://schemas.microsoft.com/office/drawing/2014/main" id="{1CA929C5-A64E-22FC-8107-EFC1BBC015A4}"/>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4" name="页脚占位符 2">
            <a:extLst>
              <a:ext uri="{FF2B5EF4-FFF2-40B4-BE49-F238E27FC236}">
                <a16:creationId xmlns:a16="http://schemas.microsoft.com/office/drawing/2014/main" id="{78671AA7-D4B4-95A6-8BC3-8AEB333A9FE2}"/>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6" name="灯片编号占位符 3">
            <a:extLst>
              <a:ext uri="{FF2B5EF4-FFF2-40B4-BE49-F238E27FC236}">
                <a16:creationId xmlns:a16="http://schemas.microsoft.com/office/drawing/2014/main" id="{4BFFCF41-63F5-F8A4-CA01-9F42860D17C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57</a:t>
            </a:fld>
            <a:endParaRPr lang="en-US" altLang="zh-CN"/>
          </a:p>
        </p:txBody>
      </p:sp>
    </p:spTree>
    <p:extLst>
      <p:ext uri="{BB962C8B-B14F-4D97-AF65-F5344CB8AC3E}">
        <p14:creationId xmlns:p14="http://schemas.microsoft.com/office/powerpoint/2010/main" val="3638551554"/>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7" name="Object 4" descr="Rectangle: Click to edit Master text styles&#10;Second level&#10;Third level&#10;Fourth level&#10;Fifth level"/>
          <p:cNvGraphicFramePr>
            <a:graphicFrameLocks noGrp="1" noChangeAspect="1"/>
          </p:cNvGraphicFramePr>
          <p:nvPr>
            <p:ph sz="half" idx="2"/>
          </p:nvPr>
        </p:nvGraphicFramePr>
        <p:xfrm>
          <a:off x="1187450" y="1052736"/>
          <a:ext cx="6913563" cy="4508500"/>
        </p:xfrm>
        <a:graphic>
          <a:graphicData uri="http://schemas.openxmlformats.org/presentationml/2006/ole">
            <mc:AlternateContent xmlns:mc="http://schemas.openxmlformats.org/markup-compatibility/2006">
              <mc:Choice xmlns:v="urn:schemas-microsoft-com:vml" Requires="v">
                <p:oleObj r:id="rId2" imgW="4314825" imgH="2819400" progId="Word.Picture.8">
                  <p:embed/>
                </p:oleObj>
              </mc:Choice>
              <mc:Fallback>
                <p:oleObj r:id="rId2" imgW="4314825" imgH="2819400" progId="Word.Picture.8">
                  <p:embed/>
                  <p:pic>
                    <p:nvPicPr>
                      <p:cNvPr id="113667" name="Object 4" descr="Rectangle: Click to edit Master text styles&#10;Second level&#10;Third level&#10;Fourth level&#10;Fifth lev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052736"/>
                        <a:ext cx="6913563"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627C85EE-AACC-3FDA-934B-2D39DFF319B9}"/>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296C3A83-4A6F-1EF2-96EC-EC544AD7FBFD}"/>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DEEAE545-0E91-61DA-B8D9-CF90BBDA1EC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58</a:t>
            </a:fld>
            <a:endParaRPr lang="en-US" altLang="zh-CN"/>
          </a:p>
        </p:txBody>
      </p:sp>
    </p:spTree>
    <p:extLst>
      <p:ext uri="{BB962C8B-B14F-4D97-AF65-F5344CB8AC3E}">
        <p14:creationId xmlns:p14="http://schemas.microsoft.com/office/powerpoint/2010/main" val="1731831609"/>
      </p:ext>
    </p:extLst>
  </p:cSld>
  <p:clrMapOvr>
    <a:masterClrMapping/>
  </p:clrMapOvr>
  <p:transition>
    <p:pull dir="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690" name="Object 4" descr="Rectangle: Click to edit Master text styles&#10;Second level&#10;Third level&#10;Fourth level&#10;Fifth level"/>
          <p:cNvGraphicFramePr>
            <a:graphicFrameLocks noGrp="1" noChangeAspect="1"/>
          </p:cNvGraphicFramePr>
          <p:nvPr>
            <p:ph idx="1"/>
          </p:nvPr>
        </p:nvGraphicFramePr>
        <p:xfrm>
          <a:off x="827088" y="692696"/>
          <a:ext cx="7561262" cy="4986337"/>
        </p:xfrm>
        <a:graphic>
          <a:graphicData uri="http://schemas.openxmlformats.org/presentationml/2006/ole">
            <mc:AlternateContent xmlns:mc="http://schemas.openxmlformats.org/markup-compatibility/2006">
              <mc:Choice xmlns:v="urn:schemas-microsoft-com:vml" Requires="v">
                <p:oleObj r:id="rId2" imgW="4267200" imgH="2819400" progId="Word.Picture.8">
                  <p:embed/>
                </p:oleObj>
              </mc:Choice>
              <mc:Fallback>
                <p:oleObj r:id="rId2" imgW="4267200" imgH="2819400" progId="Word.Picture.8">
                  <p:embed/>
                  <p:pic>
                    <p:nvPicPr>
                      <p:cNvPr id="114690" name="Object 4" descr="Rectangle: Click to edit Master text styles&#10;Second level&#10;Third level&#10;Fourth level&#10;Fifth lev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692696"/>
                        <a:ext cx="7561262"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TextBox 1"/>
          <p:cNvSpPr txBox="1"/>
          <p:nvPr/>
        </p:nvSpPr>
        <p:spPr>
          <a:xfrm>
            <a:off x="3059832" y="6021288"/>
            <a:ext cx="3539752" cy="400110"/>
          </a:xfrm>
          <a:prstGeom prst="rect">
            <a:avLst/>
          </a:prstGeom>
          <a:noFill/>
        </p:spPr>
        <p:txBody>
          <a:bodyPr wrap="none" rtlCol="0">
            <a:spAutoFit/>
          </a:bodyPr>
          <a:lstStyle/>
          <a:p>
            <a:r>
              <a:rPr lang="zh-CN" altLang="en-US" sz="2000" dirty="0"/>
              <a:t>指令队列里的第一条指令流出</a:t>
            </a:r>
          </a:p>
        </p:txBody>
      </p:sp>
      <p:sp>
        <p:nvSpPr>
          <p:cNvPr id="3" name="日期占位符 2">
            <a:extLst>
              <a:ext uri="{FF2B5EF4-FFF2-40B4-BE49-F238E27FC236}">
                <a16:creationId xmlns:a16="http://schemas.microsoft.com/office/drawing/2014/main" id="{9633397C-27BE-12A0-35B3-A08746D942B3}"/>
              </a:ext>
            </a:extLst>
          </p:cNvPr>
          <p:cNvSpPr>
            <a:spLocks noGrp="1"/>
          </p:cNvSpPr>
          <p:nvPr>
            <p:ph type="dt" sz="half" idx="10"/>
          </p:nvPr>
        </p:nvSpPr>
        <p:spPr/>
        <p:txBody>
          <a:bodyPr/>
          <a:lstStyle/>
          <a:p>
            <a:pPr>
              <a:defRPr/>
            </a:pPr>
            <a:fld id="{C33D00CE-982C-4F93-8C3B-58CE73490AA4}"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0E40DBBF-31C6-4A47-7AFE-44EE11A7AF74}"/>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9513FA57-2961-6ADC-CADC-1483224B1318}"/>
              </a:ext>
            </a:extLst>
          </p:cNvPr>
          <p:cNvSpPr>
            <a:spLocks noGrp="1"/>
          </p:cNvSpPr>
          <p:nvPr>
            <p:ph type="sldNum" sz="quarter" idx="12"/>
          </p:nvPr>
        </p:nvSpPr>
        <p:spPr/>
        <p:txBody>
          <a:bodyPr/>
          <a:lstStyle/>
          <a:p>
            <a:pPr>
              <a:defRPr/>
            </a:pPr>
            <a:fld id="{8BCAC33D-D29A-48B3-BCD6-381D3D720D26}" type="slidenum">
              <a:rPr lang="zh-CN" altLang="en-US" smtClean="0"/>
              <a:t>59</a:t>
            </a:fld>
            <a:endParaRPr lang="en-US" altLang="zh-CN"/>
          </a:p>
        </p:txBody>
      </p:sp>
    </p:spTree>
    <p:extLst>
      <p:ext uri="{BB962C8B-B14F-4D97-AF65-F5344CB8AC3E}">
        <p14:creationId xmlns:p14="http://schemas.microsoft.com/office/powerpoint/2010/main" val="26353169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14" name="Object 4" descr="Rectangle: Click to edit Master text styles&#10;Second level&#10;Third level&#10;Fourth level&#10;Fifth level"/>
          <p:cNvGraphicFramePr>
            <a:graphicFrameLocks noGrp="1" noChangeAspect="1"/>
          </p:cNvGraphicFramePr>
          <p:nvPr>
            <p:ph idx="1"/>
          </p:nvPr>
        </p:nvGraphicFramePr>
        <p:xfrm>
          <a:off x="1258888" y="836712"/>
          <a:ext cx="7129462" cy="4673600"/>
        </p:xfrm>
        <a:graphic>
          <a:graphicData uri="http://schemas.openxmlformats.org/presentationml/2006/ole">
            <mc:AlternateContent xmlns:mc="http://schemas.openxmlformats.org/markup-compatibility/2006">
              <mc:Choice xmlns:v="urn:schemas-microsoft-com:vml" Requires="v">
                <p:oleObj r:id="rId2" imgW="4295775" imgH="2819400" progId="Word.Picture.8">
                  <p:embed/>
                </p:oleObj>
              </mc:Choice>
              <mc:Fallback>
                <p:oleObj r:id="rId2" imgW="4295775" imgH="2819400" progId="Word.Picture.8">
                  <p:embed/>
                  <p:pic>
                    <p:nvPicPr>
                      <p:cNvPr id="115714" name="Object 4" descr="Rectangle: Click to edit Master text styles&#10;Second level&#10;Third level&#10;Fourth level&#10;Fifth lev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836712"/>
                        <a:ext cx="7129462"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TextBox 2"/>
          <p:cNvSpPr txBox="1"/>
          <p:nvPr/>
        </p:nvSpPr>
        <p:spPr>
          <a:xfrm>
            <a:off x="2051720" y="6021288"/>
            <a:ext cx="5604419" cy="400110"/>
          </a:xfrm>
          <a:prstGeom prst="rect">
            <a:avLst/>
          </a:prstGeom>
          <a:noFill/>
        </p:spPr>
        <p:txBody>
          <a:bodyPr wrap="none" rtlCol="0">
            <a:spAutoFit/>
          </a:bodyPr>
          <a:lstStyle/>
          <a:p>
            <a:r>
              <a:rPr lang="zh-CN" altLang="en-US" sz="2000" dirty="0"/>
              <a:t>指令队列里的第一条指令执行，第二条指令流出</a:t>
            </a:r>
          </a:p>
        </p:txBody>
      </p:sp>
      <p:sp>
        <p:nvSpPr>
          <p:cNvPr id="2" name="日期占位符 1">
            <a:extLst>
              <a:ext uri="{FF2B5EF4-FFF2-40B4-BE49-F238E27FC236}">
                <a16:creationId xmlns:a16="http://schemas.microsoft.com/office/drawing/2014/main" id="{38508ABB-1DEA-B0AF-A8DE-67A4DDFEB3E5}"/>
              </a:ext>
            </a:extLst>
          </p:cNvPr>
          <p:cNvSpPr>
            <a:spLocks noGrp="1"/>
          </p:cNvSpPr>
          <p:nvPr>
            <p:ph type="dt" sz="half" idx="10"/>
          </p:nvPr>
        </p:nvSpPr>
        <p:spPr/>
        <p:txBody>
          <a:bodyPr/>
          <a:lstStyle/>
          <a:p>
            <a:pPr>
              <a:defRPr/>
            </a:pPr>
            <a:fld id="{A115849E-3B48-4697-829B-3E64E586B731}"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1DB1E6F8-7087-3101-7B13-6101CF84D7AA}"/>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E517E043-CF24-F5E8-6C3A-5489A0E9A769}"/>
              </a:ext>
            </a:extLst>
          </p:cNvPr>
          <p:cNvSpPr>
            <a:spLocks noGrp="1"/>
          </p:cNvSpPr>
          <p:nvPr>
            <p:ph type="sldNum" sz="quarter" idx="12"/>
          </p:nvPr>
        </p:nvSpPr>
        <p:spPr/>
        <p:txBody>
          <a:bodyPr/>
          <a:lstStyle/>
          <a:p>
            <a:pPr>
              <a:defRPr/>
            </a:pPr>
            <a:fld id="{8BCAC33D-D29A-48B3-BCD6-381D3D720D26}" type="slidenum">
              <a:rPr lang="zh-CN" altLang="en-US" smtClean="0"/>
              <a:t>60</a:t>
            </a:fld>
            <a:endParaRPr lang="en-US" altLang="zh-CN"/>
          </a:p>
        </p:txBody>
      </p:sp>
    </p:spTree>
    <p:extLst>
      <p:ext uri="{BB962C8B-B14F-4D97-AF65-F5344CB8AC3E}">
        <p14:creationId xmlns:p14="http://schemas.microsoft.com/office/powerpoint/2010/main" val="2597367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738" name="Object 4" descr="Rectangle: Click to edit Master text styles&#10;Second level&#10;Third level&#10;Fourth level&#10;Fifth level"/>
          <p:cNvGraphicFramePr>
            <a:graphicFrameLocks noGrp="1" noChangeAspect="1"/>
          </p:cNvGraphicFramePr>
          <p:nvPr>
            <p:ph idx="1"/>
          </p:nvPr>
        </p:nvGraphicFramePr>
        <p:xfrm>
          <a:off x="1042988" y="908720"/>
          <a:ext cx="7127875" cy="4672012"/>
        </p:xfrm>
        <a:graphic>
          <a:graphicData uri="http://schemas.openxmlformats.org/presentationml/2006/ole">
            <mc:AlternateContent xmlns:mc="http://schemas.openxmlformats.org/markup-compatibility/2006">
              <mc:Choice xmlns:v="urn:schemas-microsoft-com:vml" Requires="v">
                <p:oleObj r:id="rId3" imgW="3467100" imgH="2276475" progId="Word.Picture.8">
                  <p:embed/>
                </p:oleObj>
              </mc:Choice>
              <mc:Fallback>
                <p:oleObj r:id="rId3" imgW="3467100" imgH="2276475" progId="Word.Picture.8">
                  <p:embed/>
                  <p:pic>
                    <p:nvPicPr>
                      <p:cNvPr id="116738" name="Object 4" descr="Rectangle: Click to edit Master text styles&#10;Second level&#10;Third level&#10;Fourth level&#10;Fifth lev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908720"/>
                        <a:ext cx="7127875" cy="467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TextBox 2"/>
          <p:cNvSpPr txBox="1"/>
          <p:nvPr/>
        </p:nvSpPr>
        <p:spPr>
          <a:xfrm>
            <a:off x="467544" y="6021288"/>
            <a:ext cx="7669087" cy="400110"/>
          </a:xfrm>
          <a:prstGeom prst="rect">
            <a:avLst/>
          </a:prstGeom>
          <a:noFill/>
        </p:spPr>
        <p:txBody>
          <a:bodyPr wrap="none" rtlCol="0">
            <a:spAutoFit/>
          </a:bodyPr>
          <a:lstStyle/>
          <a:p>
            <a:r>
              <a:rPr lang="zh-CN" altLang="en-US" sz="2000" dirty="0"/>
              <a:t>指令队列里的第一条指令写结果，结果同时送给其他需要的保留站</a:t>
            </a:r>
          </a:p>
        </p:txBody>
      </p:sp>
      <p:sp>
        <p:nvSpPr>
          <p:cNvPr id="2" name="日期占位符 1">
            <a:extLst>
              <a:ext uri="{FF2B5EF4-FFF2-40B4-BE49-F238E27FC236}">
                <a16:creationId xmlns:a16="http://schemas.microsoft.com/office/drawing/2014/main" id="{CDB60942-9167-81D9-1468-DDB030E6F4A8}"/>
              </a:ext>
            </a:extLst>
          </p:cNvPr>
          <p:cNvSpPr>
            <a:spLocks noGrp="1"/>
          </p:cNvSpPr>
          <p:nvPr>
            <p:ph type="dt" sz="half" idx="10"/>
          </p:nvPr>
        </p:nvSpPr>
        <p:spPr/>
        <p:txBody>
          <a:bodyPr/>
          <a:lstStyle/>
          <a:p>
            <a:pPr>
              <a:defRPr/>
            </a:pPr>
            <a:fld id="{9736045D-FE6C-4CB3-86B2-2B0DBC59AD4F}" type="datetime1">
              <a:rPr lang="zh-CN" altLang="en-US" smtClean="0"/>
              <a:t>2025/10/23</a:t>
            </a:fld>
            <a:endParaRPr lang="en-US" altLang="zh-CN"/>
          </a:p>
        </p:txBody>
      </p:sp>
      <p:sp>
        <p:nvSpPr>
          <p:cNvPr id="4" name="页脚占位符 3">
            <a:extLst>
              <a:ext uri="{FF2B5EF4-FFF2-40B4-BE49-F238E27FC236}">
                <a16:creationId xmlns:a16="http://schemas.microsoft.com/office/drawing/2014/main" id="{117408CE-498D-4BBD-E094-FBF702F9754C}"/>
              </a:ext>
            </a:extLst>
          </p:cNvPr>
          <p:cNvSpPr>
            <a:spLocks noGrp="1"/>
          </p:cNvSpPr>
          <p:nvPr>
            <p:ph type="ftr" sz="quarter" idx="11"/>
          </p:nvPr>
        </p:nvSpPr>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5" name="灯片编号占位符 4">
            <a:extLst>
              <a:ext uri="{FF2B5EF4-FFF2-40B4-BE49-F238E27FC236}">
                <a16:creationId xmlns:a16="http://schemas.microsoft.com/office/drawing/2014/main" id="{C8E6D78C-113B-E0B7-E6FA-52BC8F3D88EC}"/>
              </a:ext>
            </a:extLst>
          </p:cNvPr>
          <p:cNvSpPr>
            <a:spLocks noGrp="1"/>
          </p:cNvSpPr>
          <p:nvPr>
            <p:ph type="sldNum" sz="quarter" idx="12"/>
          </p:nvPr>
        </p:nvSpPr>
        <p:spPr/>
        <p:txBody>
          <a:bodyPr/>
          <a:lstStyle/>
          <a:p>
            <a:pPr>
              <a:defRPr/>
            </a:pPr>
            <a:fld id="{8BCAC33D-D29A-48B3-BCD6-381D3D720D26}" type="slidenum">
              <a:rPr lang="zh-CN" altLang="en-US" smtClean="0"/>
              <a:t>61</a:t>
            </a:fld>
            <a:endParaRPr lang="en-US" altLang="zh-CN"/>
          </a:p>
        </p:txBody>
      </p:sp>
    </p:spTree>
    <p:extLst>
      <p:ext uri="{BB962C8B-B14F-4D97-AF65-F5344CB8AC3E}">
        <p14:creationId xmlns:p14="http://schemas.microsoft.com/office/powerpoint/2010/main" val="2226137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2"/>
          <p:cNvSpPr>
            <a:spLocks noGrp="1" noChangeArrowheads="1"/>
          </p:cNvSpPr>
          <p:nvPr>
            <p:ph type="title" idx="4294967295"/>
          </p:nvPr>
        </p:nvSpPr>
        <p:spPr/>
        <p:txBody>
          <a:bodyPr/>
          <a:lstStyle/>
          <a:p>
            <a:pPr eaLnBrk="1" hangingPunct="1">
              <a:defRPr/>
            </a:pPr>
            <a:r>
              <a:rPr lang="zh-CN" altLang="en-US" sz="3600" b="1" dirty="0">
                <a:latin typeface="+mj-ea"/>
              </a:rPr>
              <a:t>与记分牌的不同</a:t>
            </a:r>
          </a:p>
        </p:txBody>
      </p:sp>
      <p:sp>
        <p:nvSpPr>
          <p:cNvPr id="80909" name="Rectangle 13"/>
          <p:cNvSpPr>
            <a:spLocks noGrp="1" noChangeArrowheads="1"/>
          </p:cNvSpPr>
          <p:nvPr>
            <p:ph type="body" idx="4294967295"/>
          </p:nvPr>
        </p:nvSpPr>
        <p:spPr/>
        <p:txBody>
          <a:bodyPr rtlCol="0">
            <a:normAutofit fontScale="92500" lnSpcReduction="10000"/>
          </a:bodyPr>
          <a:lstStyle/>
          <a:p>
            <a:pPr algn="just" eaLnBrk="1" fontAlgn="auto" hangingPunct="1">
              <a:lnSpc>
                <a:spcPct val="150000"/>
              </a:lnSpc>
              <a:spcAft>
                <a:spcPts val="0"/>
              </a:spcAft>
              <a:defRPr/>
            </a:pPr>
            <a:r>
              <a:rPr lang="zh-CN" altLang="en-US" sz="2400" b="1" dirty="0">
                <a:latin typeface="+mj-ea"/>
                <a:ea typeface="+mj-ea"/>
              </a:rPr>
              <a:t>无须任何操作来检查数据的</a:t>
            </a:r>
            <a:r>
              <a:rPr lang="zh-CN" altLang="en-US" sz="2400" b="1" dirty="0">
                <a:solidFill>
                  <a:srgbClr val="C00000"/>
                </a:solidFill>
                <a:latin typeface="+mj-ea"/>
                <a:ea typeface="+mj-ea"/>
              </a:rPr>
              <a:t>写后写（</a:t>
            </a:r>
            <a:r>
              <a:rPr lang="en-US" altLang="zh-CN" sz="2400" b="1" dirty="0">
                <a:solidFill>
                  <a:srgbClr val="C00000"/>
                </a:solidFill>
                <a:latin typeface="Times New Roman" panose="02020603050405020304" pitchFamily="18" charset="0"/>
                <a:ea typeface="+mj-ea"/>
                <a:cs typeface="Times New Roman" panose="02020603050405020304" pitchFamily="18" charset="0"/>
              </a:rPr>
              <a:t>WAW</a:t>
            </a:r>
            <a:r>
              <a:rPr lang="zh-CN" altLang="en-US" sz="2400" b="1" dirty="0">
                <a:solidFill>
                  <a:srgbClr val="C00000"/>
                </a:solidFill>
                <a:latin typeface="Times New Roman" panose="02020603050405020304" pitchFamily="18" charset="0"/>
                <a:ea typeface="+mj-ea"/>
                <a:cs typeface="Times New Roman" panose="02020603050405020304" pitchFamily="18" charset="0"/>
              </a:rPr>
              <a:t>）</a:t>
            </a:r>
            <a:r>
              <a:rPr lang="zh-CN" altLang="en-US" sz="2400" b="1" dirty="0">
                <a:latin typeface="Times New Roman" panose="02020603050405020304" pitchFamily="18" charset="0"/>
                <a:ea typeface="+mj-ea"/>
                <a:cs typeface="Times New Roman" panose="02020603050405020304" pitchFamily="18" charset="0"/>
              </a:rPr>
              <a:t>和</a:t>
            </a:r>
            <a:r>
              <a:rPr lang="zh-CN" altLang="en-US" sz="2400" b="1" dirty="0">
                <a:solidFill>
                  <a:srgbClr val="C00000"/>
                </a:solidFill>
                <a:latin typeface="Times New Roman" panose="02020603050405020304" pitchFamily="18" charset="0"/>
                <a:ea typeface="+mj-ea"/>
                <a:cs typeface="Times New Roman" panose="02020603050405020304" pitchFamily="18" charset="0"/>
              </a:rPr>
              <a:t>先读后写（</a:t>
            </a:r>
            <a:r>
              <a:rPr lang="en-US" altLang="zh-CN" sz="2400" b="1" dirty="0">
                <a:solidFill>
                  <a:srgbClr val="C00000"/>
                </a:solidFill>
                <a:latin typeface="Times New Roman" panose="02020603050405020304" pitchFamily="18" charset="0"/>
                <a:ea typeface="+mj-ea"/>
                <a:cs typeface="Times New Roman" panose="02020603050405020304" pitchFamily="18" charset="0"/>
              </a:rPr>
              <a:t>WAR</a:t>
            </a:r>
            <a:r>
              <a:rPr lang="zh-CN" altLang="en-US" sz="2400" b="1" dirty="0">
                <a:solidFill>
                  <a:srgbClr val="C00000"/>
                </a:solidFill>
                <a:latin typeface="Times New Roman" panose="02020603050405020304" pitchFamily="18" charset="0"/>
                <a:ea typeface="+mj-ea"/>
                <a:cs typeface="Times New Roman" panose="02020603050405020304" pitchFamily="18" charset="0"/>
              </a:rPr>
              <a:t>）</a:t>
            </a:r>
            <a:r>
              <a:rPr lang="zh-CN" altLang="en-US" sz="2400" b="1" dirty="0">
                <a:latin typeface="+mj-ea"/>
                <a:ea typeface="+mj-ea"/>
              </a:rPr>
              <a:t>冲突，在指令流出的过程中，操作数寄存器号换成操作数本身（若已就绪）或者相应的保留站标识。</a:t>
            </a:r>
            <a:endParaRPr lang="en-US" altLang="zh-CN" sz="2400" b="1" dirty="0">
              <a:latin typeface="+mj-ea"/>
              <a:ea typeface="+mj-ea"/>
            </a:endParaRPr>
          </a:p>
          <a:p>
            <a:pPr eaLnBrk="1" fontAlgn="auto" hangingPunct="1">
              <a:lnSpc>
                <a:spcPct val="150000"/>
              </a:lnSpc>
              <a:spcAft>
                <a:spcPts val="0"/>
              </a:spcAft>
              <a:defRPr/>
            </a:pPr>
            <a:r>
              <a:rPr lang="zh-CN" altLang="en-US" sz="2400" b="1" dirty="0">
                <a:latin typeface="+mj-ea"/>
                <a:ea typeface="+mj-ea"/>
              </a:rPr>
              <a:t>通过公共数据总线来广播结果，将计算结果直接从产生它的保留站传送到所有需要它的功能部件，而不用经过寄存器（动态解决了</a:t>
            </a:r>
            <a:r>
              <a:rPr lang="en-US" altLang="zh-CN" sz="2400" b="1" dirty="0">
                <a:solidFill>
                  <a:srgbClr val="C00000"/>
                </a:solidFill>
                <a:latin typeface="Times New Roman" panose="02020603050405020304" pitchFamily="18" charset="0"/>
                <a:ea typeface="+mj-ea"/>
                <a:cs typeface="Times New Roman" panose="02020603050405020304" pitchFamily="18" charset="0"/>
              </a:rPr>
              <a:t>RAW</a:t>
            </a:r>
            <a:r>
              <a:rPr lang="zh-CN" altLang="en-US" sz="2400" b="1" dirty="0">
                <a:latin typeface="+mj-ea"/>
                <a:ea typeface="+mj-ea"/>
              </a:rPr>
              <a:t>）。</a:t>
            </a:r>
            <a:endParaRPr lang="en-US" altLang="zh-CN" sz="2400" b="1" dirty="0">
              <a:latin typeface="+mj-ea"/>
              <a:ea typeface="+mj-ea"/>
            </a:endParaRPr>
          </a:p>
          <a:p>
            <a:pPr eaLnBrk="1" fontAlgn="auto" hangingPunct="1">
              <a:lnSpc>
                <a:spcPct val="150000"/>
              </a:lnSpc>
              <a:spcAft>
                <a:spcPts val="0"/>
              </a:spcAft>
              <a:defRPr/>
            </a:pPr>
            <a:r>
              <a:rPr lang="zh-CN" altLang="en-US" sz="2400" b="1" dirty="0">
                <a:latin typeface="+mj-ea"/>
                <a:ea typeface="+mj-ea"/>
              </a:rPr>
              <a:t>存储器存和取都作为基本的功能部件。</a:t>
            </a:r>
            <a:endParaRPr lang="en-US" altLang="zh-CN" sz="2400" b="1" dirty="0">
              <a:latin typeface="+mj-ea"/>
              <a:ea typeface="+mj-ea"/>
            </a:endParaRPr>
          </a:p>
          <a:p>
            <a:pPr eaLnBrk="1" fontAlgn="auto" hangingPunct="1">
              <a:lnSpc>
                <a:spcPct val="150000"/>
              </a:lnSpc>
              <a:spcAft>
                <a:spcPts val="0"/>
              </a:spcAft>
              <a:defRPr/>
            </a:pPr>
            <a:r>
              <a:rPr lang="zh-CN" altLang="en-US" sz="2400" b="1" dirty="0">
                <a:latin typeface="+mj-ea"/>
                <a:ea typeface="+mj-ea"/>
              </a:rPr>
              <a:t>由于保留站技术能够有效地解决先写后读，记分牌中的用于判断</a:t>
            </a:r>
            <a:r>
              <a:rPr lang="en-US" altLang="zh-CN" sz="2400" b="1" dirty="0">
                <a:solidFill>
                  <a:srgbClr val="C00000"/>
                </a:solidFill>
                <a:latin typeface="Times New Roman" panose="02020603050405020304" pitchFamily="18" charset="0"/>
                <a:ea typeface="+mj-ea"/>
                <a:cs typeface="Times New Roman" panose="02020603050405020304" pitchFamily="18" charset="0"/>
              </a:rPr>
              <a:t>RAW</a:t>
            </a:r>
            <a:r>
              <a:rPr lang="zh-CN" altLang="en-US" sz="2400" b="1" dirty="0">
                <a:latin typeface="+mj-ea"/>
                <a:ea typeface="+mj-ea"/>
              </a:rPr>
              <a:t>的“取操作数”段被取消。</a:t>
            </a:r>
          </a:p>
        </p:txBody>
      </p:sp>
      <p:sp>
        <p:nvSpPr>
          <p:cNvPr id="2" name="日期占位符 1">
            <a:extLst>
              <a:ext uri="{FF2B5EF4-FFF2-40B4-BE49-F238E27FC236}">
                <a16:creationId xmlns:a16="http://schemas.microsoft.com/office/drawing/2014/main" id="{C39801C5-4296-15F6-FD93-8190BAF9FFF9}"/>
              </a:ext>
            </a:extLst>
          </p:cNvPr>
          <p:cNvSpPr>
            <a:spLocks noGrp="1"/>
          </p:cNvSpPr>
          <p:nvPr>
            <p:ph type="dt" sz="half" idx="10"/>
          </p:nvPr>
        </p:nvSpPr>
        <p:spPr>
          <a:xfrm>
            <a:off x="457200" y="6356350"/>
            <a:ext cx="2133600" cy="365125"/>
          </a:xfrm>
        </p:spPr>
        <p:txBody>
          <a:bodyPr/>
          <a:lstStyle/>
          <a:p>
            <a:pPr>
              <a:defRPr/>
            </a:pPr>
            <a:fld id="{5E11EA16-63B9-4707-8C96-0D3179BDBD62}" type="datetime1">
              <a:rPr lang="zh-CN" altLang="en-US" smtClean="0"/>
              <a:t>2025/10/23</a:t>
            </a:fld>
            <a:endParaRPr lang="en-US" altLang="zh-CN"/>
          </a:p>
        </p:txBody>
      </p:sp>
      <p:sp>
        <p:nvSpPr>
          <p:cNvPr id="3" name="页脚占位符 2">
            <a:extLst>
              <a:ext uri="{FF2B5EF4-FFF2-40B4-BE49-F238E27FC236}">
                <a16:creationId xmlns:a16="http://schemas.microsoft.com/office/drawing/2014/main" id="{F66EA455-229B-DC3C-BC7C-9CBF3A203349}"/>
              </a:ext>
            </a:extLst>
          </p:cNvPr>
          <p:cNvSpPr>
            <a:spLocks noGrp="1"/>
          </p:cNvSpPr>
          <p:nvPr>
            <p:ph type="ftr" sz="quarter" idx="11"/>
          </p:nvPr>
        </p:nvSpPr>
        <p:spPr>
          <a:xfrm>
            <a:off x="3124200" y="6356350"/>
            <a:ext cx="2895600" cy="365125"/>
          </a:xfrm>
        </p:spPr>
        <p:txBody>
          <a:bodyPr/>
          <a:lstStyle/>
          <a:p>
            <a:pPr>
              <a:defRPr/>
            </a:pPr>
            <a:r>
              <a:rPr lang="zh-CN" altLang="en-US"/>
              <a:t>计算学部</a:t>
            </a:r>
            <a:r>
              <a:rPr lang="en-US" altLang="zh-CN"/>
              <a:t>-</a:t>
            </a:r>
            <a:r>
              <a:rPr lang="zh-CN" altLang="en-US"/>
              <a:t>计算机体系结构</a:t>
            </a:r>
            <a:r>
              <a:rPr lang="en-US" altLang="zh-CN"/>
              <a:t>-</a:t>
            </a:r>
            <a:r>
              <a:rPr lang="zh-CN" altLang="en-US"/>
              <a:t>刘宏伟</a:t>
            </a:r>
            <a:endParaRPr lang="en-US" altLang="zh-CN"/>
          </a:p>
        </p:txBody>
      </p:sp>
      <p:sp>
        <p:nvSpPr>
          <p:cNvPr id="4" name="灯片编号占位符 3">
            <a:extLst>
              <a:ext uri="{FF2B5EF4-FFF2-40B4-BE49-F238E27FC236}">
                <a16:creationId xmlns:a16="http://schemas.microsoft.com/office/drawing/2014/main" id="{C825B35C-E2D8-67F2-B1BC-1F9BF13644F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62</a:t>
            </a:fld>
            <a:endParaRPr lang="en-US" altLang="zh-CN"/>
          </a:p>
        </p:txBody>
      </p:sp>
    </p:spTree>
    <p:extLst>
      <p:ext uri="{BB962C8B-B14F-4D97-AF65-F5344CB8AC3E}">
        <p14:creationId xmlns:p14="http://schemas.microsoft.com/office/powerpoint/2010/main" val="3887262228"/>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8571</TotalTime>
  <Words>3139</Words>
  <Application>Microsoft Office PowerPoint</Application>
  <PresentationFormat>全屏显示(4:3)</PresentationFormat>
  <Paragraphs>534</Paragraphs>
  <Slides>62</Slides>
  <Notes>50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6" baseType="lpstr">
      <vt:lpstr>黑体</vt:lpstr>
      <vt:lpstr>宋体</vt:lpstr>
      <vt:lpstr>Arial</vt:lpstr>
      <vt:lpstr>Calibri</vt:lpstr>
      <vt:lpstr>Calibri Light</vt:lpstr>
      <vt:lpstr>Century Gothic</vt:lpstr>
      <vt:lpstr>Comic Sans MS</vt:lpstr>
      <vt:lpstr>Symbol</vt:lpstr>
      <vt:lpstr>Tahoma</vt:lpstr>
      <vt:lpstr>Times New Roman</vt:lpstr>
      <vt:lpstr>Verdana</vt:lpstr>
      <vt:lpstr>Wingdings</vt:lpstr>
      <vt:lpstr>Office 主题​​</vt:lpstr>
      <vt:lpstr>Microsoft Word Picture</vt:lpstr>
      <vt:lpstr>计算机体系结构</vt:lpstr>
      <vt:lpstr>Recap</vt:lpstr>
      <vt:lpstr>4.2  指令的动态调度</vt:lpstr>
      <vt:lpstr>4.2 指令的动态调度</vt:lpstr>
      <vt:lpstr>冲突的检测和调度</vt:lpstr>
      <vt:lpstr>动态调度</vt:lpstr>
      <vt:lpstr>4.2.1 动态调度的原理</vt:lpstr>
      <vt:lpstr>4.2.1 动态调度的原理</vt:lpstr>
      <vt:lpstr>PowerPoint 演示文稿</vt:lpstr>
      <vt:lpstr>PowerPoint 演示文稿</vt:lpstr>
      <vt:lpstr>4.2  指令的动态调度</vt:lpstr>
      <vt:lpstr>4.2.2 动态调度算法之一：记分牌</vt:lpstr>
      <vt:lpstr>CDC6600的照片 </vt:lpstr>
      <vt:lpstr>具有记分牌的MIPS处理器基本结构</vt:lpstr>
      <vt:lpstr>记分牌执行过程</vt:lpstr>
      <vt:lpstr>记分牌执行过程</vt:lpstr>
      <vt:lpstr>记分牌结构</vt:lpstr>
      <vt:lpstr>PowerPoint 演示文稿</vt:lpstr>
      <vt:lpstr>数据结构：程序实例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开销和性能提升</vt:lpstr>
      <vt:lpstr>PowerPoint 演示文稿</vt:lpstr>
      <vt:lpstr>4.2  指令的动态调度</vt:lpstr>
      <vt:lpstr>PowerPoint 演示文稿</vt:lpstr>
      <vt:lpstr>IBM 360/91前面板</vt:lpstr>
      <vt:lpstr>Tomasulo算法与记分牌</vt:lpstr>
      <vt:lpstr>Tomasulo算法核心思想</vt:lpstr>
      <vt:lpstr>PowerPoint 演示文稿</vt:lpstr>
      <vt:lpstr>MIPS五阶段的流水线的改造</vt:lpstr>
      <vt:lpstr>PowerPoint 演示文稿</vt:lpstr>
      <vt:lpstr>PowerPoint 演示文稿</vt:lpstr>
      <vt:lpstr>PowerPoint 演示文稿</vt:lpstr>
      <vt:lpstr>PowerPoint 演示文稿</vt:lpstr>
      <vt:lpstr>PowerPoint 演示文稿</vt:lpstr>
      <vt:lpstr>与记分牌的不同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2052</cp:revision>
  <cp:lastPrinted>2020-11-06T01:37:00Z</cp:lastPrinted>
  <dcterms:created xsi:type="dcterms:W3CDTF">2113-01-01T00:00:00Z</dcterms:created>
  <dcterms:modified xsi:type="dcterms:W3CDTF">2025-10-23T15:09:10Z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