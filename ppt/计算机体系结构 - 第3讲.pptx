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3"/>
  </p:notesMasterIdLst>
  <p:handoutMasterIdLst>
    <p:handoutMasterId r:id="rId44"/>
  </p:handoutMasterIdLst>
  <p:sldIdLst>
    <p:sldId id="256" r:id="rId2"/>
    <p:sldId id="1033" r:id="rId3"/>
    <p:sldId id="1107" r:id="rId4"/>
    <p:sldId id="1048" r:id="rId5"/>
    <p:sldId id="1053" r:id="rId6"/>
    <p:sldId id="1058" r:id="rId7"/>
    <p:sldId id="1114" r:id="rId8"/>
    <p:sldId id="1115" r:id="rId9"/>
    <p:sldId id="1063" r:id="rId10"/>
    <p:sldId id="1064" r:id="rId11"/>
    <p:sldId id="1065" r:id="rId12"/>
    <p:sldId id="1066" r:id="rId13"/>
    <p:sldId id="1067" r:id="rId14"/>
    <p:sldId id="1100" r:id="rId15"/>
    <p:sldId id="1076" r:id="rId16"/>
    <p:sldId id="284" r:id="rId17"/>
    <p:sldId id="285" r:id="rId18"/>
    <p:sldId id="1214" r:id="rId19"/>
    <p:sldId id="1215" r:id="rId20"/>
    <p:sldId id="1216" r:id="rId21"/>
    <p:sldId id="1217" r:id="rId22"/>
    <p:sldId id="1068" r:id="rId23"/>
    <p:sldId id="1069" r:id="rId24"/>
    <p:sldId id="1070" r:id="rId25"/>
    <p:sldId id="1071" r:id="rId26"/>
    <p:sldId id="1072" r:id="rId27"/>
    <p:sldId id="1073" r:id="rId28"/>
    <p:sldId id="1074" r:id="rId29"/>
    <p:sldId id="1218" r:id="rId30"/>
    <p:sldId id="1106" r:id="rId31"/>
    <p:sldId id="1219" r:id="rId32"/>
    <p:sldId id="1133" r:id="rId33"/>
    <p:sldId id="1108" r:id="rId34"/>
    <p:sldId id="1109" r:id="rId35"/>
    <p:sldId id="1110" r:id="rId36"/>
    <p:sldId id="1111" r:id="rId37"/>
    <p:sldId id="1112" r:id="rId38"/>
    <p:sldId id="1113" r:id="rId39"/>
    <p:sldId id="1220" r:id="rId40"/>
    <p:sldId id="1221" r:id="rId41"/>
    <p:sldId id="1118" r:id="rId42"/>
  </p:sldIdLst>
  <p:sldSz cx="9144000" cy="6858000" type="screen4x3"/>
  <p:notesSz cx="7099300" cy="10234613"/>
  <p:kinsoku lang="zh-CN" invalStChars="!),.:;?]}、。—ˇ¨〃々～‖…’”〕〉》」』〗】∶！＂＇），．：；？］｀｜｝·" invalEndChars="([{‘“〔〈《「『〖【（［｛．·"/>
  <p:defaultTex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33CC"/>
    <a:srgbClr val="003399"/>
    <a:srgbClr val="3366FF"/>
    <a:srgbClr val="0066FF"/>
    <a:srgbClr val="C28F3E"/>
    <a:srgbClr val="BC7D3E"/>
    <a:srgbClr val="B0753A"/>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80110" autoAdjust="0"/>
  </p:normalViewPr>
  <p:slideViewPr>
    <p:cSldViewPr>
      <p:cViewPr varScale="1">
        <p:scale>
          <a:sx n="70" d="100"/>
          <a:sy n="70" d="100"/>
        </p:scale>
        <p:origin x="1578" y="51"/>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a:latin typeface="宋体" panose="02010600030101010101" pitchFamily="2" charset="-122"/>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lIns="99048" tIns="49524" rIns="99048" bIns="49524" rtlCol="0"/>
          <a:lstStyle>
            <a:lvl1pPr algn="r">
              <a:defRPr sz="1300">
                <a:latin typeface="宋体" panose="02010600030101010101" pitchFamily="2" charset="-122"/>
                <a:ea typeface="宋体" panose="02010600030101010101" pitchFamily="2" charset="-122"/>
              </a:defRPr>
            </a:lvl1pPr>
          </a:lstStyle>
          <a:p>
            <a:pPr>
              <a:defRPr/>
            </a:pPr>
            <a:fld id="{5C9833CB-0817-44DC-BDA6-97E8269B2A4B}" type="datetimeFigureOut">
              <a:rPr lang="zh-CN" altLang="en-US"/>
              <a:t>2025/9/11</a:t>
            </a:fld>
            <a:endParaRPr lang="zh-CN" altLang="en-US"/>
          </a:p>
        </p:txBody>
      </p:sp>
      <p:sp>
        <p:nvSpPr>
          <p:cNvPr id="4" name="页脚占位符 3"/>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a:defRPr sz="1300">
                <a:latin typeface="宋体" panose="02010600030101010101" pitchFamily="2" charset="-122"/>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lIns="99048" tIns="49524" rIns="99048" bIns="49524" rtlCol="0" anchor="b"/>
          <a:lstStyle>
            <a:lvl1pPr algn="r">
              <a:defRPr sz="1300">
                <a:latin typeface="宋体" panose="02010600030101010101" pitchFamily="2" charset="-122"/>
                <a:ea typeface="宋体" panose="02010600030101010101" pitchFamily="2" charset="-122"/>
              </a:defRPr>
            </a:lvl1pPr>
          </a:lstStyle>
          <a:p>
            <a:pPr>
              <a:defRPr/>
            </a:pPr>
            <a:fld id="{78BBD55E-9969-4143-865D-25DDD65926A5}" type="slidenum">
              <a:rPr lang="zh-CN" altLang="en-US"/>
              <a:t>‹#›</a:t>
            </a:fld>
            <a:endParaRPr lang="zh-CN" altLang="en-US"/>
          </a:p>
        </p:txBody>
      </p:sp>
    </p:spTree>
    <p:extLst>
      <p:ext uri="{BB962C8B-B14F-4D97-AF65-F5344CB8AC3E}">
        <p14:creationId xmlns:p14="http://schemas.microsoft.com/office/powerpoint/2010/main" val="26718359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a:spcBef>
                <a:spcPct val="20000"/>
              </a:spcBef>
              <a:defRPr sz="1300">
                <a:latin typeface="宋体" panose="02010600030101010101" pitchFamily="2" charset="-122"/>
                <a:ea typeface="宋体" panose="02010600030101010101" pitchFamily="2" charset="-122"/>
              </a:defRPr>
            </a:lvl1pPr>
          </a:lstStyle>
          <a:p>
            <a:pPr>
              <a:defRPr/>
            </a:pPr>
            <a:endParaRPr lang="zh-CN" altLang="en-US"/>
          </a:p>
        </p:txBody>
      </p:sp>
      <p:sp>
        <p:nvSpPr>
          <p:cNvPr id="51203"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a:spcBef>
                <a:spcPct val="20000"/>
              </a:spcBef>
              <a:defRPr sz="1300">
                <a:latin typeface="宋体" panose="02010600030101010101" pitchFamily="2" charset="-122"/>
                <a:ea typeface="宋体" panose="02010600030101010101" pitchFamily="2" charset="-122"/>
              </a:defRPr>
            </a:lvl1pPr>
          </a:lstStyle>
          <a:p>
            <a:pPr>
              <a:defRPr/>
            </a:pPr>
            <a:endParaRPr lang="en-US" altLang="zh-CN"/>
          </a:p>
        </p:txBody>
      </p:sp>
      <p:sp>
        <p:nvSpPr>
          <p:cNvPr id="44036"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946150" y="4860925"/>
            <a:ext cx="5207000"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06"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a:spcBef>
                <a:spcPct val="20000"/>
              </a:spcBef>
              <a:defRPr sz="1300">
                <a:latin typeface="宋体" panose="02010600030101010101" pitchFamily="2" charset="-122"/>
                <a:ea typeface="宋体" panose="02010600030101010101" pitchFamily="2" charset="-122"/>
              </a:defRPr>
            </a:lvl1pPr>
          </a:lstStyle>
          <a:p>
            <a:pPr>
              <a:defRPr/>
            </a:pPr>
            <a:endParaRPr lang="en-US" altLang="zh-CN"/>
          </a:p>
        </p:txBody>
      </p:sp>
      <p:sp>
        <p:nvSpPr>
          <p:cNvPr id="51207"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a:spcBef>
                <a:spcPct val="20000"/>
              </a:spcBef>
              <a:defRPr sz="1300">
                <a:latin typeface="宋体" panose="02010600030101010101" pitchFamily="2" charset="-122"/>
                <a:ea typeface="宋体" panose="02010600030101010101" pitchFamily="2" charset="-122"/>
              </a:defRPr>
            </a:lvl1pPr>
          </a:lstStyle>
          <a:p>
            <a:pPr>
              <a:defRPr/>
            </a:pPr>
            <a:fld id="{E900B983-0E40-4C29-87BA-CE566D420E22}" type="slidenum">
              <a:rPr lang="zh-CN" altLang="en-US"/>
              <a:t>‹#›</a:t>
            </a:fld>
            <a:endParaRPr lang="en-US" altLang="zh-CN"/>
          </a:p>
        </p:txBody>
      </p:sp>
    </p:spTree>
    <p:extLst>
      <p:ext uri="{BB962C8B-B14F-4D97-AF65-F5344CB8AC3E}">
        <p14:creationId xmlns:p14="http://schemas.microsoft.com/office/powerpoint/2010/main" val="40099673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2</a:t>
            </a:fld>
            <a:endParaRPr lang="en-US" altLang="zh-CN"/>
          </a:p>
        </p:txBody>
      </p:sp>
    </p:spTree>
    <p:extLst>
      <p:ext uri="{BB962C8B-B14F-4D97-AF65-F5344CB8AC3E}">
        <p14:creationId xmlns:p14="http://schemas.microsoft.com/office/powerpoint/2010/main" val="3854767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txBox="1">
            <a:spLocks noGrp="1" noChangeArrowheads="1"/>
          </p:cNvSpPr>
          <p:nvPr/>
        </p:nvSpPr>
        <p:spPr bwMode="auto">
          <a:xfrm>
            <a:off x="4021294" y="9721106"/>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nchor="b"/>
          <a:lstStyle>
            <a:lvl1pPr defTabSz="890270" eaLnBrk="0" hangingPunct="0">
              <a:defRPr sz="2000">
                <a:solidFill>
                  <a:schemeClr val="tx1"/>
                </a:solidFill>
                <a:latin typeface="Verdana" panose="020B0604030504040204" pitchFamily="34" charset="0"/>
                <a:ea typeface="宋体" panose="02010600030101010101" pitchFamily="2" charset="-122"/>
              </a:defRPr>
            </a:lvl1pPr>
            <a:lvl2pPr marL="742950" indent="-285750" defTabSz="890270" eaLnBrk="0" hangingPunct="0">
              <a:defRPr sz="2000">
                <a:solidFill>
                  <a:schemeClr val="tx1"/>
                </a:solidFill>
                <a:latin typeface="Verdana" panose="020B0604030504040204" pitchFamily="34" charset="0"/>
                <a:ea typeface="宋体" panose="02010600030101010101" pitchFamily="2" charset="-122"/>
              </a:defRPr>
            </a:lvl2pPr>
            <a:lvl3pPr marL="1143000" indent="-228600" defTabSz="890270" eaLnBrk="0" hangingPunct="0">
              <a:defRPr sz="2000">
                <a:solidFill>
                  <a:schemeClr val="tx1"/>
                </a:solidFill>
                <a:latin typeface="Verdana" panose="020B0604030504040204" pitchFamily="34" charset="0"/>
                <a:ea typeface="宋体" panose="02010600030101010101" pitchFamily="2" charset="-122"/>
              </a:defRPr>
            </a:lvl3pPr>
            <a:lvl4pPr marL="1600200" indent="-228600" defTabSz="890270" eaLnBrk="0" hangingPunct="0">
              <a:defRPr sz="2000">
                <a:solidFill>
                  <a:schemeClr val="tx1"/>
                </a:solidFill>
                <a:latin typeface="Verdana" panose="020B0604030504040204" pitchFamily="34" charset="0"/>
                <a:ea typeface="宋体" panose="02010600030101010101" pitchFamily="2" charset="-122"/>
              </a:defRPr>
            </a:lvl4pPr>
            <a:lvl5pPr marL="2057400" indent="-228600" defTabSz="890270" eaLnBrk="0" hangingPunct="0">
              <a:defRPr sz="2000">
                <a:solidFill>
                  <a:schemeClr val="tx1"/>
                </a:solidFill>
                <a:latin typeface="Verdana" panose="020B0604030504040204" pitchFamily="34" charset="0"/>
                <a:ea typeface="宋体" panose="02010600030101010101" pitchFamily="2" charset="-122"/>
              </a:defRPr>
            </a:lvl5pPr>
            <a:lvl6pPr marL="25146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r" eaLnBrk="1" hangingPunct="1"/>
            <a:fld id="{BF7DECDE-3A09-443D-A9A8-E65E07AE6C96}" type="slidenum">
              <a:rPr lang="en-US" altLang="zh-CN" sz="1300">
                <a:latin typeface="Times New Roman" panose="02020603050405020304" pitchFamily="18" charset="0"/>
              </a:rPr>
              <a:t>4</a:t>
            </a:fld>
            <a:endParaRPr lang="en-US" altLang="zh-CN" sz="1300">
              <a:latin typeface="Times New Roman" panose="02020603050405020304" pitchFamily="18" charset="0"/>
            </a:endParaRPr>
          </a:p>
        </p:txBody>
      </p:sp>
      <p:sp>
        <p:nvSpPr>
          <p:cNvPr id="25603" name="Rectangle 2"/>
          <p:cNvSpPr>
            <a:spLocks noGrp="1" noRot="1" noChangeAspect="1" noChangeArrowheads="1" noTextEdit="1"/>
          </p:cNvSpPr>
          <p:nvPr>
            <p:ph type="sldImg"/>
          </p:nvPr>
        </p:nvSpPr>
        <p:spPr/>
      </p:sp>
      <p:sp>
        <p:nvSpPr>
          <p:cNvPr id="25604" name="Rectangle 3"/>
          <p:cNvSpPr>
            <a:spLocks noGrp="1" noChangeArrowheads="1"/>
          </p:cNvSpPr>
          <p:nvPr>
            <p:ph type="body" idx="1"/>
          </p:nvPr>
        </p:nvSpPr>
        <p:spPr>
          <a:xfrm>
            <a:off x="711575" y="4861441"/>
            <a:ext cx="567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lstStyle/>
          <a:p>
            <a:pPr eaLnBrk="1" hangingPunct="1"/>
            <a:endParaRPr lang="zh-CN" altLang="en-US"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幻灯片图像占位符 1"/>
          <p:cNvSpPr>
            <a:spLocks noGrp="1" noRot="1" noChangeAspect="1" noTextEdit="1"/>
          </p:cNvSpPr>
          <p:nvPr>
            <p:ph type="sldImg"/>
          </p:nvPr>
        </p:nvSpPr>
        <p:spPr/>
      </p:sp>
      <p:sp>
        <p:nvSpPr>
          <p:cNvPr id="1689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68964" name="幻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8365"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5565"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fld id="{9E70C7B7-F442-401D-B977-D4BBD5F96DA4}" type="slidenum">
              <a:rPr lang="en-US" altLang="zh-CN" sz="1300">
                <a:latin typeface="Times New Roman" panose="02020603050405020304" pitchFamily="18" charset="0"/>
              </a:rPr>
              <a:t>6</a:t>
            </a:fld>
            <a:endParaRPr lang="en-US" altLang="zh-CN" sz="130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13</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txBox="1">
            <a:spLocks noGrp="1" noChangeArrowheads="1"/>
          </p:cNvSpPr>
          <p:nvPr/>
        </p:nvSpPr>
        <p:spPr bwMode="auto">
          <a:xfrm>
            <a:off x="4021294" y="9721106"/>
            <a:ext cx="3076363" cy="51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nchor="b"/>
          <a:lstStyle>
            <a:lvl1pPr defTabSz="890270" eaLnBrk="0" hangingPunct="0">
              <a:defRPr sz="2000">
                <a:solidFill>
                  <a:schemeClr val="tx1"/>
                </a:solidFill>
                <a:latin typeface="Verdana" panose="020B0604030504040204" pitchFamily="34" charset="0"/>
                <a:ea typeface="宋体" panose="02010600030101010101" pitchFamily="2" charset="-122"/>
              </a:defRPr>
            </a:lvl1pPr>
            <a:lvl2pPr marL="742950" indent="-285750" defTabSz="890270" eaLnBrk="0" hangingPunct="0">
              <a:defRPr sz="2000">
                <a:solidFill>
                  <a:schemeClr val="tx1"/>
                </a:solidFill>
                <a:latin typeface="Verdana" panose="020B0604030504040204" pitchFamily="34" charset="0"/>
                <a:ea typeface="宋体" panose="02010600030101010101" pitchFamily="2" charset="-122"/>
              </a:defRPr>
            </a:lvl2pPr>
            <a:lvl3pPr marL="1143000" indent="-228600" defTabSz="890270" eaLnBrk="0" hangingPunct="0">
              <a:defRPr sz="2000">
                <a:solidFill>
                  <a:schemeClr val="tx1"/>
                </a:solidFill>
                <a:latin typeface="Verdana" panose="020B0604030504040204" pitchFamily="34" charset="0"/>
                <a:ea typeface="宋体" panose="02010600030101010101" pitchFamily="2" charset="-122"/>
              </a:defRPr>
            </a:lvl3pPr>
            <a:lvl4pPr marL="1600200" indent="-228600" defTabSz="890270" eaLnBrk="0" hangingPunct="0">
              <a:defRPr sz="2000">
                <a:solidFill>
                  <a:schemeClr val="tx1"/>
                </a:solidFill>
                <a:latin typeface="Verdana" panose="020B0604030504040204" pitchFamily="34" charset="0"/>
                <a:ea typeface="宋体" panose="02010600030101010101" pitchFamily="2" charset="-122"/>
              </a:defRPr>
            </a:lvl4pPr>
            <a:lvl5pPr marL="2057400" indent="-228600" defTabSz="890270" eaLnBrk="0" hangingPunct="0">
              <a:defRPr sz="2000">
                <a:solidFill>
                  <a:schemeClr val="tx1"/>
                </a:solidFill>
                <a:latin typeface="Verdana" panose="020B0604030504040204" pitchFamily="34" charset="0"/>
                <a:ea typeface="宋体" panose="02010600030101010101" pitchFamily="2" charset="-122"/>
              </a:defRPr>
            </a:lvl5pPr>
            <a:lvl6pPr marL="25146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6pPr>
            <a:lvl7pPr marL="29718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7pPr>
            <a:lvl8pPr marL="34290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8pPr>
            <a:lvl9pPr marL="3886200" indent="-228600" defTabSz="890270" eaLnBrk="0" fontAlgn="base" hangingPunct="0">
              <a:spcBef>
                <a:spcPct val="0"/>
              </a:spcBef>
              <a:spcAft>
                <a:spcPct val="0"/>
              </a:spcAft>
              <a:defRPr sz="2000">
                <a:solidFill>
                  <a:schemeClr val="tx1"/>
                </a:solidFill>
                <a:latin typeface="Verdana" panose="020B0604030504040204" pitchFamily="34" charset="0"/>
                <a:ea typeface="宋体" panose="02010600030101010101" pitchFamily="2" charset="-122"/>
              </a:defRPr>
            </a:lvl9pPr>
          </a:lstStyle>
          <a:p>
            <a:pPr algn="r" eaLnBrk="1" hangingPunct="1"/>
            <a:fld id="{1A0C3AAE-3A6A-413F-9197-3F295CD43C33}" type="slidenum">
              <a:rPr lang="en-US" altLang="zh-CN" sz="1300">
                <a:solidFill>
                  <a:srgbClr val="000000"/>
                </a:solidFill>
                <a:latin typeface="Times New Roman" panose="02020603050405020304" pitchFamily="18" charset="0"/>
              </a:rPr>
              <a:t>14</a:t>
            </a:fld>
            <a:endParaRPr lang="en-US" altLang="zh-CN" sz="1300">
              <a:solidFill>
                <a:srgbClr val="000000"/>
              </a:solidFill>
              <a:latin typeface="Times New Roman" panose="02020603050405020304" pitchFamily="18" charset="0"/>
            </a:endParaRPr>
          </a:p>
        </p:txBody>
      </p:sp>
      <p:sp>
        <p:nvSpPr>
          <p:cNvPr id="31747" name="Rectangle 2"/>
          <p:cNvSpPr>
            <a:spLocks noGrp="1" noRot="1" noChangeAspect="1" noChangeArrowheads="1" noTextEdit="1"/>
          </p:cNvSpPr>
          <p:nvPr>
            <p:ph type="sldImg"/>
          </p:nvPr>
        </p:nvSpPr>
        <p:spPr/>
      </p:sp>
      <p:sp>
        <p:nvSpPr>
          <p:cNvPr id="31748" name="Rectangle 3"/>
          <p:cNvSpPr>
            <a:spLocks noGrp="1" noChangeArrowheads="1"/>
          </p:cNvSpPr>
          <p:nvPr>
            <p:ph type="body" idx="1"/>
          </p:nvPr>
        </p:nvSpPr>
        <p:spPr>
          <a:xfrm>
            <a:off x="711575" y="4861441"/>
            <a:ext cx="5676153" cy="4605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87" tIns="48244" rIns="96487" bIns="48244"/>
          <a:lstStyle/>
          <a:p>
            <a:pPr eaLnBrk="1" hangingPunct="1"/>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1325563" y="765175"/>
            <a:ext cx="4448175" cy="3336925"/>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7726844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25563" y="765175"/>
            <a:ext cx="4448175" cy="3336925"/>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005354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21</a:t>
            </a:fld>
            <a:endParaRPr lang="en-US" altLang="zh-CN"/>
          </a:p>
        </p:txBody>
      </p:sp>
    </p:spTree>
    <p:extLst>
      <p:ext uri="{BB962C8B-B14F-4D97-AF65-F5344CB8AC3E}">
        <p14:creationId xmlns:p14="http://schemas.microsoft.com/office/powerpoint/2010/main" val="555167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23</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txBox="1">
            <a:spLocks noGrp="1" noChangeArrowheads="1"/>
          </p:cNvSpPr>
          <p:nvPr/>
        </p:nvSpPr>
        <p:spPr bwMode="auto">
          <a:xfrm>
            <a:off x="4021138" y="9721851"/>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77" tIns="48239" rIns="96477" bIns="48239" anchor="b"/>
          <a:lstStyle>
            <a:lvl1pPr defTabSz="890270"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defTabSz="89027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defTabSz="89027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defTabSz="89027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defTabSz="89027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defTabSz="89027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defTabSz="89027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defTabSz="89027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defTabSz="89027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algn="r" eaLnBrk="1" hangingPunct="1"/>
            <a:fld id="{90ACE94A-38D9-44C9-A2BD-D9AA89020151}" type="slidenum">
              <a:rPr lang="en-US" altLang="zh-CN" sz="1300">
                <a:latin typeface="Times New Roman" panose="02020603050405020304" pitchFamily="18" charset="0"/>
              </a:rPr>
              <a:t>28</a:t>
            </a:fld>
            <a:endParaRPr lang="en-US" altLang="zh-CN" sz="1300">
              <a:latin typeface="Times New Roman" panose="02020603050405020304" pitchFamily="18" charset="0"/>
            </a:endParaRPr>
          </a:p>
        </p:txBody>
      </p:sp>
      <p:sp>
        <p:nvSpPr>
          <p:cNvPr id="187395" name="Rectangle 2"/>
          <p:cNvSpPr>
            <a:spLocks noGrp="1" noRot="1" noChangeAspect="1" noChangeArrowheads="1" noTextEdit="1"/>
          </p:cNvSpPr>
          <p:nvPr>
            <p:ph type="sldImg"/>
          </p:nvPr>
        </p:nvSpPr>
        <p:spPr/>
      </p:sp>
      <p:sp>
        <p:nvSpPr>
          <p:cNvPr id="187396" name="Rectangle 3"/>
          <p:cNvSpPr>
            <a:spLocks noGrp="1" noChangeArrowheads="1"/>
          </p:cNvSpPr>
          <p:nvPr>
            <p:ph type="body" idx="1"/>
          </p:nvPr>
        </p:nvSpPr>
        <p:spPr>
          <a:xfrm>
            <a:off x="711200" y="4860926"/>
            <a:ext cx="5676900" cy="46053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77" tIns="48239" rIns="96477" bIns="48239"/>
          <a:lstStyle/>
          <a:p>
            <a:pPr eaLnBrk="1" hangingPunct="1"/>
            <a:endParaRPr lang="zh-CN" altLang="en-US"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txBox="1">
            <a:spLocks noGrp="1" noChangeArrowheads="1"/>
          </p:cNvSpPr>
          <p:nvPr/>
        </p:nvSpPr>
        <p:spPr bwMode="auto">
          <a:xfrm>
            <a:off x="4021138" y="9721851"/>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77" tIns="48239" rIns="96477" bIns="48239" anchor="b"/>
          <a:lstStyle>
            <a:lvl1pPr defTabSz="890270"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defTabSz="89027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defTabSz="89027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defTabSz="89027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defTabSz="89027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defTabSz="89027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defTabSz="89027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defTabSz="89027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defTabSz="89027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algn="r" eaLnBrk="1" hangingPunct="1"/>
            <a:fld id="{E5E763F9-4BFD-4002-8E05-044847B50EAE}" type="slidenum">
              <a:rPr lang="en-US" altLang="zh-CN" sz="1300">
                <a:latin typeface="Times New Roman" panose="02020603050405020304" pitchFamily="18" charset="0"/>
              </a:rPr>
              <a:t>32</a:t>
            </a:fld>
            <a:endParaRPr lang="en-US" altLang="zh-CN" sz="1300">
              <a:latin typeface="Times New Roman" panose="02020603050405020304" pitchFamily="18" charset="0"/>
            </a:endParaRPr>
          </a:p>
        </p:txBody>
      </p:sp>
      <p:sp>
        <p:nvSpPr>
          <p:cNvPr id="188419" name="Rectangle 2"/>
          <p:cNvSpPr>
            <a:spLocks noGrp="1" noRot="1" noChangeAspect="1" noChangeArrowheads="1" noTextEdit="1"/>
          </p:cNvSpPr>
          <p:nvPr>
            <p:ph type="sldImg"/>
          </p:nvPr>
        </p:nvSpPr>
        <p:spPr/>
      </p:sp>
      <p:sp>
        <p:nvSpPr>
          <p:cNvPr id="188420" name="Rectangle 3"/>
          <p:cNvSpPr>
            <a:spLocks noGrp="1" noChangeArrowheads="1"/>
          </p:cNvSpPr>
          <p:nvPr>
            <p:ph type="body" idx="1"/>
          </p:nvPr>
        </p:nvSpPr>
        <p:spPr>
          <a:xfrm>
            <a:off x="711200" y="4860926"/>
            <a:ext cx="5676900" cy="46053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77" tIns="48239" rIns="96477" bIns="48239"/>
          <a:lstStyle/>
          <a:p>
            <a:pPr eaLnBrk="1" hangingPunct="1"/>
            <a:endParaRPr lang="zh-CN"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11E8864D-74B9-4387-9C61-FEBD320096BA}" type="datetime1">
              <a:rPr lang="zh-CN" altLang="en-US" smtClean="0"/>
              <a:t>2025/9/11</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5AE633C-541A-4E3F-A22A-3C4C63E8EF5F}" type="slidenum">
              <a:rPr lang="zh-CN" altLang="en-US"/>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671BA35-D8F9-4C41-9AF6-886F596B3957}" type="datetime1">
              <a:rPr lang="zh-CN" altLang="en-US" smtClean="0"/>
              <a:t>2025/9/11</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BCAC33D-D29A-48B3-BCD6-381D3D720D26}"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BEA0EE8D-9EFE-454D-A960-0A60B8A16E35}" type="datetime1">
              <a:rPr lang="zh-CN" altLang="en-US" smtClean="0"/>
              <a:t>2025/9/11</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0836AFD5-B4CE-4309-A85F-E56CFD431173}"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801F122C-A329-4ABF-9DFE-51039974DA18}" type="datetime1">
              <a:rPr lang="zh-CN" altLang="en-US" smtClean="0"/>
              <a:t>2025/9/11</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B3CCC3E9-608E-4023-AA79-77ECC6312F57}"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F2256910-C8E3-429E-BD12-243107B6FB9C}" type="datetime1">
              <a:rPr lang="zh-CN" altLang="en-US" smtClean="0"/>
              <a:t>2025/9/11</a:t>
            </a:fld>
            <a:endParaRPr lang="en-US" altLang="zh-CN"/>
          </a:p>
        </p:txBody>
      </p:sp>
      <p:sp>
        <p:nvSpPr>
          <p:cNvPr id="8"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CD980664-B5A2-458D-9781-BDBB3E444617}"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E6B1CE3C-B26C-40F4-916E-98FFA9EB5CD4}" type="datetime1">
              <a:rPr lang="zh-CN" altLang="en-US" smtClean="0"/>
              <a:t>2025/9/11</a:t>
            </a:fld>
            <a:endParaRPr lang="en-US" altLang="zh-CN"/>
          </a:p>
        </p:txBody>
      </p:sp>
      <p:sp>
        <p:nvSpPr>
          <p:cNvPr id="4"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3342FEDC-7E89-472C-BFD5-D857A9C78A6E}"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6A7B092D-E37D-4EC4-9EE6-EE6D07208319}" type="datetime1">
              <a:rPr lang="zh-CN" altLang="en-US" smtClean="0"/>
              <a:t>2025/9/11</a:t>
            </a:fld>
            <a:endParaRPr lang="en-US" altLang="zh-CN"/>
          </a:p>
        </p:txBody>
      </p:sp>
      <p:sp>
        <p:nvSpPr>
          <p:cNvPr id="3"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65B7EA61-351E-4105-9AD9-76D38C6E9934}"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D1155513-B113-4DAB-ACDC-93A6DD7D66BB}" type="datetime1">
              <a:rPr lang="zh-CN" altLang="en-US" smtClean="0"/>
              <a:t>2025/9/11</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AFC75736-67D3-4C0D-9AD3-EBB1133B7A15}"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D30DF5A2-9E95-4C23-8727-C7A8E1EE00A8}" type="datetime1">
              <a:rPr lang="zh-CN" altLang="en-US" smtClean="0"/>
              <a:t>2025/9/11</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6B43B5C7-14AB-4EB9-8E35-9962854618D2}"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BEF6DD2B-531D-4E26-B1B4-02142B0EAC7C}" type="datetime1">
              <a:rPr lang="zh-CN" altLang="en-US" smtClean="0"/>
              <a:t>2025/9/11</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739E446-6F6B-46FF-A641-54E99657CB0F}"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FF798E3-1A63-44DA-925D-6AA059527AA7}" type="datetime1">
              <a:rPr lang="zh-CN" altLang="en-US" smtClean="0"/>
              <a:t>2025/9/11</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295BA35-14E5-4401-B968-D9FCFD45D966}"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548879" y="447468"/>
            <a:ext cx="804624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890849">
              <a:lnSpc>
                <a:spcPts val="2573"/>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548878" y="1047751"/>
            <a:ext cx="804624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3504081031"/>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5EE9873E-2636-42A8-AB11-B99870BCD5DE}" type="datetime1">
              <a:rPr lang="zh-CN" altLang="en-US" smtClean="0"/>
              <a:t>2025/9/11</a:t>
            </a:fld>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2CE38698-3FD2-4DD5-AB6F-61E8F41EBC15}"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ppt/slides/ppt/slides/ppt/slides/player/Play.exe%20nta/xjd1401.nta%200%200%200%20800%20600%200%200%200%20314"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slideLayout" Target="../slideLayouts/slideLayout1.xml"/><Relationship Id="rId4" Type="http://schemas.openxmlformats.org/officeDocument/2006/relationships/image" Target="../media/image12.wmf"/></Relationships>
</file>

<file path=ppt/slides/_rels/slide3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bin"/><Relationship Id="rId1" Type="http://schemas.openxmlformats.org/officeDocument/2006/relationships/slideLayout" Target="../slideLayouts/slideLayout1.xml"/><Relationship Id="rId4" Type="http://schemas.openxmlformats.org/officeDocument/2006/relationships/image" Target="../media/image14.wmf"/></Relationships>
</file>

<file path=ppt/slides/_rels/slide37.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755650" y="1341438"/>
            <a:ext cx="7704138" cy="1143000"/>
          </a:xfrm>
        </p:spPr>
        <p:txBody>
          <a:bodyPr/>
          <a:lstStyle/>
          <a:p>
            <a:pPr algn="dist" eaLnBrk="1" hangingPunct="1"/>
            <a:r>
              <a:rPr lang="zh-CN" altLang="en-US" sz="5400" b="1"/>
              <a:t>计算机组织与体系结构</a:t>
            </a:r>
          </a:p>
        </p:txBody>
      </p:sp>
      <p:sp>
        <p:nvSpPr>
          <p:cNvPr id="2051" name="Text Box 7"/>
          <p:cNvSpPr txBox="1">
            <a:spLocks noChangeArrowheads="1"/>
          </p:cNvSpPr>
          <p:nvPr/>
        </p:nvSpPr>
        <p:spPr bwMode="auto">
          <a:xfrm>
            <a:off x="3714750" y="5072063"/>
            <a:ext cx="2951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dirty="0"/>
              <a:t> 刘宏伟</a:t>
            </a:r>
          </a:p>
        </p:txBody>
      </p:sp>
      <p:sp>
        <p:nvSpPr>
          <p:cNvPr id="2052" name="Text Box 7"/>
          <p:cNvSpPr txBox="1">
            <a:spLocks noChangeArrowheads="1"/>
          </p:cNvSpPr>
          <p:nvPr/>
        </p:nvSpPr>
        <p:spPr bwMode="auto">
          <a:xfrm>
            <a:off x="2571750" y="4500563"/>
            <a:ext cx="4357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a:t> 计算机科学与技术学院</a:t>
            </a:r>
          </a:p>
        </p:txBody>
      </p:sp>
      <p:sp>
        <p:nvSpPr>
          <p:cNvPr id="5" name="Rectangle 2"/>
          <p:cNvSpPr txBox="1">
            <a:spLocks noChangeArrowheads="1"/>
          </p:cNvSpPr>
          <p:nvPr/>
        </p:nvSpPr>
        <p:spPr bwMode="auto">
          <a:xfrm>
            <a:off x="1714500" y="3071813"/>
            <a:ext cx="5673725" cy="1143000"/>
          </a:xfrm>
          <a:prstGeom prst="rect">
            <a:avLst/>
          </a:prstGeom>
          <a:noFill/>
          <a:ln w="9525">
            <a:noFill/>
            <a:miter lim="800000"/>
          </a:ln>
          <a:effectLst/>
        </p:spPr>
        <p:txBody>
          <a:bodyPr lIns="92075" tIns="46038" rIns="92075" bIns="46038" anchor="ctr"/>
          <a:lstStyle/>
          <a:p>
            <a:pPr algn="ctr">
              <a:defRPr/>
            </a:pPr>
            <a:r>
              <a:rPr lang="zh-CN" altLang="en-US" sz="4000" kern="0" dirty="0">
                <a:effectLst>
                  <a:outerShdw blurRad="38100" dist="38100" dir="2700000" algn="tl">
                    <a:srgbClr val="000000"/>
                  </a:outerShdw>
                </a:effectLst>
                <a:latin typeface="+mj-lt"/>
                <a:ea typeface="+mj-ea"/>
                <a:cs typeface="+mj-cs"/>
              </a:rPr>
              <a:t>第三讲</a:t>
            </a:r>
          </a:p>
        </p:txBody>
      </p:sp>
      <p:sp>
        <p:nvSpPr>
          <p:cNvPr id="2" name="日期占位符 1">
            <a:extLst>
              <a:ext uri="{FF2B5EF4-FFF2-40B4-BE49-F238E27FC236}">
                <a16:creationId xmlns:a16="http://schemas.microsoft.com/office/drawing/2014/main" id="{FDF65E48-93FF-34B8-DFDC-21FD979C4826}"/>
              </a:ext>
            </a:extLst>
          </p:cNvPr>
          <p:cNvSpPr>
            <a:spLocks noGrp="1"/>
          </p:cNvSpPr>
          <p:nvPr>
            <p:ph type="dt" sz="half" idx="10"/>
          </p:nvPr>
        </p:nvSpPr>
        <p:spPr/>
        <p:txBody>
          <a:bodyPr/>
          <a:lstStyle/>
          <a:p>
            <a:pPr>
              <a:defRPr/>
            </a:pPr>
            <a:fld id="{2D5A2152-D685-41AF-8257-6363D8853A68}" type="datetime1">
              <a:rPr lang="zh-CN" altLang="en-US" smtClean="0"/>
              <a:t>2025/9/11</a:t>
            </a:fld>
            <a:endParaRPr lang="en-US" altLang="zh-CN"/>
          </a:p>
        </p:txBody>
      </p:sp>
      <p:sp>
        <p:nvSpPr>
          <p:cNvPr id="3" name="页脚占位符 2">
            <a:extLst>
              <a:ext uri="{FF2B5EF4-FFF2-40B4-BE49-F238E27FC236}">
                <a16:creationId xmlns:a16="http://schemas.microsoft.com/office/drawing/2014/main" id="{CB61E7A8-960F-C49C-4E17-A18A80640E9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43F965FB-26E6-D36F-149A-654631FB9723}"/>
              </a:ext>
            </a:extLst>
          </p:cNvPr>
          <p:cNvSpPr>
            <a:spLocks noGrp="1"/>
          </p:cNvSpPr>
          <p:nvPr>
            <p:ph type="sldNum" sz="quarter" idx="12"/>
          </p:nvPr>
        </p:nvSpPr>
        <p:spPr/>
        <p:txBody>
          <a:bodyPr/>
          <a:lstStyle/>
          <a:p>
            <a:pPr>
              <a:defRPr/>
            </a:pPr>
            <a:fld id="{8BCAC33D-D29A-48B3-BCD6-381D3D720D26}" type="slidenum">
              <a:rPr lang="zh-CN" altLang="en-US" smtClean="0"/>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title"/>
          </p:nvPr>
        </p:nvSpPr>
        <p:spPr>
          <a:xfrm>
            <a:off x="685800" y="142875"/>
            <a:ext cx="7772400" cy="785813"/>
          </a:xfrm>
        </p:spPr>
        <p:txBody>
          <a:bodyPr/>
          <a:lstStyle/>
          <a:p>
            <a:pPr eaLnBrk="1" hangingPunct="1"/>
            <a:r>
              <a:rPr lang="en-US" altLang="zh-CN" b="1" dirty="0"/>
              <a:t>Recap</a:t>
            </a:r>
            <a:endParaRPr lang="zh-CN" altLang="en-US" b="1" dirty="0"/>
          </a:p>
        </p:txBody>
      </p:sp>
      <p:sp>
        <p:nvSpPr>
          <p:cNvPr id="3" name="内容占位符 2"/>
          <p:cNvSpPr>
            <a:spLocks noGrp="1"/>
          </p:cNvSpPr>
          <p:nvPr>
            <p:ph idx="1"/>
          </p:nvPr>
        </p:nvSpPr>
        <p:spPr>
          <a:xfrm>
            <a:off x="500063" y="1143000"/>
            <a:ext cx="8143875" cy="5214938"/>
          </a:xfrm>
        </p:spPr>
        <p:txBody>
          <a:bodyPr rtlCol="0">
            <a:normAutofit/>
          </a:bodyPr>
          <a:lstStyle/>
          <a:p>
            <a:pPr lvl="1" eaLnBrk="1" fontAlgn="auto" hangingPunct="1">
              <a:spcAft>
                <a:spcPts val="0"/>
              </a:spcAft>
              <a:defRPr/>
            </a:pPr>
            <a:r>
              <a:rPr lang="zh-CN" altLang="en-US" b="1" dirty="0">
                <a:latin typeface="+mj-lt"/>
              </a:rPr>
              <a:t>计算机体系结构、组成、实现</a:t>
            </a:r>
            <a:endParaRPr lang="en-US" altLang="zh-CN" b="1" dirty="0">
              <a:latin typeface="+mj-lt"/>
            </a:endParaRPr>
          </a:p>
          <a:p>
            <a:pPr marL="918210" indent="0" eaLnBrk="1" fontAlgn="auto" hangingPunct="1">
              <a:spcAft>
                <a:spcPts val="0"/>
              </a:spcAft>
              <a:buFont typeface="Wingdings" panose="05000000000000000000" pitchFamily="2" charset="2"/>
              <a:buChar char="ü"/>
              <a:defRPr/>
            </a:pPr>
            <a:r>
              <a:rPr lang="zh-CN" altLang="en-US" sz="2800" b="1" dirty="0"/>
              <a:t>计算机组成和物理实现</a:t>
            </a:r>
            <a:endParaRPr lang="en-US" altLang="zh-CN" b="1" dirty="0">
              <a:latin typeface="+mj-lt"/>
            </a:endParaRPr>
          </a:p>
          <a:p>
            <a:pPr lvl="1" eaLnBrk="1" fontAlgn="auto" hangingPunct="1">
              <a:spcAft>
                <a:spcPts val="0"/>
              </a:spcAft>
              <a:defRPr/>
            </a:pPr>
            <a:r>
              <a:rPr lang="zh-CN" altLang="en-US" b="1" dirty="0"/>
              <a:t>系列机和兼容</a:t>
            </a:r>
            <a:endParaRPr lang="en-US" altLang="zh-CN" b="1" dirty="0"/>
          </a:p>
          <a:p>
            <a:pPr marL="918210" indent="0" eaLnBrk="1" fontAlgn="auto" hangingPunct="1">
              <a:spcAft>
                <a:spcPts val="0"/>
              </a:spcAft>
              <a:buFont typeface="Wingdings" panose="05000000000000000000" pitchFamily="2" charset="2"/>
              <a:buChar char="ü"/>
              <a:defRPr/>
            </a:pPr>
            <a:r>
              <a:rPr lang="zh-CN" altLang="en-US" sz="2800" b="1" dirty="0"/>
              <a:t>具有相同体系结构的一系列计算机</a:t>
            </a:r>
            <a:endParaRPr lang="en-US" altLang="zh-CN" sz="2800" b="1" dirty="0"/>
          </a:p>
          <a:p>
            <a:pPr marL="918210" indent="0" eaLnBrk="1" fontAlgn="auto" hangingPunct="1">
              <a:spcAft>
                <a:spcPts val="0"/>
              </a:spcAft>
              <a:buFont typeface="Wingdings" panose="05000000000000000000" pitchFamily="2" charset="2"/>
              <a:buChar char="ü"/>
              <a:defRPr/>
            </a:pPr>
            <a:r>
              <a:rPr lang="en-US" altLang="zh-CN" sz="2800" b="1" dirty="0"/>
              <a:t> </a:t>
            </a:r>
            <a:r>
              <a:rPr lang="zh-CN" altLang="en-US" sz="2800" b="1" dirty="0"/>
              <a:t>向上、下、前、后兼容</a:t>
            </a:r>
            <a:endParaRPr lang="en-US" altLang="zh-CN" dirty="0"/>
          </a:p>
          <a:p>
            <a:pPr lvl="1" eaLnBrk="1" fontAlgn="auto" hangingPunct="1">
              <a:spcAft>
                <a:spcPts val="0"/>
              </a:spcAft>
              <a:defRPr/>
            </a:pPr>
            <a:r>
              <a:rPr lang="zh-CN" altLang="en-US" b="1" dirty="0">
                <a:latin typeface="+mj-lt"/>
              </a:rPr>
              <a:t>计算机体系结构的发展</a:t>
            </a:r>
            <a:endParaRPr lang="en-US" altLang="zh-CN" b="1" dirty="0">
              <a:latin typeface="+mj-lt"/>
            </a:endParaRPr>
          </a:p>
          <a:p>
            <a:pPr marL="918210" indent="0" eaLnBrk="1" fontAlgn="auto" hangingPunct="1">
              <a:spcAft>
                <a:spcPts val="0"/>
              </a:spcAft>
              <a:buFont typeface="Wingdings" panose="05000000000000000000" pitchFamily="2" charset="2"/>
              <a:buChar char="ü"/>
              <a:defRPr/>
            </a:pPr>
            <a:r>
              <a:rPr lang="en-US" altLang="zh-CN" sz="2800" b="1" dirty="0">
                <a:latin typeface="+mj-lt"/>
              </a:rPr>
              <a:t> </a:t>
            </a:r>
            <a:r>
              <a:rPr lang="zh-CN" altLang="en-US" sz="2800" b="1" dirty="0">
                <a:latin typeface="+mj-lt"/>
              </a:rPr>
              <a:t>计算机的分代和分型</a:t>
            </a:r>
            <a:endParaRPr lang="en-US" altLang="zh-CN" sz="2800" b="1" dirty="0">
              <a:latin typeface="+mj-lt"/>
            </a:endParaRPr>
          </a:p>
          <a:p>
            <a:pPr marL="918210" indent="0" eaLnBrk="1" fontAlgn="auto" hangingPunct="1">
              <a:spcAft>
                <a:spcPts val="0"/>
              </a:spcAft>
              <a:buFont typeface="Wingdings" panose="05000000000000000000" pitchFamily="2" charset="2"/>
              <a:buChar char="ü"/>
              <a:defRPr/>
            </a:pPr>
            <a:r>
              <a:rPr lang="en-US" altLang="zh-CN" sz="2800" b="1" dirty="0">
                <a:latin typeface="+mj-lt"/>
              </a:rPr>
              <a:t> </a:t>
            </a:r>
            <a:r>
              <a:rPr lang="zh-CN" altLang="en-US" sz="2800" b="1" dirty="0">
                <a:latin typeface="+mj-lt"/>
              </a:rPr>
              <a:t>软件、应用的发展</a:t>
            </a:r>
            <a:endParaRPr lang="en-US" altLang="zh-CN" sz="2800" b="1" dirty="0">
              <a:latin typeface="+mj-lt"/>
            </a:endParaRPr>
          </a:p>
          <a:p>
            <a:pPr marL="918210" indent="0" eaLnBrk="1" fontAlgn="auto" hangingPunct="1">
              <a:spcAft>
                <a:spcPts val="0"/>
              </a:spcAft>
              <a:buFont typeface="Wingdings" panose="05000000000000000000" pitchFamily="2" charset="2"/>
              <a:buChar char="ü"/>
              <a:defRPr/>
            </a:pPr>
            <a:r>
              <a:rPr lang="zh-CN" altLang="en-US" sz="2800" b="1" dirty="0">
                <a:latin typeface="+mj-lt"/>
              </a:rPr>
              <a:t>相关核心技术的发展</a:t>
            </a:r>
            <a:endParaRPr lang="en-US" altLang="zh-CN" sz="2800" b="1" dirty="0">
              <a:latin typeface="+mj-lt"/>
            </a:endParaRPr>
          </a:p>
          <a:p>
            <a:pPr marL="918210" indent="0" eaLnBrk="1" fontAlgn="auto" hangingPunct="1">
              <a:spcAft>
                <a:spcPts val="0"/>
              </a:spcAft>
              <a:buFont typeface="Wingdings" panose="05000000000000000000" pitchFamily="2" charset="2"/>
              <a:buChar char="ü"/>
              <a:defRPr/>
            </a:pPr>
            <a:r>
              <a:rPr lang="zh-CN" altLang="en-US" sz="2800" b="1" dirty="0">
                <a:latin typeface="+mj-lt"/>
              </a:rPr>
              <a:t>体系结构技术的发展</a:t>
            </a:r>
            <a:endParaRPr lang="en-US" altLang="zh-CN" sz="2800" b="1" dirty="0">
              <a:latin typeface="+mj-lt"/>
            </a:endParaRPr>
          </a:p>
          <a:p>
            <a:pPr marL="918210" indent="0" eaLnBrk="1" fontAlgn="auto" hangingPunct="1">
              <a:spcAft>
                <a:spcPts val="0"/>
              </a:spcAft>
              <a:buNone/>
              <a:defRPr/>
            </a:pPr>
            <a:endParaRPr lang="en-US" altLang="zh-CN" sz="2800" b="1" dirty="0">
              <a:latin typeface="+mj-lt"/>
            </a:endParaRPr>
          </a:p>
          <a:p>
            <a:pPr marL="918210" indent="0" eaLnBrk="1" fontAlgn="auto" hangingPunct="1">
              <a:spcAft>
                <a:spcPts val="0"/>
              </a:spcAft>
              <a:buNone/>
              <a:defRPr/>
            </a:pPr>
            <a:endParaRPr lang="en-US" altLang="zh-CN" sz="2800" b="1" dirty="0">
              <a:latin typeface="+mj-lt"/>
            </a:endParaRPr>
          </a:p>
          <a:p>
            <a:pPr marL="918210" indent="0" eaLnBrk="1" fontAlgn="auto" hangingPunct="1">
              <a:spcAft>
                <a:spcPts val="0"/>
              </a:spcAft>
              <a:buNone/>
              <a:defRPr/>
            </a:pPr>
            <a:endParaRPr lang="en-US" altLang="zh-CN" sz="2800" b="1" dirty="0">
              <a:latin typeface="+mj-lt"/>
            </a:endParaRPr>
          </a:p>
          <a:p>
            <a:pPr marL="918210" indent="0" eaLnBrk="1" fontAlgn="auto" hangingPunct="1">
              <a:spcAft>
                <a:spcPts val="0"/>
              </a:spcAft>
              <a:buNone/>
              <a:defRPr/>
            </a:pPr>
            <a:endParaRPr lang="zh-CN" altLang="en-US" sz="2800" b="1" dirty="0">
              <a:latin typeface="+mj-lt"/>
            </a:endParaRPr>
          </a:p>
        </p:txBody>
      </p:sp>
      <p:sp>
        <p:nvSpPr>
          <p:cNvPr id="2" name="日期占位符 1">
            <a:extLst>
              <a:ext uri="{FF2B5EF4-FFF2-40B4-BE49-F238E27FC236}">
                <a16:creationId xmlns:a16="http://schemas.microsoft.com/office/drawing/2014/main" id="{D0DE9EB3-42F5-A5D4-B525-0C9BAFDE88E0}"/>
              </a:ext>
            </a:extLst>
          </p:cNvPr>
          <p:cNvSpPr>
            <a:spLocks noGrp="1"/>
          </p:cNvSpPr>
          <p:nvPr>
            <p:ph type="dt" sz="half" idx="10"/>
          </p:nvPr>
        </p:nvSpPr>
        <p:spPr/>
        <p:txBody>
          <a:bodyPr/>
          <a:lstStyle/>
          <a:p>
            <a:pPr>
              <a:defRPr/>
            </a:pPr>
            <a:fld id="{4471EA5F-41E1-4CE8-AF72-13017856F2CB}" type="datetime1">
              <a:rPr lang="zh-CN" altLang="en-US" smtClean="0"/>
              <a:t>2025/9/11</a:t>
            </a:fld>
            <a:endParaRPr lang="en-US" altLang="zh-CN" dirty="0"/>
          </a:p>
        </p:txBody>
      </p:sp>
      <p:sp>
        <p:nvSpPr>
          <p:cNvPr id="4" name="页脚占位符 3">
            <a:extLst>
              <a:ext uri="{FF2B5EF4-FFF2-40B4-BE49-F238E27FC236}">
                <a16:creationId xmlns:a16="http://schemas.microsoft.com/office/drawing/2014/main" id="{1B1B2B2C-E5A1-2F11-70D3-CC8713051CE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7BBBE7FB-7B32-05E5-16FE-01E483FACB47}"/>
              </a:ext>
            </a:extLst>
          </p:cNvPr>
          <p:cNvSpPr>
            <a:spLocks noGrp="1"/>
          </p:cNvSpPr>
          <p:nvPr>
            <p:ph type="sldNum" sz="quarter" idx="12"/>
          </p:nvPr>
        </p:nvSpPr>
        <p:spPr/>
        <p:txBody>
          <a:bodyPr/>
          <a:lstStyle/>
          <a:p>
            <a:pPr>
              <a:defRPr/>
            </a:pPr>
            <a:fld id="{8BCAC33D-D29A-48B3-BCD6-381D3D720D26}" type="slidenum">
              <a:rPr lang="zh-CN" altLang="en-US" smtClean="0"/>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p:txBody>
          <a:bodyPr>
            <a:normAutofit/>
          </a:bodyPr>
          <a:lstStyle/>
          <a:p>
            <a:r>
              <a:rPr kumimoji="1" lang="en-US" altLang="zh-CN" sz="3600" b="1" dirty="0">
                <a:cs typeface="+mn-cs"/>
              </a:rPr>
              <a:t>1.1.3 </a:t>
            </a:r>
            <a:r>
              <a:rPr kumimoji="1" lang="zh-CN" altLang="en-US" sz="3600" b="1" dirty="0">
                <a:cs typeface="+mn-cs"/>
              </a:rPr>
              <a:t>系列机和兼容</a:t>
            </a:r>
          </a:p>
        </p:txBody>
      </p:sp>
      <p:sp>
        <p:nvSpPr>
          <p:cNvPr id="6147" name="Rectangle 3"/>
          <p:cNvSpPr>
            <a:spLocks noGrp="1" noChangeArrowheads="1"/>
          </p:cNvSpPr>
          <p:nvPr>
            <p:ph type="body" idx="4294967295"/>
          </p:nvPr>
        </p:nvSpPr>
        <p:spPr>
          <a:xfrm>
            <a:off x="457200" y="1600200"/>
            <a:ext cx="8435280" cy="4525963"/>
          </a:xfrm>
        </p:spPr>
        <p:txBody>
          <a:bodyPr>
            <a:normAutofit/>
          </a:bodyPr>
          <a:lstStyle/>
          <a:p>
            <a:pPr>
              <a:lnSpc>
                <a:spcPct val="110000"/>
              </a:lnSpc>
            </a:pPr>
            <a:r>
              <a:rPr lang="zh-CN" altLang="en-US" sz="2400" b="1" dirty="0">
                <a:latin typeface="Times New Roman" panose="02020603050405020304" pitchFamily="18" charset="0"/>
                <a:ea typeface="+mj-ea"/>
                <a:cs typeface="Times New Roman" panose="02020603050405020304" pitchFamily="18" charset="0"/>
              </a:rPr>
              <a:t>系列机（</a:t>
            </a:r>
            <a:r>
              <a:rPr lang="en-US" altLang="zh-CN" sz="2400" b="1" dirty="0">
                <a:latin typeface="Times New Roman" panose="02020603050405020304" pitchFamily="18" charset="0"/>
                <a:ea typeface="+mj-ea"/>
                <a:cs typeface="Times New Roman" panose="02020603050405020304" pitchFamily="18" charset="0"/>
              </a:rPr>
              <a:t>family machine</a:t>
            </a:r>
            <a:r>
              <a:rPr lang="zh-CN" altLang="en-US" sz="2400" b="1" dirty="0">
                <a:latin typeface="Times New Roman" panose="02020603050405020304" pitchFamily="18" charset="0"/>
                <a:ea typeface="+mj-ea"/>
                <a:cs typeface="Times New Roman" panose="02020603050405020304" pitchFamily="18" charset="0"/>
              </a:rPr>
              <a:t>）是具有相同体系结构，但组成和实现不同的一系列不同型号的计算机系统 </a:t>
            </a:r>
          </a:p>
          <a:p>
            <a:pPr lvl="1">
              <a:lnSpc>
                <a:spcPct val="110000"/>
              </a:lnSpc>
            </a:pPr>
            <a:r>
              <a:rPr lang="en-US" altLang="zh-CN" sz="2400" b="1" dirty="0">
                <a:latin typeface="Times New Roman" panose="02020603050405020304" pitchFamily="18" charset="0"/>
                <a:ea typeface="+mj-ea"/>
                <a:cs typeface="Times New Roman" panose="02020603050405020304" pitchFamily="18" charset="0"/>
              </a:rPr>
              <a:t>IBM</a:t>
            </a:r>
            <a:r>
              <a:rPr lang="zh-CN" altLang="en-US" sz="2400" b="1" dirty="0">
                <a:latin typeface="Times New Roman" panose="02020603050405020304" pitchFamily="18" charset="0"/>
                <a:ea typeface="+mj-ea"/>
                <a:cs typeface="Times New Roman" panose="02020603050405020304" pitchFamily="18" charset="0"/>
              </a:rPr>
              <a:t>公司在推出</a:t>
            </a:r>
            <a:r>
              <a:rPr lang="en-US" altLang="zh-CN" sz="2400" b="1" dirty="0">
                <a:latin typeface="Times New Roman" panose="02020603050405020304" pitchFamily="18" charset="0"/>
                <a:ea typeface="+mj-ea"/>
                <a:cs typeface="Times New Roman" panose="02020603050405020304" pitchFamily="18" charset="0"/>
              </a:rPr>
              <a:t>IBM S360</a:t>
            </a:r>
            <a:r>
              <a:rPr lang="zh-CN" altLang="en-US" sz="2400" b="1" dirty="0">
                <a:latin typeface="Times New Roman" panose="02020603050405020304" pitchFamily="18" charset="0"/>
                <a:ea typeface="+mj-ea"/>
                <a:cs typeface="Times New Roman" panose="02020603050405020304" pitchFamily="18" charset="0"/>
              </a:rPr>
              <a:t>时首次提出的系列机的概念，被认为是计算机发展史上一个重要里程碑</a:t>
            </a:r>
          </a:p>
          <a:p>
            <a:pPr lvl="1">
              <a:lnSpc>
                <a:spcPct val="110000"/>
              </a:lnSpc>
            </a:pPr>
            <a:r>
              <a:rPr lang="zh-CN" altLang="en-US" sz="2400" b="1" dirty="0">
                <a:latin typeface="Times New Roman" panose="02020603050405020304" pitchFamily="18" charset="0"/>
                <a:ea typeface="+mj-ea"/>
                <a:cs typeface="Times New Roman" panose="02020603050405020304" pitchFamily="18" charset="0"/>
              </a:rPr>
              <a:t>各计算机厂家仍按系列机研发产品</a:t>
            </a:r>
            <a:endParaRPr lang="en-US" altLang="zh-CN" sz="2400" b="1" dirty="0">
              <a:latin typeface="Times New Roman" panose="02020603050405020304" pitchFamily="18" charset="0"/>
              <a:ea typeface="+mj-ea"/>
              <a:cs typeface="Times New Roman" panose="02020603050405020304" pitchFamily="18" charset="0"/>
            </a:endParaRPr>
          </a:p>
          <a:p>
            <a:pPr lvl="1">
              <a:lnSpc>
                <a:spcPct val="110000"/>
              </a:lnSpc>
            </a:pPr>
            <a:endParaRPr lang="zh-CN" altLang="en-US" sz="2400" b="1" dirty="0">
              <a:latin typeface="Times New Roman" panose="02020603050405020304" pitchFamily="18" charset="0"/>
              <a:ea typeface="+mj-ea"/>
              <a:cs typeface="Times New Roman" panose="02020603050405020304" pitchFamily="18" charset="0"/>
            </a:endParaRPr>
          </a:p>
          <a:p>
            <a:pPr>
              <a:lnSpc>
                <a:spcPct val="110000"/>
              </a:lnSpc>
            </a:pPr>
            <a:r>
              <a:rPr lang="zh-CN" altLang="en-US" sz="2400" b="1" dirty="0">
                <a:latin typeface="Times New Roman" panose="02020603050405020304" pitchFamily="18" charset="0"/>
                <a:ea typeface="+mj-ea"/>
                <a:cs typeface="Times New Roman" panose="02020603050405020304" pitchFamily="18" charset="0"/>
              </a:rPr>
              <a:t>现代计算机不但系统系列化，其构成部件和软件也系列化</a:t>
            </a:r>
          </a:p>
          <a:p>
            <a:pPr lvl="1">
              <a:lnSpc>
                <a:spcPct val="110000"/>
              </a:lnSpc>
            </a:pPr>
            <a:r>
              <a:rPr lang="zh-CN" altLang="en-US" sz="2400" b="1" dirty="0">
                <a:latin typeface="Times New Roman" panose="02020603050405020304" pitchFamily="18" charset="0"/>
                <a:ea typeface="+mj-ea"/>
                <a:cs typeface="Times New Roman" panose="02020603050405020304" pitchFamily="18" charset="0"/>
              </a:rPr>
              <a:t>如：微处理器（</a:t>
            </a:r>
            <a:r>
              <a:rPr lang="en-US" altLang="zh-CN" sz="2400" b="1" dirty="0">
                <a:latin typeface="Times New Roman" panose="02020603050405020304" pitchFamily="18" charset="0"/>
                <a:ea typeface="+mj-ea"/>
                <a:cs typeface="Times New Roman" panose="02020603050405020304" pitchFamily="18" charset="0"/>
              </a:rPr>
              <a:t>CPU</a:t>
            </a:r>
            <a:r>
              <a:rPr lang="zh-CN" altLang="en-US" sz="2400" b="1" dirty="0">
                <a:latin typeface="Times New Roman" panose="02020603050405020304" pitchFamily="18" charset="0"/>
                <a:ea typeface="+mj-ea"/>
                <a:cs typeface="Times New Roman" panose="02020603050405020304" pitchFamily="18" charset="0"/>
              </a:rPr>
              <a:t>）、硬盘、操作系统、高级语言等</a:t>
            </a:r>
          </a:p>
        </p:txBody>
      </p:sp>
      <p:sp>
        <p:nvSpPr>
          <p:cNvPr id="2" name="日期占位符 1">
            <a:extLst>
              <a:ext uri="{FF2B5EF4-FFF2-40B4-BE49-F238E27FC236}">
                <a16:creationId xmlns:a16="http://schemas.microsoft.com/office/drawing/2014/main" id="{7B9E278D-5509-75EB-13AC-11CB942E1F8F}"/>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DAC5E960-47DF-5B8A-52F2-183A7FD5F9FD}"/>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98AAE2D6-0FBB-3CDB-7762-8609B0C75708}"/>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a:t>
            </a:fld>
            <a:endParaRPr lang="en-US" altLang="zh-CN"/>
          </a:p>
        </p:txBody>
      </p:sp>
    </p:spTree>
    <p:extLst>
      <p:ext uri="{BB962C8B-B14F-4D97-AF65-F5344CB8AC3E}">
        <p14:creationId xmlns:p14="http://schemas.microsoft.com/office/powerpoint/2010/main" val="2613081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1"/>
          <p:cNvSpPr>
            <a:spLocks noGrp="1" noChangeArrowheads="1"/>
          </p:cNvSpPr>
          <p:nvPr>
            <p:ph type="title" idx="4294967295"/>
          </p:nvPr>
        </p:nvSpPr>
        <p:spPr>
          <a:xfrm>
            <a:off x="457200" y="44624"/>
            <a:ext cx="8229600" cy="1143000"/>
          </a:xfrm>
        </p:spPr>
        <p:txBody>
          <a:bodyPr>
            <a:normAutofit/>
          </a:bodyPr>
          <a:lstStyle/>
          <a:p>
            <a:r>
              <a:rPr kumimoji="1" lang="zh-CN" altLang="en-US" sz="3600" b="1" dirty="0">
                <a:latin typeface="+mj-ea"/>
                <a:cs typeface="+mn-cs"/>
              </a:rPr>
              <a:t>兼容性</a:t>
            </a:r>
          </a:p>
        </p:txBody>
      </p:sp>
      <p:sp>
        <p:nvSpPr>
          <p:cNvPr id="1028" name="Rectangle 22"/>
          <p:cNvSpPr>
            <a:spLocks noGrp="1" noChangeArrowheads="1"/>
          </p:cNvSpPr>
          <p:nvPr>
            <p:ph type="body" sz="half" idx="4294967295"/>
          </p:nvPr>
        </p:nvSpPr>
        <p:spPr>
          <a:xfrm>
            <a:off x="539750" y="1052513"/>
            <a:ext cx="8001000" cy="2479675"/>
          </a:xfrm>
        </p:spPr>
        <p:txBody>
          <a:bodyPr>
            <a:normAutofit/>
          </a:bodyPr>
          <a:lstStyle/>
          <a:p>
            <a:r>
              <a:rPr lang="zh-CN" altLang="en-US" sz="2400" b="1" dirty="0">
                <a:latin typeface="+mj-ea"/>
                <a:ea typeface="+mj-ea"/>
              </a:rPr>
              <a:t>向上</a:t>
            </a:r>
            <a:r>
              <a:rPr lang="en-US" altLang="zh-CN" sz="2400" b="1" dirty="0">
                <a:latin typeface="+mj-ea"/>
                <a:ea typeface="+mj-ea"/>
              </a:rPr>
              <a:t>(</a:t>
            </a:r>
            <a:r>
              <a:rPr lang="zh-CN" altLang="en-US" sz="2400" b="1" dirty="0">
                <a:latin typeface="+mj-ea"/>
                <a:ea typeface="+mj-ea"/>
              </a:rPr>
              <a:t>下</a:t>
            </a:r>
            <a:r>
              <a:rPr lang="en-US" altLang="zh-CN" sz="2400" b="1" dirty="0">
                <a:latin typeface="+mj-ea"/>
                <a:ea typeface="+mj-ea"/>
              </a:rPr>
              <a:t>)</a:t>
            </a:r>
            <a:r>
              <a:rPr lang="zh-CN" altLang="en-US" sz="2400" b="1" dirty="0">
                <a:latin typeface="+mj-ea"/>
                <a:ea typeface="+mj-ea"/>
              </a:rPr>
              <a:t>兼容指的是按某档机器编制的程序，不加修改的就能运行于比它高</a:t>
            </a:r>
            <a:r>
              <a:rPr lang="en-US" altLang="zh-CN" sz="2400" b="1" dirty="0">
                <a:latin typeface="+mj-ea"/>
                <a:ea typeface="+mj-ea"/>
              </a:rPr>
              <a:t>(</a:t>
            </a:r>
            <a:r>
              <a:rPr lang="zh-CN" altLang="en-US" sz="2400" b="1" dirty="0">
                <a:latin typeface="+mj-ea"/>
                <a:ea typeface="+mj-ea"/>
              </a:rPr>
              <a:t>低</a:t>
            </a:r>
            <a:r>
              <a:rPr lang="en-US" altLang="zh-CN" sz="2400" b="1" dirty="0">
                <a:latin typeface="+mj-ea"/>
                <a:ea typeface="+mj-ea"/>
              </a:rPr>
              <a:t>)</a:t>
            </a:r>
            <a:r>
              <a:rPr lang="zh-CN" altLang="en-US" sz="2400" b="1" dirty="0">
                <a:latin typeface="+mj-ea"/>
                <a:ea typeface="+mj-ea"/>
              </a:rPr>
              <a:t>档的机器</a:t>
            </a:r>
          </a:p>
          <a:p>
            <a:r>
              <a:rPr lang="zh-CN" altLang="en-US" sz="2400" b="1" dirty="0">
                <a:latin typeface="+mj-ea"/>
                <a:ea typeface="+mj-ea"/>
              </a:rPr>
              <a:t>向前</a:t>
            </a:r>
            <a:r>
              <a:rPr lang="en-US" altLang="zh-CN" sz="2400" b="1" dirty="0">
                <a:latin typeface="+mj-ea"/>
                <a:ea typeface="+mj-ea"/>
              </a:rPr>
              <a:t>(</a:t>
            </a:r>
            <a:r>
              <a:rPr lang="zh-CN" altLang="en-US" sz="2400" b="1" dirty="0">
                <a:latin typeface="+mj-ea"/>
                <a:ea typeface="+mj-ea"/>
              </a:rPr>
              <a:t>后</a:t>
            </a:r>
            <a:r>
              <a:rPr lang="en-US" altLang="zh-CN" sz="2400" b="1" dirty="0">
                <a:latin typeface="+mj-ea"/>
                <a:ea typeface="+mj-ea"/>
              </a:rPr>
              <a:t>)</a:t>
            </a:r>
            <a:r>
              <a:rPr lang="zh-CN" altLang="en-US" sz="2400" b="1" dirty="0">
                <a:latin typeface="+mj-ea"/>
                <a:ea typeface="+mj-ea"/>
              </a:rPr>
              <a:t>兼容指的是按某个时期投入市场的某种型号机器编制的程序，不加修改地就能运行于在它之前</a:t>
            </a:r>
            <a:r>
              <a:rPr lang="en-US" altLang="zh-CN" sz="2400" b="1" dirty="0">
                <a:latin typeface="+mj-ea"/>
                <a:ea typeface="+mj-ea"/>
              </a:rPr>
              <a:t>(</a:t>
            </a:r>
            <a:r>
              <a:rPr lang="zh-CN" altLang="en-US" sz="2400" b="1" dirty="0">
                <a:latin typeface="+mj-ea"/>
                <a:ea typeface="+mj-ea"/>
              </a:rPr>
              <a:t>后</a:t>
            </a:r>
            <a:r>
              <a:rPr lang="en-US" altLang="zh-CN" sz="2400" b="1" dirty="0">
                <a:latin typeface="+mj-ea"/>
                <a:ea typeface="+mj-ea"/>
              </a:rPr>
              <a:t>)</a:t>
            </a:r>
            <a:r>
              <a:rPr lang="zh-CN" altLang="en-US" sz="2400" b="1" dirty="0">
                <a:latin typeface="+mj-ea"/>
                <a:ea typeface="+mj-ea"/>
              </a:rPr>
              <a:t>投入市场的机器</a:t>
            </a:r>
          </a:p>
        </p:txBody>
      </p:sp>
      <p:graphicFrame>
        <p:nvGraphicFramePr>
          <p:cNvPr id="1026" name="Object 23"/>
          <p:cNvGraphicFramePr>
            <a:graphicFrameLocks noGrp="1" noChangeAspect="1"/>
          </p:cNvGraphicFramePr>
          <p:nvPr>
            <p:ph sz="half" idx="4294967295"/>
          </p:nvPr>
        </p:nvGraphicFramePr>
        <p:xfrm>
          <a:off x="1763713" y="3212976"/>
          <a:ext cx="5549900" cy="3200400"/>
        </p:xfrm>
        <a:graphic>
          <a:graphicData uri="http://schemas.openxmlformats.org/presentationml/2006/ole">
            <mc:AlternateContent xmlns:mc="http://schemas.openxmlformats.org/markup-compatibility/2006">
              <mc:Choice xmlns:v="urn:schemas-microsoft-com:vml" Requires="v">
                <p:oleObj name="图片" r:id="rId3" imgW="3087370" imgH="1783080" progId="Word.Picture.8">
                  <p:embed/>
                </p:oleObj>
              </mc:Choice>
              <mc:Fallback>
                <p:oleObj name="图片" r:id="rId3" imgW="3087370" imgH="1783080" progId="Word.Picture.8">
                  <p:embed/>
                  <p:pic>
                    <p:nvPicPr>
                      <p:cNvPr id="0" name="图片 10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3212976"/>
                        <a:ext cx="55499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日期占位符 1">
            <a:extLst>
              <a:ext uri="{FF2B5EF4-FFF2-40B4-BE49-F238E27FC236}">
                <a16:creationId xmlns:a16="http://schemas.microsoft.com/office/drawing/2014/main" id="{B87A2551-E33E-D9EC-F0E6-6D4D4A13DD81}"/>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3F672EC8-225C-1A5D-349B-FB336171D5D4}"/>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40245D96-F9C1-8595-F7B9-C849F9DCB840}"/>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4</a:t>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idx="4294967295"/>
          </p:nvPr>
        </p:nvSpPr>
        <p:spPr/>
        <p:txBody>
          <a:bodyPr>
            <a:normAutofit/>
          </a:bodyPr>
          <a:lstStyle/>
          <a:p>
            <a:r>
              <a:rPr kumimoji="1" lang="en-US" altLang="zh-CN" sz="3600" b="1" dirty="0">
                <a:latin typeface="+mj-ea"/>
                <a:cs typeface="+mn-cs"/>
              </a:rPr>
              <a:t>1.2.1 </a:t>
            </a:r>
            <a:r>
              <a:rPr kumimoji="1" lang="zh-CN" altLang="en-US" sz="3600" b="1" dirty="0">
                <a:latin typeface="+mj-ea"/>
                <a:cs typeface="+mn-cs"/>
              </a:rPr>
              <a:t>计算机的分代和分型</a:t>
            </a:r>
          </a:p>
        </p:txBody>
      </p:sp>
      <p:graphicFrame>
        <p:nvGraphicFramePr>
          <p:cNvPr id="2050" name="Object 4"/>
          <p:cNvGraphicFramePr>
            <a:graphicFrameLocks noChangeAspect="1"/>
          </p:cNvGraphicFramePr>
          <p:nvPr/>
        </p:nvGraphicFramePr>
        <p:xfrm>
          <a:off x="684213" y="1196975"/>
          <a:ext cx="7848600" cy="3602038"/>
        </p:xfrm>
        <a:graphic>
          <a:graphicData uri="http://schemas.openxmlformats.org/presentationml/2006/ole">
            <mc:AlternateContent xmlns:mc="http://schemas.openxmlformats.org/markup-compatibility/2006">
              <mc:Choice xmlns:v="urn:schemas-microsoft-com:vml" Requires="v">
                <p:oleObj name="图片" r:id="rId2" imgW="3656330" imgH="1680845" progId="Word.Picture.8">
                  <p:embed/>
                </p:oleObj>
              </mc:Choice>
              <mc:Fallback>
                <p:oleObj name="图片" r:id="rId2" imgW="3656330" imgH="1680845" progId="Word.Picture.8">
                  <p:embed/>
                  <p:pic>
                    <p:nvPicPr>
                      <p:cNvPr id="0" name="图片 206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196975"/>
                        <a:ext cx="7848600" cy="3602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429" name="Text Box 5"/>
          <p:cNvSpPr txBox="1">
            <a:spLocks noChangeArrowheads="1"/>
          </p:cNvSpPr>
          <p:nvPr/>
        </p:nvSpPr>
        <p:spPr bwMode="auto">
          <a:xfrm>
            <a:off x="574675" y="4727575"/>
            <a:ext cx="7959725" cy="1384225"/>
          </a:xfrm>
          <a:prstGeom prst="rect">
            <a:avLst/>
          </a:prstGeom>
          <a:noFill/>
          <a:ln>
            <a:noFill/>
          </a:ln>
          <a:effectLst/>
        </p:spPr>
        <p:txBody>
          <a:bodyPr>
            <a:spAutoFit/>
          </a:bodyPr>
          <a:lstStyle/>
          <a:p>
            <a:pPr algn="just">
              <a:lnSpc>
                <a:spcPct val="120000"/>
              </a:lnSpc>
              <a:spcBef>
                <a:spcPct val="50000"/>
              </a:spcBef>
              <a:defRPr/>
            </a:pPr>
            <a:r>
              <a:rPr kumimoji="1" lang="en-US" altLang="zh-CN" sz="2400" b="1" dirty="0">
                <a:solidFill>
                  <a:srgbClr val="FF0000"/>
                </a:solidFill>
                <a:effectLst>
                  <a:outerShdw blurRad="38100" dist="38100" dir="2700000" algn="tl">
                    <a:srgbClr val="C0C0C0"/>
                  </a:outerShdw>
                </a:effectLst>
                <a:latin typeface="华文中宋" panose="02010600040101010101" pitchFamily="2" charset="-122"/>
                <a:ea typeface="华文中宋" panose="02010600040101010101" pitchFamily="2" charset="-122"/>
              </a:rPr>
              <a:t>      </a:t>
            </a:r>
            <a:r>
              <a:rPr kumimoji="1" lang="zh-CN" altLang="en-US" sz="2400" b="1" dirty="0">
                <a:solidFill>
                  <a:srgbClr val="FF0000"/>
                </a:solidFill>
                <a:effectLst>
                  <a:outerShdw blurRad="38100" dist="38100" dir="2700000" algn="tl">
                    <a:srgbClr val="C0C0C0"/>
                  </a:outerShdw>
                </a:effectLst>
                <a:latin typeface="华文中宋" panose="02010600040101010101" pitchFamily="2" charset="-122"/>
                <a:ea typeface="华文中宋" panose="02010600040101010101" pitchFamily="2" charset="-122"/>
              </a:rPr>
              <a:t>技术和性能的“下移”。</a:t>
            </a:r>
            <a:r>
              <a:rPr kumimoji="1" lang="zh-CN" altLang="en-US" sz="2400" b="1" dirty="0">
                <a:solidFill>
                  <a:srgbClr val="000066"/>
                </a:solidFill>
                <a:effectLst>
                  <a:outerShdw blurRad="38100" dist="38100" dir="2700000" algn="tl">
                    <a:srgbClr val="C0C0C0"/>
                  </a:outerShdw>
                </a:effectLst>
                <a:latin typeface="华文中宋" panose="02010600040101010101" pitchFamily="2" charset="-122"/>
                <a:ea typeface="华文中宋" panose="02010600040101010101" pitchFamily="2" charset="-122"/>
              </a:rPr>
              <a:t>新型体系结构的设计一方面是合理地增加计算机系统中硬件的功能比例。另一方面则是通过多种途径提高计算机体系结构中的并行性。</a:t>
            </a:r>
          </a:p>
        </p:txBody>
      </p:sp>
      <p:sp>
        <p:nvSpPr>
          <p:cNvPr id="2" name="日期占位符 1">
            <a:extLst>
              <a:ext uri="{FF2B5EF4-FFF2-40B4-BE49-F238E27FC236}">
                <a16:creationId xmlns:a16="http://schemas.microsoft.com/office/drawing/2014/main" id="{4B5F2582-A2AD-C531-5209-31AB8060E57E}"/>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DDD944C6-163E-69B3-2E4B-EDCBB6FF48F6}"/>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7251BBE1-1858-5E3E-AE2A-612ADDED570D}"/>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5</a:t>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descr="Rectangle: Click to edit Master text styles&#10;Second level&#10;Third level&#10;Fourth level&#10;Fifth level"/>
          <p:cNvSpPr>
            <a:spLocks noGrp="1" noChangeArrowheads="1"/>
          </p:cNvSpPr>
          <p:nvPr>
            <p:ph type="body" idx="1"/>
          </p:nvPr>
        </p:nvSpPr>
        <p:spPr>
          <a:xfrm>
            <a:off x="611560" y="2276872"/>
            <a:ext cx="8134350" cy="3384550"/>
          </a:xfrm>
        </p:spPr>
        <p:txBody>
          <a:bodyPr>
            <a:normAutofit/>
          </a:bodyPr>
          <a:lstStyle/>
          <a:p>
            <a:pPr marL="457200" indent="-457200" eaLnBrk="1" hangingPunct="1">
              <a:lnSpc>
                <a:spcPct val="120000"/>
              </a:lnSpc>
            </a:pPr>
            <a:r>
              <a:rPr lang="zh-CN" altLang="en-US" sz="2800" b="1" dirty="0"/>
              <a:t>并行性：同时性、并发性</a:t>
            </a:r>
          </a:p>
          <a:p>
            <a:pPr marL="457200" indent="-457200" eaLnBrk="1" hangingPunct="1">
              <a:lnSpc>
                <a:spcPct val="120000"/>
              </a:lnSpc>
            </a:pPr>
            <a:r>
              <a:rPr lang="zh-CN" altLang="en-US" sz="2800" b="1" dirty="0"/>
              <a:t>并行处理技术的发展：并行处理的粒度</a:t>
            </a:r>
            <a:endParaRPr lang="en-US" altLang="zh-CN" sz="2800" b="1" dirty="0"/>
          </a:p>
          <a:p>
            <a:pPr marL="457200" indent="-457200" eaLnBrk="1" hangingPunct="1">
              <a:lnSpc>
                <a:spcPct val="120000"/>
              </a:lnSpc>
            </a:pPr>
            <a:r>
              <a:rPr lang="zh-CN" altLang="en-US" sz="2800" b="1" dirty="0"/>
              <a:t> 数据并行、</a:t>
            </a:r>
            <a:r>
              <a:rPr lang="en-US" altLang="zh-CN" sz="2800" b="1" dirty="0"/>
              <a:t>Flynn</a:t>
            </a:r>
            <a:r>
              <a:rPr lang="zh-CN" altLang="en-US" sz="2800" b="1" dirty="0"/>
              <a:t>分类法</a:t>
            </a:r>
          </a:p>
          <a:p>
            <a:pPr marL="1085850" lvl="1" indent="-457200" eaLnBrk="1" hangingPunct="1">
              <a:buFont typeface="Wingdings" panose="05000000000000000000" pitchFamily="2" charset="2"/>
              <a:buNone/>
            </a:pPr>
            <a:r>
              <a:rPr lang="zh-CN" altLang="en-US" sz="2400" b="1" dirty="0"/>
              <a:t>                 </a:t>
            </a:r>
          </a:p>
        </p:txBody>
      </p:sp>
      <p:sp>
        <p:nvSpPr>
          <p:cNvPr id="40964" name="Text Box 5"/>
          <p:cNvSpPr txBox="1">
            <a:spLocks noChangeArrowheads="1"/>
          </p:cNvSpPr>
          <p:nvPr/>
        </p:nvSpPr>
        <p:spPr bwMode="auto">
          <a:xfrm>
            <a:off x="305444" y="1556792"/>
            <a:ext cx="84963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en-US" altLang="zh-CN" sz="2600" dirty="0">
                <a:solidFill>
                  <a:srgbClr val="0000CC"/>
                </a:solidFill>
                <a:latin typeface="黑体" panose="02010609060101010101" pitchFamily="49" charset="-122"/>
                <a:ea typeface="黑体" panose="02010609060101010101" pitchFamily="49" charset="-122"/>
              </a:rPr>
              <a:t> </a:t>
            </a:r>
            <a:r>
              <a:rPr lang="en-US" altLang="zh-CN" sz="2600" dirty="0">
                <a:latin typeface="黑体" panose="02010609060101010101" pitchFamily="49" charset="-122"/>
                <a:ea typeface="黑体" panose="02010609060101010101" pitchFamily="49" charset="-122"/>
              </a:rPr>
              <a:t>1 </a:t>
            </a:r>
            <a:r>
              <a:rPr lang="zh-CN" altLang="en-US" sz="2600" dirty="0">
                <a:latin typeface="Tahoma" panose="020B0604030504040204" pitchFamily="34" charset="0"/>
                <a:ea typeface="黑体" panose="02010609060101010101" pitchFamily="49" charset="-122"/>
              </a:rPr>
              <a:t>并行性的概念 </a:t>
            </a:r>
          </a:p>
        </p:txBody>
      </p:sp>
      <p:sp>
        <p:nvSpPr>
          <p:cNvPr id="5" name="Rectangle 2"/>
          <p:cNvSpPr>
            <a:spLocks noGrp="1" noChangeArrowheads="1"/>
          </p:cNvSpPr>
          <p:nvPr>
            <p:ph type="title" idx="4294967295"/>
          </p:nvPr>
        </p:nvSpPr>
        <p:spPr>
          <a:xfrm>
            <a:off x="457200" y="274638"/>
            <a:ext cx="8229600" cy="1143000"/>
          </a:xfrm>
        </p:spPr>
        <p:txBody>
          <a:bodyPr>
            <a:normAutofit/>
          </a:bodyPr>
          <a:lstStyle/>
          <a:p>
            <a:pPr eaLnBrk="1" hangingPunct="1">
              <a:defRPr/>
            </a:pPr>
            <a:r>
              <a:rPr kumimoji="1" lang="en-US" altLang="zh-CN" sz="3600" b="1" dirty="0">
                <a:latin typeface="+mj-ea"/>
                <a:cs typeface="+mn-cs"/>
              </a:rPr>
              <a:t>1.2.6 </a:t>
            </a:r>
            <a:r>
              <a:rPr kumimoji="1" lang="zh-CN" altLang="en-US" sz="3600" b="1" dirty="0">
                <a:latin typeface="+mj-ea"/>
                <a:cs typeface="+mn-cs"/>
              </a:rPr>
              <a:t>并行处理技术的发展</a:t>
            </a:r>
          </a:p>
        </p:txBody>
      </p:sp>
      <p:sp>
        <p:nvSpPr>
          <p:cNvPr id="2" name="日期占位符 1">
            <a:extLst>
              <a:ext uri="{FF2B5EF4-FFF2-40B4-BE49-F238E27FC236}">
                <a16:creationId xmlns:a16="http://schemas.microsoft.com/office/drawing/2014/main" id="{E4223ECC-C089-805B-E549-6EF4F2F7EBF1}"/>
              </a:ext>
            </a:extLst>
          </p:cNvPr>
          <p:cNvSpPr>
            <a:spLocks noGrp="1"/>
          </p:cNvSpPr>
          <p:nvPr>
            <p:ph type="dt" sz="half" idx="10"/>
          </p:nvPr>
        </p:nvSpPr>
        <p:spPr/>
        <p:txBody>
          <a:bodyPr/>
          <a:lstStyle/>
          <a:p>
            <a:pPr>
              <a:defRPr/>
            </a:pPr>
            <a:fld id="{206074A9-847C-46C0-8FF2-BF66A5B70109}" type="datetime1">
              <a:rPr lang="zh-CN" altLang="en-US" smtClean="0"/>
              <a:t>2025/9/11</a:t>
            </a:fld>
            <a:endParaRPr lang="en-US" altLang="zh-CN"/>
          </a:p>
        </p:txBody>
      </p:sp>
      <p:sp>
        <p:nvSpPr>
          <p:cNvPr id="3" name="页脚占位符 2">
            <a:extLst>
              <a:ext uri="{FF2B5EF4-FFF2-40B4-BE49-F238E27FC236}">
                <a16:creationId xmlns:a16="http://schemas.microsoft.com/office/drawing/2014/main" id="{93B96DC3-64E9-BFB9-6B23-0FBD0F9BD0C4}"/>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E68D1F9B-D847-0F9B-EFEC-F66D70C88160}"/>
              </a:ext>
            </a:extLst>
          </p:cNvPr>
          <p:cNvSpPr>
            <a:spLocks noGrp="1"/>
          </p:cNvSpPr>
          <p:nvPr>
            <p:ph type="sldNum" sz="quarter" idx="12"/>
          </p:nvPr>
        </p:nvSpPr>
        <p:spPr/>
        <p:txBody>
          <a:bodyPr/>
          <a:lstStyle/>
          <a:p>
            <a:pPr>
              <a:defRPr/>
            </a:pPr>
            <a:fld id="{8BCAC33D-D29A-48B3-BCD6-381D3D720D26}" type="slidenum">
              <a:rPr lang="zh-CN" altLang="en-US" smtClean="0"/>
              <a:t>6</a:t>
            </a:fld>
            <a:endParaRPr lang="en-US" altLang="zh-CN"/>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11200" y="548680"/>
            <a:ext cx="8229600" cy="1143000"/>
          </a:xfrm>
        </p:spPr>
        <p:txBody>
          <a:bodyPr>
            <a:normAutofit fontScale="90000"/>
          </a:bodyPr>
          <a:lstStyle/>
          <a:p>
            <a:pPr eaLnBrk="1" hangingPunct="1"/>
            <a:r>
              <a:rPr lang="zh-CN" altLang="en-US" sz="4000" b="1" dirty="0"/>
              <a:t>第</a:t>
            </a:r>
            <a:r>
              <a:rPr lang="en-US" altLang="zh-CN" sz="4000" b="1" dirty="0"/>
              <a:t>1</a:t>
            </a:r>
            <a:r>
              <a:rPr lang="zh-CN" altLang="en-US" sz="4000" b="1" dirty="0"/>
              <a:t>章</a:t>
            </a:r>
            <a:r>
              <a:rPr lang="zh-CN" altLang="en-US" sz="4000" b="1" dirty="0">
                <a:solidFill>
                  <a:srgbClr val="3366FF"/>
                </a:solidFill>
              </a:rPr>
              <a:t>  </a:t>
            </a:r>
            <a:r>
              <a:rPr lang="zh-CN" altLang="en-US" sz="4000" b="1" dirty="0"/>
              <a:t>计算机系统量化分析基础</a:t>
            </a:r>
            <a:br>
              <a:rPr lang="zh-CN" altLang="en-US" sz="4000" dirty="0">
                <a:solidFill>
                  <a:srgbClr val="3366FF"/>
                </a:solidFill>
              </a:rPr>
            </a:br>
            <a:endParaRPr lang="zh-CN" altLang="en-US" sz="4000" b="1" dirty="0"/>
          </a:p>
        </p:txBody>
      </p:sp>
      <p:sp>
        <p:nvSpPr>
          <p:cNvPr id="7171" name="Text Box 3"/>
          <p:cNvSpPr txBox="1">
            <a:spLocks noChangeArrowheads="1"/>
          </p:cNvSpPr>
          <p:nvPr/>
        </p:nvSpPr>
        <p:spPr bwMode="auto">
          <a:xfrm>
            <a:off x="2127250" y="4800600"/>
            <a:ext cx="5397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r>
              <a:rPr lang="en-US" altLang="zh-CN" sz="3200" dirty="0">
                <a:latin typeface="Times New Roman" panose="02020603050405020304" pitchFamily="18" charset="0"/>
              </a:rPr>
              <a:t>1</a:t>
            </a:r>
            <a:r>
              <a:rPr lang="zh-CN" altLang="en-US" sz="3200" dirty="0">
                <a:latin typeface="Times New Roman" panose="02020603050405020304" pitchFamily="18" charset="0"/>
              </a:rPr>
              <a:t>.3 计算机系统设计和分析</a:t>
            </a:r>
          </a:p>
        </p:txBody>
      </p:sp>
      <p:sp>
        <p:nvSpPr>
          <p:cNvPr id="7172" name="Text Box 4"/>
          <p:cNvSpPr txBox="1">
            <a:spLocks noChangeArrowheads="1"/>
          </p:cNvSpPr>
          <p:nvPr/>
        </p:nvSpPr>
        <p:spPr bwMode="auto">
          <a:xfrm>
            <a:off x="2127250" y="3476625"/>
            <a:ext cx="5540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r>
              <a:rPr lang="en-US" altLang="zh-CN" sz="3200" u="sng" dirty="0">
                <a:latin typeface="Times New Roman" panose="02020603050405020304" pitchFamily="18" charset="0"/>
              </a:rPr>
              <a:t>1</a:t>
            </a:r>
            <a:r>
              <a:rPr lang="zh-CN" altLang="en-US" sz="3200" u="sng" dirty="0">
                <a:latin typeface="Times New Roman" panose="02020603050405020304" pitchFamily="18" charset="0"/>
              </a:rPr>
              <a:t>.2 计算机体系结构的发展</a:t>
            </a:r>
          </a:p>
        </p:txBody>
      </p:sp>
      <p:sp>
        <p:nvSpPr>
          <p:cNvPr id="7173" name="Text Box 5"/>
          <p:cNvSpPr txBox="1">
            <a:spLocks noChangeArrowheads="1"/>
          </p:cNvSpPr>
          <p:nvPr/>
        </p:nvSpPr>
        <p:spPr bwMode="auto">
          <a:xfrm>
            <a:off x="1268532" y="2276872"/>
            <a:ext cx="640799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sz="800" b="1">
                <a:solidFill>
                  <a:schemeClr val="tx1"/>
                </a:solidFill>
                <a:latin typeface="宋体" panose="02010600030101010101" pitchFamily="2" charset="-122"/>
                <a:ea typeface="宋体" panose="02010600030101010101" pitchFamily="2" charset="-122"/>
              </a:defRPr>
            </a:lvl1pPr>
            <a:lvl2pPr marL="471805" indent="250825"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lvl="1">
              <a:buFont typeface="Wingdings" panose="05000000000000000000" pitchFamily="2" charset="2"/>
              <a:buNone/>
            </a:pPr>
            <a:r>
              <a:rPr lang="en-US" altLang="zh-CN" sz="3000" b="0" dirty="0">
                <a:latin typeface="Verdana" panose="020B0604030504040204" pitchFamily="34" charset="0"/>
                <a:ea typeface="华文中宋" panose="02010600040101010101" pitchFamily="2" charset="-122"/>
              </a:rPr>
              <a:t>1.1 </a:t>
            </a:r>
            <a:r>
              <a:rPr lang="zh-CN" altLang="en-US" sz="3000" b="0" dirty="0">
                <a:latin typeface="Verdana" panose="020B0604030504040204" pitchFamily="34" charset="0"/>
                <a:ea typeface="华文中宋" panose="02010600040101010101" pitchFamily="2" charset="-122"/>
              </a:rPr>
              <a:t>计算机体系结构的概念</a:t>
            </a:r>
          </a:p>
        </p:txBody>
      </p:sp>
      <p:sp>
        <p:nvSpPr>
          <p:cNvPr id="2" name="日期占位符 1">
            <a:extLst>
              <a:ext uri="{FF2B5EF4-FFF2-40B4-BE49-F238E27FC236}">
                <a16:creationId xmlns:a16="http://schemas.microsoft.com/office/drawing/2014/main" id="{BDBEB6FB-A932-7E4B-9D67-13263AA1FE5D}"/>
              </a:ext>
            </a:extLst>
          </p:cNvPr>
          <p:cNvSpPr>
            <a:spLocks noGrp="1"/>
          </p:cNvSpPr>
          <p:nvPr>
            <p:ph type="dt" sz="half" idx="10"/>
          </p:nvPr>
        </p:nvSpPr>
        <p:spPr/>
        <p:txBody>
          <a:bodyPr/>
          <a:lstStyle/>
          <a:p>
            <a:pPr>
              <a:defRPr/>
            </a:pPr>
            <a:fld id="{398BD6B0-5777-4CFA-B588-12A5F8B24EDE}" type="datetime1">
              <a:rPr lang="zh-CN" altLang="en-US" smtClean="0"/>
              <a:t>2025/9/11</a:t>
            </a:fld>
            <a:endParaRPr lang="en-US" altLang="zh-CN"/>
          </a:p>
        </p:txBody>
      </p:sp>
      <p:sp>
        <p:nvSpPr>
          <p:cNvPr id="3" name="页脚占位符 2">
            <a:extLst>
              <a:ext uri="{FF2B5EF4-FFF2-40B4-BE49-F238E27FC236}">
                <a16:creationId xmlns:a16="http://schemas.microsoft.com/office/drawing/2014/main" id="{6931ADCC-5A4C-E75E-B6C6-17D9413BEBF8}"/>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50A8CD91-3787-5D74-0DEE-DCABEDE78D0D}"/>
              </a:ext>
            </a:extLst>
          </p:cNvPr>
          <p:cNvSpPr>
            <a:spLocks noGrp="1"/>
          </p:cNvSpPr>
          <p:nvPr>
            <p:ph type="sldNum" sz="quarter" idx="12"/>
          </p:nvPr>
        </p:nvSpPr>
        <p:spPr/>
        <p:txBody>
          <a:bodyPr/>
          <a:lstStyle/>
          <a:p>
            <a:pPr>
              <a:defRPr/>
            </a:pPr>
            <a:fld id="{8BCAC33D-D29A-48B3-BCD6-381D3D720D26}" type="slidenum">
              <a:rPr lang="zh-CN" altLang="en-US" smtClean="0"/>
              <a:t>7</a:t>
            </a:fld>
            <a:endParaRPr lang="en-US" altLang="zh-CN"/>
          </a:p>
        </p:txBody>
      </p:sp>
    </p:spTree>
    <p:extLst>
      <p:ext uri="{BB962C8B-B14F-4D97-AF65-F5344CB8AC3E}">
        <p14:creationId xmlns:p14="http://schemas.microsoft.com/office/powerpoint/2010/main" val="2671884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idx="4294967295"/>
          </p:nvPr>
        </p:nvSpPr>
        <p:spPr/>
        <p:txBody>
          <a:bodyPr>
            <a:normAutofit/>
          </a:bodyPr>
          <a:lstStyle/>
          <a:p>
            <a:pPr eaLnBrk="1" hangingPunct="1"/>
            <a:r>
              <a:rPr kumimoji="1" lang="en-US" altLang="zh-CN" sz="3600" b="1" dirty="0">
                <a:latin typeface="+mj-ea"/>
                <a:cs typeface="+mn-cs"/>
              </a:rPr>
              <a:t>1.2 </a:t>
            </a:r>
            <a:r>
              <a:rPr kumimoji="1" lang="zh-CN" altLang="en-US" sz="3600" b="1" dirty="0">
                <a:latin typeface="+mj-ea"/>
                <a:cs typeface="+mn-cs"/>
              </a:rPr>
              <a:t>计算机体系结构的发展</a:t>
            </a:r>
          </a:p>
        </p:txBody>
      </p:sp>
      <p:sp>
        <p:nvSpPr>
          <p:cNvPr id="12291" name="Rectangle 5"/>
          <p:cNvSpPr>
            <a:spLocks noGrp="1" noChangeArrowheads="1"/>
          </p:cNvSpPr>
          <p:nvPr>
            <p:ph type="body" idx="4294967295"/>
          </p:nvPr>
        </p:nvSpPr>
        <p:spPr>
          <a:xfrm>
            <a:off x="539552" y="1340768"/>
            <a:ext cx="8001000" cy="4910137"/>
          </a:xfrm>
        </p:spPr>
        <p:txBody>
          <a:bodyPr>
            <a:normAutofit/>
          </a:bodyPr>
          <a:lstStyle/>
          <a:p>
            <a:pPr marL="0" indent="0" eaLnBrk="1" hangingPunct="1">
              <a:lnSpc>
                <a:spcPct val="150000"/>
              </a:lnSpc>
              <a:buNone/>
            </a:pPr>
            <a:r>
              <a:rPr lang="en-US" altLang="zh-CN" sz="2600" b="1" dirty="0">
                <a:latin typeface="+mj-ea"/>
                <a:ea typeface="+mj-ea"/>
              </a:rPr>
              <a:t>1.2.1 </a:t>
            </a:r>
            <a:r>
              <a:rPr lang="zh-CN" altLang="en-US" sz="2600" b="1" dirty="0">
                <a:latin typeface="+mj-ea"/>
                <a:ea typeface="+mj-ea"/>
              </a:rPr>
              <a:t>计算机分代和分型</a:t>
            </a:r>
          </a:p>
          <a:p>
            <a:pPr marL="0" indent="0" eaLnBrk="1" hangingPunct="1">
              <a:lnSpc>
                <a:spcPct val="150000"/>
              </a:lnSpc>
              <a:buNone/>
            </a:pPr>
            <a:r>
              <a:rPr lang="en-US" altLang="zh-CN" sz="2600" b="1" dirty="0">
                <a:latin typeface="+mj-ea"/>
                <a:ea typeface="+mj-ea"/>
              </a:rPr>
              <a:t>1.2.2 </a:t>
            </a:r>
            <a:r>
              <a:rPr lang="zh-CN" altLang="en-US" sz="2600" b="1" dirty="0">
                <a:latin typeface="+mj-ea"/>
                <a:ea typeface="+mj-ea"/>
              </a:rPr>
              <a:t>软件的发展</a:t>
            </a:r>
          </a:p>
          <a:p>
            <a:pPr marL="0" indent="0" eaLnBrk="1" hangingPunct="1">
              <a:lnSpc>
                <a:spcPct val="150000"/>
              </a:lnSpc>
              <a:buNone/>
            </a:pPr>
            <a:r>
              <a:rPr lang="en-US" altLang="zh-CN" sz="2600" b="1" dirty="0">
                <a:latin typeface="+mj-ea"/>
                <a:ea typeface="+mj-ea"/>
              </a:rPr>
              <a:t>1.2.3 </a:t>
            </a:r>
            <a:r>
              <a:rPr lang="zh-CN" altLang="en-US" sz="2600" b="1" dirty="0">
                <a:latin typeface="+mj-ea"/>
                <a:ea typeface="+mj-ea"/>
              </a:rPr>
              <a:t>应用的发展</a:t>
            </a:r>
          </a:p>
          <a:p>
            <a:pPr marL="0" indent="0" eaLnBrk="1" hangingPunct="1">
              <a:lnSpc>
                <a:spcPct val="150000"/>
              </a:lnSpc>
              <a:buNone/>
            </a:pPr>
            <a:r>
              <a:rPr lang="en-US" altLang="zh-CN" sz="2600" b="1" dirty="0">
                <a:latin typeface="+mj-ea"/>
                <a:ea typeface="+mj-ea"/>
              </a:rPr>
              <a:t>1.2.4 </a:t>
            </a:r>
            <a:r>
              <a:rPr lang="zh-CN" altLang="en-US" sz="2600" b="1" dirty="0">
                <a:latin typeface="+mj-ea"/>
                <a:ea typeface="+mj-ea"/>
              </a:rPr>
              <a:t>相关核心技术的发展</a:t>
            </a:r>
          </a:p>
          <a:p>
            <a:pPr marL="0" indent="0" eaLnBrk="1" hangingPunct="1">
              <a:lnSpc>
                <a:spcPct val="150000"/>
              </a:lnSpc>
              <a:buNone/>
            </a:pPr>
            <a:r>
              <a:rPr lang="en-US" altLang="zh-CN" sz="2600" b="1" dirty="0">
                <a:latin typeface="+mj-ea"/>
                <a:ea typeface="+mj-ea"/>
              </a:rPr>
              <a:t>1.2.5 </a:t>
            </a:r>
            <a:r>
              <a:rPr lang="zh-CN" altLang="en-US" sz="2600" b="1" dirty="0">
                <a:latin typeface="+mj-ea"/>
                <a:ea typeface="+mj-ea"/>
              </a:rPr>
              <a:t>体系结构的发展</a:t>
            </a:r>
            <a:endParaRPr lang="en-US" altLang="zh-CN" sz="2600" b="1" dirty="0">
              <a:latin typeface="+mj-ea"/>
              <a:ea typeface="+mj-ea"/>
            </a:endParaRPr>
          </a:p>
          <a:p>
            <a:pPr marL="0" indent="0" eaLnBrk="1" hangingPunct="1">
              <a:lnSpc>
                <a:spcPct val="150000"/>
              </a:lnSpc>
              <a:buNone/>
            </a:pPr>
            <a:r>
              <a:rPr lang="en-US" altLang="zh-CN" sz="2600" b="1" dirty="0">
                <a:latin typeface="+mj-ea"/>
                <a:ea typeface="+mj-ea"/>
              </a:rPr>
              <a:t>1.2.6 </a:t>
            </a:r>
            <a:r>
              <a:rPr lang="zh-CN" altLang="en-US" sz="2600" b="1" dirty="0">
                <a:latin typeface="+mj-ea"/>
                <a:ea typeface="+mj-ea"/>
              </a:rPr>
              <a:t>并行处理技术的发展</a:t>
            </a:r>
            <a:endParaRPr lang="en-US" altLang="zh-CN" sz="2600" b="1" dirty="0">
              <a:latin typeface="+mj-ea"/>
              <a:ea typeface="+mj-ea"/>
            </a:endParaRPr>
          </a:p>
          <a:p>
            <a:pPr marL="0" indent="0" eaLnBrk="1" hangingPunct="1">
              <a:lnSpc>
                <a:spcPct val="150000"/>
              </a:lnSpc>
              <a:buNone/>
            </a:pPr>
            <a:r>
              <a:rPr lang="en-US" altLang="zh-CN" sz="2600" b="1" dirty="0">
                <a:latin typeface="+mj-ea"/>
                <a:ea typeface="+mj-ea"/>
              </a:rPr>
              <a:t>1.2.7 </a:t>
            </a:r>
            <a:r>
              <a:rPr lang="zh-CN" altLang="en-US" sz="2600" b="1" dirty="0">
                <a:latin typeface="+mj-ea"/>
                <a:ea typeface="+mj-ea"/>
              </a:rPr>
              <a:t>处理器芯片技术的发展</a:t>
            </a:r>
          </a:p>
        </p:txBody>
      </p:sp>
      <p:sp>
        <p:nvSpPr>
          <p:cNvPr id="2" name="日期占位符 1">
            <a:extLst>
              <a:ext uri="{FF2B5EF4-FFF2-40B4-BE49-F238E27FC236}">
                <a16:creationId xmlns:a16="http://schemas.microsoft.com/office/drawing/2014/main" id="{78438D95-02CE-7D85-58CB-3CEDA6DC92F2}"/>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0D5A9821-4154-BC5B-1527-988F124D84BF}"/>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A807022C-786C-DA5B-AC33-01CB175F872F}"/>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8</a:t>
            </a:fld>
            <a:endParaRPr lang="en-US" altLang="zh-CN"/>
          </a:p>
        </p:txBody>
      </p:sp>
    </p:spTree>
    <p:extLst>
      <p:ext uri="{BB962C8B-B14F-4D97-AF65-F5344CB8AC3E}">
        <p14:creationId xmlns:p14="http://schemas.microsoft.com/office/powerpoint/2010/main" val="1524687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descr="Rectangle: Click to edit Master text styles&#10;Second level&#10;Third level&#10;Fourth level&#10;Fifth level"/>
          <p:cNvSpPr>
            <a:spLocks noGrp="1" noChangeArrowheads="1"/>
          </p:cNvSpPr>
          <p:nvPr>
            <p:ph type="body" idx="1"/>
          </p:nvPr>
        </p:nvSpPr>
        <p:spPr>
          <a:xfrm>
            <a:off x="892011" y="1687955"/>
            <a:ext cx="7772400" cy="4327525"/>
          </a:xfrm>
        </p:spPr>
        <p:txBody>
          <a:bodyPr/>
          <a:lstStyle/>
          <a:p>
            <a:pPr marL="457200" indent="-457200" eaLnBrk="1" hangingPunct="1">
              <a:buFont typeface="Wingdings" panose="05000000000000000000" pitchFamily="2" charset="2"/>
              <a:buNone/>
            </a:pPr>
            <a:r>
              <a:rPr lang="zh-CN" altLang="en-US" sz="2800" dirty="0">
                <a:hlinkClick r:id="rId2" action="ppaction://program"/>
              </a:rPr>
              <a:t>三种途径：</a:t>
            </a:r>
            <a:endParaRPr lang="zh-CN" altLang="en-US" sz="2800" dirty="0"/>
          </a:p>
          <a:p>
            <a:pPr marL="0" indent="0" eaLnBrk="1" hangingPunct="1">
              <a:buNone/>
            </a:pPr>
            <a:r>
              <a:rPr lang="zh-CN" altLang="en-US" sz="2400" dirty="0">
                <a:solidFill>
                  <a:srgbClr val="FF0000"/>
                </a:solidFill>
              </a:rPr>
              <a:t>（</a:t>
            </a:r>
            <a:r>
              <a:rPr lang="en-US" altLang="zh-CN" sz="2400" dirty="0">
                <a:solidFill>
                  <a:srgbClr val="FF0000"/>
                </a:solidFill>
              </a:rPr>
              <a:t>1</a:t>
            </a:r>
            <a:r>
              <a:rPr lang="zh-CN" altLang="en-US" sz="2400" dirty="0">
                <a:solidFill>
                  <a:srgbClr val="FF0000"/>
                </a:solidFill>
              </a:rPr>
              <a:t>）时间重叠</a:t>
            </a:r>
          </a:p>
          <a:p>
            <a:pPr marL="367030" lvl="1" indent="0" eaLnBrk="1" hangingPunct="1">
              <a:buFont typeface="Wingdings" panose="05000000000000000000" pitchFamily="2" charset="2"/>
              <a:buNone/>
            </a:pPr>
            <a:r>
              <a:rPr lang="zh-CN" altLang="en-US" sz="2400" dirty="0"/>
              <a:t>      引入时间因素，让多个处理过程在时间上相互错开，轮流重叠地使用同一套硬件设备的各个部分，以加快硬件周转而赢得速度。</a:t>
            </a:r>
          </a:p>
          <a:p>
            <a:pPr marL="0" indent="0" eaLnBrk="1" hangingPunct="1">
              <a:buNone/>
            </a:pPr>
            <a:r>
              <a:rPr lang="zh-CN" altLang="en-US" sz="2400" dirty="0">
                <a:solidFill>
                  <a:srgbClr val="FF0000"/>
                </a:solidFill>
              </a:rPr>
              <a:t>（</a:t>
            </a:r>
            <a:r>
              <a:rPr lang="en-US" altLang="zh-CN" sz="2400" dirty="0">
                <a:solidFill>
                  <a:srgbClr val="FF0000"/>
                </a:solidFill>
              </a:rPr>
              <a:t>2</a:t>
            </a:r>
            <a:r>
              <a:rPr lang="zh-CN" altLang="en-US" sz="2400" dirty="0">
                <a:solidFill>
                  <a:srgbClr val="FF0000"/>
                </a:solidFill>
              </a:rPr>
              <a:t>）资源重复</a:t>
            </a:r>
          </a:p>
          <a:p>
            <a:pPr marL="367030" lvl="1" indent="0" eaLnBrk="1" hangingPunct="1">
              <a:buFont typeface="Wingdings" panose="05000000000000000000" pitchFamily="2" charset="2"/>
              <a:buNone/>
            </a:pPr>
            <a:r>
              <a:rPr lang="zh-CN" altLang="en-US" sz="2400" dirty="0"/>
              <a:t>      引入空间因素，以数量取胜。通过重复设置硬件资源，大幅度地提高计算机系统的性能。</a:t>
            </a:r>
          </a:p>
        </p:txBody>
      </p:sp>
      <p:sp>
        <p:nvSpPr>
          <p:cNvPr id="44035" name="Text Box 4"/>
          <p:cNvSpPr txBox="1">
            <a:spLocks noChangeArrowheads="1"/>
          </p:cNvSpPr>
          <p:nvPr/>
        </p:nvSpPr>
        <p:spPr bwMode="auto">
          <a:xfrm>
            <a:off x="396180" y="1124744"/>
            <a:ext cx="84963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en-US" altLang="zh-CN" sz="2600" dirty="0">
                <a:latin typeface="黑体" panose="02010609060101010101" pitchFamily="49" charset="-122"/>
                <a:ea typeface="黑体" panose="02010609060101010101" pitchFamily="49" charset="-122"/>
              </a:rPr>
              <a:t>2 </a:t>
            </a:r>
            <a:r>
              <a:rPr lang="zh-CN" altLang="en-US" sz="2600" dirty="0">
                <a:latin typeface="黑体" panose="02010609060101010101" pitchFamily="49" charset="-122"/>
                <a:ea typeface="黑体" panose="02010609060101010101" pitchFamily="49" charset="-122"/>
              </a:rPr>
              <a:t>提高</a:t>
            </a:r>
            <a:r>
              <a:rPr lang="zh-CN" altLang="en-US" sz="2600" dirty="0">
                <a:latin typeface="Tahoma" panose="020B0604030504040204" pitchFamily="34" charset="0"/>
                <a:ea typeface="黑体" panose="02010609060101010101" pitchFamily="49" charset="-122"/>
              </a:rPr>
              <a:t>并行性的技术途径 </a:t>
            </a:r>
          </a:p>
        </p:txBody>
      </p:sp>
      <p:sp>
        <p:nvSpPr>
          <p:cNvPr id="44036" name="Rectangle 3" descr="Rectangle: Click to edit Master text styles&#10;Second level&#10;Third level&#10;Fourth level&#10;Fifth level"/>
          <p:cNvSpPr txBox="1">
            <a:spLocks noChangeArrowheads="1"/>
          </p:cNvSpPr>
          <p:nvPr/>
        </p:nvSpPr>
        <p:spPr bwMode="auto">
          <a:xfrm>
            <a:off x="925290" y="5085184"/>
            <a:ext cx="7772400"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kumimoji="1" sz="800" b="1">
                <a:solidFill>
                  <a:schemeClr val="tx1"/>
                </a:solidFill>
                <a:latin typeface="宋体" panose="02010600030101010101" pitchFamily="2" charset="-122"/>
                <a:ea typeface="宋体" panose="02010600030101010101" pitchFamily="2" charset="-122"/>
              </a:defRPr>
            </a:lvl1pPr>
            <a:lvl2pPr marL="1085850" indent="-45720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marL="0" indent="0" eaLnBrk="1" hangingPunct="1">
              <a:lnSpc>
                <a:spcPct val="120000"/>
              </a:lnSpc>
              <a:spcBef>
                <a:spcPct val="20000"/>
              </a:spcBef>
              <a:buClr>
                <a:schemeClr val="tx1"/>
              </a:buClr>
            </a:pPr>
            <a:r>
              <a:rPr lang="zh-CN" altLang="en-US" sz="2400" b="0" dirty="0">
                <a:solidFill>
                  <a:srgbClr val="FF0000"/>
                </a:solidFill>
                <a:latin typeface="+mn-lt"/>
                <a:ea typeface="+mn-ea"/>
              </a:rPr>
              <a:t>（</a:t>
            </a:r>
            <a:r>
              <a:rPr lang="en-US" altLang="zh-CN" sz="2400" b="0" dirty="0">
                <a:solidFill>
                  <a:srgbClr val="FF0000"/>
                </a:solidFill>
                <a:latin typeface="+mn-lt"/>
                <a:ea typeface="+mn-ea"/>
              </a:rPr>
              <a:t>3</a:t>
            </a:r>
            <a:r>
              <a:rPr lang="zh-CN" altLang="en-US" sz="2400" b="0" dirty="0">
                <a:solidFill>
                  <a:srgbClr val="FF0000"/>
                </a:solidFill>
                <a:latin typeface="+mn-lt"/>
                <a:ea typeface="+mn-ea"/>
              </a:rPr>
              <a:t>）资源共享</a:t>
            </a:r>
          </a:p>
          <a:p>
            <a:pPr marL="367030" lvl="1" indent="0" eaLnBrk="1" hangingPunct="1">
              <a:spcBef>
                <a:spcPct val="20000"/>
              </a:spcBef>
              <a:buClr>
                <a:schemeClr val="tx1"/>
              </a:buClr>
              <a:buSzPct val="90000"/>
              <a:buFont typeface="Wingdings" panose="05000000000000000000" pitchFamily="2" charset="2"/>
              <a:buNone/>
            </a:pPr>
            <a:r>
              <a:rPr lang="zh-CN" altLang="en-US" sz="2400" b="0" dirty="0">
                <a:latin typeface="Tahoma" panose="020B0604030504040204" pitchFamily="34" charset="0"/>
                <a:ea typeface="黑体" panose="02010609060101010101" pitchFamily="49" charset="-122"/>
              </a:rPr>
              <a:t>    </a:t>
            </a:r>
            <a:r>
              <a:rPr lang="zh-CN" altLang="en-US" sz="2400" b="0" dirty="0">
                <a:latin typeface="+mn-lt"/>
                <a:ea typeface="+mn-ea"/>
              </a:rPr>
              <a:t>这是一种软件方法，它使多个任务按一定时间顺序轮流使用 同一套硬件设备。 </a:t>
            </a:r>
          </a:p>
        </p:txBody>
      </p:sp>
      <p:sp>
        <p:nvSpPr>
          <p:cNvPr id="5" name="Rectangle 2"/>
          <p:cNvSpPr>
            <a:spLocks noGrp="1" noChangeArrowheads="1"/>
          </p:cNvSpPr>
          <p:nvPr>
            <p:ph type="title" idx="4294967295"/>
          </p:nvPr>
        </p:nvSpPr>
        <p:spPr>
          <a:xfrm>
            <a:off x="395536" y="53752"/>
            <a:ext cx="8229600" cy="1143000"/>
          </a:xfrm>
        </p:spPr>
        <p:txBody>
          <a:bodyPr/>
          <a:lstStyle/>
          <a:p>
            <a:pPr eaLnBrk="1" hangingPunct="1">
              <a:defRPr/>
            </a:pPr>
            <a:r>
              <a:rPr kumimoji="1" lang="en-US" altLang="zh-CN" sz="3600" b="1" dirty="0">
                <a:latin typeface="+mj-ea"/>
                <a:cs typeface="+mn-cs"/>
              </a:rPr>
              <a:t>1.2.6 </a:t>
            </a:r>
            <a:r>
              <a:rPr kumimoji="1" lang="zh-CN" altLang="en-US" sz="3600" b="1" dirty="0">
                <a:latin typeface="+mj-ea"/>
                <a:cs typeface="+mn-cs"/>
              </a:rPr>
              <a:t>并行处理技术的发展</a:t>
            </a:r>
          </a:p>
        </p:txBody>
      </p:sp>
      <p:sp>
        <p:nvSpPr>
          <p:cNvPr id="2" name="日期占位符 1">
            <a:extLst>
              <a:ext uri="{FF2B5EF4-FFF2-40B4-BE49-F238E27FC236}">
                <a16:creationId xmlns:a16="http://schemas.microsoft.com/office/drawing/2014/main" id="{6487C01A-C4DC-6BD0-9CC1-07B9E3A0B343}"/>
              </a:ext>
            </a:extLst>
          </p:cNvPr>
          <p:cNvSpPr>
            <a:spLocks noGrp="1"/>
          </p:cNvSpPr>
          <p:nvPr>
            <p:ph type="dt" sz="half" idx="10"/>
          </p:nvPr>
        </p:nvSpPr>
        <p:spPr/>
        <p:txBody>
          <a:bodyPr/>
          <a:lstStyle/>
          <a:p>
            <a:pPr>
              <a:defRPr/>
            </a:pPr>
            <a:fld id="{128637D8-795D-472E-9A1A-9C6899F2CB47}" type="datetime1">
              <a:rPr lang="zh-CN" altLang="en-US" smtClean="0"/>
              <a:t>2025/9/11</a:t>
            </a:fld>
            <a:endParaRPr lang="en-US" altLang="zh-CN"/>
          </a:p>
        </p:txBody>
      </p:sp>
      <p:sp>
        <p:nvSpPr>
          <p:cNvPr id="3" name="页脚占位符 2">
            <a:extLst>
              <a:ext uri="{FF2B5EF4-FFF2-40B4-BE49-F238E27FC236}">
                <a16:creationId xmlns:a16="http://schemas.microsoft.com/office/drawing/2014/main" id="{687A5340-1030-7282-8E62-4A9F1E05F1F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BBC1C205-A313-ABB2-288D-D566E978693D}"/>
              </a:ext>
            </a:extLst>
          </p:cNvPr>
          <p:cNvSpPr>
            <a:spLocks noGrp="1"/>
          </p:cNvSpPr>
          <p:nvPr>
            <p:ph type="sldNum" sz="quarter" idx="12"/>
          </p:nvPr>
        </p:nvSpPr>
        <p:spPr/>
        <p:txBody>
          <a:bodyPr/>
          <a:lstStyle/>
          <a:p>
            <a:pPr>
              <a:defRPr/>
            </a:pPr>
            <a:fld id="{8BCAC33D-D29A-48B3-BCD6-381D3D720D26}" type="slidenum">
              <a:rPr lang="zh-CN" altLang="en-US" smtClean="0"/>
              <a:t>9</a:t>
            </a:fld>
            <a:endParaRPr lang="en-US" altLang="zh-CN"/>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descr="Rectangle: Click to edit Master text styles&#10;Second level&#10;Third level&#10;Fourth level&#10;Fifth level"/>
          <p:cNvSpPr>
            <a:spLocks noGrp="1" noChangeArrowheads="1"/>
          </p:cNvSpPr>
          <p:nvPr>
            <p:ph type="body" idx="1"/>
          </p:nvPr>
        </p:nvSpPr>
        <p:spPr>
          <a:xfrm>
            <a:off x="685800" y="1844675"/>
            <a:ext cx="7772400" cy="4327525"/>
          </a:xfrm>
        </p:spPr>
        <p:txBody>
          <a:bodyPr>
            <a:normAutofit/>
          </a:bodyPr>
          <a:lstStyle/>
          <a:p>
            <a:pPr marL="0" indent="0" eaLnBrk="1" hangingPunct="1">
              <a:buNone/>
            </a:pPr>
            <a:r>
              <a:rPr lang="zh-CN" altLang="en-US" sz="2400" b="1" dirty="0"/>
              <a:t>（</a:t>
            </a:r>
            <a:r>
              <a:rPr lang="en-US" altLang="zh-CN" sz="2400" b="1" dirty="0"/>
              <a:t>1</a:t>
            </a:r>
            <a:r>
              <a:rPr lang="zh-CN" altLang="en-US" sz="2400" b="1" dirty="0"/>
              <a:t>）在发展高性能单处理机过程中，起主导作用的是</a:t>
            </a:r>
            <a:r>
              <a:rPr lang="zh-CN" altLang="en-US" sz="2400" b="1" dirty="0">
                <a:solidFill>
                  <a:srgbClr val="C00000"/>
                </a:solidFill>
              </a:rPr>
              <a:t>时间重叠</a:t>
            </a:r>
            <a:r>
              <a:rPr lang="zh-CN" altLang="en-US" sz="2400" b="1" dirty="0"/>
              <a:t>原理。</a:t>
            </a:r>
            <a:endParaRPr lang="en-US" altLang="zh-CN" sz="2400" b="1" dirty="0"/>
          </a:p>
          <a:p>
            <a:pPr marL="0" indent="0" eaLnBrk="1" hangingPunct="1">
              <a:buNone/>
            </a:pPr>
            <a:r>
              <a:rPr lang="zh-CN" altLang="en-US" sz="2400" b="1" dirty="0"/>
              <a:t>       实现时间重叠的基础：</a:t>
            </a:r>
            <a:r>
              <a:rPr lang="zh-CN" altLang="en-US" sz="2400" b="1" dirty="0">
                <a:solidFill>
                  <a:srgbClr val="C00000"/>
                </a:solidFill>
              </a:rPr>
              <a:t>部件功能专用化</a:t>
            </a:r>
          </a:p>
          <a:p>
            <a:pPr marL="424815" lvl="2" eaLnBrk="1" hangingPunct="1">
              <a:buFont typeface="Wingdings" panose="05000000000000000000" pitchFamily="2" charset="2"/>
              <a:buChar char="ü"/>
            </a:pPr>
            <a:r>
              <a:rPr lang="zh-CN" altLang="en-US" b="1" dirty="0"/>
              <a:t> 把一件工作按功能分割为若干相互联系的部分；</a:t>
            </a:r>
          </a:p>
          <a:p>
            <a:pPr marL="424815" lvl="2" eaLnBrk="1" hangingPunct="1">
              <a:buFont typeface="Wingdings" panose="05000000000000000000" pitchFamily="2" charset="2"/>
              <a:buChar char="ü"/>
            </a:pPr>
            <a:r>
              <a:rPr lang="zh-CN" altLang="en-US" b="1" dirty="0"/>
              <a:t> 把每一部分指定给专门的部件完成；</a:t>
            </a:r>
          </a:p>
          <a:p>
            <a:pPr marL="424815" lvl="2" eaLnBrk="1" hangingPunct="1">
              <a:buFont typeface="Wingdings" panose="05000000000000000000" pitchFamily="2" charset="2"/>
              <a:buChar char="ü"/>
            </a:pPr>
            <a:r>
              <a:rPr lang="zh-CN" altLang="en-US" b="1" dirty="0"/>
              <a:t> 然后按时间重叠原理把各部分的执行过程在时间上重叠起来，使所有部件依次分工完成一组同样的工作。</a:t>
            </a:r>
          </a:p>
        </p:txBody>
      </p:sp>
      <p:sp>
        <p:nvSpPr>
          <p:cNvPr id="45059" name="Text Box 4"/>
          <p:cNvSpPr txBox="1">
            <a:spLocks noChangeArrowheads="1"/>
          </p:cNvSpPr>
          <p:nvPr/>
        </p:nvSpPr>
        <p:spPr bwMode="auto">
          <a:xfrm>
            <a:off x="395288" y="1196975"/>
            <a:ext cx="84963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600" dirty="0">
                <a:solidFill>
                  <a:srgbClr val="0000CC"/>
                </a:solidFill>
                <a:latin typeface="黑体" panose="02010609060101010101" pitchFamily="49" charset="-122"/>
                <a:ea typeface="黑体" panose="02010609060101010101" pitchFamily="49" charset="-122"/>
              </a:rPr>
              <a:t>单机系统中</a:t>
            </a:r>
            <a:r>
              <a:rPr lang="zh-CN" altLang="en-US" sz="2600" dirty="0">
                <a:solidFill>
                  <a:srgbClr val="0000CC"/>
                </a:solidFill>
                <a:latin typeface="Tahoma" panose="020B0604030504040204" pitchFamily="34" charset="0"/>
                <a:ea typeface="黑体" panose="02010609060101010101" pitchFamily="49" charset="-122"/>
              </a:rPr>
              <a:t>并行性的发展 </a:t>
            </a:r>
          </a:p>
        </p:txBody>
      </p:sp>
      <p:sp>
        <p:nvSpPr>
          <p:cNvPr id="4" name="Rectangle 2"/>
          <p:cNvSpPr>
            <a:spLocks noGrp="1" noChangeArrowheads="1"/>
          </p:cNvSpPr>
          <p:nvPr>
            <p:ph type="title" idx="4294967295"/>
          </p:nvPr>
        </p:nvSpPr>
        <p:spPr>
          <a:xfrm>
            <a:off x="395536" y="53752"/>
            <a:ext cx="8229600" cy="1143000"/>
          </a:xfrm>
        </p:spPr>
        <p:txBody>
          <a:bodyPr/>
          <a:lstStyle/>
          <a:p>
            <a:pPr eaLnBrk="1" hangingPunct="1">
              <a:defRPr/>
            </a:pPr>
            <a:r>
              <a:rPr kumimoji="1" lang="en-US" altLang="zh-CN" sz="3600" b="1" dirty="0">
                <a:latin typeface="+mj-ea"/>
                <a:cs typeface="+mn-cs"/>
              </a:rPr>
              <a:t>1.2.6 </a:t>
            </a:r>
            <a:r>
              <a:rPr kumimoji="1" lang="zh-CN" altLang="en-US" sz="3600" b="1" dirty="0">
                <a:latin typeface="+mj-ea"/>
                <a:cs typeface="+mn-cs"/>
              </a:rPr>
              <a:t>并行处理技术的发展</a:t>
            </a:r>
          </a:p>
        </p:txBody>
      </p:sp>
      <p:sp>
        <p:nvSpPr>
          <p:cNvPr id="2" name="日期占位符 1">
            <a:extLst>
              <a:ext uri="{FF2B5EF4-FFF2-40B4-BE49-F238E27FC236}">
                <a16:creationId xmlns:a16="http://schemas.microsoft.com/office/drawing/2014/main" id="{D8B808AC-EF20-148B-275F-D501A51BCE14}"/>
              </a:ext>
            </a:extLst>
          </p:cNvPr>
          <p:cNvSpPr>
            <a:spLocks noGrp="1"/>
          </p:cNvSpPr>
          <p:nvPr>
            <p:ph type="dt" sz="half" idx="10"/>
          </p:nvPr>
        </p:nvSpPr>
        <p:spPr/>
        <p:txBody>
          <a:bodyPr/>
          <a:lstStyle/>
          <a:p>
            <a:pPr>
              <a:defRPr/>
            </a:pPr>
            <a:fld id="{A4FF2205-41C6-40F8-B72A-96345EB353E5}" type="datetime1">
              <a:rPr lang="zh-CN" altLang="en-US" smtClean="0"/>
              <a:t>2025/9/11</a:t>
            </a:fld>
            <a:endParaRPr lang="en-US" altLang="zh-CN"/>
          </a:p>
        </p:txBody>
      </p:sp>
      <p:sp>
        <p:nvSpPr>
          <p:cNvPr id="3" name="页脚占位符 2">
            <a:extLst>
              <a:ext uri="{FF2B5EF4-FFF2-40B4-BE49-F238E27FC236}">
                <a16:creationId xmlns:a16="http://schemas.microsoft.com/office/drawing/2014/main" id="{194E8C82-FA3B-090A-E9B2-91DBCF0D68E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0CAB700C-F4F1-DCD3-48B1-EEE5C0218A42}"/>
              </a:ext>
            </a:extLst>
          </p:cNvPr>
          <p:cNvSpPr>
            <a:spLocks noGrp="1"/>
          </p:cNvSpPr>
          <p:nvPr>
            <p:ph type="sldNum" sz="quarter" idx="12"/>
          </p:nvPr>
        </p:nvSpPr>
        <p:spPr/>
        <p:txBody>
          <a:bodyPr/>
          <a:lstStyle/>
          <a:p>
            <a:pPr>
              <a:defRPr/>
            </a:pPr>
            <a:fld id="{8BCAC33D-D29A-48B3-BCD6-381D3D720D26}" type="slidenum">
              <a:rPr lang="zh-CN" altLang="en-US" smtClean="0"/>
              <a:t>10</a:t>
            </a:fld>
            <a:endParaRPr lang="en-US" altLang="zh-CN"/>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descr="Rectangle: Click to edit Master text styles&#10;Second level&#10;Third level&#10;Fourth level&#10;Fifth level"/>
          <p:cNvSpPr>
            <a:spLocks noGrp="1" noChangeArrowheads="1"/>
          </p:cNvSpPr>
          <p:nvPr>
            <p:ph type="body" idx="1"/>
          </p:nvPr>
        </p:nvSpPr>
        <p:spPr>
          <a:xfrm>
            <a:off x="493712" y="819383"/>
            <a:ext cx="8398768" cy="4537050"/>
          </a:xfrm>
        </p:spPr>
        <p:txBody>
          <a:bodyPr/>
          <a:lstStyle/>
          <a:p>
            <a:pPr marL="0" indent="0" eaLnBrk="1" hangingPunct="1">
              <a:buNone/>
            </a:pPr>
            <a:r>
              <a:rPr lang="zh-CN" altLang="en-US" sz="2400" b="1" dirty="0"/>
              <a:t>（</a:t>
            </a:r>
            <a:r>
              <a:rPr lang="en-US" altLang="zh-CN" sz="2400" b="1" dirty="0"/>
              <a:t>2</a:t>
            </a:r>
            <a:r>
              <a:rPr lang="zh-CN" altLang="en-US" sz="2400" b="1" dirty="0"/>
              <a:t>）在单处理机中，</a:t>
            </a:r>
            <a:r>
              <a:rPr lang="zh-CN" altLang="en-US" sz="2400" b="1" dirty="0">
                <a:solidFill>
                  <a:srgbClr val="C00000"/>
                </a:solidFill>
              </a:rPr>
              <a:t>资源重复</a:t>
            </a:r>
            <a:r>
              <a:rPr lang="zh-CN" altLang="en-US" sz="2400" b="1" dirty="0"/>
              <a:t>原理的运用也已经十分普遍。</a:t>
            </a:r>
          </a:p>
          <a:p>
            <a:pPr marL="1085850" lvl="1" indent="-457200" eaLnBrk="1" hangingPunct="1"/>
            <a:r>
              <a:rPr lang="zh-CN" altLang="en-US" sz="2000" b="1" dirty="0"/>
              <a:t>多体存储器</a:t>
            </a:r>
          </a:p>
          <a:p>
            <a:pPr marL="1085850" lvl="1" indent="-457200" eaLnBrk="1" hangingPunct="1"/>
            <a:r>
              <a:rPr lang="zh-CN" altLang="en-US" sz="2000" b="1" dirty="0"/>
              <a:t>多操作部件</a:t>
            </a:r>
          </a:p>
          <a:p>
            <a:pPr lvl="2" eaLnBrk="1" hangingPunct="1"/>
            <a:r>
              <a:rPr lang="zh-CN" altLang="en-US" sz="2000" b="1" dirty="0"/>
              <a:t>通用部件被分解成若干个专用部件，如加法部件、乘</a:t>
            </a:r>
          </a:p>
          <a:p>
            <a:pPr lvl="2" eaLnBrk="1" hangingPunct="1">
              <a:buFont typeface="Wingdings" panose="05000000000000000000" pitchFamily="2" charset="2"/>
              <a:buNone/>
            </a:pPr>
            <a:r>
              <a:rPr lang="zh-CN" altLang="en-US" sz="2000" b="1" dirty="0"/>
              <a:t>      法部件、除法部件、逻辑运算部件等，而且同一种部</a:t>
            </a:r>
          </a:p>
          <a:p>
            <a:pPr lvl="2" eaLnBrk="1" hangingPunct="1">
              <a:buFont typeface="Wingdings" panose="05000000000000000000" pitchFamily="2" charset="2"/>
              <a:buNone/>
            </a:pPr>
            <a:r>
              <a:rPr lang="zh-CN" altLang="en-US" sz="2000" b="1" dirty="0"/>
              <a:t>      件也可以重复设置多个。</a:t>
            </a:r>
          </a:p>
          <a:p>
            <a:pPr lvl="2" eaLnBrk="1" hangingPunct="1"/>
            <a:r>
              <a:rPr lang="zh-CN" altLang="en-US" sz="2000" b="1" dirty="0"/>
              <a:t>只要指令所需的操作部件空闲，就可以开始执行这条</a:t>
            </a:r>
          </a:p>
          <a:p>
            <a:pPr lvl="2" eaLnBrk="1" hangingPunct="1">
              <a:buFont typeface="Wingdings" panose="05000000000000000000" pitchFamily="2" charset="2"/>
              <a:buNone/>
            </a:pPr>
            <a:r>
              <a:rPr lang="zh-CN" altLang="en-US" sz="2000" b="1" dirty="0"/>
              <a:t>      指令（如果操作数已准备好的话）。</a:t>
            </a:r>
          </a:p>
          <a:p>
            <a:pPr marL="1085850" lvl="1" indent="-457200" eaLnBrk="1" hangingPunct="1"/>
            <a:r>
              <a:rPr lang="zh-CN" altLang="en-US" sz="2000" b="1" dirty="0"/>
              <a:t>阵列处理机（并行处理机）</a:t>
            </a:r>
          </a:p>
          <a:p>
            <a:pPr lvl="2" eaLnBrk="1" hangingPunct="1">
              <a:buFont typeface="Wingdings" panose="05000000000000000000" pitchFamily="2" charset="2"/>
              <a:buNone/>
            </a:pPr>
            <a:r>
              <a:rPr lang="zh-CN" altLang="en-US" sz="2000" b="1" dirty="0"/>
              <a:t>       更进一步，设置许多相同的处理单元，让它们在同一个控制器的指挥下，按照同一条指令的要求，对向量或数组的各元素同时进行同一操作，就形成了阵列处理机 。</a:t>
            </a:r>
          </a:p>
          <a:p>
            <a:pPr lvl="2" eaLnBrk="1" hangingPunct="1">
              <a:buFont typeface="Wingdings" panose="05000000000000000000" pitchFamily="2" charset="2"/>
              <a:buNone/>
            </a:pPr>
            <a:endParaRPr lang="zh-CN" altLang="en-US" b="1" dirty="0"/>
          </a:p>
        </p:txBody>
      </p:sp>
      <p:sp>
        <p:nvSpPr>
          <p:cNvPr id="4" name="Rectangle 3" descr="Rectangle: Click to edit Master text styles&#10;Second level&#10;Third level&#10;Fourth level&#10;Fifth level"/>
          <p:cNvSpPr txBox="1">
            <a:spLocks noChangeArrowheads="1"/>
          </p:cNvSpPr>
          <p:nvPr/>
        </p:nvSpPr>
        <p:spPr bwMode="auto">
          <a:xfrm>
            <a:off x="349250" y="5362891"/>
            <a:ext cx="8183190"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marL="0" indent="0" eaLnBrk="1" hangingPunct="1">
              <a:spcBef>
                <a:spcPts val="0"/>
              </a:spcBef>
              <a:buClr>
                <a:schemeClr val="tx1"/>
              </a:buClr>
            </a:pPr>
            <a:r>
              <a:rPr lang="zh-CN" altLang="en-US" sz="2400" dirty="0">
                <a:latin typeface="+mn-lt"/>
                <a:ea typeface="+mn-ea"/>
              </a:rPr>
              <a:t>（</a:t>
            </a:r>
            <a:r>
              <a:rPr lang="en-US" altLang="zh-CN" sz="2400" dirty="0">
                <a:latin typeface="+mn-lt"/>
                <a:ea typeface="+mn-ea"/>
              </a:rPr>
              <a:t>3</a:t>
            </a:r>
            <a:r>
              <a:rPr lang="zh-CN" altLang="en-US" sz="2400" dirty="0">
                <a:latin typeface="+mn-lt"/>
                <a:ea typeface="+mn-ea"/>
              </a:rPr>
              <a:t>）在单处理机中，</a:t>
            </a:r>
            <a:r>
              <a:rPr lang="zh-CN" altLang="en-US" sz="2400" dirty="0">
                <a:solidFill>
                  <a:srgbClr val="FF0066"/>
                </a:solidFill>
                <a:latin typeface="+mn-lt"/>
                <a:ea typeface="+mn-ea"/>
              </a:rPr>
              <a:t>资源共享</a:t>
            </a:r>
            <a:r>
              <a:rPr lang="zh-CN" altLang="en-US" sz="2400" dirty="0">
                <a:latin typeface="+mn-lt"/>
                <a:ea typeface="+mn-ea"/>
              </a:rPr>
              <a:t>的概念实质上是用单处理机模拟多处理机的功能。</a:t>
            </a:r>
          </a:p>
        </p:txBody>
      </p:sp>
      <p:sp>
        <p:nvSpPr>
          <p:cNvPr id="5" name="Text Box 4">
            <a:extLst>
              <a:ext uri="{FF2B5EF4-FFF2-40B4-BE49-F238E27FC236}">
                <a16:creationId xmlns:a16="http://schemas.microsoft.com/office/drawing/2014/main" id="{8114BA13-5AA4-4B5B-9120-695906725680}"/>
              </a:ext>
            </a:extLst>
          </p:cNvPr>
          <p:cNvSpPr txBox="1">
            <a:spLocks noChangeArrowheads="1"/>
          </p:cNvSpPr>
          <p:nvPr/>
        </p:nvSpPr>
        <p:spPr bwMode="auto">
          <a:xfrm>
            <a:off x="193765" y="260648"/>
            <a:ext cx="84963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600" dirty="0">
                <a:solidFill>
                  <a:srgbClr val="0000CC"/>
                </a:solidFill>
                <a:latin typeface="黑体" panose="02010609060101010101" pitchFamily="49" charset="-122"/>
                <a:ea typeface="黑体" panose="02010609060101010101" pitchFamily="49" charset="-122"/>
              </a:rPr>
              <a:t>单机系统中</a:t>
            </a:r>
            <a:r>
              <a:rPr lang="zh-CN" altLang="en-US" sz="2600" dirty="0">
                <a:solidFill>
                  <a:srgbClr val="0000CC"/>
                </a:solidFill>
                <a:latin typeface="Tahoma" panose="020B0604030504040204" pitchFamily="34" charset="0"/>
                <a:ea typeface="黑体" panose="02010609060101010101" pitchFamily="49" charset="-122"/>
              </a:rPr>
              <a:t>并行性的发展 </a:t>
            </a:r>
          </a:p>
        </p:txBody>
      </p:sp>
      <p:sp>
        <p:nvSpPr>
          <p:cNvPr id="2" name="日期占位符 1">
            <a:extLst>
              <a:ext uri="{FF2B5EF4-FFF2-40B4-BE49-F238E27FC236}">
                <a16:creationId xmlns:a16="http://schemas.microsoft.com/office/drawing/2014/main" id="{609CEFE2-76A5-222C-C036-A214095DC578}"/>
              </a:ext>
            </a:extLst>
          </p:cNvPr>
          <p:cNvSpPr>
            <a:spLocks noGrp="1"/>
          </p:cNvSpPr>
          <p:nvPr>
            <p:ph type="dt" sz="half" idx="10"/>
          </p:nvPr>
        </p:nvSpPr>
        <p:spPr/>
        <p:txBody>
          <a:bodyPr/>
          <a:lstStyle/>
          <a:p>
            <a:pPr>
              <a:defRPr/>
            </a:pPr>
            <a:fld id="{10E5F5DD-7B96-4F75-BB19-55D8A79A258D}" type="datetime1">
              <a:rPr lang="zh-CN" altLang="en-US" smtClean="0"/>
              <a:t>2025/9/11</a:t>
            </a:fld>
            <a:endParaRPr lang="en-US" altLang="zh-CN"/>
          </a:p>
        </p:txBody>
      </p:sp>
      <p:sp>
        <p:nvSpPr>
          <p:cNvPr id="3" name="页脚占位符 2">
            <a:extLst>
              <a:ext uri="{FF2B5EF4-FFF2-40B4-BE49-F238E27FC236}">
                <a16:creationId xmlns:a16="http://schemas.microsoft.com/office/drawing/2014/main" id="{2ACFC064-D001-25FB-12D3-DE74C9E7303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6" name="灯片编号占位符 5">
            <a:extLst>
              <a:ext uri="{FF2B5EF4-FFF2-40B4-BE49-F238E27FC236}">
                <a16:creationId xmlns:a16="http://schemas.microsoft.com/office/drawing/2014/main" id="{89851123-B448-AF14-5ECB-95EB22E08C5F}"/>
              </a:ext>
            </a:extLst>
          </p:cNvPr>
          <p:cNvSpPr>
            <a:spLocks noGrp="1"/>
          </p:cNvSpPr>
          <p:nvPr>
            <p:ph type="sldNum" sz="quarter" idx="12"/>
          </p:nvPr>
        </p:nvSpPr>
        <p:spPr/>
        <p:txBody>
          <a:bodyPr/>
          <a:lstStyle/>
          <a:p>
            <a:pPr>
              <a:defRPr/>
            </a:pPr>
            <a:fld id="{8BCAC33D-D29A-48B3-BCD6-381D3D720D26}" type="slidenum">
              <a:rPr lang="zh-CN" altLang="en-US" smtClean="0"/>
              <a:t>11</a:t>
            </a:fld>
            <a:endParaRPr lang="en-US" altLang="zh-CN"/>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descr="Rectangle: Click to edit Master text styles&#10;Second level&#10;Third level&#10;Fourth level&#10;Fifth level"/>
          <p:cNvSpPr>
            <a:spLocks noGrp="1" noChangeArrowheads="1"/>
          </p:cNvSpPr>
          <p:nvPr>
            <p:ph type="body" idx="1"/>
          </p:nvPr>
        </p:nvSpPr>
        <p:spPr>
          <a:xfrm>
            <a:off x="467544" y="2132707"/>
            <a:ext cx="8281988" cy="3096493"/>
          </a:xfrm>
        </p:spPr>
        <p:txBody>
          <a:bodyPr/>
          <a:lstStyle/>
          <a:p>
            <a:pPr marL="0" indent="0" eaLnBrk="1" hangingPunct="1">
              <a:lnSpc>
                <a:spcPct val="150000"/>
              </a:lnSpc>
              <a:buNone/>
            </a:pPr>
            <a:r>
              <a:rPr lang="zh-CN" altLang="en-US" sz="2400" b="1" dirty="0"/>
              <a:t>        多机系统遵循时间重叠、资源重复、资源共享原理，发展为</a:t>
            </a:r>
            <a:r>
              <a:rPr lang="en-US" altLang="zh-CN" sz="2400" b="1" dirty="0">
                <a:latin typeface="黑体" panose="02010609060101010101" pitchFamily="49" charset="-122"/>
              </a:rPr>
              <a:t>3</a:t>
            </a:r>
            <a:r>
              <a:rPr lang="zh-CN" altLang="en-US" sz="2400" b="1" dirty="0"/>
              <a:t>种不同的多处理机：</a:t>
            </a:r>
            <a:br>
              <a:rPr lang="zh-CN" altLang="en-US" sz="2400" b="1" dirty="0"/>
            </a:br>
            <a:r>
              <a:rPr lang="zh-CN" altLang="en-US" sz="2400" b="1" dirty="0"/>
              <a:t>      </a:t>
            </a:r>
            <a:r>
              <a:rPr lang="zh-CN" altLang="en-US" sz="2400" b="1" dirty="0">
                <a:solidFill>
                  <a:srgbClr val="C00000"/>
                </a:solidFill>
              </a:rPr>
              <a:t>同构型多处理机、异构型多处理机、分布式系统</a:t>
            </a:r>
            <a:endParaRPr lang="en-US" altLang="zh-CN" sz="2400" b="1" dirty="0">
              <a:solidFill>
                <a:srgbClr val="C00000"/>
              </a:solidFill>
            </a:endParaRPr>
          </a:p>
          <a:p>
            <a:pPr marL="0" indent="0" eaLnBrk="1" hangingPunct="1">
              <a:buNone/>
            </a:pPr>
            <a:endParaRPr lang="zh-CN" altLang="en-US" sz="2400" b="1" dirty="0">
              <a:solidFill>
                <a:srgbClr val="D60093"/>
              </a:solidFill>
            </a:endParaRPr>
          </a:p>
          <a:p>
            <a:pPr marL="0" indent="0" eaLnBrk="1" hangingPunct="1">
              <a:buNone/>
            </a:pPr>
            <a:r>
              <a:rPr lang="zh-CN" altLang="en-US" sz="2400" b="1" dirty="0">
                <a:solidFill>
                  <a:srgbClr val="C00000"/>
                </a:solidFill>
              </a:rPr>
              <a:t>       耦合度  </a:t>
            </a:r>
            <a:r>
              <a:rPr lang="zh-CN" altLang="en-US" sz="2400" b="1" dirty="0"/>
              <a:t>反映多机系统中各机器之间物理连接的紧密程度和交互作用能力的强弱。</a:t>
            </a:r>
          </a:p>
          <a:p>
            <a:pPr marL="1085850" lvl="1" indent="-457200" eaLnBrk="1" hangingPunct="1">
              <a:buFont typeface="Wingdings" panose="05000000000000000000" pitchFamily="2" charset="2"/>
              <a:buNone/>
            </a:pPr>
            <a:endParaRPr lang="en-US" altLang="zh-CN" sz="2400" b="1" dirty="0"/>
          </a:p>
        </p:txBody>
      </p:sp>
      <p:sp>
        <p:nvSpPr>
          <p:cNvPr id="47107" name="Text Box 4"/>
          <p:cNvSpPr txBox="1">
            <a:spLocks noChangeArrowheads="1"/>
          </p:cNvSpPr>
          <p:nvPr/>
        </p:nvSpPr>
        <p:spPr bwMode="auto">
          <a:xfrm>
            <a:off x="395288" y="1211263"/>
            <a:ext cx="84963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600" dirty="0">
                <a:solidFill>
                  <a:srgbClr val="0000CC"/>
                </a:solidFill>
                <a:latin typeface="黑体" panose="02010609060101010101" pitchFamily="49" charset="-122"/>
                <a:ea typeface="黑体" panose="02010609060101010101" pitchFamily="49" charset="-122"/>
              </a:rPr>
              <a:t>多机系统中</a:t>
            </a:r>
            <a:r>
              <a:rPr lang="zh-CN" altLang="en-US" sz="2600" dirty="0">
                <a:solidFill>
                  <a:srgbClr val="0000CC"/>
                </a:solidFill>
                <a:latin typeface="Tahoma" panose="020B0604030504040204" pitchFamily="34" charset="0"/>
                <a:ea typeface="黑体" panose="02010609060101010101" pitchFamily="49" charset="-122"/>
              </a:rPr>
              <a:t>并行性的发展 </a:t>
            </a:r>
          </a:p>
        </p:txBody>
      </p:sp>
      <p:sp>
        <p:nvSpPr>
          <p:cNvPr id="4" name="Rectangle 2"/>
          <p:cNvSpPr>
            <a:spLocks noGrp="1" noChangeArrowheads="1"/>
          </p:cNvSpPr>
          <p:nvPr>
            <p:ph type="title" idx="4294967295"/>
          </p:nvPr>
        </p:nvSpPr>
        <p:spPr>
          <a:xfrm>
            <a:off x="395536" y="53752"/>
            <a:ext cx="8229600" cy="1143000"/>
          </a:xfrm>
        </p:spPr>
        <p:txBody>
          <a:bodyPr/>
          <a:lstStyle/>
          <a:p>
            <a:pPr eaLnBrk="1" hangingPunct="1">
              <a:defRPr/>
            </a:pPr>
            <a:r>
              <a:rPr kumimoji="1" lang="en-US" altLang="zh-CN" sz="3600" b="1" dirty="0">
                <a:latin typeface="+mj-ea"/>
                <a:cs typeface="+mn-cs"/>
              </a:rPr>
              <a:t>1.2.6 </a:t>
            </a:r>
            <a:r>
              <a:rPr kumimoji="1" lang="zh-CN" altLang="en-US" sz="3600" b="1" dirty="0">
                <a:latin typeface="+mj-ea"/>
                <a:cs typeface="+mn-cs"/>
              </a:rPr>
              <a:t>并行处理技术的发展</a:t>
            </a:r>
          </a:p>
        </p:txBody>
      </p:sp>
      <p:sp>
        <p:nvSpPr>
          <p:cNvPr id="2" name="日期占位符 1">
            <a:extLst>
              <a:ext uri="{FF2B5EF4-FFF2-40B4-BE49-F238E27FC236}">
                <a16:creationId xmlns:a16="http://schemas.microsoft.com/office/drawing/2014/main" id="{3C68120E-D388-2C38-CF69-0D09F8D79CA6}"/>
              </a:ext>
            </a:extLst>
          </p:cNvPr>
          <p:cNvSpPr>
            <a:spLocks noGrp="1"/>
          </p:cNvSpPr>
          <p:nvPr>
            <p:ph type="dt" sz="half" idx="10"/>
          </p:nvPr>
        </p:nvSpPr>
        <p:spPr/>
        <p:txBody>
          <a:bodyPr/>
          <a:lstStyle/>
          <a:p>
            <a:pPr>
              <a:defRPr/>
            </a:pPr>
            <a:fld id="{343D9937-7F59-439D-8B5B-94BFF4271E70}" type="datetime1">
              <a:rPr lang="zh-CN" altLang="en-US" smtClean="0"/>
              <a:t>2025/9/11</a:t>
            </a:fld>
            <a:endParaRPr lang="en-US" altLang="zh-CN"/>
          </a:p>
        </p:txBody>
      </p:sp>
      <p:sp>
        <p:nvSpPr>
          <p:cNvPr id="3" name="页脚占位符 2">
            <a:extLst>
              <a:ext uri="{FF2B5EF4-FFF2-40B4-BE49-F238E27FC236}">
                <a16:creationId xmlns:a16="http://schemas.microsoft.com/office/drawing/2014/main" id="{E7CFF08F-39B5-1839-6EB0-FEDAC4ABE77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C793E761-60BA-2622-7C3A-7BA6AE5A7DD1}"/>
              </a:ext>
            </a:extLst>
          </p:cNvPr>
          <p:cNvSpPr>
            <a:spLocks noGrp="1"/>
          </p:cNvSpPr>
          <p:nvPr>
            <p:ph type="sldNum" sz="quarter" idx="12"/>
          </p:nvPr>
        </p:nvSpPr>
        <p:spPr/>
        <p:txBody>
          <a:bodyPr/>
          <a:lstStyle/>
          <a:p>
            <a:pPr>
              <a:defRPr/>
            </a:pPr>
            <a:fld id="{8BCAC33D-D29A-48B3-BCD6-381D3D720D26}" type="slidenum">
              <a:rPr lang="zh-CN" altLang="en-US" smtClean="0"/>
              <a:t>12</a:t>
            </a:fld>
            <a:endParaRPr lang="en-US" altLang="zh-CN"/>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descr="Rectangle: Click to edit Master text styles&#10;Second level&#10;Third level&#10;Fourth level&#10;Fifth level"/>
          <p:cNvSpPr>
            <a:spLocks noGrp="1" noChangeArrowheads="1"/>
          </p:cNvSpPr>
          <p:nvPr>
            <p:ph type="body" idx="1"/>
          </p:nvPr>
        </p:nvSpPr>
        <p:spPr>
          <a:xfrm>
            <a:off x="503548" y="692696"/>
            <a:ext cx="8136904" cy="5472608"/>
          </a:xfrm>
        </p:spPr>
        <p:txBody>
          <a:bodyPr/>
          <a:lstStyle/>
          <a:p>
            <a:pPr marL="457200" lvl="1" indent="-457200">
              <a:lnSpc>
                <a:spcPct val="120000"/>
              </a:lnSpc>
              <a:buFont typeface="Wingdings" panose="05000000000000000000" pitchFamily="2" charset="2"/>
              <a:buChar char="p"/>
            </a:pPr>
            <a:r>
              <a:rPr lang="zh-CN" altLang="en-US" sz="2600" b="1" dirty="0">
                <a:solidFill>
                  <a:srgbClr val="C00000"/>
                </a:solidFill>
              </a:rPr>
              <a:t>最低耦合：</a:t>
            </a:r>
            <a:r>
              <a:rPr lang="zh-CN" altLang="en-US" sz="2600" b="1" dirty="0"/>
              <a:t>耦合度最低，除通过某种中间存储介质之外，各计算机之间没有物理连接，也无共享的联机硬件资源。</a:t>
            </a:r>
            <a:endParaRPr lang="en-US" altLang="zh-CN" sz="2600" b="1" dirty="0"/>
          </a:p>
          <a:p>
            <a:pPr marL="457200" lvl="1" indent="-457200">
              <a:lnSpc>
                <a:spcPct val="120000"/>
              </a:lnSpc>
              <a:buFont typeface="Wingdings" panose="05000000000000000000" pitchFamily="2" charset="2"/>
              <a:buChar char="p"/>
            </a:pPr>
            <a:r>
              <a:rPr lang="zh-CN" altLang="en-US" sz="2600" b="1" dirty="0">
                <a:solidFill>
                  <a:srgbClr val="C00000"/>
                </a:solidFill>
              </a:rPr>
              <a:t>松散耦合系统（间接耦合系统）</a:t>
            </a:r>
            <a:r>
              <a:rPr lang="zh-CN" altLang="en-US" sz="2600" b="1" dirty="0"/>
              <a:t>：一般是通过通道或通信线路实现计算机之间的互连，可以共享外存设备（磁盘、磁带等）。机器之间的相互作用是在文件或数据集一级上进行。</a:t>
            </a:r>
            <a:endParaRPr lang="en-US" altLang="zh-CN" sz="2600" b="1" dirty="0">
              <a:solidFill>
                <a:srgbClr val="C00000"/>
              </a:solidFill>
            </a:endParaRPr>
          </a:p>
          <a:p>
            <a:pPr marL="457200" lvl="1" indent="-457200">
              <a:lnSpc>
                <a:spcPct val="120000"/>
              </a:lnSpc>
              <a:buFont typeface="Wingdings" panose="05000000000000000000" pitchFamily="2" charset="2"/>
              <a:buChar char="p"/>
            </a:pPr>
            <a:r>
              <a:rPr lang="zh-CN" altLang="en-US" sz="2600" b="1" dirty="0">
                <a:solidFill>
                  <a:srgbClr val="C00000"/>
                </a:solidFill>
              </a:rPr>
              <a:t>紧密耦合系统（直接耦合系统）</a:t>
            </a:r>
            <a:r>
              <a:rPr lang="zh-CN" altLang="en-US" sz="2600" b="1" dirty="0"/>
              <a:t>：在这种系统中，计算机之间的物理连接度较高，一般是通过总线或高速开关互连，可以共享主存。</a:t>
            </a:r>
            <a:endParaRPr lang="en-US" altLang="zh-CN" sz="2600" b="1" dirty="0"/>
          </a:p>
          <a:p>
            <a:pPr marL="457200" lvl="1" indent="-457200">
              <a:buFont typeface="Wingdings" panose="05000000000000000000" pitchFamily="2" charset="2"/>
              <a:buChar char="p"/>
            </a:pPr>
            <a:endParaRPr lang="en-US" altLang="zh-CN" sz="2600" b="1" dirty="0"/>
          </a:p>
        </p:txBody>
      </p:sp>
      <p:sp>
        <p:nvSpPr>
          <p:cNvPr id="2" name="日期占位符 1">
            <a:extLst>
              <a:ext uri="{FF2B5EF4-FFF2-40B4-BE49-F238E27FC236}">
                <a16:creationId xmlns:a16="http://schemas.microsoft.com/office/drawing/2014/main" id="{FA4A34B6-3619-1D06-886D-9618A02782C1}"/>
              </a:ext>
            </a:extLst>
          </p:cNvPr>
          <p:cNvSpPr>
            <a:spLocks noGrp="1"/>
          </p:cNvSpPr>
          <p:nvPr>
            <p:ph type="dt" sz="half" idx="10"/>
          </p:nvPr>
        </p:nvSpPr>
        <p:spPr/>
        <p:txBody>
          <a:bodyPr/>
          <a:lstStyle/>
          <a:p>
            <a:pPr>
              <a:defRPr/>
            </a:pPr>
            <a:fld id="{1586DA04-7B34-4A23-82D6-144345BFA76A}" type="datetime1">
              <a:rPr lang="zh-CN" altLang="en-US" smtClean="0"/>
              <a:t>2025/9/11</a:t>
            </a:fld>
            <a:endParaRPr lang="en-US" altLang="zh-CN"/>
          </a:p>
        </p:txBody>
      </p:sp>
      <p:sp>
        <p:nvSpPr>
          <p:cNvPr id="3" name="页脚占位符 2">
            <a:extLst>
              <a:ext uri="{FF2B5EF4-FFF2-40B4-BE49-F238E27FC236}">
                <a16:creationId xmlns:a16="http://schemas.microsoft.com/office/drawing/2014/main" id="{845875A4-4F33-F234-CCA5-36BB6967D012}"/>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AA49ED0-92A9-6B02-425A-C102CDCAD476}"/>
              </a:ext>
            </a:extLst>
          </p:cNvPr>
          <p:cNvSpPr>
            <a:spLocks noGrp="1"/>
          </p:cNvSpPr>
          <p:nvPr>
            <p:ph type="sldNum" sz="quarter" idx="12"/>
          </p:nvPr>
        </p:nvSpPr>
        <p:spPr/>
        <p:txBody>
          <a:bodyPr/>
          <a:lstStyle/>
          <a:p>
            <a:pPr>
              <a:defRPr/>
            </a:pPr>
            <a:fld id="{8BCAC33D-D29A-48B3-BCD6-381D3D720D26}" type="slidenum">
              <a:rPr lang="zh-CN" altLang="en-US" smtClean="0"/>
              <a:t>13</a:t>
            </a:fld>
            <a:endParaRPr lang="en-US" altLang="zh-CN"/>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body" idx="4294967295"/>
          </p:nvPr>
        </p:nvSpPr>
        <p:spPr>
          <a:xfrm>
            <a:off x="395536" y="1412776"/>
            <a:ext cx="8229600" cy="4525963"/>
          </a:xfrm>
        </p:spPr>
        <p:txBody>
          <a:bodyPr/>
          <a:lstStyle/>
          <a:p>
            <a:pPr marL="0" indent="0" eaLnBrk="1" hangingPunct="1">
              <a:lnSpc>
                <a:spcPct val="170000"/>
              </a:lnSpc>
              <a:buNone/>
            </a:pPr>
            <a:r>
              <a:rPr lang="en-US" altLang="zh-CN" sz="2600" b="1" dirty="0">
                <a:latin typeface="黑体" panose="02010609060101010101" pitchFamily="49" charset="-122"/>
                <a:ea typeface="黑体" panose="02010609060101010101" pitchFamily="49" charset="-122"/>
              </a:rPr>
              <a:t>3. </a:t>
            </a:r>
            <a:r>
              <a:rPr lang="zh-CN" altLang="en-US" sz="2600" b="1" dirty="0">
                <a:latin typeface="黑体" panose="02010609060101010101" pitchFamily="49" charset="-122"/>
                <a:ea typeface="黑体" panose="02010609060101010101" pitchFamily="49" charset="-122"/>
              </a:rPr>
              <a:t>并行计算的应用需求</a:t>
            </a:r>
            <a:endParaRPr lang="en-US" altLang="zh-CN" sz="2600" b="1" dirty="0">
              <a:latin typeface="黑体" panose="02010609060101010101" pitchFamily="49" charset="-122"/>
              <a:ea typeface="黑体" panose="02010609060101010101" pitchFamily="49" charset="-122"/>
            </a:endParaRPr>
          </a:p>
          <a:p>
            <a:pPr eaLnBrk="1" hangingPunct="1">
              <a:lnSpc>
                <a:spcPct val="170000"/>
              </a:lnSpc>
            </a:pPr>
            <a:r>
              <a:rPr lang="zh-CN" altLang="en-US" sz="2600" dirty="0">
                <a:latin typeface="Verdana" panose="020B0604030504040204" pitchFamily="34" charset="0"/>
                <a:ea typeface="华文中宋" panose="02010600040101010101" pitchFamily="2" charset="-122"/>
              </a:rPr>
              <a:t>科学计算</a:t>
            </a:r>
            <a:endParaRPr lang="en-US" altLang="zh-CN" sz="2600" dirty="0">
              <a:latin typeface="Verdana" panose="020B0604030504040204" pitchFamily="34" charset="0"/>
              <a:ea typeface="华文中宋" panose="02010600040101010101" pitchFamily="2" charset="-122"/>
            </a:endParaRPr>
          </a:p>
          <a:p>
            <a:pPr eaLnBrk="1" hangingPunct="1">
              <a:lnSpc>
                <a:spcPct val="170000"/>
              </a:lnSpc>
            </a:pPr>
            <a:r>
              <a:rPr lang="zh-CN" altLang="en-US" sz="2600" dirty="0">
                <a:latin typeface="Verdana" panose="020B0604030504040204" pitchFamily="34" charset="0"/>
                <a:ea typeface="华文中宋" panose="02010600040101010101" pitchFamily="2" charset="-122"/>
              </a:rPr>
              <a:t>娱乐业</a:t>
            </a:r>
            <a:endParaRPr lang="en-US" altLang="zh-CN" sz="2600" dirty="0">
              <a:latin typeface="Verdana" panose="020B0604030504040204" pitchFamily="34" charset="0"/>
              <a:ea typeface="华文中宋" panose="02010600040101010101" pitchFamily="2" charset="-122"/>
            </a:endParaRPr>
          </a:p>
          <a:p>
            <a:pPr marL="0" indent="0" eaLnBrk="1" hangingPunct="1">
              <a:lnSpc>
                <a:spcPct val="170000"/>
              </a:lnSpc>
              <a:buNone/>
            </a:pPr>
            <a:r>
              <a:rPr lang="zh-CN" altLang="en-US" sz="2400" dirty="0">
                <a:latin typeface="Verdana" panose="020B0604030504040204" pitchFamily="34" charset="0"/>
                <a:ea typeface="华文中宋" panose="02010600040101010101" pitchFamily="2" charset="-122"/>
              </a:rPr>
              <a:t>对</a:t>
            </a:r>
            <a:r>
              <a:rPr lang="en-US" altLang="zh-CN" sz="2400" dirty="0">
                <a:latin typeface="Verdana" panose="020B0604030504040204" pitchFamily="34" charset="0"/>
                <a:ea typeface="华文中宋" panose="02010600040101010101" pitchFamily="2" charset="-122"/>
              </a:rPr>
              <a:t>ZFLOPS</a:t>
            </a:r>
            <a:r>
              <a:rPr lang="zh-CN" altLang="en-US" sz="2400" dirty="0">
                <a:latin typeface="Verdana" panose="020B0604030504040204" pitchFamily="34" charset="0"/>
                <a:ea typeface="华文中宋" panose="02010600040101010101" pitchFamily="2" charset="-122"/>
              </a:rPr>
              <a:t>计算能力和</a:t>
            </a:r>
            <a:r>
              <a:rPr lang="en-US" altLang="zh-CN" sz="2400" dirty="0">
                <a:latin typeface="Verdana" panose="020B0604030504040204" pitchFamily="34" charset="0"/>
                <a:ea typeface="华文中宋" panose="02010600040101010101" pitchFamily="2" charset="-122"/>
              </a:rPr>
              <a:t>EB</a:t>
            </a:r>
            <a:r>
              <a:rPr lang="zh-CN" altLang="en-US" sz="2400" dirty="0">
                <a:latin typeface="Verdana" panose="020B0604030504040204" pitchFamily="34" charset="0"/>
                <a:ea typeface="华文中宋" panose="02010600040101010101" pitchFamily="2" charset="-122"/>
              </a:rPr>
              <a:t>存储能力需求的领域在不断增多。</a:t>
            </a:r>
            <a:endParaRPr lang="en-US" altLang="zh-CN" sz="2400" dirty="0">
              <a:latin typeface="Verdana" panose="020B0604030504040204" pitchFamily="34" charset="0"/>
              <a:ea typeface="华文中宋" panose="02010600040101010101" pitchFamily="2" charset="-122"/>
            </a:endParaRPr>
          </a:p>
          <a:p>
            <a:pPr eaLnBrk="1" hangingPunct="1">
              <a:lnSpc>
                <a:spcPct val="170000"/>
              </a:lnSpc>
            </a:pPr>
            <a:r>
              <a:rPr lang="zh-CN" altLang="en-US" sz="2400" dirty="0">
                <a:latin typeface="Verdana" panose="020B0604030504040204" pitchFamily="34" charset="0"/>
                <a:ea typeface="华文中宋" panose="02010600040101010101" pitchFamily="2" charset="-122"/>
              </a:rPr>
              <a:t>人工智能</a:t>
            </a:r>
            <a:endParaRPr lang="en-US" altLang="zh-CN" sz="2400" dirty="0">
              <a:latin typeface="Verdana" panose="020B0604030504040204" pitchFamily="34" charset="0"/>
              <a:ea typeface="华文中宋" panose="02010600040101010101" pitchFamily="2" charset="-122"/>
            </a:endParaRPr>
          </a:p>
          <a:p>
            <a:pPr eaLnBrk="1" hangingPunct="1">
              <a:lnSpc>
                <a:spcPct val="170000"/>
              </a:lnSpc>
            </a:pPr>
            <a:r>
              <a:rPr lang="zh-CN" altLang="en-US" sz="2400" dirty="0">
                <a:latin typeface="Verdana" panose="020B0604030504040204" pitchFamily="34" charset="0"/>
                <a:ea typeface="华文中宋" panose="02010600040101010101" pitchFamily="2" charset="-122"/>
              </a:rPr>
              <a:t>大数据</a:t>
            </a:r>
            <a:endParaRPr lang="en-US" altLang="zh-CN" sz="2400" dirty="0">
              <a:latin typeface="Verdana" panose="020B0604030504040204" pitchFamily="34" charset="0"/>
              <a:ea typeface="华文中宋" panose="02010600040101010101" pitchFamily="2" charset="-122"/>
            </a:endParaRPr>
          </a:p>
          <a:p>
            <a:pPr eaLnBrk="1" hangingPunct="1">
              <a:lnSpc>
                <a:spcPct val="170000"/>
              </a:lnSpc>
            </a:pPr>
            <a:endParaRPr lang="zh-CN" altLang="en-US" sz="2600" dirty="0">
              <a:latin typeface="Verdana" panose="020B0604030504040204" pitchFamily="34" charset="0"/>
              <a:ea typeface="华文中宋" panose="02010600040101010101" pitchFamily="2" charset="-122"/>
            </a:endParaRPr>
          </a:p>
        </p:txBody>
      </p:sp>
      <p:sp>
        <p:nvSpPr>
          <p:cNvPr id="4" name="Rectangle 2"/>
          <p:cNvSpPr txBox="1">
            <a:spLocks noChangeArrowheads="1"/>
          </p:cNvSpPr>
          <p:nvPr/>
        </p:nvSpPr>
        <p:spPr bwMode="auto">
          <a:xfrm>
            <a:off x="395536" y="12576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defRPr/>
            </a:pPr>
            <a:r>
              <a:rPr kumimoji="1" lang="en-US" altLang="zh-CN" sz="3600" b="1" dirty="0">
                <a:latin typeface="+mj-ea"/>
                <a:cs typeface="+mn-cs"/>
              </a:rPr>
              <a:t>1.2.6 </a:t>
            </a:r>
            <a:r>
              <a:rPr kumimoji="1" lang="zh-CN" altLang="en-US" sz="3600" b="1" dirty="0">
                <a:latin typeface="+mj-ea"/>
                <a:cs typeface="+mn-cs"/>
              </a:rPr>
              <a:t>并行处理技术的发展</a:t>
            </a:r>
          </a:p>
        </p:txBody>
      </p:sp>
      <p:sp>
        <p:nvSpPr>
          <p:cNvPr id="2" name="日期占位符 1">
            <a:extLst>
              <a:ext uri="{FF2B5EF4-FFF2-40B4-BE49-F238E27FC236}">
                <a16:creationId xmlns:a16="http://schemas.microsoft.com/office/drawing/2014/main" id="{440BEBAF-60BC-3433-0873-5E450D401357}"/>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9FCBD037-6D33-EFCA-4C58-529F2305EBAB}"/>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6E5F0AE5-42A1-F897-5D9C-375800E58E39}"/>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14</a:t>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txBox="1">
            <a:spLocks noChangeArrowheads="1"/>
          </p:cNvSpPr>
          <p:nvPr/>
        </p:nvSpPr>
        <p:spPr bwMode="auto">
          <a:xfrm>
            <a:off x="457200" y="274638"/>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algn="ctr" eaLnBrk="1" hangingPunct="1"/>
            <a:r>
              <a:rPr lang="zh-CN" altLang="en-US" sz="4000" dirty="0">
                <a:latin typeface="Tahoma" panose="020B0604030504040204" pitchFamily="34" charset="0"/>
                <a:ea typeface="隶书" panose="02010509060101010101" pitchFamily="49" charset="-122"/>
              </a:rPr>
              <a:t>我国的高性能计算机</a:t>
            </a:r>
          </a:p>
        </p:txBody>
      </p:sp>
      <p:sp>
        <p:nvSpPr>
          <p:cNvPr id="62467" name="Rectangle 3"/>
          <p:cNvSpPr txBox="1">
            <a:spLocks noChangeArrowheads="1"/>
          </p:cNvSpPr>
          <p:nvPr/>
        </p:nvSpPr>
        <p:spPr bwMode="auto">
          <a:xfrm>
            <a:off x="838200" y="1447800"/>
            <a:ext cx="7848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49580" indent="-449580"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银河-1(中国第一台大型机)</a:t>
            </a:r>
          </a:p>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银河-2</a:t>
            </a:r>
          </a:p>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银河-3</a:t>
            </a:r>
            <a:endParaRPr lang="en-US" altLang="zh-CN" sz="2400">
              <a:solidFill>
                <a:srgbClr val="E24C05"/>
              </a:solidFill>
              <a:latin typeface="Times New Roman" panose="02020603050405020304" pitchFamily="18" charset="0"/>
              <a:ea typeface="黑体" panose="02010609060101010101" pitchFamily="49" charset="-122"/>
            </a:endParaRPr>
          </a:p>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天河一号</a:t>
            </a:r>
            <a:endParaRPr lang="en-US" altLang="zh-CN" sz="2400">
              <a:solidFill>
                <a:srgbClr val="E24C05"/>
              </a:solidFill>
              <a:latin typeface="Times New Roman" panose="02020603050405020304" pitchFamily="18" charset="0"/>
              <a:ea typeface="黑体" panose="02010609060101010101" pitchFamily="49" charset="-122"/>
            </a:endParaRPr>
          </a:p>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天河二号</a:t>
            </a:r>
            <a:endParaRPr lang="en-US" altLang="zh-CN" sz="2400">
              <a:solidFill>
                <a:srgbClr val="E24C05"/>
              </a:solidFill>
              <a:latin typeface="Times New Roman" panose="02020603050405020304" pitchFamily="18" charset="0"/>
              <a:ea typeface="黑体" panose="02010609060101010101" pitchFamily="49" charset="-122"/>
            </a:endParaRPr>
          </a:p>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神威</a:t>
            </a:r>
          </a:p>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曙光3000</a:t>
            </a:r>
          </a:p>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曙光</a:t>
            </a:r>
            <a:r>
              <a:rPr lang="en-US" altLang="zh-CN" sz="2400">
                <a:solidFill>
                  <a:srgbClr val="E24C05"/>
                </a:solidFill>
                <a:latin typeface="Times New Roman" panose="02020603050405020304" pitchFamily="18" charset="0"/>
                <a:ea typeface="黑体" panose="02010609060101010101" pitchFamily="49" charset="-122"/>
              </a:rPr>
              <a:t>4000</a:t>
            </a:r>
          </a:p>
          <a:p>
            <a:pPr eaLnBrk="1" hangingPunct="1">
              <a:lnSpc>
                <a:spcPct val="120000"/>
              </a:lnSpc>
              <a:spcBef>
                <a:spcPct val="20000"/>
              </a:spcBef>
              <a:buClr>
                <a:schemeClr val="tx1"/>
              </a:buClr>
              <a:buFont typeface="Wingdings" panose="05000000000000000000" pitchFamily="2" charset="2"/>
              <a:buAutoNum type="arabicPeriod"/>
            </a:pPr>
            <a:r>
              <a:rPr lang="zh-CN" altLang="en-US" sz="2400">
                <a:solidFill>
                  <a:srgbClr val="E24C05"/>
                </a:solidFill>
                <a:latin typeface="Times New Roman" panose="02020603050405020304" pitchFamily="18" charset="0"/>
                <a:ea typeface="黑体" panose="02010609060101010101" pitchFamily="49" charset="-122"/>
              </a:rPr>
              <a:t>曙光</a:t>
            </a:r>
            <a:r>
              <a:rPr lang="en-US" altLang="zh-CN" sz="2400">
                <a:solidFill>
                  <a:srgbClr val="E24C05"/>
                </a:solidFill>
                <a:latin typeface="Times New Roman" panose="02020603050405020304" pitchFamily="18" charset="0"/>
                <a:ea typeface="黑体" panose="02010609060101010101" pitchFamily="49" charset="-122"/>
              </a:rPr>
              <a:t>5000A</a:t>
            </a:r>
          </a:p>
        </p:txBody>
      </p:sp>
      <p:sp>
        <p:nvSpPr>
          <p:cNvPr id="2" name="日期占位符 1">
            <a:extLst>
              <a:ext uri="{FF2B5EF4-FFF2-40B4-BE49-F238E27FC236}">
                <a16:creationId xmlns:a16="http://schemas.microsoft.com/office/drawing/2014/main" id="{4D4D5016-1745-6460-EFC3-B0093DED53AC}"/>
              </a:ext>
            </a:extLst>
          </p:cNvPr>
          <p:cNvSpPr>
            <a:spLocks noGrp="1"/>
          </p:cNvSpPr>
          <p:nvPr>
            <p:ph type="dt" sz="half" idx="10"/>
          </p:nvPr>
        </p:nvSpPr>
        <p:spPr/>
        <p:txBody>
          <a:bodyPr/>
          <a:lstStyle/>
          <a:p>
            <a:pPr>
              <a:defRPr/>
            </a:pPr>
            <a:fld id="{0DC1B34F-A890-49A2-B9CD-0C424A066311}" type="datetime1">
              <a:rPr lang="zh-CN" altLang="en-US" smtClean="0"/>
              <a:t>2025/9/11</a:t>
            </a:fld>
            <a:endParaRPr lang="en-US" altLang="zh-CN"/>
          </a:p>
        </p:txBody>
      </p:sp>
      <p:sp>
        <p:nvSpPr>
          <p:cNvPr id="3" name="页脚占位符 2">
            <a:extLst>
              <a:ext uri="{FF2B5EF4-FFF2-40B4-BE49-F238E27FC236}">
                <a16:creationId xmlns:a16="http://schemas.microsoft.com/office/drawing/2014/main" id="{95EA6253-F997-1616-B378-8B225B620D5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93BEDF57-96EC-B1D7-1AA0-A7A0FCDA863E}"/>
              </a:ext>
            </a:extLst>
          </p:cNvPr>
          <p:cNvSpPr>
            <a:spLocks noGrp="1"/>
          </p:cNvSpPr>
          <p:nvPr>
            <p:ph type="sldNum" sz="quarter" idx="12"/>
          </p:nvPr>
        </p:nvSpPr>
        <p:spPr/>
        <p:txBody>
          <a:bodyPr/>
          <a:lstStyle/>
          <a:p>
            <a:pPr>
              <a:defRPr/>
            </a:pPr>
            <a:fld id="{65B7EA61-351E-4105-9AD9-76D38C6E9934}" type="slidenum">
              <a:rPr lang="zh-CN" altLang="en-US" smtClean="0"/>
              <a:t>15</a:t>
            </a:fld>
            <a:endParaRPr lang="en-US" altLang="zh-CN"/>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fontScale="90000"/>
          </a:bodyPr>
          <a:lstStyle/>
          <a:p>
            <a:r>
              <a:rPr kumimoji="1" lang="en-US" altLang="zh-CN" sz="4000" b="1" dirty="0">
                <a:latin typeface="+mj-ea"/>
                <a:ea typeface="+mj-ea"/>
                <a:cs typeface="+mn-cs"/>
              </a:rPr>
              <a:t>1.2.7 </a:t>
            </a:r>
            <a:r>
              <a:rPr kumimoji="1" lang="zh-CN" altLang="en-US" sz="4000" b="1" dirty="0">
                <a:latin typeface="+mj-ea"/>
                <a:ea typeface="+mj-ea"/>
                <a:cs typeface="+mn-cs"/>
              </a:rPr>
              <a:t>处理器芯片技术的发展</a:t>
            </a:r>
            <a:br>
              <a:rPr kumimoji="1" lang="zh-CN" altLang="en-US" b="1" dirty="0">
                <a:latin typeface="+mj-ea"/>
              </a:rPr>
            </a:br>
            <a:endParaRPr lang="zh-CN" altLang="en-US" b="1" dirty="0"/>
          </a:p>
        </p:txBody>
      </p:sp>
      <p:sp>
        <p:nvSpPr>
          <p:cNvPr id="18" name="椭圆 17"/>
          <p:cNvSpPr/>
          <p:nvPr/>
        </p:nvSpPr>
        <p:spPr bwMode="auto">
          <a:xfrm>
            <a:off x="3863510" y="2456751"/>
            <a:ext cx="914093" cy="594049"/>
          </a:xfrm>
          <a:prstGeom prst="ellipse">
            <a:avLst/>
          </a:prstGeom>
          <a:solidFill>
            <a:srgbClr val="92D050"/>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1050" dirty="0">
                <a:latin typeface="Huawei Sans" panose="020C0503030203020204" pitchFamily="34" charset="0"/>
                <a:ea typeface="方正兰亭黑简体" panose="02000000000000000000" pitchFamily="2" charset="-122"/>
              </a:rPr>
              <a:t>POWER</a:t>
            </a:r>
            <a:endParaRPr lang="zh-CN" altLang="en-US" sz="1050" dirty="0">
              <a:latin typeface="Huawei Sans" panose="020C0503030203020204" pitchFamily="34" charset="0"/>
              <a:ea typeface="方正兰亭黑简体" panose="02000000000000000000" pitchFamily="2" charset="-122"/>
            </a:endParaRPr>
          </a:p>
        </p:txBody>
      </p:sp>
      <p:sp>
        <p:nvSpPr>
          <p:cNvPr id="19" name="椭圆 18"/>
          <p:cNvSpPr/>
          <p:nvPr/>
        </p:nvSpPr>
        <p:spPr bwMode="auto">
          <a:xfrm>
            <a:off x="4399572" y="2834782"/>
            <a:ext cx="648053" cy="1458120"/>
          </a:xfrm>
          <a:prstGeom prst="ellipse">
            <a:avLst/>
          </a:prstGeom>
          <a:solidFill>
            <a:srgbClr val="00B0F0"/>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1050" dirty="0">
                <a:latin typeface="Huawei Sans" panose="020C0503030203020204" pitchFamily="34" charset="0"/>
                <a:ea typeface="方正兰亭黑简体" panose="02000000000000000000" pitchFamily="2" charset="-122"/>
              </a:rPr>
              <a:t>X86</a:t>
            </a:r>
            <a:endParaRPr lang="zh-CN" altLang="en-US" sz="1050" dirty="0">
              <a:latin typeface="Huawei Sans" panose="020C0503030203020204" pitchFamily="34" charset="0"/>
              <a:ea typeface="方正兰亭黑简体" panose="02000000000000000000" pitchFamily="2" charset="-122"/>
            </a:endParaRPr>
          </a:p>
        </p:txBody>
      </p:sp>
      <p:sp>
        <p:nvSpPr>
          <p:cNvPr id="21" name="椭圆 20"/>
          <p:cNvSpPr/>
          <p:nvPr/>
        </p:nvSpPr>
        <p:spPr bwMode="auto">
          <a:xfrm>
            <a:off x="4615589" y="3993804"/>
            <a:ext cx="739233" cy="407108"/>
          </a:xfrm>
          <a:prstGeom prst="ellipse">
            <a:avLst/>
          </a:prstGeom>
          <a:solidFill>
            <a:schemeClr val="accent1">
              <a:lumMod val="75000"/>
            </a:schemeClr>
          </a:solidFill>
          <a:ln>
            <a:noFill/>
          </a:ln>
          <a:effec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MIPS</a:t>
            </a:r>
            <a:endParaRPr lang="zh-CN" altLang="en-US" sz="900" dirty="0">
              <a:latin typeface="Huawei Sans" panose="020C0503030203020204" pitchFamily="34" charset="0"/>
              <a:ea typeface="方正兰亭黑简体" panose="02000000000000000000" pitchFamily="2" charset="-122"/>
            </a:endParaRPr>
          </a:p>
        </p:txBody>
      </p:sp>
      <p:sp>
        <p:nvSpPr>
          <p:cNvPr id="20" name="椭圆 19"/>
          <p:cNvSpPr/>
          <p:nvPr/>
        </p:nvSpPr>
        <p:spPr bwMode="auto">
          <a:xfrm>
            <a:off x="3995323" y="3745507"/>
            <a:ext cx="674271" cy="925427"/>
          </a:xfrm>
          <a:prstGeom prst="ellipse">
            <a:avLst/>
          </a:prstGeom>
          <a:solidFill>
            <a:srgbClr val="FFFF00"/>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1050" dirty="0">
                <a:latin typeface="Huawei Sans" panose="020C0503030203020204" pitchFamily="34" charset="0"/>
                <a:ea typeface="方正兰亭黑简体" panose="02000000000000000000" pitchFamily="2" charset="-122"/>
              </a:rPr>
              <a:t>ARM</a:t>
            </a:r>
            <a:endParaRPr lang="zh-CN" altLang="en-US" sz="1050" dirty="0">
              <a:latin typeface="Huawei Sans" panose="020C0503030203020204" pitchFamily="34" charset="0"/>
              <a:ea typeface="方正兰亭黑简体" panose="02000000000000000000" pitchFamily="2" charset="-122"/>
            </a:endParaRPr>
          </a:p>
        </p:txBody>
      </p:sp>
      <p:cxnSp>
        <p:nvCxnSpPr>
          <p:cNvPr id="23" name="直接连接符 22"/>
          <p:cNvCxnSpPr/>
          <p:nvPr/>
        </p:nvCxnSpPr>
        <p:spPr bwMode="auto">
          <a:xfrm>
            <a:off x="1157047" y="4961968"/>
            <a:ext cx="6696551" cy="0"/>
          </a:xfrm>
          <a:prstGeom prst="line">
            <a:avLst/>
          </a:prstGeom>
          <a:noFill/>
          <a:ln w="38100">
            <a:solidFill>
              <a:schemeClr val="tx1"/>
            </a:solidFill>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TextBox 24"/>
          <p:cNvSpPr txBox="1"/>
          <p:nvPr/>
        </p:nvSpPr>
        <p:spPr>
          <a:xfrm>
            <a:off x="736317" y="2474773"/>
            <a:ext cx="994156" cy="276999"/>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rPr>
              <a:t>高端服务器</a:t>
            </a:r>
          </a:p>
        </p:txBody>
      </p:sp>
      <p:sp>
        <p:nvSpPr>
          <p:cNvPr id="26" name="TextBox 25"/>
          <p:cNvSpPr txBox="1"/>
          <p:nvPr/>
        </p:nvSpPr>
        <p:spPr>
          <a:xfrm>
            <a:off x="733581" y="3385528"/>
            <a:ext cx="1023783"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rPr>
              <a:t>PC &amp; </a:t>
            </a:r>
            <a:r>
              <a:rPr lang="zh-CN" altLang="en-US" sz="1200" dirty="0">
                <a:latin typeface="Huawei Sans" panose="020C0503030203020204" pitchFamily="34" charset="0"/>
                <a:ea typeface="方正兰亭黑简体" panose="02000000000000000000" pitchFamily="2" charset="-122"/>
              </a:rPr>
              <a:t>服务器</a:t>
            </a:r>
          </a:p>
        </p:txBody>
      </p:sp>
      <p:sp>
        <p:nvSpPr>
          <p:cNvPr id="27" name="TextBox 26"/>
          <p:cNvSpPr txBox="1"/>
          <p:nvPr/>
        </p:nvSpPr>
        <p:spPr>
          <a:xfrm>
            <a:off x="733254" y="4311552"/>
            <a:ext cx="1297235" cy="461665"/>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rPr>
              <a:t>嵌入式</a:t>
            </a:r>
            <a:r>
              <a:rPr lang="en-US" altLang="zh-CN" sz="1200" dirty="0">
                <a:latin typeface="Huawei Sans" panose="020C0503030203020204" pitchFamily="34" charset="0"/>
                <a:ea typeface="方正兰亭黑简体" panose="02000000000000000000" pitchFamily="2" charset="-122"/>
              </a:rPr>
              <a:t>/</a:t>
            </a:r>
          </a:p>
          <a:p>
            <a:r>
              <a:rPr lang="zh-CN" altLang="en-US" sz="1200" dirty="0">
                <a:latin typeface="Huawei Sans" panose="020C0503030203020204" pitchFamily="34" charset="0"/>
                <a:ea typeface="方正兰亭黑简体" panose="02000000000000000000" pitchFamily="2" charset="-122"/>
              </a:rPr>
              <a:t>移动</a:t>
            </a:r>
            <a:r>
              <a:rPr lang="en-US" altLang="zh-CN" sz="1200" dirty="0">
                <a:latin typeface="Huawei Sans" panose="020C0503030203020204" pitchFamily="34" charset="0"/>
                <a:ea typeface="方正兰亭黑简体" panose="02000000000000000000" pitchFamily="2" charset="-122"/>
              </a:rPr>
              <a:t>/</a:t>
            </a:r>
            <a:r>
              <a:rPr lang="zh-CN" altLang="en-US" sz="1200" dirty="0">
                <a:latin typeface="Huawei Sans" panose="020C0503030203020204" pitchFamily="34" charset="0"/>
                <a:ea typeface="方正兰亭黑简体" panose="02000000000000000000" pitchFamily="2" charset="-122"/>
              </a:rPr>
              <a:t>消费</a:t>
            </a:r>
          </a:p>
        </p:txBody>
      </p:sp>
      <p:sp>
        <p:nvSpPr>
          <p:cNvPr id="4" name="椭圆 3"/>
          <p:cNvSpPr/>
          <p:nvPr/>
        </p:nvSpPr>
        <p:spPr bwMode="auto">
          <a:xfrm>
            <a:off x="1657383" y="2317281"/>
            <a:ext cx="1045180" cy="669128"/>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1200" dirty="0">
                <a:latin typeface="Huawei Sans" panose="020C0503030203020204" pitchFamily="34" charset="0"/>
                <a:ea typeface="方正兰亭黑简体" panose="02000000000000000000" pitchFamily="2" charset="-122"/>
              </a:rPr>
              <a:t>POWER</a:t>
            </a:r>
            <a:endParaRPr lang="zh-CN" altLang="en-US" sz="1200" dirty="0">
              <a:latin typeface="Huawei Sans" panose="020C0503030203020204" pitchFamily="34" charset="0"/>
              <a:ea typeface="方正兰亭黑简体" panose="02000000000000000000" pitchFamily="2" charset="-122"/>
            </a:endParaRPr>
          </a:p>
        </p:txBody>
      </p:sp>
      <p:sp>
        <p:nvSpPr>
          <p:cNvPr id="5" name="椭圆 4"/>
          <p:cNvSpPr/>
          <p:nvPr/>
        </p:nvSpPr>
        <p:spPr bwMode="auto">
          <a:xfrm>
            <a:off x="2629471" y="2499771"/>
            <a:ext cx="852767" cy="188356"/>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PA-RISC</a:t>
            </a:r>
            <a:endParaRPr lang="zh-CN" altLang="en-US" sz="900" dirty="0">
              <a:latin typeface="Huawei Sans" panose="020C0503030203020204" pitchFamily="34" charset="0"/>
              <a:ea typeface="方正兰亭黑简体" panose="02000000000000000000" pitchFamily="2" charset="-122"/>
            </a:endParaRPr>
          </a:p>
        </p:txBody>
      </p:sp>
      <p:sp>
        <p:nvSpPr>
          <p:cNvPr id="7" name="椭圆 6"/>
          <p:cNvSpPr/>
          <p:nvPr/>
        </p:nvSpPr>
        <p:spPr bwMode="auto">
          <a:xfrm>
            <a:off x="2629471" y="2256452"/>
            <a:ext cx="872108" cy="201815"/>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SPARC</a:t>
            </a:r>
            <a:endParaRPr lang="zh-CN" altLang="en-US" sz="900" dirty="0">
              <a:latin typeface="Huawei Sans" panose="020C0503030203020204" pitchFamily="34" charset="0"/>
              <a:ea typeface="方正兰亭黑简体" panose="02000000000000000000" pitchFamily="2" charset="-122"/>
            </a:endParaRPr>
          </a:p>
        </p:txBody>
      </p:sp>
      <p:sp>
        <p:nvSpPr>
          <p:cNvPr id="8" name="椭圆 7"/>
          <p:cNvSpPr/>
          <p:nvPr/>
        </p:nvSpPr>
        <p:spPr bwMode="auto">
          <a:xfrm>
            <a:off x="2629472" y="2743091"/>
            <a:ext cx="809322" cy="214860"/>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Itanium</a:t>
            </a:r>
            <a:endParaRPr lang="zh-CN" altLang="en-US" sz="900" dirty="0">
              <a:latin typeface="Huawei Sans" panose="020C0503030203020204" pitchFamily="34" charset="0"/>
              <a:ea typeface="方正兰亭黑简体" panose="02000000000000000000" pitchFamily="2" charset="-122"/>
            </a:endParaRPr>
          </a:p>
        </p:txBody>
      </p:sp>
      <p:sp>
        <p:nvSpPr>
          <p:cNvPr id="9" name="椭圆 8"/>
          <p:cNvSpPr/>
          <p:nvPr/>
        </p:nvSpPr>
        <p:spPr bwMode="auto">
          <a:xfrm>
            <a:off x="2660617" y="3768639"/>
            <a:ext cx="809814" cy="304148"/>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Moto 68K</a:t>
            </a:r>
            <a:endParaRPr lang="zh-CN" altLang="en-US" sz="900" dirty="0">
              <a:latin typeface="Huawei Sans" panose="020C0503030203020204" pitchFamily="34" charset="0"/>
              <a:ea typeface="方正兰亭黑简体" panose="02000000000000000000" pitchFamily="2" charset="-122"/>
            </a:endParaRPr>
          </a:p>
        </p:txBody>
      </p:sp>
      <p:sp>
        <p:nvSpPr>
          <p:cNvPr id="10" name="椭圆 9"/>
          <p:cNvSpPr/>
          <p:nvPr/>
        </p:nvSpPr>
        <p:spPr bwMode="auto">
          <a:xfrm>
            <a:off x="1757364" y="3047240"/>
            <a:ext cx="934401" cy="973277"/>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1200" dirty="0">
                <a:latin typeface="Huawei Sans" panose="020C0503030203020204" pitchFamily="34" charset="0"/>
                <a:ea typeface="方正兰亭黑简体" panose="02000000000000000000" pitchFamily="2" charset="-122"/>
              </a:rPr>
              <a:t>X86</a:t>
            </a:r>
            <a:endParaRPr lang="zh-CN" altLang="en-US" sz="1200" dirty="0">
              <a:latin typeface="Huawei Sans" panose="020C0503030203020204" pitchFamily="34" charset="0"/>
              <a:ea typeface="方正兰亭黑简体" panose="02000000000000000000" pitchFamily="2" charset="-122"/>
            </a:endParaRPr>
          </a:p>
        </p:txBody>
      </p:sp>
      <p:sp>
        <p:nvSpPr>
          <p:cNvPr id="11" name="椭圆 10"/>
          <p:cNvSpPr/>
          <p:nvPr/>
        </p:nvSpPr>
        <p:spPr bwMode="auto">
          <a:xfrm>
            <a:off x="2754058" y="3473049"/>
            <a:ext cx="622934" cy="243320"/>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MIPS</a:t>
            </a:r>
            <a:endParaRPr lang="zh-CN" altLang="en-US" sz="900" dirty="0">
              <a:latin typeface="Huawei Sans" panose="020C0503030203020204" pitchFamily="34" charset="0"/>
              <a:ea typeface="方正兰亭黑简体" panose="02000000000000000000" pitchFamily="2" charset="-122"/>
            </a:endParaRPr>
          </a:p>
        </p:txBody>
      </p:sp>
      <p:sp>
        <p:nvSpPr>
          <p:cNvPr id="12" name="椭圆 11"/>
          <p:cNvSpPr/>
          <p:nvPr/>
        </p:nvSpPr>
        <p:spPr bwMode="auto">
          <a:xfrm>
            <a:off x="1944244" y="4081348"/>
            <a:ext cx="622934" cy="243320"/>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PPC</a:t>
            </a:r>
            <a:endParaRPr lang="zh-CN" altLang="en-US" sz="900" dirty="0">
              <a:latin typeface="Huawei Sans" panose="020C0503030203020204" pitchFamily="34" charset="0"/>
              <a:ea typeface="方正兰亭黑简体" panose="02000000000000000000" pitchFamily="2" charset="-122"/>
            </a:endParaRPr>
          </a:p>
        </p:txBody>
      </p:sp>
      <p:sp>
        <p:nvSpPr>
          <p:cNvPr id="13" name="椭圆 12"/>
          <p:cNvSpPr/>
          <p:nvPr/>
        </p:nvSpPr>
        <p:spPr bwMode="auto">
          <a:xfrm>
            <a:off x="1928451" y="4385497"/>
            <a:ext cx="622934" cy="486638"/>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ARM</a:t>
            </a:r>
            <a:endParaRPr lang="zh-CN" altLang="en-US" sz="900" dirty="0">
              <a:latin typeface="Huawei Sans" panose="020C0503030203020204" pitchFamily="34" charset="0"/>
              <a:ea typeface="方正兰亭黑简体" panose="02000000000000000000" pitchFamily="2" charset="-122"/>
            </a:endParaRPr>
          </a:p>
        </p:txBody>
      </p:sp>
      <p:sp>
        <p:nvSpPr>
          <p:cNvPr id="16" name="椭圆 15"/>
          <p:cNvSpPr/>
          <p:nvPr/>
        </p:nvSpPr>
        <p:spPr bwMode="auto">
          <a:xfrm>
            <a:off x="1819657" y="2061400"/>
            <a:ext cx="747521" cy="243320"/>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Z</a:t>
            </a:r>
            <a:endParaRPr lang="zh-CN" altLang="en-US" sz="900" dirty="0">
              <a:latin typeface="Huawei Sans" panose="020C0503030203020204" pitchFamily="34" charset="0"/>
              <a:ea typeface="方正兰亭黑简体" panose="02000000000000000000" pitchFamily="2" charset="-122"/>
            </a:endParaRPr>
          </a:p>
        </p:txBody>
      </p:sp>
      <p:sp>
        <p:nvSpPr>
          <p:cNvPr id="28" name="椭圆 27"/>
          <p:cNvSpPr/>
          <p:nvPr/>
        </p:nvSpPr>
        <p:spPr bwMode="auto">
          <a:xfrm>
            <a:off x="2629471" y="4507155"/>
            <a:ext cx="622934" cy="243320"/>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DSP</a:t>
            </a:r>
            <a:endParaRPr lang="zh-CN" altLang="en-US" sz="900" dirty="0">
              <a:latin typeface="Huawei Sans" panose="020C0503030203020204" pitchFamily="34" charset="0"/>
              <a:ea typeface="方正兰亭黑简体" panose="02000000000000000000" pitchFamily="2" charset="-122"/>
            </a:endParaRPr>
          </a:p>
        </p:txBody>
      </p:sp>
      <p:sp>
        <p:nvSpPr>
          <p:cNvPr id="29" name="椭圆 28"/>
          <p:cNvSpPr/>
          <p:nvPr/>
        </p:nvSpPr>
        <p:spPr bwMode="auto">
          <a:xfrm>
            <a:off x="2629471" y="4203007"/>
            <a:ext cx="622934" cy="243320"/>
          </a:xfrm>
          <a:prstGeom prst="ellipse">
            <a:avLst/>
          </a:prstGeom>
          <a:solidFill>
            <a:schemeClr val="accent2"/>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ctr" anchorCtr="0" compatLnSpc="1">
            <a:prstTxWarp prst="textNoShape">
              <a:avLst/>
            </a:prstTxWarp>
          </a:bodyPr>
          <a:lstStyle/>
          <a:p>
            <a:pPr algn="ctr" defTabSz="685732">
              <a:buClr>
                <a:srgbClr val="CC9900"/>
              </a:buClr>
            </a:pPr>
            <a:r>
              <a:rPr lang="en-US" altLang="zh-CN" sz="900" dirty="0">
                <a:latin typeface="Huawei Sans" panose="020C0503030203020204" pitchFamily="34" charset="0"/>
                <a:ea typeface="方正兰亭黑简体" panose="02000000000000000000" pitchFamily="2" charset="-122"/>
              </a:rPr>
              <a:t>NP</a:t>
            </a:r>
            <a:endParaRPr lang="zh-CN" altLang="en-US" sz="900" dirty="0">
              <a:latin typeface="Huawei Sans" panose="020C0503030203020204" pitchFamily="34" charset="0"/>
              <a:ea typeface="方正兰亭黑简体" panose="02000000000000000000" pitchFamily="2" charset="-122"/>
            </a:endParaRPr>
          </a:p>
        </p:txBody>
      </p:sp>
      <p:cxnSp>
        <p:nvCxnSpPr>
          <p:cNvPr id="32" name="直接连接符 31"/>
          <p:cNvCxnSpPr/>
          <p:nvPr/>
        </p:nvCxnSpPr>
        <p:spPr bwMode="auto">
          <a:xfrm>
            <a:off x="1165728" y="4132895"/>
            <a:ext cx="6737932" cy="0"/>
          </a:xfrm>
          <a:prstGeom prst="line">
            <a:avLst/>
          </a:prstGeom>
          <a:noFill/>
          <a:ln>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连接符 32"/>
          <p:cNvCxnSpPr/>
          <p:nvPr/>
        </p:nvCxnSpPr>
        <p:spPr bwMode="auto">
          <a:xfrm flipV="1">
            <a:off x="1166360" y="3129786"/>
            <a:ext cx="6803672" cy="29967"/>
          </a:xfrm>
          <a:prstGeom prst="line">
            <a:avLst/>
          </a:prstGeom>
          <a:noFill/>
          <a:ln>
            <a:solidFill>
              <a:schemeClr val="tx1"/>
            </a:solidFill>
            <a:prstDash val="dash"/>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矩形标注 38"/>
          <p:cNvSpPr/>
          <p:nvPr/>
        </p:nvSpPr>
        <p:spPr bwMode="auto">
          <a:xfrm>
            <a:off x="4345566" y="4670933"/>
            <a:ext cx="1468572" cy="194073"/>
          </a:xfrm>
          <a:prstGeom prst="wedgeRectCallout">
            <a:avLst>
              <a:gd name="adj1" fmla="val -37764"/>
              <a:gd name="adj2" fmla="val -124805"/>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t" anchorCtr="0" compatLnSpc="1">
            <a:prstTxWarp prst="textNoShape">
              <a:avLst/>
            </a:prstTxWarp>
          </a:bodyPr>
          <a:lstStyle/>
          <a:p>
            <a:pPr defTabSz="685732">
              <a:buClr>
                <a:srgbClr val="CC9900"/>
              </a:buClr>
            </a:pPr>
            <a:r>
              <a:rPr lang="zh-CN" altLang="en-US" sz="1050" dirty="0">
                <a:latin typeface="Huawei Sans" panose="020C0503030203020204" pitchFamily="34" charset="0"/>
                <a:ea typeface="方正兰亭黑简体" panose="02000000000000000000" pitchFamily="2" charset="-122"/>
              </a:rPr>
              <a:t>完全开放，生态良好</a:t>
            </a:r>
          </a:p>
        </p:txBody>
      </p:sp>
      <p:sp>
        <p:nvSpPr>
          <p:cNvPr id="41" name="TextBox 40"/>
          <p:cNvSpPr txBox="1"/>
          <p:nvPr/>
        </p:nvSpPr>
        <p:spPr>
          <a:xfrm>
            <a:off x="7141483" y="2273216"/>
            <a:ext cx="530915" cy="300082"/>
          </a:xfrm>
          <a:prstGeom prst="rect">
            <a:avLst/>
          </a:prstGeom>
          <a:noFill/>
        </p:spPr>
        <p:txBody>
          <a:bodyPr wrap="none" rtlCol="0">
            <a:spAutoFit/>
          </a:bodyPr>
          <a:lstStyle/>
          <a:p>
            <a:r>
              <a:rPr lang="zh-CN" altLang="en-US" sz="1350" dirty="0">
                <a:solidFill>
                  <a:srgbClr val="990000"/>
                </a:solidFill>
                <a:latin typeface="Huawei Sans" panose="020C0503030203020204" pitchFamily="34" charset="0"/>
                <a:ea typeface="方正兰亭黑简体" panose="02000000000000000000" pitchFamily="2" charset="-122"/>
              </a:rPr>
              <a:t>众核</a:t>
            </a:r>
          </a:p>
        </p:txBody>
      </p:sp>
      <p:sp>
        <p:nvSpPr>
          <p:cNvPr id="42" name="TextBox 41"/>
          <p:cNvSpPr txBox="1"/>
          <p:nvPr/>
        </p:nvSpPr>
        <p:spPr>
          <a:xfrm>
            <a:off x="7203292" y="3299302"/>
            <a:ext cx="530915" cy="300082"/>
          </a:xfrm>
          <a:prstGeom prst="rect">
            <a:avLst/>
          </a:prstGeom>
          <a:noFill/>
        </p:spPr>
        <p:txBody>
          <a:bodyPr wrap="none" rtlCol="0">
            <a:spAutoFit/>
          </a:bodyPr>
          <a:lstStyle/>
          <a:p>
            <a:r>
              <a:rPr lang="zh-CN" altLang="en-US" sz="1350" dirty="0">
                <a:solidFill>
                  <a:srgbClr val="990000"/>
                </a:solidFill>
                <a:latin typeface="Huawei Sans" panose="020C0503030203020204" pitchFamily="34" charset="0"/>
                <a:ea typeface="方正兰亭黑简体" panose="02000000000000000000" pitchFamily="2" charset="-122"/>
              </a:rPr>
              <a:t>异构</a:t>
            </a:r>
          </a:p>
        </p:txBody>
      </p:sp>
      <p:sp>
        <p:nvSpPr>
          <p:cNvPr id="43" name="TextBox 42"/>
          <p:cNvSpPr txBox="1"/>
          <p:nvPr/>
        </p:nvSpPr>
        <p:spPr>
          <a:xfrm>
            <a:off x="7230295" y="4151854"/>
            <a:ext cx="530915" cy="300082"/>
          </a:xfrm>
          <a:prstGeom prst="rect">
            <a:avLst/>
          </a:prstGeom>
          <a:noFill/>
        </p:spPr>
        <p:txBody>
          <a:bodyPr wrap="none" rtlCol="0">
            <a:spAutoFit/>
          </a:bodyPr>
          <a:lstStyle/>
          <a:p>
            <a:r>
              <a:rPr lang="zh-CN" altLang="en-US" sz="1350" dirty="0">
                <a:solidFill>
                  <a:srgbClr val="990000"/>
                </a:solidFill>
                <a:latin typeface="Huawei Sans" panose="020C0503030203020204" pitchFamily="34" charset="0"/>
                <a:ea typeface="方正兰亭黑简体" panose="02000000000000000000" pitchFamily="2" charset="-122"/>
              </a:rPr>
              <a:t>融合</a:t>
            </a:r>
          </a:p>
        </p:txBody>
      </p:sp>
      <p:sp>
        <p:nvSpPr>
          <p:cNvPr id="44" name="矩形标注 43"/>
          <p:cNvSpPr/>
          <p:nvPr/>
        </p:nvSpPr>
        <p:spPr bwMode="auto">
          <a:xfrm>
            <a:off x="4777602" y="4421925"/>
            <a:ext cx="1489529" cy="199484"/>
          </a:xfrm>
          <a:prstGeom prst="wedgeRectCallout">
            <a:avLst>
              <a:gd name="adj1" fmla="val -37764"/>
              <a:gd name="adj2" fmla="val -124805"/>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t" anchorCtr="0" compatLnSpc="1">
            <a:prstTxWarp prst="textNoShape">
              <a:avLst/>
            </a:prstTxWarp>
          </a:bodyPr>
          <a:lstStyle/>
          <a:p>
            <a:pPr defTabSz="685732">
              <a:buClr>
                <a:srgbClr val="CC9900"/>
              </a:buClr>
            </a:pPr>
            <a:r>
              <a:rPr lang="zh-CN" altLang="en-US" sz="1050" dirty="0">
                <a:latin typeface="Huawei Sans" panose="020C0503030203020204" pitchFamily="34" charset="0"/>
                <a:ea typeface="方正兰亭黑简体" panose="02000000000000000000" pitchFamily="2" charset="-122"/>
              </a:rPr>
              <a:t>学习</a:t>
            </a:r>
            <a:r>
              <a:rPr lang="en-US" altLang="zh-CN" sz="1050" dirty="0">
                <a:latin typeface="Huawei Sans" panose="020C0503030203020204" pitchFamily="34" charset="0"/>
                <a:ea typeface="方正兰亭黑简体" panose="02000000000000000000" pitchFamily="2" charset="-122"/>
              </a:rPr>
              <a:t>ARM</a:t>
            </a:r>
            <a:r>
              <a:rPr lang="zh-CN" altLang="en-US" sz="1050" dirty="0">
                <a:latin typeface="Huawei Sans" panose="020C0503030203020204" pitchFamily="34" charset="0"/>
                <a:ea typeface="方正兰亭黑简体" panose="02000000000000000000" pitchFamily="2" charset="-122"/>
              </a:rPr>
              <a:t>，谋求复生</a:t>
            </a:r>
          </a:p>
        </p:txBody>
      </p:sp>
      <p:sp>
        <p:nvSpPr>
          <p:cNvPr id="45" name="矩形标注 44"/>
          <p:cNvSpPr/>
          <p:nvPr/>
        </p:nvSpPr>
        <p:spPr bwMode="auto">
          <a:xfrm>
            <a:off x="4546756" y="2150447"/>
            <a:ext cx="461690" cy="237151"/>
          </a:xfrm>
          <a:prstGeom prst="wedgeRectCallout">
            <a:avLst>
              <a:gd name="adj1" fmla="val -32926"/>
              <a:gd name="adj2" fmla="val 192660"/>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t" anchorCtr="0" compatLnSpc="1">
            <a:prstTxWarp prst="textNoShape">
              <a:avLst/>
            </a:prstTxWarp>
          </a:bodyPr>
          <a:lstStyle/>
          <a:p>
            <a:pPr defTabSz="685732">
              <a:buClr>
                <a:srgbClr val="CC9900"/>
              </a:buClr>
            </a:pPr>
            <a:r>
              <a:rPr lang="zh-CN" altLang="en-US" sz="1050" dirty="0">
                <a:latin typeface="Huawei Sans" panose="020C0503030203020204" pitchFamily="34" charset="0"/>
                <a:ea typeface="方正兰亭黑简体" panose="02000000000000000000" pitchFamily="2" charset="-122"/>
              </a:rPr>
              <a:t>开放</a:t>
            </a:r>
          </a:p>
        </p:txBody>
      </p:sp>
      <p:sp>
        <p:nvSpPr>
          <p:cNvPr id="46" name="矩形标注 45"/>
          <p:cNvSpPr/>
          <p:nvPr/>
        </p:nvSpPr>
        <p:spPr bwMode="auto">
          <a:xfrm>
            <a:off x="5155633" y="3320823"/>
            <a:ext cx="756062" cy="208888"/>
          </a:xfrm>
          <a:prstGeom prst="wedgeRectCallout">
            <a:avLst>
              <a:gd name="adj1" fmla="val -95183"/>
              <a:gd name="adj2" fmla="val 155623"/>
            </a:avLst>
          </a:prstGeom>
          <a:noFill/>
          <a:ln>
            <a:solidFill>
              <a:schemeClr val="tx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78" tIns="34289" rIns="68578" bIns="34289" numCol="1" rtlCol="0" anchor="t" anchorCtr="0" compatLnSpc="1">
            <a:prstTxWarp prst="textNoShape">
              <a:avLst/>
            </a:prstTxWarp>
          </a:bodyPr>
          <a:lstStyle/>
          <a:p>
            <a:pPr defTabSz="685732">
              <a:buClr>
                <a:srgbClr val="CC9900"/>
              </a:buClr>
            </a:pPr>
            <a:r>
              <a:rPr lang="zh-CN" altLang="en-US" sz="1050" dirty="0">
                <a:latin typeface="Huawei Sans" panose="020C0503030203020204" pitchFamily="34" charset="0"/>
                <a:ea typeface="方正兰亭黑简体" panose="02000000000000000000" pitchFamily="2" charset="-122"/>
              </a:rPr>
              <a:t>封闭架构</a:t>
            </a:r>
          </a:p>
        </p:txBody>
      </p:sp>
      <p:sp>
        <p:nvSpPr>
          <p:cNvPr id="49" name="TextBox 48"/>
          <p:cNvSpPr txBox="1"/>
          <p:nvPr/>
        </p:nvSpPr>
        <p:spPr>
          <a:xfrm>
            <a:off x="6351182" y="2630938"/>
            <a:ext cx="1912469" cy="461665"/>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rPr>
              <a:t>内核数量大量增加，处理器互联。</a:t>
            </a:r>
          </a:p>
        </p:txBody>
      </p:sp>
      <p:sp>
        <p:nvSpPr>
          <p:cNvPr id="50" name="TextBox 49"/>
          <p:cNvSpPr txBox="1"/>
          <p:nvPr/>
        </p:nvSpPr>
        <p:spPr>
          <a:xfrm>
            <a:off x="6351181" y="3682051"/>
            <a:ext cx="1406154"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CPU+GPGPU+FPGA</a:t>
            </a:r>
            <a:endParaRPr lang="zh-CN" altLang="en-US" sz="1200" dirty="0">
              <a:latin typeface="Huawei Sans" panose="020C0503030203020204" pitchFamily="34" charset="0"/>
              <a:ea typeface="方正兰亭黑简体" panose="02000000000000000000" pitchFamily="2" charset="-122"/>
            </a:endParaRPr>
          </a:p>
        </p:txBody>
      </p:sp>
      <p:sp>
        <p:nvSpPr>
          <p:cNvPr id="51" name="TextBox 50"/>
          <p:cNvSpPr txBox="1"/>
          <p:nvPr/>
        </p:nvSpPr>
        <p:spPr>
          <a:xfrm>
            <a:off x="6375138" y="4358699"/>
            <a:ext cx="1872156" cy="646331"/>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rPr>
              <a:t>内存体系重构，</a:t>
            </a:r>
            <a:r>
              <a:rPr lang="en-US" altLang="zh-CN" sz="1200" dirty="0">
                <a:latin typeface="Huawei Sans" panose="020C0503030203020204" pitchFamily="34" charset="0"/>
                <a:ea typeface="方正兰亭黑简体" panose="02000000000000000000" pitchFamily="2" charset="-122"/>
              </a:rPr>
              <a:t>CPU/</a:t>
            </a:r>
            <a:r>
              <a:rPr lang="zh-CN" altLang="en-US" sz="1200" dirty="0">
                <a:latin typeface="Huawei Sans" panose="020C0503030203020204" pitchFamily="34" charset="0"/>
                <a:ea typeface="方正兰亭黑简体" panose="02000000000000000000" pitchFamily="2" charset="-122"/>
              </a:rPr>
              <a:t>内存深度融合，内存更贴近计算。</a:t>
            </a:r>
          </a:p>
        </p:txBody>
      </p:sp>
      <p:sp>
        <p:nvSpPr>
          <p:cNvPr id="52" name="TextBox 51"/>
          <p:cNvSpPr txBox="1"/>
          <p:nvPr/>
        </p:nvSpPr>
        <p:spPr>
          <a:xfrm>
            <a:off x="1265057" y="5015973"/>
            <a:ext cx="2031325"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rPr>
              <a:t>过去：架构众多，百花齐放</a:t>
            </a:r>
          </a:p>
        </p:txBody>
      </p:sp>
      <p:sp>
        <p:nvSpPr>
          <p:cNvPr id="53" name="TextBox 52"/>
          <p:cNvSpPr txBox="1"/>
          <p:nvPr/>
        </p:nvSpPr>
        <p:spPr>
          <a:xfrm>
            <a:off x="3695256" y="5015973"/>
            <a:ext cx="2031325"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rPr>
              <a:t>现在：生态成熟，架构垄断</a:t>
            </a:r>
          </a:p>
        </p:txBody>
      </p:sp>
      <p:sp>
        <p:nvSpPr>
          <p:cNvPr id="55" name="TextBox 54"/>
          <p:cNvSpPr txBox="1"/>
          <p:nvPr/>
        </p:nvSpPr>
        <p:spPr>
          <a:xfrm>
            <a:off x="5948860" y="5011289"/>
            <a:ext cx="2800767"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rPr>
              <a:t>未来：摩尔定律失效，寻求多方向突破</a:t>
            </a:r>
          </a:p>
        </p:txBody>
      </p:sp>
      <p:pic>
        <p:nvPicPr>
          <p:cNvPr id="38" name="图片 37">
            <a:extLst>
              <a:ext uri="{FF2B5EF4-FFF2-40B4-BE49-F238E27FC236}">
                <a16:creationId xmlns:a16="http://schemas.microsoft.com/office/drawing/2014/main" id="{1226394B-DBDC-4D30-8CAF-2596D6277066}"/>
              </a:ext>
            </a:extLst>
          </p:cNvPr>
          <p:cNvPicPr>
            <a:picLocks noChangeAspect="1"/>
          </p:cNvPicPr>
          <p:nvPr/>
        </p:nvPicPr>
        <p:blipFill>
          <a:blip r:embed="rId3"/>
          <a:stretch>
            <a:fillRect/>
          </a:stretch>
        </p:blipFill>
        <p:spPr>
          <a:xfrm>
            <a:off x="5744218" y="5661248"/>
            <a:ext cx="2676525" cy="228600"/>
          </a:xfrm>
          <a:prstGeom prst="rect">
            <a:avLst/>
          </a:prstGeom>
        </p:spPr>
      </p:pic>
      <p:sp>
        <p:nvSpPr>
          <p:cNvPr id="2" name="日期占位符 1">
            <a:extLst>
              <a:ext uri="{FF2B5EF4-FFF2-40B4-BE49-F238E27FC236}">
                <a16:creationId xmlns:a16="http://schemas.microsoft.com/office/drawing/2014/main" id="{20A7F87D-158E-2ADD-033F-9A15E34E2C91}"/>
              </a:ext>
            </a:extLst>
          </p:cNvPr>
          <p:cNvSpPr txBox="1">
            <a:spLocks/>
          </p:cNvSpPr>
          <p:nvPr/>
        </p:nvSpPr>
        <p:spPr bwMode="auto">
          <a:xfrm>
            <a:off x="457200" y="6369438"/>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just" rtl="0" eaLnBrk="0" fontAlgn="ctr" hangingPunct="0">
              <a:spcBef>
                <a:spcPct val="20000"/>
              </a:spcBef>
              <a:spcAft>
                <a:spcPct val="0"/>
              </a:spcAft>
              <a:buClrTx/>
              <a:buFont typeface="Arial" panose="020B0604020202020204" pitchFamily="34" charset="0"/>
              <a:buChar char="•"/>
              <a:defRPr sz="3200"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defRPr/>
            </a:pPr>
            <a:fld id="{4471EA5F-41E1-4CE8-AF72-13017856F2CB}" type="datetime1">
              <a:rPr kumimoji="0" lang="zh-CN" altLang="en-US" sz="1000" b="0" smtClean="0"/>
              <a:pPr marL="0" indent="0">
                <a:buNone/>
                <a:defRPr/>
              </a:pPr>
              <a:t>2025/9/11</a:t>
            </a:fld>
            <a:endParaRPr kumimoji="0" lang="en-US" altLang="zh-CN" sz="1000" b="0" dirty="0"/>
          </a:p>
        </p:txBody>
      </p:sp>
      <p:sp>
        <p:nvSpPr>
          <p:cNvPr id="3" name="页脚占位符 3">
            <a:extLst>
              <a:ext uri="{FF2B5EF4-FFF2-40B4-BE49-F238E27FC236}">
                <a16:creationId xmlns:a16="http://schemas.microsoft.com/office/drawing/2014/main" id="{C99ADE7B-8EA7-C65A-DAB0-5CC19627C129}"/>
              </a:ext>
            </a:extLst>
          </p:cNvPr>
          <p:cNvSpPr txBox="1">
            <a:spLocks/>
          </p:cNvSpPr>
          <p:nvPr/>
        </p:nvSpPr>
        <p:spPr>
          <a:xfrm>
            <a:off x="3124200" y="6369438"/>
            <a:ext cx="2895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r>
              <a:rPr lang="zh-CN" altLang="en-US"/>
              <a:t>计算学部 计算机体系结构 刘宏伟</a:t>
            </a:r>
            <a:endParaRPr lang="en-US" altLang="zh-CN"/>
          </a:p>
        </p:txBody>
      </p:sp>
      <p:sp>
        <p:nvSpPr>
          <p:cNvPr id="6" name="灯片编号占位符 4">
            <a:extLst>
              <a:ext uri="{FF2B5EF4-FFF2-40B4-BE49-F238E27FC236}">
                <a16:creationId xmlns:a16="http://schemas.microsoft.com/office/drawing/2014/main" id="{A525E7B4-8959-3712-99D8-81DE6F911D74}"/>
              </a:ext>
            </a:extLst>
          </p:cNvPr>
          <p:cNvSpPr txBox="1">
            <a:spLocks/>
          </p:cNvSpPr>
          <p:nvPr/>
        </p:nvSpPr>
        <p:spPr>
          <a:xfrm>
            <a:off x="6553200" y="6369438"/>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8BCAC33D-D29A-48B3-BCD6-381D3D720D26}" type="slidenum">
              <a:rPr lang="zh-CN" altLang="en-US" smtClean="0"/>
              <a:pPr>
                <a:defRPr/>
              </a:pPr>
              <a:t>16</a:t>
            </a:fld>
            <a:endParaRPr lang="en-US" altLang="zh-CN"/>
          </a:p>
        </p:txBody>
      </p:sp>
    </p:spTree>
    <p:extLst>
      <p:ext uri="{BB962C8B-B14F-4D97-AF65-F5344CB8AC3E}">
        <p14:creationId xmlns:p14="http://schemas.microsoft.com/office/powerpoint/2010/main" val="1922298807"/>
      </p:ext>
    </p:extLst>
  </p:cSld>
  <p:clrMapOvr>
    <a:masterClrMapping/>
  </p:clrMapOvr>
  <mc:AlternateContent xmlns:mc="http://schemas.openxmlformats.org/markup-compatibility/2006" xmlns:p14="http://schemas.microsoft.com/office/powerpoint/2010/main">
    <mc:Choice Requires="p14">
      <p:transition p14:dur="0" advClick="0" advTm="8000"/>
    </mc:Choice>
    <mc:Fallback xmlns="">
      <p:transition advClick="0" advTm="8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noAutofit/>
          </a:bodyPr>
          <a:lstStyle/>
          <a:p>
            <a:r>
              <a:rPr lang="zh-CN" altLang="en-US" sz="3600" b="1" dirty="0">
                <a:latin typeface="Times New Roman" panose="02020603050405020304" pitchFamily="18" charset="0"/>
                <a:ea typeface="+mn-ea"/>
                <a:cs typeface="Times New Roman" panose="02020603050405020304" pitchFamily="18" charset="0"/>
              </a:rPr>
              <a:t>主流</a:t>
            </a:r>
            <a:r>
              <a:rPr lang="en-US" altLang="zh-CN" sz="3600" b="1" dirty="0">
                <a:latin typeface="Times New Roman" panose="02020603050405020304" pitchFamily="18" charset="0"/>
                <a:ea typeface="+mn-ea"/>
                <a:cs typeface="Times New Roman" panose="02020603050405020304" pitchFamily="18" charset="0"/>
              </a:rPr>
              <a:t>CPU</a:t>
            </a:r>
            <a:r>
              <a:rPr lang="zh-CN" altLang="en-US" sz="3600" b="1" dirty="0">
                <a:latin typeface="Times New Roman" panose="02020603050405020304" pitchFamily="18" charset="0"/>
                <a:ea typeface="+mn-ea"/>
                <a:cs typeface="Times New Roman" panose="02020603050405020304" pitchFamily="18" charset="0"/>
              </a:rPr>
              <a:t>发展路径</a:t>
            </a:r>
          </a:p>
        </p:txBody>
      </p:sp>
      <p:cxnSp>
        <p:nvCxnSpPr>
          <p:cNvPr id="7" name="直接箭头连接符 6"/>
          <p:cNvCxnSpPr/>
          <p:nvPr/>
        </p:nvCxnSpPr>
        <p:spPr bwMode="auto">
          <a:xfrm flipV="1">
            <a:off x="1249275" y="1781817"/>
            <a:ext cx="0" cy="35913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 name="直接箭头连接符 9"/>
          <p:cNvCxnSpPr/>
          <p:nvPr/>
        </p:nvCxnSpPr>
        <p:spPr bwMode="auto">
          <a:xfrm>
            <a:off x="1249275" y="5373216"/>
            <a:ext cx="691276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2" name="矩形 11"/>
          <p:cNvSpPr/>
          <p:nvPr/>
        </p:nvSpPr>
        <p:spPr bwMode="auto">
          <a:xfrm>
            <a:off x="1412418" y="5397369"/>
            <a:ext cx="810090" cy="219190"/>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1050" b="0" dirty="0">
                <a:latin typeface="Huawei Sans" panose="020C0503030203020204" pitchFamily="34" charset="0"/>
                <a:ea typeface="方正兰亭黑简体" panose="02000000000000000000" pitchFamily="2" charset="-122"/>
              </a:rPr>
              <a:t>1970s</a:t>
            </a:r>
            <a:endParaRPr kumimoji="0" lang="zh-CN" altLang="en-US" sz="1050" b="0" dirty="0">
              <a:latin typeface="Huawei Sans" panose="020C0503030203020204" pitchFamily="34" charset="0"/>
              <a:ea typeface="方正兰亭黑简体" panose="02000000000000000000" pitchFamily="2" charset="-122"/>
            </a:endParaRPr>
          </a:p>
        </p:txBody>
      </p:sp>
      <p:sp>
        <p:nvSpPr>
          <p:cNvPr id="14" name="矩形 13"/>
          <p:cNvSpPr/>
          <p:nvPr/>
        </p:nvSpPr>
        <p:spPr bwMode="auto">
          <a:xfrm>
            <a:off x="3496798" y="5403293"/>
            <a:ext cx="2476910" cy="207132"/>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1050" b="0" dirty="0">
                <a:latin typeface="Huawei Sans" panose="020C0503030203020204" pitchFamily="34" charset="0"/>
                <a:ea typeface="方正兰亭黑简体" panose="02000000000000000000" pitchFamily="2" charset="-122"/>
              </a:rPr>
              <a:t>1990s</a:t>
            </a:r>
          </a:p>
        </p:txBody>
      </p:sp>
      <p:sp>
        <p:nvSpPr>
          <p:cNvPr id="15" name="矩形 14"/>
          <p:cNvSpPr/>
          <p:nvPr/>
        </p:nvSpPr>
        <p:spPr bwMode="auto">
          <a:xfrm>
            <a:off x="2501333" y="5404937"/>
            <a:ext cx="810090" cy="211623"/>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1050" b="0" dirty="0">
                <a:latin typeface="Huawei Sans" panose="020C0503030203020204" pitchFamily="34" charset="0"/>
                <a:ea typeface="方正兰亭黑简体" panose="02000000000000000000" pitchFamily="2" charset="-122"/>
              </a:rPr>
              <a:t>1980s</a:t>
            </a:r>
            <a:endParaRPr kumimoji="0" lang="zh-CN" altLang="en-US" sz="1050" b="0" dirty="0">
              <a:latin typeface="Huawei Sans" panose="020C0503030203020204" pitchFamily="34" charset="0"/>
              <a:ea typeface="方正兰亭黑简体" panose="02000000000000000000" pitchFamily="2" charset="-122"/>
            </a:endParaRPr>
          </a:p>
        </p:txBody>
      </p:sp>
      <p:sp>
        <p:nvSpPr>
          <p:cNvPr id="16" name="矩形 15"/>
          <p:cNvSpPr/>
          <p:nvPr/>
        </p:nvSpPr>
        <p:spPr bwMode="auto">
          <a:xfrm>
            <a:off x="6138859" y="5413144"/>
            <a:ext cx="1942465" cy="207132"/>
          </a:xfrm>
          <a:prstGeom prst="rect">
            <a:avLst/>
          </a:prstGeom>
          <a:solidFill>
            <a:schemeClr val="bg2"/>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lang="en-US" altLang="zh-CN" sz="1050" dirty="0">
                <a:latin typeface="Huawei Sans" panose="020C0503030203020204" pitchFamily="34" charset="0"/>
                <a:ea typeface="方正兰亭黑简体" panose="02000000000000000000" pitchFamily="2" charset="-122"/>
              </a:rPr>
              <a:t>2000s</a:t>
            </a:r>
            <a:endParaRPr kumimoji="0" lang="zh-CN" altLang="en-US" sz="1050" b="0" dirty="0">
              <a:latin typeface="Huawei Sans" panose="020C0503030203020204" pitchFamily="34" charset="0"/>
              <a:ea typeface="方正兰亭黑简体" panose="02000000000000000000" pitchFamily="2" charset="-122"/>
            </a:endParaRPr>
          </a:p>
        </p:txBody>
      </p:sp>
      <p:sp>
        <p:nvSpPr>
          <p:cNvPr id="13" name="矩形 12"/>
          <p:cNvSpPr/>
          <p:nvPr/>
        </p:nvSpPr>
        <p:spPr bwMode="auto">
          <a:xfrm>
            <a:off x="1485536" y="3363282"/>
            <a:ext cx="677079" cy="227737"/>
          </a:xfrm>
          <a:prstGeom prst="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solidFill>
                  <a:schemeClr val="bg1"/>
                </a:solidFill>
                <a:latin typeface="Huawei Sans" panose="020C0503030203020204" pitchFamily="34" charset="0"/>
                <a:ea typeface="方正兰亭黑简体" panose="02000000000000000000" pitchFamily="2" charset="-122"/>
              </a:rPr>
              <a:t>IBM801</a:t>
            </a:r>
          </a:p>
          <a:p>
            <a:pPr algn="ctr" defTabSz="685800" fontAlgn="t"/>
            <a:endParaRPr kumimoji="0"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18" name="矩形 17"/>
          <p:cNvSpPr/>
          <p:nvPr/>
        </p:nvSpPr>
        <p:spPr bwMode="auto">
          <a:xfrm>
            <a:off x="6300739" y="2978326"/>
            <a:ext cx="648516" cy="230594"/>
          </a:xfrm>
          <a:prstGeom prst="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solidFill>
                  <a:schemeClr val="bg1"/>
                </a:solidFill>
                <a:latin typeface="Huawei Sans" panose="020C0503030203020204" pitchFamily="34" charset="0"/>
                <a:ea typeface="方正兰亭黑简体" panose="02000000000000000000" pitchFamily="2" charset="-122"/>
              </a:rPr>
              <a:t>POWER5</a:t>
            </a:r>
            <a:endParaRPr kumimoji="0"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22" name="矩形 21"/>
          <p:cNvSpPr/>
          <p:nvPr/>
        </p:nvSpPr>
        <p:spPr bwMode="auto">
          <a:xfrm>
            <a:off x="7214498" y="2977118"/>
            <a:ext cx="712709" cy="216359"/>
          </a:xfrm>
          <a:prstGeom prst="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solidFill>
                  <a:schemeClr val="bg1"/>
                </a:solidFill>
                <a:latin typeface="Huawei Sans" panose="020C0503030203020204" pitchFamily="34" charset="0"/>
                <a:ea typeface="方正兰亭黑简体" panose="02000000000000000000" pitchFamily="2" charset="-122"/>
              </a:rPr>
              <a:t>POWER6</a:t>
            </a:r>
            <a:endParaRPr kumimoji="0"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23" name="矩形 22"/>
          <p:cNvSpPr/>
          <p:nvPr/>
        </p:nvSpPr>
        <p:spPr bwMode="auto">
          <a:xfrm>
            <a:off x="4604592" y="2978326"/>
            <a:ext cx="693702" cy="217240"/>
          </a:xfrm>
          <a:prstGeom prst="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solidFill>
                  <a:schemeClr val="bg1"/>
                </a:solidFill>
                <a:latin typeface="Huawei Sans" panose="020C0503030203020204" pitchFamily="34" charset="0"/>
                <a:ea typeface="方正兰亭黑简体" panose="02000000000000000000" pitchFamily="2" charset="-122"/>
              </a:rPr>
              <a:t>POWER3</a:t>
            </a:r>
            <a:endParaRPr kumimoji="0"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24" name="矩形 23"/>
          <p:cNvSpPr/>
          <p:nvPr/>
        </p:nvSpPr>
        <p:spPr bwMode="auto">
          <a:xfrm>
            <a:off x="3836941" y="2975502"/>
            <a:ext cx="623012" cy="221549"/>
          </a:xfrm>
          <a:prstGeom prst="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solidFill>
                  <a:schemeClr val="bg1"/>
                </a:solidFill>
                <a:latin typeface="Huawei Sans" panose="020C0503030203020204" pitchFamily="34" charset="0"/>
                <a:ea typeface="方正兰亭黑简体" panose="02000000000000000000" pitchFamily="2" charset="-122"/>
              </a:rPr>
              <a:t>POWER2</a:t>
            </a:r>
            <a:endParaRPr kumimoji="0"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25" name="矩形 24"/>
          <p:cNvSpPr/>
          <p:nvPr/>
        </p:nvSpPr>
        <p:spPr bwMode="auto">
          <a:xfrm>
            <a:off x="3962618" y="3883232"/>
            <a:ext cx="820067" cy="208450"/>
          </a:xfrm>
          <a:prstGeom prst="rect">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 e100/e200</a:t>
            </a:r>
            <a:endParaRPr kumimoji="0" lang="zh-CN" altLang="en-US" sz="900" b="0" dirty="0">
              <a:latin typeface="Huawei Sans" panose="020C0503030203020204" pitchFamily="34" charset="0"/>
              <a:ea typeface="方正兰亭黑简体" panose="02000000000000000000" pitchFamily="2" charset="-122"/>
            </a:endParaRPr>
          </a:p>
        </p:txBody>
      </p:sp>
      <p:sp>
        <p:nvSpPr>
          <p:cNvPr id="28" name="椭圆 27"/>
          <p:cNvSpPr/>
          <p:nvPr/>
        </p:nvSpPr>
        <p:spPr bwMode="auto">
          <a:xfrm>
            <a:off x="3418105" y="4874766"/>
            <a:ext cx="716103" cy="301242"/>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lang="en-US" altLang="zh-CN" sz="900" dirty="0">
                <a:latin typeface="Huawei Sans" panose="020C0503030203020204" pitchFamily="34" charset="0"/>
                <a:ea typeface="方正兰亭黑简体" panose="02000000000000000000" pitchFamily="2" charset="-122"/>
              </a:rPr>
              <a:t>ARM7</a:t>
            </a:r>
          </a:p>
        </p:txBody>
      </p:sp>
      <p:cxnSp>
        <p:nvCxnSpPr>
          <p:cNvPr id="30" name="直接连接符 29"/>
          <p:cNvCxnSpPr/>
          <p:nvPr/>
        </p:nvCxnSpPr>
        <p:spPr bwMode="auto">
          <a:xfrm>
            <a:off x="1249275" y="4725144"/>
            <a:ext cx="669674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2" name="直接连接符 31"/>
          <p:cNvCxnSpPr/>
          <p:nvPr/>
        </p:nvCxnSpPr>
        <p:spPr bwMode="auto">
          <a:xfrm>
            <a:off x="1249275" y="4158081"/>
            <a:ext cx="6723747" cy="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3" name="直接连接符 32"/>
          <p:cNvCxnSpPr/>
          <p:nvPr/>
        </p:nvCxnSpPr>
        <p:spPr bwMode="auto">
          <a:xfrm flipV="1">
            <a:off x="1249275" y="2861937"/>
            <a:ext cx="6794589" cy="2600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6" name="直接连接符 35"/>
          <p:cNvCxnSpPr/>
          <p:nvPr/>
        </p:nvCxnSpPr>
        <p:spPr bwMode="auto">
          <a:xfrm flipV="1">
            <a:off x="6030707" y="1910827"/>
            <a:ext cx="0" cy="3462389"/>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5" name="文本框 34"/>
          <p:cNvSpPr txBox="1"/>
          <p:nvPr/>
        </p:nvSpPr>
        <p:spPr bwMode="auto">
          <a:xfrm>
            <a:off x="698159" y="4932496"/>
            <a:ext cx="664380" cy="228078"/>
          </a:xfrm>
          <a:prstGeom prst="rect">
            <a:avLst/>
          </a:prstGeom>
          <a:noFill/>
          <a:ln w="9525" algn="ctr">
            <a:noFill/>
            <a:miter lim="800000"/>
            <a:headEnd/>
            <a:tailEnd/>
          </a:ln>
        </p:spPr>
        <p:txBody>
          <a:bodyPr vert="horz" wrap="square" lIns="65852" tIns="32926" rIns="65852" bIns="32926" numCol="1" rtlCol="0" anchor="ctr" anchorCtr="0" compatLnSpc="1">
            <a:prstTxWarp prst="textNoShape">
              <a:avLst/>
            </a:prstTxWarp>
            <a:spAutoFit/>
          </a:bodyPr>
          <a:lstStyle/>
          <a:p>
            <a:pPr algn="ctr"/>
            <a:r>
              <a:rPr lang="en-US" altLang="zh-CN" sz="1050" dirty="0">
                <a:latin typeface="Huawei Sans" panose="020C0503030203020204" pitchFamily="34" charset="0"/>
                <a:ea typeface="方正兰亭黑简体" panose="02000000000000000000" pitchFamily="2" charset="-122"/>
              </a:rPr>
              <a:t>ARM</a:t>
            </a:r>
            <a:endParaRPr lang="zh-CN" altLang="en-US" sz="1050" dirty="0">
              <a:latin typeface="Huawei Sans" panose="020C0503030203020204" pitchFamily="34" charset="0"/>
              <a:ea typeface="方正兰亭黑简体" panose="02000000000000000000" pitchFamily="2" charset="-122"/>
            </a:endParaRPr>
          </a:p>
        </p:txBody>
      </p:sp>
      <p:sp>
        <p:nvSpPr>
          <p:cNvPr id="39" name="文本框 38"/>
          <p:cNvSpPr txBox="1"/>
          <p:nvPr/>
        </p:nvSpPr>
        <p:spPr bwMode="auto">
          <a:xfrm>
            <a:off x="748828" y="3165640"/>
            <a:ext cx="559552" cy="228078"/>
          </a:xfrm>
          <a:prstGeom prst="rect">
            <a:avLst/>
          </a:prstGeom>
          <a:noFill/>
          <a:ln w="9525" algn="ctr">
            <a:noFill/>
            <a:miter lim="800000"/>
            <a:headEnd/>
            <a:tailEnd/>
          </a:ln>
        </p:spPr>
        <p:txBody>
          <a:bodyPr vert="horz" wrap="square" lIns="65852" tIns="32926" rIns="65852" bIns="32926" numCol="1" rtlCol="0" anchor="ctr" anchorCtr="0" compatLnSpc="1">
            <a:prstTxWarp prst="textNoShape">
              <a:avLst/>
            </a:prstTxWarp>
            <a:spAutoFit/>
          </a:bodyPr>
          <a:lstStyle/>
          <a:p>
            <a:pPr algn="ctr"/>
            <a:r>
              <a:rPr lang="en-US" altLang="zh-CN" sz="1050" dirty="0">
                <a:latin typeface="Huawei Sans" panose="020C0503030203020204" pitchFamily="34" charset="0"/>
                <a:ea typeface="方正兰亭黑简体" panose="02000000000000000000" pitchFamily="2" charset="-122"/>
              </a:rPr>
              <a:t>PPC</a:t>
            </a:r>
            <a:endParaRPr lang="zh-CN" altLang="en-US" sz="1050" dirty="0">
              <a:latin typeface="Huawei Sans" panose="020C0503030203020204" pitchFamily="34" charset="0"/>
              <a:ea typeface="方正兰亭黑简体" panose="02000000000000000000" pitchFamily="2" charset="-122"/>
            </a:endParaRPr>
          </a:p>
        </p:txBody>
      </p:sp>
      <p:sp>
        <p:nvSpPr>
          <p:cNvPr id="40" name="文本框 39"/>
          <p:cNvSpPr txBox="1"/>
          <p:nvPr/>
        </p:nvSpPr>
        <p:spPr bwMode="auto">
          <a:xfrm>
            <a:off x="698159" y="4218179"/>
            <a:ext cx="679122" cy="228078"/>
          </a:xfrm>
          <a:prstGeom prst="rect">
            <a:avLst/>
          </a:prstGeom>
          <a:noFill/>
          <a:ln w="9525" algn="ctr">
            <a:noFill/>
            <a:miter lim="800000"/>
            <a:headEnd/>
            <a:tailEnd/>
          </a:ln>
        </p:spPr>
        <p:txBody>
          <a:bodyPr vert="horz" wrap="square" lIns="65852" tIns="32926" rIns="65852" bIns="32926" numCol="1" rtlCol="0" anchor="ctr" anchorCtr="0" compatLnSpc="1">
            <a:prstTxWarp prst="textNoShape">
              <a:avLst/>
            </a:prstTxWarp>
            <a:spAutoFit/>
          </a:bodyPr>
          <a:lstStyle/>
          <a:p>
            <a:pPr algn="ctr"/>
            <a:r>
              <a:rPr lang="en-US" altLang="zh-CN" sz="1050" dirty="0">
                <a:latin typeface="Huawei Sans" panose="020C0503030203020204" pitchFamily="34" charset="0"/>
                <a:ea typeface="方正兰亭黑简体" panose="02000000000000000000" pitchFamily="2" charset="-122"/>
              </a:rPr>
              <a:t>MIPS</a:t>
            </a:r>
            <a:endParaRPr lang="zh-CN" altLang="en-US" sz="1050" dirty="0">
              <a:latin typeface="Huawei Sans" panose="020C0503030203020204" pitchFamily="34" charset="0"/>
              <a:ea typeface="方正兰亭黑简体" panose="02000000000000000000" pitchFamily="2" charset="-122"/>
            </a:endParaRPr>
          </a:p>
        </p:txBody>
      </p:sp>
      <p:sp>
        <p:nvSpPr>
          <p:cNvPr id="41" name="文本框 40"/>
          <p:cNvSpPr txBox="1"/>
          <p:nvPr/>
        </p:nvSpPr>
        <p:spPr bwMode="auto">
          <a:xfrm>
            <a:off x="794459" y="2223115"/>
            <a:ext cx="508567" cy="228078"/>
          </a:xfrm>
          <a:prstGeom prst="rect">
            <a:avLst/>
          </a:prstGeom>
          <a:noFill/>
          <a:ln w="9525" algn="ctr">
            <a:noFill/>
            <a:miter lim="800000"/>
            <a:headEnd/>
            <a:tailEnd/>
          </a:ln>
        </p:spPr>
        <p:txBody>
          <a:bodyPr vert="horz" wrap="square" lIns="65852" tIns="32926" rIns="65852" bIns="32926" numCol="1" rtlCol="0" anchor="ctr" anchorCtr="0" compatLnSpc="1">
            <a:prstTxWarp prst="textNoShape">
              <a:avLst/>
            </a:prstTxWarp>
            <a:spAutoFit/>
          </a:bodyPr>
          <a:lstStyle/>
          <a:p>
            <a:pPr algn="ctr"/>
            <a:r>
              <a:rPr lang="en-US" altLang="zh-CN" sz="1050" dirty="0">
                <a:latin typeface="Huawei Sans" panose="020C0503030203020204" pitchFamily="34" charset="0"/>
                <a:ea typeface="方正兰亭黑简体" panose="02000000000000000000" pitchFamily="2" charset="-122"/>
              </a:rPr>
              <a:t>X86</a:t>
            </a:r>
            <a:endParaRPr lang="zh-CN" altLang="en-US" sz="1050" dirty="0">
              <a:latin typeface="Huawei Sans" panose="020C0503030203020204" pitchFamily="34" charset="0"/>
              <a:ea typeface="方正兰亭黑简体" panose="02000000000000000000" pitchFamily="2" charset="-122"/>
            </a:endParaRPr>
          </a:p>
        </p:txBody>
      </p:sp>
      <p:sp>
        <p:nvSpPr>
          <p:cNvPr id="42" name="椭圆 41"/>
          <p:cNvSpPr/>
          <p:nvPr/>
        </p:nvSpPr>
        <p:spPr bwMode="auto">
          <a:xfrm>
            <a:off x="4235221" y="4874766"/>
            <a:ext cx="716103" cy="301242"/>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ARM9</a:t>
            </a:r>
          </a:p>
        </p:txBody>
      </p:sp>
      <p:sp>
        <p:nvSpPr>
          <p:cNvPr id="43" name="椭圆 42"/>
          <p:cNvSpPr/>
          <p:nvPr/>
        </p:nvSpPr>
        <p:spPr bwMode="auto">
          <a:xfrm>
            <a:off x="5992049" y="4863314"/>
            <a:ext cx="871931" cy="297260"/>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ARM11</a:t>
            </a:r>
            <a:endParaRPr kumimoji="0" lang="zh-CN" altLang="en-US" sz="900" b="0" dirty="0">
              <a:latin typeface="Huawei Sans" panose="020C0503030203020204" pitchFamily="34" charset="0"/>
              <a:ea typeface="方正兰亭黑简体" panose="02000000000000000000" pitchFamily="2" charset="-122"/>
            </a:endParaRPr>
          </a:p>
        </p:txBody>
      </p:sp>
      <p:sp>
        <p:nvSpPr>
          <p:cNvPr id="44" name="椭圆 43"/>
          <p:cNvSpPr/>
          <p:nvPr/>
        </p:nvSpPr>
        <p:spPr bwMode="auto">
          <a:xfrm>
            <a:off x="5042903" y="4874766"/>
            <a:ext cx="792076" cy="301242"/>
          </a:xfrm>
          <a:prstGeom prst="ellips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ARM10</a:t>
            </a:r>
            <a:endParaRPr kumimoji="0" lang="zh-CN" altLang="en-US" sz="900" b="0" dirty="0">
              <a:latin typeface="Huawei Sans" panose="020C0503030203020204" pitchFamily="34" charset="0"/>
              <a:ea typeface="方正兰亭黑简体" panose="02000000000000000000" pitchFamily="2" charset="-122"/>
            </a:endParaRPr>
          </a:p>
        </p:txBody>
      </p:sp>
      <p:sp>
        <p:nvSpPr>
          <p:cNvPr id="45" name="椭圆 44"/>
          <p:cNvSpPr/>
          <p:nvPr/>
        </p:nvSpPr>
        <p:spPr bwMode="auto">
          <a:xfrm>
            <a:off x="3411575" y="4309337"/>
            <a:ext cx="782643" cy="295790"/>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solidFill>
                  <a:schemeClr val="bg1"/>
                </a:solidFill>
                <a:latin typeface="Huawei Sans" panose="020C0503030203020204" pitchFamily="34" charset="0"/>
                <a:ea typeface="方正兰亭黑简体" panose="02000000000000000000" pitchFamily="2" charset="-122"/>
              </a:rPr>
              <a:t>MIPS3k</a:t>
            </a:r>
            <a:endParaRPr kumimoji="0"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47" name="椭圆 46"/>
          <p:cNvSpPr/>
          <p:nvPr/>
        </p:nvSpPr>
        <p:spPr bwMode="auto">
          <a:xfrm>
            <a:off x="6015717" y="4312264"/>
            <a:ext cx="890273" cy="301242"/>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solidFill>
                  <a:schemeClr val="bg1"/>
                </a:solidFill>
                <a:latin typeface="Huawei Sans" panose="020C0503030203020204" pitchFamily="34" charset="0"/>
                <a:ea typeface="方正兰亭黑简体" panose="02000000000000000000" pitchFamily="2" charset="-122"/>
              </a:rPr>
              <a:t>MIPS10K</a:t>
            </a:r>
          </a:p>
        </p:txBody>
      </p:sp>
      <p:sp>
        <p:nvSpPr>
          <p:cNvPr id="48" name="椭圆 47"/>
          <p:cNvSpPr/>
          <p:nvPr/>
        </p:nvSpPr>
        <p:spPr bwMode="auto">
          <a:xfrm>
            <a:off x="5124225" y="4333974"/>
            <a:ext cx="820984" cy="279532"/>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solidFill>
                  <a:schemeClr val="bg1"/>
                </a:solidFill>
                <a:latin typeface="Huawei Sans" panose="020C0503030203020204" pitchFamily="34" charset="0"/>
                <a:ea typeface="方正兰亭黑简体" panose="02000000000000000000" pitchFamily="2" charset="-122"/>
              </a:rPr>
              <a:t>MIPS5K</a:t>
            </a:r>
          </a:p>
        </p:txBody>
      </p:sp>
      <p:sp>
        <p:nvSpPr>
          <p:cNvPr id="49" name="椭圆 48"/>
          <p:cNvSpPr/>
          <p:nvPr/>
        </p:nvSpPr>
        <p:spPr bwMode="auto">
          <a:xfrm>
            <a:off x="4235702" y="4337896"/>
            <a:ext cx="835071" cy="258595"/>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solidFill>
                  <a:schemeClr val="bg1"/>
                </a:solidFill>
                <a:latin typeface="Huawei Sans" panose="020C0503030203020204" pitchFamily="34" charset="0"/>
                <a:ea typeface="方正兰亭黑简体" panose="02000000000000000000" pitchFamily="2" charset="-122"/>
              </a:rPr>
              <a:t>MIPS4K</a:t>
            </a:r>
          </a:p>
        </p:txBody>
      </p:sp>
      <p:sp>
        <p:nvSpPr>
          <p:cNvPr id="50" name="椭圆 49"/>
          <p:cNvSpPr/>
          <p:nvPr/>
        </p:nvSpPr>
        <p:spPr bwMode="auto">
          <a:xfrm>
            <a:off x="7052147" y="4314794"/>
            <a:ext cx="1203869" cy="313390"/>
          </a:xfrm>
          <a:prstGeom prst="ellipse">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solidFill>
                  <a:schemeClr val="bg1"/>
                </a:solidFill>
                <a:latin typeface="Huawei Sans" panose="020C0503030203020204" pitchFamily="34" charset="0"/>
                <a:ea typeface="方正兰亭黑简体" panose="02000000000000000000" pitchFamily="2" charset="-122"/>
              </a:rPr>
              <a:t>MIPS32/64</a:t>
            </a:r>
          </a:p>
        </p:txBody>
      </p:sp>
      <p:sp>
        <p:nvSpPr>
          <p:cNvPr id="51" name="矩形 50"/>
          <p:cNvSpPr/>
          <p:nvPr/>
        </p:nvSpPr>
        <p:spPr bwMode="auto">
          <a:xfrm>
            <a:off x="4917985" y="3286228"/>
            <a:ext cx="836675" cy="21752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latin typeface="Huawei Sans" panose="020C0503030203020204" pitchFamily="34" charset="0"/>
                <a:ea typeface="方正兰亭黑简体" panose="02000000000000000000" pitchFamily="2" charset="-122"/>
              </a:rPr>
              <a:t>PowerPC700</a:t>
            </a:r>
            <a:endParaRPr lang="zh-CN" altLang="en-US" sz="900" dirty="0">
              <a:latin typeface="Huawei Sans" panose="020C0503030203020204" pitchFamily="34" charset="0"/>
              <a:ea typeface="方正兰亭黑简体" panose="02000000000000000000" pitchFamily="2" charset="-122"/>
            </a:endParaRPr>
          </a:p>
        </p:txBody>
      </p:sp>
      <p:sp>
        <p:nvSpPr>
          <p:cNvPr id="52" name="矩形 51"/>
          <p:cNvSpPr/>
          <p:nvPr/>
        </p:nvSpPr>
        <p:spPr bwMode="auto">
          <a:xfrm>
            <a:off x="3929070" y="3294739"/>
            <a:ext cx="898198" cy="20851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latin typeface="Huawei Sans" panose="020C0503030203020204" pitchFamily="34" charset="0"/>
                <a:ea typeface="方正兰亭黑简体" panose="02000000000000000000" pitchFamily="2" charset="-122"/>
              </a:rPr>
              <a:t>PowerPC600</a:t>
            </a:r>
            <a:endParaRPr kumimoji="0" lang="zh-CN" altLang="en-US" sz="900" b="0" dirty="0">
              <a:latin typeface="Huawei Sans" panose="020C0503030203020204" pitchFamily="34" charset="0"/>
              <a:ea typeface="方正兰亭黑简体" panose="02000000000000000000" pitchFamily="2" charset="-122"/>
            </a:endParaRPr>
          </a:p>
        </p:txBody>
      </p:sp>
      <p:sp>
        <p:nvSpPr>
          <p:cNvPr id="54" name="矩形 53"/>
          <p:cNvSpPr/>
          <p:nvPr/>
        </p:nvSpPr>
        <p:spPr bwMode="auto">
          <a:xfrm>
            <a:off x="6917698" y="3295840"/>
            <a:ext cx="784349" cy="23714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BE(cell)</a:t>
            </a:r>
            <a:endParaRPr kumimoji="0" lang="zh-CN" altLang="en-US" sz="900" b="0" dirty="0">
              <a:latin typeface="Huawei Sans" panose="020C0503030203020204" pitchFamily="34" charset="0"/>
              <a:ea typeface="方正兰亭黑简体" panose="02000000000000000000" pitchFamily="2" charset="-122"/>
            </a:endParaRPr>
          </a:p>
        </p:txBody>
      </p:sp>
      <p:sp>
        <p:nvSpPr>
          <p:cNvPr id="55" name="矩形 54"/>
          <p:cNvSpPr/>
          <p:nvPr/>
        </p:nvSpPr>
        <p:spPr bwMode="auto">
          <a:xfrm>
            <a:off x="5039260" y="3598825"/>
            <a:ext cx="610273" cy="194171"/>
          </a:xfrm>
          <a:prstGeom prst="rect">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MPC750</a:t>
            </a:r>
          </a:p>
        </p:txBody>
      </p:sp>
      <p:sp>
        <p:nvSpPr>
          <p:cNvPr id="38" name="圆角矩形 37"/>
          <p:cNvSpPr/>
          <p:nvPr/>
        </p:nvSpPr>
        <p:spPr bwMode="auto">
          <a:xfrm>
            <a:off x="1331640" y="2115224"/>
            <a:ext cx="493895" cy="274244"/>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4004</a:t>
            </a:r>
            <a:endParaRPr kumimoji="0" lang="zh-CN" altLang="en-US" sz="900" b="0" dirty="0">
              <a:latin typeface="Huawei Sans" panose="020C0503030203020204" pitchFamily="34" charset="0"/>
              <a:ea typeface="方正兰亭黑简体" panose="02000000000000000000" pitchFamily="2" charset="-122"/>
            </a:endParaRPr>
          </a:p>
        </p:txBody>
      </p:sp>
      <p:sp>
        <p:nvSpPr>
          <p:cNvPr id="67" name="圆角矩形 66"/>
          <p:cNvSpPr/>
          <p:nvPr/>
        </p:nvSpPr>
        <p:spPr bwMode="auto">
          <a:xfrm>
            <a:off x="4104930" y="2123808"/>
            <a:ext cx="493895" cy="274244"/>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486</a:t>
            </a:r>
            <a:endParaRPr kumimoji="0" lang="zh-CN" altLang="en-US" sz="900" b="0" dirty="0">
              <a:latin typeface="Huawei Sans" panose="020C0503030203020204" pitchFamily="34" charset="0"/>
              <a:ea typeface="方正兰亭黑简体" panose="02000000000000000000" pitchFamily="2" charset="-122"/>
            </a:endParaRPr>
          </a:p>
        </p:txBody>
      </p:sp>
      <p:sp>
        <p:nvSpPr>
          <p:cNvPr id="68" name="圆角矩形 67"/>
          <p:cNvSpPr/>
          <p:nvPr/>
        </p:nvSpPr>
        <p:spPr bwMode="auto">
          <a:xfrm>
            <a:off x="3557505" y="2132856"/>
            <a:ext cx="493895" cy="274244"/>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386</a:t>
            </a:r>
            <a:endParaRPr kumimoji="0" lang="zh-CN" altLang="en-US" sz="900" b="0" dirty="0">
              <a:latin typeface="Huawei Sans" panose="020C0503030203020204" pitchFamily="34" charset="0"/>
              <a:ea typeface="方正兰亭黑简体" panose="02000000000000000000" pitchFamily="2" charset="-122"/>
            </a:endParaRPr>
          </a:p>
        </p:txBody>
      </p:sp>
      <p:sp>
        <p:nvSpPr>
          <p:cNvPr id="69" name="圆角矩形 68"/>
          <p:cNvSpPr/>
          <p:nvPr/>
        </p:nvSpPr>
        <p:spPr bwMode="auto">
          <a:xfrm>
            <a:off x="2451440" y="2128642"/>
            <a:ext cx="493895" cy="274244"/>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8086</a:t>
            </a:r>
            <a:endParaRPr kumimoji="0" lang="zh-CN" altLang="en-US" sz="900" b="0" dirty="0">
              <a:latin typeface="Huawei Sans" panose="020C0503030203020204" pitchFamily="34" charset="0"/>
              <a:ea typeface="方正兰亭黑简体" panose="02000000000000000000" pitchFamily="2" charset="-122"/>
            </a:endParaRPr>
          </a:p>
        </p:txBody>
      </p:sp>
      <p:sp>
        <p:nvSpPr>
          <p:cNvPr id="71" name="圆角矩形 70"/>
          <p:cNvSpPr/>
          <p:nvPr/>
        </p:nvSpPr>
        <p:spPr bwMode="auto">
          <a:xfrm>
            <a:off x="1875929" y="2128642"/>
            <a:ext cx="493895" cy="274244"/>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8008</a:t>
            </a:r>
            <a:endParaRPr kumimoji="0" lang="zh-CN" altLang="en-US" sz="900" b="0" dirty="0">
              <a:latin typeface="Huawei Sans" panose="020C0503030203020204" pitchFamily="34" charset="0"/>
              <a:ea typeface="方正兰亭黑简体" panose="02000000000000000000" pitchFamily="2" charset="-122"/>
            </a:endParaRPr>
          </a:p>
        </p:txBody>
      </p:sp>
      <p:sp>
        <p:nvSpPr>
          <p:cNvPr id="72" name="圆角矩形 71"/>
          <p:cNvSpPr/>
          <p:nvPr/>
        </p:nvSpPr>
        <p:spPr bwMode="auto">
          <a:xfrm>
            <a:off x="4641102" y="2123808"/>
            <a:ext cx="627958" cy="275873"/>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err="1">
                <a:latin typeface="Huawei Sans" panose="020C0503030203020204" pitchFamily="34" charset="0"/>
                <a:ea typeface="方正兰亭黑简体" panose="02000000000000000000" pitchFamily="2" charset="-122"/>
              </a:rPr>
              <a:t>pentium</a:t>
            </a:r>
            <a:endParaRPr kumimoji="0" lang="zh-CN" altLang="en-US" sz="900" b="0" dirty="0">
              <a:latin typeface="Huawei Sans" panose="020C0503030203020204" pitchFamily="34" charset="0"/>
              <a:ea typeface="方正兰亭黑简体" panose="02000000000000000000" pitchFamily="2" charset="-122"/>
            </a:endParaRPr>
          </a:p>
        </p:txBody>
      </p:sp>
      <p:sp>
        <p:nvSpPr>
          <p:cNvPr id="73" name="圆角矩形 72"/>
          <p:cNvSpPr/>
          <p:nvPr/>
        </p:nvSpPr>
        <p:spPr bwMode="auto">
          <a:xfrm>
            <a:off x="5301081" y="2132856"/>
            <a:ext cx="692228" cy="259812"/>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err="1">
                <a:latin typeface="Huawei Sans" panose="020C0503030203020204" pitchFamily="34" charset="0"/>
                <a:ea typeface="方正兰亭黑简体" panose="02000000000000000000" pitchFamily="2" charset="-122"/>
              </a:rPr>
              <a:t>pentiumII</a:t>
            </a:r>
            <a:endParaRPr kumimoji="0" lang="zh-CN" altLang="en-US" sz="900" b="0" dirty="0">
              <a:latin typeface="Huawei Sans" panose="020C0503030203020204" pitchFamily="34" charset="0"/>
              <a:ea typeface="方正兰亭黑简体" panose="02000000000000000000" pitchFamily="2" charset="-122"/>
            </a:endParaRPr>
          </a:p>
        </p:txBody>
      </p:sp>
      <p:sp>
        <p:nvSpPr>
          <p:cNvPr id="74" name="圆角矩形 73"/>
          <p:cNvSpPr/>
          <p:nvPr/>
        </p:nvSpPr>
        <p:spPr bwMode="auto">
          <a:xfrm>
            <a:off x="6894480" y="2132856"/>
            <a:ext cx="834296" cy="270030"/>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err="1">
                <a:latin typeface="Huawei Sans" panose="020C0503030203020204" pitchFamily="34" charset="0"/>
                <a:ea typeface="方正兰亭黑简体" panose="02000000000000000000" pitchFamily="2" charset="-122"/>
              </a:rPr>
              <a:t>pentiumIV</a:t>
            </a:r>
            <a:endParaRPr lang="en-US" altLang="zh-CN" sz="900" dirty="0">
              <a:latin typeface="Huawei Sans" panose="020C0503030203020204" pitchFamily="34" charset="0"/>
              <a:ea typeface="方正兰亭黑简体" panose="02000000000000000000" pitchFamily="2" charset="-122"/>
            </a:endParaRPr>
          </a:p>
        </p:txBody>
      </p:sp>
      <p:sp>
        <p:nvSpPr>
          <p:cNvPr id="75" name="圆角矩形 74"/>
          <p:cNvSpPr/>
          <p:nvPr/>
        </p:nvSpPr>
        <p:spPr bwMode="auto">
          <a:xfrm>
            <a:off x="6076760" y="2142951"/>
            <a:ext cx="785698" cy="262449"/>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err="1">
                <a:latin typeface="Huawei Sans" panose="020C0503030203020204" pitchFamily="34" charset="0"/>
                <a:ea typeface="方正兰亭黑简体" panose="02000000000000000000" pitchFamily="2" charset="-122"/>
              </a:rPr>
              <a:t>pentiumIII</a:t>
            </a:r>
            <a:endParaRPr lang="zh-CN" altLang="en-US" sz="900" dirty="0">
              <a:latin typeface="Huawei Sans" panose="020C0503030203020204" pitchFamily="34" charset="0"/>
              <a:ea typeface="方正兰亭黑简体" panose="02000000000000000000" pitchFamily="2" charset="-122"/>
            </a:endParaRPr>
          </a:p>
        </p:txBody>
      </p:sp>
      <p:sp>
        <p:nvSpPr>
          <p:cNvPr id="76" name="圆角矩形 75"/>
          <p:cNvSpPr/>
          <p:nvPr/>
        </p:nvSpPr>
        <p:spPr bwMode="auto">
          <a:xfrm>
            <a:off x="7761490" y="2132856"/>
            <a:ext cx="590930" cy="274244"/>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Core</a:t>
            </a:r>
          </a:p>
        </p:txBody>
      </p:sp>
      <p:sp>
        <p:nvSpPr>
          <p:cNvPr id="81" name="圆角矩形 80"/>
          <p:cNvSpPr/>
          <p:nvPr/>
        </p:nvSpPr>
        <p:spPr bwMode="auto">
          <a:xfrm>
            <a:off x="7308595" y="2477371"/>
            <a:ext cx="589045" cy="274244"/>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K10</a:t>
            </a:r>
            <a:endParaRPr kumimoji="0" lang="zh-CN" altLang="en-US" sz="900" b="0" dirty="0">
              <a:latin typeface="Huawei Sans" panose="020C0503030203020204" pitchFamily="34" charset="0"/>
              <a:ea typeface="方正兰亭黑简体" panose="02000000000000000000" pitchFamily="2" charset="-122"/>
            </a:endParaRPr>
          </a:p>
        </p:txBody>
      </p:sp>
      <p:sp>
        <p:nvSpPr>
          <p:cNvPr id="82" name="圆角矩形 81"/>
          <p:cNvSpPr/>
          <p:nvPr/>
        </p:nvSpPr>
        <p:spPr bwMode="auto">
          <a:xfrm>
            <a:off x="6650589" y="2486590"/>
            <a:ext cx="566821" cy="269189"/>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K8</a:t>
            </a:r>
            <a:endParaRPr kumimoji="0" lang="zh-CN" altLang="en-US" sz="900" b="0" dirty="0">
              <a:latin typeface="Huawei Sans" panose="020C0503030203020204" pitchFamily="34" charset="0"/>
              <a:ea typeface="方正兰亭黑简体" panose="02000000000000000000" pitchFamily="2" charset="-122"/>
            </a:endParaRPr>
          </a:p>
        </p:txBody>
      </p:sp>
      <p:sp>
        <p:nvSpPr>
          <p:cNvPr id="83" name="圆角矩形 82"/>
          <p:cNvSpPr/>
          <p:nvPr/>
        </p:nvSpPr>
        <p:spPr bwMode="auto">
          <a:xfrm>
            <a:off x="5441049" y="2484477"/>
            <a:ext cx="493895" cy="274244"/>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K6</a:t>
            </a:r>
            <a:endParaRPr kumimoji="0" lang="zh-CN" altLang="en-US" sz="900" b="0" dirty="0">
              <a:latin typeface="Huawei Sans" panose="020C0503030203020204" pitchFamily="34" charset="0"/>
              <a:ea typeface="方正兰亭黑简体" panose="02000000000000000000" pitchFamily="2" charset="-122"/>
            </a:endParaRPr>
          </a:p>
        </p:txBody>
      </p:sp>
      <p:sp>
        <p:nvSpPr>
          <p:cNvPr id="84" name="圆角矩形 83"/>
          <p:cNvSpPr/>
          <p:nvPr/>
        </p:nvSpPr>
        <p:spPr bwMode="auto">
          <a:xfrm>
            <a:off x="4862620" y="2485753"/>
            <a:ext cx="493895" cy="274244"/>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K5</a:t>
            </a:r>
            <a:endParaRPr kumimoji="0" lang="zh-CN" altLang="en-US" sz="900" b="0" dirty="0">
              <a:latin typeface="Huawei Sans" panose="020C0503030203020204" pitchFamily="34" charset="0"/>
              <a:ea typeface="方正兰亭黑简体" panose="02000000000000000000" pitchFamily="2" charset="-122"/>
            </a:endParaRPr>
          </a:p>
        </p:txBody>
      </p:sp>
      <p:sp>
        <p:nvSpPr>
          <p:cNvPr id="85" name="圆角矩形 84"/>
          <p:cNvSpPr/>
          <p:nvPr/>
        </p:nvSpPr>
        <p:spPr bwMode="auto">
          <a:xfrm>
            <a:off x="4288790" y="2483980"/>
            <a:ext cx="493895" cy="274244"/>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486</a:t>
            </a:r>
            <a:endParaRPr kumimoji="0" lang="zh-CN" altLang="en-US" sz="900" b="0" dirty="0">
              <a:latin typeface="Huawei Sans" panose="020C0503030203020204" pitchFamily="34" charset="0"/>
              <a:ea typeface="方正兰亭黑简体" panose="02000000000000000000" pitchFamily="2" charset="-122"/>
            </a:endParaRPr>
          </a:p>
        </p:txBody>
      </p:sp>
      <p:sp>
        <p:nvSpPr>
          <p:cNvPr id="86" name="圆角矩形 85"/>
          <p:cNvSpPr/>
          <p:nvPr/>
        </p:nvSpPr>
        <p:spPr bwMode="auto">
          <a:xfrm>
            <a:off x="3736090" y="2479681"/>
            <a:ext cx="493895" cy="274244"/>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386</a:t>
            </a:r>
            <a:endParaRPr kumimoji="0" lang="zh-CN" altLang="en-US" sz="900" b="0" dirty="0">
              <a:latin typeface="Huawei Sans" panose="020C0503030203020204" pitchFamily="34" charset="0"/>
              <a:ea typeface="方正兰亭黑简体" panose="02000000000000000000" pitchFamily="2" charset="-122"/>
            </a:endParaRPr>
          </a:p>
        </p:txBody>
      </p:sp>
      <p:sp>
        <p:nvSpPr>
          <p:cNvPr id="87" name="圆角矩形 86"/>
          <p:cNvSpPr/>
          <p:nvPr/>
        </p:nvSpPr>
        <p:spPr bwMode="auto">
          <a:xfrm>
            <a:off x="6101251" y="2494009"/>
            <a:ext cx="493895" cy="274244"/>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K7</a:t>
            </a:r>
            <a:endParaRPr kumimoji="0" lang="zh-CN" altLang="en-US" sz="900" b="0" dirty="0">
              <a:latin typeface="Huawei Sans" panose="020C0503030203020204" pitchFamily="34" charset="0"/>
              <a:ea typeface="方正兰亭黑简体" panose="02000000000000000000" pitchFamily="2" charset="-122"/>
            </a:endParaRPr>
          </a:p>
        </p:txBody>
      </p:sp>
      <p:cxnSp>
        <p:nvCxnSpPr>
          <p:cNvPr id="37" name="直接连接符 36"/>
          <p:cNvCxnSpPr/>
          <p:nvPr/>
        </p:nvCxnSpPr>
        <p:spPr bwMode="auto">
          <a:xfrm flipV="1">
            <a:off x="3401794" y="1910827"/>
            <a:ext cx="0" cy="346238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4" name="直接连接符 33"/>
          <p:cNvCxnSpPr/>
          <p:nvPr/>
        </p:nvCxnSpPr>
        <p:spPr bwMode="auto">
          <a:xfrm flipV="1">
            <a:off x="2427315" y="1910827"/>
            <a:ext cx="0" cy="3462389"/>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35845" name="图片 35844"/>
          <p:cNvPicPr>
            <a:picLocks noChangeAspect="1"/>
          </p:cNvPicPr>
          <p:nvPr/>
        </p:nvPicPr>
        <p:blipFill>
          <a:blip r:embed="rId3"/>
          <a:stretch>
            <a:fillRect/>
          </a:stretch>
        </p:blipFill>
        <p:spPr>
          <a:xfrm>
            <a:off x="1983147" y="2488576"/>
            <a:ext cx="936587" cy="267770"/>
          </a:xfrm>
          <a:prstGeom prst="rect">
            <a:avLst/>
          </a:prstGeom>
        </p:spPr>
      </p:pic>
      <p:pic>
        <p:nvPicPr>
          <p:cNvPr id="35846" name="图片 35845"/>
          <p:cNvPicPr>
            <a:picLocks noChangeAspect="1"/>
          </p:cNvPicPr>
          <p:nvPr/>
        </p:nvPicPr>
        <p:blipFill>
          <a:blip r:embed="rId4"/>
          <a:stretch>
            <a:fillRect/>
          </a:stretch>
        </p:blipFill>
        <p:spPr>
          <a:xfrm>
            <a:off x="1293817" y="2905760"/>
            <a:ext cx="956903" cy="367639"/>
          </a:xfrm>
          <a:prstGeom prst="rect">
            <a:avLst/>
          </a:prstGeom>
        </p:spPr>
      </p:pic>
      <p:pic>
        <p:nvPicPr>
          <p:cNvPr id="35847" name="图片 35846"/>
          <p:cNvPicPr>
            <a:picLocks noChangeAspect="1"/>
          </p:cNvPicPr>
          <p:nvPr/>
        </p:nvPicPr>
        <p:blipFill>
          <a:blip r:embed="rId5"/>
          <a:stretch>
            <a:fillRect/>
          </a:stretch>
        </p:blipFill>
        <p:spPr>
          <a:xfrm>
            <a:off x="2253105" y="3734134"/>
            <a:ext cx="1534333" cy="369446"/>
          </a:xfrm>
          <a:prstGeom prst="rect">
            <a:avLst/>
          </a:prstGeom>
        </p:spPr>
      </p:pic>
      <p:sp>
        <p:nvSpPr>
          <p:cNvPr id="80" name="圆角矩形 79"/>
          <p:cNvSpPr/>
          <p:nvPr/>
        </p:nvSpPr>
        <p:spPr bwMode="auto">
          <a:xfrm>
            <a:off x="3202500" y="2474957"/>
            <a:ext cx="493895" cy="274244"/>
          </a:xfrm>
          <a:prstGeom prst="round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286</a:t>
            </a:r>
            <a:endParaRPr kumimoji="0" lang="zh-CN" altLang="en-US" sz="900" b="0" dirty="0">
              <a:latin typeface="Huawei Sans" panose="020C0503030203020204" pitchFamily="34" charset="0"/>
              <a:ea typeface="方正兰亭黑简体" panose="02000000000000000000" pitchFamily="2" charset="-122"/>
            </a:endParaRPr>
          </a:p>
        </p:txBody>
      </p:sp>
      <p:sp>
        <p:nvSpPr>
          <p:cNvPr id="56" name="矩形 55"/>
          <p:cNvSpPr/>
          <p:nvPr/>
        </p:nvSpPr>
        <p:spPr bwMode="auto">
          <a:xfrm>
            <a:off x="5710603" y="3915391"/>
            <a:ext cx="750250" cy="198683"/>
          </a:xfrm>
          <a:prstGeom prst="rect">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latin typeface="Huawei Sans" panose="020C0503030203020204" pitchFamily="34" charset="0"/>
                <a:ea typeface="方正兰亭黑简体" panose="02000000000000000000" pitchFamily="2" charset="-122"/>
              </a:rPr>
              <a:t>e300/e500</a:t>
            </a:r>
            <a:endParaRPr lang="zh-CN" altLang="en-US" sz="900" dirty="0">
              <a:latin typeface="Huawei Sans" panose="020C0503030203020204" pitchFamily="34" charset="0"/>
              <a:ea typeface="方正兰亭黑简体" panose="02000000000000000000" pitchFamily="2" charset="-122"/>
            </a:endParaRPr>
          </a:p>
        </p:txBody>
      </p:sp>
      <p:sp>
        <p:nvSpPr>
          <p:cNvPr id="19" name="矩形 18"/>
          <p:cNvSpPr/>
          <p:nvPr/>
        </p:nvSpPr>
        <p:spPr bwMode="auto">
          <a:xfrm>
            <a:off x="5710603" y="3598824"/>
            <a:ext cx="750250" cy="194170"/>
          </a:xfrm>
          <a:prstGeom prst="rect">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latin typeface="Huawei Sans" panose="020C0503030203020204" pitchFamily="34" charset="0"/>
                <a:ea typeface="方正兰亭黑简体" panose="02000000000000000000" pitchFamily="2" charset="-122"/>
              </a:rPr>
              <a:t>MPC7400</a:t>
            </a:r>
          </a:p>
        </p:txBody>
      </p:sp>
      <p:sp>
        <p:nvSpPr>
          <p:cNvPr id="57" name="矩形 56"/>
          <p:cNvSpPr/>
          <p:nvPr/>
        </p:nvSpPr>
        <p:spPr bwMode="auto">
          <a:xfrm>
            <a:off x="6640366" y="3914722"/>
            <a:ext cx="493895" cy="194879"/>
          </a:xfrm>
          <a:prstGeom prst="rect">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latin typeface="Huawei Sans" panose="020C0503030203020204" pitchFamily="34" charset="0"/>
                <a:ea typeface="方正兰亭黑简体" panose="02000000000000000000" pitchFamily="2" charset="-122"/>
              </a:rPr>
              <a:t> e600</a:t>
            </a:r>
            <a:endParaRPr kumimoji="0" lang="zh-CN" altLang="en-US" sz="900" b="0" dirty="0">
              <a:latin typeface="Huawei Sans" panose="020C0503030203020204" pitchFamily="34" charset="0"/>
              <a:ea typeface="方正兰亭黑简体" panose="02000000000000000000" pitchFamily="2" charset="-122"/>
            </a:endParaRPr>
          </a:p>
        </p:txBody>
      </p:sp>
      <p:sp>
        <p:nvSpPr>
          <p:cNvPr id="58" name="矩形 57"/>
          <p:cNvSpPr/>
          <p:nvPr/>
        </p:nvSpPr>
        <p:spPr bwMode="auto">
          <a:xfrm>
            <a:off x="7331680" y="3914722"/>
            <a:ext cx="493895" cy="194879"/>
          </a:xfrm>
          <a:prstGeom prst="rect">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err="1">
                <a:latin typeface="Huawei Sans" panose="020C0503030203020204" pitchFamily="34" charset="0"/>
                <a:ea typeface="方正兰亭黑简体" panose="02000000000000000000" pitchFamily="2" charset="-122"/>
              </a:rPr>
              <a:t>P</a:t>
            </a:r>
            <a:r>
              <a:rPr lang="en-US" altLang="zh-CN" sz="900" dirty="0" err="1">
                <a:latin typeface="Huawei Sans" panose="020C0503030203020204" pitchFamily="34" charset="0"/>
                <a:ea typeface="方正兰亭黑简体" panose="02000000000000000000" pitchFamily="2" charset="-122"/>
              </a:rPr>
              <a:t>xxxx</a:t>
            </a:r>
            <a:endParaRPr kumimoji="0" lang="en-US" altLang="zh-CN" sz="900" b="0" dirty="0">
              <a:latin typeface="Huawei Sans" panose="020C0503030203020204" pitchFamily="34" charset="0"/>
              <a:ea typeface="方正兰亭黑简体" panose="02000000000000000000" pitchFamily="2" charset="-122"/>
            </a:endParaRPr>
          </a:p>
        </p:txBody>
      </p:sp>
      <p:sp>
        <p:nvSpPr>
          <p:cNvPr id="53" name="矩形 52"/>
          <p:cNvSpPr/>
          <p:nvPr/>
        </p:nvSpPr>
        <p:spPr bwMode="auto">
          <a:xfrm>
            <a:off x="5923803" y="3286228"/>
            <a:ext cx="926675" cy="23087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latin typeface="Huawei Sans" panose="020C0503030203020204" pitchFamily="34" charset="0"/>
                <a:ea typeface="方正兰亭黑简体" panose="02000000000000000000" pitchFamily="2" charset="-122"/>
              </a:rPr>
              <a:t>PowerPC9xx</a:t>
            </a:r>
            <a:endParaRPr lang="zh-CN" altLang="en-US" sz="900" dirty="0">
              <a:latin typeface="Huawei Sans" panose="020C0503030203020204" pitchFamily="34" charset="0"/>
              <a:ea typeface="方正兰亭黑简体" panose="02000000000000000000" pitchFamily="2" charset="-122"/>
            </a:endParaRPr>
          </a:p>
        </p:txBody>
      </p:sp>
      <p:sp>
        <p:nvSpPr>
          <p:cNvPr id="20" name="矩形 19"/>
          <p:cNvSpPr/>
          <p:nvPr/>
        </p:nvSpPr>
        <p:spPr bwMode="auto">
          <a:xfrm>
            <a:off x="5452278" y="2977118"/>
            <a:ext cx="690261" cy="218448"/>
          </a:xfrm>
          <a:prstGeom prst="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a:r>
              <a:rPr lang="en-US" altLang="zh-CN" sz="900" dirty="0">
                <a:solidFill>
                  <a:schemeClr val="bg1"/>
                </a:solidFill>
                <a:latin typeface="Huawei Sans" panose="020C0503030203020204" pitchFamily="34" charset="0"/>
                <a:ea typeface="方正兰亭黑简体" panose="02000000000000000000" pitchFamily="2" charset="-122"/>
              </a:rPr>
              <a:t>POWER4</a:t>
            </a:r>
            <a:endParaRPr kumimoji="0"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70" name="圆角矩形 69"/>
          <p:cNvSpPr/>
          <p:nvPr/>
        </p:nvSpPr>
        <p:spPr bwMode="auto">
          <a:xfrm>
            <a:off x="2998277" y="2123808"/>
            <a:ext cx="506766" cy="293509"/>
          </a:xfrm>
          <a:prstGeom prst="roundRect">
            <a:avLst/>
          </a:prstGeom>
          <a:solidFill>
            <a:srgbClr val="FFC1C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lang="en-US" altLang="zh-CN" sz="900" dirty="0">
                <a:latin typeface="Huawei Sans" panose="020C0503030203020204" pitchFamily="34" charset="0"/>
                <a:ea typeface="方正兰亭黑简体" panose="02000000000000000000" pitchFamily="2" charset="-122"/>
              </a:rPr>
              <a:t>80286</a:t>
            </a:r>
            <a:endParaRPr kumimoji="0" lang="zh-CN" altLang="en-US" sz="900" b="0" dirty="0">
              <a:latin typeface="Huawei Sans" panose="020C0503030203020204" pitchFamily="34" charset="0"/>
              <a:ea typeface="方正兰亭黑简体" panose="02000000000000000000" pitchFamily="2" charset="-122"/>
            </a:endParaRPr>
          </a:p>
        </p:txBody>
      </p:sp>
      <p:sp>
        <p:nvSpPr>
          <p:cNvPr id="21" name="矩形 20"/>
          <p:cNvSpPr/>
          <p:nvPr/>
        </p:nvSpPr>
        <p:spPr bwMode="auto">
          <a:xfrm>
            <a:off x="3040567" y="2979568"/>
            <a:ext cx="650738" cy="213909"/>
          </a:xfrm>
          <a:prstGeom prst="rect">
            <a:avLst/>
          </a:prstGeom>
          <a:solidFill>
            <a:srgbClr val="7030A0"/>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algn="ctr" defTabSz="685800" fontAlgn="t"/>
            <a:r>
              <a:rPr kumimoji="0" lang="en-US" altLang="zh-CN" sz="900" b="0" dirty="0">
                <a:solidFill>
                  <a:schemeClr val="bg1"/>
                </a:solidFill>
                <a:latin typeface="Huawei Sans" panose="020C0503030203020204" pitchFamily="34" charset="0"/>
                <a:ea typeface="方正兰亭黑简体" panose="02000000000000000000" pitchFamily="2" charset="-122"/>
              </a:rPr>
              <a:t>POWER1</a:t>
            </a:r>
            <a:endParaRPr kumimoji="0" lang="zh-CN" altLang="en-US" sz="900" b="0" dirty="0">
              <a:solidFill>
                <a:schemeClr val="bg1"/>
              </a:solidFill>
              <a:latin typeface="Huawei Sans" panose="020C0503030203020204" pitchFamily="34" charset="0"/>
              <a:ea typeface="方正兰亭黑简体" panose="02000000000000000000" pitchFamily="2" charset="-122"/>
            </a:endParaRPr>
          </a:p>
        </p:txBody>
      </p:sp>
      <p:sp>
        <p:nvSpPr>
          <p:cNvPr id="2" name="文本框 1"/>
          <p:cNvSpPr txBox="1"/>
          <p:nvPr/>
        </p:nvSpPr>
        <p:spPr bwMode="auto">
          <a:xfrm>
            <a:off x="1354827" y="1871551"/>
            <a:ext cx="423070" cy="251161"/>
          </a:xfrm>
          <a:prstGeom prst="rect">
            <a:avLst/>
          </a:prstGeom>
          <a:noFill/>
          <a:ln w="9525" algn="ctr">
            <a:noFill/>
            <a:miter lim="800000"/>
            <a:headEnd/>
            <a:tailEnd/>
          </a:ln>
        </p:spPr>
        <p:txBody>
          <a:bodyPr vert="horz" wrap="none" lIns="65852" tIns="32926" rIns="65852" bIns="32926" numCol="1" rtlCol="0" anchor="ctr" anchorCtr="0" compatLnSpc="1">
            <a:prstTxWarp prst="textNoShape">
              <a:avLst/>
            </a:prstTxWarp>
            <a:spAutoFit/>
          </a:bodyPr>
          <a:lstStyle/>
          <a:p>
            <a:r>
              <a:rPr lang="en-US" altLang="zh-CN" sz="1200" dirty="0">
                <a:latin typeface="Huawei Sans" panose="020C0503030203020204" pitchFamily="34" charset="0"/>
                <a:ea typeface="方正兰亭黑简体" panose="02000000000000000000" pitchFamily="2" charset="-122"/>
              </a:rPr>
              <a:t>Intel</a:t>
            </a:r>
            <a:endParaRPr lang="zh-CN" altLang="en-US" sz="1200" dirty="0">
              <a:latin typeface="Huawei Sans" panose="020C0503030203020204" pitchFamily="34" charset="0"/>
              <a:ea typeface="方正兰亭黑简体" panose="02000000000000000000" pitchFamily="2" charset="-122"/>
            </a:endParaRPr>
          </a:p>
        </p:txBody>
      </p:sp>
      <p:sp>
        <p:nvSpPr>
          <p:cNvPr id="3" name="日期占位符 1">
            <a:extLst>
              <a:ext uri="{FF2B5EF4-FFF2-40B4-BE49-F238E27FC236}">
                <a16:creationId xmlns:a16="http://schemas.microsoft.com/office/drawing/2014/main" id="{C75D3E44-B905-2D59-28A7-BE72B79067AD}"/>
              </a:ext>
            </a:extLst>
          </p:cNvPr>
          <p:cNvSpPr txBox="1">
            <a:spLocks/>
          </p:cNvSpPr>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just" rtl="0" eaLnBrk="0" fontAlgn="ctr" hangingPunct="0">
              <a:spcBef>
                <a:spcPct val="20000"/>
              </a:spcBef>
              <a:spcAft>
                <a:spcPct val="0"/>
              </a:spcAft>
              <a:buClrTx/>
              <a:buFont typeface="Arial" panose="020B0604020202020204" pitchFamily="34" charset="0"/>
              <a:buChar char="•"/>
              <a:defRPr sz="3200"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defRPr/>
            </a:pPr>
            <a:fld id="{4471EA5F-41E1-4CE8-AF72-13017856F2CB}" type="datetime1">
              <a:rPr kumimoji="0" lang="zh-CN" altLang="en-US" sz="1000" b="0" smtClean="0"/>
              <a:pPr marL="0" indent="0">
                <a:buNone/>
                <a:defRPr/>
              </a:pPr>
              <a:t>2025/9/11</a:t>
            </a:fld>
            <a:endParaRPr kumimoji="0" lang="en-US" altLang="zh-CN" sz="1000" b="0" dirty="0"/>
          </a:p>
        </p:txBody>
      </p:sp>
      <p:sp>
        <p:nvSpPr>
          <p:cNvPr id="4" name="页脚占位符 3">
            <a:extLst>
              <a:ext uri="{FF2B5EF4-FFF2-40B4-BE49-F238E27FC236}">
                <a16:creationId xmlns:a16="http://schemas.microsoft.com/office/drawing/2014/main" id="{8A18E81F-A606-F0C8-BCF1-3CBD5E922CC3}"/>
              </a:ext>
            </a:extLst>
          </p:cNvPr>
          <p:cNvSpPr txBox="1">
            <a:spLocks/>
          </p:cNvSpPr>
          <p:nvPr/>
        </p:nvSpPr>
        <p:spPr>
          <a:xfrm>
            <a:off x="3124200" y="6356350"/>
            <a:ext cx="2895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DF09460D-2777-1731-51A6-001252659218}"/>
              </a:ext>
            </a:extLst>
          </p:cNvPr>
          <p:cNvSpPr txBox="1">
            <a:spLocks/>
          </p:cNvSpPr>
          <p:nvPr/>
        </p:nvSpPr>
        <p:spPr>
          <a:xfrm>
            <a:off x="6553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8BCAC33D-D29A-48B3-BCD6-381D3D720D26}" type="slidenum">
              <a:rPr lang="zh-CN" altLang="en-US" smtClean="0"/>
              <a:pPr>
                <a:defRPr/>
              </a:pPr>
              <a:t>17</a:t>
            </a:fld>
            <a:endParaRPr lang="en-US" altLang="zh-CN"/>
          </a:p>
        </p:txBody>
      </p:sp>
    </p:spTree>
    <p:extLst>
      <p:ext uri="{BB962C8B-B14F-4D97-AF65-F5344CB8AC3E}">
        <p14:creationId xmlns:p14="http://schemas.microsoft.com/office/powerpoint/2010/main" val="3272382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11200" y="548680"/>
            <a:ext cx="8229600" cy="1143000"/>
          </a:xfrm>
        </p:spPr>
        <p:txBody>
          <a:bodyPr>
            <a:normAutofit fontScale="90000"/>
          </a:bodyPr>
          <a:lstStyle/>
          <a:p>
            <a:pPr eaLnBrk="1" hangingPunct="1"/>
            <a:r>
              <a:rPr lang="zh-CN" altLang="en-US" sz="4000" b="1" dirty="0"/>
              <a:t>第２章</a:t>
            </a:r>
            <a:r>
              <a:rPr lang="zh-CN" altLang="en-US" sz="4000" b="1" dirty="0">
                <a:solidFill>
                  <a:srgbClr val="3366FF"/>
                </a:solidFill>
              </a:rPr>
              <a:t>  </a:t>
            </a:r>
            <a:r>
              <a:rPr lang="zh-CN" altLang="en-US" sz="4000" b="1" dirty="0"/>
              <a:t>计算机系统量化分析基础</a:t>
            </a:r>
            <a:br>
              <a:rPr lang="zh-CN" altLang="en-US" sz="4000" dirty="0">
                <a:solidFill>
                  <a:srgbClr val="3366FF"/>
                </a:solidFill>
              </a:rPr>
            </a:br>
            <a:endParaRPr lang="zh-CN" altLang="en-US" sz="4000" b="1" dirty="0"/>
          </a:p>
        </p:txBody>
      </p:sp>
      <p:sp>
        <p:nvSpPr>
          <p:cNvPr id="7171" name="Text Box 3"/>
          <p:cNvSpPr txBox="1">
            <a:spLocks noChangeArrowheads="1"/>
          </p:cNvSpPr>
          <p:nvPr/>
        </p:nvSpPr>
        <p:spPr bwMode="auto">
          <a:xfrm>
            <a:off x="2127250" y="4800600"/>
            <a:ext cx="5397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r>
              <a:rPr lang="zh-CN" altLang="en-US" sz="3200" u="sng" dirty="0">
                <a:latin typeface="Times New Roman" panose="02020603050405020304" pitchFamily="18" charset="0"/>
              </a:rPr>
              <a:t>2.3 计算机系统设计和分析</a:t>
            </a:r>
          </a:p>
        </p:txBody>
      </p:sp>
      <p:sp>
        <p:nvSpPr>
          <p:cNvPr id="7172" name="Text Box 4"/>
          <p:cNvSpPr txBox="1">
            <a:spLocks noChangeArrowheads="1"/>
          </p:cNvSpPr>
          <p:nvPr/>
        </p:nvSpPr>
        <p:spPr bwMode="auto">
          <a:xfrm>
            <a:off x="2127250" y="3476625"/>
            <a:ext cx="5540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r>
              <a:rPr lang="zh-CN" altLang="en-US" sz="3200" dirty="0">
                <a:latin typeface="Times New Roman" panose="02020603050405020304" pitchFamily="18" charset="0"/>
              </a:rPr>
              <a:t>2.2 计算机体系结构的发展</a:t>
            </a:r>
          </a:p>
        </p:txBody>
      </p:sp>
      <p:sp>
        <p:nvSpPr>
          <p:cNvPr id="7173" name="Text Box 5"/>
          <p:cNvSpPr txBox="1">
            <a:spLocks noChangeArrowheads="1"/>
          </p:cNvSpPr>
          <p:nvPr/>
        </p:nvSpPr>
        <p:spPr bwMode="auto">
          <a:xfrm>
            <a:off x="1268532" y="2276872"/>
            <a:ext cx="640799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sz="800" b="1">
                <a:solidFill>
                  <a:schemeClr val="tx1"/>
                </a:solidFill>
                <a:latin typeface="宋体" panose="02010600030101010101" pitchFamily="2" charset="-122"/>
                <a:ea typeface="宋体" panose="02010600030101010101" pitchFamily="2" charset="-122"/>
              </a:defRPr>
            </a:lvl1pPr>
            <a:lvl2pPr marL="471805" indent="250825"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lvl="1">
              <a:buFont typeface="Wingdings" panose="05000000000000000000" pitchFamily="2" charset="2"/>
              <a:buNone/>
            </a:pPr>
            <a:r>
              <a:rPr lang="en-US" altLang="zh-CN" sz="3000" b="0" dirty="0">
                <a:latin typeface="Verdana" panose="020B0604030504040204" pitchFamily="34" charset="0"/>
                <a:ea typeface="华文中宋" panose="02010600040101010101" pitchFamily="2" charset="-122"/>
              </a:rPr>
              <a:t>2.1 </a:t>
            </a:r>
            <a:r>
              <a:rPr lang="zh-CN" altLang="en-US" sz="3000" b="0" dirty="0">
                <a:latin typeface="Verdana" panose="020B0604030504040204" pitchFamily="34" charset="0"/>
                <a:ea typeface="华文中宋" panose="02010600040101010101" pitchFamily="2" charset="-122"/>
              </a:rPr>
              <a:t>计算机体系结构的概念</a:t>
            </a:r>
          </a:p>
        </p:txBody>
      </p:sp>
      <p:sp>
        <p:nvSpPr>
          <p:cNvPr id="2" name="日期占位符 1">
            <a:extLst>
              <a:ext uri="{FF2B5EF4-FFF2-40B4-BE49-F238E27FC236}">
                <a16:creationId xmlns:a16="http://schemas.microsoft.com/office/drawing/2014/main" id="{D3433686-0A6A-98AB-4B7F-F8460F033086}"/>
              </a:ext>
            </a:extLst>
          </p:cNvPr>
          <p:cNvSpPr>
            <a:spLocks noGrp="1"/>
          </p:cNvSpPr>
          <p:nvPr>
            <p:ph type="dt" sz="half" idx="10"/>
          </p:nvPr>
        </p:nvSpPr>
        <p:spPr/>
        <p:txBody>
          <a:bodyPr/>
          <a:lstStyle/>
          <a:p>
            <a:pPr>
              <a:defRPr/>
            </a:pPr>
            <a:fld id="{2A42A991-B8BE-49A9-B021-3F352E198824}" type="datetime1">
              <a:rPr lang="zh-CN" altLang="en-US" smtClean="0"/>
              <a:t>2025/9/11</a:t>
            </a:fld>
            <a:endParaRPr lang="en-US" altLang="zh-CN"/>
          </a:p>
        </p:txBody>
      </p:sp>
      <p:sp>
        <p:nvSpPr>
          <p:cNvPr id="3" name="页脚占位符 2">
            <a:extLst>
              <a:ext uri="{FF2B5EF4-FFF2-40B4-BE49-F238E27FC236}">
                <a16:creationId xmlns:a16="http://schemas.microsoft.com/office/drawing/2014/main" id="{90B985AC-E9D7-CC54-09E4-DFDD3A3A015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4060A97-E0A7-DBAD-8A7B-D8F40A85BC94}"/>
              </a:ext>
            </a:extLst>
          </p:cNvPr>
          <p:cNvSpPr>
            <a:spLocks noGrp="1"/>
          </p:cNvSpPr>
          <p:nvPr>
            <p:ph type="sldNum" sz="quarter" idx="12"/>
          </p:nvPr>
        </p:nvSpPr>
        <p:spPr/>
        <p:txBody>
          <a:bodyPr/>
          <a:lstStyle/>
          <a:p>
            <a:pPr>
              <a:defRPr/>
            </a:pPr>
            <a:fld id="{8BCAC33D-D29A-48B3-BCD6-381D3D720D26}" type="slidenum">
              <a:rPr lang="zh-CN" altLang="en-US" smtClean="0"/>
              <a:t>18</a:t>
            </a:fld>
            <a:endParaRPr lang="en-US" altLang="zh-CN"/>
          </a:p>
        </p:txBody>
      </p:sp>
    </p:spTree>
    <p:extLst>
      <p:ext uri="{BB962C8B-B14F-4D97-AF65-F5344CB8AC3E}">
        <p14:creationId xmlns:p14="http://schemas.microsoft.com/office/powerpoint/2010/main" val="847791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8"/>
          <p:cNvSpPr>
            <a:spLocks noGrp="1" noChangeArrowheads="1"/>
          </p:cNvSpPr>
          <p:nvPr>
            <p:ph type="title" idx="4294967295"/>
          </p:nvPr>
        </p:nvSpPr>
        <p:spPr/>
        <p:txBody>
          <a:bodyPr>
            <a:normAutofit/>
          </a:bodyPr>
          <a:lstStyle/>
          <a:p>
            <a:r>
              <a:rPr kumimoji="1" lang="en-US" altLang="zh-CN" sz="3600" b="1" dirty="0">
                <a:latin typeface="+mn-ea"/>
                <a:ea typeface="+mn-ea"/>
                <a:cs typeface="+mn-cs"/>
              </a:rPr>
              <a:t>2.3 </a:t>
            </a:r>
            <a:r>
              <a:rPr kumimoji="1" lang="zh-CN" altLang="en-US" sz="3600" b="1" dirty="0">
                <a:latin typeface="+mn-ea"/>
                <a:ea typeface="+mn-ea"/>
                <a:cs typeface="+mn-cs"/>
              </a:rPr>
              <a:t>计算机系统设计和分析</a:t>
            </a:r>
          </a:p>
        </p:txBody>
      </p:sp>
      <p:sp>
        <p:nvSpPr>
          <p:cNvPr id="65539" name="Rectangle 9"/>
          <p:cNvSpPr>
            <a:spLocks noGrp="1" noChangeArrowheads="1"/>
          </p:cNvSpPr>
          <p:nvPr>
            <p:ph type="body" idx="4294967295"/>
          </p:nvPr>
        </p:nvSpPr>
        <p:spPr/>
        <p:txBody>
          <a:bodyPr/>
          <a:lstStyle/>
          <a:p>
            <a:r>
              <a:rPr lang="en-US" altLang="zh-CN" sz="2800" b="1" u="sng" dirty="0">
                <a:latin typeface="+mj-ea"/>
                <a:ea typeface="+mj-ea"/>
              </a:rPr>
              <a:t>2.3.1 </a:t>
            </a:r>
            <a:r>
              <a:rPr lang="zh-CN" altLang="en-US" sz="2800" b="1" u="sng" dirty="0">
                <a:latin typeface="+mj-ea"/>
                <a:ea typeface="+mj-ea"/>
              </a:rPr>
              <a:t>成本与价格</a:t>
            </a:r>
            <a:endParaRPr lang="en-US" altLang="zh-CN" sz="2800" b="1" u="sng" dirty="0">
              <a:latin typeface="+mj-ea"/>
              <a:ea typeface="+mj-ea"/>
            </a:endParaRPr>
          </a:p>
          <a:p>
            <a:endParaRPr lang="en-US" altLang="zh-CN" sz="2800" b="1" dirty="0">
              <a:latin typeface="+mj-ea"/>
              <a:ea typeface="+mj-ea"/>
            </a:endParaRPr>
          </a:p>
          <a:p>
            <a:r>
              <a:rPr lang="en-US" altLang="zh-CN" sz="2800" b="1" dirty="0">
                <a:latin typeface="+mj-ea"/>
                <a:ea typeface="+mj-ea"/>
              </a:rPr>
              <a:t>2.3.2 </a:t>
            </a:r>
            <a:r>
              <a:rPr lang="zh-CN" altLang="en-US" sz="2800" b="1" dirty="0">
                <a:latin typeface="+mj-ea"/>
                <a:ea typeface="+mj-ea"/>
              </a:rPr>
              <a:t>基准测试程序</a:t>
            </a:r>
            <a:endParaRPr lang="en-US" altLang="zh-CN" sz="2800" b="1" dirty="0">
              <a:latin typeface="+mj-ea"/>
              <a:ea typeface="+mj-ea"/>
            </a:endParaRPr>
          </a:p>
          <a:p>
            <a:endParaRPr lang="en-US" altLang="zh-CN" sz="2800" b="1" dirty="0">
              <a:latin typeface="+mj-ea"/>
              <a:ea typeface="+mj-ea"/>
            </a:endParaRPr>
          </a:p>
          <a:p>
            <a:r>
              <a:rPr lang="en-US" altLang="zh-CN" sz="2800" b="1" dirty="0">
                <a:latin typeface="+mj-ea"/>
                <a:ea typeface="+mj-ea"/>
              </a:rPr>
              <a:t>2.3.3 </a:t>
            </a:r>
            <a:r>
              <a:rPr lang="zh-CN" altLang="en-US" sz="2800" b="1" dirty="0">
                <a:latin typeface="+mj-ea"/>
                <a:ea typeface="+mj-ea"/>
              </a:rPr>
              <a:t>量化设计的基本原则</a:t>
            </a:r>
          </a:p>
        </p:txBody>
      </p:sp>
      <p:sp>
        <p:nvSpPr>
          <p:cNvPr id="2" name="日期占位符 1">
            <a:extLst>
              <a:ext uri="{FF2B5EF4-FFF2-40B4-BE49-F238E27FC236}">
                <a16:creationId xmlns:a16="http://schemas.microsoft.com/office/drawing/2014/main" id="{4F9C87A5-C090-BFCB-70CF-63B8A4789CC9}"/>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435F636C-CC63-D42A-B204-F1A5C817CE13}"/>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F27A38E6-66B5-FCE0-D3A5-1094C9C44B4E}"/>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19</a:t>
            </a:fld>
            <a:endParaRPr lang="en-US" altLang="zh-CN"/>
          </a:p>
        </p:txBody>
      </p:sp>
    </p:spTree>
    <p:extLst>
      <p:ext uri="{BB962C8B-B14F-4D97-AF65-F5344CB8AC3E}">
        <p14:creationId xmlns:p14="http://schemas.microsoft.com/office/powerpoint/2010/main" val="1315300561"/>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idx="4294967295"/>
          </p:nvPr>
        </p:nvSpPr>
        <p:spPr/>
        <p:txBody>
          <a:bodyPr>
            <a:normAutofit/>
          </a:bodyPr>
          <a:lstStyle/>
          <a:p>
            <a:r>
              <a:rPr kumimoji="1" lang="en-US" altLang="zh-CN" sz="3600" b="1" dirty="0">
                <a:latin typeface="+mj-ea"/>
                <a:cs typeface="+mn-cs"/>
              </a:rPr>
              <a:t>2.3.1 </a:t>
            </a:r>
            <a:r>
              <a:rPr kumimoji="1" lang="zh-CN" altLang="en-US" sz="3600" b="1" dirty="0">
                <a:latin typeface="+mj-ea"/>
                <a:cs typeface="+mn-cs"/>
              </a:rPr>
              <a:t>成本与价格</a:t>
            </a:r>
          </a:p>
        </p:txBody>
      </p:sp>
      <p:sp>
        <p:nvSpPr>
          <p:cNvPr id="82947" name="Rectangle 3"/>
          <p:cNvSpPr>
            <a:spLocks noGrp="1" noChangeArrowheads="1"/>
          </p:cNvSpPr>
          <p:nvPr>
            <p:ph type="body" idx="4294967295"/>
          </p:nvPr>
        </p:nvSpPr>
        <p:spPr/>
        <p:txBody>
          <a:bodyPr/>
          <a:lstStyle/>
          <a:p>
            <a:r>
              <a:rPr lang="zh-CN" altLang="en-US" b="1" dirty="0">
                <a:latin typeface="+mj-ea"/>
                <a:ea typeface="+mj-ea"/>
              </a:rPr>
              <a:t>商品的标价（价格）由这样一些因素构成</a:t>
            </a:r>
          </a:p>
          <a:p>
            <a:pPr lvl="1"/>
            <a:r>
              <a:rPr lang="zh-CN" altLang="en-US" b="1" dirty="0">
                <a:latin typeface="+mj-ea"/>
                <a:ea typeface="+mj-ea"/>
              </a:rPr>
              <a:t>原料成本、直接成本、毛利和折扣</a:t>
            </a:r>
          </a:p>
          <a:p>
            <a:r>
              <a:rPr lang="en-US" altLang="zh-CN" b="1" dirty="0">
                <a:latin typeface="+mj-ea"/>
                <a:ea typeface="+mj-ea"/>
              </a:rPr>
              <a:t>PC</a:t>
            </a:r>
            <a:r>
              <a:rPr lang="zh-CN" altLang="en-US" b="1" dirty="0">
                <a:latin typeface="+mj-ea"/>
                <a:ea typeface="+mj-ea"/>
              </a:rPr>
              <a:t>的成本和价格 </a:t>
            </a:r>
          </a:p>
        </p:txBody>
      </p:sp>
      <p:sp>
        <p:nvSpPr>
          <p:cNvPr id="82948"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82949" name="Object 4"/>
          <p:cNvGraphicFramePr>
            <a:graphicFrameLocks noChangeAspect="1"/>
          </p:cNvGraphicFramePr>
          <p:nvPr/>
        </p:nvGraphicFramePr>
        <p:xfrm>
          <a:off x="395288" y="2516188"/>
          <a:ext cx="8208962" cy="3638550"/>
        </p:xfrm>
        <a:graphic>
          <a:graphicData uri="http://schemas.openxmlformats.org/presentationml/2006/ole">
            <mc:AlternateContent xmlns:mc="http://schemas.openxmlformats.org/markup-compatibility/2006">
              <mc:Choice xmlns:v="urn:schemas-microsoft-com:vml" Requires="v">
                <p:oleObj name="图片" r:id="rId2" imgW="4685030" imgH="2080260" progId="Word.Picture.8">
                  <p:embed/>
                </p:oleObj>
              </mc:Choice>
              <mc:Fallback>
                <p:oleObj name="图片" r:id="rId2" imgW="4685030" imgH="2080260" progId="Word.Picture.8">
                  <p:embed/>
                  <p:pic>
                    <p:nvPicPr>
                      <p:cNvPr id="82949"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2516188"/>
                        <a:ext cx="8208962"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日期占位符 1">
            <a:extLst>
              <a:ext uri="{FF2B5EF4-FFF2-40B4-BE49-F238E27FC236}">
                <a16:creationId xmlns:a16="http://schemas.microsoft.com/office/drawing/2014/main" id="{6E8D925D-A183-C69B-C6FD-EAE808986E09}"/>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572ADCB3-7D73-8EDF-839D-A3CA1628F049}"/>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EA217C21-5853-3CBB-7141-1019ED4A5357}"/>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20</a:t>
            </a:fld>
            <a:endParaRPr lang="en-US" altLang="zh-CN"/>
          </a:p>
        </p:txBody>
      </p:sp>
    </p:spTree>
    <p:extLst>
      <p:ext uri="{BB962C8B-B14F-4D97-AF65-F5344CB8AC3E}">
        <p14:creationId xmlns:p14="http://schemas.microsoft.com/office/powerpoint/2010/main" val="2309000452"/>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01"/>
          <p:cNvSpPr>
            <a:spLocks noGrp="1" noChangeArrowheads="1"/>
          </p:cNvSpPr>
          <p:nvPr>
            <p:ph type="title" idx="4294967295"/>
          </p:nvPr>
        </p:nvSpPr>
        <p:spPr>
          <a:xfrm>
            <a:off x="457200" y="-171400"/>
            <a:ext cx="8229600" cy="1143000"/>
          </a:xfrm>
        </p:spPr>
        <p:txBody>
          <a:bodyPr>
            <a:normAutofit/>
          </a:bodyPr>
          <a:lstStyle/>
          <a:p>
            <a:r>
              <a:rPr lang="zh-CN" altLang="en-US" sz="3600" b="1" dirty="0">
                <a:latin typeface="+mj-ea"/>
              </a:rPr>
              <a:t>装机部件的成本分布（</a:t>
            </a:r>
            <a:r>
              <a:rPr lang="en-US" altLang="zh-CN" sz="3600" b="1" dirty="0">
                <a:latin typeface="+mj-ea"/>
              </a:rPr>
              <a:t>2015</a:t>
            </a:r>
            <a:r>
              <a:rPr lang="zh-CN" altLang="en-US" sz="3600" b="1" dirty="0">
                <a:latin typeface="+mj-ea"/>
              </a:rPr>
              <a:t>）</a:t>
            </a:r>
          </a:p>
        </p:txBody>
      </p:sp>
      <p:graphicFrame>
        <p:nvGraphicFramePr>
          <p:cNvPr id="566978" name="Group 706"/>
          <p:cNvGraphicFramePr>
            <a:graphicFrameLocks noGrp="1"/>
          </p:cNvGraphicFramePr>
          <p:nvPr>
            <p:ph type="tbl" idx="4294967295"/>
          </p:nvPr>
        </p:nvGraphicFramePr>
        <p:xfrm>
          <a:off x="539552" y="905968"/>
          <a:ext cx="8001000" cy="5907408"/>
        </p:xfrm>
        <a:graphic>
          <a:graphicData uri="http://schemas.openxmlformats.org/drawingml/2006/table">
            <a:tbl>
              <a:tblPr/>
              <a:tblGrid>
                <a:gridCol w="1198563">
                  <a:extLst>
                    <a:ext uri="{9D8B030D-6E8A-4147-A177-3AD203B41FA5}">
                      <a16:colId xmlns:a16="http://schemas.microsoft.com/office/drawing/2014/main" val="20000"/>
                    </a:ext>
                  </a:extLst>
                </a:gridCol>
                <a:gridCol w="3986212">
                  <a:extLst>
                    <a:ext uri="{9D8B030D-6E8A-4147-A177-3AD203B41FA5}">
                      <a16:colId xmlns:a16="http://schemas.microsoft.com/office/drawing/2014/main" val="20001"/>
                    </a:ext>
                  </a:extLst>
                </a:gridCol>
                <a:gridCol w="1800225">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tblGrid>
              <a:tr h="281211">
                <a:tc>
                  <a:txBody>
                    <a:bodyPr/>
                    <a:lstStyle/>
                    <a:p>
                      <a:pPr marL="0" marR="0" lvl="0" indent="0" algn="l" defTabSz="914400" rtl="0" eaLnBrk="0" fontAlgn="b"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　</a:t>
                      </a:r>
                      <a:endParaRPr kumimoji="0" lang="zh-CN" altLang="en-US"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6F28B"/>
                    </a:solid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型号</a:t>
                      </a:r>
                      <a:endParaRPr kumimoji="0" lang="zh-CN" altLang="en-US"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6F28B"/>
                    </a:solid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价格（元）</a:t>
                      </a:r>
                      <a:endParaRPr kumimoji="0" lang="zh-CN" altLang="en-US" sz="32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6F28B"/>
                    </a:solidFill>
                  </a:tcPr>
                </a:tc>
                <a:tc>
                  <a:txBody>
                    <a:bodyPr/>
                    <a:lstStyle/>
                    <a:p>
                      <a:pPr marL="0" marR="0" lvl="0" indent="0" algn="l" defTabSz="914400" rtl="0" eaLnBrk="0" fontAlgn="b"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比例</a:t>
                      </a:r>
                      <a:endParaRPr kumimoji="0" lang="zh-CN" altLang="en-US" sz="32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6F28B"/>
                    </a:solidFill>
                  </a:tcPr>
                </a:tc>
                <a:extLst>
                  <a:ext uri="{0D108BD9-81ED-4DB2-BD59-A6C34878D82A}">
                    <a16:rowId xmlns:a16="http://schemas.microsoft.com/office/drawing/2014/main" val="10000"/>
                  </a:ext>
                </a:extLst>
              </a:tr>
              <a:tr h="427038">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处理器</a:t>
                      </a:r>
                      <a:endParaRPr kumimoji="0" lang="zh-CN" altLang="en-US"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en-US" altLang="zh-CN" sz="20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Intel </a:t>
                      </a:r>
                      <a:r>
                        <a:rPr kumimoji="0" lang="zh-CN" altLang="en-US" sz="20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酷睿 </a:t>
                      </a:r>
                      <a:r>
                        <a:rPr kumimoji="0" lang="en-US" altLang="zh-CN" sz="20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i7 5820k</a:t>
                      </a:r>
                      <a:r>
                        <a:rPr kumimoji="0" lang="zh-CN" altLang="en-US" sz="20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（盒）</a:t>
                      </a:r>
                      <a:endParaRPr kumimoji="0" lang="en-US" altLang="zh-CN" sz="20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en-US" altLang="zh-CN" sz="20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2999</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15.1%</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7038">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散热器</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安钛克 </a:t>
                      </a:r>
                      <a:r>
                        <a:rPr kumimoji="0" lang="en-US" altLang="zh-CN" sz="2000" b="1" i="0" u="none" strike="noStrike" kern="1200" cap="none" normalizeH="0" baseline="0" dirty="0" err="1">
                          <a:ln>
                            <a:noFill/>
                          </a:ln>
                          <a:solidFill>
                            <a:schemeClr val="tx1"/>
                          </a:solidFill>
                          <a:effectLst/>
                          <a:latin typeface="宋体" panose="02010600030101010101" pitchFamily="2" charset="-122"/>
                          <a:ea typeface="宋体" panose="02010600030101010101" pitchFamily="2" charset="-122"/>
                          <a:cs typeface="+mn-cs"/>
                        </a:rPr>
                        <a:t>KuHLER</a:t>
                      </a:r>
                      <a:r>
                        <a:rPr kumimoji="0" lang="en-US" altLang="zh-CN" sz="20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 H2O 650</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en-US" altLang="zh-CN" sz="20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339</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pPr>
                      <a:r>
                        <a:rPr kumimoji="0" lang="en-US" altLang="zh-CN" sz="20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1.7%</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5450">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主板</a:t>
                      </a:r>
                      <a:endParaRPr kumimoji="0" lang="zh-CN" altLang="en-US" sz="32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华硕 </a:t>
                      </a: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X99-A</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2999</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15.1%</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7038">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rgbClr val="0000CC"/>
                          </a:solidFill>
                          <a:effectLst/>
                          <a:latin typeface="宋体" panose="02010600030101010101" pitchFamily="2" charset="-122"/>
                          <a:ea typeface="宋体" panose="02010600030101010101" pitchFamily="2" charset="-122"/>
                        </a:rPr>
                        <a:t>显卡</a:t>
                      </a:r>
                      <a:endParaRPr kumimoji="0" lang="zh-CN" altLang="en-US" sz="3200" b="1" i="0" u="none" strike="noStrike" cap="none" normalizeH="0" baseline="0">
                        <a:ln>
                          <a:noFill/>
                        </a:ln>
                        <a:solidFill>
                          <a:srgbClr val="0000CC"/>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rgbClr val="0000CC"/>
                          </a:solidFill>
                          <a:effectLst/>
                          <a:latin typeface="宋体" panose="02010600030101010101" pitchFamily="2" charset="-122"/>
                          <a:ea typeface="宋体" panose="02010600030101010101" pitchFamily="2" charset="-122"/>
                        </a:rPr>
                        <a:t>七彩虹 </a:t>
                      </a:r>
                      <a:r>
                        <a:rPr kumimoji="0" lang="en-US" altLang="zh-CN" sz="2000" b="1" i="0" u="none" strike="noStrike" cap="none" normalizeH="0" baseline="0" dirty="0">
                          <a:ln>
                            <a:noFill/>
                          </a:ln>
                          <a:solidFill>
                            <a:srgbClr val="0000CC"/>
                          </a:solidFill>
                          <a:effectLst/>
                          <a:latin typeface="宋体" panose="02010600030101010101" pitchFamily="2" charset="-122"/>
                          <a:ea typeface="宋体" panose="02010600030101010101" pitchFamily="2" charset="-122"/>
                        </a:rPr>
                        <a:t>iGame980-4GD5</a:t>
                      </a:r>
                      <a:endParaRPr kumimoji="0" lang="en-US" altLang="zh-CN" sz="3200" b="1" i="0" u="none" strike="noStrike" cap="none" normalizeH="0" baseline="0" dirty="0">
                        <a:ln>
                          <a:noFill/>
                        </a:ln>
                        <a:solidFill>
                          <a:srgbClr val="0000CC"/>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rgbClr val="0000CC"/>
                          </a:solidFill>
                          <a:effectLst/>
                          <a:latin typeface="宋体" panose="02010600030101010101" pitchFamily="2" charset="-122"/>
                          <a:ea typeface="宋体" panose="02010600030101010101" pitchFamily="2" charset="-122"/>
                        </a:rPr>
                        <a:t>4099</a:t>
                      </a:r>
                      <a:endParaRPr kumimoji="0" lang="en-US" altLang="zh-CN" sz="3200" b="1" i="0" u="none" strike="noStrike" cap="none" normalizeH="0" baseline="0" dirty="0">
                        <a:ln>
                          <a:noFill/>
                        </a:ln>
                        <a:solidFill>
                          <a:srgbClr val="0000CC"/>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rgbClr val="0000CC"/>
                          </a:solidFill>
                          <a:effectLst/>
                          <a:latin typeface="宋体" panose="02010600030101010101" pitchFamily="2" charset="-122"/>
                          <a:ea typeface="宋体" panose="02010600030101010101" pitchFamily="2" charset="-122"/>
                        </a:rPr>
                        <a:t>20.7%</a:t>
                      </a:r>
                      <a:endParaRPr kumimoji="0" lang="en-US" altLang="zh-CN" sz="3200" b="1" i="0" u="none" strike="noStrike" cap="none" normalizeH="0" baseline="0" dirty="0">
                        <a:ln>
                          <a:noFill/>
                        </a:ln>
                        <a:solidFill>
                          <a:srgbClr val="0000CC"/>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5450">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内存</a:t>
                      </a:r>
                      <a:endParaRPr kumimoji="0" lang="zh-CN" altLang="en-US"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DDR4 2666 4GB 4</a:t>
                      </a: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条</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1999</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10.1%</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7038">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硬盘</a:t>
                      </a: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endParaRPr kumimoji="0" lang="zh-CN" altLang="en-US"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Verdana" panose="020B0604030504040204"/>
                          <a:ea typeface="宋体" panose="02010600030101010101" pitchFamily="2" charset="-122"/>
                        </a:rPr>
                        <a:t>三星 </a:t>
                      </a:r>
                      <a:r>
                        <a:rPr kumimoji="0" lang="en-US" altLang="zh-CN" sz="20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850EVO 250G SSD </a:t>
                      </a:r>
                      <a:r>
                        <a:rPr kumimoji="0" lang="zh-CN" altLang="en-US" sz="20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固态硬盘</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799</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4.0%</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5450">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硬盘</a:t>
                      </a: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a:t>
                      </a:r>
                      <a:endParaRPr kumimoji="0" lang="zh-CN" altLang="en-US"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希捷 </a:t>
                      </a: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2TB ST2000DM001</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500</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2.5%</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3674">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rgbClr val="0000CC"/>
                          </a:solidFill>
                          <a:effectLst/>
                          <a:latin typeface="宋体" panose="02010600030101010101" pitchFamily="2" charset="-122"/>
                          <a:ea typeface="宋体" panose="02010600030101010101" pitchFamily="2" charset="-122"/>
                        </a:rPr>
                        <a:t>显示器</a:t>
                      </a:r>
                      <a:endParaRPr kumimoji="0" lang="zh-CN" altLang="en-US" sz="3200" b="1" i="0" u="none" strike="noStrike" cap="none" normalizeH="0" baseline="0" dirty="0">
                        <a:ln>
                          <a:noFill/>
                        </a:ln>
                        <a:solidFill>
                          <a:srgbClr val="0000CC"/>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rgbClr val="0000CC"/>
                          </a:solidFill>
                          <a:effectLst/>
                          <a:latin typeface="宋体" panose="02010600030101010101" pitchFamily="2" charset="-122"/>
                          <a:ea typeface="宋体" panose="02010600030101010101" pitchFamily="2" charset="-122"/>
                        </a:rPr>
                        <a:t>戴尔 </a:t>
                      </a:r>
                      <a:r>
                        <a:rPr kumimoji="0" lang="en-US" altLang="zh-CN" sz="2000" b="1" i="0" u="none" strike="noStrike" cap="none" normalizeH="0" baseline="0" dirty="0">
                          <a:ln>
                            <a:noFill/>
                          </a:ln>
                          <a:solidFill>
                            <a:srgbClr val="0000CC"/>
                          </a:solidFill>
                          <a:effectLst/>
                          <a:latin typeface="宋体" panose="02010600030101010101" pitchFamily="2" charset="-122"/>
                          <a:ea typeface="宋体" panose="02010600030101010101" pitchFamily="2" charset="-122"/>
                        </a:rPr>
                        <a:t>UltraSharpU2713HM</a:t>
                      </a:r>
                      <a:endParaRPr kumimoji="0" lang="en-US" altLang="zh-CN" sz="3200" b="1" i="0" u="none" strike="noStrike" cap="none" normalizeH="0" baseline="0" dirty="0">
                        <a:ln>
                          <a:noFill/>
                        </a:ln>
                        <a:solidFill>
                          <a:srgbClr val="0000CC"/>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rgbClr val="0000CC"/>
                          </a:solidFill>
                          <a:effectLst/>
                          <a:latin typeface="宋体" panose="02010600030101010101" pitchFamily="2" charset="-122"/>
                          <a:ea typeface="宋体" panose="02010600030101010101" pitchFamily="2" charset="-122"/>
                        </a:rPr>
                        <a:t>4099</a:t>
                      </a:r>
                      <a:endParaRPr kumimoji="0" lang="en-US" altLang="zh-CN" sz="3200" b="1" i="0" u="none" strike="noStrike" cap="none" normalizeH="0" baseline="0" dirty="0">
                        <a:ln>
                          <a:noFill/>
                        </a:ln>
                        <a:solidFill>
                          <a:srgbClr val="0000CC"/>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rgbClr val="0000CC"/>
                          </a:solidFill>
                          <a:effectLst/>
                          <a:latin typeface="宋体" panose="02010600030101010101" pitchFamily="2" charset="-122"/>
                          <a:ea typeface="宋体" panose="02010600030101010101" pitchFamily="2" charset="-122"/>
                        </a:rPr>
                        <a:t>20.7%</a:t>
                      </a:r>
                      <a:endParaRPr kumimoji="0" lang="en-US" altLang="zh-CN" sz="3200" b="1" i="0" u="none" strike="noStrike" cap="none" normalizeH="0" baseline="0" dirty="0">
                        <a:ln>
                          <a:noFill/>
                        </a:ln>
                        <a:solidFill>
                          <a:srgbClr val="0000CC"/>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25450">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鼠标</a:t>
                      </a:r>
                      <a:endParaRPr kumimoji="0" lang="zh-CN" altLang="en-US" sz="32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罗技 </a:t>
                      </a: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G502</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499</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2.5%</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27038">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键盘</a:t>
                      </a:r>
                      <a:endParaRPr kumimoji="0" lang="zh-CN" altLang="en-US" sz="32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雷蛇</a:t>
                      </a:r>
                      <a:r>
                        <a:rPr kumimoji="0" lang="zh-CN" altLang="en-US" sz="2000" b="1" i="0" u="none" strike="noStrike" cap="none" normalizeH="0" baseline="0" dirty="0">
                          <a:ln>
                            <a:noFill/>
                          </a:ln>
                          <a:solidFill>
                            <a:schemeClr val="tx1"/>
                          </a:solidFill>
                          <a:effectLst/>
                          <a:latin typeface="Verdana" panose="020B0604030504040204"/>
                          <a:ea typeface="宋体" panose="02010600030101010101" pitchFamily="2" charset="-122"/>
                        </a:rPr>
                        <a:t> 终极</a:t>
                      </a: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版 </a:t>
                      </a: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2014</a:t>
                      </a:r>
                      <a:endParaRPr kumimoji="0" lang="zh-CN" altLang="en-US"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799</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4.0%</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25450">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机箱</a:t>
                      </a:r>
                      <a:endParaRPr kumimoji="0" lang="zh-CN" altLang="en-US" sz="32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安钛克 </a:t>
                      </a: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P280</a:t>
                      </a:r>
                      <a:endParaRPr kumimoji="0" lang="zh-CN" altLang="en-US"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399</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2.0%</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427038">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电源</a:t>
                      </a:r>
                      <a:endParaRPr kumimoji="0" lang="zh-CN" altLang="en-US" sz="32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鑫谷 </a:t>
                      </a: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RP PLUS650</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299</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0" fontAlgn="b"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1.5%</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425450">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总价</a:t>
                      </a:r>
                      <a:endParaRPr kumimoji="0" lang="zh-CN" altLang="en-US" sz="3200" b="1" i="0" u="none" strike="noStrike" cap="none" normalizeH="0" baseline="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6F28B"/>
                    </a:solid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ˎ̥" charset="0"/>
                          <a:ea typeface="宋体" panose="02010600030101010101" pitchFamily="2" charset="-122"/>
                        </a:rPr>
                        <a:t>　</a:t>
                      </a:r>
                      <a:endParaRPr kumimoji="0" lang="zh-CN" altLang="en-US"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t" latinLnBrk="0" hangingPunct="0">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19829</a:t>
                      </a:r>
                      <a:endParaRPr kumimoji="0" lang="en-US" altLang="zh-CN"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36F28B"/>
                    </a:solidFill>
                  </a:tcPr>
                </a:tc>
                <a:tc>
                  <a:txBody>
                    <a:bodyPr/>
                    <a:lstStyle/>
                    <a:p>
                      <a:pPr marL="0" marR="0" lvl="0" indent="0" algn="l" defTabSz="914400" rtl="0" eaLnBrk="0" fontAlgn="b" latinLnBrk="0" hangingPunct="0">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　</a:t>
                      </a:r>
                      <a:endParaRPr kumimoji="0" lang="zh-CN" altLang="en-US" sz="3200" b="1" i="0" u="none" strike="noStrike" cap="none" normalizeH="0" baseline="0" dirty="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2365907"/>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idx="4294967295"/>
          </p:nvPr>
        </p:nvSpPr>
        <p:spPr/>
        <p:txBody>
          <a:bodyPr>
            <a:normAutofit/>
          </a:bodyPr>
          <a:lstStyle/>
          <a:p>
            <a:r>
              <a:rPr kumimoji="1" lang="en-US" altLang="zh-CN" sz="3600" b="1" dirty="0">
                <a:latin typeface="+mj-ea"/>
                <a:cs typeface="+mn-cs"/>
              </a:rPr>
              <a:t>2.3.1 </a:t>
            </a:r>
            <a:r>
              <a:rPr kumimoji="1" lang="zh-CN" altLang="en-US" sz="3600" b="1" dirty="0">
                <a:latin typeface="+mj-ea"/>
                <a:cs typeface="+mn-cs"/>
              </a:rPr>
              <a:t>成本与价格</a:t>
            </a:r>
            <a:endParaRPr kumimoji="1" lang="en-US" altLang="zh-CN" sz="3600" b="1" dirty="0">
              <a:latin typeface="+mj-ea"/>
              <a:cs typeface="+mn-cs"/>
            </a:endParaRPr>
          </a:p>
        </p:txBody>
      </p:sp>
      <p:sp>
        <p:nvSpPr>
          <p:cNvPr id="66563" name="Rectangle 5"/>
          <p:cNvSpPr>
            <a:spLocks noGrp="1" noChangeArrowheads="1"/>
          </p:cNvSpPr>
          <p:nvPr>
            <p:ph type="body" idx="4294967295"/>
          </p:nvPr>
        </p:nvSpPr>
        <p:spPr/>
        <p:txBody>
          <a:bodyPr>
            <a:normAutofit/>
          </a:bodyPr>
          <a:lstStyle/>
          <a:p>
            <a:pPr eaLnBrk="1" hangingPunct="1">
              <a:lnSpc>
                <a:spcPct val="190000"/>
              </a:lnSpc>
            </a:pPr>
            <a:r>
              <a:rPr lang="zh-CN" altLang="en-US" sz="2800" b="1" dirty="0">
                <a:latin typeface="+mj-ea"/>
                <a:ea typeface="+mj-ea"/>
              </a:rPr>
              <a:t>系统的成本</a:t>
            </a:r>
          </a:p>
          <a:p>
            <a:pPr lvl="1" eaLnBrk="1" hangingPunct="1">
              <a:lnSpc>
                <a:spcPct val="190000"/>
              </a:lnSpc>
            </a:pPr>
            <a:r>
              <a:rPr lang="zh-CN" altLang="en-US" b="1" dirty="0">
                <a:latin typeface="+mj-ea"/>
                <a:ea typeface="+mj-ea"/>
              </a:rPr>
              <a:t>处理器板</a:t>
            </a:r>
            <a:r>
              <a:rPr lang="en-US" altLang="zh-CN" b="1" dirty="0">
                <a:latin typeface="+mj-ea"/>
                <a:ea typeface="+mj-ea"/>
              </a:rPr>
              <a:t>: ~ 47%</a:t>
            </a:r>
          </a:p>
          <a:p>
            <a:pPr lvl="1" eaLnBrk="1" hangingPunct="1">
              <a:lnSpc>
                <a:spcPct val="190000"/>
              </a:lnSpc>
            </a:pPr>
            <a:r>
              <a:rPr lang="en-US" altLang="zh-CN" b="1" dirty="0">
                <a:latin typeface="+mj-ea"/>
                <a:ea typeface="+mj-ea"/>
              </a:rPr>
              <a:t>I/O</a:t>
            </a:r>
            <a:r>
              <a:rPr lang="zh-CN" altLang="en-US" b="1" dirty="0">
                <a:latin typeface="+mj-ea"/>
                <a:ea typeface="+mj-ea"/>
              </a:rPr>
              <a:t>设备</a:t>
            </a:r>
            <a:r>
              <a:rPr lang="en-US" altLang="zh-CN" b="1" dirty="0">
                <a:latin typeface="+mj-ea"/>
                <a:ea typeface="+mj-ea"/>
              </a:rPr>
              <a:t>: ~ 47%</a:t>
            </a:r>
          </a:p>
          <a:p>
            <a:pPr lvl="1" eaLnBrk="1" hangingPunct="1">
              <a:lnSpc>
                <a:spcPct val="190000"/>
              </a:lnSpc>
            </a:pPr>
            <a:r>
              <a:rPr lang="zh-CN" altLang="en-US" b="1" dirty="0">
                <a:latin typeface="+mj-ea"/>
                <a:ea typeface="+mj-ea"/>
              </a:rPr>
              <a:t>附件</a:t>
            </a:r>
            <a:r>
              <a:rPr lang="en-US" altLang="zh-CN" b="1" dirty="0">
                <a:latin typeface="+mj-ea"/>
                <a:ea typeface="+mj-ea"/>
              </a:rPr>
              <a:t>: ~ 6%</a:t>
            </a:r>
          </a:p>
        </p:txBody>
      </p:sp>
      <p:pic>
        <p:nvPicPr>
          <p:cNvPr id="66564" name="Picture 6" descr="deskto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7838" y="2492375"/>
            <a:ext cx="2519362"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8EE4B17A-E1C0-D064-453C-20466267E39F}"/>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32A96C88-899F-F7F0-45B3-F647678EED53}"/>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CE093FC7-B6AE-099C-E065-C50D139A2B7F}"/>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22</a:t>
            </a:fld>
            <a:endParaRPr lang="en-US" altLang="zh-CN"/>
          </a:p>
        </p:txBody>
      </p:sp>
    </p:spTree>
    <p:extLst>
      <p:ext uri="{BB962C8B-B14F-4D97-AF65-F5344CB8AC3E}">
        <p14:creationId xmlns:p14="http://schemas.microsoft.com/office/powerpoint/2010/main" val="3714429750"/>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Grp="1" noChangeArrowheads="1"/>
          </p:cNvSpPr>
          <p:nvPr>
            <p:ph type="body" idx="4294967295"/>
          </p:nvPr>
        </p:nvSpPr>
        <p:spPr>
          <a:xfrm>
            <a:off x="683568" y="1628800"/>
            <a:ext cx="7776864" cy="4525963"/>
          </a:xfrm>
        </p:spPr>
        <p:txBody>
          <a:bodyPr>
            <a:normAutofit/>
          </a:bodyPr>
          <a:lstStyle/>
          <a:p>
            <a:pPr eaLnBrk="1" hangingPunct="1">
              <a:lnSpc>
                <a:spcPct val="170000"/>
              </a:lnSpc>
            </a:pPr>
            <a:r>
              <a:rPr lang="zh-CN" altLang="en-US" sz="2600" b="1" dirty="0">
                <a:solidFill>
                  <a:srgbClr val="FF0000"/>
                </a:solidFill>
                <a:latin typeface="+mn-ea"/>
              </a:rPr>
              <a:t>性能</a:t>
            </a:r>
            <a:r>
              <a:rPr lang="en-US" altLang="zh-CN" sz="2600" b="1" dirty="0">
                <a:solidFill>
                  <a:srgbClr val="FF0000"/>
                </a:solidFill>
                <a:latin typeface="+mn-ea"/>
              </a:rPr>
              <a:t>/</a:t>
            </a:r>
            <a:r>
              <a:rPr lang="zh-CN" altLang="en-US" sz="2600" b="1" dirty="0">
                <a:solidFill>
                  <a:srgbClr val="FF0000"/>
                </a:solidFill>
                <a:latin typeface="+mn-ea"/>
              </a:rPr>
              <a:t>成本设计</a:t>
            </a:r>
            <a:r>
              <a:rPr lang="zh-CN" altLang="en-US" sz="2600" b="1" dirty="0">
                <a:latin typeface="+mn-ea"/>
              </a:rPr>
              <a:t>：设计者需取得性能与成本之间的平衡。</a:t>
            </a:r>
          </a:p>
          <a:p>
            <a:pPr eaLnBrk="1" hangingPunct="1">
              <a:lnSpc>
                <a:spcPct val="170000"/>
              </a:lnSpc>
            </a:pPr>
            <a:r>
              <a:rPr lang="zh-CN" altLang="en-US" sz="2600" b="1" dirty="0">
                <a:latin typeface="+mn-ea"/>
              </a:rPr>
              <a:t>在过去的几十年中，计算机尺寸变小，因此</a:t>
            </a:r>
            <a:r>
              <a:rPr lang="zh-CN" altLang="en-US" sz="2600" b="1" dirty="0">
                <a:solidFill>
                  <a:srgbClr val="0000CC"/>
                </a:solidFill>
                <a:latin typeface="+mn-ea"/>
              </a:rPr>
              <a:t>低成本设计</a:t>
            </a:r>
            <a:r>
              <a:rPr lang="zh-CN" altLang="en-US" sz="2600" b="1" dirty="0">
                <a:latin typeface="+mn-ea"/>
              </a:rPr>
              <a:t>和</a:t>
            </a:r>
            <a:r>
              <a:rPr lang="zh-CN" altLang="en-US" sz="2600" b="1" dirty="0">
                <a:solidFill>
                  <a:srgbClr val="0000CC"/>
                </a:solidFill>
                <a:latin typeface="+mn-ea"/>
              </a:rPr>
              <a:t>性能</a:t>
            </a:r>
            <a:r>
              <a:rPr lang="en-US" altLang="zh-CN" sz="2600" b="1" dirty="0">
                <a:solidFill>
                  <a:srgbClr val="0000CC"/>
                </a:solidFill>
                <a:latin typeface="+mn-ea"/>
              </a:rPr>
              <a:t>/</a:t>
            </a:r>
            <a:r>
              <a:rPr lang="zh-CN" altLang="en-US" sz="2600" b="1" dirty="0">
                <a:solidFill>
                  <a:srgbClr val="0000CC"/>
                </a:solidFill>
                <a:latin typeface="+mn-ea"/>
              </a:rPr>
              <a:t>成本设计</a:t>
            </a:r>
            <a:r>
              <a:rPr lang="zh-CN" altLang="en-US" sz="2600" b="1" dirty="0">
                <a:latin typeface="+mn-ea"/>
              </a:rPr>
              <a:t>就显得日益重要，即使是巨型计算机制造商也发觉成本问题已日益重要。</a:t>
            </a:r>
          </a:p>
        </p:txBody>
      </p:sp>
      <p:sp>
        <p:nvSpPr>
          <p:cNvPr id="5" name="Rectangle 4"/>
          <p:cNvSpPr txBox="1">
            <a:spLocks noChangeArrowheads="1"/>
          </p:cNvSpPr>
          <p:nvPr/>
        </p:nvSpPr>
        <p:spPr>
          <a:xfrm>
            <a:off x="395536"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kumimoji="1" lang="en-US" altLang="zh-CN" sz="3600" b="1" dirty="0">
                <a:latin typeface="+mj-ea"/>
                <a:cs typeface="+mn-cs"/>
              </a:rPr>
              <a:t>2.3.1 </a:t>
            </a:r>
            <a:r>
              <a:rPr kumimoji="1" lang="zh-CN" altLang="en-US" sz="3600" b="1" dirty="0">
                <a:latin typeface="+mj-ea"/>
                <a:cs typeface="+mn-cs"/>
              </a:rPr>
              <a:t>成本与价格</a:t>
            </a:r>
            <a:endParaRPr kumimoji="1" lang="en-US" altLang="zh-CN" sz="3600" b="1" dirty="0">
              <a:latin typeface="+mj-ea"/>
              <a:cs typeface="+mn-cs"/>
            </a:endParaRPr>
          </a:p>
        </p:txBody>
      </p:sp>
      <p:sp>
        <p:nvSpPr>
          <p:cNvPr id="2" name="日期占位符 1">
            <a:extLst>
              <a:ext uri="{FF2B5EF4-FFF2-40B4-BE49-F238E27FC236}">
                <a16:creationId xmlns:a16="http://schemas.microsoft.com/office/drawing/2014/main" id="{84353ABE-FA87-33C3-CB67-3D8EF32AA0F9}"/>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78FAF4B0-97C0-2622-5C35-FA9796B8FF5E}"/>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5EE93C6B-793C-AB41-8C05-0C039C420AFD}"/>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23</a:t>
            </a:fld>
            <a:endParaRPr lang="en-US" altLang="zh-CN"/>
          </a:p>
        </p:txBody>
      </p:sp>
    </p:spTree>
    <p:extLst>
      <p:ext uri="{BB962C8B-B14F-4D97-AF65-F5344CB8AC3E}">
        <p14:creationId xmlns:p14="http://schemas.microsoft.com/office/powerpoint/2010/main" val="555231599"/>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5"/>
          <p:cNvSpPr>
            <a:spLocks noGrp="1" noChangeArrowheads="1"/>
          </p:cNvSpPr>
          <p:nvPr>
            <p:ph type="body" idx="4294967295"/>
          </p:nvPr>
        </p:nvSpPr>
        <p:spPr/>
        <p:txBody>
          <a:bodyPr/>
          <a:lstStyle/>
          <a:p>
            <a:pPr eaLnBrk="1" hangingPunct="1">
              <a:lnSpc>
                <a:spcPct val="170000"/>
              </a:lnSpc>
            </a:pPr>
            <a:r>
              <a:rPr lang="zh-CN" altLang="en-US" sz="2600" b="1" dirty="0">
                <a:latin typeface="+mj-ea"/>
                <a:ea typeface="+mj-ea"/>
              </a:rPr>
              <a:t>对计算机系统成本产生影响的</a:t>
            </a:r>
            <a:r>
              <a:rPr lang="zh-CN" altLang="en-US" sz="2600" b="1" dirty="0">
                <a:solidFill>
                  <a:srgbClr val="FF0000"/>
                </a:solidFill>
                <a:latin typeface="+mj-ea"/>
                <a:ea typeface="+mj-ea"/>
              </a:rPr>
              <a:t>主要因素</a:t>
            </a:r>
            <a:r>
              <a:rPr lang="zh-CN" altLang="en-US" sz="2600" b="1" dirty="0">
                <a:latin typeface="+mj-ea"/>
                <a:ea typeface="+mj-ea"/>
              </a:rPr>
              <a:t>有：</a:t>
            </a:r>
          </a:p>
          <a:p>
            <a:pPr lvl="1" eaLnBrk="1" hangingPunct="1">
              <a:lnSpc>
                <a:spcPct val="170000"/>
              </a:lnSpc>
            </a:pPr>
            <a:r>
              <a:rPr lang="zh-CN" altLang="en-US" sz="2600" b="1" dirty="0">
                <a:latin typeface="+mj-ea"/>
                <a:ea typeface="+mj-ea"/>
              </a:rPr>
              <a:t>时间、产量、商品化等</a:t>
            </a:r>
          </a:p>
          <a:p>
            <a:pPr eaLnBrk="1" hangingPunct="1">
              <a:lnSpc>
                <a:spcPct val="170000"/>
              </a:lnSpc>
            </a:pPr>
            <a:r>
              <a:rPr lang="zh-CN" altLang="en-US" sz="2600" b="1" dirty="0">
                <a:latin typeface="+mj-ea"/>
                <a:ea typeface="+mj-ea"/>
              </a:rPr>
              <a:t>对成本产生最直接影响的是</a:t>
            </a:r>
            <a:r>
              <a:rPr lang="zh-CN" altLang="en-US" sz="2600" b="1" dirty="0">
                <a:solidFill>
                  <a:srgbClr val="FF0000"/>
                </a:solidFill>
                <a:latin typeface="+mj-ea"/>
                <a:ea typeface="+mj-ea"/>
              </a:rPr>
              <a:t>时间</a:t>
            </a:r>
            <a:r>
              <a:rPr lang="zh-CN" altLang="en-US" sz="2600" b="1" dirty="0">
                <a:latin typeface="+mj-ea"/>
                <a:ea typeface="+mj-ea"/>
              </a:rPr>
              <a:t>。即使实现技术没有变动，计算机系统的制造成本也会不断下降。随着时间的推移，生产工艺会日渐稳定，产品的成品率会不断提高。产品的成本与成品率成反比。</a:t>
            </a:r>
          </a:p>
        </p:txBody>
      </p:sp>
      <p:sp>
        <p:nvSpPr>
          <p:cNvPr id="4" name="Rectangle 4"/>
          <p:cNvSpPr txBox="1">
            <a:spLocks noChangeArrowheads="1"/>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kumimoji="1" lang="en-US" altLang="zh-CN" sz="3600" b="1" dirty="0">
                <a:latin typeface="+mj-ea"/>
                <a:cs typeface="+mn-cs"/>
              </a:rPr>
              <a:t>2.3.1 </a:t>
            </a:r>
            <a:r>
              <a:rPr kumimoji="1" lang="zh-CN" altLang="en-US" sz="3600" b="1" dirty="0">
                <a:latin typeface="+mj-ea"/>
                <a:cs typeface="+mn-cs"/>
              </a:rPr>
              <a:t>成本与价格</a:t>
            </a:r>
            <a:endParaRPr kumimoji="1" lang="en-US" altLang="zh-CN" sz="3600" b="1" dirty="0">
              <a:latin typeface="+mj-ea"/>
              <a:cs typeface="+mn-cs"/>
            </a:endParaRPr>
          </a:p>
        </p:txBody>
      </p:sp>
      <p:sp>
        <p:nvSpPr>
          <p:cNvPr id="2" name="日期占位符 1">
            <a:extLst>
              <a:ext uri="{FF2B5EF4-FFF2-40B4-BE49-F238E27FC236}">
                <a16:creationId xmlns:a16="http://schemas.microsoft.com/office/drawing/2014/main" id="{265D9FB6-916E-919E-B379-C9E085FD9FEA}"/>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186EB6CC-D88B-2668-538A-8805D459249C}"/>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FA3C89F2-EE81-3EC3-DF36-D502A3003F6A}"/>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24</a:t>
            </a:fld>
            <a:endParaRPr lang="en-US" altLang="zh-CN"/>
          </a:p>
        </p:txBody>
      </p:sp>
    </p:spTree>
    <p:extLst>
      <p:ext uri="{BB962C8B-B14F-4D97-AF65-F5344CB8AC3E}">
        <p14:creationId xmlns:p14="http://schemas.microsoft.com/office/powerpoint/2010/main" val="1961401390"/>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6"/>
          <p:cNvSpPr>
            <a:spLocks noGrp="1" noChangeArrowheads="1"/>
          </p:cNvSpPr>
          <p:nvPr>
            <p:ph type="title" idx="4294967295"/>
          </p:nvPr>
        </p:nvSpPr>
        <p:spPr/>
        <p:txBody>
          <a:bodyPr>
            <a:normAutofit/>
          </a:bodyPr>
          <a:lstStyle/>
          <a:p>
            <a:r>
              <a:rPr kumimoji="1" lang="zh-CN" altLang="en-US" sz="3600" b="1" dirty="0">
                <a:latin typeface="+mj-ea"/>
                <a:cs typeface="+mn-cs"/>
              </a:rPr>
              <a:t>成本</a:t>
            </a:r>
            <a:r>
              <a:rPr kumimoji="1" lang="en-US" altLang="zh-CN" sz="3600" b="1" dirty="0">
                <a:latin typeface="+mj-ea"/>
                <a:cs typeface="+mn-cs"/>
              </a:rPr>
              <a:t>-</a:t>
            </a:r>
            <a:r>
              <a:rPr kumimoji="1" lang="zh-CN" altLang="en-US" sz="3600" b="1" dirty="0">
                <a:latin typeface="+mj-ea"/>
                <a:cs typeface="+mn-cs"/>
              </a:rPr>
              <a:t>时间因素：学习曲线</a:t>
            </a:r>
          </a:p>
        </p:txBody>
      </p:sp>
      <p:sp>
        <p:nvSpPr>
          <p:cNvPr id="84995" name="Rectangle 9"/>
          <p:cNvSpPr>
            <a:spLocks noGrp="1" noChangeArrowheads="1"/>
          </p:cNvSpPr>
          <p:nvPr>
            <p:ph type="body" idx="4294967295"/>
          </p:nvPr>
        </p:nvSpPr>
        <p:spPr/>
        <p:txBody>
          <a:bodyPr>
            <a:normAutofit/>
          </a:bodyPr>
          <a:lstStyle/>
          <a:p>
            <a:r>
              <a:rPr lang="zh-CN" altLang="en-US" sz="2600" b="1" dirty="0">
                <a:latin typeface="+mj-ea"/>
                <a:ea typeface="+mj-ea"/>
              </a:rPr>
              <a:t>产品价格随时间变化的特性，就是价格随时间下降的趋势</a:t>
            </a:r>
          </a:p>
        </p:txBody>
      </p:sp>
      <p:pic>
        <p:nvPicPr>
          <p:cNvPr id="84996" name="图片 98"/>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88664" y="2564904"/>
            <a:ext cx="8559800" cy="4111625"/>
          </a:xfrm>
          <a:noFill/>
        </p:spPr>
      </p:pic>
      <p:sp>
        <p:nvSpPr>
          <p:cNvPr id="2" name="日期占位符 1">
            <a:extLst>
              <a:ext uri="{FF2B5EF4-FFF2-40B4-BE49-F238E27FC236}">
                <a16:creationId xmlns:a16="http://schemas.microsoft.com/office/drawing/2014/main" id="{054EB598-2095-2A8C-96C9-E79897F5A7E6}"/>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48AE686C-E94B-5160-8647-EC658B05EF62}"/>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3B4C6C63-4E2D-CAA7-12BF-7C1525546998}"/>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25</a:t>
            </a:fld>
            <a:endParaRPr lang="en-US" altLang="zh-CN"/>
          </a:p>
        </p:txBody>
      </p:sp>
    </p:spTree>
    <p:extLst>
      <p:ext uri="{BB962C8B-B14F-4D97-AF65-F5344CB8AC3E}">
        <p14:creationId xmlns:p14="http://schemas.microsoft.com/office/powerpoint/2010/main" val="19676727"/>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8"/>
          <p:cNvSpPr>
            <a:spLocks noGrp="1" noChangeArrowheads="1"/>
          </p:cNvSpPr>
          <p:nvPr>
            <p:ph type="title" idx="4294967295"/>
          </p:nvPr>
        </p:nvSpPr>
        <p:spPr/>
        <p:txBody>
          <a:bodyPr>
            <a:normAutofit/>
          </a:bodyPr>
          <a:lstStyle/>
          <a:p>
            <a:r>
              <a:rPr kumimoji="1" lang="en-US" altLang="zh-CN" sz="3600" b="1" dirty="0">
                <a:latin typeface="+mj-ea"/>
                <a:cs typeface="+mn-cs"/>
              </a:rPr>
              <a:t>2.3 </a:t>
            </a:r>
            <a:r>
              <a:rPr kumimoji="1" lang="zh-CN" altLang="en-US" sz="3600" b="1" dirty="0">
                <a:latin typeface="+mj-ea"/>
                <a:cs typeface="+mn-cs"/>
              </a:rPr>
              <a:t>计算机系统设计和分析</a:t>
            </a:r>
          </a:p>
        </p:txBody>
      </p:sp>
      <p:sp>
        <p:nvSpPr>
          <p:cNvPr id="65539" name="Rectangle 9"/>
          <p:cNvSpPr>
            <a:spLocks noGrp="1" noChangeArrowheads="1"/>
          </p:cNvSpPr>
          <p:nvPr>
            <p:ph type="body" idx="4294967295"/>
          </p:nvPr>
        </p:nvSpPr>
        <p:spPr/>
        <p:txBody>
          <a:bodyPr/>
          <a:lstStyle/>
          <a:p>
            <a:r>
              <a:rPr lang="en-US" altLang="zh-CN" sz="2800" b="1" dirty="0">
                <a:latin typeface="+mj-ea"/>
                <a:ea typeface="+mj-ea"/>
              </a:rPr>
              <a:t>2.3.1 </a:t>
            </a:r>
            <a:r>
              <a:rPr lang="zh-CN" altLang="en-US" sz="2800" b="1" dirty="0">
                <a:latin typeface="+mj-ea"/>
                <a:ea typeface="+mj-ea"/>
              </a:rPr>
              <a:t>成本与价格</a:t>
            </a:r>
            <a:endParaRPr lang="en-US" altLang="zh-CN" sz="2800" b="1" dirty="0">
              <a:latin typeface="+mj-ea"/>
              <a:ea typeface="+mj-ea"/>
            </a:endParaRPr>
          </a:p>
          <a:p>
            <a:endParaRPr lang="en-US" altLang="zh-CN" sz="2800" b="1" dirty="0">
              <a:latin typeface="+mj-ea"/>
              <a:ea typeface="+mj-ea"/>
            </a:endParaRPr>
          </a:p>
          <a:p>
            <a:r>
              <a:rPr lang="en-US" altLang="zh-CN" sz="2800" b="1" u="sng" dirty="0">
                <a:latin typeface="+mj-ea"/>
                <a:ea typeface="+mj-ea"/>
              </a:rPr>
              <a:t>2.3.2 </a:t>
            </a:r>
            <a:r>
              <a:rPr lang="zh-CN" altLang="en-US" sz="2800" b="1" u="sng" dirty="0">
                <a:latin typeface="+mj-ea"/>
                <a:ea typeface="+mj-ea"/>
              </a:rPr>
              <a:t>基准测试程序</a:t>
            </a:r>
            <a:endParaRPr lang="en-US" altLang="zh-CN" sz="2800" b="1" u="sng" dirty="0">
              <a:latin typeface="+mj-ea"/>
              <a:ea typeface="+mj-ea"/>
            </a:endParaRPr>
          </a:p>
          <a:p>
            <a:endParaRPr lang="en-US" altLang="zh-CN" sz="2800" b="1" dirty="0">
              <a:latin typeface="+mj-ea"/>
              <a:ea typeface="+mj-ea"/>
            </a:endParaRPr>
          </a:p>
          <a:p>
            <a:r>
              <a:rPr lang="en-US" altLang="zh-CN" sz="2800" b="1" dirty="0">
                <a:latin typeface="+mj-ea"/>
                <a:ea typeface="+mj-ea"/>
              </a:rPr>
              <a:t>2.3.3 </a:t>
            </a:r>
            <a:r>
              <a:rPr lang="zh-CN" altLang="en-US" sz="2800" b="1" dirty="0">
                <a:latin typeface="+mj-ea"/>
                <a:ea typeface="+mj-ea"/>
              </a:rPr>
              <a:t>量化设计的基本原则</a:t>
            </a:r>
          </a:p>
        </p:txBody>
      </p:sp>
      <p:sp>
        <p:nvSpPr>
          <p:cNvPr id="2" name="日期占位符 1">
            <a:extLst>
              <a:ext uri="{FF2B5EF4-FFF2-40B4-BE49-F238E27FC236}">
                <a16:creationId xmlns:a16="http://schemas.microsoft.com/office/drawing/2014/main" id="{45672071-43D3-4BB5-2391-4B8FAE2D0A32}"/>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EDFF55D7-377D-F2D1-BE8D-B468DF49C104}"/>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BE6BE0C6-9026-660E-55AE-A0412DB9345F}"/>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26</a:t>
            </a:fld>
            <a:endParaRPr lang="en-US" altLang="zh-CN"/>
          </a:p>
        </p:txBody>
      </p:sp>
    </p:spTree>
    <p:extLst>
      <p:ext uri="{BB962C8B-B14F-4D97-AF65-F5344CB8AC3E}">
        <p14:creationId xmlns:p14="http://schemas.microsoft.com/office/powerpoint/2010/main" val="3401805063"/>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6"/>
          <p:cNvSpPr>
            <a:spLocks noGrp="1" noChangeArrowheads="1"/>
          </p:cNvSpPr>
          <p:nvPr>
            <p:ph type="title" idx="4294967295"/>
          </p:nvPr>
        </p:nvSpPr>
        <p:spPr/>
        <p:txBody>
          <a:bodyPr>
            <a:normAutofit/>
          </a:bodyPr>
          <a:lstStyle/>
          <a:p>
            <a:r>
              <a:rPr kumimoji="1" lang="en-US" altLang="zh-CN" sz="4000" b="1" dirty="0">
                <a:latin typeface="Verdana" panose="020B0604030504040204" pitchFamily="34" charset="0"/>
                <a:ea typeface="华文中宋" panose="02010600040101010101" pitchFamily="2" charset="-122"/>
                <a:cs typeface="+mn-cs"/>
              </a:rPr>
              <a:t>2.3.2 </a:t>
            </a:r>
            <a:r>
              <a:rPr kumimoji="1" lang="zh-CN" altLang="en-US" sz="4000" b="1" dirty="0">
                <a:latin typeface="Verdana" panose="020B0604030504040204" pitchFamily="34" charset="0"/>
                <a:ea typeface="华文中宋" panose="02010600040101010101" pitchFamily="2" charset="-122"/>
                <a:cs typeface="+mn-cs"/>
              </a:rPr>
              <a:t>基准测试程序</a:t>
            </a:r>
          </a:p>
        </p:txBody>
      </p:sp>
      <p:sp>
        <p:nvSpPr>
          <p:cNvPr id="86019" name="Rectangle 7"/>
          <p:cNvSpPr>
            <a:spLocks noGrp="1" noChangeArrowheads="1"/>
          </p:cNvSpPr>
          <p:nvPr>
            <p:ph type="body" idx="4294967295"/>
          </p:nvPr>
        </p:nvSpPr>
        <p:spPr/>
        <p:txBody>
          <a:bodyPr>
            <a:normAutofit fontScale="70000" lnSpcReduction="20000"/>
          </a:bodyPr>
          <a:lstStyle/>
          <a:p>
            <a:pPr>
              <a:lnSpc>
                <a:spcPct val="120000"/>
              </a:lnSpc>
            </a:pPr>
            <a:r>
              <a:rPr lang="zh-CN" altLang="en-US" dirty="0">
                <a:latin typeface="Verdana" panose="020B0604030504040204" pitchFamily="34" charset="0"/>
                <a:ea typeface="华文中宋" panose="02010600040101010101" pitchFamily="2" charset="-122"/>
              </a:rPr>
              <a:t>性能与测试程序的执行时间相关，那么用什么做测试程序呢？</a:t>
            </a:r>
          </a:p>
          <a:p>
            <a:pPr>
              <a:lnSpc>
                <a:spcPct val="120000"/>
              </a:lnSpc>
            </a:pPr>
            <a:r>
              <a:rPr lang="zh-CN" altLang="en-US" dirty="0">
                <a:latin typeface="Verdana" panose="020B0604030504040204" pitchFamily="34" charset="0"/>
                <a:ea typeface="华文中宋" panose="02010600040101010101" pitchFamily="2" charset="-122"/>
              </a:rPr>
              <a:t>五类测试程序</a:t>
            </a:r>
          </a:p>
          <a:p>
            <a:pPr lvl="1">
              <a:lnSpc>
                <a:spcPct val="120000"/>
              </a:lnSpc>
            </a:pPr>
            <a:r>
              <a:rPr lang="zh-CN" altLang="en-US" dirty="0">
                <a:latin typeface="Verdana" panose="020B0604030504040204" pitchFamily="34" charset="0"/>
                <a:ea typeface="华文中宋" panose="02010600040101010101" pitchFamily="2" charset="-122"/>
              </a:rPr>
              <a:t>真实程序</a:t>
            </a:r>
            <a:endParaRPr lang="en-US" altLang="zh-CN" dirty="0">
              <a:latin typeface="Verdana" panose="020B0604030504040204" pitchFamily="34" charset="0"/>
              <a:ea typeface="华文中宋" panose="02010600040101010101" pitchFamily="2" charset="-122"/>
            </a:endParaRPr>
          </a:p>
          <a:p>
            <a:pPr lvl="1">
              <a:lnSpc>
                <a:spcPct val="120000"/>
              </a:lnSpc>
            </a:pPr>
            <a:r>
              <a:rPr lang="zh-CN" altLang="en-US" dirty="0">
                <a:latin typeface="Verdana" panose="020B0604030504040204" pitchFamily="34" charset="0"/>
                <a:ea typeface="华文中宋" panose="02010600040101010101" pitchFamily="2" charset="-122"/>
              </a:rPr>
              <a:t>修正的（或者脚本化）应用程序</a:t>
            </a:r>
          </a:p>
          <a:p>
            <a:pPr lvl="1">
              <a:lnSpc>
                <a:spcPct val="120000"/>
              </a:lnSpc>
            </a:pPr>
            <a:r>
              <a:rPr lang="zh-CN" altLang="en-US" dirty="0">
                <a:latin typeface="Verdana" panose="020B0604030504040204" pitchFamily="34" charset="0"/>
                <a:ea typeface="华文中宋" panose="02010600040101010101" pitchFamily="2" charset="-122"/>
              </a:rPr>
              <a:t>核心程序</a:t>
            </a:r>
          </a:p>
          <a:p>
            <a:pPr lvl="1">
              <a:lnSpc>
                <a:spcPct val="120000"/>
              </a:lnSpc>
            </a:pPr>
            <a:r>
              <a:rPr lang="zh-CN" altLang="en-US" dirty="0">
                <a:latin typeface="Verdana" panose="020B0604030504040204" pitchFamily="34" charset="0"/>
                <a:ea typeface="华文中宋" panose="02010600040101010101" pitchFamily="2" charset="-122"/>
              </a:rPr>
              <a:t>小测试程序</a:t>
            </a:r>
          </a:p>
          <a:p>
            <a:pPr lvl="1">
              <a:lnSpc>
                <a:spcPct val="120000"/>
              </a:lnSpc>
            </a:pPr>
            <a:r>
              <a:rPr lang="zh-CN" altLang="en-US" dirty="0">
                <a:latin typeface="Verdana" panose="020B0604030504040204" pitchFamily="34" charset="0"/>
                <a:ea typeface="华文中宋" panose="02010600040101010101" pitchFamily="2" charset="-122"/>
              </a:rPr>
              <a:t>合成测试程序</a:t>
            </a:r>
          </a:p>
          <a:p>
            <a:pPr>
              <a:lnSpc>
                <a:spcPct val="120000"/>
              </a:lnSpc>
            </a:pPr>
            <a:r>
              <a:rPr lang="zh-CN" altLang="en-US" dirty="0">
                <a:latin typeface="Verdana" panose="020B0604030504040204" pitchFamily="34" charset="0"/>
                <a:ea typeface="华文中宋" panose="02010600040101010101" pitchFamily="2" charset="-122"/>
              </a:rPr>
              <a:t>测试程序包</a:t>
            </a:r>
            <a:r>
              <a:rPr lang="en-US" altLang="zh-CN" dirty="0">
                <a:latin typeface="Verdana" panose="020B0604030504040204" pitchFamily="34" charset="0"/>
                <a:ea typeface="华文中宋" panose="02010600040101010101" pitchFamily="2" charset="-122"/>
              </a:rPr>
              <a:t>(</a:t>
            </a:r>
            <a:r>
              <a:rPr lang="zh-CN" altLang="en-US" dirty="0">
                <a:latin typeface="Verdana" panose="020B0604030504040204" pitchFamily="34" charset="0"/>
                <a:ea typeface="华文中宋" panose="02010600040101010101" pitchFamily="2" charset="-122"/>
              </a:rPr>
              <a:t>组件</a:t>
            </a:r>
            <a:r>
              <a:rPr lang="en-US" altLang="zh-CN" dirty="0">
                <a:latin typeface="Verdana" panose="020B0604030504040204" pitchFamily="34" charset="0"/>
                <a:ea typeface="华文中宋" panose="02010600040101010101" pitchFamily="2" charset="-122"/>
              </a:rPr>
              <a:t>, benchmark suites)</a:t>
            </a:r>
            <a:endParaRPr lang="zh-CN" altLang="en-US" dirty="0">
              <a:latin typeface="Verdana" panose="020B0604030504040204" pitchFamily="34" charset="0"/>
              <a:ea typeface="华文中宋" panose="02010600040101010101" pitchFamily="2" charset="-122"/>
            </a:endParaRPr>
          </a:p>
          <a:p>
            <a:pPr lvl="1">
              <a:lnSpc>
                <a:spcPct val="120000"/>
              </a:lnSpc>
            </a:pPr>
            <a:r>
              <a:rPr lang="zh-CN" altLang="en-US" dirty="0">
                <a:latin typeface="Verdana" panose="020B0604030504040204" pitchFamily="34" charset="0"/>
                <a:ea typeface="华文中宋" panose="02010600040101010101" pitchFamily="2" charset="-122"/>
              </a:rPr>
              <a:t>选择一组各个方面有代表性的测试程序组成</a:t>
            </a:r>
          </a:p>
          <a:p>
            <a:pPr lvl="1">
              <a:lnSpc>
                <a:spcPct val="120000"/>
              </a:lnSpc>
            </a:pPr>
            <a:r>
              <a:rPr lang="zh-CN" altLang="en-US" dirty="0">
                <a:latin typeface="Verdana" panose="020B0604030504040204" pitchFamily="34" charset="0"/>
                <a:ea typeface="华文中宋" panose="02010600040101010101" pitchFamily="2" charset="-122"/>
              </a:rPr>
              <a:t>尽可能全面地测试了一个计算机系统的性能 </a:t>
            </a:r>
          </a:p>
        </p:txBody>
      </p:sp>
      <p:sp>
        <p:nvSpPr>
          <p:cNvPr id="2" name="日期占位符 1">
            <a:extLst>
              <a:ext uri="{FF2B5EF4-FFF2-40B4-BE49-F238E27FC236}">
                <a16:creationId xmlns:a16="http://schemas.microsoft.com/office/drawing/2014/main" id="{CFE475DC-A958-20A3-78F2-AD420AF4422B}"/>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1BDEC9CE-C6F5-8E5E-B5DB-E9FD83F11702}"/>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E7EFF2CA-3A32-2F63-ABCB-F0E57BB95C8D}"/>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27</a:t>
            </a:fld>
            <a:endParaRPr lang="en-US" altLang="zh-CN"/>
          </a:p>
        </p:txBody>
      </p:sp>
    </p:spTree>
    <p:extLst>
      <p:ext uri="{BB962C8B-B14F-4D97-AF65-F5344CB8AC3E}">
        <p14:creationId xmlns:p14="http://schemas.microsoft.com/office/powerpoint/2010/main" val="4162260273"/>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8"/>
          <p:cNvSpPr>
            <a:spLocks noGrp="1" noChangeArrowheads="1"/>
          </p:cNvSpPr>
          <p:nvPr>
            <p:ph type="title" idx="4294967295"/>
          </p:nvPr>
        </p:nvSpPr>
        <p:spPr/>
        <p:txBody>
          <a:bodyPr>
            <a:normAutofit/>
          </a:bodyPr>
          <a:lstStyle/>
          <a:p>
            <a:r>
              <a:rPr kumimoji="1" lang="zh-CN" altLang="en-US" sz="3600" b="1" dirty="0">
                <a:latin typeface="+mj-ea"/>
                <a:cs typeface="+mn-cs"/>
              </a:rPr>
              <a:t>测试程序包：</a:t>
            </a:r>
            <a:r>
              <a:rPr kumimoji="1" lang="en-US" altLang="zh-CN" sz="3600" b="1" dirty="0">
                <a:latin typeface="+mj-ea"/>
                <a:cs typeface="+mn-cs"/>
              </a:rPr>
              <a:t>www.SPEC.org</a:t>
            </a:r>
          </a:p>
        </p:txBody>
      </p:sp>
      <p:sp>
        <p:nvSpPr>
          <p:cNvPr id="87043" name="Rectangle 9"/>
          <p:cNvSpPr>
            <a:spLocks noGrp="1" noChangeArrowheads="1"/>
          </p:cNvSpPr>
          <p:nvPr>
            <p:ph type="body" idx="4294967295"/>
          </p:nvPr>
        </p:nvSpPr>
        <p:spPr>
          <a:xfrm>
            <a:off x="457200" y="1600200"/>
            <a:ext cx="8229600" cy="4997152"/>
          </a:xfrm>
        </p:spPr>
        <p:txBody>
          <a:bodyPr>
            <a:normAutofit/>
          </a:bodyPr>
          <a:lstStyle/>
          <a:p>
            <a:r>
              <a:rPr lang="zh-CN" altLang="en-US" sz="2400" b="1" dirty="0">
                <a:latin typeface="Times New Roman" panose="02020603050405020304" pitchFamily="18" charset="0"/>
                <a:ea typeface="+mj-ea"/>
                <a:cs typeface="Times New Roman" panose="02020603050405020304" pitchFamily="18" charset="0"/>
              </a:rPr>
              <a:t>基于</a:t>
            </a:r>
            <a:r>
              <a:rPr lang="en-US" altLang="zh-CN" sz="2400" b="1" dirty="0">
                <a:latin typeface="Times New Roman" panose="02020603050405020304" pitchFamily="18" charset="0"/>
                <a:ea typeface="+mj-ea"/>
                <a:cs typeface="Times New Roman" panose="02020603050405020304" pitchFamily="18" charset="0"/>
              </a:rPr>
              <a:t>UNIX</a:t>
            </a:r>
            <a:r>
              <a:rPr lang="zh-CN" altLang="en-US" sz="2400" b="1" dirty="0">
                <a:latin typeface="Times New Roman" panose="02020603050405020304" pitchFamily="18" charset="0"/>
                <a:ea typeface="+mj-ea"/>
                <a:cs typeface="Times New Roman" panose="02020603050405020304" pitchFamily="18" charset="0"/>
              </a:rPr>
              <a:t>，诞生于</a:t>
            </a:r>
            <a:r>
              <a:rPr lang="en-US" altLang="zh-CN" sz="2400" b="1" dirty="0">
                <a:latin typeface="Times New Roman" panose="02020603050405020304" pitchFamily="18" charset="0"/>
                <a:ea typeface="+mj-ea"/>
                <a:cs typeface="Times New Roman" panose="02020603050405020304" pitchFamily="18" charset="0"/>
              </a:rPr>
              <a:t>20</a:t>
            </a:r>
            <a:r>
              <a:rPr lang="zh-CN" altLang="en-US" sz="2400" b="1" dirty="0">
                <a:latin typeface="Times New Roman" panose="02020603050405020304" pitchFamily="18" charset="0"/>
                <a:ea typeface="+mj-ea"/>
                <a:cs typeface="Times New Roman" panose="02020603050405020304" pitchFamily="18" charset="0"/>
              </a:rPr>
              <a:t>世纪</a:t>
            </a:r>
            <a:r>
              <a:rPr lang="en-US" altLang="zh-CN" sz="2400" b="1" dirty="0">
                <a:latin typeface="Times New Roman" panose="02020603050405020304" pitchFamily="18" charset="0"/>
                <a:ea typeface="+mj-ea"/>
                <a:cs typeface="Times New Roman" panose="02020603050405020304" pitchFamily="18" charset="0"/>
              </a:rPr>
              <a:t>80</a:t>
            </a:r>
            <a:r>
              <a:rPr lang="zh-CN" altLang="en-US" sz="2400" b="1" dirty="0">
                <a:latin typeface="Times New Roman" panose="02020603050405020304" pitchFamily="18" charset="0"/>
                <a:ea typeface="+mj-ea"/>
                <a:cs typeface="Times New Roman" panose="02020603050405020304" pitchFamily="18" charset="0"/>
              </a:rPr>
              <a:t>年代</a:t>
            </a:r>
          </a:p>
          <a:p>
            <a:r>
              <a:rPr lang="zh-CN" altLang="en-US" sz="2400" b="1" dirty="0">
                <a:latin typeface="Times New Roman" panose="02020603050405020304" pitchFamily="18" charset="0"/>
                <a:ea typeface="+mj-ea"/>
                <a:cs typeface="Times New Roman" panose="02020603050405020304" pitchFamily="18" charset="0"/>
              </a:rPr>
              <a:t>由真实程序和核心程序构成</a:t>
            </a:r>
          </a:p>
          <a:p>
            <a:r>
              <a:rPr lang="zh-CN" altLang="en-US" sz="2400" b="1" dirty="0">
                <a:latin typeface="Times New Roman" panose="02020603050405020304" pitchFamily="18" charset="0"/>
                <a:ea typeface="+mj-ea"/>
                <a:cs typeface="Times New Roman" panose="02020603050405020304" pitchFamily="18" charset="0"/>
              </a:rPr>
              <a:t>采用</a:t>
            </a:r>
            <a:r>
              <a:rPr lang="en-US" altLang="zh-CN" sz="2400" b="1" dirty="0">
                <a:latin typeface="Times New Roman" panose="02020603050405020304" pitchFamily="18" charset="0"/>
                <a:ea typeface="+mj-ea"/>
                <a:cs typeface="Times New Roman" panose="02020603050405020304" pitchFamily="18" charset="0"/>
              </a:rPr>
              <a:t>C</a:t>
            </a:r>
            <a:r>
              <a:rPr lang="zh-CN" altLang="en-US" sz="2400" b="1" dirty="0">
                <a:latin typeface="Times New Roman" panose="02020603050405020304" pitchFamily="18" charset="0"/>
                <a:ea typeface="+mj-ea"/>
                <a:cs typeface="Times New Roman" panose="02020603050405020304" pitchFamily="18" charset="0"/>
              </a:rPr>
              <a:t>和</a:t>
            </a:r>
            <a:r>
              <a:rPr lang="en-US" altLang="zh-CN" sz="2400" b="1" dirty="0">
                <a:latin typeface="Times New Roman" panose="02020603050405020304" pitchFamily="18" charset="0"/>
                <a:ea typeface="+mj-ea"/>
                <a:cs typeface="Times New Roman" panose="02020603050405020304" pitchFamily="18" charset="0"/>
              </a:rPr>
              <a:t>Fortran</a:t>
            </a:r>
            <a:r>
              <a:rPr lang="zh-CN" altLang="en-US" sz="2400" b="1" dirty="0">
                <a:latin typeface="Times New Roman" panose="02020603050405020304" pitchFamily="18" charset="0"/>
                <a:ea typeface="+mj-ea"/>
                <a:cs typeface="Times New Roman" panose="02020603050405020304" pitchFamily="18" charset="0"/>
              </a:rPr>
              <a:t>两种语言，后增加</a:t>
            </a:r>
            <a:r>
              <a:rPr lang="en-US" altLang="zh-CN" sz="2400" b="1" dirty="0">
                <a:latin typeface="Times New Roman" panose="02020603050405020304" pitchFamily="18" charset="0"/>
                <a:ea typeface="+mj-ea"/>
                <a:cs typeface="Times New Roman" panose="02020603050405020304" pitchFamily="18" charset="0"/>
              </a:rPr>
              <a:t>C++</a:t>
            </a:r>
          </a:p>
          <a:p>
            <a:r>
              <a:rPr lang="zh-CN" altLang="en-US" sz="2400" b="1" dirty="0">
                <a:latin typeface="Times New Roman" panose="02020603050405020304" pitchFamily="18" charset="0"/>
                <a:ea typeface="+mj-ea"/>
                <a:cs typeface="Times New Roman" panose="02020603050405020304" pitchFamily="18" charset="0"/>
              </a:rPr>
              <a:t>包括整数部分</a:t>
            </a:r>
            <a:r>
              <a:rPr lang="en-US" altLang="zh-CN" sz="2400" b="1" dirty="0" err="1">
                <a:latin typeface="Times New Roman" panose="02020603050405020304" pitchFamily="18" charset="0"/>
                <a:ea typeface="+mj-ea"/>
                <a:cs typeface="Times New Roman" panose="02020603050405020304" pitchFamily="18" charset="0"/>
              </a:rPr>
              <a:t>SPECint</a:t>
            </a:r>
            <a:r>
              <a:rPr lang="zh-CN" altLang="en-US" sz="2400" b="1" dirty="0">
                <a:latin typeface="Times New Roman" panose="02020603050405020304" pitchFamily="18" charset="0"/>
                <a:ea typeface="+mj-ea"/>
                <a:cs typeface="Times New Roman" panose="02020603050405020304" pitchFamily="18" charset="0"/>
              </a:rPr>
              <a:t>和浮点部分</a:t>
            </a:r>
            <a:r>
              <a:rPr lang="en-US" altLang="zh-CN" sz="2400" b="1" dirty="0" err="1">
                <a:latin typeface="Times New Roman" panose="02020603050405020304" pitchFamily="18" charset="0"/>
                <a:ea typeface="+mj-ea"/>
                <a:cs typeface="Times New Roman" panose="02020603050405020304" pitchFamily="18" charset="0"/>
              </a:rPr>
              <a:t>SPECfp</a:t>
            </a:r>
            <a:endParaRPr lang="en-US" altLang="zh-CN" sz="2400" b="1" dirty="0">
              <a:latin typeface="Times New Roman" panose="02020603050405020304" pitchFamily="18" charset="0"/>
              <a:ea typeface="+mj-ea"/>
              <a:cs typeface="Times New Roman" panose="02020603050405020304" pitchFamily="18" charset="0"/>
            </a:endParaRPr>
          </a:p>
          <a:p>
            <a:r>
              <a:rPr lang="zh-CN" altLang="en-US" sz="2400" b="1" dirty="0">
                <a:latin typeface="Times New Roman" panose="02020603050405020304" pitchFamily="18" charset="0"/>
                <a:ea typeface="+mj-ea"/>
                <a:cs typeface="Times New Roman" panose="02020603050405020304" pitchFamily="18" charset="0"/>
              </a:rPr>
              <a:t>主要版本包括</a:t>
            </a:r>
            <a:r>
              <a:rPr lang="en-US" altLang="zh-CN" sz="2400" b="1" dirty="0">
                <a:latin typeface="Times New Roman" panose="02020603050405020304" pitchFamily="18" charset="0"/>
                <a:ea typeface="+mj-ea"/>
                <a:cs typeface="Times New Roman" panose="02020603050405020304" pitchFamily="18" charset="0"/>
              </a:rPr>
              <a:t>SPEC89</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dirty="0">
                <a:latin typeface="Times New Roman" panose="02020603050405020304" pitchFamily="18" charset="0"/>
                <a:ea typeface="+mj-ea"/>
                <a:cs typeface="Times New Roman" panose="02020603050405020304" pitchFamily="18" charset="0"/>
              </a:rPr>
              <a:t>SPEC92</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dirty="0">
                <a:latin typeface="Times New Roman" panose="02020603050405020304" pitchFamily="18" charset="0"/>
                <a:ea typeface="+mj-ea"/>
                <a:cs typeface="Times New Roman" panose="02020603050405020304" pitchFamily="18" charset="0"/>
              </a:rPr>
              <a:t>SPEC95</a:t>
            </a:r>
            <a:r>
              <a:rPr lang="zh-CN" altLang="en-US" sz="2400" b="1" dirty="0">
                <a:latin typeface="Times New Roman" panose="02020603050405020304" pitchFamily="18" charset="0"/>
                <a:ea typeface="+mj-ea"/>
                <a:cs typeface="Times New Roman" panose="02020603050405020304" pitchFamily="18" charset="0"/>
              </a:rPr>
              <a:t>、</a:t>
            </a:r>
            <a:r>
              <a:rPr lang="en-US" altLang="zh-CN" sz="2400" b="1" dirty="0">
                <a:latin typeface="Times New Roman" panose="02020603050405020304" pitchFamily="18" charset="0"/>
                <a:ea typeface="+mj-ea"/>
                <a:cs typeface="Times New Roman" panose="02020603050405020304" pitchFamily="18" charset="0"/>
              </a:rPr>
              <a:t>SPEC2000</a:t>
            </a:r>
            <a:r>
              <a:rPr lang="zh-CN" altLang="en-US" sz="2400" b="1" dirty="0">
                <a:latin typeface="Times New Roman" panose="02020603050405020304" pitchFamily="18" charset="0"/>
                <a:ea typeface="+mj-ea"/>
                <a:cs typeface="Times New Roman" panose="02020603050405020304" pitchFamily="18" charset="0"/>
              </a:rPr>
              <a:t>和</a:t>
            </a:r>
            <a:r>
              <a:rPr lang="en-US" altLang="zh-CN" sz="2400" b="1" dirty="0">
                <a:latin typeface="Times New Roman" panose="02020603050405020304" pitchFamily="18" charset="0"/>
                <a:ea typeface="+mj-ea"/>
                <a:cs typeface="Times New Roman" panose="02020603050405020304" pitchFamily="18" charset="0"/>
              </a:rPr>
              <a:t>SPEC2006 …</a:t>
            </a:r>
            <a:r>
              <a:rPr lang="en-US" altLang="zh-CN" sz="2400" b="1" dirty="0">
                <a:latin typeface="Times New Roman" panose="02020603050405020304" pitchFamily="18" charset="0"/>
                <a:cs typeface="Times New Roman" panose="02020603050405020304" pitchFamily="18" charset="0"/>
              </a:rPr>
              <a:t> SPEC2017</a:t>
            </a:r>
            <a:r>
              <a:rPr lang="zh-CN" altLang="en-US" sz="2400" b="1" dirty="0">
                <a:latin typeface="Times New Roman" panose="02020603050405020304" pitchFamily="18" charset="0"/>
                <a:ea typeface="+mj-ea"/>
                <a:cs typeface="Times New Roman" panose="02020603050405020304" pitchFamily="18" charset="0"/>
              </a:rPr>
              <a:t>等</a:t>
            </a:r>
          </a:p>
          <a:p>
            <a:pPr lvl="1"/>
            <a:r>
              <a:rPr lang="en-US" altLang="zh-CN" sz="2200" b="1" dirty="0">
                <a:latin typeface="Times New Roman" panose="02020603050405020304" pitchFamily="18" charset="0"/>
                <a:ea typeface="+mj-ea"/>
                <a:cs typeface="Times New Roman" panose="02020603050405020304" pitchFamily="18" charset="0"/>
              </a:rPr>
              <a:t>SECP2017</a:t>
            </a:r>
            <a:r>
              <a:rPr lang="zh-CN" altLang="en-US" sz="2200" b="1" dirty="0">
                <a:latin typeface="Times New Roman" panose="02020603050405020304" pitchFamily="18" charset="0"/>
                <a:ea typeface="+mj-ea"/>
                <a:cs typeface="Times New Roman" panose="02020603050405020304" pitchFamily="18" charset="0"/>
              </a:rPr>
              <a:t>功能进一步细化</a:t>
            </a:r>
          </a:p>
          <a:p>
            <a:pPr lvl="2"/>
            <a:r>
              <a:rPr lang="zh-CN" altLang="en-US" sz="2100" b="1" dirty="0">
                <a:latin typeface="Times New Roman" panose="02020603050405020304" pitchFamily="18" charset="0"/>
                <a:ea typeface="+mj-ea"/>
                <a:cs typeface="Times New Roman" panose="02020603050405020304" pitchFamily="18" charset="0"/>
              </a:rPr>
              <a:t>台式计测试：</a:t>
            </a:r>
            <a:r>
              <a:rPr lang="en-US" altLang="zh-CN" sz="2100" b="1" dirty="0">
                <a:latin typeface="Times New Roman" panose="02020603050405020304" pitchFamily="18" charset="0"/>
                <a:ea typeface="+mj-ea"/>
                <a:cs typeface="Times New Roman" panose="02020603050405020304" pitchFamily="18" charset="0"/>
              </a:rPr>
              <a:t>SPEC CPU2000</a:t>
            </a:r>
          </a:p>
          <a:p>
            <a:pPr lvl="2"/>
            <a:r>
              <a:rPr lang="zh-CN" altLang="en-US" sz="2100" b="1" dirty="0">
                <a:latin typeface="Times New Roman" panose="02020603050405020304" pitchFamily="18" charset="0"/>
                <a:ea typeface="+mj-ea"/>
                <a:cs typeface="Times New Roman" panose="02020603050405020304" pitchFamily="18" charset="0"/>
              </a:rPr>
              <a:t>图像测试：</a:t>
            </a:r>
            <a:r>
              <a:rPr lang="en-US" altLang="zh-CN" sz="2100" b="1" dirty="0" err="1">
                <a:latin typeface="Times New Roman" panose="02020603050405020304" pitchFamily="18" charset="0"/>
                <a:ea typeface="+mj-ea"/>
                <a:cs typeface="Times New Roman" panose="02020603050405020304" pitchFamily="18" charset="0"/>
              </a:rPr>
              <a:t>SPECviewperf</a:t>
            </a:r>
            <a:r>
              <a:rPr lang="en-US" altLang="zh-CN" sz="2100" b="1" dirty="0">
                <a:latin typeface="Times New Roman" panose="02020603050405020304" pitchFamily="18" charset="0"/>
                <a:ea typeface="+mj-ea"/>
                <a:cs typeface="Times New Roman" panose="02020603050405020304" pitchFamily="18" charset="0"/>
              </a:rPr>
              <a:t>, </a:t>
            </a:r>
            <a:r>
              <a:rPr lang="en-US" altLang="zh-CN" sz="2100" b="1" dirty="0" err="1">
                <a:latin typeface="Times New Roman" panose="02020603050405020304" pitchFamily="18" charset="0"/>
                <a:ea typeface="+mj-ea"/>
                <a:cs typeface="Times New Roman" panose="02020603050405020304" pitchFamily="18" charset="0"/>
              </a:rPr>
              <a:t>SPECapc</a:t>
            </a:r>
            <a:endParaRPr lang="zh-CN" altLang="en-US" sz="2100" b="1" dirty="0">
              <a:latin typeface="Times New Roman" panose="02020603050405020304" pitchFamily="18" charset="0"/>
              <a:ea typeface="+mj-ea"/>
              <a:cs typeface="Times New Roman" panose="02020603050405020304" pitchFamily="18" charset="0"/>
            </a:endParaRPr>
          </a:p>
          <a:p>
            <a:pPr lvl="2"/>
            <a:r>
              <a:rPr lang="en-US" altLang="zh-CN" sz="2100" b="1" dirty="0">
                <a:latin typeface="Times New Roman" panose="02020603050405020304" pitchFamily="18" charset="0"/>
                <a:ea typeface="+mj-ea"/>
                <a:cs typeface="Times New Roman" panose="02020603050405020304" pitchFamily="18" charset="0"/>
              </a:rPr>
              <a:t>NFS</a:t>
            </a:r>
            <a:r>
              <a:rPr lang="zh-CN" altLang="en-US" sz="2100" b="1" dirty="0">
                <a:latin typeface="Times New Roman" panose="02020603050405020304" pitchFamily="18" charset="0"/>
                <a:ea typeface="+mj-ea"/>
                <a:cs typeface="Times New Roman" panose="02020603050405020304" pitchFamily="18" charset="0"/>
              </a:rPr>
              <a:t>性能测试：</a:t>
            </a:r>
            <a:r>
              <a:rPr lang="en-US" altLang="zh-CN" sz="2100" b="1" dirty="0">
                <a:latin typeface="Times New Roman" panose="02020603050405020304" pitchFamily="18" charset="0"/>
                <a:ea typeface="+mj-ea"/>
                <a:cs typeface="Times New Roman" panose="02020603050405020304" pitchFamily="18" charset="0"/>
              </a:rPr>
              <a:t>SPECSFS</a:t>
            </a:r>
            <a:endParaRPr lang="zh-CN" altLang="en-US" sz="2100" b="1" dirty="0">
              <a:latin typeface="Times New Roman" panose="02020603050405020304" pitchFamily="18" charset="0"/>
              <a:ea typeface="+mj-ea"/>
              <a:cs typeface="Times New Roman" panose="02020603050405020304" pitchFamily="18" charset="0"/>
            </a:endParaRPr>
          </a:p>
          <a:p>
            <a:pPr lvl="2"/>
            <a:r>
              <a:rPr lang="en-US" altLang="zh-CN" sz="2100" b="1" dirty="0">
                <a:latin typeface="Times New Roman" panose="02020603050405020304" pitchFamily="18" charset="0"/>
                <a:ea typeface="+mj-ea"/>
                <a:cs typeface="Times New Roman" panose="02020603050405020304" pitchFamily="18" charset="0"/>
              </a:rPr>
              <a:t>Web</a:t>
            </a:r>
            <a:r>
              <a:rPr lang="zh-CN" altLang="en-US" sz="2100" b="1" dirty="0">
                <a:latin typeface="Times New Roman" panose="02020603050405020304" pitchFamily="18" charset="0"/>
                <a:ea typeface="+mj-ea"/>
                <a:cs typeface="Times New Roman" panose="02020603050405020304" pitchFamily="18" charset="0"/>
              </a:rPr>
              <a:t>服务测试：</a:t>
            </a:r>
            <a:r>
              <a:rPr lang="en-US" altLang="zh-CN" sz="2100" b="1" dirty="0" err="1">
                <a:latin typeface="Times New Roman" panose="02020603050405020304" pitchFamily="18" charset="0"/>
                <a:ea typeface="+mj-ea"/>
                <a:cs typeface="Times New Roman" panose="02020603050405020304" pitchFamily="18" charset="0"/>
              </a:rPr>
              <a:t>SPECWeb</a:t>
            </a:r>
            <a:endParaRPr lang="en-US" altLang="zh-CN" sz="2100"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C01C0AED-F221-513D-B5F4-EE5CA3773750}"/>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74E3891B-C9AD-B870-F702-4C918C8EA457}"/>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6845668A-606A-9035-9EB7-E1CEAC92F263}"/>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28</a:t>
            </a:fld>
            <a:endParaRPr lang="en-US" altLang="zh-CN"/>
          </a:p>
        </p:txBody>
      </p:sp>
    </p:spTree>
    <p:extLst>
      <p:ext uri="{BB962C8B-B14F-4D97-AF65-F5344CB8AC3E}">
        <p14:creationId xmlns:p14="http://schemas.microsoft.com/office/powerpoint/2010/main" val="122713174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idx="4294967295"/>
          </p:nvPr>
        </p:nvSpPr>
        <p:spPr/>
        <p:txBody>
          <a:bodyPr>
            <a:normAutofit/>
          </a:bodyPr>
          <a:lstStyle/>
          <a:p>
            <a:r>
              <a:rPr kumimoji="1" lang="zh-CN" altLang="en-US" sz="3600" b="1" dirty="0">
                <a:latin typeface="+mj-ea"/>
                <a:cs typeface="+mn-cs"/>
              </a:rPr>
              <a:t>其它测试包</a:t>
            </a:r>
          </a:p>
        </p:txBody>
      </p:sp>
      <p:sp>
        <p:nvSpPr>
          <p:cNvPr id="89091" name="Rectangle 3"/>
          <p:cNvSpPr>
            <a:spLocks noGrp="1" noChangeArrowheads="1"/>
          </p:cNvSpPr>
          <p:nvPr>
            <p:ph type="body" idx="4294967295"/>
          </p:nvPr>
        </p:nvSpPr>
        <p:spPr/>
        <p:txBody>
          <a:bodyPr>
            <a:normAutofit/>
          </a:bodyPr>
          <a:lstStyle/>
          <a:p>
            <a:r>
              <a:rPr lang="en-US" altLang="zh-CN" sz="2400" b="1" dirty="0">
                <a:latin typeface="Times New Roman" panose="02020603050405020304" pitchFamily="18" charset="0"/>
                <a:ea typeface="+mj-ea"/>
                <a:cs typeface="Times New Roman" panose="02020603050405020304" pitchFamily="18" charset="0"/>
              </a:rPr>
              <a:t>TPC-x</a:t>
            </a:r>
          </a:p>
          <a:p>
            <a:pPr lvl="1"/>
            <a:r>
              <a:rPr lang="zh-CN" altLang="en-US" sz="2400" b="1" dirty="0">
                <a:latin typeface="Times New Roman" panose="02020603050405020304" pitchFamily="18" charset="0"/>
                <a:ea typeface="+mj-ea"/>
                <a:cs typeface="Times New Roman" panose="02020603050405020304" pitchFamily="18" charset="0"/>
              </a:rPr>
              <a:t>测量事务处理、排队系统、决策支持、数据库应用等的性能</a:t>
            </a:r>
          </a:p>
          <a:p>
            <a:pPr lvl="1"/>
            <a:r>
              <a:rPr lang="en-US" altLang="zh-CN" sz="2400" b="1" dirty="0">
                <a:latin typeface="Times New Roman" panose="02020603050405020304" pitchFamily="18" charset="0"/>
                <a:ea typeface="+mj-ea"/>
                <a:cs typeface="Times New Roman" panose="02020603050405020304" pitchFamily="18" charset="0"/>
              </a:rPr>
              <a:t>1985</a:t>
            </a:r>
            <a:r>
              <a:rPr lang="zh-CN" altLang="en-US" sz="2400" b="1" dirty="0">
                <a:latin typeface="Times New Roman" panose="02020603050405020304" pitchFamily="18" charset="0"/>
                <a:ea typeface="+mj-ea"/>
                <a:cs typeface="Times New Roman" panose="02020603050405020304" pitchFamily="18" charset="0"/>
              </a:rPr>
              <a:t>年发布第一个</a:t>
            </a:r>
            <a:r>
              <a:rPr lang="en-US" altLang="zh-CN" sz="2400" b="1" dirty="0">
                <a:latin typeface="Times New Roman" panose="02020603050405020304" pitchFamily="18" charset="0"/>
                <a:ea typeface="+mj-ea"/>
                <a:cs typeface="Times New Roman" panose="02020603050405020304" pitchFamily="18" charset="0"/>
              </a:rPr>
              <a:t>TPC</a:t>
            </a:r>
            <a:r>
              <a:rPr lang="zh-CN" altLang="en-US" sz="2400" b="1" dirty="0">
                <a:latin typeface="Times New Roman" panose="02020603050405020304" pitchFamily="18" charset="0"/>
                <a:ea typeface="+mj-ea"/>
                <a:cs typeface="Times New Roman" panose="02020603050405020304" pitchFamily="18" charset="0"/>
              </a:rPr>
              <a:t>测试程序</a:t>
            </a:r>
            <a:r>
              <a:rPr lang="en-US" altLang="zh-CN" sz="2400" b="1" dirty="0">
                <a:latin typeface="Times New Roman" panose="02020603050405020304" pitchFamily="18" charset="0"/>
                <a:ea typeface="+mj-ea"/>
                <a:cs typeface="Times New Roman" panose="02020603050405020304" pitchFamily="18" charset="0"/>
              </a:rPr>
              <a:t>TPC-A</a:t>
            </a:r>
            <a:r>
              <a:rPr lang="zh-CN" altLang="en-US" sz="2400" b="1" dirty="0">
                <a:latin typeface="Times New Roman" panose="02020603050405020304" pitchFamily="18" charset="0"/>
                <a:ea typeface="+mj-ea"/>
                <a:cs typeface="Times New Roman" panose="02020603050405020304" pitchFamily="18" charset="0"/>
              </a:rPr>
              <a:t>，并先后发布多个修改版本并补充了四个不同的测试程序，构成</a:t>
            </a:r>
            <a:r>
              <a:rPr lang="en-US" altLang="zh-CN" sz="2400" b="1" dirty="0">
                <a:latin typeface="Times New Roman" panose="02020603050405020304" pitchFamily="18" charset="0"/>
                <a:ea typeface="+mj-ea"/>
                <a:cs typeface="Times New Roman" panose="02020603050405020304" pitchFamily="18" charset="0"/>
              </a:rPr>
              <a:t>TPC</a:t>
            </a:r>
            <a:r>
              <a:rPr lang="zh-CN" altLang="en-US" sz="2400" b="1" dirty="0">
                <a:latin typeface="Times New Roman" panose="02020603050405020304" pitchFamily="18" charset="0"/>
                <a:ea typeface="+mj-ea"/>
                <a:cs typeface="Times New Roman" panose="02020603050405020304" pitchFamily="18" charset="0"/>
              </a:rPr>
              <a:t>测试程序组件 </a:t>
            </a:r>
          </a:p>
          <a:p>
            <a:pPr eaLnBrk="1" hangingPunct="1"/>
            <a:r>
              <a:rPr lang="zh-CN" altLang="en-US" sz="2400" b="1" dirty="0">
                <a:latin typeface="Times New Roman" panose="02020603050405020304" pitchFamily="18" charset="0"/>
                <a:ea typeface="+mj-ea"/>
                <a:cs typeface="Times New Roman" panose="02020603050405020304" pitchFamily="18" charset="0"/>
              </a:rPr>
              <a:t>嵌入式处理器</a:t>
            </a:r>
          </a:p>
          <a:p>
            <a:pPr lvl="1" eaLnBrk="1" hangingPunct="1"/>
            <a:r>
              <a:rPr lang="en-US" altLang="zh-CN" sz="2400" b="1" dirty="0">
                <a:latin typeface="Times New Roman" panose="02020603050405020304" pitchFamily="18" charset="0"/>
                <a:ea typeface="+mj-ea"/>
                <a:cs typeface="Times New Roman" panose="02020603050405020304" pitchFamily="18" charset="0"/>
              </a:rPr>
              <a:t>EEMBC:  EDN </a:t>
            </a:r>
            <a:r>
              <a:rPr lang="zh-CN" altLang="en-US" sz="2400" b="1" dirty="0">
                <a:latin typeface="Times New Roman" panose="02020603050405020304" pitchFamily="18" charset="0"/>
                <a:ea typeface="+mj-ea"/>
                <a:cs typeface="Times New Roman" panose="02020603050405020304" pitchFamily="18" charset="0"/>
              </a:rPr>
              <a:t>嵌入式微处理器测试程序联盟发布的测试程序包</a:t>
            </a:r>
          </a:p>
          <a:p>
            <a:endParaRPr lang="zh-CN" altLang="en-US" sz="2400" b="1" dirty="0">
              <a:latin typeface="Times New Roman" panose="02020603050405020304" pitchFamily="18" charset="0"/>
              <a:ea typeface="+mj-ea"/>
              <a:cs typeface="Times New Roman" panose="02020603050405020304" pitchFamily="18" charset="0"/>
            </a:endParaRPr>
          </a:p>
        </p:txBody>
      </p:sp>
      <p:sp>
        <p:nvSpPr>
          <p:cNvPr id="2" name="日期占位符 1">
            <a:extLst>
              <a:ext uri="{FF2B5EF4-FFF2-40B4-BE49-F238E27FC236}">
                <a16:creationId xmlns:a16="http://schemas.microsoft.com/office/drawing/2014/main" id="{07EBFBDE-4885-CB69-E1DB-2CC608DDA576}"/>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1169D5AA-78DE-4DDE-01FB-8890C41BB9C0}"/>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9594B09A-FA69-4A57-2ADE-E82E15EF5CF9}"/>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29</a:t>
            </a:fld>
            <a:endParaRPr lang="en-US" altLang="zh-CN"/>
          </a:p>
        </p:txBody>
      </p:sp>
    </p:spTree>
    <p:extLst>
      <p:ext uri="{BB962C8B-B14F-4D97-AF65-F5344CB8AC3E}">
        <p14:creationId xmlns:p14="http://schemas.microsoft.com/office/powerpoint/2010/main" val="2167194082"/>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8"/>
          <p:cNvSpPr>
            <a:spLocks noGrp="1" noChangeArrowheads="1"/>
          </p:cNvSpPr>
          <p:nvPr>
            <p:ph type="title" idx="4294967295"/>
          </p:nvPr>
        </p:nvSpPr>
        <p:spPr/>
        <p:txBody>
          <a:bodyPr>
            <a:normAutofit/>
          </a:bodyPr>
          <a:lstStyle/>
          <a:p>
            <a:r>
              <a:rPr kumimoji="1" lang="en-US" altLang="zh-CN" sz="3600" b="1" dirty="0">
                <a:latin typeface="Times New Roman" panose="02020603050405020304" pitchFamily="18" charset="0"/>
                <a:cs typeface="Times New Roman" panose="02020603050405020304" pitchFamily="18" charset="0"/>
              </a:rPr>
              <a:t>2.3 </a:t>
            </a:r>
            <a:r>
              <a:rPr kumimoji="1" lang="zh-CN" altLang="en-US" sz="3600" b="1" dirty="0">
                <a:latin typeface="Times New Roman" panose="02020603050405020304" pitchFamily="18" charset="0"/>
                <a:cs typeface="Times New Roman" panose="02020603050405020304" pitchFamily="18" charset="0"/>
              </a:rPr>
              <a:t>计算机系统设计和分析</a:t>
            </a:r>
          </a:p>
        </p:txBody>
      </p:sp>
      <p:sp>
        <p:nvSpPr>
          <p:cNvPr id="65539" name="Rectangle 9"/>
          <p:cNvSpPr>
            <a:spLocks noGrp="1" noChangeArrowheads="1"/>
          </p:cNvSpPr>
          <p:nvPr>
            <p:ph type="body" idx="4294967295"/>
          </p:nvPr>
        </p:nvSpPr>
        <p:spPr/>
        <p:txBody>
          <a:bodyPr/>
          <a:lstStyle/>
          <a:p>
            <a:r>
              <a:rPr lang="en-US" altLang="zh-CN" sz="2800" b="1" dirty="0">
                <a:latin typeface="Times New Roman" panose="02020603050405020304" pitchFamily="18" charset="0"/>
                <a:ea typeface="+mj-ea"/>
                <a:cs typeface="Times New Roman" panose="02020603050405020304" pitchFamily="18" charset="0"/>
              </a:rPr>
              <a:t>2.3.1 </a:t>
            </a:r>
            <a:r>
              <a:rPr lang="zh-CN" altLang="en-US" sz="2800" b="1" dirty="0">
                <a:latin typeface="Times New Roman" panose="02020603050405020304" pitchFamily="18" charset="0"/>
                <a:ea typeface="+mj-ea"/>
                <a:cs typeface="Times New Roman" panose="02020603050405020304" pitchFamily="18" charset="0"/>
              </a:rPr>
              <a:t>成本与价格</a:t>
            </a:r>
            <a:endParaRPr lang="en-US" altLang="zh-CN" sz="2800" b="1" dirty="0">
              <a:latin typeface="Times New Roman" panose="02020603050405020304" pitchFamily="18" charset="0"/>
              <a:ea typeface="+mj-ea"/>
              <a:cs typeface="Times New Roman" panose="02020603050405020304" pitchFamily="18" charset="0"/>
            </a:endParaRPr>
          </a:p>
          <a:p>
            <a:endParaRPr lang="en-US" altLang="zh-CN" sz="2800" b="1" dirty="0">
              <a:latin typeface="Times New Roman" panose="02020603050405020304" pitchFamily="18" charset="0"/>
              <a:ea typeface="+mj-ea"/>
              <a:cs typeface="Times New Roman" panose="02020603050405020304" pitchFamily="18" charset="0"/>
            </a:endParaRPr>
          </a:p>
          <a:p>
            <a:r>
              <a:rPr lang="en-US" altLang="zh-CN" sz="2800" b="1" dirty="0">
                <a:latin typeface="Times New Roman" panose="02020603050405020304" pitchFamily="18" charset="0"/>
                <a:ea typeface="+mj-ea"/>
                <a:cs typeface="Times New Roman" panose="02020603050405020304" pitchFamily="18" charset="0"/>
              </a:rPr>
              <a:t>2.3.2 </a:t>
            </a:r>
            <a:r>
              <a:rPr lang="zh-CN" altLang="en-US" sz="2800" b="1" dirty="0">
                <a:latin typeface="Times New Roman" panose="02020603050405020304" pitchFamily="18" charset="0"/>
                <a:ea typeface="+mj-ea"/>
                <a:cs typeface="Times New Roman" panose="02020603050405020304" pitchFamily="18" charset="0"/>
              </a:rPr>
              <a:t>基准测试程序</a:t>
            </a:r>
            <a:endParaRPr lang="en-US" altLang="zh-CN" sz="2800" b="1" dirty="0">
              <a:latin typeface="Times New Roman" panose="02020603050405020304" pitchFamily="18" charset="0"/>
              <a:ea typeface="+mj-ea"/>
              <a:cs typeface="Times New Roman" panose="02020603050405020304" pitchFamily="18" charset="0"/>
            </a:endParaRPr>
          </a:p>
          <a:p>
            <a:endParaRPr lang="en-US" altLang="zh-CN" sz="2800" b="1" dirty="0">
              <a:latin typeface="Times New Roman" panose="02020603050405020304" pitchFamily="18" charset="0"/>
              <a:ea typeface="+mj-ea"/>
              <a:cs typeface="Times New Roman" panose="02020603050405020304" pitchFamily="18" charset="0"/>
            </a:endParaRPr>
          </a:p>
          <a:p>
            <a:r>
              <a:rPr lang="en-US" altLang="zh-CN" sz="2800" b="1" u="sng" dirty="0">
                <a:latin typeface="Times New Roman" panose="02020603050405020304" pitchFamily="18" charset="0"/>
                <a:ea typeface="+mj-ea"/>
                <a:cs typeface="Times New Roman" panose="02020603050405020304" pitchFamily="18" charset="0"/>
              </a:rPr>
              <a:t>2.3.3 </a:t>
            </a:r>
            <a:r>
              <a:rPr lang="zh-CN" altLang="en-US" sz="2800" b="1" u="sng" dirty="0">
                <a:latin typeface="Times New Roman" panose="02020603050405020304" pitchFamily="18" charset="0"/>
                <a:ea typeface="+mj-ea"/>
                <a:cs typeface="Times New Roman" panose="02020603050405020304" pitchFamily="18" charset="0"/>
              </a:rPr>
              <a:t>量化设计的基本原则</a:t>
            </a:r>
          </a:p>
        </p:txBody>
      </p:sp>
      <p:sp>
        <p:nvSpPr>
          <p:cNvPr id="2" name="日期占位符 1">
            <a:extLst>
              <a:ext uri="{FF2B5EF4-FFF2-40B4-BE49-F238E27FC236}">
                <a16:creationId xmlns:a16="http://schemas.microsoft.com/office/drawing/2014/main" id="{1D05DA40-A6F2-C687-8920-942FEC4E8CEE}"/>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A9F747D6-C941-FB91-C85A-79F314CE83D3}"/>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D5FB17AC-B45F-7B00-B6C3-8A1457004D30}"/>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30</a:t>
            </a:fld>
            <a:endParaRPr lang="en-US" altLang="zh-CN"/>
          </a:p>
        </p:txBody>
      </p:sp>
    </p:spTree>
    <p:extLst>
      <p:ext uri="{BB962C8B-B14F-4D97-AF65-F5344CB8AC3E}">
        <p14:creationId xmlns:p14="http://schemas.microsoft.com/office/powerpoint/2010/main" val="2191793713"/>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idx="4294967295"/>
          </p:nvPr>
        </p:nvSpPr>
        <p:spPr/>
        <p:txBody>
          <a:bodyPr>
            <a:normAutofit/>
          </a:bodyPr>
          <a:lstStyle/>
          <a:p>
            <a:r>
              <a:rPr kumimoji="1" lang="en-US" altLang="zh-CN" sz="3600" b="1" dirty="0">
                <a:latin typeface="Times New Roman" panose="02020603050405020304" pitchFamily="18" charset="0"/>
                <a:cs typeface="Times New Roman" panose="02020603050405020304" pitchFamily="18" charset="0"/>
              </a:rPr>
              <a:t>2.3.3 </a:t>
            </a:r>
            <a:r>
              <a:rPr kumimoji="1" lang="zh-CN" altLang="en-US" sz="3600" b="1" dirty="0">
                <a:latin typeface="Times New Roman" panose="02020603050405020304" pitchFamily="18" charset="0"/>
                <a:cs typeface="Times New Roman" panose="02020603050405020304" pitchFamily="18" charset="0"/>
              </a:rPr>
              <a:t>量化设计的基本原则</a:t>
            </a:r>
          </a:p>
        </p:txBody>
      </p:sp>
      <p:sp>
        <p:nvSpPr>
          <p:cNvPr id="90115" name="Rectangle 3"/>
          <p:cNvSpPr>
            <a:spLocks noGrp="1" noChangeArrowheads="1"/>
          </p:cNvSpPr>
          <p:nvPr>
            <p:ph type="body" idx="4294967295"/>
          </p:nvPr>
        </p:nvSpPr>
        <p:spPr>
          <a:xfrm>
            <a:off x="457200" y="1600200"/>
            <a:ext cx="8363272" cy="4525963"/>
          </a:xfrm>
        </p:spPr>
        <p:txBody>
          <a:bodyPr>
            <a:normAutofit/>
          </a:bodyPr>
          <a:lstStyle/>
          <a:p>
            <a:pPr>
              <a:buFont typeface="Wingdings" panose="05000000000000000000" pitchFamily="2" charset="2"/>
              <a:buNone/>
            </a:pPr>
            <a:r>
              <a:rPr lang="en-US" altLang="zh-CN" sz="2400" dirty="0">
                <a:latin typeface="Verdana" panose="020B0604030504040204" pitchFamily="34" charset="0"/>
                <a:ea typeface="华文中宋" panose="02010600040101010101" pitchFamily="2" charset="-122"/>
              </a:rPr>
              <a:t>1</a:t>
            </a:r>
            <a:r>
              <a:rPr lang="zh-CN" altLang="en-US" sz="2400" dirty="0">
                <a:latin typeface="Verdana" panose="020B0604030504040204" pitchFamily="34" charset="0"/>
                <a:ea typeface="华文中宋" panose="02010600040101010101" pitchFamily="2" charset="-122"/>
              </a:rPr>
              <a:t>．大概率事件优先原则</a:t>
            </a:r>
          </a:p>
          <a:p>
            <a:pPr lvl="1"/>
            <a:r>
              <a:rPr lang="zh-CN" altLang="en-US" sz="2400" dirty="0">
                <a:latin typeface="Verdana" panose="020B0604030504040204" pitchFamily="34" charset="0"/>
                <a:ea typeface="华文中宋" panose="02010600040101010101" pitchFamily="2" charset="-122"/>
              </a:rPr>
              <a:t>追求全局的最优结果</a:t>
            </a:r>
            <a:endParaRPr lang="en-US" altLang="zh-CN" sz="2400" dirty="0">
              <a:latin typeface="Verdana" panose="020B0604030504040204" pitchFamily="34" charset="0"/>
              <a:ea typeface="华文中宋" panose="02010600040101010101" pitchFamily="2" charset="-122"/>
            </a:endParaRPr>
          </a:p>
          <a:p>
            <a:pPr lvl="1"/>
            <a:endParaRPr lang="zh-CN" altLang="en-US" sz="2400" dirty="0">
              <a:latin typeface="Verdana" panose="020B0604030504040204" pitchFamily="34" charset="0"/>
              <a:ea typeface="华文中宋" panose="02010600040101010101" pitchFamily="2" charset="-122"/>
            </a:endParaRPr>
          </a:p>
          <a:p>
            <a:pPr>
              <a:buFont typeface="Wingdings" panose="05000000000000000000" pitchFamily="2" charset="2"/>
              <a:buNone/>
            </a:pPr>
            <a:r>
              <a:rPr lang="en-US" altLang="zh-CN" sz="2400" dirty="0">
                <a:latin typeface="Verdana" panose="020B0604030504040204" pitchFamily="34" charset="0"/>
                <a:ea typeface="华文中宋" panose="02010600040101010101" pitchFamily="2" charset="-122"/>
              </a:rPr>
              <a:t>2</a:t>
            </a:r>
            <a:r>
              <a:rPr lang="zh-CN" altLang="en-US" sz="2400" dirty="0">
                <a:latin typeface="Verdana" panose="020B0604030504040204" pitchFamily="34" charset="0"/>
                <a:ea typeface="华文中宋" panose="02010600040101010101" pitchFamily="2" charset="-122"/>
              </a:rPr>
              <a:t>．</a:t>
            </a:r>
            <a:r>
              <a:rPr lang="en-US" altLang="zh-CN" sz="2400" dirty="0">
                <a:latin typeface="Verdana" panose="020B0604030504040204" pitchFamily="34" charset="0"/>
                <a:ea typeface="华文中宋" panose="02010600040101010101" pitchFamily="2" charset="-122"/>
              </a:rPr>
              <a:t>Amdahl</a:t>
            </a:r>
            <a:r>
              <a:rPr lang="zh-CN" altLang="en-US" sz="2400" dirty="0">
                <a:latin typeface="Verdana" panose="020B0604030504040204" pitchFamily="34" charset="0"/>
                <a:ea typeface="华文中宋" panose="02010600040101010101" pitchFamily="2" charset="-122"/>
              </a:rPr>
              <a:t>定律</a:t>
            </a:r>
          </a:p>
          <a:p>
            <a:pPr lvl="1"/>
            <a:r>
              <a:rPr lang="zh-CN" altLang="en-US" sz="2400" dirty="0">
                <a:latin typeface="Verdana" panose="020B0604030504040204" pitchFamily="34" charset="0"/>
                <a:ea typeface="华文中宋" panose="02010600040101010101" pitchFamily="2" charset="-122"/>
              </a:rPr>
              <a:t>系统性能加速比，受限于该部件在系统中所占的重要性</a:t>
            </a:r>
          </a:p>
          <a:p>
            <a:pPr lvl="1"/>
            <a:r>
              <a:rPr lang="zh-CN" altLang="en-US" sz="2400" dirty="0">
                <a:latin typeface="Verdana" panose="020B0604030504040204" pitchFamily="34" charset="0"/>
                <a:ea typeface="华文中宋" panose="02010600040101010101" pitchFamily="2" charset="-122"/>
              </a:rPr>
              <a:t>可以定量计算</a:t>
            </a:r>
            <a:endParaRPr lang="en-US" altLang="zh-CN" sz="2400" dirty="0">
              <a:latin typeface="Verdana" panose="020B0604030504040204" pitchFamily="34" charset="0"/>
              <a:ea typeface="华文中宋" panose="02010600040101010101" pitchFamily="2" charset="-122"/>
            </a:endParaRPr>
          </a:p>
          <a:p>
            <a:pPr lvl="1"/>
            <a:endParaRPr lang="zh-CN" altLang="en-US" sz="2400" dirty="0">
              <a:latin typeface="Verdana" panose="020B0604030504040204" pitchFamily="34" charset="0"/>
              <a:ea typeface="华文中宋" panose="02010600040101010101" pitchFamily="2" charset="-122"/>
            </a:endParaRPr>
          </a:p>
          <a:p>
            <a:pPr>
              <a:buFont typeface="Wingdings" panose="05000000000000000000" pitchFamily="2" charset="2"/>
              <a:buNone/>
            </a:pPr>
            <a:r>
              <a:rPr lang="en-US" altLang="zh-CN" sz="2400" dirty="0">
                <a:latin typeface="Verdana" panose="020B0604030504040204" pitchFamily="34" charset="0"/>
                <a:ea typeface="华文中宋" panose="02010600040101010101" pitchFamily="2" charset="-122"/>
              </a:rPr>
              <a:t>3</a:t>
            </a:r>
            <a:r>
              <a:rPr lang="zh-CN" altLang="en-US" sz="2400" dirty="0">
                <a:latin typeface="Verdana" panose="020B0604030504040204" pitchFamily="34" charset="0"/>
                <a:ea typeface="华文中宋" panose="02010600040101010101" pitchFamily="2" charset="-122"/>
              </a:rPr>
              <a:t>．程序的局部性原理</a:t>
            </a:r>
          </a:p>
          <a:p>
            <a:pPr lvl="1"/>
            <a:r>
              <a:rPr lang="zh-CN" altLang="en-US" sz="2400" dirty="0">
                <a:latin typeface="Verdana" panose="020B0604030504040204" pitchFamily="34" charset="0"/>
                <a:ea typeface="华文中宋" panose="02010600040101010101" pitchFamily="2" charset="-122"/>
              </a:rPr>
              <a:t>程序执行时所访问存储器在时</a:t>
            </a:r>
            <a:r>
              <a:rPr lang="en-US" altLang="zh-CN" sz="2400" dirty="0">
                <a:latin typeface="Verdana" panose="020B0604030504040204" pitchFamily="34" charset="0"/>
                <a:ea typeface="华文中宋" panose="02010600040101010101" pitchFamily="2" charset="-122"/>
              </a:rPr>
              <a:t>-</a:t>
            </a:r>
            <a:r>
              <a:rPr lang="zh-CN" altLang="en-US" sz="2400" dirty="0">
                <a:latin typeface="Verdana" panose="020B0604030504040204" pitchFamily="34" charset="0"/>
                <a:ea typeface="华文中宋" panose="02010600040101010101" pitchFamily="2" charset="-122"/>
              </a:rPr>
              <a:t>空上是相对地簇聚</a:t>
            </a:r>
          </a:p>
          <a:p>
            <a:pPr lvl="1"/>
            <a:r>
              <a:rPr lang="zh-CN" altLang="en-US" sz="2400" dirty="0">
                <a:latin typeface="Verdana" panose="020B0604030504040204" pitchFamily="34" charset="0"/>
                <a:ea typeface="华文中宋" panose="02010600040101010101" pitchFamily="2" charset="-122"/>
              </a:rPr>
              <a:t>这种簇聚包括指令和数据两部分</a:t>
            </a:r>
          </a:p>
        </p:txBody>
      </p:sp>
      <p:sp>
        <p:nvSpPr>
          <p:cNvPr id="2" name="日期占位符 1">
            <a:extLst>
              <a:ext uri="{FF2B5EF4-FFF2-40B4-BE49-F238E27FC236}">
                <a16:creationId xmlns:a16="http://schemas.microsoft.com/office/drawing/2014/main" id="{83EB509B-E883-3F53-90B2-4BEB9D4238B9}"/>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7E7A5160-1B5F-4FF1-C427-3A3BBBB76E96}"/>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48EB108E-A8F7-FECB-5337-643746191BDB}"/>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31</a:t>
            </a:fld>
            <a:endParaRPr lang="en-US" altLang="zh-CN"/>
          </a:p>
        </p:txBody>
      </p:sp>
    </p:spTree>
    <p:extLst>
      <p:ext uri="{BB962C8B-B14F-4D97-AF65-F5344CB8AC3E}">
        <p14:creationId xmlns:p14="http://schemas.microsoft.com/office/powerpoint/2010/main" val="158345224"/>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Grp="1" noChangeArrowheads="1"/>
          </p:cNvSpPr>
          <p:nvPr>
            <p:ph type="title" idx="4294967295"/>
          </p:nvPr>
        </p:nvSpPr>
        <p:spPr/>
        <p:txBody>
          <a:bodyPr>
            <a:normAutofit/>
          </a:bodyPr>
          <a:lstStyle/>
          <a:p>
            <a:r>
              <a:rPr kumimoji="1" lang="zh-CN" altLang="en-US" sz="3600" b="1" dirty="0">
                <a:latin typeface="+mj-ea"/>
                <a:cs typeface="+mn-cs"/>
              </a:rPr>
              <a:t>大概率事件优先的原则</a:t>
            </a:r>
          </a:p>
        </p:txBody>
      </p:sp>
      <p:sp>
        <p:nvSpPr>
          <p:cNvPr id="91139" name="Rectangle 5"/>
          <p:cNvSpPr>
            <a:spLocks noGrp="1" noChangeArrowheads="1"/>
          </p:cNvSpPr>
          <p:nvPr>
            <p:ph type="body" idx="4294967295"/>
          </p:nvPr>
        </p:nvSpPr>
        <p:spPr/>
        <p:txBody>
          <a:bodyPr>
            <a:normAutofit/>
          </a:bodyPr>
          <a:lstStyle/>
          <a:p>
            <a:pPr>
              <a:lnSpc>
                <a:spcPct val="130000"/>
              </a:lnSpc>
            </a:pPr>
            <a:r>
              <a:rPr lang="zh-CN" altLang="en-US" sz="2600" b="1" dirty="0">
                <a:latin typeface="+mj-ea"/>
                <a:ea typeface="+mj-ea"/>
              </a:rPr>
              <a:t>对于大概率事件</a:t>
            </a:r>
            <a:r>
              <a:rPr lang="en-US" altLang="zh-CN" sz="2600" b="1" dirty="0">
                <a:latin typeface="+mj-ea"/>
                <a:ea typeface="+mj-ea"/>
              </a:rPr>
              <a:t>(</a:t>
            </a:r>
            <a:r>
              <a:rPr lang="zh-CN" altLang="en-US" sz="2600" b="1" dirty="0">
                <a:latin typeface="+mj-ea"/>
                <a:ea typeface="+mj-ea"/>
              </a:rPr>
              <a:t>最常见的事件</a:t>
            </a:r>
            <a:r>
              <a:rPr lang="en-US" altLang="zh-CN" sz="2600" b="1" dirty="0">
                <a:latin typeface="+mj-ea"/>
                <a:ea typeface="+mj-ea"/>
              </a:rPr>
              <a:t>)</a:t>
            </a:r>
            <a:r>
              <a:rPr lang="zh-CN" altLang="en-US" sz="2600" b="1" dirty="0">
                <a:latin typeface="+mj-ea"/>
                <a:ea typeface="+mj-ea"/>
              </a:rPr>
              <a:t>，赋予它优先的处理权和资源使用权，以获得全局的最优结果</a:t>
            </a:r>
          </a:p>
          <a:p>
            <a:pPr>
              <a:lnSpc>
                <a:spcPct val="130000"/>
              </a:lnSpc>
            </a:pPr>
            <a:r>
              <a:rPr lang="zh-CN" altLang="en-US" sz="2600" b="1" dirty="0">
                <a:latin typeface="+mj-ea"/>
                <a:ea typeface="+mj-ea"/>
              </a:rPr>
              <a:t>要能够确定什么是大概率事件，同时要说明针对该事件进行的改进将如何提高机器的性能</a:t>
            </a:r>
          </a:p>
          <a:p>
            <a:pPr>
              <a:lnSpc>
                <a:spcPct val="130000"/>
              </a:lnSpc>
            </a:pPr>
            <a:r>
              <a:rPr lang="zh-CN" altLang="en-US" sz="2600" b="1" dirty="0">
                <a:latin typeface="+mj-ea"/>
                <a:ea typeface="+mj-ea"/>
              </a:rPr>
              <a:t>“好钢用在刀刃上”，事半功倍</a:t>
            </a:r>
          </a:p>
          <a:p>
            <a:pPr>
              <a:lnSpc>
                <a:spcPct val="130000"/>
              </a:lnSpc>
            </a:pPr>
            <a:endParaRPr lang="zh-CN" altLang="en-US" sz="2600" b="1" dirty="0">
              <a:latin typeface="+mj-ea"/>
              <a:ea typeface="+mj-ea"/>
            </a:endParaRPr>
          </a:p>
        </p:txBody>
      </p:sp>
      <p:sp>
        <p:nvSpPr>
          <p:cNvPr id="2" name="日期占位符 1">
            <a:extLst>
              <a:ext uri="{FF2B5EF4-FFF2-40B4-BE49-F238E27FC236}">
                <a16:creationId xmlns:a16="http://schemas.microsoft.com/office/drawing/2014/main" id="{925117F3-5252-20D0-EC93-5AE2D16C8FE8}"/>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1DEEFE20-03CD-2CCB-CF5D-12F4353F7F6D}"/>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A9B6AD19-08A3-7A28-197D-905A57F9B0A9}"/>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32</a:t>
            </a:fld>
            <a:endParaRPr lang="en-US" altLang="zh-CN"/>
          </a:p>
        </p:txBody>
      </p:sp>
    </p:spTree>
    <p:extLst>
      <p:ext uri="{BB962C8B-B14F-4D97-AF65-F5344CB8AC3E}">
        <p14:creationId xmlns:p14="http://schemas.microsoft.com/office/powerpoint/2010/main" val="3065437264"/>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5"/>
          <p:cNvSpPr>
            <a:spLocks noGrp="1" noChangeArrowheads="1"/>
          </p:cNvSpPr>
          <p:nvPr>
            <p:ph type="title" idx="4294967295"/>
          </p:nvPr>
        </p:nvSpPr>
        <p:spPr/>
        <p:txBody>
          <a:bodyPr>
            <a:normAutofit/>
          </a:bodyPr>
          <a:lstStyle/>
          <a:p>
            <a:r>
              <a:rPr kumimoji="1" lang="en-US" altLang="zh-CN" sz="3600" b="1" dirty="0">
                <a:latin typeface="Times New Roman" panose="02020603050405020304" pitchFamily="18" charset="0"/>
                <a:cs typeface="Times New Roman" panose="02020603050405020304" pitchFamily="18" charset="0"/>
              </a:rPr>
              <a:t>Amdahl</a:t>
            </a:r>
            <a:r>
              <a:rPr kumimoji="1" lang="zh-CN" altLang="en-US" sz="3600" b="1" dirty="0">
                <a:latin typeface="Times New Roman" panose="02020603050405020304" pitchFamily="18" charset="0"/>
                <a:cs typeface="Times New Roman" panose="02020603050405020304" pitchFamily="18" charset="0"/>
              </a:rPr>
              <a:t>定律</a:t>
            </a:r>
          </a:p>
        </p:txBody>
      </p:sp>
      <p:sp>
        <p:nvSpPr>
          <p:cNvPr id="92163" name="Rectangle 16"/>
          <p:cNvSpPr>
            <a:spLocks noGrp="1" noChangeArrowheads="1"/>
          </p:cNvSpPr>
          <p:nvPr>
            <p:ph type="body" idx="4294967295"/>
          </p:nvPr>
        </p:nvSpPr>
        <p:spPr/>
        <p:txBody>
          <a:bodyPr>
            <a:normAutofit/>
          </a:bodyPr>
          <a:lstStyle/>
          <a:p>
            <a:r>
              <a:rPr lang="zh-CN" altLang="en-US" sz="2600" b="1" dirty="0">
                <a:latin typeface="+mj-ea"/>
                <a:ea typeface="+mj-ea"/>
              </a:rPr>
              <a:t>假设我们对机器（部件）进行某种改进，那么机器系统（部件）的加速比就是</a:t>
            </a:r>
          </a:p>
          <a:p>
            <a:endParaRPr lang="zh-CN" altLang="en-US" sz="2600" b="1" dirty="0">
              <a:latin typeface="+mj-ea"/>
              <a:ea typeface="+mj-ea"/>
            </a:endParaRPr>
          </a:p>
          <a:p>
            <a:endParaRPr lang="zh-CN" altLang="en-US" sz="2600" b="1" dirty="0">
              <a:latin typeface="+mj-ea"/>
              <a:ea typeface="+mj-ea"/>
            </a:endParaRPr>
          </a:p>
          <a:p>
            <a:endParaRPr lang="zh-CN" altLang="en-US" sz="2600" b="1" dirty="0">
              <a:latin typeface="+mj-ea"/>
              <a:ea typeface="+mj-ea"/>
            </a:endParaRPr>
          </a:p>
          <a:p>
            <a:endParaRPr lang="zh-CN" altLang="en-US" sz="2600" b="1" dirty="0">
              <a:latin typeface="+mj-ea"/>
              <a:ea typeface="+mj-ea"/>
            </a:endParaRPr>
          </a:p>
          <a:p>
            <a:r>
              <a:rPr lang="zh-CN" altLang="en-US" sz="2600" b="1" dirty="0">
                <a:latin typeface="+mj-ea"/>
                <a:ea typeface="+mj-ea"/>
              </a:rPr>
              <a:t>核心概念：时间</a:t>
            </a:r>
          </a:p>
          <a:p>
            <a:r>
              <a:rPr lang="zh-CN" altLang="en-US" sz="2600" b="1" dirty="0">
                <a:latin typeface="+mj-ea"/>
                <a:ea typeface="+mj-ea"/>
              </a:rPr>
              <a:t>系统加速比告诉我们改进后的机器比改进前快多少 </a:t>
            </a:r>
          </a:p>
        </p:txBody>
      </p:sp>
      <p:graphicFrame>
        <p:nvGraphicFramePr>
          <p:cNvPr id="92164" name="Object 4"/>
          <p:cNvGraphicFramePr>
            <a:graphicFrameLocks noChangeAspect="1"/>
          </p:cNvGraphicFramePr>
          <p:nvPr/>
        </p:nvGraphicFramePr>
        <p:xfrm>
          <a:off x="971600" y="2996952"/>
          <a:ext cx="7397172" cy="936104"/>
        </p:xfrm>
        <a:graphic>
          <a:graphicData uri="http://schemas.openxmlformats.org/presentationml/2006/ole">
            <mc:AlternateContent xmlns:mc="http://schemas.openxmlformats.org/markup-compatibility/2006">
              <mc:Choice xmlns:v="urn:schemas-microsoft-com:vml" Requires="v">
                <p:oleObj name="公式" r:id="rId2" imgW="3124200" imgH="469900" progId="Equation.3">
                  <p:embed/>
                </p:oleObj>
              </mc:Choice>
              <mc:Fallback>
                <p:oleObj name="公式" r:id="rId2" imgW="3124200" imgH="469900" progId="Equation.3">
                  <p:embed/>
                  <p:pic>
                    <p:nvPicPr>
                      <p:cNvPr id="9216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996952"/>
                        <a:ext cx="7397172" cy="936104"/>
                      </a:xfrm>
                      <a:prstGeom prst="rect">
                        <a:avLst/>
                      </a:prstGeom>
                      <a:noFill/>
                      <a:ln>
                        <a:noFill/>
                      </a:ln>
                      <a:effectLst/>
                    </p:spPr>
                  </p:pic>
                </p:oleObj>
              </mc:Fallback>
            </mc:AlternateContent>
          </a:graphicData>
        </a:graphic>
      </p:graphicFrame>
      <p:sp>
        <p:nvSpPr>
          <p:cNvPr id="2" name="日期占位符 1">
            <a:extLst>
              <a:ext uri="{FF2B5EF4-FFF2-40B4-BE49-F238E27FC236}">
                <a16:creationId xmlns:a16="http://schemas.microsoft.com/office/drawing/2014/main" id="{2D67806A-E76A-5DD2-1947-F93663CA556F}"/>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C7FEBBB0-79E9-4E28-0A09-6F76EFBB103C}"/>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D77F5CD6-D2BA-6137-B9D0-5696BC15A229}"/>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33</a:t>
            </a:fld>
            <a:endParaRPr lang="en-US" altLang="zh-CN"/>
          </a:p>
        </p:txBody>
      </p:sp>
    </p:spTree>
    <p:extLst>
      <p:ext uri="{BB962C8B-B14F-4D97-AF65-F5344CB8AC3E}">
        <p14:creationId xmlns:p14="http://schemas.microsoft.com/office/powerpoint/2010/main" val="1016744598"/>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1"/>
          <p:cNvSpPr>
            <a:spLocks noGrp="1" noChangeArrowheads="1"/>
          </p:cNvSpPr>
          <p:nvPr>
            <p:ph type="title" idx="4294967295"/>
          </p:nvPr>
        </p:nvSpPr>
        <p:spPr/>
        <p:txBody>
          <a:bodyPr>
            <a:normAutofit/>
          </a:bodyPr>
          <a:lstStyle/>
          <a:p>
            <a:r>
              <a:rPr kumimoji="1" lang="en-US" altLang="zh-CN" sz="3600" b="1" dirty="0">
                <a:latin typeface="Times New Roman" panose="02020603050405020304" pitchFamily="18" charset="0"/>
                <a:cs typeface="Times New Roman" panose="02020603050405020304" pitchFamily="18" charset="0"/>
              </a:rPr>
              <a:t>Amdahl</a:t>
            </a:r>
            <a:r>
              <a:rPr kumimoji="1" lang="zh-CN" altLang="en-US" sz="3600" b="1" dirty="0">
                <a:latin typeface="Times New Roman" panose="02020603050405020304" pitchFamily="18" charset="0"/>
                <a:cs typeface="Times New Roman" panose="02020603050405020304" pitchFamily="18" charset="0"/>
              </a:rPr>
              <a:t>定律</a:t>
            </a:r>
          </a:p>
        </p:txBody>
      </p:sp>
      <p:sp>
        <p:nvSpPr>
          <p:cNvPr id="93187" name="Rectangle 32"/>
          <p:cNvSpPr>
            <a:spLocks noGrp="1" noChangeArrowheads="1"/>
          </p:cNvSpPr>
          <p:nvPr>
            <p:ph type="body" idx="4294967295"/>
          </p:nvPr>
        </p:nvSpPr>
        <p:spPr/>
        <p:txBody>
          <a:bodyPr/>
          <a:lstStyle/>
          <a:p>
            <a:r>
              <a:rPr lang="zh-CN" altLang="en-US" sz="2400" b="1" dirty="0">
                <a:latin typeface="+mj-ea"/>
                <a:ea typeface="+mj-ea"/>
              </a:rPr>
              <a:t>系统加速比依赖于两个因素</a:t>
            </a:r>
          </a:p>
          <a:p>
            <a:pPr lvl="1"/>
            <a:r>
              <a:rPr lang="zh-CN" altLang="en-US" sz="2400" b="1" dirty="0">
                <a:latin typeface="+mj-ea"/>
                <a:ea typeface="+mj-ea"/>
              </a:rPr>
              <a:t>“</a:t>
            </a:r>
            <a:r>
              <a:rPr lang="zh-CN" altLang="en-US" sz="2400" b="1" dirty="0">
                <a:solidFill>
                  <a:srgbClr val="FF3300"/>
                </a:solidFill>
                <a:latin typeface="+mj-ea"/>
                <a:ea typeface="+mj-ea"/>
              </a:rPr>
              <a:t>可改进比例</a:t>
            </a:r>
            <a:r>
              <a:rPr lang="zh-CN" altLang="en-US" sz="2400" b="1" dirty="0">
                <a:latin typeface="+mj-ea"/>
                <a:ea typeface="+mj-ea"/>
              </a:rPr>
              <a:t>”：可改进部分在原系统计算时间中所占的比例 ，它总是小于等于</a:t>
            </a:r>
            <a:r>
              <a:rPr lang="en-US" altLang="zh-CN" sz="2400" b="1" dirty="0">
                <a:latin typeface="+mj-ea"/>
                <a:ea typeface="+mj-ea"/>
              </a:rPr>
              <a:t>1</a:t>
            </a:r>
            <a:r>
              <a:rPr lang="zh-CN" altLang="en-US" sz="2400" b="1" dirty="0">
                <a:latin typeface="+mj-ea"/>
                <a:ea typeface="+mj-ea"/>
              </a:rPr>
              <a:t>的</a:t>
            </a:r>
          </a:p>
          <a:p>
            <a:pPr lvl="2"/>
            <a:r>
              <a:rPr lang="en-US" altLang="zh-CN" b="1" dirty="0">
                <a:latin typeface="+mj-ea"/>
                <a:ea typeface="+mj-ea"/>
              </a:rPr>
              <a:t>T</a:t>
            </a:r>
            <a:r>
              <a:rPr lang="en-US" altLang="zh-CN" b="1" baseline="-25000" dirty="0">
                <a:latin typeface="+mj-ea"/>
                <a:ea typeface="+mj-ea"/>
              </a:rPr>
              <a:t>1</a:t>
            </a:r>
            <a:r>
              <a:rPr lang="en-US" altLang="zh-CN" b="1" dirty="0">
                <a:latin typeface="+mj-ea"/>
                <a:ea typeface="+mj-ea"/>
              </a:rPr>
              <a:t>/T</a:t>
            </a:r>
            <a:r>
              <a:rPr lang="en-US" altLang="zh-CN" b="1" baseline="-25000" dirty="0">
                <a:latin typeface="+mj-ea"/>
                <a:ea typeface="+mj-ea"/>
              </a:rPr>
              <a:t>0</a:t>
            </a:r>
          </a:p>
          <a:p>
            <a:pPr lvl="1"/>
            <a:r>
              <a:rPr lang="zh-CN" altLang="en-US" sz="2400" b="1" dirty="0">
                <a:latin typeface="+mj-ea"/>
                <a:ea typeface="+mj-ea"/>
              </a:rPr>
              <a:t>“</a:t>
            </a:r>
            <a:r>
              <a:rPr lang="zh-CN" altLang="en-US" sz="2400" b="1" dirty="0">
                <a:solidFill>
                  <a:srgbClr val="FF3300"/>
                </a:solidFill>
                <a:latin typeface="+mj-ea"/>
                <a:ea typeface="+mj-ea"/>
              </a:rPr>
              <a:t>部件加速比</a:t>
            </a:r>
            <a:r>
              <a:rPr lang="zh-CN" altLang="en-US" sz="2400" b="1" dirty="0">
                <a:latin typeface="+mj-ea"/>
                <a:ea typeface="+mj-ea"/>
              </a:rPr>
              <a:t>”可改进部分改进以后的性能提高，一般情况下它是大于</a:t>
            </a:r>
            <a:r>
              <a:rPr lang="en-US" altLang="zh-CN" sz="2400" b="1" dirty="0">
                <a:latin typeface="+mj-ea"/>
                <a:ea typeface="+mj-ea"/>
              </a:rPr>
              <a:t>1</a:t>
            </a:r>
            <a:r>
              <a:rPr lang="zh-CN" altLang="en-US" sz="2400" b="1" dirty="0">
                <a:latin typeface="+mj-ea"/>
                <a:ea typeface="+mj-ea"/>
              </a:rPr>
              <a:t>的</a:t>
            </a:r>
          </a:p>
          <a:p>
            <a:pPr lvl="2"/>
            <a:r>
              <a:rPr lang="en-US" altLang="zh-CN" b="1" dirty="0">
                <a:latin typeface="+mj-ea"/>
                <a:ea typeface="+mj-ea"/>
              </a:rPr>
              <a:t>T</a:t>
            </a:r>
            <a:r>
              <a:rPr lang="en-US" altLang="zh-CN" b="1" baseline="-25000" dirty="0">
                <a:latin typeface="+mj-ea"/>
                <a:ea typeface="+mj-ea"/>
              </a:rPr>
              <a:t>1</a:t>
            </a:r>
            <a:r>
              <a:rPr lang="en-US" altLang="zh-CN" b="1" dirty="0">
                <a:latin typeface="+mj-ea"/>
                <a:ea typeface="+mj-ea"/>
              </a:rPr>
              <a:t>/T</a:t>
            </a:r>
            <a:r>
              <a:rPr lang="en-US" altLang="zh-CN" b="1" baseline="-25000" dirty="0">
                <a:latin typeface="+mj-ea"/>
                <a:ea typeface="+mj-ea"/>
              </a:rPr>
              <a:t>2</a:t>
            </a:r>
          </a:p>
        </p:txBody>
      </p:sp>
      <p:grpSp>
        <p:nvGrpSpPr>
          <p:cNvPr id="93188" name="Group 29"/>
          <p:cNvGrpSpPr/>
          <p:nvPr/>
        </p:nvGrpSpPr>
        <p:grpSpPr bwMode="auto">
          <a:xfrm>
            <a:off x="1116013" y="4826272"/>
            <a:ext cx="7004050" cy="1843088"/>
            <a:chOff x="724" y="3024"/>
            <a:chExt cx="4412" cy="1161"/>
          </a:xfrm>
        </p:grpSpPr>
        <p:grpSp>
          <p:nvGrpSpPr>
            <p:cNvPr id="93189" name="Group 4"/>
            <p:cNvGrpSpPr/>
            <p:nvPr/>
          </p:nvGrpSpPr>
          <p:grpSpPr bwMode="auto">
            <a:xfrm>
              <a:off x="724" y="3024"/>
              <a:ext cx="4408" cy="261"/>
              <a:chOff x="724" y="3024"/>
              <a:chExt cx="4408" cy="232"/>
            </a:xfrm>
          </p:grpSpPr>
          <p:sp>
            <p:nvSpPr>
              <p:cNvPr id="93206" name="Rectangle 5"/>
              <p:cNvSpPr>
                <a:spLocks noChangeArrowheads="1"/>
              </p:cNvSpPr>
              <p:nvPr/>
            </p:nvSpPr>
            <p:spPr bwMode="auto">
              <a:xfrm>
                <a:off x="724" y="3024"/>
                <a:ext cx="664" cy="232"/>
              </a:xfrm>
              <a:prstGeom prst="rect">
                <a:avLst/>
              </a:prstGeom>
              <a:solidFill>
                <a:srgbClr val="FF0000"/>
              </a:solidFill>
              <a:ln w="12700">
                <a:solidFill>
                  <a:srgbClr val="000066"/>
                </a:solidFill>
                <a:miter lim="800000"/>
              </a:ln>
            </p:spPr>
            <p:txBody>
              <a:bodyPr wrap="none" anchor="ctr"/>
              <a:lstStyle/>
              <a:p>
                <a:endParaRPr lang="zh-CN" altLang="en-US" sz="1800"/>
              </a:p>
            </p:txBody>
          </p:sp>
          <p:sp>
            <p:nvSpPr>
              <p:cNvPr id="93207" name="Rectangle 6"/>
              <p:cNvSpPr>
                <a:spLocks noChangeArrowheads="1"/>
              </p:cNvSpPr>
              <p:nvPr/>
            </p:nvSpPr>
            <p:spPr bwMode="auto">
              <a:xfrm>
                <a:off x="1396" y="3024"/>
                <a:ext cx="664" cy="232"/>
              </a:xfrm>
              <a:prstGeom prst="rect">
                <a:avLst/>
              </a:prstGeom>
              <a:solidFill>
                <a:srgbClr val="00FF00"/>
              </a:solidFill>
              <a:ln w="12700">
                <a:solidFill>
                  <a:srgbClr val="000066"/>
                </a:solidFill>
                <a:miter lim="800000"/>
              </a:ln>
            </p:spPr>
            <p:txBody>
              <a:bodyPr wrap="none" anchor="ctr"/>
              <a:lstStyle/>
              <a:p>
                <a:endParaRPr lang="zh-CN" altLang="en-US" sz="1800"/>
              </a:p>
            </p:txBody>
          </p:sp>
          <p:sp>
            <p:nvSpPr>
              <p:cNvPr id="93208" name="Rectangle 7"/>
              <p:cNvSpPr>
                <a:spLocks noChangeArrowheads="1"/>
              </p:cNvSpPr>
              <p:nvPr/>
            </p:nvSpPr>
            <p:spPr bwMode="auto">
              <a:xfrm>
                <a:off x="2068" y="3024"/>
                <a:ext cx="664" cy="232"/>
              </a:xfrm>
              <a:prstGeom prst="rect">
                <a:avLst/>
              </a:prstGeom>
              <a:solidFill>
                <a:srgbClr val="FF0000"/>
              </a:solidFill>
              <a:ln w="12700">
                <a:solidFill>
                  <a:srgbClr val="000066"/>
                </a:solidFill>
                <a:miter lim="800000"/>
              </a:ln>
            </p:spPr>
            <p:txBody>
              <a:bodyPr wrap="none" anchor="ctr"/>
              <a:lstStyle/>
              <a:p>
                <a:endParaRPr lang="zh-CN" altLang="en-US" sz="1800"/>
              </a:p>
            </p:txBody>
          </p:sp>
          <p:sp>
            <p:nvSpPr>
              <p:cNvPr id="93209" name="Rectangle 8"/>
              <p:cNvSpPr>
                <a:spLocks noChangeArrowheads="1"/>
              </p:cNvSpPr>
              <p:nvPr/>
            </p:nvSpPr>
            <p:spPr bwMode="auto">
              <a:xfrm>
                <a:off x="3412" y="3024"/>
                <a:ext cx="664" cy="232"/>
              </a:xfrm>
              <a:prstGeom prst="rect">
                <a:avLst/>
              </a:prstGeom>
              <a:solidFill>
                <a:srgbClr val="FF0000"/>
              </a:solidFill>
              <a:ln w="12700">
                <a:solidFill>
                  <a:srgbClr val="000066"/>
                </a:solidFill>
                <a:miter lim="800000"/>
              </a:ln>
            </p:spPr>
            <p:txBody>
              <a:bodyPr wrap="none" anchor="ctr"/>
              <a:lstStyle/>
              <a:p>
                <a:endParaRPr lang="zh-CN" altLang="en-US" sz="1800"/>
              </a:p>
            </p:txBody>
          </p:sp>
          <p:sp>
            <p:nvSpPr>
              <p:cNvPr id="93210" name="Rectangle 9"/>
              <p:cNvSpPr>
                <a:spLocks noChangeArrowheads="1"/>
              </p:cNvSpPr>
              <p:nvPr/>
            </p:nvSpPr>
            <p:spPr bwMode="auto">
              <a:xfrm>
                <a:off x="4084" y="3024"/>
                <a:ext cx="376" cy="232"/>
              </a:xfrm>
              <a:prstGeom prst="rect">
                <a:avLst/>
              </a:prstGeom>
              <a:solidFill>
                <a:srgbClr val="00FF00"/>
              </a:solidFill>
              <a:ln w="12700">
                <a:solidFill>
                  <a:srgbClr val="000066"/>
                </a:solidFill>
                <a:miter lim="800000"/>
              </a:ln>
            </p:spPr>
            <p:txBody>
              <a:bodyPr wrap="none" anchor="ctr"/>
              <a:lstStyle/>
              <a:p>
                <a:endParaRPr lang="zh-CN" altLang="en-US" sz="1800"/>
              </a:p>
            </p:txBody>
          </p:sp>
          <p:sp>
            <p:nvSpPr>
              <p:cNvPr id="93211" name="Rectangle 10"/>
              <p:cNvSpPr>
                <a:spLocks noChangeArrowheads="1"/>
              </p:cNvSpPr>
              <p:nvPr/>
            </p:nvSpPr>
            <p:spPr bwMode="auto">
              <a:xfrm>
                <a:off x="4468" y="3024"/>
                <a:ext cx="664" cy="232"/>
              </a:xfrm>
              <a:prstGeom prst="rect">
                <a:avLst/>
              </a:prstGeom>
              <a:solidFill>
                <a:srgbClr val="FF0000"/>
              </a:solidFill>
              <a:ln w="12700">
                <a:solidFill>
                  <a:srgbClr val="000066"/>
                </a:solidFill>
                <a:miter lim="800000"/>
              </a:ln>
            </p:spPr>
            <p:txBody>
              <a:bodyPr wrap="none" anchor="ctr"/>
              <a:lstStyle/>
              <a:p>
                <a:endParaRPr lang="zh-CN" altLang="en-US" sz="1800"/>
              </a:p>
            </p:txBody>
          </p:sp>
          <p:sp>
            <p:nvSpPr>
              <p:cNvPr id="93212" name="Line 11"/>
              <p:cNvSpPr>
                <a:spLocks noChangeShapeType="1"/>
              </p:cNvSpPr>
              <p:nvPr/>
            </p:nvSpPr>
            <p:spPr bwMode="auto">
              <a:xfrm>
                <a:off x="2892" y="3164"/>
                <a:ext cx="312" cy="0"/>
              </a:xfrm>
              <a:prstGeom prst="line">
                <a:avLst/>
              </a:prstGeom>
              <a:noFill/>
              <a:ln w="38100" cmpd="dbl">
                <a:solidFill>
                  <a:srgbClr val="00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3190" name="Line 12"/>
            <p:cNvSpPr>
              <a:spLocks noChangeShapeType="1"/>
            </p:cNvSpPr>
            <p:nvPr/>
          </p:nvSpPr>
          <p:spPr bwMode="auto">
            <a:xfrm>
              <a:off x="724" y="3285"/>
              <a:ext cx="0" cy="843"/>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1" name="Line 13"/>
            <p:cNvSpPr>
              <a:spLocks noChangeShapeType="1"/>
            </p:cNvSpPr>
            <p:nvPr/>
          </p:nvSpPr>
          <p:spPr bwMode="auto">
            <a:xfrm>
              <a:off x="2732" y="3285"/>
              <a:ext cx="4" cy="849"/>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2" name="Line 14"/>
            <p:cNvSpPr>
              <a:spLocks noChangeShapeType="1"/>
            </p:cNvSpPr>
            <p:nvPr/>
          </p:nvSpPr>
          <p:spPr bwMode="auto">
            <a:xfrm flipH="1">
              <a:off x="1396" y="3285"/>
              <a:ext cx="0" cy="507"/>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3" name="Line 15"/>
            <p:cNvSpPr>
              <a:spLocks noChangeShapeType="1"/>
            </p:cNvSpPr>
            <p:nvPr/>
          </p:nvSpPr>
          <p:spPr bwMode="auto">
            <a:xfrm flipH="1">
              <a:off x="2064" y="3312"/>
              <a:ext cx="0" cy="507"/>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4" name="Line 16"/>
            <p:cNvSpPr>
              <a:spLocks noChangeShapeType="1"/>
            </p:cNvSpPr>
            <p:nvPr/>
          </p:nvSpPr>
          <p:spPr bwMode="auto">
            <a:xfrm>
              <a:off x="1396" y="3648"/>
              <a:ext cx="680" cy="0"/>
            </a:xfrm>
            <a:prstGeom prst="line">
              <a:avLst/>
            </a:prstGeom>
            <a:noFill/>
            <a:ln w="38100" cap="sq">
              <a:solidFill>
                <a:srgbClr val="000066"/>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5" name="Line 17"/>
            <p:cNvSpPr>
              <a:spLocks noChangeShapeType="1"/>
            </p:cNvSpPr>
            <p:nvPr/>
          </p:nvSpPr>
          <p:spPr bwMode="auto">
            <a:xfrm>
              <a:off x="724" y="4032"/>
              <a:ext cx="2008" cy="0"/>
            </a:xfrm>
            <a:prstGeom prst="line">
              <a:avLst/>
            </a:prstGeom>
            <a:noFill/>
            <a:ln w="38100" cap="sq">
              <a:solidFill>
                <a:srgbClr val="000066"/>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6" name="Text Box 19"/>
            <p:cNvSpPr txBox="1">
              <a:spLocks noChangeArrowheads="1"/>
            </p:cNvSpPr>
            <p:nvPr/>
          </p:nvSpPr>
          <p:spPr bwMode="auto">
            <a:xfrm>
              <a:off x="1488" y="3744"/>
              <a:ext cx="5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pPr>
              <a:r>
                <a:rPr lang="en-US" altLang="zh-CN" sz="2400">
                  <a:solidFill>
                    <a:srgbClr val="000066"/>
                  </a:solidFill>
                  <a:latin typeface="Times New Roman" panose="02020603050405020304" pitchFamily="18" charset="0"/>
                </a:rPr>
                <a:t>T</a:t>
              </a:r>
              <a:r>
                <a:rPr lang="en-US" altLang="zh-CN" sz="2400" baseline="-25000">
                  <a:solidFill>
                    <a:srgbClr val="000066"/>
                  </a:solidFill>
                  <a:latin typeface="Times New Roman" panose="02020603050405020304" pitchFamily="18" charset="0"/>
                </a:rPr>
                <a:t>o</a:t>
              </a:r>
              <a:endParaRPr lang="en-US" altLang="zh-CN" sz="2400">
                <a:solidFill>
                  <a:srgbClr val="000066"/>
                </a:solidFill>
                <a:latin typeface="Times New Roman" panose="02020603050405020304" pitchFamily="18" charset="0"/>
              </a:endParaRPr>
            </a:p>
          </p:txBody>
        </p:sp>
        <p:sp>
          <p:nvSpPr>
            <p:cNvPr id="93197" name="Text Box 20"/>
            <p:cNvSpPr txBox="1">
              <a:spLocks noChangeArrowheads="1"/>
            </p:cNvSpPr>
            <p:nvPr/>
          </p:nvSpPr>
          <p:spPr bwMode="auto">
            <a:xfrm>
              <a:off x="1440" y="3336"/>
              <a:ext cx="5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pPr>
              <a:r>
                <a:rPr lang="en-US" altLang="zh-CN" sz="2400">
                  <a:solidFill>
                    <a:srgbClr val="000066"/>
                  </a:solidFill>
                  <a:latin typeface="Times New Roman" panose="02020603050405020304" pitchFamily="18" charset="0"/>
                </a:rPr>
                <a:t>T</a:t>
              </a:r>
              <a:r>
                <a:rPr lang="en-US" altLang="zh-CN" sz="2400" baseline="-25000">
                  <a:solidFill>
                    <a:srgbClr val="000066"/>
                  </a:solidFill>
                  <a:latin typeface="Times New Roman" panose="02020603050405020304" pitchFamily="18" charset="0"/>
                </a:rPr>
                <a:t>1</a:t>
              </a:r>
              <a:endParaRPr lang="en-US" altLang="zh-CN" sz="2400">
                <a:solidFill>
                  <a:srgbClr val="000066"/>
                </a:solidFill>
                <a:latin typeface="Times New Roman" panose="02020603050405020304" pitchFamily="18" charset="0"/>
              </a:endParaRPr>
            </a:p>
          </p:txBody>
        </p:sp>
        <p:sp>
          <p:nvSpPr>
            <p:cNvPr id="93198" name="Line 21"/>
            <p:cNvSpPr>
              <a:spLocks noChangeShapeType="1"/>
            </p:cNvSpPr>
            <p:nvPr/>
          </p:nvSpPr>
          <p:spPr bwMode="auto">
            <a:xfrm flipH="1">
              <a:off x="4084" y="3309"/>
              <a:ext cx="0" cy="507"/>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199" name="Line 22"/>
            <p:cNvSpPr>
              <a:spLocks noChangeShapeType="1"/>
            </p:cNvSpPr>
            <p:nvPr/>
          </p:nvSpPr>
          <p:spPr bwMode="auto">
            <a:xfrm flipH="1">
              <a:off x="4468" y="3336"/>
              <a:ext cx="0" cy="507"/>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0" name="Line 23"/>
            <p:cNvSpPr>
              <a:spLocks noChangeShapeType="1"/>
            </p:cNvSpPr>
            <p:nvPr/>
          </p:nvSpPr>
          <p:spPr bwMode="auto">
            <a:xfrm>
              <a:off x="4084" y="3672"/>
              <a:ext cx="384" cy="0"/>
            </a:xfrm>
            <a:prstGeom prst="line">
              <a:avLst/>
            </a:prstGeom>
            <a:noFill/>
            <a:ln w="38100" cap="sq">
              <a:solidFill>
                <a:srgbClr val="000066"/>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1" name="Text Box 24"/>
            <p:cNvSpPr txBox="1">
              <a:spLocks noChangeArrowheads="1"/>
            </p:cNvSpPr>
            <p:nvPr/>
          </p:nvSpPr>
          <p:spPr bwMode="auto">
            <a:xfrm>
              <a:off x="4020" y="3348"/>
              <a:ext cx="5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pPr>
              <a:r>
                <a:rPr lang="en-US" altLang="zh-CN" sz="2400">
                  <a:solidFill>
                    <a:srgbClr val="000066"/>
                  </a:solidFill>
                  <a:latin typeface="Times New Roman" panose="02020603050405020304" pitchFamily="18" charset="0"/>
                </a:rPr>
                <a:t>T</a:t>
              </a:r>
              <a:r>
                <a:rPr lang="en-US" altLang="zh-CN" sz="2400" baseline="-25000">
                  <a:solidFill>
                    <a:srgbClr val="000066"/>
                  </a:solidFill>
                  <a:latin typeface="Times New Roman" panose="02020603050405020304" pitchFamily="18" charset="0"/>
                </a:rPr>
                <a:t>2</a:t>
              </a:r>
              <a:endParaRPr lang="en-US" altLang="zh-CN" sz="2400">
                <a:solidFill>
                  <a:srgbClr val="000066"/>
                </a:solidFill>
                <a:latin typeface="Times New Roman" panose="02020603050405020304" pitchFamily="18" charset="0"/>
              </a:endParaRPr>
            </a:p>
          </p:txBody>
        </p:sp>
        <p:sp>
          <p:nvSpPr>
            <p:cNvPr id="93202" name="Line 25"/>
            <p:cNvSpPr>
              <a:spLocks noChangeShapeType="1"/>
            </p:cNvSpPr>
            <p:nvPr/>
          </p:nvSpPr>
          <p:spPr bwMode="auto">
            <a:xfrm>
              <a:off x="3412" y="3264"/>
              <a:ext cx="0" cy="843"/>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3" name="Line 26"/>
            <p:cNvSpPr>
              <a:spLocks noChangeShapeType="1"/>
            </p:cNvSpPr>
            <p:nvPr/>
          </p:nvSpPr>
          <p:spPr bwMode="auto">
            <a:xfrm>
              <a:off x="5132" y="3336"/>
              <a:ext cx="4" cy="849"/>
            </a:xfrm>
            <a:prstGeom prst="line">
              <a:avLst/>
            </a:prstGeom>
            <a:noFill/>
            <a:ln w="38100" cap="sq">
              <a:solidFill>
                <a:srgbClr val="000066"/>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4" name="Line 27"/>
            <p:cNvSpPr>
              <a:spLocks noChangeShapeType="1"/>
            </p:cNvSpPr>
            <p:nvPr/>
          </p:nvSpPr>
          <p:spPr bwMode="auto">
            <a:xfrm>
              <a:off x="3412" y="4011"/>
              <a:ext cx="1720" cy="0"/>
            </a:xfrm>
            <a:prstGeom prst="line">
              <a:avLst/>
            </a:prstGeom>
            <a:noFill/>
            <a:ln w="38100" cap="sq">
              <a:solidFill>
                <a:srgbClr val="000066"/>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205" name="Text Box 28"/>
            <p:cNvSpPr txBox="1">
              <a:spLocks noChangeArrowheads="1"/>
            </p:cNvSpPr>
            <p:nvPr/>
          </p:nvSpPr>
          <p:spPr bwMode="auto">
            <a:xfrm>
              <a:off x="4020" y="3744"/>
              <a:ext cx="5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algn="ctr" eaLnBrk="1" hangingPunct="1">
                <a:spcBef>
                  <a:spcPct val="50000"/>
                </a:spcBef>
              </a:pPr>
              <a:r>
                <a:rPr lang="en-US" altLang="zh-CN" sz="2400">
                  <a:solidFill>
                    <a:srgbClr val="000066"/>
                  </a:solidFill>
                  <a:latin typeface="Times New Roman" panose="02020603050405020304" pitchFamily="18" charset="0"/>
                </a:rPr>
                <a:t>T</a:t>
              </a:r>
              <a:r>
                <a:rPr lang="en-US" altLang="zh-CN" sz="2400" baseline="-25000">
                  <a:solidFill>
                    <a:srgbClr val="000066"/>
                  </a:solidFill>
                  <a:latin typeface="Times New Roman" panose="02020603050405020304" pitchFamily="18" charset="0"/>
                </a:rPr>
                <a:t>e</a:t>
              </a:r>
              <a:endParaRPr lang="en-US" altLang="zh-CN" sz="2400">
                <a:solidFill>
                  <a:srgbClr val="000066"/>
                </a:solidFill>
                <a:latin typeface="Times New Roman" panose="02020603050405020304" pitchFamily="18" charset="0"/>
              </a:endParaRPr>
            </a:p>
          </p:txBody>
        </p:sp>
      </p:grpSp>
      <p:sp>
        <p:nvSpPr>
          <p:cNvPr id="2" name="日期占位符 1">
            <a:extLst>
              <a:ext uri="{FF2B5EF4-FFF2-40B4-BE49-F238E27FC236}">
                <a16:creationId xmlns:a16="http://schemas.microsoft.com/office/drawing/2014/main" id="{48E7F5EC-15D5-E7D5-504E-9E3B66D1B103}"/>
              </a:ext>
            </a:extLst>
          </p:cNvPr>
          <p:cNvSpPr>
            <a:spLocks noGrp="1"/>
          </p:cNvSpPr>
          <p:nvPr>
            <p:ph type="dt" sz="half" idx="10"/>
          </p:nvPr>
        </p:nvSpPr>
        <p:spPr>
          <a:xfrm>
            <a:off x="457200" y="6453336"/>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778BF5B4-345C-3F56-2187-490E397A137C}"/>
              </a:ext>
            </a:extLst>
          </p:cNvPr>
          <p:cNvSpPr>
            <a:spLocks noGrp="1"/>
          </p:cNvSpPr>
          <p:nvPr>
            <p:ph type="ftr" sz="quarter" idx="11"/>
          </p:nvPr>
        </p:nvSpPr>
        <p:spPr>
          <a:xfrm>
            <a:off x="3124200" y="6453336"/>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8022DA11-4A57-7D23-37F0-2C31020032E0}"/>
              </a:ext>
            </a:extLst>
          </p:cNvPr>
          <p:cNvSpPr>
            <a:spLocks noGrp="1"/>
          </p:cNvSpPr>
          <p:nvPr>
            <p:ph type="sldNum" sz="quarter" idx="12"/>
          </p:nvPr>
        </p:nvSpPr>
        <p:spPr>
          <a:xfrm>
            <a:off x="6553200" y="6453336"/>
            <a:ext cx="2133600" cy="365125"/>
          </a:xfrm>
        </p:spPr>
        <p:txBody>
          <a:bodyPr/>
          <a:lstStyle/>
          <a:p>
            <a:pPr>
              <a:defRPr/>
            </a:pPr>
            <a:fld id="{8BCAC33D-D29A-48B3-BCD6-381D3D720D26}" type="slidenum">
              <a:rPr lang="zh-CN" altLang="en-US" smtClean="0"/>
              <a:t>34</a:t>
            </a:fld>
            <a:endParaRPr lang="en-US" altLang="zh-CN"/>
          </a:p>
        </p:txBody>
      </p:sp>
    </p:spTree>
    <p:extLst>
      <p:ext uri="{BB962C8B-B14F-4D97-AF65-F5344CB8AC3E}">
        <p14:creationId xmlns:p14="http://schemas.microsoft.com/office/powerpoint/2010/main" val="4164650382"/>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idx="4294967295"/>
          </p:nvPr>
        </p:nvSpPr>
        <p:spPr/>
        <p:txBody>
          <a:bodyPr>
            <a:normAutofit/>
          </a:bodyPr>
          <a:lstStyle/>
          <a:p>
            <a:r>
              <a:rPr kumimoji="1" lang="en-US" altLang="zh-CN" sz="3600" b="1" dirty="0">
                <a:latin typeface="Times New Roman" panose="02020603050405020304" pitchFamily="18" charset="0"/>
                <a:cs typeface="Times New Roman" panose="02020603050405020304" pitchFamily="18" charset="0"/>
              </a:rPr>
              <a:t>Amdahl</a:t>
            </a:r>
            <a:r>
              <a:rPr kumimoji="1" lang="zh-CN" altLang="en-US" sz="3600" b="1" dirty="0">
                <a:latin typeface="Times New Roman" panose="02020603050405020304" pitchFamily="18" charset="0"/>
                <a:cs typeface="Times New Roman" panose="02020603050405020304" pitchFamily="18" charset="0"/>
              </a:rPr>
              <a:t>的系统执行时间</a:t>
            </a:r>
          </a:p>
        </p:txBody>
      </p:sp>
      <p:sp>
        <p:nvSpPr>
          <p:cNvPr id="94211" name="Rectangle 3"/>
          <p:cNvSpPr>
            <a:spLocks noGrp="1" noChangeArrowheads="1"/>
          </p:cNvSpPr>
          <p:nvPr>
            <p:ph type="body" idx="4294967295"/>
          </p:nvPr>
        </p:nvSpPr>
        <p:spPr/>
        <p:txBody>
          <a:bodyPr/>
          <a:lstStyle/>
          <a:p>
            <a:r>
              <a:rPr lang="zh-CN" altLang="en-US" sz="2600" dirty="0">
                <a:latin typeface="+mj-ea"/>
                <a:ea typeface="+mj-ea"/>
              </a:rPr>
              <a:t>部件改进后，系统的总执行时间等于不可改进部分的执行时间加上可改进部分改进后的执行时间，即：</a:t>
            </a:r>
          </a:p>
          <a:p>
            <a:endParaRPr lang="zh-CN" altLang="en-US" sz="2000" dirty="0">
              <a:latin typeface="Verdana" panose="020B0604030504040204" pitchFamily="34" charset="0"/>
              <a:ea typeface="华文中宋" panose="02010600040101010101" pitchFamily="2" charset="-122"/>
            </a:endParaRPr>
          </a:p>
          <a:p>
            <a:r>
              <a:rPr lang="zh-CN" altLang="en-US" sz="2000" dirty="0">
                <a:latin typeface="Verdana" panose="020B0604030504040204" pitchFamily="34" charset="0"/>
                <a:ea typeface="华文中宋" panose="02010600040101010101" pitchFamily="2" charset="-122"/>
              </a:rPr>
              <a:t>总执行时间</a:t>
            </a:r>
            <a:r>
              <a:rPr lang="zh-CN" altLang="en-US" sz="2000" baseline="-25000" dirty="0">
                <a:latin typeface="Verdana" panose="020B0604030504040204" pitchFamily="34" charset="0"/>
                <a:ea typeface="华文中宋" panose="02010600040101010101" pitchFamily="2" charset="-122"/>
              </a:rPr>
              <a:t>改进后</a:t>
            </a:r>
          </a:p>
          <a:p>
            <a:pPr>
              <a:buFont typeface="Wingdings" panose="05000000000000000000" pitchFamily="2" charset="2"/>
              <a:buNone/>
            </a:pPr>
            <a:endParaRPr lang="en-US" altLang="zh-CN" sz="2000" dirty="0">
              <a:latin typeface="Verdana" panose="020B0604030504040204" pitchFamily="34" charset="0"/>
              <a:ea typeface="华文中宋" panose="02010600040101010101" pitchFamily="2" charset="-122"/>
            </a:endParaRPr>
          </a:p>
          <a:p>
            <a:pPr>
              <a:buFont typeface="Wingdings" panose="05000000000000000000" pitchFamily="2" charset="2"/>
              <a:buNone/>
            </a:pPr>
            <a:endParaRPr lang="en-US" altLang="zh-CN" sz="2000" dirty="0">
              <a:latin typeface="Verdana" panose="020B0604030504040204" pitchFamily="34" charset="0"/>
              <a:ea typeface="华文中宋" panose="02010600040101010101" pitchFamily="2" charset="-122"/>
            </a:endParaRPr>
          </a:p>
          <a:p>
            <a:pPr>
              <a:buFont typeface="Wingdings" panose="05000000000000000000" pitchFamily="2" charset="2"/>
              <a:buNone/>
            </a:pPr>
            <a:r>
              <a:rPr lang="en-US" altLang="zh-CN" sz="2000" dirty="0">
                <a:latin typeface="Verdana" panose="020B0604030504040204" pitchFamily="34" charset="0"/>
                <a:ea typeface="华文中宋" panose="02010600040101010101" pitchFamily="2" charset="-122"/>
              </a:rPr>
              <a:t>=</a:t>
            </a:r>
            <a:r>
              <a:rPr lang="zh-CN" altLang="en-US" sz="2000" dirty="0">
                <a:latin typeface="Verdana" panose="020B0604030504040204" pitchFamily="34" charset="0"/>
                <a:ea typeface="华文中宋" panose="02010600040101010101" pitchFamily="2" charset="-122"/>
              </a:rPr>
              <a:t>（</a:t>
            </a:r>
            <a:r>
              <a:rPr lang="en-US" altLang="zh-CN" sz="2000" dirty="0">
                <a:latin typeface="Verdana" panose="020B0604030504040204" pitchFamily="34" charset="0"/>
                <a:ea typeface="华文中宋" panose="02010600040101010101" pitchFamily="2" charset="-122"/>
              </a:rPr>
              <a:t>1-</a:t>
            </a:r>
            <a:r>
              <a:rPr lang="zh-CN" altLang="en-US" sz="2000" dirty="0">
                <a:latin typeface="Verdana" panose="020B0604030504040204" pitchFamily="34" charset="0"/>
                <a:ea typeface="华文中宋" panose="02010600040101010101" pitchFamily="2" charset="-122"/>
              </a:rPr>
              <a:t>可改进比例）</a:t>
            </a:r>
            <a:r>
              <a:rPr lang="zh-CN" altLang="en-US" sz="2000" dirty="0">
                <a:latin typeface="Verdana" panose="020B0604030504040204" pitchFamily="34" charset="0"/>
                <a:ea typeface="华文中宋" panose="02010600040101010101" pitchFamily="2" charset="-122"/>
                <a:sym typeface="Symbol" panose="05050102010706020507" pitchFamily="18" charset="2"/>
              </a:rPr>
              <a:t></a:t>
            </a:r>
            <a:r>
              <a:rPr lang="zh-CN" altLang="en-US" sz="2000" dirty="0">
                <a:latin typeface="Verdana" panose="020B0604030504040204" pitchFamily="34" charset="0"/>
                <a:ea typeface="华文中宋" panose="02010600040101010101" pitchFamily="2" charset="-122"/>
              </a:rPr>
              <a:t>总执行时间</a:t>
            </a:r>
            <a:r>
              <a:rPr lang="zh-CN" altLang="en-US" sz="2000" baseline="-25000" dirty="0">
                <a:latin typeface="Verdana" panose="020B0604030504040204" pitchFamily="34" charset="0"/>
                <a:ea typeface="华文中宋" panose="02010600040101010101" pitchFamily="2" charset="-122"/>
              </a:rPr>
              <a:t>改进前</a:t>
            </a:r>
            <a:r>
              <a:rPr lang="en-US" altLang="zh-CN" sz="2000" dirty="0">
                <a:latin typeface="Verdana" panose="020B0604030504040204" pitchFamily="34" charset="0"/>
                <a:ea typeface="华文中宋" panose="02010600040101010101" pitchFamily="2" charset="-122"/>
              </a:rPr>
              <a:t>+ </a:t>
            </a:r>
          </a:p>
          <a:p>
            <a:endParaRPr lang="en-US" altLang="zh-CN" sz="2000" dirty="0">
              <a:latin typeface="Verdana" panose="020B0604030504040204" pitchFamily="34" charset="0"/>
              <a:ea typeface="华文中宋" panose="02010600040101010101" pitchFamily="2" charset="-122"/>
            </a:endParaRPr>
          </a:p>
          <a:p>
            <a:endParaRPr lang="en-US" altLang="zh-CN" sz="2000" dirty="0">
              <a:latin typeface="Verdana" panose="020B0604030504040204" pitchFamily="34" charset="0"/>
              <a:ea typeface="华文中宋" panose="02010600040101010101" pitchFamily="2" charset="-122"/>
            </a:endParaRPr>
          </a:p>
          <a:p>
            <a:pPr>
              <a:buFont typeface="Wingdings" panose="05000000000000000000" pitchFamily="2" charset="2"/>
              <a:buNone/>
            </a:pPr>
            <a:r>
              <a:rPr lang="en-US" altLang="zh-CN" sz="2000" dirty="0">
                <a:latin typeface="Verdana" panose="020B0604030504040204" pitchFamily="34" charset="0"/>
                <a:ea typeface="华文中宋" panose="02010600040101010101" pitchFamily="2" charset="-122"/>
              </a:rPr>
              <a:t>= </a:t>
            </a:r>
            <a:r>
              <a:rPr lang="zh-CN" altLang="en-US" sz="2000" dirty="0">
                <a:latin typeface="Verdana" panose="020B0604030504040204" pitchFamily="34" charset="0"/>
                <a:ea typeface="华文中宋" panose="02010600040101010101" pitchFamily="2" charset="-122"/>
              </a:rPr>
              <a:t>总执行时间</a:t>
            </a:r>
            <a:r>
              <a:rPr lang="zh-CN" altLang="en-US" sz="2000" baseline="-25000" dirty="0">
                <a:latin typeface="Verdana" panose="020B0604030504040204" pitchFamily="34" charset="0"/>
                <a:ea typeface="华文中宋" panose="02010600040101010101" pitchFamily="2" charset="-122"/>
              </a:rPr>
              <a:t>改进前</a:t>
            </a:r>
            <a:r>
              <a:rPr lang="zh-CN" altLang="en-US" sz="2000" dirty="0">
                <a:latin typeface="Verdana" panose="020B0604030504040204" pitchFamily="34" charset="0"/>
                <a:ea typeface="华文中宋" panose="02010600040101010101" pitchFamily="2" charset="-122"/>
              </a:rPr>
              <a:t> </a:t>
            </a:r>
            <a:r>
              <a:rPr lang="zh-CN" altLang="en-US" sz="2000" dirty="0">
                <a:latin typeface="Verdana" panose="020B0604030504040204" pitchFamily="34" charset="0"/>
                <a:ea typeface="华文中宋" panose="02010600040101010101" pitchFamily="2" charset="-122"/>
                <a:sym typeface="Symbol" panose="05050102010706020507" pitchFamily="18" charset="2"/>
              </a:rPr>
              <a:t></a:t>
            </a:r>
            <a:r>
              <a:rPr lang="zh-CN" altLang="en-US" sz="2000" dirty="0">
                <a:latin typeface="Verdana" panose="020B0604030504040204" pitchFamily="34" charset="0"/>
                <a:ea typeface="华文中宋" panose="02010600040101010101" pitchFamily="2" charset="-122"/>
              </a:rPr>
              <a:t> </a:t>
            </a:r>
            <a:r>
              <a:rPr lang="en-US" altLang="zh-CN" sz="2000" dirty="0">
                <a:latin typeface="Verdana" panose="020B0604030504040204" pitchFamily="34" charset="0"/>
                <a:ea typeface="华文中宋" panose="02010600040101010101" pitchFamily="2" charset="-122"/>
              </a:rPr>
              <a:t>[</a:t>
            </a:r>
            <a:r>
              <a:rPr lang="zh-CN" altLang="en-US" sz="2000" dirty="0">
                <a:latin typeface="Verdana" panose="020B0604030504040204" pitchFamily="34" charset="0"/>
                <a:ea typeface="华文中宋" panose="02010600040101010101" pitchFamily="2" charset="-122"/>
              </a:rPr>
              <a:t>（</a:t>
            </a:r>
            <a:r>
              <a:rPr lang="en-US" altLang="zh-CN" sz="2000" dirty="0">
                <a:latin typeface="Verdana" panose="020B0604030504040204" pitchFamily="34" charset="0"/>
                <a:ea typeface="华文中宋" panose="02010600040101010101" pitchFamily="2" charset="-122"/>
              </a:rPr>
              <a:t>1-</a:t>
            </a:r>
            <a:r>
              <a:rPr lang="zh-CN" altLang="en-US" sz="2000" dirty="0">
                <a:latin typeface="Verdana" panose="020B0604030504040204" pitchFamily="34" charset="0"/>
                <a:ea typeface="华文中宋" panose="02010600040101010101" pitchFamily="2" charset="-122"/>
              </a:rPr>
              <a:t>可改进比例）</a:t>
            </a:r>
            <a:r>
              <a:rPr lang="en-US" altLang="zh-CN" sz="2000" dirty="0">
                <a:latin typeface="Verdana" panose="020B0604030504040204" pitchFamily="34" charset="0"/>
                <a:ea typeface="华文中宋" panose="02010600040101010101" pitchFamily="2" charset="-122"/>
              </a:rPr>
              <a:t>+                   ] </a:t>
            </a:r>
          </a:p>
        </p:txBody>
      </p:sp>
      <p:sp>
        <p:nvSpPr>
          <p:cNvPr id="94212"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94213" name="Object 4"/>
          <p:cNvGraphicFramePr>
            <a:graphicFrameLocks noChangeAspect="1"/>
          </p:cNvGraphicFramePr>
          <p:nvPr/>
        </p:nvGraphicFramePr>
        <p:xfrm>
          <a:off x="5004048" y="3717032"/>
          <a:ext cx="3600450" cy="790575"/>
        </p:xfrm>
        <a:graphic>
          <a:graphicData uri="http://schemas.openxmlformats.org/presentationml/2006/ole">
            <mc:AlternateContent xmlns:mc="http://schemas.openxmlformats.org/markup-compatibility/2006">
              <mc:Choice xmlns:v="urn:schemas-microsoft-com:vml" Requires="v">
                <p:oleObj name="公式" r:id="rId2" imgW="1778000" imgH="393700" progId="Equation.3">
                  <p:embed/>
                </p:oleObj>
              </mc:Choice>
              <mc:Fallback>
                <p:oleObj name="公式" r:id="rId2" imgW="1778000" imgH="393700" progId="Equation.3">
                  <p:embed/>
                  <p:pic>
                    <p:nvPicPr>
                      <p:cNvPr id="94213"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3717032"/>
                        <a:ext cx="360045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214" name="Rectangle 7"/>
          <p:cNvSpPr>
            <a:spLocks noChangeArrowheads="1"/>
          </p:cNvSpPr>
          <p:nvPr/>
        </p:nvSpPr>
        <p:spPr bwMode="auto">
          <a:xfrm>
            <a:off x="0" y="3238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94215" name="Object 6"/>
          <p:cNvGraphicFramePr>
            <a:graphicFrameLocks noChangeAspect="1"/>
          </p:cNvGraphicFramePr>
          <p:nvPr/>
        </p:nvGraphicFramePr>
        <p:xfrm>
          <a:off x="5364088" y="4869160"/>
          <a:ext cx="1439862" cy="749300"/>
        </p:xfrm>
        <a:graphic>
          <a:graphicData uri="http://schemas.openxmlformats.org/presentationml/2006/ole">
            <mc:AlternateContent xmlns:mc="http://schemas.openxmlformats.org/markup-compatibility/2006">
              <mc:Choice xmlns:v="urn:schemas-microsoft-com:vml" Requires="v">
                <p:oleObj name="公式" r:id="rId2" imgW="737235" imgH="381635" progId="Equation.3">
                  <p:embed/>
                </p:oleObj>
              </mc:Choice>
              <mc:Fallback>
                <p:oleObj name="公式" r:id="rId2" imgW="737235" imgH="381635" progId="Equation.3">
                  <p:embed/>
                  <p:pic>
                    <p:nvPicPr>
                      <p:cNvPr id="94215"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088" y="4869160"/>
                        <a:ext cx="1439862"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日期占位符 1">
            <a:extLst>
              <a:ext uri="{FF2B5EF4-FFF2-40B4-BE49-F238E27FC236}">
                <a16:creationId xmlns:a16="http://schemas.microsoft.com/office/drawing/2014/main" id="{FA3FEB52-3E60-F592-2DF4-A596FAEE5E16}"/>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A33CAE1D-3671-6678-F3AF-713DF445D0D1}"/>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6524DAB9-E0B5-C6BC-257E-7215C68034EB}"/>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35</a:t>
            </a:fld>
            <a:endParaRPr lang="en-US" altLang="zh-CN"/>
          </a:p>
        </p:txBody>
      </p:sp>
    </p:spTree>
    <p:extLst>
      <p:ext uri="{BB962C8B-B14F-4D97-AF65-F5344CB8AC3E}">
        <p14:creationId xmlns:p14="http://schemas.microsoft.com/office/powerpoint/2010/main" val="1404301812"/>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idx="4294967295"/>
          </p:nvPr>
        </p:nvSpPr>
        <p:spPr/>
        <p:txBody>
          <a:bodyPr>
            <a:normAutofit/>
          </a:bodyPr>
          <a:lstStyle/>
          <a:p>
            <a:r>
              <a:rPr kumimoji="1" lang="en-US" altLang="zh-CN" sz="3600" b="1" dirty="0">
                <a:latin typeface="Times New Roman" panose="02020603050405020304" pitchFamily="18" charset="0"/>
                <a:cs typeface="Times New Roman" panose="02020603050405020304" pitchFamily="18" charset="0"/>
              </a:rPr>
              <a:t>Amdahl</a:t>
            </a:r>
            <a:r>
              <a:rPr kumimoji="1" lang="zh-CN" altLang="en-US" sz="3600" b="1" dirty="0">
                <a:latin typeface="Times New Roman" panose="02020603050405020304" pitchFamily="18" charset="0"/>
                <a:cs typeface="Times New Roman" panose="02020603050405020304" pitchFamily="18" charset="0"/>
              </a:rPr>
              <a:t>的系统加速比</a:t>
            </a:r>
          </a:p>
        </p:txBody>
      </p:sp>
      <p:sp>
        <p:nvSpPr>
          <p:cNvPr id="95235" name="Rectangle 3"/>
          <p:cNvSpPr>
            <a:spLocks noGrp="1" noChangeArrowheads="1"/>
          </p:cNvSpPr>
          <p:nvPr>
            <p:ph type="body" idx="4294967295"/>
          </p:nvPr>
        </p:nvSpPr>
        <p:spPr/>
        <p:txBody>
          <a:bodyPr>
            <a:normAutofit/>
          </a:bodyPr>
          <a:lstStyle/>
          <a:p>
            <a:r>
              <a:rPr lang="zh-CN" altLang="en-US" sz="2600" b="1" dirty="0">
                <a:latin typeface="+mj-ea"/>
                <a:ea typeface="+mj-ea"/>
              </a:rPr>
              <a:t>系统加速比为改进前与改进后总执行时间之比，为：</a:t>
            </a:r>
          </a:p>
          <a:p>
            <a:pPr>
              <a:buFont typeface="Wingdings" panose="05000000000000000000" pitchFamily="2" charset="2"/>
              <a:buNone/>
            </a:pPr>
            <a:r>
              <a:rPr lang="zh-CN" altLang="en-US" sz="2600" b="1" dirty="0">
                <a:latin typeface="+mj-ea"/>
                <a:ea typeface="+mj-ea"/>
              </a:rPr>
              <a:t>  </a:t>
            </a:r>
            <a:endParaRPr lang="en-US" altLang="zh-CN" sz="2600" b="1" dirty="0">
              <a:latin typeface="+mj-ea"/>
              <a:ea typeface="+mj-ea"/>
            </a:endParaRPr>
          </a:p>
          <a:p>
            <a:pPr>
              <a:buFont typeface="Wingdings" panose="05000000000000000000" pitchFamily="2" charset="2"/>
              <a:buNone/>
            </a:pPr>
            <a:r>
              <a:rPr lang="zh-CN" altLang="en-US" sz="2600" b="1" dirty="0">
                <a:latin typeface="+mj-ea"/>
                <a:ea typeface="+mj-ea"/>
              </a:rPr>
              <a:t>  系统加速比</a:t>
            </a:r>
          </a:p>
          <a:p>
            <a:pPr>
              <a:buFont typeface="Wingdings" panose="05000000000000000000" pitchFamily="2" charset="2"/>
              <a:buNone/>
            </a:pPr>
            <a:endParaRPr lang="en-US" altLang="zh-CN" b="1" dirty="0">
              <a:latin typeface="+mj-ea"/>
              <a:ea typeface="+mj-ea"/>
            </a:endParaRPr>
          </a:p>
          <a:p>
            <a:pPr>
              <a:buFont typeface="Wingdings" panose="05000000000000000000" pitchFamily="2" charset="2"/>
              <a:buNone/>
            </a:pPr>
            <a:r>
              <a:rPr lang="en-US" altLang="zh-CN" b="1" dirty="0">
                <a:latin typeface="+mj-ea"/>
                <a:ea typeface="+mj-ea"/>
              </a:rPr>
              <a:t>		   =</a:t>
            </a:r>
          </a:p>
          <a:p>
            <a:pPr>
              <a:buFont typeface="Wingdings" panose="05000000000000000000" pitchFamily="2" charset="2"/>
              <a:buNone/>
            </a:pPr>
            <a:endParaRPr lang="en-US" altLang="zh-CN" b="1" dirty="0">
              <a:latin typeface="+mj-ea"/>
              <a:ea typeface="+mj-ea"/>
            </a:endParaRPr>
          </a:p>
          <a:p>
            <a:pPr>
              <a:buFont typeface="Wingdings" panose="05000000000000000000" pitchFamily="2" charset="2"/>
              <a:buNone/>
            </a:pPr>
            <a:r>
              <a:rPr lang="en-US" altLang="zh-CN" b="1" dirty="0">
                <a:latin typeface="+mj-ea"/>
                <a:ea typeface="+mj-ea"/>
              </a:rPr>
              <a:t>		   = </a:t>
            </a:r>
            <a:endParaRPr lang="zh-CN" altLang="en-US" b="1" dirty="0">
              <a:latin typeface="+mj-ea"/>
              <a:ea typeface="+mj-ea"/>
            </a:endParaRPr>
          </a:p>
        </p:txBody>
      </p:sp>
      <p:sp>
        <p:nvSpPr>
          <p:cNvPr id="95236"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95237" name="Object 4"/>
          <p:cNvGraphicFramePr>
            <a:graphicFrameLocks noChangeAspect="1"/>
          </p:cNvGraphicFramePr>
          <p:nvPr/>
        </p:nvGraphicFramePr>
        <p:xfrm>
          <a:off x="2771800" y="3505268"/>
          <a:ext cx="2376810" cy="978849"/>
        </p:xfrm>
        <a:graphic>
          <a:graphicData uri="http://schemas.openxmlformats.org/presentationml/2006/ole">
            <mc:AlternateContent xmlns:mc="http://schemas.openxmlformats.org/markup-compatibility/2006">
              <mc:Choice xmlns:v="urn:schemas-microsoft-com:vml" Requires="v">
                <p:oleObj name="公式" r:id="rId2" imgW="1016635" imgH="419735" progId="Equation.3">
                  <p:embed/>
                </p:oleObj>
              </mc:Choice>
              <mc:Fallback>
                <p:oleObj name="公式" r:id="rId2" imgW="1016635" imgH="419735" progId="Equation.3">
                  <p:embed/>
                  <p:pic>
                    <p:nvPicPr>
                      <p:cNvPr id="95237"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3505268"/>
                        <a:ext cx="2376810" cy="978849"/>
                      </a:xfrm>
                      <a:prstGeom prst="rect">
                        <a:avLst/>
                      </a:prstGeom>
                      <a:noFill/>
                      <a:ln>
                        <a:noFill/>
                      </a:ln>
                    </p:spPr>
                  </p:pic>
                </p:oleObj>
              </mc:Fallback>
            </mc:AlternateContent>
          </a:graphicData>
        </a:graphic>
      </p:graphicFrame>
      <p:sp>
        <p:nvSpPr>
          <p:cNvPr id="95238"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95239" name="Object 6"/>
          <p:cNvGraphicFramePr>
            <a:graphicFrameLocks noChangeAspect="1"/>
          </p:cNvGraphicFramePr>
          <p:nvPr/>
        </p:nvGraphicFramePr>
        <p:xfrm>
          <a:off x="2771800" y="4687599"/>
          <a:ext cx="4321150" cy="1117665"/>
        </p:xfrm>
        <a:graphic>
          <a:graphicData uri="http://schemas.openxmlformats.org/presentationml/2006/ole">
            <mc:AlternateContent xmlns:mc="http://schemas.openxmlformats.org/markup-compatibility/2006">
              <mc:Choice xmlns:v="urn:schemas-microsoft-com:vml" Requires="v">
                <p:oleObj name="公式" r:id="rId2" imgW="2057400" imgH="609600" progId="Equation.3">
                  <p:embed/>
                </p:oleObj>
              </mc:Choice>
              <mc:Fallback>
                <p:oleObj name="公式" r:id="rId2" imgW="2057400" imgH="609600" progId="Equation.3">
                  <p:embed/>
                  <p:pic>
                    <p:nvPicPr>
                      <p:cNvPr id="9523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800" y="4687599"/>
                        <a:ext cx="4321150" cy="1117665"/>
                      </a:xfrm>
                      <a:prstGeom prst="rect">
                        <a:avLst/>
                      </a:prstGeom>
                      <a:noFill/>
                      <a:ln>
                        <a:noFill/>
                      </a:ln>
                    </p:spPr>
                  </p:pic>
                </p:oleObj>
              </mc:Fallback>
            </mc:AlternateContent>
          </a:graphicData>
        </a:graphic>
      </p:graphicFrame>
      <p:sp>
        <p:nvSpPr>
          <p:cNvPr id="2" name="日期占位符 1">
            <a:extLst>
              <a:ext uri="{FF2B5EF4-FFF2-40B4-BE49-F238E27FC236}">
                <a16:creationId xmlns:a16="http://schemas.microsoft.com/office/drawing/2014/main" id="{BE918E3D-F036-6605-A64E-4E3E76AECDCF}"/>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97E5BE4F-DA02-C83A-9893-1EDEA4CF8691}"/>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7FF88243-856D-C645-F8B5-6FFF3E0FC973}"/>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36</a:t>
            </a:fld>
            <a:endParaRPr lang="en-US" altLang="zh-CN"/>
          </a:p>
        </p:txBody>
      </p:sp>
    </p:spTree>
    <p:extLst>
      <p:ext uri="{BB962C8B-B14F-4D97-AF65-F5344CB8AC3E}">
        <p14:creationId xmlns:p14="http://schemas.microsoft.com/office/powerpoint/2010/main" val="172063104"/>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5"/>
          <p:cNvSpPr>
            <a:spLocks noGrp="1" noChangeArrowheads="1"/>
          </p:cNvSpPr>
          <p:nvPr>
            <p:ph type="title" idx="4294967295"/>
          </p:nvPr>
        </p:nvSpPr>
        <p:spPr>
          <a:xfrm>
            <a:off x="457200" y="44624"/>
            <a:ext cx="8229600" cy="1143000"/>
          </a:xfrm>
        </p:spPr>
        <p:txBody>
          <a:bodyPr>
            <a:normAutofit/>
          </a:bodyPr>
          <a:lstStyle/>
          <a:p>
            <a:r>
              <a:rPr kumimoji="1" lang="en-US" altLang="zh-CN" sz="3600" b="1" dirty="0">
                <a:latin typeface="Times New Roman" panose="02020603050405020304" pitchFamily="18" charset="0"/>
                <a:ea typeface="+mn-ea"/>
                <a:cs typeface="Times New Roman" panose="02020603050405020304" pitchFamily="18" charset="0"/>
              </a:rPr>
              <a:t>Amdahl</a:t>
            </a:r>
            <a:r>
              <a:rPr kumimoji="1" lang="zh-CN" altLang="en-US" sz="3600" b="1" dirty="0">
                <a:latin typeface="Times New Roman" panose="02020603050405020304" pitchFamily="18" charset="0"/>
                <a:ea typeface="+mn-ea"/>
                <a:cs typeface="Times New Roman" panose="02020603050405020304" pitchFamily="18" charset="0"/>
              </a:rPr>
              <a:t>定律的观点</a:t>
            </a:r>
          </a:p>
        </p:txBody>
      </p:sp>
      <p:sp>
        <p:nvSpPr>
          <p:cNvPr id="96259" name="Rectangle 6"/>
          <p:cNvSpPr>
            <a:spLocks noGrp="1" noChangeArrowheads="1"/>
          </p:cNvSpPr>
          <p:nvPr>
            <p:ph type="body" idx="4294967295"/>
          </p:nvPr>
        </p:nvSpPr>
        <p:spPr>
          <a:xfrm>
            <a:off x="457200" y="1268760"/>
            <a:ext cx="8579296" cy="4857403"/>
          </a:xfrm>
        </p:spPr>
        <p:txBody>
          <a:bodyPr>
            <a:normAutofit/>
          </a:bodyPr>
          <a:lstStyle/>
          <a:p>
            <a:pPr marL="0" indent="0">
              <a:buNone/>
            </a:pP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1. </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性能增加的</a:t>
            </a: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递减</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规则</a:t>
            </a:r>
          </a:p>
          <a:p>
            <a:pPr lvl="1"/>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仅仅对计算机中的一部分做性能改进，则改进越多，系统获得的效果越小</a:t>
            </a:r>
          </a:p>
          <a:p>
            <a:pPr marL="0" indent="0">
              <a:buNone/>
            </a:pP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2. Amdahl</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定律的一个重要推论</a:t>
            </a:r>
          </a:p>
          <a:p>
            <a:pPr lvl="1"/>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针对整个任务的一部分进行优化，则</a:t>
            </a: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最大加速比</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不大于</a:t>
            </a:r>
          </a:p>
          <a:p>
            <a:pPr lvl="1"/>
            <a:endParaRPr lang="en-US" altLang="zh-CN" sz="2400" dirty="0">
              <a:latin typeface="Times New Roman" panose="02020603050405020304" pitchFamily="18" charset="0"/>
              <a:ea typeface="华文中宋" panose="02010600040101010101" pitchFamily="2" charset="-122"/>
              <a:cs typeface="Times New Roman" panose="02020603050405020304" pitchFamily="18" charset="0"/>
            </a:endParaRPr>
          </a:p>
          <a:p>
            <a:pPr lvl="1"/>
            <a:endParaRPr lang="zh-CN" altLang="en-US" sz="2400" dirty="0">
              <a:latin typeface="Times New Roman" panose="02020603050405020304" pitchFamily="18" charset="0"/>
              <a:ea typeface="华文中宋" panose="02010600040101010101" pitchFamily="2" charset="-122"/>
              <a:cs typeface="Times New Roman" panose="02020603050405020304" pitchFamily="18" charset="0"/>
            </a:endParaRPr>
          </a:p>
          <a:p>
            <a:pPr marL="0" indent="0">
              <a:buNone/>
            </a:pP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3. Amdahl</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定律衡量一个“好”的计算机系统</a:t>
            </a:r>
          </a:p>
          <a:p>
            <a:pPr lvl="1"/>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具有高性能价格比的计算机系统是一个</a:t>
            </a:r>
            <a:r>
              <a:rPr lang="zh-CN" altLang="en-US" sz="2400" dirty="0">
                <a:solidFill>
                  <a:srgbClr val="FF3300"/>
                </a:solidFill>
                <a:latin typeface="Times New Roman" panose="02020603050405020304" pitchFamily="18" charset="0"/>
                <a:ea typeface="华文中宋" panose="02010600040101010101" pitchFamily="2" charset="-122"/>
                <a:cs typeface="Times New Roman" panose="02020603050405020304" pitchFamily="18" charset="0"/>
              </a:rPr>
              <a:t>带宽平衡</a:t>
            </a:r>
            <a:r>
              <a:rPr lang="zh-CN" altLang="en-US" sz="2400" dirty="0">
                <a:latin typeface="Times New Roman" panose="02020603050405020304" pitchFamily="18" charset="0"/>
                <a:ea typeface="华文中宋" panose="02010600040101010101" pitchFamily="2" charset="-122"/>
                <a:cs typeface="Times New Roman" panose="02020603050405020304" pitchFamily="18" charset="0"/>
              </a:rPr>
              <a:t>的系统，而不是看它使用的某些部件的性能</a:t>
            </a:r>
          </a:p>
        </p:txBody>
      </p:sp>
      <p:graphicFrame>
        <p:nvGraphicFramePr>
          <p:cNvPr id="96260" name="Object 4"/>
          <p:cNvGraphicFramePr>
            <a:graphicFrameLocks noChangeAspect="1"/>
          </p:cNvGraphicFramePr>
          <p:nvPr/>
        </p:nvGraphicFramePr>
        <p:xfrm>
          <a:off x="3671562" y="3429000"/>
          <a:ext cx="1908501" cy="773559"/>
        </p:xfrm>
        <a:graphic>
          <a:graphicData uri="http://schemas.openxmlformats.org/presentationml/2006/ole">
            <mc:AlternateContent xmlns:mc="http://schemas.openxmlformats.org/markup-compatibility/2006">
              <mc:Choice xmlns:v="urn:schemas-microsoft-com:vml" Requires="v">
                <p:oleObj name="公式" r:id="rId2" imgW="1028700" imgH="419100" progId="Equation.3">
                  <p:embed/>
                </p:oleObj>
              </mc:Choice>
              <mc:Fallback>
                <p:oleObj name="公式" r:id="rId2" imgW="1028700" imgH="419100" progId="Equation.3">
                  <p:embed/>
                  <p:pic>
                    <p:nvPicPr>
                      <p:cNvPr id="9626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1562" y="3429000"/>
                        <a:ext cx="1908501" cy="773559"/>
                      </a:xfrm>
                      <a:prstGeom prst="rect">
                        <a:avLst/>
                      </a:prstGeom>
                      <a:noFill/>
                      <a:ln>
                        <a:noFill/>
                      </a:ln>
                    </p:spPr>
                  </p:pic>
                </p:oleObj>
              </mc:Fallback>
            </mc:AlternateContent>
          </a:graphicData>
        </a:graphic>
      </p:graphicFrame>
      <p:sp>
        <p:nvSpPr>
          <p:cNvPr id="2" name="日期占位符 1">
            <a:extLst>
              <a:ext uri="{FF2B5EF4-FFF2-40B4-BE49-F238E27FC236}">
                <a16:creationId xmlns:a16="http://schemas.microsoft.com/office/drawing/2014/main" id="{ED178D54-9A77-379C-FC3D-496FF6F215E5}"/>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0997E684-CFF9-38C1-2754-D8CC477D20A0}"/>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49394007-91B9-5898-DDD7-4A9EC021D0F1}"/>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37</a:t>
            </a:fld>
            <a:endParaRPr lang="en-US" altLang="zh-CN"/>
          </a:p>
        </p:txBody>
      </p:sp>
    </p:spTree>
    <p:extLst>
      <p:ext uri="{BB962C8B-B14F-4D97-AF65-F5344CB8AC3E}">
        <p14:creationId xmlns:p14="http://schemas.microsoft.com/office/powerpoint/2010/main" val="723658201"/>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6"/>
          <p:cNvSpPr>
            <a:spLocks noGrp="1" noChangeArrowheads="1"/>
          </p:cNvSpPr>
          <p:nvPr>
            <p:ph type="title" idx="4294967295"/>
          </p:nvPr>
        </p:nvSpPr>
        <p:spPr/>
        <p:txBody>
          <a:bodyPr>
            <a:normAutofit/>
          </a:bodyPr>
          <a:lstStyle/>
          <a:p>
            <a:r>
              <a:rPr kumimoji="1" lang="en-US" altLang="zh-CN" sz="3600" b="1" dirty="0">
                <a:latin typeface="Times New Roman" panose="02020603050405020304" pitchFamily="18" charset="0"/>
                <a:cs typeface="Times New Roman" panose="02020603050405020304" pitchFamily="18" charset="0"/>
              </a:rPr>
              <a:t>Amdahl</a:t>
            </a:r>
            <a:r>
              <a:rPr kumimoji="1" lang="zh-CN" altLang="en-US" sz="3600" b="1" dirty="0">
                <a:latin typeface="Times New Roman" panose="02020603050405020304" pitchFamily="18" charset="0"/>
                <a:cs typeface="Times New Roman" panose="02020603050405020304" pitchFamily="18" charset="0"/>
              </a:rPr>
              <a:t>定律练习</a:t>
            </a:r>
          </a:p>
        </p:txBody>
      </p:sp>
      <p:sp>
        <p:nvSpPr>
          <p:cNvPr id="97283" name="Rectangle 7"/>
          <p:cNvSpPr>
            <a:spLocks noGrp="1" noChangeArrowheads="1"/>
          </p:cNvSpPr>
          <p:nvPr>
            <p:ph type="body" idx="4294967295"/>
          </p:nvPr>
        </p:nvSpPr>
        <p:spPr/>
        <p:txBody>
          <a:bodyPr>
            <a:normAutofit/>
          </a:bodyPr>
          <a:lstStyle/>
          <a:p>
            <a:pPr>
              <a:lnSpc>
                <a:spcPct val="140000"/>
              </a:lnSpc>
              <a:buFont typeface="Wingdings" panose="05000000000000000000" pitchFamily="2" charset="2"/>
              <a:buNone/>
            </a:pPr>
            <a:r>
              <a:rPr lang="zh-CN" altLang="en-US" sz="2600" b="1" dirty="0">
                <a:latin typeface="Times New Roman" panose="02020603050405020304" pitchFamily="18" charset="0"/>
                <a:ea typeface="+mj-ea"/>
                <a:cs typeface="Times New Roman" panose="02020603050405020304" pitchFamily="18" charset="0"/>
              </a:rPr>
              <a:t>例</a:t>
            </a:r>
            <a:r>
              <a:rPr lang="en-US" altLang="zh-CN" sz="2600" b="1" dirty="0">
                <a:latin typeface="Times New Roman" panose="02020603050405020304" pitchFamily="18" charset="0"/>
                <a:ea typeface="+mj-ea"/>
                <a:cs typeface="Times New Roman" panose="02020603050405020304" pitchFamily="18" charset="0"/>
              </a:rPr>
              <a:t>1</a:t>
            </a:r>
            <a:r>
              <a:rPr lang="zh-CN" altLang="en-US" sz="2600" b="1" dirty="0">
                <a:latin typeface="Times New Roman" panose="02020603050405020304" pitchFamily="18" charset="0"/>
                <a:ea typeface="+mj-ea"/>
                <a:cs typeface="Times New Roman" panose="02020603050405020304" pitchFamily="18" charset="0"/>
              </a:rPr>
              <a:t>：假设在某程序的执行过程中，浮点操作时间占整个执行时间的</a:t>
            </a:r>
            <a:r>
              <a:rPr lang="en-US" altLang="zh-CN" sz="2600" b="1" dirty="0">
                <a:latin typeface="Times New Roman" panose="02020603050405020304" pitchFamily="18" charset="0"/>
                <a:ea typeface="+mj-ea"/>
                <a:cs typeface="Times New Roman" panose="02020603050405020304" pitchFamily="18" charset="0"/>
              </a:rPr>
              <a:t>10%</a:t>
            </a:r>
            <a:r>
              <a:rPr lang="zh-CN" altLang="en-US" sz="2600" b="1" dirty="0">
                <a:latin typeface="Times New Roman" panose="02020603050405020304" pitchFamily="18" charset="0"/>
                <a:ea typeface="+mj-ea"/>
                <a:cs typeface="Times New Roman" panose="02020603050405020304" pitchFamily="18" charset="0"/>
              </a:rPr>
              <a:t>，现希望对浮点操作加速。</a:t>
            </a:r>
          </a:p>
          <a:p>
            <a:pPr lvl="1">
              <a:lnSpc>
                <a:spcPct val="140000"/>
              </a:lnSpc>
            </a:pPr>
            <a:r>
              <a:rPr lang="zh-CN" altLang="en-US" sz="2600" b="1" dirty="0">
                <a:latin typeface="Times New Roman" panose="02020603050405020304" pitchFamily="18" charset="0"/>
                <a:ea typeface="+mj-ea"/>
                <a:cs typeface="Times New Roman" panose="02020603050405020304" pitchFamily="18" charset="0"/>
              </a:rPr>
              <a:t>设对浮点操作的加速比为</a:t>
            </a:r>
            <a:r>
              <a:rPr lang="en-US" altLang="zh-CN" sz="2600" b="1" dirty="0" err="1">
                <a:latin typeface="Times New Roman" panose="02020603050405020304" pitchFamily="18" charset="0"/>
                <a:ea typeface="+mj-ea"/>
                <a:cs typeface="Times New Roman" panose="02020603050405020304" pitchFamily="18" charset="0"/>
              </a:rPr>
              <a:t>S</a:t>
            </a:r>
            <a:r>
              <a:rPr lang="en-US" altLang="zh-CN" sz="2600" b="1" baseline="-25000" dirty="0" err="1">
                <a:latin typeface="Times New Roman" panose="02020603050405020304" pitchFamily="18" charset="0"/>
                <a:ea typeface="+mj-ea"/>
                <a:cs typeface="Times New Roman" panose="02020603050405020304" pitchFamily="18" charset="0"/>
              </a:rPr>
              <a:t>f</a:t>
            </a:r>
            <a:r>
              <a:rPr lang="zh-CN" altLang="en-US" sz="2600" b="1" dirty="0">
                <a:latin typeface="Times New Roman" panose="02020603050405020304" pitchFamily="18" charset="0"/>
                <a:ea typeface="+mj-ea"/>
                <a:cs typeface="Times New Roman" panose="02020603050405020304" pitchFamily="18" charset="0"/>
              </a:rPr>
              <a:t>，请推导出程序总的加速比</a:t>
            </a:r>
            <a:r>
              <a:rPr lang="en-US" altLang="zh-CN" sz="2600" b="1" dirty="0">
                <a:latin typeface="Times New Roman" panose="02020603050405020304" pitchFamily="18" charset="0"/>
                <a:ea typeface="+mj-ea"/>
                <a:cs typeface="Times New Roman" panose="02020603050405020304" pitchFamily="18" charset="0"/>
              </a:rPr>
              <a:t>S</a:t>
            </a:r>
            <a:r>
              <a:rPr lang="zh-CN" altLang="en-US" sz="2600" b="1" dirty="0">
                <a:latin typeface="Times New Roman" panose="02020603050405020304" pitchFamily="18" charset="0"/>
                <a:ea typeface="+mj-ea"/>
                <a:cs typeface="Times New Roman" panose="02020603050405020304" pitchFamily="18" charset="0"/>
              </a:rPr>
              <a:t>和</a:t>
            </a:r>
            <a:r>
              <a:rPr lang="en-US" altLang="zh-CN" sz="2600" b="1" dirty="0" err="1">
                <a:latin typeface="Times New Roman" panose="02020603050405020304" pitchFamily="18" charset="0"/>
                <a:ea typeface="+mj-ea"/>
                <a:cs typeface="Times New Roman" panose="02020603050405020304" pitchFamily="18" charset="0"/>
              </a:rPr>
              <a:t>S</a:t>
            </a:r>
            <a:r>
              <a:rPr lang="en-US" altLang="zh-CN" sz="2600" b="1" baseline="-25000" dirty="0" err="1">
                <a:latin typeface="Times New Roman" panose="02020603050405020304" pitchFamily="18" charset="0"/>
                <a:ea typeface="+mj-ea"/>
                <a:cs typeface="Times New Roman" panose="02020603050405020304" pitchFamily="18" charset="0"/>
              </a:rPr>
              <a:t>f</a:t>
            </a:r>
            <a:r>
              <a:rPr lang="en-US" altLang="zh-CN" sz="2600" b="1" baseline="-25000" dirty="0">
                <a:latin typeface="Times New Roman" panose="02020603050405020304" pitchFamily="18" charset="0"/>
                <a:ea typeface="+mj-ea"/>
                <a:cs typeface="Times New Roman" panose="02020603050405020304" pitchFamily="18" charset="0"/>
              </a:rPr>
              <a:t> </a:t>
            </a:r>
            <a:r>
              <a:rPr lang="zh-CN" altLang="en-US" sz="2600" b="1" dirty="0">
                <a:latin typeface="Times New Roman" panose="02020603050405020304" pitchFamily="18" charset="0"/>
                <a:ea typeface="+mj-ea"/>
                <a:cs typeface="Times New Roman" panose="02020603050405020304" pitchFamily="18" charset="0"/>
              </a:rPr>
              <a:t>之间的关系表达式；</a:t>
            </a:r>
          </a:p>
          <a:p>
            <a:pPr lvl="1">
              <a:lnSpc>
                <a:spcPct val="140000"/>
              </a:lnSpc>
            </a:pPr>
            <a:r>
              <a:rPr lang="zh-CN" altLang="en-US" sz="2600" b="1" dirty="0">
                <a:latin typeface="Times New Roman" panose="02020603050405020304" pitchFamily="18" charset="0"/>
                <a:ea typeface="+mj-ea"/>
                <a:cs typeface="Times New Roman" panose="02020603050405020304" pitchFamily="18" charset="0"/>
              </a:rPr>
              <a:t>请问程序的最大加速比可达多少？</a:t>
            </a:r>
          </a:p>
        </p:txBody>
      </p:sp>
      <p:sp>
        <p:nvSpPr>
          <p:cNvPr id="2" name="日期占位符 1">
            <a:extLst>
              <a:ext uri="{FF2B5EF4-FFF2-40B4-BE49-F238E27FC236}">
                <a16:creationId xmlns:a16="http://schemas.microsoft.com/office/drawing/2014/main" id="{257BF161-762A-3872-07E1-18453E8A18E2}"/>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3C844653-FC65-A50D-C2E0-8A1470FB978E}"/>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44070839-9C96-F05E-197D-0E4C1E974584}"/>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38</a:t>
            </a:fld>
            <a:endParaRPr lang="en-US" altLang="zh-CN"/>
          </a:p>
        </p:txBody>
      </p:sp>
    </p:spTree>
    <p:extLst>
      <p:ext uri="{BB962C8B-B14F-4D97-AF65-F5344CB8AC3E}">
        <p14:creationId xmlns:p14="http://schemas.microsoft.com/office/powerpoint/2010/main" val="126615932"/>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5"/>
          <p:cNvSpPr>
            <a:spLocks noGrp="1" noChangeArrowheads="1"/>
          </p:cNvSpPr>
          <p:nvPr>
            <p:ph type="title" idx="4294967295"/>
          </p:nvPr>
        </p:nvSpPr>
        <p:spPr>
          <a:xfrm>
            <a:off x="457200" y="116632"/>
            <a:ext cx="8229600" cy="1143000"/>
          </a:xfrm>
        </p:spPr>
        <p:txBody>
          <a:bodyPr>
            <a:normAutofit/>
          </a:bodyPr>
          <a:lstStyle/>
          <a:p>
            <a:r>
              <a:rPr kumimoji="1" lang="en-US" altLang="zh-CN" sz="3600" b="1" dirty="0">
                <a:latin typeface="Times New Roman" panose="02020603050405020304" pitchFamily="18" charset="0"/>
                <a:cs typeface="Times New Roman" panose="02020603050405020304" pitchFamily="18" charset="0"/>
              </a:rPr>
              <a:t>Amdahl</a:t>
            </a:r>
            <a:r>
              <a:rPr kumimoji="1" lang="zh-CN" altLang="en-US" sz="3600" b="1" dirty="0">
                <a:latin typeface="Times New Roman" panose="02020603050405020304" pitchFamily="18" charset="0"/>
                <a:cs typeface="Times New Roman" panose="02020603050405020304" pitchFamily="18" charset="0"/>
              </a:rPr>
              <a:t>定律练习</a:t>
            </a:r>
          </a:p>
        </p:txBody>
      </p:sp>
      <p:grpSp>
        <p:nvGrpSpPr>
          <p:cNvPr id="98307" name="Group 16"/>
          <p:cNvGrpSpPr/>
          <p:nvPr/>
        </p:nvGrpSpPr>
        <p:grpSpPr bwMode="auto">
          <a:xfrm>
            <a:off x="774700" y="1700213"/>
            <a:ext cx="3187700" cy="414337"/>
            <a:chOff x="724" y="3024"/>
            <a:chExt cx="2008" cy="261"/>
          </a:xfrm>
        </p:grpSpPr>
        <p:sp>
          <p:nvSpPr>
            <p:cNvPr id="98316" name="Rectangle 5"/>
            <p:cNvSpPr>
              <a:spLocks noChangeArrowheads="1"/>
            </p:cNvSpPr>
            <p:nvPr/>
          </p:nvSpPr>
          <p:spPr bwMode="auto">
            <a:xfrm>
              <a:off x="724" y="3024"/>
              <a:ext cx="664" cy="261"/>
            </a:xfrm>
            <a:prstGeom prst="rect">
              <a:avLst/>
            </a:prstGeom>
            <a:solidFill>
              <a:srgbClr val="FF0000"/>
            </a:solidFill>
            <a:ln w="12700">
              <a:solidFill>
                <a:srgbClr val="000066"/>
              </a:solidFill>
              <a:miter lim="800000"/>
            </a:ln>
          </p:spPr>
          <p:txBody>
            <a:bodyPr wrap="none" anchor="ctr"/>
            <a:lstStyle/>
            <a:p>
              <a:endParaRPr lang="zh-CN" altLang="en-US" sz="1800"/>
            </a:p>
          </p:txBody>
        </p:sp>
        <p:sp>
          <p:nvSpPr>
            <p:cNvPr id="98317" name="Rectangle 6"/>
            <p:cNvSpPr>
              <a:spLocks noChangeArrowheads="1"/>
            </p:cNvSpPr>
            <p:nvPr/>
          </p:nvSpPr>
          <p:spPr bwMode="auto">
            <a:xfrm>
              <a:off x="1396" y="3024"/>
              <a:ext cx="664" cy="261"/>
            </a:xfrm>
            <a:prstGeom prst="rect">
              <a:avLst/>
            </a:prstGeom>
            <a:solidFill>
              <a:srgbClr val="00FF00"/>
            </a:solidFill>
            <a:ln w="12700">
              <a:solidFill>
                <a:srgbClr val="000066"/>
              </a:solidFill>
              <a:miter lim="800000"/>
            </a:ln>
          </p:spPr>
          <p:txBody>
            <a:bodyPr wrap="none" anchor="ctr"/>
            <a:lstStyle/>
            <a:p>
              <a:endParaRPr lang="zh-CN" altLang="en-US" sz="1800"/>
            </a:p>
          </p:txBody>
        </p:sp>
        <p:sp>
          <p:nvSpPr>
            <p:cNvPr id="98318" name="Rectangle 7"/>
            <p:cNvSpPr>
              <a:spLocks noChangeArrowheads="1"/>
            </p:cNvSpPr>
            <p:nvPr/>
          </p:nvSpPr>
          <p:spPr bwMode="auto">
            <a:xfrm>
              <a:off x="2068" y="3024"/>
              <a:ext cx="664" cy="261"/>
            </a:xfrm>
            <a:prstGeom prst="rect">
              <a:avLst/>
            </a:prstGeom>
            <a:solidFill>
              <a:srgbClr val="FF0000"/>
            </a:solidFill>
            <a:ln w="12700">
              <a:solidFill>
                <a:srgbClr val="000066"/>
              </a:solidFill>
              <a:miter lim="800000"/>
            </a:ln>
          </p:spPr>
          <p:txBody>
            <a:bodyPr wrap="none" anchor="ctr"/>
            <a:lstStyle/>
            <a:p>
              <a:endParaRPr lang="zh-CN" altLang="en-US" sz="1800"/>
            </a:p>
          </p:txBody>
        </p:sp>
      </p:grpSp>
      <p:grpSp>
        <p:nvGrpSpPr>
          <p:cNvPr id="98308" name="Group 15"/>
          <p:cNvGrpSpPr/>
          <p:nvPr/>
        </p:nvGrpSpPr>
        <p:grpSpPr bwMode="auto">
          <a:xfrm>
            <a:off x="850900" y="3148013"/>
            <a:ext cx="2730500" cy="414337"/>
            <a:chOff x="3412" y="3024"/>
            <a:chExt cx="1720" cy="261"/>
          </a:xfrm>
        </p:grpSpPr>
        <p:sp>
          <p:nvSpPr>
            <p:cNvPr id="98313" name="Rectangle 8"/>
            <p:cNvSpPr>
              <a:spLocks noChangeArrowheads="1"/>
            </p:cNvSpPr>
            <p:nvPr/>
          </p:nvSpPr>
          <p:spPr bwMode="auto">
            <a:xfrm>
              <a:off x="3412" y="3024"/>
              <a:ext cx="664" cy="261"/>
            </a:xfrm>
            <a:prstGeom prst="rect">
              <a:avLst/>
            </a:prstGeom>
            <a:solidFill>
              <a:srgbClr val="FF0000"/>
            </a:solidFill>
            <a:ln w="12700">
              <a:solidFill>
                <a:srgbClr val="000066"/>
              </a:solidFill>
              <a:miter lim="800000"/>
            </a:ln>
          </p:spPr>
          <p:txBody>
            <a:bodyPr wrap="none" anchor="ctr"/>
            <a:lstStyle/>
            <a:p>
              <a:endParaRPr lang="zh-CN" altLang="en-US" sz="1800"/>
            </a:p>
          </p:txBody>
        </p:sp>
        <p:sp>
          <p:nvSpPr>
            <p:cNvPr id="98314" name="Rectangle 9"/>
            <p:cNvSpPr>
              <a:spLocks noChangeArrowheads="1"/>
            </p:cNvSpPr>
            <p:nvPr/>
          </p:nvSpPr>
          <p:spPr bwMode="auto">
            <a:xfrm>
              <a:off x="4084" y="3024"/>
              <a:ext cx="376" cy="261"/>
            </a:xfrm>
            <a:prstGeom prst="rect">
              <a:avLst/>
            </a:prstGeom>
            <a:solidFill>
              <a:srgbClr val="00FF00"/>
            </a:solidFill>
            <a:ln w="12700">
              <a:solidFill>
                <a:srgbClr val="000066"/>
              </a:solidFill>
              <a:miter lim="800000"/>
            </a:ln>
          </p:spPr>
          <p:txBody>
            <a:bodyPr wrap="none" anchor="ctr"/>
            <a:lstStyle/>
            <a:p>
              <a:endParaRPr lang="zh-CN" altLang="en-US" sz="1800"/>
            </a:p>
          </p:txBody>
        </p:sp>
        <p:sp>
          <p:nvSpPr>
            <p:cNvPr id="98315" name="Rectangle 10"/>
            <p:cNvSpPr>
              <a:spLocks noChangeArrowheads="1"/>
            </p:cNvSpPr>
            <p:nvPr/>
          </p:nvSpPr>
          <p:spPr bwMode="auto">
            <a:xfrm>
              <a:off x="4468" y="3024"/>
              <a:ext cx="664" cy="261"/>
            </a:xfrm>
            <a:prstGeom prst="rect">
              <a:avLst/>
            </a:prstGeom>
            <a:solidFill>
              <a:srgbClr val="FF0000"/>
            </a:solidFill>
            <a:ln w="12700">
              <a:solidFill>
                <a:srgbClr val="000066"/>
              </a:solidFill>
              <a:miter lim="800000"/>
            </a:ln>
          </p:spPr>
          <p:txBody>
            <a:bodyPr wrap="none" anchor="ctr"/>
            <a:lstStyle/>
            <a:p>
              <a:endParaRPr lang="zh-CN" altLang="en-US" sz="1800"/>
            </a:p>
          </p:txBody>
        </p:sp>
      </p:grpSp>
      <p:sp>
        <p:nvSpPr>
          <p:cNvPr id="98309" name="Line 11"/>
          <p:cNvSpPr>
            <a:spLocks noChangeShapeType="1"/>
          </p:cNvSpPr>
          <p:nvPr/>
        </p:nvSpPr>
        <p:spPr bwMode="auto">
          <a:xfrm>
            <a:off x="2268538" y="2462213"/>
            <a:ext cx="0" cy="457200"/>
          </a:xfrm>
          <a:prstGeom prst="line">
            <a:avLst/>
          </a:prstGeom>
          <a:noFill/>
          <a:ln w="38100" cmpd="dbl">
            <a:solidFill>
              <a:srgbClr val="00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8310" name="Object 14"/>
          <p:cNvGraphicFramePr>
            <a:graphicFrameLocks noChangeAspect="1"/>
          </p:cNvGraphicFramePr>
          <p:nvPr/>
        </p:nvGraphicFramePr>
        <p:xfrm>
          <a:off x="5364163" y="1268413"/>
          <a:ext cx="3352800" cy="4827587"/>
        </p:xfrm>
        <a:graphic>
          <a:graphicData uri="http://schemas.openxmlformats.org/presentationml/2006/ole">
            <mc:AlternateContent xmlns:mc="http://schemas.openxmlformats.org/markup-compatibility/2006">
              <mc:Choice xmlns:v="urn:schemas-microsoft-com:vml" Requires="v">
                <p:oleObj name="Microsoft 公式 3.0" r:id="rId2" imgW="1168400" imgH="1968500" progId="Equation.3">
                  <p:embed/>
                </p:oleObj>
              </mc:Choice>
              <mc:Fallback>
                <p:oleObj name="Microsoft 公式 3.0" r:id="rId2" imgW="1168400" imgH="1968500" progId="Equation.3">
                  <p:embed/>
                  <p:pic>
                    <p:nvPicPr>
                      <p:cNvPr id="9831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163" y="1268413"/>
                        <a:ext cx="3352800" cy="482758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11" name="Text Box 18"/>
          <p:cNvSpPr txBox="1">
            <a:spLocks noChangeArrowheads="1"/>
          </p:cNvSpPr>
          <p:nvPr/>
        </p:nvSpPr>
        <p:spPr bwMode="auto">
          <a:xfrm>
            <a:off x="7019925" y="2205038"/>
            <a:ext cx="144463" cy="3667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en-US" altLang="zh-CN" sz="1800" i="1" dirty="0">
                <a:latin typeface="Verdana" panose="020B0604030504040204" pitchFamily="34" charset="0"/>
              </a:rPr>
              <a:t>f</a:t>
            </a:r>
          </a:p>
        </p:txBody>
      </p:sp>
      <p:sp>
        <p:nvSpPr>
          <p:cNvPr id="98312" name="Text Box 16"/>
          <p:cNvSpPr txBox="1">
            <a:spLocks noChangeArrowheads="1"/>
          </p:cNvSpPr>
          <p:nvPr/>
        </p:nvSpPr>
        <p:spPr bwMode="auto">
          <a:xfrm>
            <a:off x="755650" y="4221163"/>
            <a:ext cx="40052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r>
              <a:rPr lang="en-US" altLang="zh-CN" sz="2800" i="1" dirty="0">
                <a:latin typeface="+mj-ea"/>
                <a:ea typeface="+mj-ea"/>
              </a:rPr>
              <a:t>S</a:t>
            </a:r>
            <a:r>
              <a:rPr lang="zh-CN" altLang="en-US" sz="2800" dirty="0">
                <a:latin typeface="+mj-ea"/>
                <a:ea typeface="+mj-ea"/>
              </a:rPr>
              <a:t>与</a:t>
            </a:r>
            <a:r>
              <a:rPr lang="en-US" altLang="zh-CN" sz="2800" i="1" dirty="0" err="1">
                <a:latin typeface="+mj-ea"/>
                <a:ea typeface="+mj-ea"/>
              </a:rPr>
              <a:t>S</a:t>
            </a:r>
            <a:r>
              <a:rPr lang="en-US" altLang="zh-CN" sz="2800" i="1" baseline="-25000" dirty="0" err="1">
                <a:latin typeface="+mj-ea"/>
                <a:ea typeface="+mj-ea"/>
              </a:rPr>
              <a:t>f</a:t>
            </a:r>
            <a:r>
              <a:rPr lang="zh-CN" altLang="en-US" sz="2800" dirty="0">
                <a:latin typeface="+mj-ea"/>
                <a:ea typeface="+mj-ea"/>
              </a:rPr>
              <a:t>的关系表达式为：</a:t>
            </a:r>
          </a:p>
        </p:txBody>
      </p:sp>
      <p:sp>
        <p:nvSpPr>
          <p:cNvPr id="2" name="日期占位符 1">
            <a:extLst>
              <a:ext uri="{FF2B5EF4-FFF2-40B4-BE49-F238E27FC236}">
                <a16:creationId xmlns:a16="http://schemas.microsoft.com/office/drawing/2014/main" id="{DA9AC78B-51F4-45F9-687A-BAEA591160A4}"/>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E294B843-7C80-04D5-CACA-88CB5BCF04A2}"/>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F880919A-1D11-B7C3-2A81-628561A076D2}"/>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39</a:t>
            </a:fld>
            <a:endParaRPr lang="en-US" altLang="zh-CN"/>
          </a:p>
        </p:txBody>
      </p:sp>
    </p:spTree>
    <p:extLst>
      <p:ext uri="{BB962C8B-B14F-4D97-AF65-F5344CB8AC3E}">
        <p14:creationId xmlns:p14="http://schemas.microsoft.com/office/powerpoint/2010/main" val="2966724968"/>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idx="4294967295"/>
          </p:nvPr>
        </p:nvSpPr>
        <p:spPr>
          <a:xfrm>
            <a:off x="457200" y="197432"/>
            <a:ext cx="8229600" cy="1143000"/>
          </a:xfrm>
        </p:spPr>
        <p:txBody>
          <a:bodyPr>
            <a:normAutofit/>
          </a:bodyPr>
          <a:lstStyle/>
          <a:p>
            <a:r>
              <a:rPr kumimoji="1" lang="en-US" altLang="zh-CN" sz="3600" b="1" dirty="0">
                <a:latin typeface="Times New Roman" panose="02020603050405020304" pitchFamily="18" charset="0"/>
                <a:cs typeface="Times New Roman" panose="02020603050405020304" pitchFamily="18" charset="0"/>
              </a:rPr>
              <a:t>Amdahl</a:t>
            </a:r>
            <a:r>
              <a:rPr kumimoji="1" lang="zh-CN" altLang="en-US" sz="3600" b="1" dirty="0">
                <a:latin typeface="Times New Roman" panose="02020603050405020304" pitchFamily="18" charset="0"/>
                <a:cs typeface="Times New Roman" panose="02020603050405020304" pitchFamily="18" charset="0"/>
              </a:rPr>
              <a:t>定律练习</a:t>
            </a:r>
          </a:p>
        </p:txBody>
      </p:sp>
      <p:grpSp>
        <p:nvGrpSpPr>
          <p:cNvPr id="99331" name="Group 16"/>
          <p:cNvGrpSpPr/>
          <p:nvPr/>
        </p:nvGrpSpPr>
        <p:grpSpPr bwMode="auto">
          <a:xfrm>
            <a:off x="774700" y="1700213"/>
            <a:ext cx="3187700" cy="414337"/>
            <a:chOff x="724" y="3024"/>
            <a:chExt cx="2008" cy="261"/>
          </a:xfrm>
        </p:grpSpPr>
        <p:sp>
          <p:nvSpPr>
            <p:cNvPr id="99340" name="Rectangle 5"/>
            <p:cNvSpPr>
              <a:spLocks noChangeArrowheads="1"/>
            </p:cNvSpPr>
            <p:nvPr/>
          </p:nvSpPr>
          <p:spPr bwMode="auto">
            <a:xfrm>
              <a:off x="724" y="3024"/>
              <a:ext cx="664" cy="261"/>
            </a:xfrm>
            <a:prstGeom prst="rect">
              <a:avLst/>
            </a:prstGeom>
            <a:solidFill>
              <a:srgbClr val="FF0000"/>
            </a:solidFill>
            <a:ln w="12700">
              <a:solidFill>
                <a:srgbClr val="000066"/>
              </a:solidFill>
              <a:miter lim="800000"/>
            </a:ln>
          </p:spPr>
          <p:txBody>
            <a:bodyPr wrap="none" anchor="ctr"/>
            <a:lstStyle/>
            <a:p>
              <a:endParaRPr lang="zh-CN" altLang="en-US" sz="1800"/>
            </a:p>
          </p:txBody>
        </p:sp>
        <p:sp>
          <p:nvSpPr>
            <p:cNvPr id="99341" name="Rectangle 6"/>
            <p:cNvSpPr>
              <a:spLocks noChangeArrowheads="1"/>
            </p:cNvSpPr>
            <p:nvPr/>
          </p:nvSpPr>
          <p:spPr bwMode="auto">
            <a:xfrm>
              <a:off x="1396" y="3024"/>
              <a:ext cx="664" cy="261"/>
            </a:xfrm>
            <a:prstGeom prst="rect">
              <a:avLst/>
            </a:prstGeom>
            <a:solidFill>
              <a:srgbClr val="00FF00"/>
            </a:solidFill>
            <a:ln w="12700">
              <a:solidFill>
                <a:srgbClr val="000066"/>
              </a:solidFill>
              <a:miter lim="800000"/>
            </a:ln>
          </p:spPr>
          <p:txBody>
            <a:bodyPr wrap="none" anchor="ctr"/>
            <a:lstStyle/>
            <a:p>
              <a:endParaRPr lang="zh-CN" altLang="en-US" sz="1800"/>
            </a:p>
          </p:txBody>
        </p:sp>
        <p:sp>
          <p:nvSpPr>
            <p:cNvPr id="99342" name="Rectangle 7"/>
            <p:cNvSpPr>
              <a:spLocks noChangeArrowheads="1"/>
            </p:cNvSpPr>
            <p:nvPr/>
          </p:nvSpPr>
          <p:spPr bwMode="auto">
            <a:xfrm>
              <a:off x="2068" y="3024"/>
              <a:ext cx="664" cy="261"/>
            </a:xfrm>
            <a:prstGeom prst="rect">
              <a:avLst/>
            </a:prstGeom>
            <a:solidFill>
              <a:srgbClr val="FF0000"/>
            </a:solidFill>
            <a:ln w="12700">
              <a:solidFill>
                <a:srgbClr val="000066"/>
              </a:solidFill>
              <a:miter lim="800000"/>
            </a:ln>
          </p:spPr>
          <p:txBody>
            <a:bodyPr wrap="none" anchor="ctr"/>
            <a:lstStyle/>
            <a:p>
              <a:endParaRPr lang="zh-CN" altLang="en-US" sz="1800"/>
            </a:p>
          </p:txBody>
        </p:sp>
      </p:grpSp>
      <p:grpSp>
        <p:nvGrpSpPr>
          <p:cNvPr id="99332" name="Group 15"/>
          <p:cNvGrpSpPr/>
          <p:nvPr/>
        </p:nvGrpSpPr>
        <p:grpSpPr bwMode="auto">
          <a:xfrm>
            <a:off x="850900" y="3148013"/>
            <a:ext cx="2730500" cy="414337"/>
            <a:chOff x="3412" y="3024"/>
            <a:chExt cx="1720" cy="261"/>
          </a:xfrm>
        </p:grpSpPr>
        <p:sp>
          <p:nvSpPr>
            <p:cNvPr id="99337" name="Rectangle 8"/>
            <p:cNvSpPr>
              <a:spLocks noChangeArrowheads="1"/>
            </p:cNvSpPr>
            <p:nvPr/>
          </p:nvSpPr>
          <p:spPr bwMode="auto">
            <a:xfrm>
              <a:off x="3412" y="3024"/>
              <a:ext cx="664" cy="261"/>
            </a:xfrm>
            <a:prstGeom prst="rect">
              <a:avLst/>
            </a:prstGeom>
            <a:solidFill>
              <a:srgbClr val="FF0000"/>
            </a:solidFill>
            <a:ln w="12700">
              <a:solidFill>
                <a:srgbClr val="000066"/>
              </a:solidFill>
              <a:miter lim="800000"/>
            </a:ln>
          </p:spPr>
          <p:txBody>
            <a:bodyPr wrap="none" anchor="ctr"/>
            <a:lstStyle/>
            <a:p>
              <a:endParaRPr lang="zh-CN" altLang="en-US" sz="1800"/>
            </a:p>
          </p:txBody>
        </p:sp>
        <p:sp>
          <p:nvSpPr>
            <p:cNvPr id="99338" name="Rectangle 9"/>
            <p:cNvSpPr>
              <a:spLocks noChangeArrowheads="1"/>
            </p:cNvSpPr>
            <p:nvPr/>
          </p:nvSpPr>
          <p:spPr bwMode="auto">
            <a:xfrm>
              <a:off x="4084" y="3024"/>
              <a:ext cx="376" cy="261"/>
            </a:xfrm>
            <a:prstGeom prst="rect">
              <a:avLst/>
            </a:prstGeom>
            <a:solidFill>
              <a:srgbClr val="00FF00"/>
            </a:solidFill>
            <a:ln w="12700">
              <a:solidFill>
                <a:srgbClr val="000066"/>
              </a:solidFill>
              <a:miter lim="800000"/>
            </a:ln>
          </p:spPr>
          <p:txBody>
            <a:bodyPr wrap="none" anchor="ctr"/>
            <a:lstStyle/>
            <a:p>
              <a:endParaRPr lang="zh-CN" altLang="en-US" sz="1800"/>
            </a:p>
          </p:txBody>
        </p:sp>
        <p:sp>
          <p:nvSpPr>
            <p:cNvPr id="99339" name="Rectangle 10"/>
            <p:cNvSpPr>
              <a:spLocks noChangeArrowheads="1"/>
            </p:cNvSpPr>
            <p:nvPr/>
          </p:nvSpPr>
          <p:spPr bwMode="auto">
            <a:xfrm>
              <a:off x="4468" y="3024"/>
              <a:ext cx="664" cy="261"/>
            </a:xfrm>
            <a:prstGeom prst="rect">
              <a:avLst/>
            </a:prstGeom>
            <a:solidFill>
              <a:srgbClr val="FF0000"/>
            </a:solidFill>
            <a:ln w="12700">
              <a:solidFill>
                <a:srgbClr val="000066"/>
              </a:solidFill>
              <a:miter lim="800000"/>
            </a:ln>
          </p:spPr>
          <p:txBody>
            <a:bodyPr wrap="none" anchor="ctr"/>
            <a:lstStyle/>
            <a:p>
              <a:endParaRPr lang="zh-CN" altLang="en-US" sz="1800"/>
            </a:p>
          </p:txBody>
        </p:sp>
      </p:grpSp>
      <p:sp>
        <p:nvSpPr>
          <p:cNvPr id="99333" name="Line 11"/>
          <p:cNvSpPr>
            <a:spLocks noChangeShapeType="1"/>
          </p:cNvSpPr>
          <p:nvPr/>
        </p:nvSpPr>
        <p:spPr bwMode="auto">
          <a:xfrm>
            <a:off x="2268538" y="2462213"/>
            <a:ext cx="0" cy="457200"/>
          </a:xfrm>
          <a:prstGeom prst="line">
            <a:avLst/>
          </a:prstGeom>
          <a:noFill/>
          <a:ln w="38100" cmpd="dbl">
            <a:solidFill>
              <a:srgbClr val="00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99334" name="Object 17"/>
          <p:cNvGraphicFramePr>
            <a:graphicFrameLocks noChangeAspect="1"/>
          </p:cNvGraphicFramePr>
          <p:nvPr/>
        </p:nvGraphicFramePr>
        <p:xfrm>
          <a:off x="4756422" y="2564904"/>
          <a:ext cx="3187700" cy="1377950"/>
        </p:xfrm>
        <a:graphic>
          <a:graphicData uri="http://schemas.openxmlformats.org/presentationml/2006/ole">
            <mc:AlternateContent xmlns:mc="http://schemas.openxmlformats.org/markup-compatibility/2006">
              <mc:Choice xmlns:v="urn:schemas-microsoft-com:vml" Requires="v">
                <p:oleObj name="Microsoft 公式 3.0" r:id="rId2" imgW="1320800" imgH="838200" progId="Equation.3">
                  <p:embed/>
                </p:oleObj>
              </mc:Choice>
              <mc:Fallback>
                <p:oleObj name="Microsoft 公式 3.0" r:id="rId2" imgW="1320800" imgH="838200" progId="Equation.3">
                  <p:embed/>
                  <p:pic>
                    <p:nvPicPr>
                      <p:cNvPr id="99334"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6422" y="2564904"/>
                        <a:ext cx="3187700" cy="1377950"/>
                      </a:xfrm>
                      <a:prstGeom prst="rect">
                        <a:avLst/>
                      </a:prstGeom>
                      <a:noFill/>
                      <a:ln>
                        <a:noFill/>
                      </a:ln>
                      <a:effectLst/>
                    </p:spPr>
                  </p:pic>
                </p:oleObj>
              </mc:Fallback>
            </mc:AlternateContent>
          </a:graphicData>
        </a:graphic>
      </p:graphicFrame>
      <p:sp>
        <p:nvSpPr>
          <p:cNvPr id="99336" name="Text Box 15"/>
          <p:cNvSpPr txBox="1">
            <a:spLocks noChangeArrowheads="1"/>
          </p:cNvSpPr>
          <p:nvPr/>
        </p:nvSpPr>
        <p:spPr bwMode="auto">
          <a:xfrm>
            <a:off x="4355976" y="1469380"/>
            <a:ext cx="39885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r>
              <a:rPr lang="zh-CN" altLang="en-US" sz="2400" dirty="0">
                <a:latin typeface="Verdana" panose="020B0604030504040204" pitchFamily="34" charset="0"/>
              </a:rPr>
              <a:t>程序的最大加速比</a:t>
            </a:r>
            <a:r>
              <a:rPr lang="en-US" altLang="zh-CN" sz="2400" i="1" dirty="0" err="1">
                <a:latin typeface="Verdana" panose="020B0604030504040204" pitchFamily="34" charset="0"/>
              </a:rPr>
              <a:t>S</a:t>
            </a:r>
            <a:r>
              <a:rPr lang="en-US" altLang="zh-CN" sz="2400" i="1" baseline="-25000" dirty="0" err="1">
                <a:latin typeface="Verdana" panose="020B0604030504040204" pitchFamily="34" charset="0"/>
              </a:rPr>
              <a:t>max</a:t>
            </a:r>
            <a:r>
              <a:rPr lang="zh-CN" altLang="en-US" sz="2400" dirty="0">
                <a:latin typeface="Verdana" panose="020B0604030504040204" pitchFamily="34" charset="0"/>
              </a:rPr>
              <a:t>为：</a:t>
            </a:r>
          </a:p>
        </p:txBody>
      </p:sp>
      <p:sp>
        <p:nvSpPr>
          <p:cNvPr id="2" name="日期占位符 1">
            <a:extLst>
              <a:ext uri="{FF2B5EF4-FFF2-40B4-BE49-F238E27FC236}">
                <a16:creationId xmlns:a16="http://schemas.microsoft.com/office/drawing/2014/main" id="{2405DBBD-7891-73E9-D6C3-59D80A19B8A9}"/>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051DAC20-95A1-C703-5FBF-82CCA47E8F43}"/>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E0262647-3FFB-7445-E66D-3539E75C1282}"/>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40</a:t>
            </a:fld>
            <a:endParaRPr lang="en-US" altLang="zh-CN"/>
          </a:p>
        </p:txBody>
      </p:sp>
    </p:spTree>
    <p:extLst>
      <p:ext uri="{BB962C8B-B14F-4D97-AF65-F5344CB8AC3E}">
        <p14:creationId xmlns:p14="http://schemas.microsoft.com/office/powerpoint/2010/main" val="3009026460"/>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6"/>
          <p:cNvSpPr>
            <a:spLocks noGrp="1" noChangeArrowheads="1"/>
          </p:cNvSpPr>
          <p:nvPr>
            <p:ph type="title" idx="4294967295"/>
          </p:nvPr>
        </p:nvSpPr>
        <p:spPr/>
        <p:txBody>
          <a:bodyPr>
            <a:normAutofit/>
          </a:bodyPr>
          <a:lstStyle/>
          <a:p>
            <a:r>
              <a:rPr kumimoji="1" lang="zh-CN" altLang="en-US" sz="3600" b="1" dirty="0">
                <a:latin typeface="+mj-ea"/>
                <a:cs typeface="+mn-cs"/>
              </a:rPr>
              <a:t>程序局部性</a:t>
            </a:r>
          </a:p>
        </p:txBody>
      </p:sp>
      <p:sp>
        <p:nvSpPr>
          <p:cNvPr id="102403" name="Rectangle 7"/>
          <p:cNvSpPr>
            <a:spLocks noGrp="1" noChangeArrowheads="1"/>
          </p:cNvSpPr>
          <p:nvPr>
            <p:ph type="body" idx="4294967295"/>
          </p:nvPr>
        </p:nvSpPr>
        <p:spPr>
          <a:xfrm>
            <a:off x="323528" y="1600200"/>
            <a:ext cx="8784976" cy="4525963"/>
          </a:xfrm>
        </p:spPr>
        <p:txBody>
          <a:bodyPr>
            <a:normAutofit/>
          </a:bodyPr>
          <a:lstStyle/>
          <a:p>
            <a:r>
              <a:rPr lang="zh-CN" altLang="en-US" sz="2400" b="1" dirty="0">
                <a:latin typeface="+mj-ea"/>
                <a:ea typeface="+mj-ea"/>
              </a:rPr>
              <a:t>程序访问地址的分布不是随机的，而是相对地簇聚</a:t>
            </a:r>
          </a:p>
          <a:p>
            <a:pPr lvl="1"/>
            <a:r>
              <a:rPr lang="zh-CN" altLang="en-US" sz="2400" b="1" dirty="0">
                <a:latin typeface="+mj-ea"/>
                <a:ea typeface="+mj-ea"/>
              </a:rPr>
              <a:t>包括时间局部性和程序的空间局部性</a:t>
            </a:r>
          </a:p>
          <a:p>
            <a:r>
              <a:rPr lang="zh-CN" altLang="en-US" sz="2400" b="1" dirty="0">
                <a:latin typeface="+mj-ea"/>
                <a:ea typeface="+mj-ea"/>
              </a:rPr>
              <a:t>程序的时间局部性</a:t>
            </a:r>
          </a:p>
          <a:p>
            <a:pPr lvl="1"/>
            <a:r>
              <a:rPr lang="zh-CN" altLang="en-US" sz="2400" b="1" dirty="0">
                <a:latin typeface="+mj-ea"/>
                <a:ea typeface="+mj-ea"/>
              </a:rPr>
              <a:t>程序即将用到的信息很可能就是目前正在使用的信息</a:t>
            </a:r>
          </a:p>
          <a:p>
            <a:r>
              <a:rPr lang="zh-CN" altLang="en-US" sz="2400" b="1" dirty="0">
                <a:latin typeface="+mj-ea"/>
                <a:ea typeface="+mj-ea"/>
              </a:rPr>
              <a:t>程序的空间局部性</a:t>
            </a:r>
          </a:p>
          <a:p>
            <a:pPr lvl="1"/>
            <a:r>
              <a:rPr lang="zh-CN" altLang="en-US" sz="2400" b="1" dirty="0">
                <a:latin typeface="+mj-ea"/>
                <a:ea typeface="+mj-ea"/>
              </a:rPr>
              <a:t>程序即将用到的信息很可能与目前正在使用的信息在空间上相邻或者临近 </a:t>
            </a:r>
          </a:p>
          <a:p>
            <a:r>
              <a:rPr lang="zh-CN" altLang="en-US" sz="2400" b="1" dirty="0">
                <a:latin typeface="+mj-ea"/>
                <a:ea typeface="+mj-ea"/>
              </a:rPr>
              <a:t>其他局部性</a:t>
            </a:r>
          </a:p>
          <a:p>
            <a:pPr lvl="1"/>
            <a:r>
              <a:rPr lang="zh-CN" altLang="en-US" sz="2400" b="1" dirty="0">
                <a:latin typeface="+mj-ea"/>
                <a:ea typeface="+mj-ea"/>
              </a:rPr>
              <a:t>生产</a:t>
            </a:r>
            <a:r>
              <a:rPr lang="en-US" altLang="zh-CN" sz="2400" b="1" dirty="0">
                <a:latin typeface="+mj-ea"/>
                <a:ea typeface="+mj-ea"/>
              </a:rPr>
              <a:t>-</a:t>
            </a:r>
            <a:r>
              <a:rPr lang="zh-CN" altLang="en-US" sz="2400" b="1" dirty="0">
                <a:latin typeface="+mj-ea"/>
                <a:ea typeface="+mj-ea"/>
              </a:rPr>
              <a:t>消费局部性</a:t>
            </a:r>
          </a:p>
        </p:txBody>
      </p:sp>
      <p:sp>
        <p:nvSpPr>
          <p:cNvPr id="2" name="日期占位符 1">
            <a:extLst>
              <a:ext uri="{FF2B5EF4-FFF2-40B4-BE49-F238E27FC236}">
                <a16:creationId xmlns:a16="http://schemas.microsoft.com/office/drawing/2014/main" id="{8C73DA3D-A377-0F3C-F271-BCC75ED0A937}"/>
              </a:ext>
            </a:extLst>
          </p:cNvPr>
          <p:cNvSpPr>
            <a:spLocks noGrp="1"/>
          </p:cNvSpPr>
          <p:nvPr>
            <p:ph type="dt" sz="half" idx="10"/>
          </p:nvPr>
        </p:nvSpPr>
        <p:spPr>
          <a:xfrm>
            <a:off x="457200" y="6356350"/>
            <a:ext cx="2133600" cy="365125"/>
          </a:xfrm>
        </p:spPr>
        <p:txBody>
          <a:bodyPr/>
          <a:lstStyle/>
          <a:p>
            <a:pPr>
              <a:defRPr/>
            </a:pPr>
            <a:fld id="{4471EA5F-41E1-4CE8-AF72-13017856F2CB}" type="datetime1">
              <a:rPr lang="zh-CN" altLang="en-US" smtClean="0"/>
              <a:t>2025/9/11</a:t>
            </a:fld>
            <a:endParaRPr lang="en-US" altLang="zh-CN" dirty="0"/>
          </a:p>
        </p:txBody>
      </p:sp>
      <p:sp>
        <p:nvSpPr>
          <p:cNvPr id="3" name="页脚占位符 3">
            <a:extLst>
              <a:ext uri="{FF2B5EF4-FFF2-40B4-BE49-F238E27FC236}">
                <a16:creationId xmlns:a16="http://schemas.microsoft.com/office/drawing/2014/main" id="{5514C610-3958-49FC-A6FB-97390E6DE4C8}"/>
              </a:ext>
            </a:extLst>
          </p:cNvPr>
          <p:cNvSpPr>
            <a:spLocks noGrp="1"/>
          </p:cNvSpPr>
          <p:nvPr>
            <p:ph type="ftr" sz="quarter" idx="11"/>
          </p:nvPr>
        </p:nvSpPr>
        <p:spPr>
          <a:xfrm>
            <a:off x="3124200" y="6356350"/>
            <a:ext cx="2895600" cy="365125"/>
          </a:xfrm>
        </p:spPr>
        <p:txBody>
          <a:bodyPr/>
          <a:lstStyle/>
          <a:p>
            <a:pPr>
              <a:defRPr/>
            </a:pPr>
            <a:r>
              <a:rPr lang="zh-CN" altLang="en-US"/>
              <a:t>计算学部 计算机体系结构 刘宏伟</a:t>
            </a:r>
            <a:endParaRPr lang="en-US" altLang="zh-CN"/>
          </a:p>
        </p:txBody>
      </p:sp>
      <p:sp>
        <p:nvSpPr>
          <p:cNvPr id="4" name="灯片编号占位符 4">
            <a:extLst>
              <a:ext uri="{FF2B5EF4-FFF2-40B4-BE49-F238E27FC236}">
                <a16:creationId xmlns:a16="http://schemas.microsoft.com/office/drawing/2014/main" id="{DA7A0B1D-C0AC-ECE6-B161-D68B43D4AC94}"/>
              </a:ext>
            </a:extLst>
          </p:cNvPr>
          <p:cNvSpPr>
            <a:spLocks noGrp="1"/>
          </p:cNvSpPr>
          <p:nvPr>
            <p:ph type="sldNum" sz="quarter" idx="12"/>
          </p:nvPr>
        </p:nvSpPr>
        <p:spPr>
          <a:xfrm>
            <a:off x="6553200" y="6356350"/>
            <a:ext cx="2133600" cy="365125"/>
          </a:xfrm>
        </p:spPr>
        <p:txBody>
          <a:bodyPr/>
          <a:lstStyle/>
          <a:p>
            <a:pPr>
              <a:defRPr/>
            </a:pPr>
            <a:fld id="{8BCAC33D-D29A-48B3-BCD6-381D3D720D26}" type="slidenum">
              <a:rPr lang="zh-CN" altLang="en-US" smtClean="0"/>
              <a:t>41</a:t>
            </a:fld>
            <a:endParaRPr lang="en-US" altLang="zh-CN"/>
          </a:p>
        </p:txBody>
      </p:sp>
    </p:spTree>
    <p:extLst>
      <p:ext uri="{BB962C8B-B14F-4D97-AF65-F5344CB8AC3E}">
        <p14:creationId xmlns:p14="http://schemas.microsoft.com/office/powerpoint/2010/main" val="2505922830"/>
      </p:ext>
    </p:extLst>
  </p:cSld>
  <p:clrMapOvr>
    <a:masterClrMapping/>
  </p:clrMapOvr>
  <p:transition spd="slow"/>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2137</TotalTime>
  <Words>2611</Words>
  <Application>Microsoft Office PowerPoint</Application>
  <PresentationFormat>全屏显示(4:3)</PresentationFormat>
  <Paragraphs>521</Paragraphs>
  <Slides>41</Slides>
  <Notes>11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41</vt:i4>
      </vt:variant>
    </vt:vector>
  </HeadingPairs>
  <TitlesOfParts>
    <vt:vector size="56" baseType="lpstr">
      <vt:lpstr>ˎ̥</vt:lpstr>
      <vt:lpstr>Huawei Sans</vt:lpstr>
      <vt:lpstr>黑体</vt:lpstr>
      <vt:lpstr>华文中宋</vt:lpstr>
      <vt:lpstr>宋体</vt:lpstr>
      <vt:lpstr>Arial</vt:lpstr>
      <vt:lpstr>Calibri</vt:lpstr>
      <vt:lpstr>Tahoma</vt:lpstr>
      <vt:lpstr>Times New Roman</vt:lpstr>
      <vt:lpstr>Verdana</vt:lpstr>
      <vt:lpstr>Wingdings</vt:lpstr>
      <vt:lpstr>Office 主题​​</vt:lpstr>
      <vt:lpstr>图片</vt:lpstr>
      <vt:lpstr>公式</vt:lpstr>
      <vt:lpstr>Microsoft 公式 3.0</vt:lpstr>
      <vt:lpstr>计算机组织与体系结构</vt:lpstr>
      <vt:lpstr>Recap</vt:lpstr>
      <vt:lpstr>1.1.3 系列机和兼容</vt:lpstr>
      <vt:lpstr>兼容性</vt:lpstr>
      <vt:lpstr>1.2.1 计算机的分代和分型</vt:lpstr>
      <vt:lpstr>1.2.6 并行处理技术的发展</vt:lpstr>
      <vt:lpstr>第1章  计算机系统量化分析基础 </vt:lpstr>
      <vt:lpstr>1.2 计算机体系结构的发展</vt:lpstr>
      <vt:lpstr>1.2.6 并行处理技术的发展</vt:lpstr>
      <vt:lpstr>1.2.6 并行处理技术的发展</vt:lpstr>
      <vt:lpstr>PowerPoint 演示文稿</vt:lpstr>
      <vt:lpstr>1.2.6 并行处理技术的发展</vt:lpstr>
      <vt:lpstr>PowerPoint 演示文稿</vt:lpstr>
      <vt:lpstr>PowerPoint 演示文稿</vt:lpstr>
      <vt:lpstr>PowerPoint 演示文稿</vt:lpstr>
      <vt:lpstr>1.2.7 处理器芯片技术的发展 </vt:lpstr>
      <vt:lpstr>主流CPU发展路径</vt:lpstr>
      <vt:lpstr>第２章  计算机系统量化分析基础 </vt:lpstr>
      <vt:lpstr>2.3 计算机系统设计和分析</vt:lpstr>
      <vt:lpstr>2.3.1 成本与价格</vt:lpstr>
      <vt:lpstr>装机部件的成本分布（2015）</vt:lpstr>
      <vt:lpstr>2.3.1 成本与价格</vt:lpstr>
      <vt:lpstr>PowerPoint 演示文稿</vt:lpstr>
      <vt:lpstr>PowerPoint 演示文稿</vt:lpstr>
      <vt:lpstr>成本-时间因素：学习曲线</vt:lpstr>
      <vt:lpstr>2.3 计算机系统设计和分析</vt:lpstr>
      <vt:lpstr>2.3.2 基准测试程序</vt:lpstr>
      <vt:lpstr>测试程序包：www.SPEC.org</vt:lpstr>
      <vt:lpstr>其它测试包</vt:lpstr>
      <vt:lpstr>2.3 计算机系统设计和分析</vt:lpstr>
      <vt:lpstr>2.3.3 量化设计的基本原则</vt:lpstr>
      <vt:lpstr>大概率事件优先的原则</vt:lpstr>
      <vt:lpstr>Amdahl定律</vt:lpstr>
      <vt:lpstr>Amdahl定律</vt:lpstr>
      <vt:lpstr>Amdahl的系统执行时间</vt:lpstr>
      <vt:lpstr>Amdahl的系统加速比</vt:lpstr>
      <vt:lpstr>Amdahl定律的观点</vt:lpstr>
      <vt:lpstr>Amdahl定律练习</vt:lpstr>
      <vt:lpstr>Amdahl定律练习</vt:lpstr>
      <vt:lpstr>Amdahl定律练习</vt:lpstr>
      <vt:lpstr>程序局部性</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suzi</dc:creator>
  <cp:lastModifiedBy>hw liu</cp:lastModifiedBy>
  <cp:revision>1748</cp:revision>
  <cp:lastPrinted>2021-09-13T08:28:26Z</cp:lastPrinted>
  <dcterms:created xsi:type="dcterms:W3CDTF">2113-01-01T00:00:00Z</dcterms:created>
  <dcterms:modified xsi:type="dcterms:W3CDTF">2025-09-11T13:43:58Z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