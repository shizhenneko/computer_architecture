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8"/>
  </p:notesMasterIdLst>
  <p:handoutMasterIdLst>
    <p:handoutMasterId r:id="rId59"/>
  </p:handoutMasterIdLst>
  <p:sldIdLst>
    <p:sldId id="256" r:id="rId2"/>
    <p:sldId id="1033" r:id="rId3"/>
    <p:sldId id="1042" r:id="rId4"/>
    <p:sldId id="1915" r:id="rId5"/>
    <p:sldId id="1916" r:id="rId6"/>
    <p:sldId id="1917" r:id="rId7"/>
    <p:sldId id="1918" r:id="rId8"/>
    <p:sldId id="1711" r:id="rId9"/>
    <p:sldId id="1919" r:id="rId10"/>
    <p:sldId id="1920" r:id="rId11"/>
    <p:sldId id="1772" r:id="rId12"/>
    <p:sldId id="1921" r:id="rId13"/>
    <p:sldId id="1922" r:id="rId14"/>
    <p:sldId id="1923" r:id="rId15"/>
    <p:sldId id="1717" r:id="rId16"/>
    <p:sldId id="1719" r:id="rId17"/>
    <p:sldId id="1720" r:id="rId18"/>
    <p:sldId id="1721" r:id="rId19"/>
    <p:sldId id="1722" r:id="rId20"/>
    <p:sldId id="1723" r:id="rId21"/>
    <p:sldId id="1724" r:id="rId22"/>
    <p:sldId id="1725" r:id="rId23"/>
    <p:sldId id="1726" r:id="rId24"/>
    <p:sldId id="1727" r:id="rId25"/>
    <p:sldId id="1728" r:id="rId26"/>
    <p:sldId id="1729" r:id="rId27"/>
    <p:sldId id="1730" r:id="rId28"/>
    <p:sldId id="1731" r:id="rId29"/>
    <p:sldId id="1732" r:id="rId30"/>
    <p:sldId id="1733" r:id="rId31"/>
    <p:sldId id="1924" r:id="rId32"/>
    <p:sldId id="1734" r:id="rId33"/>
    <p:sldId id="1735" r:id="rId34"/>
    <p:sldId id="1914" r:id="rId35"/>
    <p:sldId id="1778" r:id="rId36"/>
    <p:sldId id="1736" r:id="rId37"/>
    <p:sldId id="1737" r:id="rId38"/>
    <p:sldId id="1738" r:id="rId39"/>
    <p:sldId id="1739" r:id="rId40"/>
    <p:sldId id="1886" r:id="rId41"/>
    <p:sldId id="1860" r:id="rId42"/>
    <p:sldId id="1846" r:id="rId43"/>
    <p:sldId id="1847" r:id="rId44"/>
    <p:sldId id="1848" r:id="rId45"/>
    <p:sldId id="1849" r:id="rId46"/>
    <p:sldId id="1850" r:id="rId47"/>
    <p:sldId id="1851" r:id="rId48"/>
    <p:sldId id="1852" r:id="rId49"/>
    <p:sldId id="1853" r:id="rId50"/>
    <p:sldId id="1854" r:id="rId51"/>
    <p:sldId id="1883" r:id="rId52"/>
    <p:sldId id="1866" r:id="rId53"/>
    <p:sldId id="1867" r:id="rId54"/>
    <p:sldId id="1856" r:id="rId55"/>
    <p:sldId id="1857" r:id="rId56"/>
    <p:sldId id="1858" r:id="rId57"/>
  </p:sldIdLst>
  <p:sldSz cx="9144000" cy="6858000" type="screen4x3"/>
  <p:notesSz cx="7102475" cy="10233025"/>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0066FF"/>
    <a:srgbClr val="0033CC"/>
    <a:srgbClr val="003399"/>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9" autoAdjust="0"/>
    <p:restoredTop sz="82620" autoAdjust="0"/>
  </p:normalViewPr>
  <p:slideViewPr>
    <p:cSldViewPr>
      <p:cViewPr varScale="1">
        <p:scale>
          <a:sx n="73" d="100"/>
          <a:sy n="73" d="100"/>
        </p:scale>
        <p:origin x="1305" y="3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62" d="100"/>
        <a:sy n="162" d="100"/>
      </p:scale>
      <p:origin x="0" y="-3492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7951" cy="511096"/>
          </a:xfrm>
          <a:prstGeom prst="rect">
            <a:avLst/>
          </a:prstGeom>
        </p:spPr>
        <p:txBody>
          <a:bodyPr vert="horz" lIns="99048" tIns="49524" rIns="99048" bIns="49524"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2937" y="0"/>
            <a:ext cx="3077951" cy="511096"/>
          </a:xfrm>
          <a:prstGeom prst="rect">
            <a:avLst/>
          </a:prstGeom>
        </p:spPr>
        <p:txBody>
          <a:bodyPr vert="horz" lIns="99048" tIns="49524" rIns="99048" bIns="49524"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2025/10/21</a:t>
            </a:fld>
            <a:endParaRPr lang="zh-CN" altLang="en-US"/>
          </a:p>
        </p:txBody>
      </p:sp>
      <p:sp>
        <p:nvSpPr>
          <p:cNvPr id="4" name="页脚占位符 3"/>
          <p:cNvSpPr>
            <a:spLocks noGrp="1"/>
          </p:cNvSpPr>
          <p:nvPr>
            <p:ph type="ftr" sz="quarter" idx="2"/>
          </p:nvPr>
        </p:nvSpPr>
        <p:spPr>
          <a:xfrm>
            <a:off x="0" y="9720342"/>
            <a:ext cx="3077951" cy="511096"/>
          </a:xfrm>
          <a:prstGeom prst="rect">
            <a:avLst/>
          </a:prstGeom>
        </p:spPr>
        <p:txBody>
          <a:bodyPr vert="horz" lIns="99048" tIns="49524" rIns="99048" bIns="49524"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2937" y="9720342"/>
            <a:ext cx="3077951" cy="511096"/>
          </a:xfrm>
          <a:prstGeom prst="rect">
            <a:avLst/>
          </a:prstGeom>
        </p:spPr>
        <p:txBody>
          <a:bodyPr vert="horz" lIns="99048" tIns="49524" rIns="99048" bIns="49524"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3236276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7951" cy="511096"/>
          </a:xfrm>
          <a:prstGeom prst="rect">
            <a:avLst/>
          </a:prstGeom>
          <a:noFill/>
          <a:ln w="9525">
            <a:noFill/>
            <a:miter lim="800000"/>
          </a:ln>
          <a:effectLst/>
        </p:spPr>
        <p:txBody>
          <a:bodyPr vert="horz" wrap="square" lIns="99048" tIns="49524" rIns="99048" bIns="49524"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4024525" y="0"/>
            <a:ext cx="3077951" cy="511096"/>
          </a:xfrm>
          <a:prstGeom prst="rect">
            <a:avLst/>
          </a:prstGeom>
          <a:noFill/>
          <a:ln w="9525">
            <a:noFill/>
            <a:miter lim="800000"/>
          </a:ln>
          <a:effectLst/>
        </p:spPr>
        <p:txBody>
          <a:bodyPr vert="horz" wrap="square" lIns="99048" tIns="49524" rIns="99048" bIns="49524"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93775"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46573" y="4860171"/>
            <a:ext cx="5209329" cy="4604623"/>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721930"/>
            <a:ext cx="3077951" cy="511096"/>
          </a:xfrm>
          <a:prstGeom prst="rect">
            <a:avLst/>
          </a:prstGeom>
          <a:noFill/>
          <a:ln w="9525">
            <a:noFill/>
            <a:miter lim="800000"/>
          </a:ln>
          <a:effectLst/>
        </p:spPr>
        <p:txBody>
          <a:bodyPr vert="horz" wrap="square" lIns="99048" tIns="49524" rIns="99048" bIns="49524"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4024525" y="9721930"/>
            <a:ext cx="3077951" cy="511096"/>
          </a:xfrm>
          <a:prstGeom prst="rect">
            <a:avLst/>
          </a:prstGeom>
          <a:noFill/>
          <a:ln w="9525">
            <a:noFill/>
            <a:miter lim="800000"/>
          </a:ln>
          <a:effectLst/>
        </p:spPr>
        <p:txBody>
          <a:bodyPr vert="horz" wrap="square" lIns="99048" tIns="49524" rIns="99048" bIns="49524"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3167289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1</a:t>
            </a:fld>
            <a:endParaRPr lang="en-US" altLang="zh-CN"/>
          </a:p>
        </p:txBody>
      </p:sp>
    </p:spTree>
    <p:extLst>
      <p:ext uri="{BB962C8B-B14F-4D97-AF65-F5344CB8AC3E}">
        <p14:creationId xmlns:p14="http://schemas.microsoft.com/office/powerpoint/2010/main" val="1003212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
        <p:nvSpPr>
          <p:cNvPr id="4" name="灯片编号占位符 3"/>
          <p:cNvSpPr>
            <a:spLocks noGrp="1"/>
          </p:cNvSpPr>
          <p:nvPr>
            <p:ph type="sldNum" sz="quarter" idx="5"/>
          </p:nvPr>
        </p:nvSpPr>
        <p:spPr/>
        <p:txBody>
          <a:bodyPr/>
          <a:lstStyle/>
          <a:p>
            <a:pPr>
              <a:defRPr/>
            </a:pPr>
            <a:fld id="{EEAE3F69-A46D-41DB-98E6-6F55BB6177F1}" type="slidenum">
              <a:rPr lang="zh-CN" altLang="en-US" smtClean="0"/>
              <a:pPr>
                <a:defRPr/>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FCB6EA3-D0A1-4DB0-8DEB-E0EA4804F8AD}" type="slidenum">
              <a:rPr lang="en-US" altLang="zh-CN" smtClean="0">
                <a:latin typeface="Arial" charset="0"/>
              </a:rPr>
              <a:pPr eaLnBrk="1" fontAlgn="base" hangingPunct="1">
                <a:spcBef>
                  <a:spcPct val="0"/>
                </a:spcBef>
                <a:spcAft>
                  <a:spcPct val="0"/>
                </a:spcAft>
              </a:pPr>
              <a:t>5</a:t>
            </a:fld>
            <a:endParaRPr lang="en-US" altLang="zh-CN">
              <a:latin typeface="Arial" charset="0"/>
            </a:endParaRPr>
          </a:p>
        </p:txBody>
      </p:sp>
      <p:sp>
        <p:nvSpPr>
          <p:cNvPr id="55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1A8622C-C3C4-480D-A8AE-3135EE1D11A2}" type="slidenum">
              <a:rPr lang="en-US" altLang="zh-CN" smtClean="0">
                <a:latin typeface="Times New Roman" pitchFamily="18" charset="0"/>
              </a:rPr>
              <a:pPr eaLnBrk="1" fontAlgn="base" hangingPunct="1">
                <a:spcBef>
                  <a:spcPct val="0"/>
                </a:spcBef>
                <a:spcAft>
                  <a:spcPct val="0"/>
                </a:spcAft>
              </a:pPr>
              <a:t>6</a:t>
            </a:fld>
            <a:endParaRPr lang="en-US" altLang="zh-CN">
              <a:latin typeface="Times New Roman" pitchFamily="18" charset="0"/>
            </a:endParaRPr>
          </a:p>
        </p:txBody>
      </p:sp>
      <p:sp>
        <p:nvSpPr>
          <p:cNvPr id="563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56859462-2CC4-4C10-ABFE-4F10ADE0CF4E}" type="slidenum">
              <a:rPr lang="en-US" altLang="zh-CN" smtClean="0">
                <a:latin typeface="Times New Roman" pitchFamily="18" charset="0"/>
              </a:rPr>
              <a:pPr eaLnBrk="1" fontAlgn="base" hangingPunct="1">
                <a:spcBef>
                  <a:spcPct val="0"/>
                </a:spcBef>
                <a:spcAft>
                  <a:spcPct val="0"/>
                </a:spcAft>
              </a:pPr>
              <a:t>7</a:t>
            </a:fld>
            <a:endParaRPr lang="en-US" altLang="zh-CN">
              <a:latin typeface="Times New Roman" pitchFamily="18" charset="0"/>
            </a:endParaRPr>
          </a:p>
        </p:txBody>
      </p:sp>
      <p:sp>
        <p:nvSpPr>
          <p:cNvPr id="573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6508093E-EACB-4243-A99C-626624BB8A0C}" type="slidenum">
              <a:rPr lang="en-US" altLang="zh-CN" smtClean="0">
                <a:latin typeface="Times New Roman" pitchFamily="18" charset="0"/>
              </a:rPr>
              <a:pPr eaLnBrk="1" fontAlgn="base" hangingPunct="1">
                <a:spcBef>
                  <a:spcPct val="0"/>
                </a:spcBef>
                <a:spcAft>
                  <a:spcPct val="0"/>
                </a:spcAft>
              </a:pPr>
              <a:t>8</a:t>
            </a:fld>
            <a:endParaRPr lang="en-US" altLang="zh-CN">
              <a:latin typeface="Times New Roman" pitchFamily="18" charset="0"/>
            </a:endParaRPr>
          </a:p>
        </p:txBody>
      </p:sp>
      <p:sp>
        <p:nvSpPr>
          <p:cNvPr id="583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32D5B987-81A7-40E2-96C4-F1EE518EEA8F}" type="slidenum">
              <a:rPr lang="en-US" altLang="zh-CN" smtClean="0">
                <a:latin typeface="Times New Roman" pitchFamily="18" charset="0"/>
              </a:rPr>
              <a:pPr eaLnBrk="1" fontAlgn="base" hangingPunct="1">
                <a:spcBef>
                  <a:spcPct val="0"/>
                </a:spcBef>
                <a:spcAft>
                  <a:spcPct val="0"/>
                </a:spcAft>
              </a:pPr>
              <a:t>10</a:t>
            </a:fld>
            <a:endParaRPr lang="en-US" altLang="zh-CN">
              <a:latin typeface="Times New Roman" pitchFamily="18" charset="0"/>
            </a:endParaRPr>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FCB6EA3-D0A1-4DB0-8DEB-E0EA4804F8AD}" type="slidenum">
              <a:rPr lang="en-US" altLang="zh-CN" smtClean="0">
                <a:latin typeface="Arial" charset="0"/>
              </a:rPr>
              <a:pPr eaLnBrk="1" fontAlgn="base" hangingPunct="1">
                <a:spcBef>
                  <a:spcPct val="0"/>
                </a:spcBef>
                <a:spcAft>
                  <a:spcPct val="0"/>
                </a:spcAft>
              </a:pPr>
              <a:t>11</a:t>
            </a:fld>
            <a:endParaRPr lang="en-US" altLang="zh-CN">
              <a:latin typeface="Arial" charset="0"/>
            </a:endParaRPr>
          </a:p>
        </p:txBody>
      </p:sp>
      <p:sp>
        <p:nvSpPr>
          <p:cNvPr id="55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9BD251FB-614F-4797-943F-A730FF7CF44C}" type="slidenum">
              <a:rPr lang="en-US" altLang="zh-CN" sz="1300">
                <a:latin typeface="Times New Roman" pitchFamily="18" charset="0"/>
              </a:rPr>
              <a:pPr algn="r" eaLnBrk="1" hangingPunct="1"/>
              <a:t>17</a:t>
            </a:fld>
            <a:endParaRPr lang="en-US" altLang="zh-CN" sz="1300">
              <a:latin typeface="Times New Roman" pitchFamily="18" charset="0"/>
            </a:endParaRPr>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E15B2BF1-4701-47F2-8FF6-5D1B6755A7E4}" type="slidenum">
              <a:rPr lang="en-US" altLang="zh-CN" sz="1300">
                <a:latin typeface="Times New Roman" pitchFamily="18" charset="0"/>
              </a:rPr>
              <a:pPr algn="r" eaLnBrk="1" hangingPunct="1"/>
              <a:t>18</a:t>
            </a:fld>
            <a:endParaRPr lang="en-US" altLang="zh-CN" sz="1300">
              <a:latin typeface="Times New Roman" pitchFamily="18" charset="0"/>
            </a:endParaRPr>
          </a:p>
        </p:txBody>
      </p:sp>
      <p:sp>
        <p:nvSpPr>
          <p:cNvPr id="614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84B75EE5-3351-4C5F-8085-3715DD8B3E88}" type="slidenum">
              <a:rPr lang="en-US" altLang="zh-CN" sz="1300">
                <a:latin typeface="Times New Roman" pitchFamily="18" charset="0"/>
              </a:rPr>
              <a:pPr algn="r" eaLnBrk="1" hangingPunct="1"/>
              <a:t>19</a:t>
            </a:fld>
            <a:endParaRPr lang="en-US" altLang="zh-CN" sz="1300">
              <a:latin typeface="Times New Roman" pitchFamily="18" charset="0"/>
            </a:endParaRPr>
          </a:p>
        </p:txBody>
      </p:sp>
      <p:sp>
        <p:nvSpPr>
          <p:cNvPr id="624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8E45B1E6-1178-42BA-958E-576D0681E14B}" type="slidenum">
              <a:rPr lang="en-US" altLang="zh-CN" sz="1300">
                <a:latin typeface="Times New Roman" pitchFamily="18" charset="0"/>
              </a:rPr>
              <a:pPr algn="r" eaLnBrk="1" hangingPunct="1"/>
              <a:t>20</a:t>
            </a:fld>
            <a:endParaRPr lang="en-US" altLang="zh-CN" sz="1300">
              <a:latin typeface="Times New Roman" pitchFamily="18" charset="0"/>
            </a:endParaRPr>
          </a:p>
        </p:txBody>
      </p:sp>
      <p:sp>
        <p:nvSpPr>
          <p:cNvPr id="634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3D0A3641-0C69-4DFF-ADDE-1DA8896D65D5}" type="slidenum">
              <a:rPr lang="en-US" altLang="zh-CN" sz="1300">
                <a:latin typeface="Times New Roman" pitchFamily="18" charset="0"/>
              </a:rPr>
              <a:pPr algn="r" eaLnBrk="1" hangingPunct="1"/>
              <a:t>21</a:t>
            </a:fld>
            <a:endParaRPr lang="en-US" altLang="zh-CN" sz="1300">
              <a:latin typeface="Times New Roman" pitchFamily="18" charset="0"/>
            </a:endParaRPr>
          </a:p>
        </p:txBody>
      </p:sp>
      <p:sp>
        <p:nvSpPr>
          <p:cNvPr id="645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77DE2997-832A-43B8-9C64-F43FBA36385B}" type="slidenum">
              <a:rPr lang="en-US" altLang="zh-CN" sz="1300">
                <a:latin typeface="Times New Roman" pitchFamily="18" charset="0"/>
              </a:rPr>
              <a:pPr algn="r" eaLnBrk="1" hangingPunct="1"/>
              <a:t>22</a:t>
            </a:fld>
            <a:endParaRPr lang="en-US" altLang="zh-CN" sz="1300">
              <a:latin typeface="Times New Roman" pitchFamily="18" charset="0"/>
            </a:endParaRPr>
          </a:p>
        </p:txBody>
      </p:sp>
      <p:sp>
        <p:nvSpPr>
          <p:cNvPr id="655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27F9D602-43F3-4DCD-BE6F-3E2FDC4BEC6F}" type="slidenum">
              <a:rPr lang="en-US" altLang="zh-CN" sz="1300">
                <a:latin typeface="Times New Roman" pitchFamily="18" charset="0"/>
              </a:rPr>
              <a:pPr algn="r" eaLnBrk="1" hangingPunct="1"/>
              <a:t>23</a:t>
            </a:fld>
            <a:endParaRPr lang="en-US" altLang="zh-CN" sz="1300">
              <a:latin typeface="Times New Roman" pitchFamily="18" charset="0"/>
            </a:endParaRPr>
          </a:p>
        </p:txBody>
      </p:sp>
      <p:sp>
        <p:nvSpPr>
          <p:cNvPr id="665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D7C6D991-8C8B-49DC-9FD6-A7E805B5FC4B}" type="slidenum">
              <a:rPr lang="en-US" altLang="zh-CN" sz="1300">
                <a:latin typeface="Times New Roman" pitchFamily="18" charset="0"/>
              </a:rPr>
              <a:pPr algn="r" eaLnBrk="1" hangingPunct="1"/>
              <a:t>24</a:t>
            </a:fld>
            <a:endParaRPr lang="en-US" altLang="zh-CN" sz="1300">
              <a:latin typeface="Times New Roman" pitchFamily="18" charset="0"/>
            </a:endParaRPr>
          </a:p>
        </p:txBody>
      </p:sp>
      <p:sp>
        <p:nvSpPr>
          <p:cNvPr id="675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27</a:t>
            </a:fld>
            <a:endParaRPr lang="en-US" altLang="zh-CN"/>
          </a:p>
        </p:txBody>
      </p:sp>
    </p:spTree>
    <p:extLst>
      <p:ext uri="{BB962C8B-B14F-4D97-AF65-F5344CB8AC3E}">
        <p14:creationId xmlns:p14="http://schemas.microsoft.com/office/powerpoint/2010/main" val="1161449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29</a:t>
            </a:fld>
            <a:endParaRPr lang="en-US" altLang="zh-CN"/>
          </a:p>
        </p:txBody>
      </p:sp>
    </p:spTree>
    <p:extLst>
      <p:ext uri="{BB962C8B-B14F-4D97-AF65-F5344CB8AC3E}">
        <p14:creationId xmlns:p14="http://schemas.microsoft.com/office/powerpoint/2010/main" val="677974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500A3207-D7E6-4A93-B712-37BF03E84B72}" type="slidenum">
              <a:rPr lang="en-US" altLang="zh-CN" smtClean="0">
                <a:latin typeface="Times New Roman" pitchFamily="18" charset="0"/>
              </a:rPr>
              <a:pPr eaLnBrk="1" fontAlgn="base" hangingPunct="1">
                <a:spcBef>
                  <a:spcPct val="0"/>
                </a:spcBef>
                <a:spcAft>
                  <a:spcPct val="0"/>
                </a:spcAft>
              </a:pPr>
              <a:t>30</a:t>
            </a:fld>
            <a:endParaRPr lang="en-US" altLang="zh-CN">
              <a:latin typeface="Times New Roman" pitchFamily="18" charset="0"/>
            </a:endParaRPr>
          </a:p>
        </p:txBody>
      </p:sp>
      <p:sp>
        <p:nvSpPr>
          <p:cNvPr id="686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AD02C3F-8C8F-407D-9DC9-9F5F0D72C13C}" type="slidenum">
              <a:rPr lang="en-US" altLang="zh-CN" smtClean="0">
                <a:latin typeface="Times New Roman" pitchFamily="18" charset="0"/>
              </a:rPr>
              <a:pPr eaLnBrk="1" fontAlgn="base" hangingPunct="1">
                <a:spcBef>
                  <a:spcPct val="0"/>
                </a:spcBef>
                <a:spcAft>
                  <a:spcPct val="0"/>
                </a:spcAft>
              </a:pPr>
              <a:t>33</a:t>
            </a:fld>
            <a:endParaRPr lang="en-US" altLang="zh-CN">
              <a:latin typeface="Times New Roman" pitchFamily="18" charset="0"/>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AD02C3F-8C8F-407D-9DC9-9F5F0D72C13C}" type="slidenum">
              <a:rPr lang="en-US" altLang="zh-CN" smtClean="0">
                <a:latin typeface="Times New Roman" pitchFamily="18" charset="0"/>
              </a:rPr>
              <a:pPr eaLnBrk="1" fontAlgn="base" hangingPunct="1">
                <a:spcBef>
                  <a:spcPct val="0"/>
                </a:spcBef>
                <a:spcAft>
                  <a:spcPct val="0"/>
                </a:spcAft>
              </a:pPr>
              <a:t>34</a:t>
            </a:fld>
            <a:endParaRPr lang="en-US" altLang="zh-CN">
              <a:latin typeface="Times New Roman" pitchFamily="18" charset="0"/>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extLst>
      <p:ext uri="{BB962C8B-B14F-4D97-AF65-F5344CB8AC3E}">
        <p14:creationId xmlns:p14="http://schemas.microsoft.com/office/powerpoint/2010/main" val="1343425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9048" tIns="49524" rIns="99048" bIns="49524" anchor="b"/>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r" eaLnBrk="1" hangingPunct="1"/>
            <a:fld id="{27F9D602-43F3-4DCD-BE6F-3E2FDC4BEC6F}" type="slidenum">
              <a:rPr lang="en-US" altLang="zh-CN" sz="1300">
                <a:latin typeface="Times New Roman" pitchFamily="18" charset="0"/>
              </a:rPr>
              <a:pPr algn="r" eaLnBrk="1" hangingPunct="1"/>
              <a:t>35</a:t>
            </a:fld>
            <a:endParaRPr lang="en-US" altLang="zh-CN" sz="1300">
              <a:latin typeface="Times New Roman" pitchFamily="18" charset="0"/>
            </a:endParaRPr>
          </a:p>
        </p:txBody>
      </p:sp>
      <p:sp>
        <p:nvSpPr>
          <p:cNvPr id="665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extLst>
      <p:ext uri="{BB962C8B-B14F-4D97-AF65-F5344CB8AC3E}">
        <p14:creationId xmlns:p14="http://schemas.microsoft.com/office/powerpoint/2010/main" val="2904360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ED0626FE-D286-47DE-9A73-276BA4B0779F}" type="slidenum">
              <a:rPr lang="en-US" altLang="zh-CN" smtClean="0">
                <a:latin typeface="Times New Roman" pitchFamily="18" charset="0"/>
              </a:rPr>
              <a:pPr eaLnBrk="1" fontAlgn="base" hangingPunct="1">
                <a:spcBef>
                  <a:spcPct val="0"/>
                </a:spcBef>
                <a:spcAft>
                  <a:spcPct val="0"/>
                </a:spcAft>
              </a:pPr>
              <a:t>40</a:t>
            </a:fld>
            <a:endParaRPr lang="en-US" altLang="zh-CN">
              <a:latin typeface="Times New Roman" pitchFamily="18" charset="0"/>
            </a:endParaRPr>
          </a:p>
        </p:txBody>
      </p:sp>
      <p:sp>
        <p:nvSpPr>
          <p:cNvPr id="706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CFCB6EA3-D0A1-4DB0-8DEB-E0EA4804F8AD}" type="slidenum">
              <a:rPr lang="en-US" altLang="zh-CN" smtClean="0">
                <a:latin typeface="Arial" charset="0"/>
              </a:rPr>
              <a:pPr eaLnBrk="1" fontAlgn="base" hangingPunct="1">
                <a:spcBef>
                  <a:spcPct val="0"/>
                </a:spcBef>
                <a:spcAft>
                  <a:spcPct val="0"/>
                </a:spcAft>
              </a:pPr>
              <a:t>41</a:t>
            </a:fld>
            <a:endParaRPr lang="en-US" altLang="zh-CN">
              <a:latin typeface="Arial" charset="0"/>
            </a:endParaRPr>
          </a:p>
        </p:txBody>
      </p:sp>
      <p:sp>
        <p:nvSpPr>
          <p:cNvPr id="55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7168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E914EB88-23CB-48CA-B528-F14B62FFAF7E}" type="slidenum">
              <a:rPr lang="en-US" altLang="zh-CN" smtClean="0">
                <a:latin typeface="Times New Roman" pitchFamily="18" charset="0"/>
              </a:rPr>
              <a:pPr eaLnBrk="1" fontAlgn="base" hangingPunct="1">
                <a:spcBef>
                  <a:spcPct val="0"/>
                </a:spcBef>
                <a:spcAft>
                  <a:spcPct val="0"/>
                </a:spcAft>
              </a:pPr>
              <a:t>42</a:t>
            </a:fld>
            <a:endParaRPr lang="en-US" altLang="zh-CN">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ABB2A8B8-CF00-4EF8-86BF-81AA902695A2}" type="slidenum">
              <a:rPr lang="zh-CN" altLang="en-US" smtClean="0"/>
              <a:pPr>
                <a:defRPr/>
              </a:pPr>
              <a:t>43</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a:p>
            <a:endParaRPr lang="zh-CN" altLang="en-US" dirty="0"/>
          </a:p>
        </p:txBody>
      </p:sp>
      <p:sp>
        <p:nvSpPr>
          <p:cNvPr id="7373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0A6C122-60F9-4D06-BF36-02054F044C45}" type="slidenum">
              <a:rPr lang="en-US" altLang="zh-CN" smtClean="0">
                <a:latin typeface="Times New Roman" pitchFamily="18" charset="0"/>
              </a:rPr>
              <a:pPr eaLnBrk="1" fontAlgn="base" hangingPunct="1">
                <a:spcBef>
                  <a:spcPct val="0"/>
                </a:spcBef>
                <a:spcAft>
                  <a:spcPct val="0"/>
                </a:spcAft>
              </a:pPr>
              <a:t>45</a:t>
            </a:fld>
            <a:endParaRPr lang="en-US" altLang="zh-CN">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7475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2B68B667-9266-42AB-86E2-AEB754FD452D}" type="slidenum">
              <a:rPr lang="en-US" altLang="zh-CN" smtClean="0">
                <a:latin typeface="Times New Roman" pitchFamily="18" charset="0"/>
              </a:rPr>
              <a:pPr eaLnBrk="1" fontAlgn="base" hangingPunct="1">
                <a:spcBef>
                  <a:spcPct val="0"/>
                </a:spcBef>
                <a:spcAft>
                  <a:spcPct val="0"/>
                </a:spcAft>
              </a:pPr>
              <a:t>46</a:t>
            </a:fld>
            <a:endParaRPr lang="en-US" altLang="zh-CN">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7578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422AD2F6-C74F-478F-AEE2-127A6BC8D5C3}" type="slidenum">
              <a:rPr lang="en-US" altLang="zh-CN" smtClean="0">
                <a:latin typeface="Times New Roman" pitchFamily="18" charset="0"/>
              </a:rPr>
              <a:pPr eaLnBrk="1" fontAlgn="base" hangingPunct="1">
                <a:spcBef>
                  <a:spcPct val="0"/>
                </a:spcBef>
                <a:spcAft>
                  <a:spcPct val="0"/>
                </a:spcAft>
              </a:pPr>
              <a:t>47</a:t>
            </a:fld>
            <a:endParaRPr lang="en-US" altLang="zh-CN">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680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5A87D735-BA90-4D9A-A768-92AA5AA36AF9}" type="slidenum">
              <a:rPr lang="en-US" altLang="zh-CN" smtClean="0">
                <a:latin typeface="Times New Roman" pitchFamily="18" charset="0"/>
              </a:rPr>
              <a:pPr eaLnBrk="1" fontAlgn="base" hangingPunct="1">
                <a:spcBef>
                  <a:spcPct val="0"/>
                </a:spcBef>
                <a:spcAft>
                  <a:spcPct val="0"/>
                </a:spcAft>
              </a:pPr>
              <a:t>50</a:t>
            </a:fld>
            <a:endParaRPr lang="en-US" altLang="zh-CN">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804763" indent="-309524" eaLnBrk="0" hangingPunct="0">
              <a:defRPr>
                <a:solidFill>
                  <a:schemeClr val="tx1"/>
                </a:solidFill>
                <a:latin typeface="Calibri" pitchFamily="34" charset="0"/>
                <a:ea typeface="宋体" pitchFamily="2" charset="-122"/>
              </a:defRPr>
            </a:lvl2pPr>
            <a:lvl3pPr marL="1238098" indent="-247620" eaLnBrk="0" hangingPunct="0">
              <a:defRPr>
                <a:solidFill>
                  <a:schemeClr val="tx1"/>
                </a:solidFill>
                <a:latin typeface="Calibri" pitchFamily="34" charset="0"/>
                <a:ea typeface="宋体" pitchFamily="2" charset="-122"/>
              </a:defRPr>
            </a:lvl3pPr>
            <a:lvl4pPr marL="1733337" indent="-247620" eaLnBrk="0" hangingPunct="0">
              <a:defRPr>
                <a:solidFill>
                  <a:schemeClr val="tx1"/>
                </a:solidFill>
                <a:latin typeface="Calibri" pitchFamily="34" charset="0"/>
                <a:ea typeface="宋体" pitchFamily="2" charset="-122"/>
              </a:defRPr>
            </a:lvl4pPr>
            <a:lvl5pPr marL="2228576" indent="-247620" eaLnBrk="0" hangingPunct="0">
              <a:defRPr>
                <a:solidFill>
                  <a:schemeClr val="tx1"/>
                </a:solidFill>
                <a:latin typeface="Calibri" pitchFamily="34" charset="0"/>
                <a:ea typeface="宋体" pitchFamily="2" charset="-122"/>
              </a:defRPr>
            </a:lvl5pPr>
            <a:lvl6pPr marL="2723815" indent="-247620" eaLnBrk="0" fontAlgn="base" hangingPunct="0">
              <a:spcBef>
                <a:spcPct val="0"/>
              </a:spcBef>
              <a:spcAft>
                <a:spcPct val="0"/>
              </a:spcAft>
              <a:defRPr>
                <a:solidFill>
                  <a:schemeClr val="tx1"/>
                </a:solidFill>
                <a:latin typeface="Calibri" pitchFamily="34" charset="0"/>
                <a:ea typeface="宋体" pitchFamily="2" charset="-122"/>
              </a:defRPr>
            </a:lvl6pPr>
            <a:lvl7pPr marL="3219054" indent="-247620" eaLnBrk="0" fontAlgn="base" hangingPunct="0">
              <a:spcBef>
                <a:spcPct val="0"/>
              </a:spcBef>
              <a:spcAft>
                <a:spcPct val="0"/>
              </a:spcAft>
              <a:defRPr>
                <a:solidFill>
                  <a:schemeClr val="tx1"/>
                </a:solidFill>
                <a:latin typeface="Calibri" pitchFamily="34" charset="0"/>
                <a:ea typeface="宋体" pitchFamily="2" charset="-122"/>
              </a:defRPr>
            </a:lvl7pPr>
            <a:lvl8pPr marL="3714293" indent="-247620" eaLnBrk="0" fontAlgn="base" hangingPunct="0">
              <a:spcBef>
                <a:spcPct val="0"/>
              </a:spcBef>
              <a:spcAft>
                <a:spcPct val="0"/>
              </a:spcAft>
              <a:defRPr>
                <a:solidFill>
                  <a:schemeClr val="tx1"/>
                </a:solidFill>
                <a:latin typeface="Calibri" pitchFamily="34" charset="0"/>
                <a:ea typeface="宋体" pitchFamily="2" charset="-122"/>
              </a:defRPr>
            </a:lvl8pPr>
            <a:lvl9pPr marL="4209532" indent="-247620" eaLnBrk="0" fontAlgn="base" hangingPunct="0">
              <a:spcBef>
                <a:spcPct val="0"/>
              </a:spcBef>
              <a:spcAft>
                <a:spcPct val="0"/>
              </a:spcAft>
              <a:defRPr>
                <a:solidFill>
                  <a:schemeClr val="tx1"/>
                </a:solidFill>
                <a:latin typeface="Calibri" pitchFamily="34" charset="0"/>
                <a:ea typeface="宋体" pitchFamily="2" charset="-122"/>
              </a:defRPr>
            </a:lvl9pPr>
          </a:lstStyle>
          <a:p>
            <a:pPr eaLnBrk="1" fontAlgn="base" hangingPunct="1">
              <a:spcBef>
                <a:spcPct val="0"/>
              </a:spcBef>
              <a:spcAft>
                <a:spcPct val="0"/>
              </a:spcAft>
            </a:pPr>
            <a:fld id="{0AD02C3F-8C8F-407D-9DC9-9F5F0D72C13C}" type="slidenum">
              <a:rPr lang="en-US" altLang="zh-CN" smtClean="0">
                <a:latin typeface="Times New Roman" pitchFamily="18" charset="0"/>
              </a:rPr>
              <a:pPr eaLnBrk="1" fontAlgn="base" hangingPunct="1">
                <a:spcBef>
                  <a:spcPct val="0"/>
                </a:spcBef>
                <a:spcAft>
                  <a:spcPct val="0"/>
                </a:spcAft>
              </a:pPr>
              <a:t>51</a:t>
            </a:fld>
            <a:endParaRPr lang="en-US" altLang="zh-CN">
              <a:latin typeface="Times New Roman" pitchFamily="18" charset="0"/>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Tree>
    <p:extLst>
      <p:ext uri="{BB962C8B-B14F-4D97-AF65-F5344CB8AC3E}">
        <p14:creationId xmlns:p14="http://schemas.microsoft.com/office/powerpoint/2010/main" val="24889046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p:cNvSpPr>
            <a:spLocks noGrp="1" noRot="1" noChangeAspect="1" noChangeArrowheads="1" noTextEdit="1"/>
          </p:cNvSpPr>
          <p:nvPr>
            <p:ph type="sldImg" idx="4294967295"/>
          </p:nvPr>
        </p:nvSpPr>
        <p:spPr>
          <a:ln/>
        </p:spPr>
      </p:sp>
      <p:sp>
        <p:nvSpPr>
          <p:cNvPr id="103426" name="备注占位符 2"/>
          <p:cNvSpPr>
            <a:spLocks noGrp="1" noChangeArrowheads="1"/>
          </p:cNvSpPr>
          <p:nvPr>
            <p:ph type="body" idx="4294967295"/>
          </p:nvPr>
        </p:nvSpPr>
        <p:spPr/>
        <p:txBody>
          <a:bodyPr/>
          <a:lstStyle/>
          <a:p>
            <a:endParaRPr lang="zh-CN" altLang="en-US" dirty="0"/>
          </a:p>
        </p:txBody>
      </p:sp>
      <p:sp>
        <p:nvSpPr>
          <p:cNvPr id="103427"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Times New Roman" pitchFamily="18" charset="0"/>
                <a:ea typeface="宋体" pitchFamily="2" charset="-122"/>
              </a:defRPr>
            </a:lvl1pPr>
            <a:lvl2pPr marL="804763" indent="-309524">
              <a:defRPr sz="1300">
                <a:solidFill>
                  <a:schemeClr val="tx1"/>
                </a:solidFill>
                <a:latin typeface="Times New Roman" pitchFamily="18" charset="0"/>
                <a:ea typeface="宋体" pitchFamily="2" charset="-122"/>
              </a:defRPr>
            </a:lvl2pPr>
            <a:lvl3pPr marL="1238098" indent="-247620">
              <a:defRPr sz="1300">
                <a:solidFill>
                  <a:schemeClr val="tx1"/>
                </a:solidFill>
                <a:latin typeface="Times New Roman" pitchFamily="18" charset="0"/>
                <a:ea typeface="宋体" pitchFamily="2" charset="-122"/>
              </a:defRPr>
            </a:lvl3pPr>
            <a:lvl4pPr marL="1733337" indent="-247620">
              <a:defRPr sz="1300">
                <a:solidFill>
                  <a:schemeClr val="tx1"/>
                </a:solidFill>
                <a:latin typeface="Times New Roman" pitchFamily="18" charset="0"/>
                <a:ea typeface="宋体" pitchFamily="2" charset="-122"/>
              </a:defRPr>
            </a:lvl4pPr>
            <a:lvl5pPr marL="2228576" indent="-247620">
              <a:defRPr sz="1300">
                <a:solidFill>
                  <a:schemeClr val="tx1"/>
                </a:solidFill>
                <a:latin typeface="Times New Roman" pitchFamily="18" charset="0"/>
                <a:ea typeface="宋体" pitchFamily="2" charset="-122"/>
              </a:defRPr>
            </a:lvl5pPr>
            <a:lvl6pPr marL="2723815" indent="-247620" eaLnBrk="0" fontAlgn="base" hangingPunct="0">
              <a:spcBef>
                <a:spcPct val="30000"/>
              </a:spcBef>
              <a:spcAft>
                <a:spcPct val="0"/>
              </a:spcAft>
              <a:defRPr sz="1300">
                <a:solidFill>
                  <a:schemeClr val="tx1"/>
                </a:solidFill>
                <a:latin typeface="Times New Roman" pitchFamily="18" charset="0"/>
                <a:ea typeface="宋体" pitchFamily="2" charset="-122"/>
              </a:defRPr>
            </a:lvl6pPr>
            <a:lvl7pPr marL="3219054" indent="-247620" eaLnBrk="0" fontAlgn="base" hangingPunct="0">
              <a:spcBef>
                <a:spcPct val="30000"/>
              </a:spcBef>
              <a:spcAft>
                <a:spcPct val="0"/>
              </a:spcAft>
              <a:defRPr sz="1300">
                <a:solidFill>
                  <a:schemeClr val="tx1"/>
                </a:solidFill>
                <a:latin typeface="Times New Roman" pitchFamily="18" charset="0"/>
                <a:ea typeface="宋体" pitchFamily="2" charset="-122"/>
              </a:defRPr>
            </a:lvl7pPr>
            <a:lvl8pPr marL="3714293" indent="-247620" eaLnBrk="0" fontAlgn="base" hangingPunct="0">
              <a:spcBef>
                <a:spcPct val="30000"/>
              </a:spcBef>
              <a:spcAft>
                <a:spcPct val="0"/>
              </a:spcAft>
              <a:defRPr sz="1300">
                <a:solidFill>
                  <a:schemeClr val="tx1"/>
                </a:solidFill>
                <a:latin typeface="Times New Roman" pitchFamily="18" charset="0"/>
                <a:ea typeface="宋体" pitchFamily="2" charset="-122"/>
              </a:defRPr>
            </a:lvl8pPr>
            <a:lvl9pPr marL="4209532" indent="-247620" eaLnBrk="0" fontAlgn="base" hangingPunct="0">
              <a:spcBef>
                <a:spcPct val="30000"/>
              </a:spcBef>
              <a:spcAft>
                <a:spcPct val="0"/>
              </a:spcAft>
              <a:defRPr sz="1300">
                <a:solidFill>
                  <a:schemeClr val="tx1"/>
                </a:solidFill>
                <a:latin typeface="Times New Roman" pitchFamily="18" charset="0"/>
                <a:ea typeface="宋体" pitchFamily="2" charset="-122"/>
              </a:defRPr>
            </a:lvl9pPr>
          </a:lstStyle>
          <a:p>
            <a:fld id="{4C0995F3-5D41-47D6-A01B-7946A6049969}" type="slidenum">
              <a:rPr kumimoji="0" lang="en-US" altLang="zh-CN"/>
              <a:pPr/>
              <a:t>53</a:t>
            </a:fld>
            <a:endParaRPr kumimoji="0"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56</a:t>
            </a:fld>
            <a:endParaRPr lang="en-US" altLang="zh-CN"/>
          </a:p>
        </p:txBody>
      </p:sp>
    </p:spTree>
    <p:extLst>
      <p:ext uri="{BB962C8B-B14F-4D97-AF65-F5344CB8AC3E}">
        <p14:creationId xmlns:p14="http://schemas.microsoft.com/office/powerpoint/2010/main" val="201621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5644449-9F99-4A58-9956-04C87A617C8A}" type="datetime1">
              <a:rPr lang="zh-CN" altLang="en-US" smtClean="0"/>
              <a:t>2025/10/21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F273161-7FE9-409B-B9DB-6FB94D928A2E}" type="datetime1">
              <a:rPr lang="zh-CN" altLang="en-US" smtClean="0"/>
              <a:t>2025/10/21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3FDFB75-E8CC-46C8-83CF-783E71FC143D}" type="datetime1">
              <a:rPr lang="zh-CN" altLang="en-US" smtClean="0"/>
              <a:t>2025/10/21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F28DE822-13EB-4B2C-8452-7D85E6FE3D47}" type="datetime1">
              <a:rPr lang="zh-CN" altLang="en-US" smtClean="0"/>
              <a:t>2025/10/21</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83BBB137-BE09-40C1-AC84-5F766BA59019}" type="datetime1">
              <a:rPr lang="zh-CN" altLang="en-US" smtClean="0"/>
              <a:t>2025/10/21</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C5056A5-6850-4901-8B41-AC2184EB956D}" type="datetime1">
              <a:rPr lang="zh-CN" altLang="en-US" smtClean="0"/>
              <a:t>2025/10/21</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80AAD9F-28F9-4C8F-B5A5-4D8EE4F215E8}" type="datetime1">
              <a:rPr lang="zh-CN" altLang="en-US" smtClean="0"/>
              <a:t>2025/10/21</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6F03CAE-D2CF-4B43-9F41-B545E24BB992}" type="datetime1">
              <a:rPr lang="zh-CN" altLang="en-US" smtClean="0"/>
              <a:t>2025/10/21</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39E9FA5-9658-4C45-9583-4BD222920F4F}" type="datetime1">
              <a:rPr lang="zh-CN" altLang="en-US" smtClean="0"/>
              <a:t>2025/10/21</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68C6FB3-0B7B-4D8E-BF78-7DAB1939DDDD}" type="datetime1">
              <a:rPr lang="zh-CN" altLang="en-US" smtClean="0"/>
              <a:t>2025/10/21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F0DE9C0-D6E3-4E17-AEA0-56CA8B821F40}" type="datetime1">
              <a:rPr lang="zh-CN" altLang="en-US" smtClean="0"/>
              <a:t>2025/10/21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465B36B7-C579-4AC6-BA56-98C0F9E0C0A3}" type="datetime1">
              <a:rPr lang="zh-CN" altLang="en-US" smtClean="0"/>
              <a:t>2025/10/21</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663700" y="1412776"/>
            <a:ext cx="6173788"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第十一讲</a:t>
            </a:r>
          </a:p>
        </p:txBody>
      </p:sp>
      <p:sp>
        <p:nvSpPr>
          <p:cNvPr id="2" name="日期占位符 1">
            <a:extLst>
              <a:ext uri="{FF2B5EF4-FFF2-40B4-BE49-F238E27FC236}">
                <a16:creationId xmlns:a16="http://schemas.microsoft.com/office/drawing/2014/main" id="{4C6B93D5-A153-AF8A-9928-9D136C7EBD69}"/>
              </a:ext>
            </a:extLst>
          </p:cNvPr>
          <p:cNvSpPr>
            <a:spLocks noGrp="1"/>
          </p:cNvSpPr>
          <p:nvPr>
            <p:ph type="dt" sz="half" idx="10"/>
          </p:nvPr>
        </p:nvSpPr>
        <p:spPr/>
        <p:txBody>
          <a:bodyPr/>
          <a:lstStyle/>
          <a:p>
            <a:pPr>
              <a:defRPr/>
            </a:pPr>
            <a:fld id="{F2CFFE21-6A00-453C-9EA5-CB32CBB8F754}"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39D38A2F-C2B5-BDCA-24E1-EED03AB738B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29EDB09-05BB-57BA-EBE1-C3E7622465F1}"/>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22907"/>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179513" y="1094382"/>
            <a:ext cx="8352927" cy="5718994"/>
          </a:xfrm>
        </p:spPr>
        <p:txBody>
          <a:bodyPr rtlCol="0">
            <a:noAutofit/>
          </a:bodyPr>
          <a:lstStyle/>
          <a:p>
            <a:pPr lvl="1" eaLnBrk="1" fontAlgn="auto" hangingPunct="1">
              <a:spcAft>
                <a:spcPts val="0"/>
              </a:spcAft>
              <a:defRPr/>
            </a:pPr>
            <a:r>
              <a:rPr lang="zh-CN" altLang="en-US" sz="2400" b="1" dirty="0"/>
              <a:t>流水线的控制冲突</a:t>
            </a:r>
            <a:endParaRPr lang="en-US" altLang="zh-CN" sz="2400" b="1" dirty="0"/>
          </a:p>
          <a:p>
            <a:pPr marL="1101600" lvl="1" eaLnBrk="1" fontAlgn="auto" hangingPunct="1">
              <a:spcAft>
                <a:spcPts val="0"/>
              </a:spcAft>
              <a:buFont typeface="Wingdings" panose="05000000000000000000" pitchFamily="2" charset="2"/>
              <a:buChar char="ü"/>
              <a:defRPr/>
            </a:pPr>
            <a:r>
              <a:rPr lang="zh-CN" altLang="en-US" sz="2400" b="1" dirty="0"/>
              <a:t>分支指令的行为特点</a:t>
            </a:r>
            <a:endParaRPr lang="en-US" altLang="zh-CN" sz="2400" b="1" dirty="0"/>
          </a:p>
          <a:p>
            <a:pPr marL="1101600" lvl="1" eaLnBrk="1" fontAlgn="auto" hangingPunct="1">
              <a:spcAft>
                <a:spcPts val="0"/>
              </a:spcAft>
              <a:buFont typeface="Wingdings" panose="05000000000000000000" pitchFamily="2" charset="2"/>
              <a:buChar char="ü"/>
              <a:defRPr/>
            </a:pPr>
            <a:r>
              <a:rPr lang="zh-CN" altLang="en-US" sz="2400" b="1" dirty="0"/>
              <a:t>减少流水线分支损失的方法（冻结或排空、预测分支转移失败、预测分支转移成功、分支延迟槽）</a:t>
            </a:r>
            <a:endParaRPr lang="en-US" altLang="zh-CN" sz="2400" b="1" dirty="0"/>
          </a:p>
          <a:p>
            <a:pPr lvl="1" eaLnBrk="1" fontAlgn="auto" hangingPunct="1">
              <a:spcAft>
                <a:spcPts val="0"/>
              </a:spcAft>
              <a:defRPr/>
            </a:pPr>
            <a:r>
              <a:rPr lang="zh-CN" altLang="en-US" sz="2400" b="1" dirty="0"/>
              <a:t>流水线的实例（</a:t>
            </a:r>
            <a:r>
              <a:rPr lang="en-US" altLang="zh-CN" sz="2400" b="1" dirty="0"/>
              <a:t>MIPS R4000</a:t>
            </a:r>
            <a:r>
              <a:rPr lang="zh-CN" altLang="en-US" sz="2400" b="1" dirty="0"/>
              <a:t>）</a:t>
            </a:r>
            <a:endParaRPr lang="en-US" altLang="zh-CN" sz="2400" b="1" dirty="0"/>
          </a:p>
          <a:p>
            <a:pPr marL="1101600" lvl="1" eaLnBrk="1" fontAlgn="auto" hangingPunct="1">
              <a:spcAft>
                <a:spcPts val="0"/>
              </a:spcAft>
              <a:buFont typeface="Wingdings" panose="05000000000000000000" pitchFamily="2" charset="2"/>
              <a:buChar char="ü"/>
              <a:defRPr/>
            </a:pPr>
            <a:r>
              <a:rPr lang="zh-CN" altLang="en-US" sz="2400" b="1" dirty="0"/>
              <a:t>整型流水线（深流水、</a:t>
            </a:r>
            <a:r>
              <a:rPr lang="en-US" altLang="zh-CN" sz="2400" b="1" dirty="0"/>
              <a:t>8</a:t>
            </a:r>
            <a:r>
              <a:rPr lang="zh-CN" altLang="en-US" sz="2400" b="1" dirty="0"/>
              <a:t>段）</a:t>
            </a:r>
            <a:endParaRPr lang="en-US" altLang="zh-CN" sz="2400" b="1" dirty="0"/>
          </a:p>
          <a:p>
            <a:pPr marL="1101600" lvl="1" eaLnBrk="1" fontAlgn="auto" hangingPunct="1">
              <a:spcAft>
                <a:spcPts val="0"/>
              </a:spcAft>
              <a:buFont typeface="Wingdings" panose="05000000000000000000" pitchFamily="2" charset="2"/>
              <a:buChar char="ü"/>
              <a:defRPr/>
            </a:pPr>
            <a:r>
              <a:rPr lang="zh-CN" altLang="en-US" sz="2400" b="1" dirty="0"/>
              <a:t>浮点流水线（多功能非线性流水线）</a:t>
            </a:r>
            <a:endParaRPr lang="en-US" altLang="zh-CN" sz="2400" b="1" dirty="0"/>
          </a:p>
          <a:p>
            <a:pPr marL="1101600" lvl="1" eaLnBrk="1" fontAlgn="auto" hangingPunct="1">
              <a:spcAft>
                <a:spcPts val="0"/>
              </a:spcAft>
              <a:buFont typeface="Wingdings" panose="05000000000000000000" pitchFamily="2" charset="2"/>
              <a:buChar char="ü"/>
              <a:defRPr/>
            </a:pPr>
            <a:r>
              <a:rPr lang="zh-CN" altLang="en-US" sz="2400" b="1" dirty="0"/>
              <a:t>流水线性能分析</a:t>
            </a:r>
            <a:endParaRPr lang="en-US" altLang="zh-CN" sz="2400" b="1" dirty="0"/>
          </a:p>
          <a:p>
            <a:pPr lvl="1" eaLnBrk="1" hangingPunct="1">
              <a:defRPr/>
            </a:pPr>
            <a:r>
              <a:rPr lang="zh-CN" altLang="en-US" sz="2400" b="1" dirty="0"/>
              <a:t>向量处理机 </a:t>
            </a:r>
            <a:r>
              <a:rPr lang="en-US" altLang="zh-CN" sz="2400" b="1" dirty="0"/>
              <a:t>Cray-I</a:t>
            </a:r>
          </a:p>
          <a:p>
            <a:pPr marL="1101600" lvl="1" eaLnBrk="1" hangingPunct="1">
              <a:buFont typeface="Wingdings" panose="05000000000000000000" pitchFamily="2" charset="2"/>
              <a:buChar char="ü"/>
              <a:defRPr/>
            </a:pPr>
            <a:r>
              <a:rPr lang="zh-CN" altLang="en-US" sz="2400" b="1" dirty="0"/>
              <a:t> 性能指标、基本结构</a:t>
            </a:r>
            <a:endParaRPr lang="en-US" altLang="zh-CN" sz="2400" b="1" dirty="0"/>
          </a:p>
          <a:p>
            <a:pPr marL="1101600" lvl="1" eaLnBrk="1" hangingPunct="1">
              <a:buFont typeface="Wingdings" panose="05000000000000000000" pitchFamily="2" charset="2"/>
              <a:buChar char="ü"/>
              <a:defRPr/>
            </a:pPr>
            <a:r>
              <a:rPr lang="zh-CN" altLang="en-US" sz="2400" b="1" dirty="0"/>
              <a:t> 链接技术</a:t>
            </a:r>
            <a:endParaRPr lang="en-US" altLang="zh-CN" sz="2400" b="1" dirty="0"/>
          </a:p>
        </p:txBody>
      </p:sp>
      <p:sp>
        <p:nvSpPr>
          <p:cNvPr id="2" name="日期占位符 1">
            <a:extLst>
              <a:ext uri="{FF2B5EF4-FFF2-40B4-BE49-F238E27FC236}">
                <a16:creationId xmlns:a16="http://schemas.microsoft.com/office/drawing/2014/main" id="{478EA551-C65F-7A45-755A-7592F60B3702}"/>
              </a:ext>
            </a:extLst>
          </p:cNvPr>
          <p:cNvSpPr>
            <a:spLocks noGrp="1"/>
          </p:cNvSpPr>
          <p:nvPr>
            <p:ph type="dt" sz="half" idx="10"/>
          </p:nvPr>
        </p:nvSpPr>
        <p:spPr/>
        <p:txBody>
          <a:bodyPr/>
          <a:lstStyle/>
          <a:p>
            <a:pPr>
              <a:defRPr/>
            </a:pPr>
            <a:fld id="{EED0C224-151F-4D46-9A6C-20E36A77C056}" type="datetime1">
              <a:rPr lang="zh-CN" altLang="en-US" smtClean="0"/>
              <a:t>2025/10/21</a:t>
            </a:fld>
            <a:endParaRPr lang="en-US" altLang="zh-CN"/>
          </a:p>
        </p:txBody>
      </p:sp>
      <p:sp>
        <p:nvSpPr>
          <p:cNvPr id="4" name="页脚占位符 3">
            <a:extLst>
              <a:ext uri="{FF2B5EF4-FFF2-40B4-BE49-F238E27FC236}">
                <a16:creationId xmlns:a16="http://schemas.microsoft.com/office/drawing/2014/main" id="{7E323E78-8A05-8094-FE05-BEF864E5590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B9129A70-07DE-1CA3-1695-77C6BFF5BE46}"/>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9" name="Rectangle 7"/>
          <p:cNvSpPr>
            <a:spLocks noChangeArrowheads="1"/>
          </p:cNvSpPr>
          <p:nvPr/>
        </p:nvSpPr>
        <p:spPr bwMode="auto">
          <a:xfrm>
            <a:off x="2339975" y="1212826"/>
            <a:ext cx="5616575"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1 </a:t>
            </a:r>
            <a:r>
              <a:rPr lang="zh-CN" altLang="en-US" sz="2800" dirty="0">
                <a:solidFill>
                  <a:schemeClr val="tx2"/>
                </a:solidFill>
                <a:effectLst>
                  <a:outerShdw blurRad="38100" dist="38100" dir="2700000" algn="tl">
                    <a:srgbClr val="000000"/>
                  </a:outerShdw>
                </a:effectLst>
                <a:latin typeface="Arial" charset="0"/>
              </a:rPr>
              <a:t>章  计算机体系结构基本概念</a:t>
            </a:r>
          </a:p>
        </p:txBody>
      </p:sp>
      <p:sp>
        <p:nvSpPr>
          <p:cNvPr id="658440" name="Rectangle 8"/>
          <p:cNvSpPr>
            <a:spLocks noChangeArrowheads="1"/>
          </p:cNvSpPr>
          <p:nvPr/>
        </p:nvSpPr>
        <p:spPr bwMode="auto">
          <a:xfrm>
            <a:off x="2360613" y="2420914"/>
            <a:ext cx="5256212"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3 </a:t>
            </a:r>
            <a:r>
              <a:rPr lang="zh-CN" altLang="en-US" sz="2800" dirty="0">
                <a:solidFill>
                  <a:schemeClr val="tx2"/>
                </a:solidFill>
                <a:effectLst>
                  <a:outerShdw blurRad="38100" dist="38100" dir="2700000" algn="tl">
                    <a:srgbClr val="000000"/>
                  </a:outerShdw>
                </a:effectLst>
                <a:latin typeface="Arial" charset="0"/>
              </a:rPr>
              <a:t>章  流水线技术</a:t>
            </a:r>
          </a:p>
        </p:txBody>
      </p:sp>
      <p:sp>
        <p:nvSpPr>
          <p:cNvPr id="658441" name="Rectangle 9"/>
          <p:cNvSpPr>
            <a:spLocks noChangeArrowheads="1"/>
          </p:cNvSpPr>
          <p:nvPr/>
        </p:nvSpPr>
        <p:spPr bwMode="auto">
          <a:xfrm>
            <a:off x="2339975" y="30368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u="sng" dirty="0">
                <a:solidFill>
                  <a:srgbClr val="0066FF"/>
                </a:solidFill>
                <a:effectLst>
                  <a:outerShdw blurRad="38100" dist="38100" dir="2700000" algn="tl">
                    <a:srgbClr val="000000"/>
                  </a:outerShdw>
                </a:effectLst>
                <a:latin typeface="Arial" charset="0"/>
              </a:rPr>
              <a:t>第 </a:t>
            </a:r>
            <a:r>
              <a:rPr lang="en-US" altLang="zh-CN" sz="2800" u="sng" dirty="0">
                <a:solidFill>
                  <a:srgbClr val="0066FF"/>
                </a:solidFill>
                <a:effectLst>
                  <a:outerShdw blurRad="38100" dist="38100" dir="2700000" algn="tl">
                    <a:srgbClr val="000000"/>
                  </a:outerShdw>
                </a:effectLst>
                <a:latin typeface="Times New Roman" pitchFamily="18" charset="0"/>
              </a:rPr>
              <a:t>4 </a:t>
            </a:r>
            <a:r>
              <a:rPr lang="zh-CN" altLang="en-US" sz="2800" u="sng" dirty="0">
                <a:solidFill>
                  <a:srgbClr val="0066FF"/>
                </a:solidFill>
                <a:effectLst>
                  <a:outerShdw blurRad="38100" dist="38100" dir="2700000" algn="tl">
                    <a:srgbClr val="000000"/>
                  </a:outerShdw>
                </a:effectLst>
                <a:latin typeface="Arial" charset="0"/>
              </a:rPr>
              <a:t>章   指令级并行</a:t>
            </a:r>
          </a:p>
        </p:txBody>
      </p:sp>
      <p:sp>
        <p:nvSpPr>
          <p:cNvPr id="658442" name="Rectangle 10"/>
          <p:cNvSpPr>
            <a:spLocks noChangeArrowheads="1"/>
          </p:cNvSpPr>
          <p:nvPr/>
        </p:nvSpPr>
        <p:spPr bwMode="auto">
          <a:xfrm>
            <a:off x="2339975" y="365281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5 </a:t>
            </a:r>
            <a:r>
              <a:rPr lang="zh-CN" altLang="en-US" sz="2800" dirty="0">
                <a:solidFill>
                  <a:schemeClr val="tx2"/>
                </a:solidFill>
                <a:effectLst>
                  <a:outerShdw blurRad="38100" dist="38100" dir="2700000" algn="tl">
                    <a:srgbClr val="000000"/>
                  </a:outerShdw>
                </a:effectLst>
                <a:latin typeface="Arial" charset="0"/>
              </a:rPr>
              <a:t>章  存储层次</a:t>
            </a:r>
          </a:p>
        </p:txBody>
      </p:sp>
      <p:sp>
        <p:nvSpPr>
          <p:cNvPr id="658443" name="Rectangle 11"/>
          <p:cNvSpPr>
            <a:spLocks noChangeArrowheads="1"/>
          </p:cNvSpPr>
          <p:nvPr/>
        </p:nvSpPr>
        <p:spPr bwMode="auto">
          <a:xfrm>
            <a:off x="2339975" y="42687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Times New Roman" pitchFamily="18" charset="0"/>
              </a:rPr>
              <a:t>6 </a:t>
            </a:r>
            <a:r>
              <a:rPr lang="zh-CN" altLang="en-US" sz="2800" dirty="0">
                <a:solidFill>
                  <a:schemeClr val="tx2"/>
                </a:solidFill>
                <a:effectLst>
                  <a:outerShdw blurRad="38100" dist="38100" dir="2700000" algn="tl">
                    <a:srgbClr val="000000"/>
                  </a:outerShdw>
                </a:effectLst>
                <a:latin typeface="Arial" charset="0"/>
              </a:rPr>
              <a:t>章   输入输出系统</a:t>
            </a:r>
          </a:p>
        </p:txBody>
      </p:sp>
      <p:sp>
        <p:nvSpPr>
          <p:cNvPr id="13" name="Rectangle 8"/>
          <p:cNvSpPr>
            <a:spLocks noChangeArrowheads="1"/>
          </p:cNvSpPr>
          <p:nvPr/>
        </p:nvSpPr>
        <p:spPr bwMode="auto">
          <a:xfrm>
            <a:off x="2339975" y="1828776"/>
            <a:ext cx="5256213"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2 </a:t>
            </a:r>
            <a:r>
              <a:rPr lang="zh-CN" altLang="en-US" sz="2800" dirty="0">
                <a:solidFill>
                  <a:schemeClr val="tx2"/>
                </a:solidFill>
                <a:effectLst>
                  <a:outerShdw blurRad="38100" dist="38100" dir="2700000" algn="tl">
                    <a:srgbClr val="000000"/>
                  </a:outerShdw>
                </a:effectLst>
                <a:latin typeface="Arial" charset="0"/>
              </a:rPr>
              <a:t>章  指令系统</a:t>
            </a:r>
          </a:p>
        </p:txBody>
      </p:sp>
      <p:sp>
        <p:nvSpPr>
          <p:cNvPr id="12" name="Rectangle 7"/>
          <p:cNvSpPr>
            <a:spLocks noChangeArrowheads="1"/>
          </p:cNvSpPr>
          <p:nvPr/>
        </p:nvSpPr>
        <p:spPr bwMode="auto">
          <a:xfrm>
            <a:off x="2339752" y="620688"/>
            <a:ext cx="5616575"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Arial" charset="0"/>
              </a:rPr>
              <a:t>第 </a:t>
            </a:r>
            <a:r>
              <a:rPr lang="en-US" altLang="zh-CN" sz="2800" dirty="0">
                <a:solidFill>
                  <a:schemeClr val="tx2"/>
                </a:solidFill>
                <a:effectLst>
                  <a:outerShdw blurRad="38100" dist="38100" dir="2700000" algn="tl">
                    <a:srgbClr val="000000"/>
                  </a:outerShdw>
                </a:effectLst>
                <a:latin typeface="Arial" charset="0"/>
              </a:rPr>
              <a:t>0 </a:t>
            </a:r>
            <a:r>
              <a:rPr lang="zh-CN" altLang="en-US" sz="2800" dirty="0">
                <a:solidFill>
                  <a:schemeClr val="tx2"/>
                </a:solidFill>
                <a:effectLst>
                  <a:outerShdw blurRad="38100" dist="38100" dir="2700000" algn="tl">
                    <a:srgbClr val="000000"/>
                  </a:outerShdw>
                </a:effectLst>
                <a:latin typeface="Arial" charset="0"/>
              </a:rPr>
              <a:t>章  前言</a:t>
            </a:r>
          </a:p>
        </p:txBody>
      </p:sp>
      <p:sp>
        <p:nvSpPr>
          <p:cNvPr id="2" name="日期占位符 1">
            <a:extLst>
              <a:ext uri="{FF2B5EF4-FFF2-40B4-BE49-F238E27FC236}">
                <a16:creationId xmlns:a16="http://schemas.microsoft.com/office/drawing/2014/main" id="{F84ED1D6-D83F-F75D-6B74-247595661E06}"/>
              </a:ext>
            </a:extLst>
          </p:cNvPr>
          <p:cNvSpPr>
            <a:spLocks noGrp="1"/>
          </p:cNvSpPr>
          <p:nvPr>
            <p:ph type="dt" sz="half" idx="10"/>
          </p:nvPr>
        </p:nvSpPr>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8075BA15-4F28-34BA-F749-9B9BC50BE61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9A32AF0-448A-7286-A354-C53442DA3C7A}"/>
              </a:ext>
            </a:extLst>
          </p:cNvPr>
          <p:cNvSpPr>
            <a:spLocks noGrp="1"/>
          </p:cNvSpPr>
          <p:nvPr>
            <p:ph type="sldNum" sz="quarter" idx="12"/>
          </p:nvPr>
        </p:nvSpPr>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2368169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2"/>
          <p:cNvSpPr>
            <a:spLocks noGrp="1" noChangeArrowheads="1"/>
          </p:cNvSpPr>
          <p:nvPr>
            <p:ph type="ctrTitle"/>
          </p:nvPr>
        </p:nvSpPr>
        <p:spPr>
          <a:xfrm>
            <a:off x="525463" y="404664"/>
            <a:ext cx="7772400" cy="1470025"/>
          </a:xfrm>
        </p:spPr>
        <p:txBody>
          <a:bodyPr/>
          <a:lstStyle/>
          <a:p>
            <a:pPr eaLnBrk="1" hangingPunct="1"/>
            <a:r>
              <a:rPr lang="zh-CN" altLang="en-US" sz="4000" b="1" dirty="0"/>
              <a:t>第四章 指令级并行</a:t>
            </a:r>
          </a:p>
        </p:txBody>
      </p:sp>
      <p:sp>
        <p:nvSpPr>
          <p:cNvPr id="3085" name="Rectangle 13"/>
          <p:cNvSpPr>
            <a:spLocks noGrp="1" noChangeArrowheads="1"/>
          </p:cNvSpPr>
          <p:nvPr>
            <p:ph type="subTitle" idx="1"/>
          </p:nvPr>
        </p:nvSpPr>
        <p:spPr>
          <a:xfrm>
            <a:off x="611188" y="2060575"/>
            <a:ext cx="7200900" cy="3744913"/>
          </a:xfrm>
        </p:spPr>
        <p:txBody>
          <a:bodyPr rtlCol="0">
            <a:normAutofit/>
          </a:bodyPr>
          <a:lstStyle/>
          <a:p>
            <a:pPr marL="471488" lvl="1" algn="l" eaLnBrk="1" fontAlgn="auto" hangingPunct="1">
              <a:lnSpc>
                <a:spcPct val="90000"/>
              </a:lnSpc>
              <a:spcAft>
                <a:spcPts val="0"/>
              </a:spcAft>
              <a:buFont typeface="Wingdings" pitchFamily="2" charset="2"/>
              <a:buNone/>
              <a:defRPr/>
            </a:pPr>
            <a:r>
              <a:rPr lang="en-US" altLang="zh-CN" b="1" dirty="0">
                <a:solidFill>
                  <a:schemeClr val="tx1"/>
                </a:solidFill>
                <a:latin typeface="Times New Roman" panose="02020603050405020304" pitchFamily="18" charset="0"/>
                <a:ea typeface="+mj-ea"/>
                <a:cs typeface="Times New Roman" panose="02020603050405020304" pitchFamily="18" charset="0"/>
              </a:rPr>
              <a:t>4.1	</a:t>
            </a:r>
            <a:r>
              <a:rPr lang="zh-CN" altLang="en-US" b="1" dirty="0">
                <a:solidFill>
                  <a:schemeClr val="tx1"/>
                </a:solidFill>
                <a:latin typeface="Times New Roman" panose="02020603050405020304" pitchFamily="18" charset="0"/>
                <a:ea typeface="+mj-ea"/>
                <a:cs typeface="Times New Roman" panose="02020603050405020304" pitchFamily="18" charset="0"/>
              </a:rPr>
              <a:t>指令级并行的概念</a:t>
            </a:r>
            <a:endParaRPr lang="en-US" altLang="zh-CN" b="1" dirty="0">
              <a:solidFill>
                <a:schemeClr val="tx1"/>
              </a:solidFill>
              <a:latin typeface="Times New Roman" panose="02020603050405020304" pitchFamily="18" charset="0"/>
              <a:ea typeface="+mj-ea"/>
              <a:cs typeface="Times New Roman" panose="02020603050405020304" pitchFamily="18" charset="0"/>
            </a:endParaRPr>
          </a:p>
          <a:p>
            <a:pPr marL="471488" lvl="1" algn="l" eaLnBrk="1" fontAlgn="auto" hangingPunct="1">
              <a:lnSpc>
                <a:spcPct val="90000"/>
              </a:lnSpc>
              <a:spcAft>
                <a:spcPts val="0"/>
              </a:spcAft>
              <a:buFont typeface="Wingdings" pitchFamily="2" charset="2"/>
              <a:buNone/>
              <a:defRPr/>
            </a:pPr>
            <a:r>
              <a:rPr lang="zh-CN" altLang="en-US" b="1" dirty="0">
                <a:solidFill>
                  <a:schemeClr val="tx1"/>
                </a:solidFill>
                <a:latin typeface="Times New Roman" panose="02020603050405020304" pitchFamily="18" charset="0"/>
                <a:ea typeface="+mj-ea"/>
                <a:cs typeface="Times New Roman" panose="02020603050405020304" pitchFamily="18" charset="0"/>
              </a:rPr>
              <a:t> </a:t>
            </a:r>
            <a:endParaRPr lang="en-US" altLang="zh-CN" b="1" dirty="0">
              <a:solidFill>
                <a:schemeClr val="tx1"/>
              </a:solidFill>
              <a:latin typeface="Times New Roman" panose="02020603050405020304" pitchFamily="18" charset="0"/>
              <a:ea typeface="+mj-ea"/>
              <a:cs typeface="Times New Roman" panose="02020603050405020304" pitchFamily="18" charset="0"/>
            </a:endParaRPr>
          </a:p>
          <a:p>
            <a:pPr marL="471488" lvl="1" algn="l" eaLnBrk="1" fontAlgn="auto" hangingPunct="1">
              <a:lnSpc>
                <a:spcPct val="90000"/>
              </a:lnSpc>
              <a:spcAft>
                <a:spcPts val="0"/>
              </a:spcAft>
              <a:buFont typeface="Wingdings" pitchFamily="2" charset="2"/>
              <a:buNone/>
              <a:defRPr/>
            </a:pPr>
            <a:r>
              <a:rPr lang="en-US" altLang="zh-CN" b="1" dirty="0">
                <a:solidFill>
                  <a:schemeClr val="tx1"/>
                </a:solidFill>
                <a:latin typeface="Times New Roman" panose="02020603050405020304" pitchFamily="18" charset="0"/>
                <a:ea typeface="+mj-ea"/>
                <a:cs typeface="Times New Roman" panose="02020603050405020304" pitchFamily="18" charset="0"/>
              </a:rPr>
              <a:t>4.2	</a:t>
            </a:r>
            <a:r>
              <a:rPr lang="zh-CN" altLang="en-US" b="1" dirty="0">
                <a:solidFill>
                  <a:schemeClr val="tx1"/>
                </a:solidFill>
                <a:latin typeface="Times New Roman" panose="02020603050405020304" pitchFamily="18" charset="0"/>
                <a:ea typeface="+mj-ea"/>
                <a:cs typeface="Times New Roman" panose="02020603050405020304" pitchFamily="18" charset="0"/>
              </a:rPr>
              <a:t>指令的动态调度</a:t>
            </a:r>
            <a:endParaRPr lang="en-US" altLang="zh-CN" b="1" dirty="0">
              <a:solidFill>
                <a:schemeClr val="tx1"/>
              </a:solidFill>
              <a:latin typeface="Times New Roman" panose="02020603050405020304" pitchFamily="18" charset="0"/>
              <a:ea typeface="+mj-ea"/>
              <a:cs typeface="Times New Roman" panose="02020603050405020304" pitchFamily="18" charset="0"/>
            </a:endParaRPr>
          </a:p>
          <a:p>
            <a:pPr marL="471488" lvl="1" algn="l" eaLnBrk="1" fontAlgn="auto" hangingPunct="1">
              <a:lnSpc>
                <a:spcPct val="90000"/>
              </a:lnSpc>
              <a:spcAft>
                <a:spcPts val="0"/>
              </a:spcAft>
              <a:buFont typeface="Wingdings" pitchFamily="2" charset="2"/>
              <a:buNone/>
              <a:defRPr/>
            </a:pPr>
            <a:endParaRPr lang="en-US" altLang="zh-CN" b="1" dirty="0">
              <a:solidFill>
                <a:schemeClr val="tx1"/>
              </a:solidFill>
              <a:latin typeface="Times New Roman" panose="02020603050405020304" pitchFamily="18" charset="0"/>
              <a:ea typeface="+mj-ea"/>
              <a:cs typeface="Times New Roman" panose="02020603050405020304" pitchFamily="18" charset="0"/>
            </a:endParaRPr>
          </a:p>
          <a:p>
            <a:pPr marL="471488" lvl="1" algn="l" eaLnBrk="1" fontAlgn="auto" hangingPunct="1">
              <a:lnSpc>
                <a:spcPct val="90000"/>
              </a:lnSpc>
              <a:spcAft>
                <a:spcPts val="0"/>
              </a:spcAft>
              <a:buFont typeface="Wingdings" pitchFamily="2" charset="2"/>
              <a:buNone/>
              <a:defRPr/>
            </a:pPr>
            <a:r>
              <a:rPr lang="en-US" altLang="zh-CN" b="1" dirty="0">
                <a:solidFill>
                  <a:schemeClr val="tx1"/>
                </a:solidFill>
                <a:latin typeface="Times New Roman" panose="02020603050405020304" pitchFamily="18" charset="0"/>
                <a:ea typeface="+mj-ea"/>
                <a:cs typeface="Times New Roman" panose="02020603050405020304" pitchFamily="18" charset="0"/>
              </a:rPr>
              <a:t>4.3	</a:t>
            </a:r>
            <a:r>
              <a:rPr lang="zh-CN" altLang="en-US" b="1" dirty="0">
                <a:solidFill>
                  <a:schemeClr val="tx1"/>
                </a:solidFill>
                <a:latin typeface="Times New Roman" panose="02020603050405020304" pitchFamily="18" charset="0"/>
                <a:ea typeface="+mj-ea"/>
                <a:cs typeface="Times New Roman" panose="02020603050405020304" pitchFamily="18" charset="0"/>
              </a:rPr>
              <a:t>控制相关的动态解决技术</a:t>
            </a:r>
            <a:endParaRPr lang="en-US" altLang="zh-CN" b="1" dirty="0">
              <a:solidFill>
                <a:schemeClr val="tx1"/>
              </a:solidFill>
              <a:latin typeface="Times New Roman" panose="02020603050405020304" pitchFamily="18" charset="0"/>
              <a:ea typeface="+mj-ea"/>
              <a:cs typeface="Times New Roman" panose="02020603050405020304" pitchFamily="18" charset="0"/>
            </a:endParaRPr>
          </a:p>
          <a:p>
            <a:pPr marL="471488" lvl="1" algn="l" eaLnBrk="1" fontAlgn="auto" hangingPunct="1">
              <a:lnSpc>
                <a:spcPct val="90000"/>
              </a:lnSpc>
              <a:spcAft>
                <a:spcPts val="0"/>
              </a:spcAft>
              <a:buFont typeface="Wingdings" pitchFamily="2" charset="2"/>
              <a:buNone/>
              <a:defRPr/>
            </a:pPr>
            <a:endParaRPr lang="en-US" altLang="zh-CN" b="1" dirty="0">
              <a:solidFill>
                <a:schemeClr val="tx1"/>
              </a:solidFill>
              <a:latin typeface="Times New Roman" panose="02020603050405020304" pitchFamily="18" charset="0"/>
              <a:ea typeface="+mj-ea"/>
              <a:cs typeface="Times New Roman" panose="02020603050405020304" pitchFamily="18" charset="0"/>
            </a:endParaRPr>
          </a:p>
          <a:p>
            <a:pPr marL="471488" lvl="1" algn="l" eaLnBrk="1" fontAlgn="auto" hangingPunct="1">
              <a:lnSpc>
                <a:spcPct val="90000"/>
              </a:lnSpc>
              <a:spcAft>
                <a:spcPts val="0"/>
              </a:spcAft>
              <a:buFont typeface="Wingdings" pitchFamily="2" charset="2"/>
              <a:buNone/>
              <a:defRPr/>
            </a:pPr>
            <a:r>
              <a:rPr lang="en-US" altLang="zh-CN" b="1" dirty="0">
                <a:solidFill>
                  <a:schemeClr val="tx1"/>
                </a:solidFill>
                <a:latin typeface="Times New Roman" panose="02020603050405020304" pitchFamily="18" charset="0"/>
                <a:ea typeface="+mj-ea"/>
                <a:cs typeface="Times New Roman" panose="02020603050405020304" pitchFamily="18" charset="0"/>
              </a:rPr>
              <a:t>4.4	</a:t>
            </a:r>
            <a:r>
              <a:rPr lang="zh-CN" altLang="en-US" b="1" dirty="0">
                <a:solidFill>
                  <a:schemeClr val="tx1"/>
                </a:solidFill>
                <a:latin typeface="Times New Roman" panose="02020603050405020304" pitchFamily="18" charset="0"/>
                <a:ea typeface="+mj-ea"/>
                <a:cs typeface="Times New Roman" panose="02020603050405020304" pitchFamily="18" charset="0"/>
              </a:rPr>
              <a:t>多指令流出技术</a:t>
            </a:r>
            <a:endParaRPr lang="en-US" altLang="zh-CN" b="1" dirty="0">
              <a:solidFill>
                <a:schemeClr val="tx1"/>
              </a:solidFill>
              <a:latin typeface="Times New Roman" panose="02020603050405020304" pitchFamily="18" charset="0"/>
              <a:ea typeface="+mj-ea"/>
              <a:cs typeface="Times New Roman" panose="02020603050405020304" pitchFamily="18" charset="0"/>
            </a:endParaRPr>
          </a:p>
        </p:txBody>
      </p:sp>
      <p:sp>
        <p:nvSpPr>
          <p:cNvPr id="3076" name="Rectangle 4"/>
          <p:cNvSpPr>
            <a:spLocks noChangeArrowheads="1"/>
          </p:cNvSpPr>
          <p:nvPr/>
        </p:nvSpPr>
        <p:spPr bwMode="auto">
          <a:xfrm>
            <a:off x="1258888" y="3068638"/>
            <a:ext cx="7010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rgbClr val="0000CC"/>
              </a:buClr>
              <a:buFont typeface="Wingdings" pitchFamily="2" charset="2"/>
              <a:buNone/>
            </a:pPr>
            <a:endParaRPr lang="en-US" altLang="zh-CN" sz="2400" b="1">
              <a:latin typeface="Times New Roman" pitchFamily="18" charset="0"/>
              <a:ea typeface="华文中宋" pitchFamily="2" charset="-122"/>
            </a:endParaRPr>
          </a:p>
        </p:txBody>
      </p:sp>
      <p:sp>
        <p:nvSpPr>
          <p:cNvPr id="2" name="日期占位符 1">
            <a:extLst>
              <a:ext uri="{FF2B5EF4-FFF2-40B4-BE49-F238E27FC236}">
                <a16:creationId xmlns:a16="http://schemas.microsoft.com/office/drawing/2014/main" id="{D75A4AC5-EB0C-C5B5-9DEE-BD52072F65C6}"/>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265C43CA-18E0-23EB-9F6F-86D166EAED60}"/>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47A3027-EDF7-5330-9069-447C4A322FE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4</a:t>
            </a:fld>
            <a:endParaRPr lang="en-US" altLang="zh-CN"/>
          </a:p>
        </p:txBody>
      </p:sp>
    </p:spTree>
    <p:extLst>
      <p:ext uri="{BB962C8B-B14F-4D97-AF65-F5344CB8AC3E}">
        <p14:creationId xmlns:p14="http://schemas.microsoft.com/office/powerpoint/2010/main" val="222878318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3600" b="1" dirty="0">
                <a:latin typeface="Times New Roman" panose="02020603050405020304" pitchFamily="18" charset="0"/>
                <a:cs typeface="Times New Roman" panose="02020603050405020304" pitchFamily="18" charset="0"/>
              </a:rPr>
              <a:t>4.1  </a:t>
            </a:r>
            <a:r>
              <a:rPr lang="zh-CN" altLang="en-US" sz="3600" b="1" dirty="0">
                <a:latin typeface="Times New Roman" panose="02020603050405020304" pitchFamily="18" charset="0"/>
                <a:cs typeface="Times New Roman" panose="02020603050405020304" pitchFamily="18" charset="0"/>
              </a:rPr>
              <a:t>指令级并行的概念</a:t>
            </a:r>
          </a:p>
        </p:txBody>
      </p:sp>
      <p:sp>
        <p:nvSpPr>
          <p:cNvPr id="4099" name="Rectangle 2"/>
          <p:cNvSpPr>
            <a:spLocks noGrp="1" noChangeArrowheads="1"/>
          </p:cNvSpPr>
          <p:nvPr>
            <p:ph idx="1"/>
          </p:nvPr>
        </p:nvSpPr>
        <p:spPr>
          <a:xfrm>
            <a:off x="755650" y="2060575"/>
            <a:ext cx="7064375" cy="3313113"/>
          </a:xfrm>
        </p:spPr>
        <p:txBody>
          <a:bodyPr/>
          <a:lstStyle/>
          <a:p>
            <a:pPr marL="0" indent="0" eaLnBrk="1" hangingPunct="1">
              <a:spcBef>
                <a:spcPct val="50000"/>
              </a:spcBef>
              <a:buFont typeface="Arial" charset="0"/>
              <a:buNone/>
            </a:pPr>
            <a:r>
              <a:rPr lang="en-US" altLang="zh-CN" sz="2800" b="1" dirty="0">
                <a:latin typeface="Times New Roman" pitchFamily="18" charset="0"/>
              </a:rPr>
              <a:t>4.1.1  </a:t>
            </a:r>
            <a:r>
              <a:rPr lang="zh-CN" altLang="en-US" sz="2800" b="1" dirty="0">
                <a:latin typeface="Times New Roman" pitchFamily="18" charset="0"/>
              </a:rPr>
              <a:t>循环展开调度的基本方法</a:t>
            </a:r>
            <a:endParaRPr lang="en-US" altLang="zh-CN" sz="2800" b="1" dirty="0">
              <a:latin typeface="Times New Roman" pitchFamily="18" charset="0"/>
            </a:endParaRPr>
          </a:p>
          <a:p>
            <a:pPr marL="0" indent="0" eaLnBrk="1" hangingPunct="1">
              <a:spcBef>
                <a:spcPct val="50000"/>
              </a:spcBef>
              <a:buFont typeface="Arial" charset="0"/>
              <a:buNone/>
            </a:pPr>
            <a:endParaRPr lang="zh-CN" altLang="en-US" sz="2800" b="1" dirty="0">
              <a:latin typeface="Times New Roman" pitchFamily="18" charset="0"/>
            </a:endParaRPr>
          </a:p>
          <a:p>
            <a:pPr marL="0" indent="0" eaLnBrk="1" hangingPunct="1">
              <a:spcBef>
                <a:spcPct val="50000"/>
              </a:spcBef>
              <a:buFont typeface="Arial" charset="0"/>
              <a:buNone/>
            </a:pPr>
            <a:r>
              <a:rPr lang="en-US" altLang="zh-CN" sz="2800" b="1" dirty="0">
                <a:latin typeface="Times New Roman" pitchFamily="18" charset="0"/>
              </a:rPr>
              <a:t>4.1.2  </a:t>
            </a:r>
            <a:r>
              <a:rPr lang="zh-CN" altLang="en-US" sz="2800" b="1" dirty="0">
                <a:latin typeface="Times New Roman" pitchFamily="18" charset="0"/>
              </a:rPr>
              <a:t>相关性</a:t>
            </a: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177FFBB8-D9CB-F45F-9ADE-1015A2CBFDDD}"/>
              </a:ext>
            </a:extLst>
          </p:cNvPr>
          <p:cNvSpPr>
            <a:spLocks noGrp="1"/>
          </p:cNvSpPr>
          <p:nvPr>
            <p:ph type="dt" sz="half" idx="10"/>
          </p:nvPr>
        </p:nvSpPr>
        <p:spPr/>
        <p:txBody>
          <a:bodyPr/>
          <a:lstStyle/>
          <a:p>
            <a:pPr>
              <a:defRPr/>
            </a:pPr>
            <a:fld id="{0BB2F5AE-EF46-4433-A196-1C191D8384A9}"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289D7BD0-B327-90C1-5E9C-CE54495E54B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BD9DFDE-FAC7-D8F8-1775-F542592164CA}"/>
              </a:ext>
            </a:extLst>
          </p:cNvPr>
          <p:cNvSpPr>
            <a:spLocks noGrp="1"/>
          </p:cNvSpPr>
          <p:nvPr>
            <p:ph type="sldNum" sz="quarter" idx="12"/>
          </p:nvPr>
        </p:nvSpPr>
        <p:spPr/>
        <p:txBody>
          <a:bodyPr/>
          <a:lstStyle/>
          <a:p>
            <a:pPr>
              <a:defRPr/>
            </a:pPr>
            <a:fld id="{8BCAC33D-D29A-48B3-BCD6-381D3D720D26}" type="slidenum">
              <a:rPr lang="zh-CN" altLang="en-US" smtClean="0"/>
              <a:t>5</a:t>
            </a:fld>
            <a:endParaRPr lang="en-US" altLang="zh-CN"/>
          </a:p>
        </p:txBody>
      </p:sp>
    </p:spTree>
    <p:extLst>
      <p:ext uri="{BB962C8B-B14F-4D97-AF65-F5344CB8AC3E}">
        <p14:creationId xmlns:p14="http://schemas.microsoft.com/office/powerpoint/2010/main" val="296266874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4.1  </a:t>
            </a:r>
            <a:r>
              <a:rPr lang="zh-CN" altLang="en-US" sz="3600" b="1" dirty="0">
                <a:latin typeface="Times New Roman" panose="02020603050405020304" pitchFamily="18" charset="0"/>
                <a:cs typeface="Times New Roman" panose="02020603050405020304" pitchFamily="18" charset="0"/>
              </a:rPr>
              <a:t>指令级并行的概念</a:t>
            </a:r>
            <a:endParaRPr lang="zh-CN" altLang="en-US" sz="3600" dirty="0">
              <a:latin typeface="Times New Roman" panose="02020603050405020304" pitchFamily="18" charset="0"/>
              <a:ea typeface="幼圆" pitchFamily="49" charset="-122"/>
              <a:cs typeface="Times New Roman" panose="02020603050405020304" pitchFamily="18" charset="0"/>
            </a:endParaRPr>
          </a:p>
        </p:txBody>
      </p:sp>
      <p:sp>
        <p:nvSpPr>
          <p:cNvPr id="4104" name="Rectangle 8"/>
          <p:cNvSpPr>
            <a:spLocks noGrp="1" noChangeArrowheads="1"/>
          </p:cNvSpPr>
          <p:nvPr>
            <p:ph type="body" idx="4294967295"/>
          </p:nvPr>
        </p:nvSpPr>
        <p:spPr>
          <a:xfrm>
            <a:off x="468313" y="1557338"/>
            <a:ext cx="8229600" cy="4525962"/>
          </a:xfrm>
        </p:spPr>
        <p:txBody>
          <a:bodyPr/>
          <a:lstStyle/>
          <a:p>
            <a:pPr eaLnBrk="1" hangingPunct="1">
              <a:lnSpc>
                <a:spcPct val="110000"/>
              </a:lnSpc>
              <a:defRPr/>
            </a:pPr>
            <a:r>
              <a:rPr lang="zh-CN" altLang="en-US" sz="2400" b="1" dirty="0">
                <a:latin typeface="Times New Roman" panose="02020603050405020304" pitchFamily="18" charset="0"/>
                <a:cs typeface="Times New Roman" panose="02020603050405020304" pitchFamily="18" charset="0"/>
              </a:rPr>
              <a:t>当指令之间不存在相关时，它们在流水线中是可以重叠起来并行执行的。这种指令序列中存在的</a:t>
            </a:r>
            <a:r>
              <a:rPr lang="zh-CN" altLang="en-US" sz="2400" b="1" dirty="0">
                <a:solidFill>
                  <a:srgbClr val="FF0000"/>
                </a:solidFill>
                <a:latin typeface="Times New Roman" panose="02020603050405020304" pitchFamily="18" charset="0"/>
                <a:cs typeface="Times New Roman" panose="02020603050405020304" pitchFamily="18" charset="0"/>
              </a:rPr>
              <a:t>潜在</a:t>
            </a:r>
            <a:r>
              <a:rPr lang="zh-CN" altLang="en-US" sz="2400" b="1" dirty="0">
                <a:latin typeface="Times New Roman" panose="02020603050405020304" pitchFamily="18" charset="0"/>
                <a:cs typeface="Times New Roman" panose="02020603050405020304" pitchFamily="18" charset="0"/>
              </a:rPr>
              <a:t>并行性称为指令级并行</a:t>
            </a:r>
          </a:p>
          <a:p>
            <a:pPr lvl="1" eaLnBrk="1" hangingPunct="1">
              <a:lnSpc>
                <a:spcPct val="110000"/>
              </a:lnSpc>
              <a:defRPr/>
            </a:pPr>
            <a:r>
              <a:rPr lang="en-US" altLang="zh-CN" sz="2400" b="1" dirty="0">
                <a:latin typeface="Times New Roman" panose="02020603050405020304" pitchFamily="18" charset="0"/>
                <a:cs typeface="Times New Roman" panose="02020603050405020304" pitchFamily="18" charset="0"/>
              </a:rPr>
              <a:t>Instruction-Level Parallelism</a:t>
            </a:r>
          </a:p>
          <a:p>
            <a:pPr lvl="1" eaLnBrk="1" hangingPunct="1">
              <a:lnSpc>
                <a:spcPct val="110000"/>
              </a:lnSpc>
              <a:defRPr/>
            </a:pPr>
            <a:r>
              <a:rPr lang="zh-CN" altLang="en-US" sz="2400" b="1" dirty="0">
                <a:latin typeface="Times New Roman" panose="02020603050405020304" pitchFamily="18" charset="0"/>
                <a:cs typeface="Times New Roman" panose="02020603050405020304" pitchFamily="18" charset="0"/>
              </a:rPr>
              <a:t>简记为</a:t>
            </a:r>
            <a:r>
              <a:rPr lang="en-US" altLang="zh-CN" sz="2400" b="1" dirty="0">
                <a:latin typeface="Times New Roman" panose="02020603050405020304" pitchFamily="18" charset="0"/>
                <a:cs typeface="Times New Roman" panose="02020603050405020304" pitchFamily="18" charset="0"/>
              </a:rPr>
              <a:t>ILP</a:t>
            </a:r>
            <a:r>
              <a:rPr lang="zh-CN" altLang="en-US" sz="2400" b="1" dirty="0">
                <a:latin typeface="Times New Roman" panose="02020603050405020304" pitchFamily="18" charset="0"/>
                <a:cs typeface="Times New Roman" panose="02020603050405020304" pitchFamily="18" charset="0"/>
              </a:rPr>
              <a:t> </a:t>
            </a:r>
            <a:endParaRPr lang="en-US" altLang="zh-CN" sz="2400" b="1" dirty="0">
              <a:latin typeface="Times New Roman" panose="02020603050405020304" pitchFamily="18" charset="0"/>
              <a:cs typeface="Times New Roman" panose="02020603050405020304" pitchFamily="18" charset="0"/>
            </a:endParaRPr>
          </a:p>
          <a:p>
            <a:pPr eaLnBrk="1" hangingPunct="1">
              <a:lnSpc>
                <a:spcPct val="110000"/>
              </a:lnSpc>
              <a:defRPr/>
            </a:pPr>
            <a:r>
              <a:rPr lang="zh-CN" altLang="zh-CN" sz="2400" b="1" noProof="1">
                <a:latin typeface="Times New Roman" panose="02020603050405020304" pitchFamily="18" charset="0"/>
                <a:cs typeface="Times New Roman" panose="02020603050405020304" pitchFamily="18" charset="0"/>
              </a:rPr>
              <a:t>如何知道指令</a:t>
            </a:r>
            <a:r>
              <a:rPr lang="zh-CN" altLang="en-US" sz="2400" b="1" dirty="0">
                <a:latin typeface="Times New Roman" panose="02020603050405020304" pitchFamily="18" charset="0"/>
                <a:cs typeface="Times New Roman" panose="02020603050405020304" pitchFamily="18" charset="0"/>
              </a:rPr>
              <a:t>之间</a:t>
            </a:r>
            <a:r>
              <a:rPr lang="zh-CN" sz="2400" b="1" dirty="0">
                <a:latin typeface="Times New Roman" panose="02020603050405020304" pitchFamily="18" charset="0"/>
                <a:cs typeface="Times New Roman" panose="02020603050405020304" pitchFamily="18" charset="0"/>
              </a:rPr>
              <a:t>可以并行</a:t>
            </a:r>
            <a:r>
              <a:rPr lang="en-US" altLang="zh-CN" sz="2400" b="1" dirty="0">
                <a:latin typeface="Times New Roman" panose="02020603050405020304" pitchFamily="18" charset="0"/>
                <a:cs typeface="Times New Roman" panose="02020603050405020304" pitchFamily="18" charset="0"/>
              </a:rPr>
              <a:t>？硬</a:t>
            </a:r>
            <a:r>
              <a:rPr lang="zh-CN" altLang="en-US" sz="2400" b="1" dirty="0">
                <a:latin typeface="Times New Roman" panose="02020603050405020304" pitchFamily="18" charset="0"/>
                <a:cs typeface="Times New Roman" panose="02020603050405020304" pitchFamily="18" charset="0"/>
              </a:rPr>
              <a:t>、软件如何支持指令级并行？</a:t>
            </a:r>
            <a:r>
              <a:rPr lang="zh-CN" altLang="en-US" sz="2400" b="1" noProof="1">
                <a:latin typeface="Times New Roman" panose="02020603050405020304" pitchFamily="18" charset="0"/>
                <a:cs typeface="Times New Roman" panose="02020603050405020304" pitchFamily="18" charset="0"/>
              </a:rPr>
              <a:t>如何研究这些问题</a:t>
            </a:r>
            <a:r>
              <a:rPr lang="en-US" altLang="zh-CN" sz="2400" b="1" dirty="0">
                <a:latin typeface="Times New Roman" panose="02020603050405020304" pitchFamily="18" charset="0"/>
                <a:cs typeface="Times New Roman" panose="02020603050405020304" pitchFamily="18" charset="0"/>
              </a:rPr>
              <a:t>？</a:t>
            </a:r>
            <a:endParaRPr lang="zh-CN" sz="2400" b="1" dirty="0">
              <a:latin typeface="Times New Roman" panose="02020603050405020304" pitchFamily="18" charset="0"/>
              <a:cs typeface="Times New Roman" panose="02020603050405020304" pitchFamily="18" charset="0"/>
            </a:endParaRPr>
          </a:p>
          <a:p>
            <a:pPr lvl="1" eaLnBrk="1" hangingPunct="1">
              <a:lnSpc>
                <a:spcPct val="110000"/>
              </a:lnSpc>
              <a:defRPr/>
            </a:pPr>
            <a:r>
              <a:rPr lang="zh-CN" altLang="en-US" sz="2400" b="1" dirty="0">
                <a:latin typeface="Times New Roman" panose="02020603050405020304" pitchFamily="18" charset="0"/>
                <a:cs typeface="Times New Roman" panose="02020603050405020304" pitchFamily="18" charset="0"/>
              </a:rPr>
              <a:t>硬件技术或者软件技术都可以提高指令级并行性</a:t>
            </a:r>
          </a:p>
          <a:p>
            <a:pPr lvl="1" eaLnBrk="1" hangingPunct="1">
              <a:lnSpc>
                <a:spcPct val="110000"/>
              </a:lnSpc>
              <a:defRPr/>
            </a:pPr>
            <a:r>
              <a:rPr lang="zh-CN" altLang="en-US" sz="2400" b="1" dirty="0">
                <a:latin typeface="Times New Roman" panose="02020603050405020304" pitchFamily="18" charset="0"/>
                <a:cs typeface="Times New Roman" panose="02020603050405020304" pitchFamily="18" charset="0"/>
              </a:rPr>
              <a:t>必须要硬件技术和软件技术互相配合，才能够最大限度地挖掘出程序中存在的指令级并行 </a:t>
            </a:r>
            <a:endParaRPr lang="zh-CN" altLang="zh-CN" sz="2400" b="1" noProof="1">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8A577731-9691-744F-6728-731F8E248793}"/>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7A9A144F-CF51-AFA1-5FEE-99DFF8F51B4C}"/>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8FE43E3-60A2-BA8A-2ADC-ED13AE2D01D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6</a:t>
            </a:fld>
            <a:endParaRPr lang="en-US" altLang="zh-CN"/>
          </a:p>
        </p:txBody>
      </p:sp>
    </p:spTree>
    <p:extLst>
      <p:ext uri="{BB962C8B-B14F-4D97-AF65-F5344CB8AC3E}">
        <p14:creationId xmlns:p14="http://schemas.microsoft.com/office/powerpoint/2010/main" val="213617378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04">
                                            <p:bg/>
                                          </p:spTgt>
                                        </p:tgtEl>
                                        <p:attrNameLst>
                                          <p:attrName>style.visibility</p:attrName>
                                        </p:attrNameLst>
                                      </p:cBhvr>
                                      <p:to>
                                        <p:strVal val="visible"/>
                                      </p:to>
                                    </p:set>
                                    <p:animEffect transition="in" filter="wipe(left)">
                                      <p:cBhvr>
                                        <p:cTn id="7" dur="500"/>
                                        <p:tgtEl>
                                          <p:spTgt spid="4104">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4">
                                            <p:txEl>
                                              <p:pRg st="0" end="0"/>
                                            </p:txEl>
                                          </p:spTgt>
                                        </p:tgtEl>
                                        <p:attrNameLst>
                                          <p:attrName>style.visibility</p:attrName>
                                        </p:attrNameLst>
                                      </p:cBhvr>
                                      <p:to>
                                        <p:strVal val="visible"/>
                                      </p:to>
                                    </p:set>
                                    <p:animEffect transition="in" filter="wipe(left)">
                                      <p:cBhvr>
                                        <p:cTn id="12" dur="500"/>
                                        <p:tgtEl>
                                          <p:spTgt spid="4104">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104">
                                            <p:txEl>
                                              <p:pRg st="1" end="1"/>
                                            </p:txEl>
                                          </p:spTgt>
                                        </p:tgtEl>
                                        <p:attrNameLst>
                                          <p:attrName>style.visibility</p:attrName>
                                        </p:attrNameLst>
                                      </p:cBhvr>
                                      <p:to>
                                        <p:strVal val="visible"/>
                                      </p:to>
                                    </p:set>
                                    <p:animEffect transition="in" filter="wipe(left)">
                                      <p:cBhvr>
                                        <p:cTn id="15" dur="500"/>
                                        <p:tgtEl>
                                          <p:spTgt spid="4104">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104">
                                            <p:txEl>
                                              <p:pRg st="2" end="2"/>
                                            </p:txEl>
                                          </p:spTgt>
                                        </p:tgtEl>
                                        <p:attrNameLst>
                                          <p:attrName>style.visibility</p:attrName>
                                        </p:attrNameLst>
                                      </p:cBhvr>
                                      <p:to>
                                        <p:strVal val="visible"/>
                                      </p:to>
                                    </p:set>
                                    <p:animEffect transition="in" filter="wipe(left)">
                                      <p:cBhvr>
                                        <p:cTn id="18" dur="500"/>
                                        <p:tgtEl>
                                          <p:spTgt spid="4104">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104">
                                            <p:txEl>
                                              <p:pRg st="3" end="3"/>
                                            </p:txEl>
                                          </p:spTgt>
                                        </p:tgtEl>
                                        <p:attrNameLst>
                                          <p:attrName>style.visibility</p:attrName>
                                        </p:attrNameLst>
                                      </p:cBhvr>
                                      <p:to>
                                        <p:strVal val="visible"/>
                                      </p:to>
                                    </p:set>
                                    <p:animEffect transition="in" filter="wipe(left)">
                                      <p:cBhvr>
                                        <p:cTn id="23" dur="500"/>
                                        <p:tgtEl>
                                          <p:spTgt spid="4104">
                                            <p:txEl>
                                              <p:pRg st="3" end="3"/>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104">
                                            <p:txEl>
                                              <p:pRg st="4" end="4"/>
                                            </p:txEl>
                                          </p:spTgt>
                                        </p:tgtEl>
                                        <p:attrNameLst>
                                          <p:attrName>style.visibility</p:attrName>
                                        </p:attrNameLst>
                                      </p:cBhvr>
                                      <p:to>
                                        <p:strVal val="visible"/>
                                      </p:to>
                                    </p:set>
                                    <p:animEffect transition="in" filter="wipe(left)">
                                      <p:cBhvr>
                                        <p:cTn id="26" dur="500"/>
                                        <p:tgtEl>
                                          <p:spTgt spid="4104">
                                            <p:txEl>
                                              <p:pRg st="4" end="4"/>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104">
                                            <p:txEl>
                                              <p:pRg st="5" end="5"/>
                                            </p:txEl>
                                          </p:spTgt>
                                        </p:tgtEl>
                                        <p:attrNameLst>
                                          <p:attrName>style.visibility</p:attrName>
                                        </p:attrNameLst>
                                      </p:cBhvr>
                                      <p:to>
                                        <p:strVal val="visible"/>
                                      </p:to>
                                    </p:set>
                                    <p:animEffect transition="in" filter="wipe(left)">
                                      <p:cBhvr>
                                        <p:cTn id="29" dur="500"/>
                                        <p:tgtEl>
                                          <p:spTgt spid="410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4"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title" idx="4294967295"/>
          </p:nvPr>
        </p:nvSpPr>
        <p:spPr/>
        <p:txBody>
          <a:bodyPr/>
          <a:lstStyle/>
          <a:p>
            <a:pPr eaLnBrk="1" hangingPunct="1">
              <a:defRPr/>
            </a:pPr>
            <a:r>
              <a:rPr lang="zh-CN" altLang="en-US" sz="3600" b="1" dirty="0">
                <a:latin typeface="+mj-ea"/>
              </a:rPr>
              <a:t>性能评价：</a:t>
            </a:r>
            <a:r>
              <a:rPr lang="en-US" altLang="zh-CN" sz="3600" b="1" dirty="0">
                <a:latin typeface="+mj-ea"/>
              </a:rPr>
              <a:t>CPI</a:t>
            </a:r>
            <a:r>
              <a:rPr lang="zh-CN" altLang="en-US" sz="3600" b="1" dirty="0">
                <a:latin typeface="+mj-ea"/>
              </a:rPr>
              <a:t>计算</a:t>
            </a:r>
          </a:p>
        </p:txBody>
      </p:sp>
      <p:sp>
        <p:nvSpPr>
          <p:cNvPr id="5130" name="Rectangle 10"/>
          <p:cNvSpPr>
            <a:spLocks noGrp="1" noChangeArrowheads="1"/>
          </p:cNvSpPr>
          <p:nvPr>
            <p:ph type="body" idx="4294967295"/>
          </p:nvPr>
        </p:nvSpPr>
        <p:spPr/>
        <p:txBody>
          <a:bodyPr/>
          <a:lstStyle/>
          <a:p>
            <a:pPr eaLnBrk="1" hangingPunct="1"/>
            <a:r>
              <a:rPr lang="zh-CN" altLang="en-US" sz="2400" b="1" dirty="0"/>
              <a:t>流水线处理器的实际</a:t>
            </a:r>
            <a:r>
              <a:rPr lang="en-US" altLang="zh-CN" sz="2400" b="1" dirty="0"/>
              <a:t>CPI</a:t>
            </a:r>
            <a:r>
              <a:rPr lang="zh-CN" altLang="en-US" sz="2400" b="1" dirty="0"/>
              <a:t>（平均每条指令使用的周期数）等于理想流水线的</a:t>
            </a:r>
            <a:r>
              <a:rPr lang="en-US" altLang="zh-CN" sz="2400" b="1" dirty="0"/>
              <a:t>CPI</a:t>
            </a:r>
            <a:r>
              <a:rPr lang="zh-CN" altLang="en-US" sz="2400" b="1" dirty="0"/>
              <a:t>加上各类停顿引起的周期数的总和 </a:t>
            </a:r>
            <a:endParaRPr lang="en-US" altLang="zh-CN" sz="2400" b="1" dirty="0"/>
          </a:p>
          <a:p>
            <a:pPr lvl="1" eaLnBrk="1" hangingPunct="1">
              <a:buFont typeface="Wingdings" pitchFamily="2" charset="2"/>
              <a:buNone/>
            </a:pPr>
            <a:r>
              <a:rPr lang="en-US" altLang="zh-CN" sz="2400" b="1" dirty="0"/>
              <a:t>	</a:t>
            </a:r>
            <a:r>
              <a:rPr lang="en-US" altLang="zh-CN" sz="2400" dirty="0"/>
              <a:t>   CPI</a:t>
            </a:r>
            <a:r>
              <a:rPr lang="zh-CN" altLang="en-US" sz="2400" baseline="-25000" dirty="0"/>
              <a:t>流水线</a:t>
            </a:r>
            <a:r>
              <a:rPr lang="zh-CN" altLang="en-US" sz="2400" dirty="0"/>
              <a:t>	</a:t>
            </a:r>
            <a:r>
              <a:rPr lang="en-US" altLang="zh-CN" sz="2400" dirty="0"/>
              <a:t>= CPI</a:t>
            </a:r>
            <a:r>
              <a:rPr lang="zh-CN" altLang="en-US" sz="2400" baseline="-25000" dirty="0"/>
              <a:t>理想</a:t>
            </a:r>
          </a:p>
          <a:p>
            <a:pPr lvl="1" eaLnBrk="1" hangingPunct="1">
              <a:buFont typeface="Wingdings" pitchFamily="2" charset="2"/>
              <a:buNone/>
            </a:pPr>
            <a:r>
              <a:rPr lang="en-US" altLang="zh-CN" sz="2400" dirty="0"/>
              <a:t>				+ </a:t>
            </a:r>
            <a:r>
              <a:rPr lang="zh-CN" altLang="en-US" sz="2400" dirty="0"/>
              <a:t>停顿</a:t>
            </a:r>
            <a:r>
              <a:rPr lang="zh-CN" altLang="en-US" sz="2400" baseline="-25000" dirty="0"/>
              <a:t>结构冲突 </a:t>
            </a:r>
          </a:p>
          <a:p>
            <a:pPr lvl="1" eaLnBrk="1" hangingPunct="1">
              <a:buFont typeface="Wingdings" pitchFamily="2" charset="2"/>
              <a:buNone/>
            </a:pPr>
            <a:r>
              <a:rPr lang="en-US" altLang="zh-CN" sz="2400" dirty="0"/>
              <a:t>				+ </a:t>
            </a:r>
            <a:r>
              <a:rPr lang="zh-CN" altLang="en-US" sz="2400" dirty="0"/>
              <a:t>停顿</a:t>
            </a:r>
            <a:r>
              <a:rPr lang="zh-CN" altLang="en-US" sz="2400" baseline="-25000" dirty="0"/>
              <a:t>先写后读</a:t>
            </a:r>
          </a:p>
          <a:p>
            <a:pPr lvl="1" eaLnBrk="1" hangingPunct="1">
              <a:buFont typeface="Wingdings" pitchFamily="2" charset="2"/>
              <a:buNone/>
            </a:pPr>
            <a:r>
              <a:rPr lang="en-US" altLang="zh-CN" sz="2400" dirty="0"/>
              <a:t>				+ </a:t>
            </a:r>
            <a:r>
              <a:rPr lang="zh-CN" altLang="en-US" sz="2400" dirty="0"/>
              <a:t>停顿</a:t>
            </a:r>
            <a:r>
              <a:rPr lang="zh-CN" altLang="en-US" sz="2400" baseline="-25000" dirty="0"/>
              <a:t>先读后写</a:t>
            </a:r>
          </a:p>
          <a:p>
            <a:pPr lvl="1" eaLnBrk="1" hangingPunct="1">
              <a:buFont typeface="Wingdings" pitchFamily="2" charset="2"/>
              <a:buNone/>
            </a:pPr>
            <a:r>
              <a:rPr lang="en-US" altLang="zh-CN" sz="2400" dirty="0"/>
              <a:t>				+ </a:t>
            </a:r>
            <a:r>
              <a:rPr lang="zh-CN" altLang="en-US" sz="2400" dirty="0"/>
              <a:t>停顿</a:t>
            </a:r>
            <a:r>
              <a:rPr lang="zh-CN" altLang="en-US" sz="2400" baseline="-25000" dirty="0"/>
              <a:t>写后写</a:t>
            </a:r>
          </a:p>
          <a:p>
            <a:pPr lvl="1" eaLnBrk="1" hangingPunct="1">
              <a:buFont typeface="Wingdings" pitchFamily="2" charset="2"/>
              <a:buNone/>
            </a:pPr>
            <a:r>
              <a:rPr lang="en-US" altLang="zh-CN" sz="2400" dirty="0"/>
              <a:t>				+ </a:t>
            </a:r>
            <a:r>
              <a:rPr lang="zh-CN" altLang="en-US" sz="2400" dirty="0"/>
              <a:t>停顿</a:t>
            </a:r>
            <a:r>
              <a:rPr lang="zh-CN" altLang="en-US" sz="2400" baseline="-25000" dirty="0"/>
              <a:t>控制冲突 </a:t>
            </a:r>
          </a:p>
          <a:p>
            <a:pPr eaLnBrk="1" hangingPunct="1"/>
            <a:r>
              <a:rPr lang="zh-CN" altLang="en-US" sz="2400" b="1" dirty="0"/>
              <a:t>减少其中的任何一种停顿，都可以有效地减少</a:t>
            </a:r>
            <a:r>
              <a:rPr lang="en-US" altLang="zh-CN" sz="2400" b="1" dirty="0"/>
              <a:t>CPI</a:t>
            </a:r>
            <a:r>
              <a:rPr lang="zh-CN" altLang="en-US" sz="2400" b="1" dirty="0"/>
              <a:t>，从而提高流水线的性能 </a:t>
            </a:r>
            <a:endParaRPr lang="en-US" altLang="zh-CN" sz="2400" b="1" dirty="0"/>
          </a:p>
        </p:txBody>
      </p:sp>
      <p:sp>
        <p:nvSpPr>
          <p:cNvPr id="2" name="日期占位符 1">
            <a:extLst>
              <a:ext uri="{FF2B5EF4-FFF2-40B4-BE49-F238E27FC236}">
                <a16:creationId xmlns:a16="http://schemas.microsoft.com/office/drawing/2014/main" id="{0BB0EC50-F323-5FD1-D451-A484B46BE0D7}"/>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DE6D3E1F-6940-800E-6AE9-EFBFE62CD393}"/>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FEE1FF4-1B56-F390-3584-90C6E5B723AC}"/>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74549839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0">
                                            <p:txEl>
                                              <p:pRg st="0" end="0"/>
                                            </p:txEl>
                                          </p:spTgt>
                                        </p:tgtEl>
                                        <p:attrNameLst>
                                          <p:attrName>style.visibility</p:attrName>
                                        </p:attrNameLst>
                                      </p:cBhvr>
                                      <p:to>
                                        <p:strVal val="visible"/>
                                      </p:to>
                                    </p:set>
                                    <p:animEffect transition="in" filter="wipe(left)">
                                      <p:cBhvr>
                                        <p:cTn id="7" dur="500"/>
                                        <p:tgtEl>
                                          <p:spTgt spid="513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130">
                                            <p:txEl>
                                              <p:pRg st="1" end="1"/>
                                            </p:txEl>
                                          </p:spTgt>
                                        </p:tgtEl>
                                        <p:attrNameLst>
                                          <p:attrName>style.visibility</p:attrName>
                                        </p:attrNameLst>
                                      </p:cBhvr>
                                      <p:to>
                                        <p:strVal val="visible"/>
                                      </p:to>
                                    </p:set>
                                    <p:animEffect transition="in" filter="wipe(left)">
                                      <p:cBhvr>
                                        <p:cTn id="10" dur="500"/>
                                        <p:tgtEl>
                                          <p:spTgt spid="5130">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130">
                                            <p:txEl>
                                              <p:pRg st="2" end="2"/>
                                            </p:txEl>
                                          </p:spTgt>
                                        </p:tgtEl>
                                        <p:attrNameLst>
                                          <p:attrName>style.visibility</p:attrName>
                                        </p:attrNameLst>
                                      </p:cBhvr>
                                      <p:to>
                                        <p:strVal val="visible"/>
                                      </p:to>
                                    </p:set>
                                    <p:animEffect transition="in" filter="wipe(left)">
                                      <p:cBhvr>
                                        <p:cTn id="13" dur="500"/>
                                        <p:tgtEl>
                                          <p:spTgt spid="5130">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130">
                                            <p:txEl>
                                              <p:pRg st="3" end="3"/>
                                            </p:txEl>
                                          </p:spTgt>
                                        </p:tgtEl>
                                        <p:attrNameLst>
                                          <p:attrName>style.visibility</p:attrName>
                                        </p:attrNameLst>
                                      </p:cBhvr>
                                      <p:to>
                                        <p:strVal val="visible"/>
                                      </p:to>
                                    </p:set>
                                    <p:animEffect transition="in" filter="wipe(left)">
                                      <p:cBhvr>
                                        <p:cTn id="16" dur="500"/>
                                        <p:tgtEl>
                                          <p:spTgt spid="5130">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130">
                                            <p:txEl>
                                              <p:pRg st="4" end="4"/>
                                            </p:txEl>
                                          </p:spTgt>
                                        </p:tgtEl>
                                        <p:attrNameLst>
                                          <p:attrName>style.visibility</p:attrName>
                                        </p:attrNameLst>
                                      </p:cBhvr>
                                      <p:to>
                                        <p:strVal val="visible"/>
                                      </p:to>
                                    </p:set>
                                    <p:animEffect transition="in" filter="wipe(left)">
                                      <p:cBhvr>
                                        <p:cTn id="19" dur="500"/>
                                        <p:tgtEl>
                                          <p:spTgt spid="5130">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130">
                                            <p:txEl>
                                              <p:pRg st="5" end="5"/>
                                            </p:txEl>
                                          </p:spTgt>
                                        </p:tgtEl>
                                        <p:attrNameLst>
                                          <p:attrName>style.visibility</p:attrName>
                                        </p:attrNameLst>
                                      </p:cBhvr>
                                      <p:to>
                                        <p:strVal val="visible"/>
                                      </p:to>
                                    </p:set>
                                    <p:animEffect transition="in" filter="wipe(left)">
                                      <p:cBhvr>
                                        <p:cTn id="22" dur="500"/>
                                        <p:tgtEl>
                                          <p:spTgt spid="5130">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130">
                                            <p:txEl>
                                              <p:pRg st="6" end="6"/>
                                            </p:txEl>
                                          </p:spTgt>
                                        </p:tgtEl>
                                        <p:attrNameLst>
                                          <p:attrName>style.visibility</p:attrName>
                                        </p:attrNameLst>
                                      </p:cBhvr>
                                      <p:to>
                                        <p:strVal val="visible"/>
                                      </p:to>
                                    </p:set>
                                    <p:animEffect transition="in" filter="wipe(left)">
                                      <p:cBhvr>
                                        <p:cTn id="25" dur="500"/>
                                        <p:tgtEl>
                                          <p:spTgt spid="5130">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130">
                                            <p:txEl>
                                              <p:pRg st="7" end="7"/>
                                            </p:txEl>
                                          </p:spTgt>
                                        </p:tgtEl>
                                        <p:attrNameLst>
                                          <p:attrName>style.visibility</p:attrName>
                                        </p:attrNameLst>
                                      </p:cBhvr>
                                      <p:to>
                                        <p:strVal val="visible"/>
                                      </p:to>
                                    </p:set>
                                    <p:animEffect transition="in" filter="wipe(left)">
                                      <p:cBhvr>
                                        <p:cTn id="30" dur="500"/>
                                        <p:tgtEl>
                                          <p:spTgt spid="513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56"/>
          <p:cNvSpPr>
            <a:spLocks noGrp="1" noChangeArrowheads="1"/>
          </p:cNvSpPr>
          <p:nvPr>
            <p:ph type="title" idx="4294967295"/>
          </p:nvPr>
        </p:nvSpPr>
        <p:spPr>
          <a:xfrm>
            <a:off x="457200" y="-26988"/>
            <a:ext cx="8229600" cy="1143001"/>
          </a:xfrm>
        </p:spPr>
        <p:txBody>
          <a:bodyPr/>
          <a:lstStyle/>
          <a:p>
            <a:pPr eaLnBrk="1" hangingPunct="1">
              <a:defRPr/>
            </a:pPr>
            <a:r>
              <a:rPr lang="zh-CN" altLang="en-US" sz="3600" b="1" dirty="0">
                <a:latin typeface="+mj-ea"/>
              </a:rPr>
              <a:t>本章研究的技术及克服的停顿</a:t>
            </a:r>
          </a:p>
        </p:txBody>
      </p:sp>
      <p:graphicFrame>
        <p:nvGraphicFramePr>
          <p:cNvPr id="6502" name="Group 358"/>
          <p:cNvGraphicFramePr>
            <a:graphicFrameLocks noGrp="1"/>
          </p:cNvGraphicFramePr>
          <p:nvPr>
            <p:ph type="tbl" idx="4294967295"/>
          </p:nvPr>
        </p:nvGraphicFramePr>
        <p:xfrm>
          <a:off x="468313" y="1052513"/>
          <a:ext cx="8207375" cy="5342887"/>
        </p:xfrm>
        <a:graphic>
          <a:graphicData uri="http://schemas.openxmlformats.org/drawingml/2006/table">
            <a:tbl>
              <a:tblPr/>
              <a:tblGrid>
                <a:gridCol w="3167062">
                  <a:extLst>
                    <a:ext uri="{9D8B030D-6E8A-4147-A177-3AD203B41FA5}">
                      <a16:colId xmlns:a16="http://schemas.microsoft.com/office/drawing/2014/main" val="20000"/>
                    </a:ext>
                  </a:extLst>
                </a:gridCol>
                <a:gridCol w="3816350">
                  <a:extLst>
                    <a:ext uri="{9D8B030D-6E8A-4147-A177-3AD203B41FA5}">
                      <a16:colId xmlns:a16="http://schemas.microsoft.com/office/drawing/2014/main" val="20001"/>
                    </a:ext>
                  </a:extLst>
                </a:gridCol>
                <a:gridCol w="1223963">
                  <a:extLst>
                    <a:ext uri="{9D8B030D-6E8A-4147-A177-3AD203B41FA5}">
                      <a16:colId xmlns:a16="http://schemas.microsoft.com/office/drawing/2014/main" val="20002"/>
                    </a:ext>
                  </a:extLst>
                </a:gridCol>
              </a:tblGrid>
              <a:tr h="446088">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技术</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66FF99"/>
                    </a:solid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主要克服的停顿</a:t>
                      </a:r>
                      <a:endParaRPr kumimoji="0" lang="zh-CN" altLang="en-US" sz="4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66FF99"/>
                    </a:solid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相关章节</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66FF99"/>
                    </a:solidFill>
                  </a:tcPr>
                </a:tc>
                <a:extLst>
                  <a:ext uri="{0D108BD9-81ED-4DB2-BD59-A6C34878D82A}">
                    <a16:rowId xmlns:a16="http://schemas.microsoft.com/office/drawing/2014/main" val="10000"/>
                  </a:ext>
                </a:extLst>
              </a:tr>
              <a:tr h="687387">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基本流水线调度</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数据</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先写后读</a:t>
                      </a:r>
                      <a:r>
                        <a:rPr kumimoji="0" lang="zh-CN" altLang="en-US" sz="2000" b="1" i="0" u="none" strike="noStrike" kern="1200" cap="none" normalizeH="0" baseline="0" dirty="0">
                          <a:ln>
                            <a:noFill/>
                          </a:ln>
                          <a:solidFill>
                            <a:schemeClr val="tx1"/>
                          </a:solidFill>
                          <a:effectLst/>
                          <a:latin typeface="宋体" pitchFamily="2" charset="-122"/>
                          <a:ea typeface="宋体" pitchFamily="2" charset="-122"/>
                          <a:cs typeface="+mn-cs"/>
                        </a:rPr>
                        <a:t>冲突 </a:t>
                      </a:r>
                      <a:r>
                        <a:rPr kumimoji="0" lang="zh-CN" altLang="en-US" sz="2000" b="1" i="0" u="none" strike="noStrike" cap="none" normalizeH="0" baseline="0" dirty="0">
                          <a:ln>
                            <a:noFill/>
                          </a:ln>
                          <a:solidFill>
                            <a:schemeClr val="tx1"/>
                          </a:solidFill>
                          <a:effectLst/>
                          <a:latin typeface="宋体" pitchFamily="2" charset="-122"/>
                          <a:ea typeface="宋体" pitchFamily="2" charset="-122"/>
                        </a:rPr>
                        <a:t>停顿</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4.1</a:t>
                      </a:r>
                      <a:endParaRPr kumimoji="0" lang="en-US" altLang="zh-CN" sz="4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87387">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循环展开</a:t>
                      </a:r>
                      <a:endParaRPr kumimoji="0" lang="zh-CN" altLang="en-US" sz="4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宋体" pitchFamily="2" charset="-122"/>
                          <a:ea typeface="宋体" pitchFamily="2" charset="-122"/>
                        </a:rPr>
                        <a:t>控制</a:t>
                      </a:r>
                      <a:r>
                        <a:rPr kumimoji="0" lang="zh-CN" altLang="en-US" sz="2000" b="1" i="0" u="none" strike="noStrike" kern="1200" cap="none" normalizeH="0" baseline="0" dirty="0">
                          <a:ln>
                            <a:noFill/>
                          </a:ln>
                          <a:solidFill>
                            <a:schemeClr val="tx1"/>
                          </a:solidFill>
                          <a:effectLst/>
                          <a:latin typeface="宋体" pitchFamily="2" charset="-122"/>
                          <a:ea typeface="宋体" pitchFamily="2" charset="-122"/>
                          <a:cs typeface="+mn-cs"/>
                        </a:rPr>
                        <a:t>冲突 </a:t>
                      </a:r>
                      <a:r>
                        <a:rPr kumimoji="0" lang="zh-CN" altLang="en-US" sz="2000" b="1" i="0" u="none" strike="noStrike" cap="none" normalizeH="0" baseline="0" dirty="0">
                          <a:ln>
                            <a:noFill/>
                          </a:ln>
                          <a:solidFill>
                            <a:schemeClr val="tx1"/>
                          </a:solidFill>
                          <a:effectLst/>
                          <a:latin typeface="宋体" pitchFamily="2" charset="-122"/>
                          <a:ea typeface="宋体" pitchFamily="2" charset="-122"/>
                        </a:rPr>
                        <a:t>停顿</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4.1</a:t>
                      </a:r>
                      <a:endParaRPr kumimoji="0" lang="en-US" altLang="zh-CN" sz="4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87387">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寄存器换名</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数据</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写后写</a:t>
                      </a:r>
                      <a:r>
                        <a:rPr kumimoji="0" lang="zh-CN" altLang="en-US" sz="2000" b="1" i="0" u="none" strike="noStrike" cap="none" normalizeH="0" baseline="0" dirty="0">
                          <a:ln>
                            <a:noFill/>
                          </a:ln>
                          <a:solidFill>
                            <a:schemeClr val="tx1"/>
                          </a:solidFill>
                          <a:effectLst/>
                          <a:latin typeface="宋体" pitchFamily="2" charset="-122"/>
                          <a:ea typeface="宋体" pitchFamily="2" charset="-122"/>
                        </a:rPr>
                        <a:t>和</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先读后写</a:t>
                      </a:r>
                      <a:r>
                        <a:rPr kumimoji="0" lang="zh-CN" altLang="en-US" sz="2000" b="1" i="0" u="none" strike="noStrike" kern="1200" cap="none" normalizeH="0" baseline="0" dirty="0">
                          <a:ln>
                            <a:noFill/>
                          </a:ln>
                          <a:solidFill>
                            <a:schemeClr val="tx1"/>
                          </a:solidFill>
                          <a:effectLst/>
                          <a:latin typeface="宋体" pitchFamily="2" charset="-122"/>
                          <a:ea typeface="宋体" pitchFamily="2" charset="-122"/>
                          <a:cs typeface="+mn-cs"/>
                        </a:rPr>
                        <a:t>冲突 </a:t>
                      </a:r>
                      <a:r>
                        <a:rPr kumimoji="0" lang="zh-CN" altLang="en-US" sz="2000" b="1" i="0" u="none" strike="noStrike" cap="none" normalizeH="0" baseline="0" dirty="0">
                          <a:ln>
                            <a:noFill/>
                          </a:ln>
                          <a:solidFill>
                            <a:schemeClr val="tx1"/>
                          </a:solidFill>
                          <a:effectLst/>
                          <a:latin typeface="宋体" pitchFamily="2" charset="-122"/>
                          <a:ea typeface="宋体" pitchFamily="2" charset="-122"/>
                        </a:rPr>
                        <a:t>停顿</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4.1</a:t>
                      </a:r>
                      <a:endParaRPr kumimoji="0" lang="en-US" altLang="zh-CN" sz="4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722312">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指令动态调度（记分牌和</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Tomasulo</a:t>
                      </a:r>
                      <a:r>
                        <a:rPr kumimoji="0" lang="zh-CN" altLang="en-US" sz="2000" b="1" i="0" u="none" strike="noStrike" cap="none" normalizeH="0" baseline="0">
                          <a:ln>
                            <a:noFill/>
                          </a:ln>
                          <a:solidFill>
                            <a:schemeClr val="tx1"/>
                          </a:solidFill>
                          <a:effectLst/>
                          <a:latin typeface="宋体" pitchFamily="2" charset="-122"/>
                          <a:ea typeface="宋体" pitchFamily="2" charset="-122"/>
                        </a:rPr>
                        <a:t>算法）</a:t>
                      </a:r>
                      <a:endParaRPr kumimoji="0" lang="zh-CN" altLang="en-US" sz="4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各种</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数据</a:t>
                      </a:r>
                      <a:r>
                        <a:rPr kumimoji="0" lang="zh-CN" altLang="en-US" sz="2000" b="1" i="0" u="none" strike="noStrike" kern="1200" cap="none" normalizeH="0" baseline="0" dirty="0">
                          <a:ln>
                            <a:noFill/>
                          </a:ln>
                          <a:solidFill>
                            <a:schemeClr val="tx1"/>
                          </a:solidFill>
                          <a:effectLst/>
                          <a:latin typeface="宋体" pitchFamily="2" charset="-122"/>
                          <a:ea typeface="宋体" pitchFamily="2" charset="-122"/>
                          <a:cs typeface="+mn-cs"/>
                        </a:rPr>
                        <a:t>冲突 </a:t>
                      </a:r>
                      <a:r>
                        <a:rPr kumimoji="0" lang="zh-CN" altLang="en-US" sz="2000" b="1" i="0" u="none" strike="noStrike" cap="none" normalizeH="0" baseline="0" dirty="0">
                          <a:ln>
                            <a:noFill/>
                          </a:ln>
                          <a:solidFill>
                            <a:schemeClr val="tx1"/>
                          </a:solidFill>
                          <a:effectLst/>
                          <a:latin typeface="宋体" pitchFamily="2" charset="-122"/>
                          <a:ea typeface="宋体" pitchFamily="2" charset="-122"/>
                        </a:rPr>
                        <a:t>停顿</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4.2</a:t>
                      </a:r>
                      <a:endParaRPr kumimoji="0" lang="en-US" altLang="zh-CN" sz="4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87387">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动态分支预测</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宋体" pitchFamily="2" charset="-122"/>
                          <a:ea typeface="宋体" pitchFamily="2" charset="-122"/>
                        </a:rPr>
                        <a:t>控制</a:t>
                      </a:r>
                      <a:r>
                        <a:rPr kumimoji="0" lang="zh-CN" altLang="en-US" sz="2000" b="1" i="0" u="none" strike="noStrike" kern="1200" cap="none" normalizeH="0" baseline="0" dirty="0">
                          <a:ln>
                            <a:noFill/>
                          </a:ln>
                          <a:solidFill>
                            <a:schemeClr val="tx1"/>
                          </a:solidFill>
                          <a:effectLst/>
                          <a:latin typeface="宋体" pitchFamily="2" charset="-122"/>
                          <a:ea typeface="宋体" pitchFamily="2" charset="-122"/>
                          <a:cs typeface="+mn-cs"/>
                        </a:rPr>
                        <a:t>冲突 </a:t>
                      </a:r>
                      <a:r>
                        <a:rPr kumimoji="0" lang="zh-CN" altLang="en-US" sz="2000" b="1" i="0" u="none" strike="noStrike" cap="none" normalizeH="0" baseline="0" dirty="0">
                          <a:ln>
                            <a:noFill/>
                          </a:ln>
                          <a:solidFill>
                            <a:schemeClr val="tx1"/>
                          </a:solidFill>
                          <a:effectLst/>
                          <a:latin typeface="宋体" pitchFamily="2" charset="-122"/>
                          <a:ea typeface="宋体" pitchFamily="2" charset="-122"/>
                        </a:rPr>
                        <a:t>停顿</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4.3</a:t>
                      </a:r>
                      <a:endParaRPr kumimoji="0" lang="en-US" altLang="zh-CN" sz="4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687387">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前瞻（</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Speculation</a:t>
                      </a:r>
                      <a:r>
                        <a:rPr kumimoji="0" lang="zh-CN" altLang="en-US" sz="2000" b="1" i="0" u="none" strike="noStrike" cap="none" normalizeH="0" baseline="0" dirty="0">
                          <a:ln>
                            <a:noFill/>
                          </a:ln>
                          <a:solidFill>
                            <a:schemeClr val="tx1"/>
                          </a:solidFill>
                          <a:effectLst/>
                          <a:latin typeface="宋体" pitchFamily="2" charset="-122"/>
                          <a:ea typeface="宋体" pitchFamily="2" charset="-122"/>
                        </a:rPr>
                        <a:t>）</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所有</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数据</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控制</a:t>
                      </a:r>
                      <a:r>
                        <a:rPr kumimoji="0" lang="zh-CN" altLang="en-US" sz="2000" b="1" i="0" u="none" strike="noStrike" kern="1200" cap="none" normalizeH="0" baseline="0" dirty="0">
                          <a:ln>
                            <a:noFill/>
                          </a:ln>
                          <a:solidFill>
                            <a:schemeClr val="tx1"/>
                          </a:solidFill>
                          <a:effectLst/>
                          <a:latin typeface="宋体" pitchFamily="2" charset="-122"/>
                          <a:ea typeface="宋体" pitchFamily="2" charset="-122"/>
                          <a:cs typeface="+mn-cs"/>
                        </a:rPr>
                        <a:t>冲突 </a:t>
                      </a:r>
                      <a:r>
                        <a:rPr kumimoji="0" lang="zh-CN" altLang="en-US" sz="2000" b="1" i="0" u="none" strike="noStrike" cap="none" normalizeH="0" baseline="0" dirty="0">
                          <a:ln>
                            <a:noFill/>
                          </a:ln>
                          <a:solidFill>
                            <a:schemeClr val="tx1"/>
                          </a:solidFill>
                          <a:effectLst/>
                          <a:latin typeface="宋体" pitchFamily="2" charset="-122"/>
                          <a:ea typeface="宋体" pitchFamily="2" charset="-122"/>
                        </a:rPr>
                        <a:t>停顿</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4.3</a:t>
                      </a:r>
                      <a:endParaRPr kumimoji="0" lang="en-US" altLang="zh-CN" sz="4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723899">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多指令流出（超标量和超长指令字）</a:t>
                      </a:r>
                      <a:endParaRPr kumimoji="0" lang="zh-CN" altLang="en-US" sz="4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提高</a:t>
                      </a:r>
                      <a:r>
                        <a:rPr kumimoji="0" lang="zh-CN" altLang="en-US" sz="2000" b="1" i="0" u="none" strike="noStrike" cap="none" normalizeH="0" baseline="0" dirty="0">
                          <a:ln>
                            <a:noFill/>
                          </a:ln>
                          <a:solidFill>
                            <a:srgbClr val="FF0000"/>
                          </a:solidFill>
                          <a:effectLst/>
                          <a:latin typeface="宋体" pitchFamily="2" charset="-122"/>
                          <a:ea typeface="宋体" pitchFamily="2" charset="-122"/>
                        </a:rPr>
                        <a:t>理想</a:t>
                      </a:r>
                      <a:r>
                        <a:rPr kumimoji="0" lang="en-US" altLang="zh-CN"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CPI</a:t>
                      </a:r>
                      <a:endParaRPr kumimoji="0" lang="en-US" altLang="zh-CN" sz="4000" b="1" i="0" u="none" strike="noStrike" cap="none" normalizeH="0" baseline="0" dirty="0">
                        <a:ln>
                          <a:noFill/>
                        </a:ln>
                        <a:solidFill>
                          <a:srgbClr val="FF0000"/>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4.4</a:t>
                      </a:r>
                      <a:endParaRPr kumimoji="0" lang="en-US" altLang="zh-CN" sz="4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2D02918B-9CEB-CBAC-39B2-D310407FA977}"/>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AA40F7B7-E807-1168-2396-53BB765427E7}"/>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24CBC0A-0F70-FA02-C1E1-2B8DA587E98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8</a:t>
            </a:fld>
            <a:endParaRPr lang="en-US" altLang="zh-CN"/>
          </a:p>
        </p:txBody>
      </p:sp>
    </p:spTree>
    <p:extLst>
      <p:ext uri="{BB962C8B-B14F-4D97-AF65-F5344CB8AC3E}">
        <p14:creationId xmlns:p14="http://schemas.microsoft.com/office/powerpoint/2010/main" val="55327554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pPr eaLnBrk="1" hangingPunct="1">
              <a:defRPr/>
            </a:pPr>
            <a:r>
              <a:rPr lang="zh-CN" altLang="en-US" sz="3600" b="1" dirty="0">
                <a:latin typeface="+mj-ea"/>
              </a:rPr>
              <a:t>软件和硬件的支持</a:t>
            </a:r>
          </a:p>
        </p:txBody>
      </p:sp>
      <p:sp>
        <p:nvSpPr>
          <p:cNvPr id="283651" name="Rectangle 3"/>
          <p:cNvSpPr>
            <a:spLocks noGrp="1" noChangeArrowheads="1"/>
          </p:cNvSpPr>
          <p:nvPr>
            <p:ph type="body" idx="4294967295"/>
          </p:nvPr>
        </p:nvSpPr>
        <p:spPr>
          <a:xfrm>
            <a:off x="469654" y="1628800"/>
            <a:ext cx="8229600" cy="4525963"/>
          </a:xfrm>
        </p:spPr>
        <p:txBody>
          <a:bodyPr rtlCol="0">
            <a:normAutofit/>
          </a:bodyPr>
          <a:lstStyle/>
          <a:p>
            <a:pPr eaLnBrk="1" fontAlgn="auto" hangingPunct="1">
              <a:spcAft>
                <a:spcPts val="0"/>
              </a:spcAft>
              <a:buFont typeface="Arial" pitchFamily="34" charset="0"/>
              <a:buChar char="•"/>
              <a:defRPr/>
            </a:pPr>
            <a:r>
              <a:rPr lang="zh-CN" altLang="en-US" sz="2400" b="1" dirty="0">
                <a:latin typeface="+mn-ea"/>
              </a:rPr>
              <a:t>上述技术中有些技术主要是硬件支持</a:t>
            </a:r>
          </a:p>
          <a:p>
            <a:pPr lvl="1" eaLnBrk="1" fontAlgn="auto" hangingPunct="1">
              <a:spcAft>
                <a:spcPts val="0"/>
              </a:spcAft>
              <a:buFont typeface="Arial" pitchFamily="34" charset="0"/>
              <a:buChar char="–"/>
              <a:defRPr/>
            </a:pPr>
            <a:r>
              <a:rPr lang="zh-CN" altLang="en-US" sz="2400" b="1" dirty="0">
                <a:latin typeface="+mn-ea"/>
              </a:rPr>
              <a:t>循环展开</a:t>
            </a:r>
            <a:endParaRPr lang="en-US" altLang="zh-CN" sz="2400" b="1" dirty="0">
              <a:latin typeface="+mn-ea"/>
            </a:endParaRPr>
          </a:p>
          <a:p>
            <a:pPr lvl="1" eaLnBrk="1" fontAlgn="auto" hangingPunct="1">
              <a:spcAft>
                <a:spcPts val="0"/>
              </a:spcAft>
              <a:buFont typeface="Arial" pitchFamily="34" charset="0"/>
              <a:buChar char="–"/>
              <a:defRPr/>
            </a:pPr>
            <a:r>
              <a:rPr lang="zh-CN" altLang="en-US" sz="2400" b="1" dirty="0">
                <a:latin typeface="+mn-ea"/>
              </a:rPr>
              <a:t>寄存器换名的动态调度（基本的</a:t>
            </a:r>
            <a:r>
              <a:rPr lang="en-US" altLang="zh-CN" sz="2400" b="1" dirty="0" err="1">
                <a:latin typeface="Times New Roman" panose="02020603050405020304" pitchFamily="18" charset="0"/>
                <a:cs typeface="Times New Roman" panose="02020603050405020304" pitchFamily="18" charset="0"/>
              </a:rPr>
              <a:t>Tomasulo’s</a:t>
            </a:r>
            <a:r>
              <a:rPr lang="zh-CN" altLang="en-US" sz="2400" b="1" dirty="0">
                <a:latin typeface="+mn-ea"/>
              </a:rPr>
              <a:t>）</a:t>
            </a:r>
            <a:endParaRPr lang="en-US" altLang="zh-CN" sz="2400" b="1" dirty="0">
              <a:latin typeface="+mn-ea"/>
            </a:endParaRPr>
          </a:p>
          <a:p>
            <a:pPr lvl="1" eaLnBrk="1" fontAlgn="auto" hangingPunct="1">
              <a:spcAft>
                <a:spcPts val="0"/>
              </a:spcAft>
              <a:buFont typeface="Arial" pitchFamily="34" charset="0"/>
              <a:buChar char="–"/>
              <a:defRPr/>
            </a:pPr>
            <a:r>
              <a:rPr lang="zh-CN" altLang="en-US" sz="2400" b="1" dirty="0">
                <a:latin typeface="+mn-ea"/>
              </a:rPr>
              <a:t>动态分支指令预测</a:t>
            </a:r>
            <a:endParaRPr lang="en-US" altLang="zh-CN" sz="2400" b="1" dirty="0">
              <a:latin typeface="+mn-ea"/>
            </a:endParaRPr>
          </a:p>
          <a:p>
            <a:pPr lvl="1" eaLnBrk="1" fontAlgn="auto" hangingPunct="1">
              <a:spcAft>
                <a:spcPts val="0"/>
              </a:spcAft>
              <a:buFont typeface="Arial" pitchFamily="34" charset="0"/>
              <a:buChar char="–"/>
              <a:defRPr/>
            </a:pPr>
            <a:r>
              <a:rPr lang="zh-CN" altLang="en-US" sz="2400" b="1" dirty="0">
                <a:latin typeface="+mn-ea"/>
              </a:rPr>
              <a:t>每个周期多发射</a:t>
            </a:r>
            <a:endParaRPr lang="en-US" altLang="zh-CN" sz="2400" b="1" dirty="0">
              <a:latin typeface="+mn-ea"/>
            </a:endParaRPr>
          </a:p>
          <a:p>
            <a:pPr lvl="1" eaLnBrk="1" fontAlgn="auto" hangingPunct="1">
              <a:spcAft>
                <a:spcPts val="0"/>
              </a:spcAft>
              <a:buFont typeface="Arial" pitchFamily="34" charset="0"/>
              <a:buChar char="–"/>
              <a:defRPr/>
            </a:pPr>
            <a:r>
              <a:rPr lang="zh-CN" altLang="en-US" sz="2400" b="1" dirty="0">
                <a:latin typeface="+mn-ea"/>
              </a:rPr>
              <a:t>前瞻技术</a:t>
            </a:r>
          </a:p>
          <a:p>
            <a:pPr eaLnBrk="1" fontAlgn="auto" hangingPunct="1">
              <a:spcAft>
                <a:spcPts val="0"/>
              </a:spcAft>
              <a:buFont typeface="Arial" pitchFamily="34" charset="0"/>
              <a:buChar char="•"/>
              <a:defRPr/>
            </a:pPr>
            <a:r>
              <a:rPr lang="zh-CN" altLang="en-US" sz="2400" b="1" dirty="0">
                <a:latin typeface="+mn-ea"/>
              </a:rPr>
              <a:t>所有的技术都必须和软件，特别是编译器合作完成</a:t>
            </a:r>
          </a:p>
          <a:p>
            <a:pPr eaLnBrk="1" fontAlgn="auto" hangingPunct="1">
              <a:spcAft>
                <a:spcPts val="0"/>
              </a:spcAft>
              <a:buFont typeface="Arial" pitchFamily="34" charset="0"/>
              <a:buChar char="•"/>
              <a:defRPr/>
            </a:pPr>
            <a:endParaRPr lang="zh-CN" altLang="en-US" sz="2400" b="1" dirty="0">
              <a:latin typeface="+mn-ea"/>
            </a:endParaRPr>
          </a:p>
        </p:txBody>
      </p:sp>
      <p:sp>
        <p:nvSpPr>
          <p:cNvPr id="2" name="日期占位符 1">
            <a:extLst>
              <a:ext uri="{FF2B5EF4-FFF2-40B4-BE49-F238E27FC236}">
                <a16:creationId xmlns:a16="http://schemas.microsoft.com/office/drawing/2014/main" id="{FE9586C7-6E17-B619-A3E4-E6C6C3F6D248}"/>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A752028B-DEC7-CF4B-E64B-F69A2C594D0C}"/>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63ABC6F-CAA1-97A8-9A94-7B21CEBA35D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9</a:t>
            </a:fld>
            <a:endParaRPr lang="en-US" altLang="zh-CN"/>
          </a:p>
        </p:txBody>
      </p:sp>
    </p:spTree>
    <p:extLst>
      <p:ext uri="{BB962C8B-B14F-4D97-AF65-F5344CB8AC3E}">
        <p14:creationId xmlns:p14="http://schemas.microsoft.com/office/powerpoint/2010/main" val="52351802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9"/>
          <p:cNvSpPr>
            <a:spLocks noGrp="1" noChangeArrowheads="1"/>
          </p:cNvSpPr>
          <p:nvPr>
            <p:ph type="title" idx="4294967295"/>
          </p:nvPr>
        </p:nvSpPr>
        <p:spPr>
          <a:xfrm>
            <a:off x="457200" y="188913"/>
            <a:ext cx="8229600" cy="1143000"/>
          </a:xfrm>
        </p:spPr>
        <p:txBody>
          <a:bodyPr/>
          <a:lstStyle/>
          <a:p>
            <a:pPr eaLnBrk="1" hangingPunct="1">
              <a:defRPr/>
            </a:pPr>
            <a:r>
              <a:rPr lang="zh-CN" altLang="en-US" sz="3600" b="1" dirty="0">
                <a:latin typeface="+mj-ea"/>
              </a:rPr>
              <a:t>几个基本概念</a:t>
            </a:r>
          </a:p>
        </p:txBody>
      </p:sp>
      <p:sp>
        <p:nvSpPr>
          <p:cNvPr id="7188" name="Rectangle 20"/>
          <p:cNvSpPr>
            <a:spLocks noGrp="1" noChangeArrowheads="1"/>
          </p:cNvSpPr>
          <p:nvPr>
            <p:ph type="body" idx="4294967295"/>
          </p:nvPr>
        </p:nvSpPr>
        <p:spPr>
          <a:xfrm>
            <a:off x="457200" y="1484313"/>
            <a:ext cx="8229600" cy="4525962"/>
          </a:xfrm>
        </p:spPr>
        <p:txBody>
          <a:bodyPr rtlCol="0">
            <a:noAutofit/>
          </a:bodyPr>
          <a:lstStyle/>
          <a:p>
            <a:pPr eaLnBrk="1" fontAlgn="auto" hangingPunct="1">
              <a:lnSpc>
                <a:spcPct val="110000"/>
              </a:lnSpc>
              <a:spcAft>
                <a:spcPts val="0"/>
              </a:spcAft>
              <a:buFont typeface="Arial" pitchFamily="34" charset="0"/>
              <a:buChar char="•"/>
              <a:defRPr/>
            </a:pPr>
            <a:r>
              <a:rPr lang="zh-CN" altLang="en-US" sz="2400" b="1" dirty="0">
                <a:solidFill>
                  <a:srgbClr val="FF0000"/>
                </a:solidFill>
                <a:latin typeface="+mn-ea"/>
              </a:rPr>
              <a:t>基本（程序）块</a:t>
            </a:r>
            <a:r>
              <a:rPr lang="zh-CN" altLang="en-US" sz="2400" b="1" dirty="0">
                <a:latin typeface="+mn-ea"/>
              </a:rPr>
              <a:t>：一段除了入口和出口以外不包含其它分支的线性代码段</a:t>
            </a:r>
          </a:p>
          <a:p>
            <a:pPr lvl="1" eaLnBrk="1" fontAlgn="auto" hangingPunct="1">
              <a:lnSpc>
                <a:spcPct val="110000"/>
              </a:lnSpc>
              <a:spcAft>
                <a:spcPts val="0"/>
              </a:spcAft>
              <a:buFont typeface="Arial" pitchFamily="34" charset="0"/>
              <a:buChar char="–"/>
              <a:defRPr/>
            </a:pPr>
            <a:r>
              <a:rPr lang="zh-CN" altLang="en-US" sz="2400" b="1" dirty="0">
                <a:latin typeface="+mn-ea"/>
              </a:rPr>
              <a:t>程序平均每</a:t>
            </a:r>
            <a:r>
              <a:rPr lang="en-US" altLang="zh-CN" sz="2400" b="1" dirty="0">
                <a:latin typeface="+mn-ea"/>
              </a:rPr>
              <a:t>6-7</a:t>
            </a:r>
            <a:r>
              <a:rPr lang="zh-CN" altLang="en-US" sz="2400" b="1" dirty="0">
                <a:latin typeface="+mn-ea"/>
              </a:rPr>
              <a:t>条指令就会有一个分支</a:t>
            </a:r>
          </a:p>
          <a:p>
            <a:pPr lvl="1" eaLnBrk="1" fontAlgn="auto" hangingPunct="1">
              <a:lnSpc>
                <a:spcPct val="110000"/>
              </a:lnSpc>
              <a:spcAft>
                <a:spcPts val="0"/>
              </a:spcAft>
              <a:buFont typeface="Arial" pitchFamily="34" charset="0"/>
              <a:buChar char="–"/>
              <a:defRPr/>
            </a:pPr>
            <a:r>
              <a:rPr lang="zh-CN" altLang="en-US" sz="2400" b="1" dirty="0">
                <a:latin typeface="+mn-ea"/>
              </a:rPr>
              <a:t>必须在多个基本块之间开发指令级的并行性</a:t>
            </a:r>
          </a:p>
          <a:p>
            <a:pPr eaLnBrk="1" fontAlgn="auto" hangingPunct="1">
              <a:lnSpc>
                <a:spcPct val="110000"/>
              </a:lnSpc>
              <a:spcAft>
                <a:spcPts val="0"/>
              </a:spcAft>
              <a:buFont typeface="Arial" pitchFamily="34" charset="0"/>
              <a:buChar char="•"/>
              <a:defRPr/>
            </a:pPr>
            <a:r>
              <a:rPr lang="zh-CN" altLang="en-US" sz="2400" b="1" dirty="0">
                <a:solidFill>
                  <a:srgbClr val="FF0000"/>
                </a:solidFill>
                <a:latin typeface="+mn-ea"/>
              </a:rPr>
              <a:t>循环级并行</a:t>
            </a:r>
            <a:r>
              <a:rPr lang="zh-CN" altLang="en-US" sz="2400" b="1" dirty="0">
                <a:latin typeface="+mn-ea"/>
              </a:rPr>
              <a:t>：开发循环体的不同迭代之间存在的并行性</a:t>
            </a:r>
          </a:p>
          <a:p>
            <a:pPr eaLnBrk="1" fontAlgn="auto" hangingPunct="1">
              <a:lnSpc>
                <a:spcPct val="110000"/>
              </a:lnSpc>
              <a:spcAft>
                <a:spcPts val="0"/>
              </a:spcAft>
              <a:buFont typeface="Arial" pitchFamily="34" charset="0"/>
              <a:buChar char="•"/>
              <a:defRPr/>
            </a:pPr>
            <a:r>
              <a:rPr lang="zh-CN" altLang="en-US" sz="2400" b="1" dirty="0">
                <a:latin typeface="+mn-ea"/>
              </a:rPr>
              <a:t>开发循环级并行的基本技术方法</a:t>
            </a:r>
          </a:p>
          <a:p>
            <a:pPr lvl="1" eaLnBrk="1" fontAlgn="auto" hangingPunct="1">
              <a:lnSpc>
                <a:spcPct val="110000"/>
              </a:lnSpc>
              <a:spcAft>
                <a:spcPts val="0"/>
              </a:spcAft>
              <a:buFont typeface="Arial" pitchFamily="34" charset="0"/>
              <a:buChar char="–"/>
              <a:defRPr/>
            </a:pPr>
            <a:r>
              <a:rPr lang="zh-CN" altLang="en-US" sz="2400" b="1" dirty="0">
                <a:latin typeface="+mn-ea"/>
              </a:rPr>
              <a:t>指令调度（</a:t>
            </a:r>
            <a:r>
              <a:rPr lang="en-US" altLang="zh-CN" sz="2400" b="1" dirty="0">
                <a:latin typeface="+mn-ea"/>
              </a:rPr>
              <a:t>scheduling</a:t>
            </a:r>
            <a:r>
              <a:rPr lang="zh-CN" altLang="en-US" sz="2400" b="1" dirty="0">
                <a:latin typeface="+mn-ea"/>
              </a:rPr>
              <a:t>）</a:t>
            </a:r>
          </a:p>
          <a:p>
            <a:pPr lvl="1" eaLnBrk="1" fontAlgn="auto" hangingPunct="1">
              <a:lnSpc>
                <a:spcPct val="110000"/>
              </a:lnSpc>
              <a:spcAft>
                <a:spcPts val="0"/>
              </a:spcAft>
              <a:buFont typeface="Arial" pitchFamily="34" charset="0"/>
              <a:buChar char="–"/>
              <a:defRPr/>
            </a:pPr>
            <a:r>
              <a:rPr lang="zh-CN" altLang="en-US" sz="2400" b="1" dirty="0">
                <a:latin typeface="+mn-ea"/>
              </a:rPr>
              <a:t>循环展开（</a:t>
            </a:r>
            <a:r>
              <a:rPr lang="en-US" altLang="zh-CN" sz="2400" b="1" dirty="0">
                <a:latin typeface="+mn-ea"/>
              </a:rPr>
              <a:t>loop unrolling</a:t>
            </a:r>
            <a:r>
              <a:rPr lang="zh-CN" altLang="en-US" sz="2400" b="1" dirty="0">
                <a:latin typeface="+mn-ea"/>
              </a:rPr>
              <a:t>）</a:t>
            </a:r>
          </a:p>
          <a:p>
            <a:pPr lvl="1" eaLnBrk="1" fontAlgn="auto" hangingPunct="1">
              <a:lnSpc>
                <a:spcPct val="110000"/>
              </a:lnSpc>
              <a:spcAft>
                <a:spcPts val="0"/>
              </a:spcAft>
              <a:buFont typeface="Arial" pitchFamily="34" charset="0"/>
              <a:buChar char="–"/>
              <a:defRPr/>
            </a:pPr>
            <a:r>
              <a:rPr lang="zh-CN" altLang="en-US" sz="2400" b="1" dirty="0">
                <a:latin typeface="+mn-ea"/>
              </a:rPr>
              <a:t>换名（</a:t>
            </a:r>
            <a:r>
              <a:rPr lang="en-US" altLang="zh-CN" sz="2400" b="1" dirty="0">
                <a:latin typeface="+mn-ea"/>
              </a:rPr>
              <a:t>renaming</a:t>
            </a:r>
            <a:r>
              <a:rPr lang="zh-CN" altLang="en-US" sz="2400" b="1" dirty="0">
                <a:latin typeface="+mn-ea"/>
              </a:rPr>
              <a:t>）</a:t>
            </a:r>
          </a:p>
        </p:txBody>
      </p:sp>
      <p:sp>
        <p:nvSpPr>
          <p:cNvPr id="2" name="日期占位符 1">
            <a:extLst>
              <a:ext uri="{FF2B5EF4-FFF2-40B4-BE49-F238E27FC236}">
                <a16:creationId xmlns:a16="http://schemas.microsoft.com/office/drawing/2014/main" id="{05553830-5613-F1D8-4391-E7A4D03F206D}"/>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F4CB9892-0CC7-0F38-5079-FADADC3257DF}"/>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64EA6B6-B787-6D7C-70E2-EE98E50569F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10</a:t>
            </a:fld>
            <a:endParaRPr lang="en-US" altLang="zh-CN"/>
          </a:p>
        </p:txBody>
      </p:sp>
    </p:spTree>
    <p:extLst>
      <p:ext uri="{BB962C8B-B14F-4D97-AF65-F5344CB8AC3E}">
        <p14:creationId xmlns:p14="http://schemas.microsoft.com/office/powerpoint/2010/main" val="326981481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88">
                                            <p:txEl>
                                              <p:pRg st="0" end="0"/>
                                            </p:txEl>
                                          </p:spTgt>
                                        </p:tgtEl>
                                        <p:attrNameLst>
                                          <p:attrName>style.visibility</p:attrName>
                                        </p:attrNameLst>
                                      </p:cBhvr>
                                      <p:to>
                                        <p:strVal val="visible"/>
                                      </p:to>
                                    </p:set>
                                    <p:animEffect transition="in" filter="wipe(left)">
                                      <p:cBhvr>
                                        <p:cTn id="7" dur="500"/>
                                        <p:tgtEl>
                                          <p:spTgt spid="718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188">
                                            <p:txEl>
                                              <p:pRg st="1" end="1"/>
                                            </p:txEl>
                                          </p:spTgt>
                                        </p:tgtEl>
                                        <p:attrNameLst>
                                          <p:attrName>style.visibility</p:attrName>
                                        </p:attrNameLst>
                                      </p:cBhvr>
                                      <p:to>
                                        <p:strVal val="visible"/>
                                      </p:to>
                                    </p:set>
                                    <p:animEffect transition="in" filter="wipe(left)">
                                      <p:cBhvr>
                                        <p:cTn id="10" dur="500"/>
                                        <p:tgtEl>
                                          <p:spTgt spid="718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188">
                                            <p:txEl>
                                              <p:pRg st="2" end="2"/>
                                            </p:txEl>
                                          </p:spTgt>
                                        </p:tgtEl>
                                        <p:attrNameLst>
                                          <p:attrName>style.visibility</p:attrName>
                                        </p:attrNameLst>
                                      </p:cBhvr>
                                      <p:to>
                                        <p:strVal val="visible"/>
                                      </p:to>
                                    </p:set>
                                    <p:animEffect transition="in" filter="wipe(left)">
                                      <p:cBhvr>
                                        <p:cTn id="13" dur="500"/>
                                        <p:tgtEl>
                                          <p:spTgt spid="7188">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188">
                                            <p:txEl>
                                              <p:pRg st="3" end="3"/>
                                            </p:txEl>
                                          </p:spTgt>
                                        </p:tgtEl>
                                        <p:attrNameLst>
                                          <p:attrName>style.visibility</p:attrName>
                                        </p:attrNameLst>
                                      </p:cBhvr>
                                      <p:to>
                                        <p:strVal val="visible"/>
                                      </p:to>
                                    </p:set>
                                    <p:animEffect transition="in" filter="wipe(left)">
                                      <p:cBhvr>
                                        <p:cTn id="18" dur="500"/>
                                        <p:tgtEl>
                                          <p:spTgt spid="7188">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188">
                                            <p:txEl>
                                              <p:pRg st="4" end="4"/>
                                            </p:txEl>
                                          </p:spTgt>
                                        </p:tgtEl>
                                        <p:attrNameLst>
                                          <p:attrName>style.visibility</p:attrName>
                                        </p:attrNameLst>
                                      </p:cBhvr>
                                      <p:to>
                                        <p:strVal val="visible"/>
                                      </p:to>
                                    </p:set>
                                    <p:animEffect transition="in" filter="wipe(left)">
                                      <p:cBhvr>
                                        <p:cTn id="23" dur="500"/>
                                        <p:tgtEl>
                                          <p:spTgt spid="7188">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188">
                                            <p:txEl>
                                              <p:pRg st="5" end="5"/>
                                            </p:txEl>
                                          </p:spTgt>
                                        </p:tgtEl>
                                        <p:attrNameLst>
                                          <p:attrName>style.visibility</p:attrName>
                                        </p:attrNameLst>
                                      </p:cBhvr>
                                      <p:to>
                                        <p:strVal val="visible"/>
                                      </p:to>
                                    </p:set>
                                    <p:animEffect transition="in" filter="wipe(left)">
                                      <p:cBhvr>
                                        <p:cTn id="26" dur="500"/>
                                        <p:tgtEl>
                                          <p:spTgt spid="7188">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7188">
                                            <p:txEl>
                                              <p:pRg st="6" end="6"/>
                                            </p:txEl>
                                          </p:spTgt>
                                        </p:tgtEl>
                                        <p:attrNameLst>
                                          <p:attrName>style.visibility</p:attrName>
                                        </p:attrNameLst>
                                      </p:cBhvr>
                                      <p:to>
                                        <p:strVal val="visible"/>
                                      </p:to>
                                    </p:set>
                                    <p:animEffect transition="in" filter="wipe(left)">
                                      <p:cBhvr>
                                        <p:cTn id="29" dur="500"/>
                                        <p:tgtEl>
                                          <p:spTgt spid="7188">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7188">
                                            <p:txEl>
                                              <p:pRg st="7" end="7"/>
                                            </p:txEl>
                                          </p:spTgt>
                                        </p:tgtEl>
                                        <p:attrNameLst>
                                          <p:attrName>style.visibility</p:attrName>
                                        </p:attrNameLst>
                                      </p:cBhvr>
                                      <p:to>
                                        <p:strVal val="visible"/>
                                      </p:to>
                                    </p:set>
                                    <p:animEffect transition="in" filter="wipe(left)">
                                      <p:cBhvr>
                                        <p:cTn id="32" dur="500"/>
                                        <p:tgtEl>
                                          <p:spTgt spid="718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3600" b="1" dirty="0">
                <a:latin typeface="Times New Roman" panose="02020603050405020304" pitchFamily="18" charset="0"/>
                <a:cs typeface="Times New Roman" panose="02020603050405020304" pitchFamily="18" charset="0"/>
              </a:rPr>
              <a:t>4.1  </a:t>
            </a:r>
            <a:r>
              <a:rPr lang="zh-CN" altLang="en-US" sz="3600" b="1" dirty="0">
                <a:latin typeface="Times New Roman" panose="02020603050405020304" pitchFamily="18" charset="0"/>
                <a:cs typeface="Times New Roman" panose="02020603050405020304" pitchFamily="18" charset="0"/>
              </a:rPr>
              <a:t>指令级并行的概念</a:t>
            </a:r>
          </a:p>
        </p:txBody>
      </p:sp>
      <p:sp>
        <p:nvSpPr>
          <p:cNvPr id="4099" name="Rectangle 2"/>
          <p:cNvSpPr>
            <a:spLocks noGrp="1" noChangeArrowheads="1"/>
          </p:cNvSpPr>
          <p:nvPr>
            <p:ph idx="1"/>
          </p:nvPr>
        </p:nvSpPr>
        <p:spPr>
          <a:xfrm>
            <a:off x="755650" y="2060575"/>
            <a:ext cx="7064375" cy="3313113"/>
          </a:xfrm>
        </p:spPr>
        <p:txBody>
          <a:bodyPr/>
          <a:lstStyle/>
          <a:p>
            <a:pPr marL="0" indent="0" eaLnBrk="1" hangingPunct="1">
              <a:spcBef>
                <a:spcPct val="50000"/>
              </a:spcBef>
              <a:buFont typeface="Arial" charset="0"/>
              <a:buNone/>
            </a:pPr>
            <a:r>
              <a:rPr lang="en-US" altLang="zh-CN" sz="2800" b="1" u="sng" dirty="0">
                <a:latin typeface="Times New Roman" pitchFamily="18" charset="0"/>
              </a:rPr>
              <a:t>4.1.1  </a:t>
            </a:r>
            <a:r>
              <a:rPr lang="zh-CN" altLang="en-US" sz="2800" b="1" u="sng" dirty="0">
                <a:latin typeface="Times New Roman" pitchFamily="18" charset="0"/>
              </a:rPr>
              <a:t>循环展开调度的基本方法</a:t>
            </a:r>
            <a:endParaRPr lang="en-US" altLang="zh-CN" sz="2800" b="1" u="sng" dirty="0">
              <a:latin typeface="Times New Roman" pitchFamily="18" charset="0"/>
            </a:endParaRPr>
          </a:p>
          <a:p>
            <a:pPr marL="0" indent="0" eaLnBrk="1" hangingPunct="1">
              <a:spcBef>
                <a:spcPct val="50000"/>
              </a:spcBef>
              <a:buFont typeface="Arial" charset="0"/>
              <a:buNone/>
            </a:pPr>
            <a:endParaRPr lang="zh-CN" altLang="en-US" sz="2800" b="1" dirty="0">
              <a:latin typeface="Times New Roman" pitchFamily="18" charset="0"/>
            </a:endParaRPr>
          </a:p>
          <a:p>
            <a:pPr marL="0" indent="0" eaLnBrk="1" hangingPunct="1">
              <a:spcBef>
                <a:spcPct val="50000"/>
              </a:spcBef>
              <a:buFont typeface="Arial" charset="0"/>
              <a:buNone/>
            </a:pPr>
            <a:r>
              <a:rPr lang="en-US" altLang="zh-CN" sz="2800" b="1" dirty="0">
                <a:latin typeface="Times New Roman" pitchFamily="18" charset="0"/>
              </a:rPr>
              <a:t>4.1.2  </a:t>
            </a:r>
            <a:r>
              <a:rPr lang="zh-CN" altLang="en-US" sz="2800" b="1" dirty="0">
                <a:latin typeface="Times New Roman" pitchFamily="18" charset="0"/>
              </a:rPr>
              <a:t>相关性</a:t>
            </a:r>
            <a:endParaRPr lang="en-US" altLang="zh-CN" b="1" dirty="0">
              <a:latin typeface="Times New Roman" pitchFamily="18" charset="0"/>
            </a:endParaRPr>
          </a:p>
        </p:txBody>
      </p:sp>
      <p:sp>
        <p:nvSpPr>
          <p:cNvPr id="2" name="日期占位符 1">
            <a:extLst>
              <a:ext uri="{FF2B5EF4-FFF2-40B4-BE49-F238E27FC236}">
                <a16:creationId xmlns:a16="http://schemas.microsoft.com/office/drawing/2014/main" id="{16B49CCA-206E-4783-EDB7-5952C28DA10F}"/>
              </a:ext>
            </a:extLst>
          </p:cNvPr>
          <p:cNvSpPr>
            <a:spLocks noGrp="1"/>
          </p:cNvSpPr>
          <p:nvPr>
            <p:ph type="dt" sz="half" idx="10"/>
          </p:nvPr>
        </p:nvSpPr>
        <p:spPr/>
        <p:txBody>
          <a:bodyPr/>
          <a:lstStyle/>
          <a:p>
            <a:pPr>
              <a:defRPr/>
            </a:pPr>
            <a:fld id="{1E5C7C9A-E8F4-4EA3-AA56-E5CBACDC122F}"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3C0C74EF-2148-68FF-B1A7-CBEFA929F52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2DA173C-040A-5BA4-5EFE-AB793145F64C}"/>
              </a:ext>
            </a:extLst>
          </p:cNvPr>
          <p:cNvSpPr>
            <a:spLocks noGrp="1"/>
          </p:cNvSpPr>
          <p:nvPr>
            <p:ph type="sldNum" sz="quarter" idx="12"/>
          </p:nvPr>
        </p:nvSpPr>
        <p:spPr/>
        <p:txBody>
          <a:bodyPr/>
          <a:lstStyle/>
          <a:p>
            <a:pPr>
              <a:defRPr/>
            </a:pPr>
            <a:fld id="{8BCAC33D-D29A-48B3-BCD6-381D3D720D26}" type="slidenum">
              <a:rPr lang="zh-CN" altLang="en-US" smtClean="0"/>
              <a:t>11</a:t>
            </a:fld>
            <a:endParaRPr lang="en-US" altLang="zh-CN"/>
          </a:p>
        </p:txBody>
      </p:sp>
    </p:spTree>
    <p:extLst>
      <p:ext uri="{BB962C8B-B14F-4D97-AF65-F5344CB8AC3E}">
        <p14:creationId xmlns:p14="http://schemas.microsoft.com/office/powerpoint/2010/main" val="213991540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cs typeface="Times New Roman" panose="02020603050405020304" pitchFamily="18" charset="0"/>
              </a:rPr>
              <a:t>4.1.1 </a:t>
            </a:r>
            <a:r>
              <a:rPr lang="zh-CN" altLang="en-US" sz="3600" b="1" dirty="0">
                <a:latin typeface="Times New Roman" panose="02020603050405020304" pitchFamily="18" charset="0"/>
                <a:cs typeface="Times New Roman" panose="02020603050405020304" pitchFamily="18" charset="0"/>
              </a:rPr>
              <a:t>循环展开调度的基本方法</a:t>
            </a:r>
          </a:p>
        </p:txBody>
      </p:sp>
      <p:sp>
        <p:nvSpPr>
          <p:cNvPr id="284675" name="Rectangle 3"/>
          <p:cNvSpPr>
            <a:spLocks noGrp="1" noChangeArrowheads="1"/>
          </p:cNvSpPr>
          <p:nvPr>
            <p:ph type="body" idx="4294967295"/>
          </p:nvPr>
        </p:nvSpPr>
        <p:spPr>
          <a:xfrm>
            <a:off x="457200" y="1600200"/>
            <a:ext cx="8362950" cy="4525963"/>
          </a:xfrm>
        </p:spPr>
        <p:txBody>
          <a:bodyPr rtlCol="0">
            <a:normAutofit/>
          </a:bodyPr>
          <a:lstStyle/>
          <a:p>
            <a:pPr eaLnBrk="1" fontAlgn="auto" hangingPunct="1">
              <a:spcAft>
                <a:spcPts val="0"/>
              </a:spcAft>
              <a:buFont typeface="Arial" pitchFamily="34" charset="0"/>
              <a:buChar char="•"/>
              <a:defRPr/>
            </a:pPr>
            <a:r>
              <a:rPr lang="zh-CN" altLang="en-US" sz="2400" b="1" dirty="0">
                <a:latin typeface="+mn-ea"/>
              </a:rPr>
              <a:t>循环展开是展开循环体若干次，将</a:t>
            </a:r>
            <a:r>
              <a:rPr lang="zh-CN" altLang="en-US" sz="2400" b="1" dirty="0">
                <a:solidFill>
                  <a:srgbClr val="FF0000"/>
                </a:solidFill>
                <a:latin typeface="+mn-ea"/>
              </a:rPr>
              <a:t>循环级并行</a:t>
            </a:r>
            <a:r>
              <a:rPr lang="zh-CN" altLang="en-US" sz="2400" b="1" dirty="0">
                <a:latin typeface="+mn-ea"/>
              </a:rPr>
              <a:t>转化为</a:t>
            </a:r>
            <a:r>
              <a:rPr lang="zh-CN" altLang="en-US" sz="2400" b="1" dirty="0">
                <a:solidFill>
                  <a:srgbClr val="FF0000"/>
                </a:solidFill>
                <a:latin typeface="+mn-ea"/>
              </a:rPr>
              <a:t>指令级并行</a:t>
            </a:r>
            <a:r>
              <a:rPr lang="zh-CN" altLang="en-US" sz="2400" b="1" dirty="0">
                <a:latin typeface="+mn-ea"/>
              </a:rPr>
              <a:t>的技术</a:t>
            </a:r>
          </a:p>
          <a:p>
            <a:pPr eaLnBrk="1" fontAlgn="auto" hangingPunct="1">
              <a:spcAft>
                <a:spcPts val="0"/>
              </a:spcAft>
              <a:buFont typeface="Arial" pitchFamily="34" charset="0"/>
              <a:buChar char="•"/>
              <a:defRPr/>
            </a:pPr>
            <a:r>
              <a:rPr lang="zh-CN" altLang="en-US" sz="2400" b="1" dirty="0">
                <a:latin typeface="+mn-ea"/>
              </a:rPr>
              <a:t>这个过程既可以通过编译器</a:t>
            </a:r>
            <a:r>
              <a:rPr lang="zh-CN" altLang="en-US" sz="2400" b="1" dirty="0">
                <a:solidFill>
                  <a:srgbClr val="FF0000"/>
                </a:solidFill>
                <a:latin typeface="+mn-ea"/>
              </a:rPr>
              <a:t>静态</a:t>
            </a:r>
            <a:r>
              <a:rPr lang="zh-CN" altLang="en-US" sz="2400" b="1" dirty="0">
                <a:latin typeface="+mn-ea"/>
              </a:rPr>
              <a:t>完成，也可以通过硬件</a:t>
            </a:r>
            <a:r>
              <a:rPr lang="zh-CN" altLang="en-US" sz="2400" b="1" dirty="0">
                <a:solidFill>
                  <a:srgbClr val="FF0000"/>
                </a:solidFill>
                <a:latin typeface="+mn-ea"/>
              </a:rPr>
              <a:t>动态</a:t>
            </a:r>
            <a:r>
              <a:rPr lang="zh-CN" altLang="en-US" sz="2400" b="1" dirty="0">
                <a:latin typeface="+mn-ea"/>
              </a:rPr>
              <a:t>进行</a:t>
            </a:r>
          </a:p>
          <a:p>
            <a:pPr lvl="1" eaLnBrk="1" fontAlgn="auto" hangingPunct="1">
              <a:spcAft>
                <a:spcPts val="0"/>
              </a:spcAft>
              <a:buFont typeface="Arial" pitchFamily="34" charset="0"/>
              <a:buChar char="–"/>
              <a:defRPr/>
            </a:pPr>
            <a:r>
              <a:rPr lang="zh-CN" altLang="en-US" sz="2400" b="1" dirty="0">
                <a:latin typeface="+mn-ea"/>
              </a:rPr>
              <a:t>开发循环级并行性的另外一个重要技术是向量处理技术</a:t>
            </a:r>
          </a:p>
          <a:p>
            <a:pPr lvl="1" eaLnBrk="1" fontAlgn="auto" hangingPunct="1">
              <a:spcAft>
                <a:spcPts val="0"/>
              </a:spcAft>
              <a:buFont typeface="Arial" pitchFamily="34" charset="0"/>
              <a:buChar char="–"/>
              <a:defRPr/>
            </a:pPr>
            <a:r>
              <a:rPr lang="zh-CN" altLang="en-US" sz="2400" b="1" dirty="0">
                <a:latin typeface="+mn-ea"/>
              </a:rPr>
              <a:t>具有向量处理指令的典型机器是向量计算机</a:t>
            </a:r>
          </a:p>
          <a:p>
            <a:pPr lvl="1" eaLnBrk="1" fontAlgn="auto" hangingPunct="1">
              <a:spcAft>
                <a:spcPts val="0"/>
              </a:spcAft>
              <a:buFont typeface="Arial" pitchFamily="34" charset="0"/>
              <a:buChar char="–"/>
              <a:defRPr/>
            </a:pPr>
            <a:endParaRPr lang="zh-CN" altLang="en-US" sz="2400" b="1" dirty="0">
              <a:latin typeface="+mn-ea"/>
            </a:endParaRPr>
          </a:p>
          <a:p>
            <a:pPr eaLnBrk="1" fontAlgn="auto" hangingPunct="1">
              <a:spcAft>
                <a:spcPts val="0"/>
              </a:spcAft>
              <a:buFont typeface="Arial" pitchFamily="34" charset="0"/>
              <a:buChar char="•"/>
              <a:defRPr/>
            </a:pPr>
            <a:r>
              <a:rPr lang="zh-CN" altLang="en-US" sz="2400" b="1" dirty="0">
                <a:latin typeface="+mn-ea"/>
              </a:rPr>
              <a:t>本章中的</a:t>
            </a:r>
            <a:r>
              <a:rPr lang="zh-CN" altLang="en-US" sz="2400" b="1" dirty="0">
                <a:solidFill>
                  <a:srgbClr val="FF0000"/>
                </a:solidFill>
                <a:latin typeface="+mn-ea"/>
              </a:rPr>
              <a:t>分支指令</a:t>
            </a:r>
            <a:r>
              <a:rPr lang="zh-CN" altLang="en-US" sz="2400" b="1" dirty="0">
                <a:latin typeface="+mn-ea"/>
              </a:rPr>
              <a:t>就是指</a:t>
            </a:r>
            <a:r>
              <a:rPr lang="zh-CN" altLang="en-US" sz="2400" b="1" dirty="0">
                <a:solidFill>
                  <a:srgbClr val="FF0000"/>
                </a:solidFill>
                <a:latin typeface="+mn-ea"/>
              </a:rPr>
              <a:t>条件转移指令</a:t>
            </a:r>
            <a:r>
              <a:rPr lang="zh-CN" altLang="en-US" sz="2400" b="1" dirty="0">
                <a:latin typeface="+mn-ea"/>
              </a:rPr>
              <a:t> </a:t>
            </a:r>
            <a:endParaRPr lang="en-US" altLang="zh-CN" sz="2400" b="1" dirty="0">
              <a:latin typeface="+mn-ea"/>
            </a:endParaRPr>
          </a:p>
          <a:p>
            <a:pPr eaLnBrk="1" fontAlgn="auto" hangingPunct="1">
              <a:spcAft>
                <a:spcPts val="0"/>
              </a:spcAft>
              <a:buFont typeface="Arial" pitchFamily="34" charset="0"/>
              <a:buChar char="•"/>
              <a:defRPr/>
            </a:pPr>
            <a:endParaRPr lang="zh-CN" altLang="en-US" sz="2400" b="1" dirty="0">
              <a:latin typeface="+mn-ea"/>
            </a:endParaRPr>
          </a:p>
        </p:txBody>
      </p:sp>
      <p:sp>
        <p:nvSpPr>
          <p:cNvPr id="2" name="日期占位符 1">
            <a:extLst>
              <a:ext uri="{FF2B5EF4-FFF2-40B4-BE49-F238E27FC236}">
                <a16:creationId xmlns:a16="http://schemas.microsoft.com/office/drawing/2014/main" id="{531D1C1F-374A-70A6-1D8C-EBAC18D2CAC1}"/>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E5A408C6-14C6-5D47-9027-36E21EBF4776}"/>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D20E837-EC65-B6F1-11A5-479428E5721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12</a:t>
            </a:fld>
            <a:endParaRPr lang="en-US" altLang="zh-CN"/>
          </a:p>
        </p:txBody>
      </p:sp>
    </p:spTree>
    <p:extLst>
      <p:ext uri="{BB962C8B-B14F-4D97-AF65-F5344CB8AC3E}">
        <p14:creationId xmlns:p14="http://schemas.microsoft.com/office/powerpoint/2010/main" val="310475288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idx="4294967295"/>
          </p:nvPr>
        </p:nvSpPr>
        <p:spPr>
          <a:xfrm>
            <a:off x="457200" y="-26988"/>
            <a:ext cx="8229600" cy="1143001"/>
          </a:xfrm>
        </p:spPr>
        <p:txBody>
          <a:bodyPr/>
          <a:lstStyle/>
          <a:p>
            <a:pPr eaLnBrk="1" hangingPunct="1">
              <a:defRPr/>
            </a:pPr>
            <a:r>
              <a:rPr lang="zh-CN" altLang="en-US" sz="3600" b="1" dirty="0">
                <a:latin typeface="+mj-ea"/>
              </a:rPr>
              <a:t>本章通用浮点流水线延迟表</a:t>
            </a:r>
          </a:p>
        </p:txBody>
      </p:sp>
      <p:sp>
        <p:nvSpPr>
          <p:cNvPr id="285699" name="Rectangle 3"/>
          <p:cNvSpPr>
            <a:spLocks noGrp="1" noChangeArrowheads="1"/>
          </p:cNvSpPr>
          <p:nvPr>
            <p:ph type="body" sz="half" idx="4294967295"/>
          </p:nvPr>
        </p:nvSpPr>
        <p:spPr>
          <a:xfrm>
            <a:off x="468313" y="1268413"/>
            <a:ext cx="8207375" cy="2160587"/>
          </a:xfrm>
        </p:spPr>
        <p:txBody>
          <a:bodyPr rtlCol="0">
            <a:normAutofit lnSpcReduction="10000"/>
          </a:bodyPr>
          <a:lstStyle/>
          <a:p>
            <a:pPr eaLnBrk="1" fontAlgn="auto" hangingPunct="1">
              <a:spcAft>
                <a:spcPts val="0"/>
              </a:spcAft>
              <a:buFont typeface="Arial" pitchFamily="34" charset="0"/>
              <a:buChar char="•"/>
              <a:defRPr/>
            </a:pPr>
            <a:r>
              <a:rPr lang="zh-CN" altLang="en-US" sz="2400" b="1" dirty="0">
                <a:latin typeface="+mj-ea"/>
                <a:ea typeface="+mj-ea"/>
              </a:rPr>
              <a:t>编译器在完成这种指令调度时，受限于以下两个特性</a:t>
            </a:r>
            <a:r>
              <a:rPr lang="en-US" altLang="zh-CN" sz="2400" b="1" dirty="0">
                <a:latin typeface="+mj-ea"/>
                <a:ea typeface="+mj-ea"/>
              </a:rPr>
              <a:t>:</a:t>
            </a:r>
            <a:endParaRPr lang="zh-CN" altLang="en-US" sz="2400" b="1" dirty="0">
              <a:latin typeface="+mj-ea"/>
              <a:ea typeface="+mj-ea"/>
            </a:endParaRPr>
          </a:p>
          <a:p>
            <a:pPr lvl="1" eaLnBrk="1" fontAlgn="auto" hangingPunct="1">
              <a:spcAft>
                <a:spcPts val="0"/>
              </a:spcAft>
              <a:buFont typeface="Arial" pitchFamily="34" charset="0"/>
              <a:buChar char="–"/>
              <a:defRPr/>
            </a:pPr>
            <a:r>
              <a:rPr lang="zh-CN" altLang="en-US" sz="2400" b="1" dirty="0">
                <a:latin typeface="+mj-ea"/>
                <a:ea typeface="+mj-ea"/>
              </a:rPr>
              <a:t>一是程序固有的指令级并行性</a:t>
            </a:r>
          </a:p>
          <a:p>
            <a:pPr lvl="1" eaLnBrk="1" fontAlgn="auto" hangingPunct="1">
              <a:spcAft>
                <a:spcPts val="0"/>
              </a:spcAft>
              <a:buFont typeface="Arial" pitchFamily="34" charset="0"/>
              <a:buChar char="–"/>
              <a:defRPr/>
            </a:pPr>
            <a:r>
              <a:rPr lang="zh-CN" altLang="en-US" sz="2400" b="1" dirty="0">
                <a:latin typeface="+mj-ea"/>
                <a:ea typeface="+mj-ea"/>
              </a:rPr>
              <a:t>二是流水线功能部件的执行延迟</a:t>
            </a:r>
            <a:endParaRPr lang="en-US" altLang="zh-CN" sz="2400" b="1" dirty="0">
              <a:latin typeface="+mj-ea"/>
              <a:ea typeface="+mj-ea"/>
            </a:endParaRPr>
          </a:p>
          <a:p>
            <a:pPr marL="457200" lvl="1" indent="0" eaLnBrk="1" fontAlgn="auto" hangingPunct="1">
              <a:spcAft>
                <a:spcPts val="0"/>
              </a:spcAft>
              <a:buFont typeface="Arial" charset="0"/>
              <a:buNone/>
              <a:defRPr/>
            </a:pPr>
            <a:endParaRPr lang="zh-CN" altLang="en-US" sz="2400" b="1" dirty="0">
              <a:latin typeface="+mj-ea"/>
              <a:ea typeface="+mj-ea"/>
            </a:endParaRPr>
          </a:p>
          <a:p>
            <a:pPr eaLnBrk="1" fontAlgn="auto" hangingPunct="1">
              <a:spcAft>
                <a:spcPts val="0"/>
              </a:spcAft>
              <a:buFont typeface="Arial" pitchFamily="34" charset="0"/>
              <a:buChar char="•"/>
              <a:defRPr/>
            </a:pPr>
            <a:r>
              <a:rPr lang="zh-CN" altLang="en-US" sz="2400" b="1" dirty="0">
                <a:latin typeface="+mj-ea"/>
                <a:ea typeface="+mj-ea"/>
              </a:rPr>
              <a:t>本章中使用的浮点流水线的延迟如下表</a:t>
            </a:r>
          </a:p>
        </p:txBody>
      </p:sp>
      <p:graphicFrame>
        <p:nvGraphicFramePr>
          <p:cNvPr id="285778" name="Group 82"/>
          <p:cNvGraphicFramePr>
            <a:graphicFrameLocks noGrp="1"/>
          </p:cNvGraphicFramePr>
          <p:nvPr>
            <p:ph sz="half" idx="4294967295"/>
          </p:nvPr>
        </p:nvGraphicFramePr>
        <p:xfrm>
          <a:off x="468313" y="3433763"/>
          <a:ext cx="8207375" cy="2587625"/>
        </p:xfrm>
        <a:graphic>
          <a:graphicData uri="http://schemas.openxmlformats.org/drawingml/2006/table">
            <a:tbl>
              <a:tblPr/>
              <a:tblGrid>
                <a:gridCol w="3295650">
                  <a:extLst>
                    <a:ext uri="{9D8B030D-6E8A-4147-A177-3AD203B41FA5}">
                      <a16:colId xmlns:a16="http://schemas.microsoft.com/office/drawing/2014/main" val="20000"/>
                    </a:ext>
                  </a:extLst>
                </a:gridCol>
                <a:gridCol w="3294062">
                  <a:extLst>
                    <a:ext uri="{9D8B030D-6E8A-4147-A177-3AD203B41FA5}">
                      <a16:colId xmlns:a16="http://schemas.microsoft.com/office/drawing/2014/main" val="20001"/>
                    </a:ext>
                  </a:extLst>
                </a:gridCol>
                <a:gridCol w="1617663">
                  <a:extLst>
                    <a:ext uri="{9D8B030D-6E8A-4147-A177-3AD203B41FA5}">
                      <a16:colId xmlns:a16="http://schemas.microsoft.com/office/drawing/2014/main" val="20002"/>
                    </a:ext>
                  </a:extLst>
                </a:gridCol>
              </a:tblGrid>
              <a:tr h="517525">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产生结果指令</a:t>
                      </a:r>
                      <a:endParaRPr kumimoji="0" lang="zh-CN" altLang="en-US" sz="2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66FF99"/>
                    </a:solid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使用结果指令</a:t>
                      </a:r>
                      <a:endParaRPr kumimoji="0" lang="zh-CN" altLang="en-US" sz="2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66FF99"/>
                    </a:solid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延迟时钟数</a:t>
                      </a:r>
                      <a:endParaRPr kumimoji="0" lang="zh-CN" altLang="en-US" sz="2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66FF99"/>
                    </a:solidFill>
                  </a:tcPr>
                </a:tc>
                <a:extLst>
                  <a:ext uri="{0D108BD9-81ED-4DB2-BD59-A6C34878D82A}">
                    <a16:rowId xmlns:a16="http://schemas.microsoft.com/office/drawing/2014/main" val="10000"/>
                  </a:ext>
                </a:extLst>
              </a:tr>
              <a:tr h="517525">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浮点计算</a:t>
                      </a:r>
                      <a:endParaRPr kumimoji="0" lang="zh-CN" altLang="en-US" sz="2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另外的浮点计算</a:t>
                      </a:r>
                      <a:endParaRPr kumimoji="0" lang="zh-CN" altLang="en-US" sz="2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1" i="0" u="none" strike="noStrike" cap="none" normalizeH="0" baseline="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17525">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浮点计算</a:t>
                      </a:r>
                      <a:endParaRPr kumimoji="0" lang="zh-CN" altLang="en-US" sz="2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浮点数据存操作（</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SD</a:t>
                      </a:r>
                      <a:r>
                        <a:rPr kumimoji="0" lang="zh-CN" altLang="en-US" sz="2000" b="1" i="0" u="none" strike="noStrike" cap="none" normalizeH="0" baseline="0">
                          <a:ln>
                            <a:noFill/>
                          </a:ln>
                          <a:solidFill>
                            <a:schemeClr val="tx1"/>
                          </a:solidFill>
                          <a:effectLst/>
                          <a:latin typeface="宋体" pitchFamily="2" charset="-122"/>
                          <a:ea typeface="宋体" pitchFamily="2" charset="-122"/>
                        </a:rPr>
                        <a:t>）</a:t>
                      </a:r>
                      <a:endParaRPr kumimoji="0" lang="zh-CN" altLang="en-US" sz="2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1" i="0" u="none" strike="noStrike" cap="none" normalizeH="0" baseline="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17525">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浮点数据取操作（</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LD</a:t>
                      </a:r>
                      <a:r>
                        <a:rPr kumimoji="0" lang="zh-CN" altLang="en-US" sz="2000" b="1" i="0" u="none" strike="noStrike" cap="none" normalizeH="0" baseline="0" dirty="0">
                          <a:ln>
                            <a:noFill/>
                          </a:ln>
                          <a:solidFill>
                            <a:schemeClr val="tx1"/>
                          </a:solidFill>
                          <a:effectLst/>
                          <a:latin typeface="宋体" pitchFamily="2" charset="-122"/>
                          <a:ea typeface="宋体" pitchFamily="2" charset="-122"/>
                        </a:rPr>
                        <a:t>）</a:t>
                      </a:r>
                      <a:endParaRPr kumimoji="0" lang="zh-CN" altLang="en-US" sz="2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浮点计算</a:t>
                      </a:r>
                      <a:endParaRPr kumimoji="0" lang="zh-CN" altLang="en-US" sz="2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17525">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浮点数据取操作（</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LD</a:t>
                      </a:r>
                      <a:r>
                        <a:rPr kumimoji="0" lang="zh-CN" altLang="en-US" sz="2000" b="1" i="0" u="none" strike="noStrike" cap="none" normalizeH="0" baseline="0">
                          <a:ln>
                            <a:noFill/>
                          </a:ln>
                          <a:solidFill>
                            <a:schemeClr val="tx1"/>
                          </a:solidFill>
                          <a:effectLst/>
                          <a:latin typeface="宋体" pitchFamily="2" charset="-122"/>
                          <a:ea typeface="宋体" pitchFamily="2" charset="-122"/>
                        </a:rPr>
                        <a:t>）</a:t>
                      </a:r>
                      <a:endParaRPr kumimoji="0" lang="zh-CN" altLang="en-US" sz="2000" b="1" i="0" u="none" strike="noStrike" cap="none" normalizeH="0" baseline="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浮点数据存操作（</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SD</a:t>
                      </a:r>
                      <a:r>
                        <a:rPr kumimoji="0" lang="zh-CN" altLang="en-US" sz="2000" b="1" i="0" u="none" strike="noStrike" cap="none" normalizeH="0" baseline="0" dirty="0">
                          <a:ln>
                            <a:noFill/>
                          </a:ln>
                          <a:solidFill>
                            <a:schemeClr val="tx1"/>
                          </a:solidFill>
                          <a:effectLst/>
                          <a:latin typeface="宋体" pitchFamily="2" charset="-122"/>
                          <a:ea typeface="宋体" pitchFamily="2" charset="-122"/>
                        </a:rPr>
                        <a:t>）</a:t>
                      </a:r>
                      <a:endParaRPr kumimoji="0" lang="zh-CN" altLang="en-US" sz="2000" b="1" i="0" u="none" strike="noStrike" cap="none" normalizeH="0" baseline="0" dirty="0">
                        <a:ln>
                          <a:noFill/>
                        </a:ln>
                        <a:solidFill>
                          <a:schemeClr val="tx1"/>
                        </a:solidFill>
                        <a:effectLst/>
                        <a:latin typeface="Verdana" pitchFamily="34" charset="0"/>
                        <a:ea typeface="宋体" pitchFamily="2" charset="-122"/>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t"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dirty="0">
                        <a:ln>
                          <a:noFill/>
                        </a:ln>
                        <a:solidFill>
                          <a:schemeClr val="tx1"/>
                        </a:solidFill>
                        <a:effectLst/>
                        <a:latin typeface="Verdana" pitchFamily="34"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日期占位符 1">
            <a:extLst>
              <a:ext uri="{FF2B5EF4-FFF2-40B4-BE49-F238E27FC236}">
                <a16:creationId xmlns:a16="http://schemas.microsoft.com/office/drawing/2014/main" id="{54B66BEA-B5BA-CEA3-1E32-00C71C4556AA}"/>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91C2A7C6-DCE4-7C0A-4816-9DA2417314DD}"/>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1CABE6B-6FFF-78B8-F476-4712374AE1C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13</a:t>
            </a:fld>
            <a:endParaRPr lang="en-US" altLang="zh-CN"/>
          </a:p>
        </p:txBody>
      </p:sp>
    </p:spTree>
    <p:extLst>
      <p:ext uri="{BB962C8B-B14F-4D97-AF65-F5344CB8AC3E}">
        <p14:creationId xmlns:p14="http://schemas.microsoft.com/office/powerpoint/2010/main" val="4272493297"/>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2"/>
          <p:cNvSpPr>
            <a:spLocks noGrp="1" noChangeArrowheads="1"/>
          </p:cNvSpPr>
          <p:nvPr>
            <p:ph type="title" idx="4294967295"/>
          </p:nvPr>
        </p:nvSpPr>
        <p:spPr/>
        <p:txBody>
          <a:bodyPr/>
          <a:lstStyle/>
          <a:p>
            <a:pPr eaLnBrk="1" hangingPunct="1">
              <a:defRPr/>
            </a:pPr>
            <a:r>
              <a:rPr lang="zh-CN" altLang="en-US" sz="3600" b="1" dirty="0">
                <a:latin typeface="+mj-ea"/>
              </a:rPr>
              <a:t>其他特性说明</a:t>
            </a:r>
          </a:p>
        </p:txBody>
      </p:sp>
      <p:sp>
        <p:nvSpPr>
          <p:cNvPr id="287757" name="Rectangle 13"/>
          <p:cNvSpPr>
            <a:spLocks noGrp="1" noChangeArrowheads="1"/>
          </p:cNvSpPr>
          <p:nvPr>
            <p:ph type="body" idx="4294967295"/>
          </p:nvPr>
        </p:nvSpPr>
        <p:spPr>
          <a:xfrm>
            <a:off x="457200" y="1484313"/>
            <a:ext cx="8229600" cy="4897437"/>
          </a:xfrm>
        </p:spPr>
        <p:txBody>
          <a:bodyPr rtlCol="0">
            <a:noAutofit/>
          </a:bodyPr>
          <a:lstStyle/>
          <a:p>
            <a:pPr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整数流水线采用改进的</a:t>
            </a:r>
            <a:r>
              <a:rPr lang="en-US" altLang="zh-CN" sz="2400" b="1" dirty="0">
                <a:latin typeface="Times New Roman" panose="02020603050405020304" pitchFamily="18" charset="0"/>
                <a:cs typeface="Times New Roman" panose="02020603050405020304" pitchFamily="18" charset="0"/>
              </a:rPr>
              <a:t>MIPS</a:t>
            </a:r>
            <a:r>
              <a:rPr lang="zh-CN" altLang="en-US" sz="2400" b="1" dirty="0">
                <a:latin typeface="Times New Roman" panose="02020603050405020304" pitchFamily="18" charset="0"/>
                <a:cs typeface="Times New Roman" panose="02020603050405020304" pitchFamily="18" charset="0"/>
              </a:rPr>
              <a:t>整数流水线</a:t>
            </a:r>
          </a:p>
          <a:p>
            <a:pPr lvl="1"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载入延迟为</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个节拍</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由于</a:t>
            </a:r>
            <a:r>
              <a:rPr lang="zh-CN" altLang="en-US" sz="2400" b="1" dirty="0">
                <a:solidFill>
                  <a:srgbClr val="FF0000"/>
                </a:solidFill>
                <a:latin typeface="Times New Roman" panose="02020603050405020304" pitchFamily="18" charset="0"/>
                <a:cs typeface="Times New Roman" panose="02020603050405020304" pitchFamily="18" charset="0"/>
              </a:rPr>
              <a:t>数据的取操作</a:t>
            </a:r>
            <a:r>
              <a:rPr lang="zh-CN" altLang="en-US" sz="2400" b="1" dirty="0">
                <a:latin typeface="Times New Roman" panose="02020603050405020304" pitchFamily="18" charset="0"/>
                <a:cs typeface="Times New Roman" panose="02020603050405020304" pitchFamily="18" charset="0"/>
              </a:rPr>
              <a:t>的结果可以毫无停顿的通过</a:t>
            </a:r>
            <a:r>
              <a:rPr lang="zh-CN" altLang="en-US" sz="2400" b="1" dirty="0">
                <a:solidFill>
                  <a:srgbClr val="FF0000"/>
                </a:solidFill>
                <a:latin typeface="Times New Roman" panose="02020603050405020304" pitchFamily="18" charset="0"/>
                <a:cs typeface="Times New Roman" panose="02020603050405020304" pitchFamily="18" charset="0"/>
              </a:rPr>
              <a:t>相关通路</a:t>
            </a:r>
            <a:r>
              <a:rPr lang="zh-CN" altLang="en-US" sz="2400" b="1" dirty="0">
                <a:latin typeface="Times New Roman" panose="02020603050405020304" pitchFamily="18" charset="0"/>
                <a:cs typeface="Times New Roman" panose="02020603050405020304" pitchFamily="18" charset="0"/>
              </a:rPr>
              <a:t>机制</a:t>
            </a:r>
            <a:r>
              <a:rPr lang="zh-CN" altLang="en-US" sz="2400" b="1" dirty="0">
                <a:solidFill>
                  <a:srgbClr val="FF0000"/>
                </a:solidFill>
                <a:latin typeface="Times New Roman" panose="02020603050405020304" pitchFamily="18" charset="0"/>
                <a:cs typeface="Times New Roman" panose="02020603050405020304" pitchFamily="18" charset="0"/>
              </a:rPr>
              <a:t>传送到数据存部件</a:t>
            </a:r>
            <a:r>
              <a:rPr lang="zh-CN" altLang="en-US" sz="2400" b="1" dirty="0">
                <a:latin typeface="Times New Roman" panose="02020603050405020304" pitchFamily="18" charset="0"/>
                <a:cs typeface="Times New Roman" panose="02020603050405020304" pitchFamily="18" charset="0"/>
              </a:rPr>
              <a:t>，所以延迟为</a:t>
            </a:r>
            <a:r>
              <a:rPr lang="en-US" altLang="zh-CN" sz="2400" b="1" dirty="0">
                <a:latin typeface="Times New Roman" panose="02020603050405020304" pitchFamily="18" charset="0"/>
                <a:cs typeface="Times New Roman" panose="02020603050405020304" pitchFamily="18" charset="0"/>
              </a:rPr>
              <a:t>0</a:t>
            </a:r>
          </a:p>
          <a:p>
            <a:pPr lvl="1"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有定向通道或旁路机制</a:t>
            </a:r>
          </a:p>
          <a:p>
            <a:pPr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分支指令，由整数流水线执行</a:t>
            </a:r>
          </a:p>
          <a:p>
            <a:pPr lvl="1"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分支条件检测调整到</a:t>
            </a:r>
            <a:r>
              <a:rPr lang="en-US" altLang="zh-CN" sz="2400" b="1" dirty="0">
                <a:solidFill>
                  <a:srgbClr val="FF0000"/>
                </a:solidFill>
                <a:latin typeface="Times New Roman" panose="02020603050405020304" pitchFamily="18" charset="0"/>
                <a:cs typeface="Times New Roman" panose="02020603050405020304" pitchFamily="18" charset="0"/>
              </a:rPr>
              <a:t>ID</a:t>
            </a:r>
            <a:r>
              <a:rPr lang="zh-CN" altLang="en-US" sz="2400" b="1" dirty="0">
                <a:solidFill>
                  <a:srgbClr val="FF0000"/>
                </a:solidFill>
                <a:latin typeface="Times New Roman" panose="02020603050405020304" pitchFamily="18" charset="0"/>
                <a:cs typeface="Times New Roman" panose="02020603050405020304" pitchFamily="18" charset="0"/>
              </a:rPr>
              <a:t>段</a:t>
            </a:r>
          </a:p>
          <a:p>
            <a:pPr lvl="1"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如果分支指令使用</a:t>
            </a:r>
            <a:r>
              <a:rPr lang="zh-CN" altLang="en-US" sz="2400" b="1" dirty="0">
                <a:solidFill>
                  <a:srgbClr val="FF0000"/>
                </a:solidFill>
                <a:latin typeface="Times New Roman" panose="02020603050405020304" pitchFamily="18" charset="0"/>
                <a:cs typeface="Times New Roman" panose="02020603050405020304" pitchFamily="18" charset="0"/>
              </a:rPr>
              <a:t>上一条指令</a:t>
            </a:r>
            <a:r>
              <a:rPr lang="zh-CN" altLang="en-US" sz="2400" b="1" dirty="0">
                <a:latin typeface="Times New Roman" panose="02020603050405020304" pitchFamily="18" charset="0"/>
                <a:cs typeface="Times New Roman" panose="02020603050405020304" pitchFamily="18" charset="0"/>
              </a:rPr>
              <a:t>的结果作为分支条件，将要延迟</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节拍</a:t>
            </a:r>
          </a:p>
          <a:p>
            <a:pPr lvl="1"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分支指令有</a:t>
            </a: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个节拍的</a:t>
            </a:r>
            <a:r>
              <a:rPr lang="zh-CN" altLang="en-US" sz="2400" b="1" dirty="0">
                <a:solidFill>
                  <a:srgbClr val="FF0000"/>
                </a:solidFill>
                <a:latin typeface="Times New Roman" panose="02020603050405020304" pitchFamily="18" charset="0"/>
                <a:cs typeface="Times New Roman" panose="02020603050405020304" pitchFamily="18" charset="0"/>
              </a:rPr>
              <a:t>延迟槽</a:t>
            </a:r>
          </a:p>
          <a:p>
            <a:pPr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浮点运算一般为</a:t>
            </a:r>
            <a:r>
              <a:rPr lang="en-US" altLang="zh-CN" sz="2400" b="1" dirty="0">
                <a:latin typeface="Times New Roman" panose="02020603050405020304" pitchFamily="18" charset="0"/>
                <a:cs typeface="Times New Roman" panose="02020603050405020304" pitchFamily="18" charset="0"/>
              </a:rPr>
              <a:t>64</a:t>
            </a:r>
            <a:r>
              <a:rPr lang="zh-CN" altLang="en-US" sz="2400" b="1" dirty="0">
                <a:latin typeface="Times New Roman" panose="02020603050405020304" pitchFamily="18" charset="0"/>
                <a:cs typeface="Times New Roman" panose="02020603050405020304" pitchFamily="18" charset="0"/>
              </a:rPr>
              <a:t>位</a:t>
            </a:r>
          </a:p>
          <a:p>
            <a:pPr marL="0" indent="0" eaLnBrk="1" fontAlgn="auto" hangingPunct="1">
              <a:spcAft>
                <a:spcPts val="0"/>
              </a:spcAft>
              <a:buNone/>
              <a:defRPr/>
            </a:pPr>
            <a:endParaRPr lang="zh-CN" altLang="en-US" sz="24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D43C0404-9EFA-EC54-8490-303ED3ED8E2E}"/>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BC528DD6-CD91-B96A-A62F-A4D38EF67A56}"/>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580CF13-0575-49E8-C626-58EC6239BEE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14</a:t>
            </a:fld>
            <a:endParaRPr lang="en-US" altLang="zh-CN"/>
          </a:p>
        </p:txBody>
      </p:sp>
    </p:spTree>
    <p:extLst>
      <p:ext uri="{BB962C8B-B14F-4D97-AF65-F5344CB8AC3E}">
        <p14:creationId xmlns:p14="http://schemas.microsoft.com/office/powerpoint/2010/main" val="144504058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idx="4294967295"/>
          </p:nvPr>
        </p:nvSpPr>
        <p:spPr/>
        <p:txBody>
          <a:bodyPr/>
          <a:lstStyle/>
          <a:p>
            <a:pPr eaLnBrk="1" hangingPunct="1">
              <a:defRPr/>
            </a:pPr>
            <a:r>
              <a:rPr lang="zh-CN" altLang="en-US" sz="3600" b="1" dirty="0">
                <a:latin typeface="+mj-ea"/>
              </a:rPr>
              <a:t>循环展开实例</a:t>
            </a:r>
          </a:p>
        </p:txBody>
      </p:sp>
      <p:sp>
        <p:nvSpPr>
          <p:cNvPr id="13315" name="Rectangle 5"/>
          <p:cNvSpPr>
            <a:spLocks noGrp="1" noChangeArrowheads="1"/>
          </p:cNvSpPr>
          <p:nvPr>
            <p:ph type="body" idx="4294967295"/>
          </p:nvPr>
        </p:nvSpPr>
        <p:spPr/>
        <p:txBody>
          <a:bodyPr/>
          <a:lstStyle/>
          <a:p>
            <a:pPr eaLnBrk="1" hangingPunct="1">
              <a:defRPr/>
            </a:pPr>
            <a:r>
              <a:rPr lang="zh-CN" altLang="en-US" sz="2400" b="1" dirty="0">
                <a:latin typeface="+mn-ea"/>
              </a:rPr>
              <a:t>对于下面的源代码，在不进行指令调度和进行指令调度两种情况下，分析代码一次循环的执行时间。</a:t>
            </a:r>
          </a:p>
          <a:p>
            <a:pPr eaLnBrk="1" hangingPunct="1">
              <a:defRPr/>
            </a:pPr>
            <a:endParaRPr lang="zh-CN" altLang="en-US" sz="2800" dirty="0">
              <a:latin typeface="Verdana" pitchFamily="34" charset="0"/>
              <a:ea typeface="华文中宋" pitchFamily="2" charset="-122"/>
            </a:endParaRPr>
          </a:p>
          <a:p>
            <a:pPr algn="ctr" eaLnBrk="1" hangingPunct="1">
              <a:buFont typeface="Wingdings" pitchFamily="2" charset="2"/>
              <a:buNone/>
              <a:defRPr/>
            </a:pPr>
            <a:r>
              <a:rPr lang="en-US" altLang="zh-CN" sz="2800" dirty="0">
                <a:latin typeface="Verdana" pitchFamily="34" charset="0"/>
                <a:ea typeface="华文中宋" pitchFamily="2" charset="-122"/>
              </a:rPr>
              <a:t>for (i=1; i&lt;=1000; i++)</a:t>
            </a:r>
          </a:p>
          <a:p>
            <a:pPr algn="ctr" eaLnBrk="1" hangingPunct="1">
              <a:buFont typeface="Wingdings" pitchFamily="2" charset="2"/>
              <a:buNone/>
              <a:defRPr/>
            </a:pPr>
            <a:r>
              <a:rPr lang="en-US" altLang="zh-CN" sz="2800" dirty="0">
                <a:latin typeface="Verdana" pitchFamily="34" charset="0"/>
                <a:ea typeface="华文中宋" pitchFamily="2" charset="-122"/>
              </a:rPr>
              <a:t>x[i] = x[i] + s; </a:t>
            </a:r>
            <a:endParaRPr lang="zh-CN" altLang="en-US" sz="2800" dirty="0">
              <a:latin typeface="Verdana" pitchFamily="34" charset="0"/>
              <a:ea typeface="华文中宋" pitchFamily="2" charset="-122"/>
            </a:endParaRPr>
          </a:p>
        </p:txBody>
      </p:sp>
      <p:sp>
        <p:nvSpPr>
          <p:cNvPr id="2" name="日期占位符 1">
            <a:extLst>
              <a:ext uri="{FF2B5EF4-FFF2-40B4-BE49-F238E27FC236}">
                <a16:creationId xmlns:a16="http://schemas.microsoft.com/office/drawing/2014/main" id="{93E17B51-954D-EEE9-F206-7B833DC052C3}"/>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B4973B52-A33C-0AC8-8F2D-D627A1054C96}"/>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D4B452B-4AA2-5E5A-2B8B-499202523D5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15</a:t>
            </a:fld>
            <a:endParaRPr lang="en-US" altLang="zh-CN"/>
          </a:p>
        </p:txBody>
      </p:sp>
    </p:spTree>
    <p:extLst>
      <p:ext uri="{BB962C8B-B14F-4D97-AF65-F5344CB8AC3E}">
        <p14:creationId xmlns:p14="http://schemas.microsoft.com/office/powerpoint/2010/main" val="26422573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idx="4294967295"/>
          </p:nvPr>
        </p:nvSpPr>
        <p:spPr/>
        <p:txBody>
          <a:bodyPr/>
          <a:lstStyle/>
          <a:p>
            <a:pPr eaLnBrk="1" hangingPunct="1">
              <a:defRPr/>
            </a:pPr>
            <a:r>
              <a:rPr lang="en-US" altLang="zh-CN" sz="3600" b="1" dirty="0">
                <a:latin typeface="Times New Roman" panose="02020603050405020304" pitchFamily="18" charset="0"/>
                <a:ea typeface="+mn-ea"/>
                <a:cs typeface="Times New Roman" panose="02020603050405020304" pitchFamily="18" charset="0"/>
              </a:rPr>
              <a:t>MIPS</a:t>
            </a:r>
            <a:r>
              <a:rPr lang="zh-CN" altLang="en-US" sz="3600" b="1" dirty="0">
                <a:latin typeface="Times New Roman" panose="02020603050405020304" pitchFamily="18" charset="0"/>
                <a:ea typeface="+mn-ea"/>
                <a:cs typeface="Times New Roman" panose="02020603050405020304" pitchFamily="18" charset="0"/>
              </a:rPr>
              <a:t>汇编语言程序</a:t>
            </a:r>
          </a:p>
        </p:txBody>
      </p:sp>
      <p:sp>
        <p:nvSpPr>
          <p:cNvPr id="15363" name="Rectangle 5"/>
          <p:cNvSpPr>
            <a:spLocks noGrp="1" noChangeArrowheads="1"/>
          </p:cNvSpPr>
          <p:nvPr>
            <p:ph type="body" idx="4294967295"/>
          </p:nvPr>
        </p:nvSpPr>
        <p:spPr/>
        <p:txBody>
          <a:bodyPr/>
          <a:lstStyle/>
          <a:p>
            <a:pPr eaLnBrk="1" hangingPunct="1"/>
            <a:r>
              <a:rPr lang="zh-CN" altLang="en-US" sz="2600" dirty="0">
                <a:latin typeface="Verdana" pitchFamily="34" charset="0"/>
                <a:ea typeface="华文中宋" pitchFamily="2" charset="-122"/>
              </a:rPr>
              <a:t>程序转换成</a:t>
            </a:r>
            <a:r>
              <a:rPr lang="en-US" altLang="zh-CN" sz="2600" dirty="0">
                <a:latin typeface="Verdana" pitchFamily="34" charset="0"/>
                <a:ea typeface="华文中宋" pitchFamily="2" charset="-122"/>
              </a:rPr>
              <a:t>MIPS</a:t>
            </a:r>
            <a:r>
              <a:rPr lang="zh-CN" altLang="en-US" sz="2600" dirty="0">
                <a:latin typeface="Verdana" pitchFamily="34" charset="0"/>
                <a:ea typeface="华文中宋" pitchFamily="2" charset="-122"/>
              </a:rPr>
              <a:t>汇编语言程序</a:t>
            </a:r>
            <a:endParaRPr lang="en-US" altLang="zh-CN" sz="2600" dirty="0">
              <a:latin typeface="Verdana" pitchFamily="34" charset="0"/>
              <a:ea typeface="华文中宋" pitchFamily="2" charset="-122"/>
            </a:endParaRPr>
          </a:p>
          <a:p>
            <a:pPr lvl="1" eaLnBrk="1" hangingPunct="1">
              <a:buFont typeface="Wingdings" pitchFamily="2" charset="2"/>
              <a:buNone/>
            </a:pPr>
            <a:endParaRPr lang="en-US" altLang="zh-CN" sz="2600" dirty="0">
              <a:latin typeface="Verdana" pitchFamily="34" charset="0"/>
              <a:ea typeface="华文中宋" pitchFamily="2" charset="-122"/>
            </a:endParaRPr>
          </a:p>
          <a:p>
            <a:pPr lvl="1" eaLnBrk="1" hangingPunct="1">
              <a:buFont typeface="Wingdings" pitchFamily="2" charset="2"/>
              <a:buNone/>
            </a:pPr>
            <a:r>
              <a:rPr lang="en-US" altLang="zh-CN" sz="2600" dirty="0">
                <a:latin typeface="Verdana" pitchFamily="34" charset="0"/>
                <a:ea typeface="华文中宋" pitchFamily="2" charset="-122"/>
              </a:rPr>
              <a:t>Loop:	LD		F0,0(R1)	;F0</a:t>
            </a:r>
            <a:r>
              <a:rPr lang="zh-CN" altLang="en-US" sz="2600" dirty="0">
                <a:latin typeface="Verdana" pitchFamily="34" charset="0"/>
                <a:ea typeface="华文中宋" pitchFamily="2" charset="-122"/>
              </a:rPr>
              <a:t>为向量元素</a:t>
            </a:r>
          </a:p>
          <a:p>
            <a:pPr lvl="1" eaLnBrk="1" hangingPunct="1">
              <a:buFont typeface="Wingdings" pitchFamily="2" charset="2"/>
              <a:buNone/>
            </a:pPr>
            <a:r>
              <a:rPr lang="zh-CN" altLang="en-US" sz="2600" dirty="0">
                <a:latin typeface="Verdana" pitchFamily="34" charset="0"/>
                <a:ea typeface="华文中宋" pitchFamily="2" charset="-122"/>
              </a:rPr>
              <a:t>			</a:t>
            </a:r>
            <a:r>
              <a:rPr lang="en-US" altLang="zh-CN" sz="2600" dirty="0">
                <a:latin typeface="Verdana" pitchFamily="34" charset="0"/>
                <a:ea typeface="华文中宋" pitchFamily="2" charset="-122"/>
              </a:rPr>
              <a:t>ADDD	F4,F0,F2	;</a:t>
            </a:r>
            <a:r>
              <a:rPr lang="zh-CN" altLang="en-US" sz="2600" dirty="0">
                <a:latin typeface="Verdana" pitchFamily="34" charset="0"/>
                <a:ea typeface="华文中宋" pitchFamily="2" charset="-122"/>
              </a:rPr>
              <a:t>加常数</a:t>
            </a:r>
            <a:r>
              <a:rPr lang="en-US" altLang="zh-CN" sz="2600" dirty="0">
                <a:latin typeface="Verdana" pitchFamily="34" charset="0"/>
                <a:ea typeface="华文中宋" pitchFamily="2" charset="-122"/>
              </a:rPr>
              <a:t>F2</a:t>
            </a:r>
            <a:endParaRPr lang="zh-CN" altLang="en-US" sz="2600" dirty="0">
              <a:latin typeface="Verdana" pitchFamily="34" charset="0"/>
              <a:ea typeface="华文中宋" pitchFamily="2" charset="-122"/>
            </a:endParaRPr>
          </a:p>
          <a:p>
            <a:pPr lvl="1" eaLnBrk="1" hangingPunct="1">
              <a:buFont typeface="Wingdings" pitchFamily="2" charset="2"/>
              <a:buNone/>
            </a:pPr>
            <a:r>
              <a:rPr lang="zh-CN" altLang="en-US" sz="2600" dirty="0">
                <a:latin typeface="Verdana" pitchFamily="34" charset="0"/>
                <a:ea typeface="华文中宋" pitchFamily="2" charset="-122"/>
              </a:rPr>
              <a:t>			</a:t>
            </a:r>
            <a:r>
              <a:rPr lang="en-US" altLang="zh-CN" sz="2600" dirty="0">
                <a:latin typeface="Verdana" pitchFamily="34" charset="0"/>
                <a:ea typeface="华文中宋" pitchFamily="2" charset="-122"/>
              </a:rPr>
              <a:t>SD		0(R1),F4	;</a:t>
            </a:r>
            <a:r>
              <a:rPr lang="zh-CN" altLang="en-US" sz="2600" dirty="0">
                <a:latin typeface="Verdana" pitchFamily="34" charset="0"/>
                <a:ea typeface="华文中宋" pitchFamily="2" charset="-122"/>
              </a:rPr>
              <a:t>保存结果</a:t>
            </a:r>
          </a:p>
          <a:p>
            <a:pPr lvl="1" eaLnBrk="1" hangingPunct="1">
              <a:buFont typeface="Wingdings" pitchFamily="2" charset="2"/>
              <a:buNone/>
            </a:pPr>
            <a:r>
              <a:rPr lang="zh-CN" altLang="en-US" sz="2600" dirty="0">
                <a:latin typeface="Verdana" pitchFamily="34" charset="0"/>
                <a:ea typeface="华文中宋" pitchFamily="2" charset="-122"/>
              </a:rPr>
              <a:t>			</a:t>
            </a:r>
            <a:r>
              <a:rPr lang="en-US" altLang="zh-CN" sz="2600" dirty="0">
                <a:latin typeface="Verdana" pitchFamily="34" charset="0"/>
                <a:ea typeface="华文中宋" pitchFamily="2" charset="-122"/>
              </a:rPr>
              <a:t>SUBI	        R1,R1,#8	;</a:t>
            </a:r>
            <a:r>
              <a:rPr lang="zh-CN" altLang="en-US" sz="2600" dirty="0">
                <a:latin typeface="Verdana" pitchFamily="34" charset="0"/>
                <a:ea typeface="华文中宋" pitchFamily="2" charset="-122"/>
              </a:rPr>
              <a:t>修改指针</a:t>
            </a:r>
          </a:p>
          <a:p>
            <a:pPr lvl="1" eaLnBrk="1" hangingPunct="1">
              <a:buFont typeface="Wingdings" pitchFamily="2" charset="2"/>
              <a:buNone/>
            </a:pPr>
            <a:r>
              <a:rPr lang="zh-CN" altLang="en-US" sz="2600" dirty="0">
                <a:latin typeface="Verdana" pitchFamily="34" charset="0"/>
                <a:ea typeface="华文中宋" pitchFamily="2" charset="-122"/>
              </a:rPr>
              <a:t>			</a:t>
            </a:r>
            <a:r>
              <a:rPr lang="en-US" altLang="zh-CN" sz="2600" dirty="0">
                <a:latin typeface="Verdana" pitchFamily="34" charset="0"/>
                <a:ea typeface="华文中宋" pitchFamily="2" charset="-122"/>
              </a:rPr>
              <a:t>BNEZ	        R1,Loop	;</a:t>
            </a:r>
            <a:r>
              <a:rPr lang="zh-CN" altLang="en-US" sz="2600" dirty="0">
                <a:latin typeface="Verdana" pitchFamily="34" charset="0"/>
                <a:ea typeface="华文中宋" pitchFamily="2" charset="-122"/>
              </a:rPr>
              <a:t>循环控制</a:t>
            </a:r>
          </a:p>
        </p:txBody>
      </p:sp>
      <p:sp>
        <p:nvSpPr>
          <p:cNvPr id="2" name="日期占位符 1">
            <a:extLst>
              <a:ext uri="{FF2B5EF4-FFF2-40B4-BE49-F238E27FC236}">
                <a16:creationId xmlns:a16="http://schemas.microsoft.com/office/drawing/2014/main" id="{93C25C9D-0AEB-942D-60A7-E00E2D028573}"/>
              </a:ext>
            </a:extLst>
          </p:cNvPr>
          <p:cNvSpPr>
            <a:spLocks noGrp="1"/>
          </p:cNvSpPr>
          <p:nvPr>
            <p:ph type="dt" sz="half" idx="10"/>
          </p:nvPr>
        </p:nvSpPr>
        <p:spPr>
          <a:xfrm>
            <a:off x="457200" y="6376243"/>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1E384186-FB42-431F-A635-1394199C6E84}"/>
              </a:ext>
            </a:extLst>
          </p:cNvPr>
          <p:cNvSpPr>
            <a:spLocks noGrp="1"/>
          </p:cNvSpPr>
          <p:nvPr>
            <p:ph type="ftr" sz="quarter" idx="11"/>
          </p:nvPr>
        </p:nvSpPr>
        <p:spPr>
          <a:xfrm>
            <a:off x="3124200" y="6376243"/>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EFDE58B-A29A-476A-64D0-E6EEA4E105A1}"/>
              </a:ext>
            </a:extLst>
          </p:cNvPr>
          <p:cNvSpPr>
            <a:spLocks noGrp="1"/>
          </p:cNvSpPr>
          <p:nvPr>
            <p:ph type="sldNum" sz="quarter" idx="12"/>
          </p:nvPr>
        </p:nvSpPr>
        <p:spPr>
          <a:xfrm>
            <a:off x="6553200" y="6376243"/>
            <a:ext cx="2133600" cy="365125"/>
          </a:xfrm>
        </p:spPr>
        <p:txBody>
          <a:bodyPr/>
          <a:lstStyle/>
          <a:p>
            <a:pPr>
              <a:defRPr/>
            </a:pPr>
            <a:fld id="{8BCAC33D-D29A-48B3-BCD6-381D3D720D26}" type="slidenum">
              <a:rPr lang="zh-CN" altLang="en-US" smtClean="0"/>
              <a:t>16</a:t>
            </a:fld>
            <a:endParaRPr lang="en-US" altLang="zh-CN"/>
          </a:p>
        </p:txBody>
      </p:sp>
    </p:spTree>
    <p:extLst>
      <p:ext uri="{BB962C8B-B14F-4D97-AF65-F5344CB8AC3E}">
        <p14:creationId xmlns:p14="http://schemas.microsoft.com/office/powerpoint/2010/main" val="2182817556"/>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7"/>
          <p:cNvSpPr>
            <a:spLocks noGrp="1" noChangeArrowheads="1"/>
          </p:cNvSpPr>
          <p:nvPr>
            <p:ph type="title" idx="4294967295"/>
          </p:nvPr>
        </p:nvSpPr>
        <p:spPr>
          <a:xfrm>
            <a:off x="457200" y="44450"/>
            <a:ext cx="8229600" cy="1143000"/>
          </a:xfrm>
        </p:spPr>
        <p:txBody>
          <a:bodyPr/>
          <a:lstStyle/>
          <a:p>
            <a:pPr eaLnBrk="1" hangingPunct="1"/>
            <a:r>
              <a:rPr lang="zh-CN" altLang="en-US" sz="3600" b="1" dirty="0"/>
              <a:t>循环无调度执行</a:t>
            </a:r>
          </a:p>
        </p:txBody>
      </p:sp>
      <p:graphicFrame>
        <p:nvGraphicFramePr>
          <p:cNvPr id="323635" name="Group 51"/>
          <p:cNvGraphicFramePr>
            <a:graphicFrameLocks noGrp="1"/>
          </p:cNvGraphicFramePr>
          <p:nvPr>
            <p:ph idx="4294967295"/>
          </p:nvPr>
        </p:nvGraphicFramePr>
        <p:xfrm>
          <a:off x="468313" y="1052513"/>
          <a:ext cx="8207375" cy="1443036"/>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2">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dirty="0">
                          <a:ln>
                            <a:noFill/>
                          </a:ln>
                          <a:solidFill>
                            <a:srgbClr val="FF0000"/>
                          </a:solidFill>
                          <a:effectLst/>
                          <a:latin typeface="Courier New" pitchFamily="49" charset="0"/>
                          <a:ea typeface="华文中宋" pitchFamily="2" charset="-122"/>
                          <a:cs typeface="Times New Roman" pitchFamily="18" charset="0"/>
                        </a:rPr>
                        <a:t>?</a:t>
                      </a:r>
                      <a:r>
                        <a:rPr kumimoji="1" lang="en-US" altLang="zh-CN" sz="24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 </a:t>
                      </a:r>
                      <a:r>
                        <a:rPr kumimoji="1" lang="en-US" altLang="zh-CN"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6401" name="AutoShape 282"/>
          <p:cNvSpPr>
            <a:spLocks noChangeArrowheads="1"/>
          </p:cNvSpPr>
          <p:nvPr/>
        </p:nvSpPr>
        <p:spPr bwMode="auto">
          <a:xfrm>
            <a:off x="179388" y="3357563"/>
            <a:ext cx="8785225" cy="3311525"/>
          </a:xfrm>
          <a:prstGeom prst="cloudCallout">
            <a:avLst>
              <a:gd name="adj1" fmla="val -18162"/>
              <a:gd name="adj2" fmla="val -75694"/>
            </a:avLst>
          </a:prstGeom>
          <a:solidFill>
            <a:srgbClr val="00CCFF"/>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anchor="ctr"/>
          <a:lstStyle/>
          <a:p>
            <a:pPr algn="ctr"/>
            <a:endParaRPr lang="zh-CN" altLang="en-US"/>
          </a:p>
        </p:txBody>
      </p:sp>
      <p:pic>
        <p:nvPicPr>
          <p:cNvPr id="16402" name="Picture 281" descr="delay-cl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903663"/>
            <a:ext cx="6337300"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3" name="Rectangle 283"/>
          <p:cNvSpPr>
            <a:spLocks noChangeArrowheads="1"/>
          </p:cNvSpPr>
          <p:nvPr/>
        </p:nvSpPr>
        <p:spPr bwMode="auto">
          <a:xfrm>
            <a:off x="1331913" y="5157788"/>
            <a:ext cx="6553200" cy="287337"/>
          </a:xfrm>
          <a:prstGeom prst="rect">
            <a:avLst/>
          </a:prstGeom>
          <a:solidFill>
            <a:srgbClr val="FF00FF">
              <a:alpha val="49019"/>
            </a:srgbClr>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wrap="none" anchor="ctr"/>
          <a:lstStyle/>
          <a:p>
            <a:endParaRPr lang="zh-CN" altLang="en-US"/>
          </a:p>
        </p:txBody>
      </p:sp>
      <p:sp>
        <p:nvSpPr>
          <p:cNvPr id="2" name="日期占位符 1">
            <a:extLst>
              <a:ext uri="{FF2B5EF4-FFF2-40B4-BE49-F238E27FC236}">
                <a16:creationId xmlns:a16="http://schemas.microsoft.com/office/drawing/2014/main" id="{B6104AD5-911A-50A7-5CEF-879814165BD7}"/>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819552E6-8A57-EA8D-D18E-60A67BD6BB6F}"/>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EBDE7D5-E386-8B46-9823-F03AEC5C3F2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17</a:t>
            </a:fld>
            <a:endParaRPr lang="en-US" altLang="zh-CN"/>
          </a:p>
        </p:txBody>
      </p:sp>
    </p:spTree>
    <p:extLst>
      <p:ext uri="{BB962C8B-B14F-4D97-AF65-F5344CB8AC3E}">
        <p14:creationId xmlns:p14="http://schemas.microsoft.com/office/powerpoint/2010/main" val="127886785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457200" y="-100013"/>
            <a:ext cx="8229600" cy="1143001"/>
          </a:xfrm>
        </p:spPr>
        <p:txBody>
          <a:bodyPr/>
          <a:lstStyle/>
          <a:p>
            <a:pPr eaLnBrk="1" hangingPunct="1"/>
            <a:r>
              <a:rPr lang="zh-CN" altLang="en-US" sz="4000" b="1"/>
              <a:t>循环无调度执行</a:t>
            </a:r>
          </a:p>
        </p:txBody>
      </p:sp>
      <p:graphicFrame>
        <p:nvGraphicFramePr>
          <p:cNvPr id="327723" name="Group 43"/>
          <p:cNvGraphicFramePr>
            <a:graphicFrameLocks noGrp="1"/>
          </p:cNvGraphicFramePr>
          <p:nvPr>
            <p:ph idx="4294967295"/>
          </p:nvPr>
        </p:nvGraphicFramePr>
        <p:xfrm>
          <a:off x="468313" y="1052513"/>
          <a:ext cx="8207375" cy="2411410"/>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2">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3</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4</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rgbClr val="FF0000"/>
                          </a:solidFill>
                          <a:effectLst/>
                          <a:latin typeface="Courier New" pitchFamily="49" charset="0"/>
                          <a:ea typeface="华文中宋" pitchFamily="2" charset="-122"/>
                          <a:cs typeface="Times New Roman" pitchFamily="18" charset="0"/>
                        </a:rPr>
                        <a:t>?</a:t>
                      </a: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 </a:t>
                      </a: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SD		0(R1),F4</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7431" name="AutoShape 44"/>
          <p:cNvSpPr>
            <a:spLocks noChangeArrowheads="1"/>
          </p:cNvSpPr>
          <p:nvPr/>
        </p:nvSpPr>
        <p:spPr bwMode="auto">
          <a:xfrm>
            <a:off x="179388" y="4508500"/>
            <a:ext cx="8785225" cy="2160588"/>
          </a:xfrm>
          <a:prstGeom prst="cloudCallout">
            <a:avLst>
              <a:gd name="adj1" fmla="val -19625"/>
              <a:gd name="adj2" fmla="val -97685"/>
            </a:avLst>
          </a:prstGeom>
          <a:solidFill>
            <a:srgbClr val="00CCFF"/>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anchor="ctr"/>
          <a:lstStyle/>
          <a:p>
            <a:pPr algn="ctr"/>
            <a:endParaRPr lang="zh-CN" altLang="en-US"/>
          </a:p>
        </p:txBody>
      </p:sp>
      <p:pic>
        <p:nvPicPr>
          <p:cNvPr id="17432" name="Picture 45" descr="delay-cl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903663"/>
            <a:ext cx="6337300"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33" name="Rectangle 46"/>
          <p:cNvSpPr>
            <a:spLocks noChangeArrowheads="1"/>
          </p:cNvSpPr>
          <p:nvPr/>
        </p:nvSpPr>
        <p:spPr bwMode="auto">
          <a:xfrm>
            <a:off x="1331913" y="4797425"/>
            <a:ext cx="6553200" cy="287338"/>
          </a:xfrm>
          <a:prstGeom prst="rect">
            <a:avLst/>
          </a:prstGeom>
          <a:solidFill>
            <a:srgbClr val="FF00FF">
              <a:alpha val="49019"/>
            </a:srgbClr>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wrap="none" anchor="ctr"/>
          <a:lstStyle/>
          <a:p>
            <a:endParaRPr lang="zh-CN" altLang="en-US"/>
          </a:p>
        </p:txBody>
      </p:sp>
      <p:sp>
        <p:nvSpPr>
          <p:cNvPr id="2" name="日期占位符 1">
            <a:extLst>
              <a:ext uri="{FF2B5EF4-FFF2-40B4-BE49-F238E27FC236}">
                <a16:creationId xmlns:a16="http://schemas.microsoft.com/office/drawing/2014/main" id="{B926DCD6-F287-1805-FF71-7F839F515252}"/>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BADA14A1-41E0-01F7-6268-CB52689BB6AA}"/>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58FB003-4FEE-3FA8-7D18-4297661AA9E6}"/>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18</a:t>
            </a:fld>
            <a:endParaRPr lang="en-US" altLang="zh-CN"/>
          </a:p>
        </p:txBody>
      </p:sp>
    </p:spTree>
    <p:extLst>
      <p:ext uri="{BB962C8B-B14F-4D97-AF65-F5344CB8AC3E}">
        <p14:creationId xmlns:p14="http://schemas.microsoft.com/office/powerpoint/2010/main" val="4050998171"/>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57200" y="-26988"/>
            <a:ext cx="8229600" cy="1143001"/>
          </a:xfrm>
        </p:spPr>
        <p:txBody>
          <a:bodyPr/>
          <a:lstStyle/>
          <a:p>
            <a:pPr eaLnBrk="1" hangingPunct="1"/>
            <a:r>
              <a:rPr lang="zh-CN" altLang="en-US" sz="3600" b="1" dirty="0"/>
              <a:t>循环无调度执行</a:t>
            </a:r>
          </a:p>
        </p:txBody>
      </p:sp>
      <p:graphicFrame>
        <p:nvGraphicFramePr>
          <p:cNvPr id="329769" name="Group 41"/>
          <p:cNvGraphicFramePr>
            <a:graphicFrameLocks noGrp="1"/>
          </p:cNvGraphicFramePr>
          <p:nvPr>
            <p:ph idx="4294967295"/>
          </p:nvPr>
        </p:nvGraphicFramePr>
        <p:xfrm>
          <a:off x="468313" y="1446213"/>
          <a:ext cx="8207375" cy="3854448"/>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3</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4</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5</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6</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SD		0(R1),F4</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7</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dirty="0">
                          <a:ln>
                            <a:noFill/>
                          </a:ln>
                          <a:solidFill>
                            <a:srgbClr val="FF0000"/>
                          </a:solidFill>
                          <a:effectLst/>
                          <a:latin typeface="Courier New" pitchFamily="49" charset="0"/>
                          <a:ea typeface="华文中宋" pitchFamily="2" charset="-122"/>
                          <a:cs typeface="Times New Roman" pitchFamily="18" charset="0"/>
                        </a:rPr>
                        <a:t>?</a:t>
                      </a:r>
                      <a:r>
                        <a:rPr kumimoji="1" lang="en-US" altLang="zh-CN"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 SUBI		R1,R1,#8</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日期占位符 1">
            <a:extLst>
              <a:ext uri="{FF2B5EF4-FFF2-40B4-BE49-F238E27FC236}">
                <a16:creationId xmlns:a16="http://schemas.microsoft.com/office/drawing/2014/main" id="{201428AC-B64C-74A0-51EC-DCD2000CD435}"/>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F3EC000C-F36D-9565-9F96-1C044F885D0F}"/>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3898BB4-4E72-9FB0-D259-8D7203278A3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19</a:t>
            </a:fld>
            <a:endParaRPr lang="en-US" altLang="zh-CN"/>
          </a:p>
        </p:txBody>
      </p:sp>
    </p:spTree>
    <p:extLst>
      <p:ext uri="{BB962C8B-B14F-4D97-AF65-F5344CB8AC3E}">
        <p14:creationId xmlns:p14="http://schemas.microsoft.com/office/powerpoint/2010/main" val="749978230"/>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457200" y="-100013"/>
            <a:ext cx="8229600" cy="1143001"/>
          </a:xfrm>
        </p:spPr>
        <p:txBody>
          <a:bodyPr/>
          <a:lstStyle/>
          <a:p>
            <a:pPr eaLnBrk="1" hangingPunct="1"/>
            <a:r>
              <a:rPr lang="zh-CN" altLang="en-US" sz="3600" b="1" dirty="0"/>
              <a:t>循环无调度执行</a:t>
            </a:r>
          </a:p>
        </p:txBody>
      </p:sp>
      <p:graphicFrame>
        <p:nvGraphicFramePr>
          <p:cNvPr id="331817" name="Group 41"/>
          <p:cNvGraphicFramePr>
            <a:graphicFrameLocks noGrp="1"/>
          </p:cNvGraphicFramePr>
          <p:nvPr>
            <p:ph idx="4294967295"/>
          </p:nvPr>
        </p:nvGraphicFramePr>
        <p:xfrm>
          <a:off x="468313" y="1052513"/>
          <a:ext cx="8207375" cy="4340229"/>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3</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4</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5</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6</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SD		0(R1),F4</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7</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SUBI		R1,R1,#8</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775">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8</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rgbClr val="FF0000"/>
                          </a:solidFill>
                          <a:effectLst/>
                          <a:latin typeface="Courier New" pitchFamily="49" charset="0"/>
                          <a:ea typeface="华文中宋" pitchFamily="2" charset="-122"/>
                          <a:cs typeface="Times New Roman" pitchFamily="18" charset="0"/>
                        </a:rPr>
                        <a:t>?</a:t>
                      </a: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 </a:t>
                      </a: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BNEZ		R1,LOOP</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9491" name="AutoShape 43"/>
          <p:cNvSpPr>
            <a:spLocks noChangeArrowheads="1"/>
          </p:cNvSpPr>
          <p:nvPr/>
        </p:nvSpPr>
        <p:spPr bwMode="auto">
          <a:xfrm>
            <a:off x="755650" y="5661025"/>
            <a:ext cx="7704138" cy="1008063"/>
          </a:xfrm>
          <a:prstGeom prst="cloudCallout">
            <a:avLst>
              <a:gd name="adj1" fmla="val -23356"/>
              <a:gd name="adj2" fmla="val -81968"/>
            </a:avLst>
          </a:prstGeom>
          <a:solidFill>
            <a:srgbClr val="00CCFF"/>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anchor="ctr"/>
          <a:lstStyle/>
          <a:p>
            <a:pPr algn="ctr"/>
            <a:r>
              <a:rPr lang="zh-CN" altLang="en-US" sz="2400" b="1"/>
              <a:t>如果分支指令使用</a:t>
            </a:r>
            <a:r>
              <a:rPr lang="zh-CN" altLang="en-US" sz="2400" b="1">
                <a:solidFill>
                  <a:srgbClr val="FF0000"/>
                </a:solidFill>
              </a:rPr>
              <a:t>上一条指令</a:t>
            </a:r>
            <a:r>
              <a:rPr lang="zh-CN" altLang="en-US" sz="2400" b="1"/>
              <a:t>的结果作为分支条件，将要延迟</a:t>
            </a:r>
            <a:r>
              <a:rPr lang="en-US" altLang="zh-CN" sz="2400" b="1"/>
              <a:t>1</a:t>
            </a:r>
            <a:r>
              <a:rPr lang="zh-CN" altLang="en-US" sz="2400" b="1"/>
              <a:t>节拍</a:t>
            </a:r>
          </a:p>
        </p:txBody>
      </p:sp>
      <p:sp>
        <p:nvSpPr>
          <p:cNvPr id="2" name="日期占位符 1">
            <a:extLst>
              <a:ext uri="{FF2B5EF4-FFF2-40B4-BE49-F238E27FC236}">
                <a16:creationId xmlns:a16="http://schemas.microsoft.com/office/drawing/2014/main" id="{839859B7-FDA8-2CE0-8127-40479F735EEA}"/>
              </a:ext>
            </a:extLst>
          </p:cNvPr>
          <p:cNvSpPr>
            <a:spLocks noGrp="1"/>
          </p:cNvSpPr>
          <p:nvPr>
            <p:ph type="dt" sz="half" idx="10"/>
          </p:nvPr>
        </p:nvSpPr>
        <p:spPr>
          <a:xfrm>
            <a:off x="457200" y="6376243"/>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28B7EF76-5A04-27B3-8575-1EC03A4624B6}"/>
              </a:ext>
            </a:extLst>
          </p:cNvPr>
          <p:cNvSpPr>
            <a:spLocks noGrp="1"/>
          </p:cNvSpPr>
          <p:nvPr>
            <p:ph type="ftr" sz="quarter" idx="11"/>
          </p:nvPr>
        </p:nvSpPr>
        <p:spPr>
          <a:xfrm>
            <a:off x="3124200" y="6376243"/>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A00174A-D1DE-D815-D298-1A6E4F0B939B}"/>
              </a:ext>
            </a:extLst>
          </p:cNvPr>
          <p:cNvSpPr>
            <a:spLocks noGrp="1"/>
          </p:cNvSpPr>
          <p:nvPr>
            <p:ph type="sldNum" sz="quarter" idx="12"/>
          </p:nvPr>
        </p:nvSpPr>
        <p:spPr>
          <a:xfrm>
            <a:off x="6553200" y="6376243"/>
            <a:ext cx="2133600" cy="365125"/>
          </a:xfrm>
        </p:spPr>
        <p:txBody>
          <a:bodyPr/>
          <a:lstStyle/>
          <a:p>
            <a:pPr>
              <a:defRPr/>
            </a:pPr>
            <a:fld id="{8BCAC33D-D29A-48B3-BCD6-381D3D720D26}" type="slidenum">
              <a:rPr lang="zh-CN" altLang="en-US" smtClean="0"/>
              <a:t>20</a:t>
            </a:fld>
            <a:endParaRPr lang="en-US" altLang="zh-CN"/>
          </a:p>
        </p:txBody>
      </p:sp>
    </p:spTree>
    <p:extLst>
      <p:ext uri="{BB962C8B-B14F-4D97-AF65-F5344CB8AC3E}">
        <p14:creationId xmlns:p14="http://schemas.microsoft.com/office/powerpoint/2010/main" val="3590219673"/>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457200" y="-26988"/>
            <a:ext cx="8229600" cy="1143001"/>
          </a:xfrm>
        </p:spPr>
        <p:txBody>
          <a:bodyPr/>
          <a:lstStyle/>
          <a:p>
            <a:pPr eaLnBrk="1" hangingPunct="1"/>
            <a:r>
              <a:rPr lang="zh-CN" altLang="en-US" sz="3600" b="1" dirty="0"/>
              <a:t>循环无调度执行</a:t>
            </a:r>
          </a:p>
        </p:txBody>
      </p:sp>
      <p:graphicFrame>
        <p:nvGraphicFramePr>
          <p:cNvPr id="333865" name="Group 41"/>
          <p:cNvGraphicFramePr>
            <a:graphicFrameLocks noGrp="1"/>
          </p:cNvGraphicFramePr>
          <p:nvPr>
            <p:ph idx="4294967295"/>
          </p:nvPr>
        </p:nvGraphicFramePr>
        <p:xfrm>
          <a:off x="468313" y="1052513"/>
          <a:ext cx="8207375" cy="4824409"/>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3</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4</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5</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6</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SD		0(R1),F4</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7</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SUBI		R1,R1,#8</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774">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8</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484187">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9</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BNEZ		R1,LOOP</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 name="日期占位符 1">
            <a:extLst>
              <a:ext uri="{FF2B5EF4-FFF2-40B4-BE49-F238E27FC236}">
                <a16:creationId xmlns:a16="http://schemas.microsoft.com/office/drawing/2014/main" id="{C423B093-7532-37FD-7D58-1ED22882CECC}"/>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AAAB817A-F15E-0285-DD5C-D5A13022531A}"/>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D2B093E5-FDE3-42B4-5141-7495DF91F7C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21</a:t>
            </a:fld>
            <a:endParaRPr lang="en-US" altLang="zh-CN"/>
          </a:p>
        </p:txBody>
      </p:sp>
    </p:spTree>
    <p:extLst>
      <p:ext uri="{BB962C8B-B14F-4D97-AF65-F5344CB8AC3E}">
        <p14:creationId xmlns:p14="http://schemas.microsoft.com/office/powerpoint/2010/main" val="627809659"/>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457200" y="-100013"/>
            <a:ext cx="8229600" cy="1143001"/>
          </a:xfrm>
        </p:spPr>
        <p:txBody>
          <a:bodyPr/>
          <a:lstStyle/>
          <a:p>
            <a:pPr eaLnBrk="1" hangingPunct="1"/>
            <a:r>
              <a:rPr lang="zh-CN" altLang="en-US" sz="3600" b="1" dirty="0"/>
              <a:t>循环无调度执行</a:t>
            </a:r>
          </a:p>
        </p:txBody>
      </p:sp>
      <p:graphicFrame>
        <p:nvGraphicFramePr>
          <p:cNvPr id="335875" name="Group 3"/>
          <p:cNvGraphicFramePr>
            <a:graphicFrameLocks noGrp="1"/>
          </p:cNvGraphicFramePr>
          <p:nvPr>
            <p:ph idx="4294967295"/>
          </p:nvPr>
        </p:nvGraphicFramePr>
        <p:xfrm>
          <a:off x="468313" y="1052513"/>
          <a:ext cx="8207375" cy="5308605"/>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3</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4</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5</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6</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SD		0(R1),F4</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7</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SUBI		R1,R1,#8</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775">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8</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9</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BNEZ		R1,LOOP</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10</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rgbClr val="FF0000"/>
                          </a:solidFill>
                          <a:effectLst/>
                          <a:latin typeface="Courier New" pitchFamily="49" charset="0"/>
                          <a:ea typeface="华文中宋" pitchFamily="2" charset="-122"/>
                          <a:cs typeface="Times New Roman" pitchFamily="18" charset="0"/>
                        </a:rPr>
                        <a:t>?</a:t>
                      </a: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 </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1545" name="AutoShape 41"/>
          <p:cNvSpPr>
            <a:spLocks noChangeArrowheads="1"/>
          </p:cNvSpPr>
          <p:nvPr/>
        </p:nvSpPr>
        <p:spPr bwMode="auto">
          <a:xfrm>
            <a:off x="3276600" y="5805488"/>
            <a:ext cx="4319588" cy="863600"/>
          </a:xfrm>
          <a:prstGeom prst="cloudCallout">
            <a:avLst>
              <a:gd name="adj1" fmla="val -60509"/>
              <a:gd name="adj2" fmla="val 18384"/>
            </a:avLst>
          </a:prstGeom>
          <a:solidFill>
            <a:srgbClr val="00CCFF"/>
          </a:solidFill>
          <a:ln w="9525">
            <a:solidFill>
              <a:schemeClr val="tx1"/>
            </a:solidFill>
            <a:round/>
            <a:headEnd type="none" w="sm" len="sm"/>
            <a:tailEnd type="none" w="sm" len="sm"/>
          </a:ln>
          <a:effectLst/>
          <a:extLst>
            <a:ext uri="{AF507438-7753-43E0-B8FC-AC1667EBCBE1}">
              <a14:hiddenEffects xmlns:a14="http://schemas.microsoft.com/office/drawing/2010/main">
                <a:effectLst>
                  <a:outerShdw dist="38099" dir="2700000" algn="ctr" rotWithShape="0">
                    <a:schemeClr val="bg2">
                      <a:alpha val="74997"/>
                    </a:schemeClr>
                  </a:outerShdw>
                </a:effectLst>
              </a14:hiddenEffects>
            </a:ext>
          </a:extLst>
        </p:spPr>
        <p:txBody>
          <a:bodyPr anchor="ctr"/>
          <a:lstStyle/>
          <a:p>
            <a:pPr algn="ctr"/>
            <a:r>
              <a:rPr lang="zh-CN" altLang="en-US" sz="2400" b="1"/>
              <a:t>分支指令有</a:t>
            </a:r>
            <a:r>
              <a:rPr lang="en-US" altLang="zh-CN" sz="2400" b="1"/>
              <a:t>1</a:t>
            </a:r>
            <a:r>
              <a:rPr lang="zh-CN" altLang="en-US" sz="2400" b="1"/>
              <a:t>个节拍的</a:t>
            </a:r>
            <a:r>
              <a:rPr lang="zh-CN" altLang="en-US" sz="2400" b="1">
                <a:solidFill>
                  <a:srgbClr val="FF0000"/>
                </a:solidFill>
              </a:rPr>
              <a:t>延迟槽</a:t>
            </a:r>
          </a:p>
        </p:txBody>
      </p:sp>
      <p:sp>
        <p:nvSpPr>
          <p:cNvPr id="2" name="日期占位符 1">
            <a:extLst>
              <a:ext uri="{FF2B5EF4-FFF2-40B4-BE49-F238E27FC236}">
                <a16:creationId xmlns:a16="http://schemas.microsoft.com/office/drawing/2014/main" id="{A1CAEB7A-385B-F6A2-9E16-F95AEDBC1291}"/>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B952E0D0-2A47-E79F-41F7-18D851E52E37}"/>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52BCE93-FAAD-20F5-D046-DE4DD67A76A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22</a:t>
            </a:fld>
            <a:endParaRPr lang="en-US" altLang="zh-CN"/>
          </a:p>
        </p:txBody>
      </p:sp>
    </p:spTree>
    <p:extLst>
      <p:ext uri="{BB962C8B-B14F-4D97-AF65-F5344CB8AC3E}">
        <p14:creationId xmlns:p14="http://schemas.microsoft.com/office/powerpoint/2010/main" val="351441916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68313" y="0"/>
            <a:ext cx="8229600" cy="1143000"/>
          </a:xfrm>
        </p:spPr>
        <p:txBody>
          <a:bodyPr/>
          <a:lstStyle/>
          <a:p>
            <a:pPr eaLnBrk="1" hangingPunct="1"/>
            <a:r>
              <a:rPr lang="zh-CN" altLang="en-US" sz="3600" b="1"/>
              <a:t>循环无调度执行</a:t>
            </a:r>
          </a:p>
        </p:txBody>
      </p:sp>
      <p:graphicFrame>
        <p:nvGraphicFramePr>
          <p:cNvPr id="337923" name="Group 3"/>
          <p:cNvGraphicFramePr>
            <a:graphicFrameLocks noGrp="1"/>
          </p:cNvGraphicFramePr>
          <p:nvPr>
            <p:ph idx="4294967295"/>
          </p:nvPr>
        </p:nvGraphicFramePr>
        <p:xfrm>
          <a:off x="468313" y="1052513"/>
          <a:ext cx="8207375" cy="5308605"/>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3</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4</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5</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6</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SD		0(R1),F4</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7</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SUBI		R1,R1,#8</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775">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8</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9</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10</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 name="日期占位符 1">
            <a:extLst>
              <a:ext uri="{FF2B5EF4-FFF2-40B4-BE49-F238E27FC236}">
                <a16:creationId xmlns:a16="http://schemas.microsoft.com/office/drawing/2014/main" id="{F5E223CE-D9B7-AA5B-3C6F-B9DCCBE768F2}"/>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1D5C4E8D-9A67-AF23-5B09-A6D359ECC456}"/>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CD84A9E-066C-C524-3CCC-71AF71DB1E4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23</a:t>
            </a:fld>
            <a:endParaRPr lang="en-US" altLang="zh-CN"/>
          </a:p>
        </p:txBody>
      </p:sp>
    </p:spTree>
    <p:extLst>
      <p:ext uri="{BB962C8B-B14F-4D97-AF65-F5344CB8AC3E}">
        <p14:creationId xmlns:p14="http://schemas.microsoft.com/office/powerpoint/2010/main" val="343167585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p:txBody>
          <a:bodyPr/>
          <a:lstStyle/>
          <a:p>
            <a:pPr eaLnBrk="1" hangingPunct="1"/>
            <a:r>
              <a:rPr lang="zh-CN" altLang="en-US" sz="3600" b="1"/>
              <a:t>循环无调度执行结果分析</a:t>
            </a:r>
          </a:p>
        </p:txBody>
      </p:sp>
      <p:sp>
        <p:nvSpPr>
          <p:cNvPr id="23555" name="Rectangle 42"/>
          <p:cNvSpPr>
            <a:spLocks noGrp="1" noChangeArrowheads="1"/>
          </p:cNvSpPr>
          <p:nvPr>
            <p:ph type="body" idx="4294967295"/>
          </p:nvPr>
        </p:nvSpPr>
        <p:spPr/>
        <p:txBody>
          <a:bodyPr/>
          <a:lstStyle/>
          <a:p>
            <a:pPr eaLnBrk="1" hangingPunct="1">
              <a:defRPr/>
            </a:pPr>
            <a:r>
              <a:rPr lang="zh-CN" altLang="en-US" sz="2600" b="1" dirty="0">
                <a:latin typeface="Times New Roman" panose="02020603050405020304" pitchFamily="18" charset="0"/>
                <a:cs typeface="Times New Roman" panose="02020603050405020304" pitchFamily="18" charset="0"/>
              </a:rPr>
              <a:t>每遍循环需要</a:t>
            </a:r>
            <a:r>
              <a:rPr lang="en-US" altLang="zh-CN" sz="2600" b="1" dirty="0">
                <a:latin typeface="Times New Roman" panose="02020603050405020304" pitchFamily="18" charset="0"/>
                <a:cs typeface="Times New Roman" panose="02020603050405020304" pitchFamily="18" charset="0"/>
              </a:rPr>
              <a:t>10</a:t>
            </a:r>
            <a:r>
              <a:rPr lang="zh-CN" altLang="en-US" sz="2600" b="1" dirty="0">
                <a:latin typeface="Times New Roman" panose="02020603050405020304" pitchFamily="18" charset="0"/>
                <a:cs typeface="Times New Roman" panose="02020603050405020304" pitchFamily="18" charset="0"/>
              </a:rPr>
              <a:t>个时钟节拍</a:t>
            </a:r>
          </a:p>
          <a:p>
            <a:pPr eaLnBrk="1" hangingPunct="1">
              <a:defRPr/>
            </a:pPr>
            <a:r>
              <a:rPr lang="zh-CN" altLang="en-US" sz="2600" b="1" dirty="0">
                <a:latin typeface="Times New Roman" panose="02020603050405020304" pitchFamily="18" charset="0"/>
                <a:cs typeface="Times New Roman" panose="02020603050405020304" pitchFamily="18" charset="0"/>
              </a:rPr>
              <a:t>只有</a:t>
            </a:r>
            <a:r>
              <a:rPr lang="en-US" altLang="zh-CN" sz="2600" b="1" dirty="0">
                <a:latin typeface="Times New Roman" panose="02020603050405020304" pitchFamily="18" charset="0"/>
                <a:cs typeface="Times New Roman" panose="02020603050405020304" pitchFamily="18" charset="0"/>
              </a:rPr>
              <a:t>3</a:t>
            </a:r>
            <a:r>
              <a:rPr lang="zh-CN" altLang="en-US" sz="2600" b="1" dirty="0">
                <a:latin typeface="Times New Roman" panose="02020603050405020304" pitchFamily="18" charset="0"/>
                <a:cs typeface="Times New Roman" panose="02020603050405020304" pitchFamily="18" charset="0"/>
              </a:rPr>
              <a:t>个时钟节</a:t>
            </a:r>
            <a:r>
              <a:rPr lang="zh-CN" sz="2600" b="1" dirty="0">
                <a:latin typeface="Times New Roman" panose="02020603050405020304" pitchFamily="18" charset="0"/>
                <a:cs typeface="Times New Roman" panose="02020603050405020304" pitchFamily="18" charset="0"/>
              </a:rPr>
              <a:t>拍</a:t>
            </a:r>
            <a:r>
              <a:rPr lang="en-US" altLang="zh-CN" sz="2600" b="1" dirty="0">
                <a:latin typeface="Times New Roman" panose="02020603050405020304" pitchFamily="18" charset="0"/>
                <a:cs typeface="Times New Roman" panose="02020603050405020304" pitchFamily="18" charset="0"/>
              </a:rPr>
              <a:t>(LD, ADDD, SD)</a:t>
            </a:r>
          </a:p>
          <a:p>
            <a:pPr lvl="1" eaLnBrk="1" hangingPunct="1">
              <a:defRPr/>
            </a:pPr>
            <a:r>
              <a:rPr lang="zh-CN" altLang="en-US" sz="2600" b="1" dirty="0">
                <a:latin typeface="Times New Roman" panose="02020603050405020304" pitchFamily="18" charset="0"/>
                <a:cs typeface="Times New Roman" panose="02020603050405020304" pitchFamily="18" charset="0"/>
              </a:rPr>
              <a:t>有效比率为</a:t>
            </a:r>
            <a:r>
              <a:rPr lang="en-US" altLang="zh-CN" sz="2600" b="1" dirty="0">
                <a:latin typeface="Times New Roman" panose="02020603050405020304" pitchFamily="18" charset="0"/>
                <a:cs typeface="Times New Roman" panose="02020603050405020304" pitchFamily="18" charset="0"/>
              </a:rPr>
              <a:t>30%</a:t>
            </a:r>
          </a:p>
          <a:p>
            <a:pPr lvl="1" eaLnBrk="1" hangingPunct="1">
              <a:defRPr/>
            </a:pPr>
            <a:r>
              <a:rPr lang="zh-CN" altLang="en-US" sz="2600" b="1" dirty="0">
                <a:latin typeface="Times New Roman" panose="02020603050405020304" pitchFamily="18" charset="0"/>
                <a:cs typeface="Times New Roman" panose="02020603050405020304" pitchFamily="18" charset="0"/>
              </a:rPr>
              <a:t>空转</a:t>
            </a:r>
            <a:r>
              <a:rPr lang="en-US" altLang="zh-CN" sz="2600" b="1" dirty="0">
                <a:latin typeface="Times New Roman" panose="02020603050405020304" pitchFamily="18" charset="0"/>
                <a:cs typeface="Times New Roman" panose="02020603050405020304" pitchFamily="18" charset="0"/>
              </a:rPr>
              <a:t>5</a:t>
            </a:r>
            <a:r>
              <a:rPr lang="zh-CN" altLang="en-US" sz="2600" b="1" dirty="0">
                <a:latin typeface="Times New Roman" panose="02020603050405020304" pitchFamily="18" charset="0"/>
                <a:cs typeface="Times New Roman" panose="02020603050405020304" pitchFamily="18" charset="0"/>
              </a:rPr>
              <a:t>个时钟节拍 </a:t>
            </a:r>
            <a:r>
              <a:rPr lang="en-US" altLang="zh-CN" sz="2600" b="1" dirty="0">
                <a:latin typeface="Times New Roman" panose="02020603050405020304" pitchFamily="18" charset="0"/>
                <a:cs typeface="Times New Roman" panose="02020603050405020304" pitchFamily="18" charset="0"/>
              </a:rPr>
              <a:t>(50%)</a:t>
            </a:r>
          </a:p>
          <a:p>
            <a:pPr lvl="1" eaLnBrk="1" hangingPunct="1">
              <a:defRPr/>
            </a:pPr>
            <a:r>
              <a:rPr lang="zh-CN" altLang="en-US" sz="2600" b="1" dirty="0">
                <a:latin typeface="Times New Roman" panose="02020603050405020304" pitchFamily="18" charset="0"/>
                <a:cs typeface="Times New Roman" panose="02020603050405020304" pitchFamily="18" charset="0"/>
              </a:rPr>
              <a:t>循环控制</a:t>
            </a:r>
            <a:r>
              <a:rPr lang="en-US" altLang="zh-CN" sz="2600" b="1" dirty="0">
                <a:latin typeface="Times New Roman" panose="02020603050405020304" pitchFamily="18" charset="0"/>
                <a:cs typeface="Times New Roman" panose="02020603050405020304" pitchFamily="18" charset="0"/>
              </a:rPr>
              <a:t>2</a:t>
            </a:r>
            <a:r>
              <a:rPr lang="zh-CN" altLang="en-US" sz="2600" b="1" dirty="0">
                <a:latin typeface="Times New Roman" panose="02020603050405020304" pitchFamily="18" charset="0"/>
                <a:cs typeface="Times New Roman" panose="02020603050405020304" pitchFamily="18" charset="0"/>
              </a:rPr>
              <a:t>个时钟节拍 </a:t>
            </a:r>
            <a:r>
              <a:rPr lang="en-US" altLang="zh-CN" sz="2600" b="1" dirty="0">
                <a:latin typeface="Times New Roman" panose="02020603050405020304" pitchFamily="18" charset="0"/>
                <a:cs typeface="Times New Roman" panose="02020603050405020304" pitchFamily="18" charset="0"/>
              </a:rPr>
              <a:t>(20%)</a:t>
            </a:r>
          </a:p>
          <a:p>
            <a:pPr lvl="1" eaLnBrk="1" hangingPunct="1">
              <a:defRPr/>
            </a:pPr>
            <a:endParaRPr lang="en-US" altLang="zh-CN" sz="2600" b="1" dirty="0">
              <a:latin typeface="Times New Roman" panose="02020603050405020304" pitchFamily="18" charset="0"/>
              <a:cs typeface="Times New Roman" panose="02020603050405020304" pitchFamily="18" charset="0"/>
            </a:endParaRPr>
          </a:p>
          <a:p>
            <a:pPr eaLnBrk="1" hangingPunct="1">
              <a:defRPr/>
            </a:pPr>
            <a:r>
              <a:rPr lang="zh-CN" altLang="en-US" sz="2600" b="1" dirty="0">
                <a:latin typeface="Times New Roman" panose="02020603050405020304" pitchFamily="18" charset="0"/>
                <a:cs typeface="Times New Roman" panose="02020603050405020304" pitchFamily="18" charset="0"/>
              </a:rPr>
              <a:t>调度代码，减少空转</a:t>
            </a:r>
          </a:p>
        </p:txBody>
      </p:sp>
      <p:sp>
        <p:nvSpPr>
          <p:cNvPr id="2" name="日期占位符 1">
            <a:extLst>
              <a:ext uri="{FF2B5EF4-FFF2-40B4-BE49-F238E27FC236}">
                <a16:creationId xmlns:a16="http://schemas.microsoft.com/office/drawing/2014/main" id="{F260AFA8-40CF-D29E-CB7B-41D14D976C24}"/>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E786D3FE-2DCE-B2E3-BA5D-BCFDADE70896}"/>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CF81B0A4-3941-7482-14EF-CCCB7EA6DB3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24</a:t>
            </a:fld>
            <a:endParaRPr lang="en-US" altLang="zh-CN"/>
          </a:p>
        </p:txBody>
      </p:sp>
    </p:spTree>
    <p:extLst>
      <p:ext uri="{BB962C8B-B14F-4D97-AF65-F5344CB8AC3E}">
        <p14:creationId xmlns:p14="http://schemas.microsoft.com/office/powerpoint/2010/main" val="227173922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457200" y="-100013"/>
            <a:ext cx="8229600" cy="1143001"/>
          </a:xfrm>
        </p:spPr>
        <p:txBody>
          <a:bodyPr/>
          <a:lstStyle/>
          <a:p>
            <a:pPr eaLnBrk="1" hangingPunct="1"/>
            <a:r>
              <a:rPr lang="zh-CN" altLang="en-US" sz="3600" b="1"/>
              <a:t>调度代码</a:t>
            </a:r>
          </a:p>
        </p:txBody>
      </p:sp>
      <p:graphicFrame>
        <p:nvGraphicFramePr>
          <p:cNvPr id="357379" name="Group 3"/>
          <p:cNvGraphicFramePr>
            <a:graphicFrameLocks noGrp="1"/>
          </p:cNvGraphicFramePr>
          <p:nvPr/>
        </p:nvGraphicFramePr>
        <p:xfrm>
          <a:off x="457200" y="998538"/>
          <a:ext cx="8229600" cy="5341939"/>
        </p:xfrm>
        <a:graphic>
          <a:graphicData uri="http://schemas.openxmlformats.org/drawingml/2006/table">
            <a:tbl>
              <a:tblPr/>
              <a:tblGrid>
                <a:gridCol w="801688">
                  <a:extLst>
                    <a:ext uri="{9D8B030D-6E8A-4147-A177-3AD203B41FA5}">
                      <a16:colId xmlns:a16="http://schemas.microsoft.com/office/drawing/2014/main" val="20000"/>
                    </a:ext>
                  </a:extLst>
                </a:gridCol>
                <a:gridCol w="3600450">
                  <a:extLst>
                    <a:ext uri="{9D8B030D-6E8A-4147-A177-3AD203B41FA5}">
                      <a16:colId xmlns:a16="http://schemas.microsoft.com/office/drawing/2014/main" val="20001"/>
                    </a:ext>
                  </a:extLst>
                </a:gridCol>
                <a:gridCol w="3827462">
                  <a:extLst>
                    <a:ext uri="{9D8B030D-6E8A-4147-A177-3AD203B41FA5}">
                      <a16:colId xmlns:a16="http://schemas.microsoft.com/office/drawing/2014/main" val="20002"/>
                    </a:ext>
                  </a:extLst>
                </a:gridCol>
              </a:tblGrid>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未调度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调度后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SD		0(R1),F4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75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7</a:t>
                      </a:r>
                      <a:endParaRPr kumimoji="0" lang="en-US" altLang="zh-CN"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 name="日期占位符 1">
            <a:extLst>
              <a:ext uri="{FF2B5EF4-FFF2-40B4-BE49-F238E27FC236}">
                <a16:creationId xmlns:a16="http://schemas.microsoft.com/office/drawing/2014/main" id="{E09CA6CA-CEAA-F80A-DAEE-FE940FF96175}"/>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75257919-1C03-3D06-045F-D4AA422C3921}"/>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02FA3D0-7D13-F628-CB68-18D21D8777A6}"/>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25</a:t>
            </a:fld>
            <a:endParaRPr lang="en-US" altLang="zh-CN"/>
          </a:p>
        </p:txBody>
      </p:sp>
    </p:spTree>
    <p:extLst>
      <p:ext uri="{BB962C8B-B14F-4D97-AF65-F5344CB8AC3E}">
        <p14:creationId xmlns:p14="http://schemas.microsoft.com/office/powerpoint/2010/main" val="3640603643"/>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457200" y="-100013"/>
            <a:ext cx="8229600" cy="1143001"/>
          </a:xfrm>
        </p:spPr>
        <p:txBody>
          <a:bodyPr/>
          <a:lstStyle/>
          <a:p>
            <a:pPr eaLnBrk="1" hangingPunct="1"/>
            <a:r>
              <a:rPr lang="zh-CN" altLang="en-US" sz="3600" b="1"/>
              <a:t>调度代码</a:t>
            </a:r>
          </a:p>
        </p:txBody>
      </p:sp>
      <p:graphicFrame>
        <p:nvGraphicFramePr>
          <p:cNvPr id="363523" name="Group 3"/>
          <p:cNvGraphicFramePr>
            <a:graphicFrameLocks noGrp="1"/>
          </p:cNvGraphicFramePr>
          <p:nvPr/>
        </p:nvGraphicFramePr>
        <p:xfrm>
          <a:off x="457200" y="998538"/>
          <a:ext cx="8229600" cy="5341939"/>
        </p:xfrm>
        <a:graphic>
          <a:graphicData uri="http://schemas.openxmlformats.org/drawingml/2006/table">
            <a:tbl>
              <a:tblPr/>
              <a:tblGrid>
                <a:gridCol w="801688">
                  <a:extLst>
                    <a:ext uri="{9D8B030D-6E8A-4147-A177-3AD203B41FA5}">
                      <a16:colId xmlns:a16="http://schemas.microsoft.com/office/drawing/2014/main" val="20000"/>
                    </a:ext>
                  </a:extLst>
                </a:gridCol>
                <a:gridCol w="3600450">
                  <a:extLst>
                    <a:ext uri="{9D8B030D-6E8A-4147-A177-3AD203B41FA5}">
                      <a16:colId xmlns:a16="http://schemas.microsoft.com/office/drawing/2014/main" val="20001"/>
                    </a:ext>
                  </a:extLst>
                </a:gridCol>
                <a:gridCol w="3827462">
                  <a:extLst>
                    <a:ext uri="{9D8B030D-6E8A-4147-A177-3AD203B41FA5}">
                      <a16:colId xmlns:a16="http://schemas.microsoft.com/office/drawing/2014/main" val="20002"/>
                    </a:ext>
                  </a:extLst>
                </a:gridCol>
              </a:tblGrid>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未调度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调度后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rgbClr val="FF0000"/>
                          </a:solidFill>
                          <a:effectLst/>
                          <a:latin typeface="Courier New" pitchFamily="49" charset="0"/>
                          <a:ea typeface="华文中宋" pitchFamily="2" charset="-122"/>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SD		0(R1),F4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75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7</a:t>
                      </a:r>
                      <a:endParaRPr kumimoji="0" lang="en-US" altLang="zh-CN"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 name="日期占位符 1">
            <a:extLst>
              <a:ext uri="{FF2B5EF4-FFF2-40B4-BE49-F238E27FC236}">
                <a16:creationId xmlns:a16="http://schemas.microsoft.com/office/drawing/2014/main" id="{12D82A11-9134-9E0E-E9A3-47D08C8029B5}"/>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92CE8F67-87D8-80D3-F8F4-2954AF2E8EEA}"/>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4A9CF68-FE64-B271-B4DB-CA0E7E32B52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26</a:t>
            </a:fld>
            <a:endParaRPr lang="en-US" altLang="zh-CN"/>
          </a:p>
        </p:txBody>
      </p:sp>
    </p:spTree>
    <p:extLst>
      <p:ext uri="{BB962C8B-B14F-4D97-AF65-F5344CB8AC3E}">
        <p14:creationId xmlns:p14="http://schemas.microsoft.com/office/powerpoint/2010/main" val="3170793755"/>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395288" y="-90488"/>
            <a:ext cx="8229600" cy="1143001"/>
          </a:xfrm>
        </p:spPr>
        <p:txBody>
          <a:bodyPr/>
          <a:lstStyle/>
          <a:p>
            <a:pPr eaLnBrk="1" hangingPunct="1">
              <a:defRPr/>
            </a:pPr>
            <a:r>
              <a:rPr lang="zh-CN" altLang="en-US" sz="4000" b="1" dirty="0">
                <a:latin typeface="+mj-ea"/>
              </a:rPr>
              <a:t>调度代码</a:t>
            </a:r>
            <a:endParaRPr lang="en-US" altLang="zh-CN" sz="4000" b="1" dirty="0">
              <a:latin typeface="+mj-ea"/>
            </a:endParaRPr>
          </a:p>
        </p:txBody>
      </p:sp>
      <p:graphicFrame>
        <p:nvGraphicFramePr>
          <p:cNvPr id="358461" name="Group 61"/>
          <p:cNvGraphicFramePr>
            <a:graphicFrameLocks noGrp="1"/>
          </p:cNvGraphicFramePr>
          <p:nvPr/>
        </p:nvGraphicFramePr>
        <p:xfrm>
          <a:off x="457200" y="998538"/>
          <a:ext cx="8229600" cy="5341939"/>
        </p:xfrm>
        <a:graphic>
          <a:graphicData uri="http://schemas.openxmlformats.org/drawingml/2006/table">
            <a:tbl>
              <a:tblPr/>
              <a:tblGrid>
                <a:gridCol w="801688">
                  <a:extLst>
                    <a:ext uri="{9D8B030D-6E8A-4147-A177-3AD203B41FA5}">
                      <a16:colId xmlns:a16="http://schemas.microsoft.com/office/drawing/2014/main" val="20000"/>
                    </a:ext>
                  </a:extLst>
                </a:gridCol>
                <a:gridCol w="3600450">
                  <a:extLst>
                    <a:ext uri="{9D8B030D-6E8A-4147-A177-3AD203B41FA5}">
                      <a16:colId xmlns:a16="http://schemas.microsoft.com/office/drawing/2014/main" val="20001"/>
                    </a:ext>
                  </a:extLst>
                </a:gridCol>
                <a:gridCol w="3827462">
                  <a:extLst>
                    <a:ext uri="{9D8B030D-6E8A-4147-A177-3AD203B41FA5}">
                      <a16:colId xmlns:a16="http://schemas.microsoft.com/office/drawing/2014/main" val="20002"/>
                    </a:ext>
                  </a:extLst>
                </a:gridCol>
              </a:tblGrid>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未调度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调度后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SD		0(R1),F4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75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7</a:t>
                      </a:r>
                      <a:endParaRPr kumimoji="0" lang="en-US" altLang="zh-CN"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6677" name="Line 53"/>
          <p:cNvSpPr>
            <a:spLocks noChangeShapeType="1"/>
          </p:cNvSpPr>
          <p:nvPr/>
        </p:nvSpPr>
        <p:spPr bwMode="auto">
          <a:xfrm flipV="1">
            <a:off x="2124075" y="2349500"/>
            <a:ext cx="3025775" cy="2159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 name="日期占位符 1">
            <a:extLst>
              <a:ext uri="{FF2B5EF4-FFF2-40B4-BE49-F238E27FC236}">
                <a16:creationId xmlns:a16="http://schemas.microsoft.com/office/drawing/2014/main" id="{964B623B-4A5A-2FA8-F809-70C2B551FA55}"/>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CC047CD7-266F-E05A-F02F-62253A91335A}"/>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CF2E0B6-B693-7AFD-6C6A-B576B393260C}"/>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27</a:t>
            </a:fld>
            <a:endParaRPr lang="en-US" altLang="zh-CN"/>
          </a:p>
        </p:txBody>
      </p:sp>
    </p:spTree>
    <p:extLst>
      <p:ext uri="{BB962C8B-B14F-4D97-AF65-F5344CB8AC3E}">
        <p14:creationId xmlns:p14="http://schemas.microsoft.com/office/powerpoint/2010/main" val="1417086726"/>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457200" y="-100013"/>
            <a:ext cx="8229600" cy="1143001"/>
          </a:xfrm>
        </p:spPr>
        <p:txBody>
          <a:bodyPr/>
          <a:lstStyle/>
          <a:p>
            <a:pPr eaLnBrk="1" hangingPunct="1">
              <a:defRPr/>
            </a:pPr>
            <a:r>
              <a:rPr lang="zh-CN" altLang="en-US" sz="3600" b="1" dirty="0">
                <a:latin typeface="+mj-ea"/>
              </a:rPr>
              <a:t>调度代码</a:t>
            </a:r>
            <a:endParaRPr lang="en-US" altLang="zh-CN" sz="3600" b="1" dirty="0">
              <a:latin typeface="+mj-ea"/>
            </a:endParaRPr>
          </a:p>
        </p:txBody>
      </p:sp>
      <p:graphicFrame>
        <p:nvGraphicFramePr>
          <p:cNvPr id="359427" name="Group 3"/>
          <p:cNvGraphicFramePr>
            <a:graphicFrameLocks noGrp="1"/>
          </p:cNvGraphicFramePr>
          <p:nvPr/>
        </p:nvGraphicFramePr>
        <p:xfrm>
          <a:off x="457200" y="998538"/>
          <a:ext cx="8229600" cy="5341939"/>
        </p:xfrm>
        <a:graphic>
          <a:graphicData uri="http://schemas.openxmlformats.org/drawingml/2006/table">
            <a:tbl>
              <a:tblPr/>
              <a:tblGrid>
                <a:gridCol w="801688">
                  <a:extLst>
                    <a:ext uri="{9D8B030D-6E8A-4147-A177-3AD203B41FA5}">
                      <a16:colId xmlns:a16="http://schemas.microsoft.com/office/drawing/2014/main" val="20000"/>
                    </a:ext>
                  </a:extLst>
                </a:gridCol>
                <a:gridCol w="3600450">
                  <a:extLst>
                    <a:ext uri="{9D8B030D-6E8A-4147-A177-3AD203B41FA5}">
                      <a16:colId xmlns:a16="http://schemas.microsoft.com/office/drawing/2014/main" val="20001"/>
                    </a:ext>
                  </a:extLst>
                </a:gridCol>
                <a:gridCol w="3827462">
                  <a:extLst>
                    <a:ext uri="{9D8B030D-6E8A-4147-A177-3AD203B41FA5}">
                      <a16:colId xmlns:a16="http://schemas.microsoft.com/office/drawing/2014/main" val="20002"/>
                    </a:ext>
                  </a:extLst>
                </a:gridCol>
              </a:tblGrid>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未调度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调度后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SD		0(R1),F4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SD		0(R1),F4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75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7</a:t>
                      </a:r>
                      <a:endParaRPr kumimoji="0" lang="en-US" altLang="zh-CN"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7701" name="Line 53"/>
          <p:cNvSpPr>
            <a:spLocks noChangeShapeType="1"/>
          </p:cNvSpPr>
          <p:nvPr/>
        </p:nvSpPr>
        <p:spPr bwMode="auto">
          <a:xfrm flipV="1">
            <a:off x="1908175" y="3789363"/>
            <a:ext cx="3095625" cy="172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7702" name="Line 54"/>
          <p:cNvSpPr>
            <a:spLocks noChangeShapeType="1"/>
          </p:cNvSpPr>
          <p:nvPr/>
        </p:nvSpPr>
        <p:spPr bwMode="auto">
          <a:xfrm flipV="1">
            <a:off x="1908175" y="3286125"/>
            <a:ext cx="3168650" cy="22288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 name="日期占位符 1">
            <a:extLst>
              <a:ext uri="{FF2B5EF4-FFF2-40B4-BE49-F238E27FC236}">
                <a16:creationId xmlns:a16="http://schemas.microsoft.com/office/drawing/2014/main" id="{36114B60-95CE-FCCD-4265-A4D9DCA98919}"/>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D74A561E-05F4-254D-F20E-2C6007E7427E}"/>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FB95D35-031F-1F6B-C638-092A7DF1BE4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28</a:t>
            </a:fld>
            <a:endParaRPr lang="en-US" altLang="zh-CN"/>
          </a:p>
        </p:txBody>
      </p:sp>
    </p:spTree>
    <p:extLst>
      <p:ext uri="{BB962C8B-B14F-4D97-AF65-F5344CB8AC3E}">
        <p14:creationId xmlns:p14="http://schemas.microsoft.com/office/powerpoint/2010/main" val="1371399077"/>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 y="-100013"/>
            <a:ext cx="8229600" cy="1143001"/>
          </a:xfrm>
        </p:spPr>
        <p:txBody>
          <a:bodyPr/>
          <a:lstStyle/>
          <a:p>
            <a:pPr eaLnBrk="1" hangingPunct="1">
              <a:defRPr/>
            </a:pPr>
            <a:r>
              <a:rPr lang="zh-CN" altLang="en-US" sz="3600" b="1" dirty="0">
                <a:latin typeface="+mj-ea"/>
              </a:rPr>
              <a:t>调度代码</a:t>
            </a:r>
            <a:endParaRPr lang="en-US" altLang="zh-CN" sz="3600" b="1" dirty="0">
              <a:latin typeface="+mj-ea"/>
            </a:endParaRPr>
          </a:p>
        </p:txBody>
      </p:sp>
      <p:graphicFrame>
        <p:nvGraphicFramePr>
          <p:cNvPr id="360451" name="Group 3"/>
          <p:cNvGraphicFramePr>
            <a:graphicFrameLocks noGrp="1"/>
          </p:cNvGraphicFramePr>
          <p:nvPr/>
        </p:nvGraphicFramePr>
        <p:xfrm>
          <a:off x="457200" y="998538"/>
          <a:ext cx="8229600" cy="5341939"/>
        </p:xfrm>
        <a:graphic>
          <a:graphicData uri="http://schemas.openxmlformats.org/drawingml/2006/table">
            <a:tbl>
              <a:tblPr/>
              <a:tblGrid>
                <a:gridCol w="801688">
                  <a:extLst>
                    <a:ext uri="{9D8B030D-6E8A-4147-A177-3AD203B41FA5}">
                      <a16:colId xmlns:a16="http://schemas.microsoft.com/office/drawing/2014/main" val="20000"/>
                    </a:ext>
                  </a:extLst>
                </a:gridCol>
                <a:gridCol w="3600450">
                  <a:extLst>
                    <a:ext uri="{9D8B030D-6E8A-4147-A177-3AD203B41FA5}">
                      <a16:colId xmlns:a16="http://schemas.microsoft.com/office/drawing/2014/main" val="20001"/>
                    </a:ext>
                  </a:extLst>
                </a:gridCol>
                <a:gridCol w="3827462">
                  <a:extLst>
                    <a:ext uri="{9D8B030D-6E8A-4147-A177-3AD203B41FA5}">
                      <a16:colId xmlns:a16="http://schemas.microsoft.com/office/drawing/2014/main" val="20002"/>
                    </a:ext>
                  </a:extLst>
                </a:gridCol>
              </a:tblGrid>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未调度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zh-CN" altLang="en-US" sz="2000" b="1" i="0" u="sng" strike="noStrike" cap="none" normalizeH="0" baseline="0">
                          <a:ln>
                            <a:noFill/>
                          </a:ln>
                          <a:solidFill>
                            <a:schemeClr val="tx1"/>
                          </a:solidFill>
                          <a:effectLst/>
                          <a:latin typeface="Courier New" pitchFamily="49" charset="0"/>
                          <a:ea typeface="华文中宋" pitchFamily="2" charset="-122"/>
                          <a:cs typeface="Times New Roman" pitchFamily="18" charset="0"/>
                        </a:rPr>
                        <a:t>调度后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LD		F0,0(R1)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ADDD		F4,F0,F2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0" lang="en-US" altLang="zh-CN" sz="20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SD		0(R1),F4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SD		</a:t>
                      </a:r>
                      <a:r>
                        <a:rPr kumimoji="0" lang="en-US" altLang="zh-CN" sz="2000" b="1" i="0" u="none" strike="noStrike" cap="none" normalizeH="0" baseline="0" dirty="0">
                          <a:ln>
                            <a:noFill/>
                          </a:ln>
                          <a:solidFill>
                            <a:srgbClr val="FF0000"/>
                          </a:solidFill>
                          <a:effectLst/>
                          <a:latin typeface="Courier New" pitchFamily="49" charset="0"/>
                          <a:ea typeface="华文中宋" pitchFamily="2" charset="-122"/>
                          <a:cs typeface="Times New Roman" pitchFamily="18" charset="0"/>
                        </a:rPr>
                        <a:t>8</a:t>
                      </a: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(R1),F4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75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7</a:t>
                      </a:r>
                      <a:endParaRPr kumimoji="0" lang="en-US" altLang="zh-CN" sz="2000" b="1" i="0" u="none" strike="noStrike" cap="none" normalizeH="0" baseline="0" dirty="0">
                        <a:ln>
                          <a:noFill/>
                        </a:ln>
                        <a:solidFill>
                          <a:schemeClr val="tx1"/>
                        </a:solidFill>
                        <a:effectLst/>
                        <a:latin typeface="Courier New" pitchFamily="49" charset="0"/>
                        <a:ea typeface="华文中宋"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SUBI	      R1,R1,#8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81013">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9425">
                <a:tc>
                  <a:txBody>
                    <a:bodyPr/>
                    <a:lstStyle/>
                    <a:p>
                      <a:pPr marL="0" marR="0" lvl="0" indent="0" algn="ctr"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0" u="none" strike="noStrike" cap="none" normalizeH="0" baseline="0">
                          <a:ln>
                            <a:noFill/>
                          </a:ln>
                          <a:solidFill>
                            <a:schemeClr val="tx1"/>
                          </a:solidFill>
                          <a:effectLst/>
                          <a:latin typeface="Courier New" pitchFamily="49" charset="0"/>
                          <a:ea typeface="华文中宋"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r>
                        <a:rPr kumimoji="0" lang="en-US" altLang="zh-CN" sz="20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0"/>
                        </a:spcBef>
                        <a:spcAft>
                          <a:spcPct val="0"/>
                        </a:spcAft>
                        <a:buClr>
                          <a:srgbClr val="0000CC"/>
                        </a:buClr>
                        <a:buSzTx/>
                        <a:buFont typeface="Wingdings" pitchFamily="2" charset="2"/>
                        <a:buNone/>
                        <a:tabLst/>
                      </a:pPr>
                      <a:endParaRPr kumimoji="0" lang="zh-CN" altLang="en-US" sz="2000" b="1" i="0" u="none" strike="noStrike" cap="none" normalizeH="0" baseline="0">
                        <a:ln>
                          <a:noFill/>
                        </a:ln>
                        <a:solidFill>
                          <a:schemeClr val="tx1"/>
                        </a:solidFill>
                        <a:effectLst/>
                        <a:latin typeface="Courier New" pitchFamily="49" charset="0"/>
                        <a:ea typeface="华文中宋"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8725" name="Line 53"/>
          <p:cNvSpPr>
            <a:spLocks noChangeShapeType="1"/>
          </p:cNvSpPr>
          <p:nvPr/>
        </p:nvSpPr>
        <p:spPr bwMode="auto">
          <a:xfrm flipV="1">
            <a:off x="1908175" y="3860800"/>
            <a:ext cx="3024188" cy="1655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a:p>
        </p:txBody>
      </p:sp>
      <p:sp>
        <p:nvSpPr>
          <p:cNvPr id="28726" name="Oval 54"/>
          <p:cNvSpPr>
            <a:spLocks noChangeArrowheads="1"/>
          </p:cNvSpPr>
          <p:nvPr/>
        </p:nvSpPr>
        <p:spPr bwMode="auto">
          <a:xfrm>
            <a:off x="611188" y="3933825"/>
            <a:ext cx="504825" cy="358775"/>
          </a:xfrm>
          <a:prstGeom prst="ellipse">
            <a:avLst/>
          </a:prstGeom>
          <a:solidFill>
            <a:schemeClr val="accent1">
              <a:alpha val="27843"/>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日期占位符 1">
            <a:extLst>
              <a:ext uri="{FF2B5EF4-FFF2-40B4-BE49-F238E27FC236}">
                <a16:creationId xmlns:a16="http://schemas.microsoft.com/office/drawing/2014/main" id="{4DB6DD92-F024-2B2E-7F81-601F94895D6E}"/>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3B9CA6BF-EA7F-3E24-F1BF-6F814704397F}"/>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006483C-4D8A-6BE1-DFED-DFBBA8D3DE8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29</a:t>
            </a:fld>
            <a:endParaRPr lang="en-US" altLang="zh-CN"/>
          </a:p>
        </p:txBody>
      </p:sp>
    </p:spTree>
    <p:extLst>
      <p:ext uri="{BB962C8B-B14F-4D97-AF65-F5344CB8AC3E}">
        <p14:creationId xmlns:p14="http://schemas.microsoft.com/office/powerpoint/2010/main" val="382733100"/>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title" idx="4294967295"/>
          </p:nvPr>
        </p:nvSpPr>
        <p:spPr/>
        <p:txBody>
          <a:bodyPr/>
          <a:lstStyle/>
          <a:p>
            <a:pPr eaLnBrk="1" hangingPunct="1">
              <a:defRPr/>
            </a:pPr>
            <a:r>
              <a:rPr lang="zh-CN" altLang="en-US" sz="3600" b="1" dirty="0">
                <a:latin typeface="+mj-ea"/>
              </a:rPr>
              <a:t>如何进行调度</a:t>
            </a:r>
          </a:p>
        </p:txBody>
      </p:sp>
      <p:sp>
        <p:nvSpPr>
          <p:cNvPr id="15368" name="Rectangle 8"/>
          <p:cNvSpPr>
            <a:spLocks noGrp="1" noChangeArrowheads="1"/>
          </p:cNvSpPr>
          <p:nvPr>
            <p:ph type="body" idx="4294967295"/>
          </p:nvPr>
        </p:nvSpPr>
        <p:spPr/>
        <p:txBody>
          <a:bodyPr/>
          <a:lstStyle/>
          <a:p>
            <a:pPr eaLnBrk="1" hangingPunct="1">
              <a:lnSpc>
                <a:spcPct val="110000"/>
              </a:lnSpc>
              <a:defRPr/>
            </a:pPr>
            <a:r>
              <a:rPr lang="zh-CN" altLang="en-US" b="1" dirty="0">
                <a:latin typeface="+mn-ea"/>
              </a:rPr>
              <a:t>通过一个好的编译器来调度可以</a:t>
            </a:r>
            <a:endParaRPr lang="en-US" altLang="zh-CN" b="1" dirty="0">
              <a:latin typeface="+mn-ea"/>
            </a:endParaRPr>
          </a:p>
          <a:p>
            <a:pPr lvl="1" eaLnBrk="1" hangingPunct="1">
              <a:lnSpc>
                <a:spcPct val="110000"/>
              </a:lnSpc>
              <a:defRPr/>
            </a:pPr>
            <a:r>
              <a:rPr lang="zh-CN" altLang="en-US" b="1" dirty="0">
                <a:latin typeface="Times New Roman" panose="02020603050405020304" pitchFamily="18" charset="0"/>
                <a:cs typeface="Times New Roman" panose="02020603050405020304" pitchFamily="18" charset="0"/>
              </a:rPr>
              <a:t>调换</a:t>
            </a:r>
            <a:r>
              <a:rPr lang="en-US" altLang="zh-CN" b="1" dirty="0">
                <a:latin typeface="Times New Roman" panose="02020603050405020304" pitchFamily="18" charset="0"/>
                <a:cs typeface="Times New Roman" panose="02020603050405020304" pitchFamily="18" charset="0"/>
              </a:rPr>
              <a:t>SUBI</a:t>
            </a:r>
            <a:r>
              <a:rPr lang="zh-CN" altLang="en-US" b="1" dirty="0">
                <a:latin typeface="Times New Roman" panose="02020603050405020304" pitchFamily="18" charset="0"/>
                <a:cs typeface="Times New Roman" panose="02020603050405020304" pitchFamily="18" charset="0"/>
              </a:rPr>
              <a:t>和</a:t>
            </a:r>
            <a:r>
              <a:rPr lang="en-US" altLang="zh-CN" b="1" dirty="0">
                <a:latin typeface="Times New Roman" panose="02020603050405020304" pitchFamily="18" charset="0"/>
                <a:cs typeface="Times New Roman" panose="02020603050405020304" pitchFamily="18" charset="0"/>
              </a:rPr>
              <a:t>SD</a:t>
            </a:r>
            <a:r>
              <a:rPr lang="zh-CN" altLang="en-US" b="1" dirty="0">
                <a:latin typeface="Times New Roman" panose="02020603050405020304" pitchFamily="18" charset="0"/>
                <a:cs typeface="Times New Roman" panose="02020603050405020304" pitchFamily="18" charset="0"/>
              </a:rPr>
              <a:t>的位置</a:t>
            </a:r>
            <a:endParaRPr lang="en-US" altLang="zh-CN" b="1" dirty="0">
              <a:latin typeface="Times New Roman" panose="02020603050405020304" pitchFamily="18" charset="0"/>
              <a:cs typeface="Times New Roman" panose="02020603050405020304" pitchFamily="18" charset="0"/>
            </a:endParaRPr>
          </a:p>
          <a:p>
            <a:pPr lvl="1" eaLnBrk="1" hangingPunct="1">
              <a:lnSpc>
                <a:spcPct val="110000"/>
              </a:lnSpc>
              <a:defRPr/>
            </a:pPr>
            <a:r>
              <a:rPr lang="zh-CN" altLang="en-US" b="1" dirty="0">
                <a:latin typeface="Times New Roman" panose="02020603050405020304" pitchFamily="18" charset="0"/>
                <a:cs typeface="Times New Roman" panose="02020603050405020304" pitchFamily="18" charset="0"/>
              </a:rPr>
              <a:t>将</a:t>
            </a:r>
            <a:r>
              <a:rPr lang="en-US" altLang="zh-CN" b="1" dirty="0">
                <a:latin typeface="Times New Roman" panose="02020603050405020304" pitchFamily="18" charset="0"/>
                <a:cs typeface="Times New Roman" panose="02020603050405020304" pitchFamily="18" charset="0"/>
              </a:rPr>
              <a:t>SD</a:t>
            </a:r>
            <a:r>
              <a:rPr lang="zh-CN" altLang="en-US" b="1" dirty="0">
                <a:latin typeface="Times New Roman" panose="02020603050405020304" pitchFamily="18" charset="0"/>
                <a:cs typeface="Times New Roman" panose="02020603050405020304" pitchFamily="18" charset="0"/>
              </a:rPr>
              <a:t>指令移到</a:t>
            </a:r>
            <a:r>
              <a:rPr lang="en-US" altLang="zh-CN" b="1" dirty="0">
                <a:latin typeface="Times New Roman" panose="02020603050405020304" pitchFamily="18" charset="0"/>
                <a:cs typeface="Times New Roman" panose="02020603050405020304" pitchFamily="18" charset="0"/>
              </a:rPr>
              <a:t>BNEZ</a:t>
            </a:r>
            <a:r>
              <a:rPr lang="zh-CN" altLang="en-US" b="1" dirty="0">
                <a:latin typeface="Times New Roman" panose="02020603050405020304" pitchFamily="18" charset="0"/>
                <a:cs typeface="Times New Roman" panose="02020603050405020304" pitchFamily="18" charset="0"/>
              </a:rPr>
              <a:t>的延迟槽内</a:t>
            </a:r>
            <a:endParaRPr lang="en-US" altLang="zh-CN" b="1" dirty="0">
              <a:latin typeface="Times New Roman" panose="02020603050405020304" pitchFamily="18" charset="0"/>
              <a:cs typeface="Times New Roman" panose="02020603050405020304" pitchFamily="18" charset="0"/>
            </a:endParaRPr>
          </a:p>
          <a:p>
            <a:pPr lvl="1" eaLnBrk="1" hangingPunct="1">
              <a:lnSpc>
                <a:spcPct val="110000"/>
              </a:lnSpc>
              <a:defRPr/>
            </a:pPr>
            <a:r>
              <a:rPr lang="zh-CN" altLang="en-US" b="1" dirty="0">
                <a:latin typeface="Times New Roman" panose="02020603050405020304" pitchFamily="18" charset="0"/>
                <a:cs typeface="Times New Roman" panose="02020603050405020304" pitchFamily="18" charset="0"/>
              </a:rPr>
              <a:t>改变</a:t>
            </a:r>
            <a:r>
              <a:rPr lang="en-US" altLang="zh-CN" b="1" dirty="0">
                <a:latin typeface="Times New Roman" panose="02020603050405020304" pitchFamily="18" charset="0"/>
                <a:cs typeface="Times New Roman" panose="02020603050405020304" pitchFamily="18" charset="0"/>
              </a:rPr>
              <a:t>SD</a:t>
            </a:r>
            <a:r>
              <a:rPr lang="zh-CN" altLang="en-US" b="1" dirty="0">
                <a:latin typeface="Times New Roman" panose="02020603050405020304" pitchFamily="18" charset="0"/>
                <a:cs typeface="Times New Roman" panose="02020603050405020304" pitchFamily="18" charset="0"/>
              </a:rPr>
              <a:t>存取指令访问内存地址的偏移量</a:t>
            </a:r>
            <a:endParaRPr lang="en-US" altLang="zh-CN"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7535C93A-9FC2-FC70-7470-45AF533BC43A}"/>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9E904274-E81A-44BD-F15B-85032665D313}"/>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3EF52E8-8B17-0F12-22B6-81197BC05255}"/>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30</a:t>
            </a:fld>
            <a:endParaRPr lang="en-US" altLang="zh-CN"/>
          </a:p>
        </p:txBody>
      </p:sp>
    </p:spTree>
    <p:extLst>
      <p:ext uri="{BB962C8B-B14F-4D97-AF65-F5344CB8AC3E}">
        <p14:creationId xmlns:p14="http://schemas.microsoft.com/office/powerpoint/2010/main" val="331091752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8">
                                            <p:txEl>
                                              <p:pRg st="0" end="0"/>
                                            </p:txEl>
                                          </p:spTgt>
                                        </p:tgtEl>
                                        <p:attrNameLst>
                                          <p:attrName>style.visibility</p:attrName>
                                        </p:attrNameLst>
                                      </p:cBhvr>
                                      <p:to>
                                        <p:strVal val="visible"/>
                                      </p:to>
                                    </p:set>
                                    <p:animEffect transition="in" filter="wipe(left)">
                                      <p:cBhvr>
                                        <p:cTn id="7" dur="500"/>
                                        <p:tgtEl>
                                          <p:spTgt spid="1536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368">
                                            <p:txEl>
                                              <p:pRg st="1" end="1"/>
                                            </p:txEl>
                                          </p:spTgt>
                                        </p:tgtEl>
                                        <p:attrNameLst>
                                          <p:attrName>style.visibility</p:attrName>
                                        </p:attrNameLst>
                                      </p:cBhvr>
                                      <p:to>
                                        <p:strVal val="visible"/>
                                      </p:to>
                                    </p:set>
                                    <p:animEffect transition="in" filter="wipe(left)">
                                      <p:cBhvr>
                                        <p:cTn id="10" dur="500"/>
                                        <p:tgtEl>
                                          <p:spTgt spid="1536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5368">
                                            <p:txEl>
                                              <p:pRg st="2" end="2"/>
                                            </p:txEl>
                                          </p:spTgt>
                                        </p:tgtEl>
                                        <p:attrNameLst>
                                          <p:attrName>style.visibility</p:attrName>
                                        </p:attrNameLst>
                                      </p:cBhvr>
                                      <p:to>
                                        <p:strVal val="visible"/>
                                      </p:to>
                                    </p:set>
                                    <p:animEffect transition="in" filter="wipe(left)">
                                      <p:cBhvr>
                                        <p:cTn id="13" dur="500"/>
                                        <p:tgtEl>
                                          <p:spTgt spid="15368">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5368">
                                            <p:txEl>
                                              <p:pRg st="3" end="3"/>
                                            </p:txEl>
                                          </p:spTgt>
                                        </p:tgtEl>
                                        <p:attrNameLst>
                                          <p:attrName>style.visibility</p:attrName>
                                        </p:attrNameLst>
                                      </p:cBhvr>
                                      <p:to>
                                        <p:strVal val="visible"/>
                                      </p:to>
                                    </p:set>
                                    <p:animEffect transition="in" filter="wipe(left)">
                                      <p:cBhvr>
                                        <p:cTn id="16" dur="500"/>
                                        <p:tgtEl>
                                          <p:spTgt spid="153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pPr eaLnBrk="1" hangingPunct="1">
              <a:defRPr/>
            </a:pPr>
            <a:r>
              <a:rPr lang="zh-CN" altLang="en-US" sz="3600" b="1" dirty="0">
                <a:latin typeface="+mj-ea"/>
              </a:rPr>
              <a:t>调度代码结果分析</a:t>
            </a:r>
          </a:p>
        </p:txBody>
      </p:sp>
      <p:sp>
        <p:nvSpPr>
          <p:cNvPr id="361475" name="Rectangle 3"/>
          <p:cNvSpPr>
            <a:spLocks noGrp="1" noChangeArrowheads="1"/>
          </p:cNvSpPr>
          <p:nvPr>
            <p:ph type="body" idx="4294967295"/>
          </p:nvPr>
        </p:nvSpPr>
        <p:spPr/>
        <p:txBody>
          <a:bodyPr rtlCol="0">
            <a:normAutofit/>
          </a:bodyPr>
          <a:lstStyle/>
          <a:p>
            <a:pPr eaLnBrk="1" fontAlgn="auto" hangingPunct="1">
              <a:lnSpc>
                <a:spcPct val="110000"/>
              </a:lnSpc>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每遍循环</a:t>
            </a:r>
            <a:r>
              <a:rPr lang="en-US" altLang="zh-CN" sz="2800" b="1" dirty="0">
                <a:latin typeface="Times New Roman" panose="02020603050405020304" pitchFamily="18" charset="0"/>
                <a:cs typeface="Times New Roman" panose="02020603050405020304" pitchFamily="18" charset="0"/>
              </a:rPr>
              <a:t>6</a:t>
            </a:r>
            <a:r>
              <a:rPr lang="zh-CN" altLang="en-US" sz="2800" b="1" dirty="0">
                <a:latin typeface="Times New Roman" panose="02020603050405020304" pitchFamily="18" charset="0"/>
                <a:cs typeface="Times New Roman" panose="02020603050405020304" pitchFamily="18" charset="0"/>
              </a:rPr>
              <a:t>个时钟节拍</a:t>
            </a:r>
          </a:p>
          <a:p>
            <a:pPr eaLnBrk="1" fontAlgn="auto" hangingPunct="1">
              <a:lnSpc>
                <a:spcPct val="110000"/>
              </a:lnSpc>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和未调度代码比较，</a:t>
            </a:r>
            <a:r>
              <a:rPr lang="zh-CN" altLang="en-US" sz="2800" b="1">
                <a:latin typeface="Times New Roman" panose="02020603050405020304" pitchFamily="18" charset="0"/>
                <a:cs typeface="Times New Roman" panose="02020603050405020304" pitchFamily="18" charset="0"/>
              </a:rPr>
              <a:t>加速比 </a:t>
            </a:r>
            <a:r>
              <a:rPr lang="en-US" altLang="zh-CN" sz="2800" b="1">
                <a:latin typeface="Times New Roman" panose="02020603050405020304" pitchFamily="18" charset="0"/>
                <a:cs typeface="Times New Roman" panose="02020603050405020304" pitchFamily="18" charset="0"/>
              </a:rPr>
              <a:t>10/6=1.7</a:t>
            </a:r>
            <a:endParaRPr lang="en-US" altLang="zh-CN" sz="2800" b="1" dirty="0">
              <a:latin typeface="Times New Roman" panose="02020603050405020304" pitchFamily="18" charset="0"/>
              <a:cs typeface="Times New Roman" panose="02020603050405020304" pitchFamily="18" charset="0"/>
            </a:endParaRPr>
          </a:p>
          <a:p>
            <a:pPr eaLnBrk="1" fontAlgn="auto" hangingPunct="1">
              <a:lnSpc>
                <a:spcPct val="110000"/>
              </a:lnSpc>
              <a:spcAft>
                <a:spcPts val="0"/>
              </a:spcAft>
              <a:buFont typeface="Arial" pitchFamily="34" charset="0"/>
              <a:buChar char="•"/>
              <a:defRPr/>
            </a:pPr>
            <a:r>
              <a:rPr lang="en-US" altLang="zh-CN" sz="2800" b="1" dirty="0">
                <a:latin typeface="Times New Roman" panose="02020603050405020304" pitchFamily="18" charset="0"/>
                <a:cs typeface="Times New Roman" panose="02020603050405020304" pitchFamily="18" charset="0"/>
              </a:rPr>
              <a:t>3</a:t>
            </a:r>
            <a:r>
              <a:rPr lang="zh-CN" altLang="en-US" sz="2800" b="1" dirty="0">
                <a:latin typeface="Times New Roman" panose="02020603050405020304" pitchFamily="18" charset="0"/>
                <a:cs typeface="Times New Roman" panose="02020603050405020304" pitchFamily="18" charset="0"/>
              </a:rPr>
              <a:t>个有效时钟节拍 </a:t>
            </a:r>
            <a:r>
              <a:rPr lang="en-US" altLang="zh-CN" sz="2800" b="1" dirty="0">
                <a:latin typeface="Times New Roman" panose="02020603050405020304" pitchFamily="18" charset="0"/>
                <a:cs typeface="Times New Roman" panose="02020603050405020304" pitchFamily="18" charset="0"/>
              </a:rPr>
              <a:t>(LD, ADDD, SD)</a:t>
            </a:r>
          </a:p>
          <a:p>
            <a:pPr lvl="1" eaLnBrk="1" fontAlgn="auto" hangingPunct="1">
              <a:lnSpc>
                <a:spcPct val="110000"/>
              </a:lnSpc>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节拍有效比率</a:t>
            </a:r>
            <a:r>
              <a:rPr lang="en-US" altLang="zh-CN" sz="2400" b="1" dirty="0">
                <a:latin typeface="Times New Roman" panose="02020603050405020304" pitchFamily="18" charset="0"/>
                <a:cs typeface="Times New Roman" panose="02020603050405020304" pitchFamily="18" charset="0"/>
              </a:rPr>
              <a:t>50%</a:t>
            </a:r>
          </a:p>
          <a:p>
            <a:pPr lvl="1" eaLnBrk="1" fontAlgn="auto" hangingPunct="1">
              <a:lnSpc>
                <a:spcPct val="110000"/>
              </a:lnSpc>
              <a:spcAft>
                <a:spcPts val="0"/>
              </a:spcAft>
              <a:buFont typeface="Arial" pitchFamily="34" charset="0"/>
              <a:buChar char="–"/>
              <a:defRPr/>
            </a:pP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拍空转 </a:t>
            </a:r>
            <a:r>
              <a:rPr lang="en-US" altLang="zh-CN" sz="2400" b="1" dirty="0">
                <a:latin typeface="Times New Roman" panose="02020603050405020304" pitchFamily="18" charset="0"/>
                <a:cs typeface="Times New Roman" panose="02020603050405020304" pitchFamily="18" charset="0"/>
              </a:rPr>
              <a:t>(</a:t>
            </a:r>
            <a:r>
              <a:rPr lang="zh-CN" altLang="en-US" sz="2400" b="1">
                <a:latin typeface="Times New Roman" panose="02020603050405020304" pitchFamily="18" charset="0"/>
                <a:cs typeface="Times New Roman" panose="02020603050405020304" pitchFamily="18" charset="0"/>
              </a:rPr>
              <a:t>占</a:t>
            </a:r>
            <a:r>
              <a:rPr lang="en-US" altLang="zh-CN" sz="2400" b="1">
                <a:latin typeface="Times New Roman" panose="02020603050405020304" pitchFamily="18" charset="0"/>
                <a:cs typeface="Times New Roman" panose="02020603050405020304" pitchFamily="18" charset="0"/>
              </a:rPr>
              <a:t>17%)</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lnSpc>
                <a:spcPct val="110000"/>
              </a:lnSpc>
              <a:spcAft>
                <a:spcPts val="0"/>
              </a:spcAft>
              <a:buFont typeface="Arial" pitchFamily="34" charset="0"/>
              <a:buChar char="–"/>
              <a:defRPr/>
            </a:pP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拍循环控制 </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占</a:t>
            </a:r>
            <a:r>
              <a:rPr lang="en-US" altLang="zh-CN" sz="2400" b="1" dirty="0">
                <a:latin typeface="Times New Roman" panose="02020603050405020304" pitchFamily="18" charset="0"/>
                <a:cs typeface="Times New Roman" panose="02020603050405020304" pitchFamily="18" charset="0"/>
              </a:rPr>
              <a:t>33%)</a:t>
            </a:r>
          </a:p>
          <a:p>
            <a:pPr lvl="1" eaLnBrk="1" fontAlgn="auto" hangingPunct="1">
              <a:lnSpc>
                <a:spcPct val="110000"/>
              </a:lnSpc>
              <a:spcAft>
                <a:spcPts val="0"/>
              </a:spcAft>
              <a:buFont typeface="Arial" pitchFamily="34" charset="0"/>
              <a:buChar char="–"/>
              <a:defRPr/>
            </a:pPr>
            <a:endParaRPr lang="en-US" altLang="zh-CN" sz="2400" b="1" dirty="0">
              <a:latin typeface="Times New Roman" panose="02020603050405020304" pitchFamily="18" charset="0"/>
              <a:cs typeface="Times New Roman" panose="02020603050405020304" pitchFamily="18" charset="0"/>
            </a:endParaRPr>
          </a:p>
          <a:p>
            <a:pPr eaLnBrk="1" fontAlgn="auto" hangingPunct="1">
              <a:lnSpc>
                <a:spcPct val="110000"/>
              </a:lnSpc>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如何进一步减少空转和循环控制占用的比率</a:t>
            </a:r>
            <a:r>
              <a:rPr lang="en-US" altLang="zh-CN" sz="2800" b="1" dirty="0">
                <a:latin typeface="Times New Roman" panose="02020603050405020304" pitchFamily="18" charset="0"/>
                <a:cs typeface="Times New Roman" panose="02020603050405020304" pitchFamily="18" charset="0"/>
              </a:rPr>
              <a:t>?</a:t>
            </a:r>
          </a:p>
        </p:txBody>
      </p:sp>
      <p:sp>
        <p:nvSpPr>
          <p:cNvPr id="2" name="日期占位符 1">
            <a:extLst>
              <a:ext uri="{FF2B5EF4-FFF2-40B4-BE49-F238E27FC236}">
                <a16:creationId xmlns:a16="http://schemas.microsoft.com/office/drawing/2014/main" id="{B01EAB0D-77FD-0666-31A4-C876207DF23D}"/>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887A2DCC-8243-EB6D-53A3-6CAC875BFDC0}"/>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D5D2D18-FB81-7B2B-6A50-3AC1B4AE71F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2521440846"/>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pPr eaLnBrk="1" hangingPunct="1">
              <a:defRPr/>
            </a:pPr>
            <a:r>
              <a:rPr lang="zh-CN" altLang="en-US" sz="3600" b="1" dirty="0">
                <a:latin typeface="+mj-ea"/>
              </a:rPr>
              <a:t>调度代码结果分析</a:t>
            </a:r>
          </a:p>
        </p:txBody>
      </p:sp>
      <p:sp>
        <p:nvSpPr>
          <p:cNvPr id="361475" name="Rectangle 3"/>
          <p:cNvSpPr>
            <a:spLocks noGrp="1" noChangeArrowheads="1"/>
          </p:cNvSpPr>
          <p:nvPr>
            <p:ph type="body" idx="4294967295"/>
          </p:nvPr>
        </p:nvSpPr>
        <p:spPr/>
        <p:txBody>
          <a:bodyPr rtlCol="0">
            <a:normAutofit/>
          </a:bodyPr>
          <a:lstStyle/>
          <a:p>
            <a:pPr eaLnBrk="1" fontAlgn="auto" hangingPunct="1">
              <a:lnSpc>
                <a:spcPct val="110000"/>
              </a:lnSpc>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每遍循环</a:t>
            </a:r>
            <a:r>
              <a:rPr lang="en-US" altLang="zh-CN" sz="2800" b="1" dirty="0">
                <a:latin typeface="Times New Roman" panose="02020603050405020304" pitchFamily="18" charset="0"/>
                <a:cs typeface="Times New Roman" panose="02020603050405020304" pitchFamily="18" charset="0"/>
              </a:rPr>
              <a:t>6</a:t>
            </a:r>
            <a:r>
              <a:rPr lang="zh-CN" altLang="en-US" sz="2800" b="1" dirty="0">
                <a:latin typeface="Times New Roman" panose="02020603050405020304" pitchFamily="18" charset="0"/>
                <a:cs typeface="Times New Roman" panose="02020603050405020304" pitchFamily="18" charset="0"/>
              </a:rPr>
              <a:t>个时钟节拍</a:t>
            </a:r>
          </a:p>
          <a:p>
            <a:pPr eaLnBrk="1" fontAlgn="auto" hangingPunct="1">
              <a:lnSpc>
                <a:spcPct val="110000"/>
              </a:lnSpc>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和未调度代码比较，</a:t>
            </a:r>
            <a:r>
              <a:rPr lang="zh-CN" altLang="en-US" sz="2800" b="1">
                <a:latin typeface="Times New Roman" panose="02020603050405020304" pitchFamily="18" charset="0"/>
                <a:cs typeface="Times New Roman" panose="02020603050405020304" pitchFamily="18" charset="0"/>
              </a:rPr>
              <a:t>加速比 </a:t>
            </a:r>
            <a:r>
              <a:rPr lang="en-US" altLang="zh-CN" sz="2800" b="1">
                <a:latin typeface="Times New Roman" panose="02020603050405020304" pitchFamily="18" charset="0"/>
                <a:cs typeface="Times New Roman" panose="02020603050405020304" pitchFamily="18" charset="0"/>
              </a:rPr>
              <a:t>10/6=1.7</a:t>
            </a:r>
            <a:endParaRPr lang="en-US" altLang="zh-CN" sz="2800" b="1" dirty="0">
              <a:latin typeface="Times New Roman" panose="02020603050405020304" pitchFamily="18" charset="0"/>
              <a:cs typeface="Times New Roman" panose="02020603050405020304" pitchFamily="18" charset="0"/>
            </a:endParaRPr>
          </a:p>
          <a:p>
            <a:pPr eaLnBrk="1" fontAlgn="auto" hangingPunct="1">
              <a:lnSpc>
                <a:spcPct val="110000"/>
              </a:lnSpc>
              <a:spcAft>
                <a:spcPts val="0"/>
              </a:spcAft>
              <a:buFont typeface="Arial" pitchFamily="34" charset="0"/>
              <a:buChar char="•"/>
              <a:defRPr/>
            </a:pPr>
            <a:r>
              <a:rPr lang="en-US" altLang="zh-CN" sz="2800" b="1" dirty="0">
                <a:latin typeface="Times New Roman" panose="02020603050405020304" pitchFamily="18" charset="0"/>
                <a:cs typeface="Times New Roman" panose="02020603050405020304" pitchFamily="18" charset="0"/>
              </a:rPr>
              <a:t>3</a:t>
            </a:r>
            <a:r>
              <a:rPr lang="zh-CN" altLang="en-US" sz="2800" b="1" dirty="0">
                <a:latin typeface="Times New Roman" panose="02020603050405020304" pitchFamily="18" charset="0"/>
                <a:cs typeface="Times New Roman" panose="02020603050405020304" pitchFamily="18" charset="0"/>
              </a:rPr>
              <a:t>个有效时钟节拍 </a:t>
            </a:r>
            <a:r>
              <a:rPr lang="en-US" altLang="zh-CN" sz="2800" b="1" dirty="0">
                <a:latin typeface="Times New Roman" panose="02020603050405020304" pitchFamily="18" charset="0"/>
                <a:cs typeface="Times New Roman" panose="02020603050405020304" pitchFamily="18" charset="0"/>
              </a:rPr>
              <a:t>(LD, ADDD, SD)</a:t>
            </a:r>
          </a:p>
          <a:p>
            <a:pPr lvl="1" eaLnBrk="1" fontAlgn="auto" hangingPunct="1">
              <a:lnSpc>
                <a:spcPct val="110000"/>
              </a:lnSpc>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节拍有效比率</a:t>
            </a:r>
            <a:r>
              <a:rPr lang="en-US" altLang="zh-CN" sz="2400" b="1" dirty="0">
                <a:latin typeface="Times New Roman" panose="02020603050405020304" pitchFamily="18" charset="0"/>
                <a:cs typeface="Times New Roman" panose="02020603050405020304" pitchFamily="18" charset="0"/>
              </a:rPr>
              <a:t>50%</a:t>
            </a:r>
          </a:p>
          <a:p>
            <a:pPr lvl="1" eaLnBrk="1" fontAlgn="auto" hangingPunct="1">
              <a:lnSpc>
                <a:spcPct val="110000"/>
              </a:lnSpc>
              <a:spcAft>
                <a:spcPts val="0"/>
              </a:spcAft>
              <a:buFont typeface="Arial" pitchFamily="34" charset="0"/>
              <a:buChar char="–"/>
              <a:defRPr/>
            </a:pP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拍空转 </a:t>
            </a:r>
            <a:r>
              <a:rPr lang="en-US" altLang="zh-CN" sz="2400" b="1" dirty="0">
                <a:latin typeface="Times New Roman" panose="02020603050405020304" pitchFamily="18" charset="0"/>
                <a:cs typeface="Times New Roman" panose="02020603050405020304" pitchFamily="18" charset="0"/>
              </a:rPr>
              <a:t>(</a:t>
            </a:r>
            <a:r>
              <a:rPr lang="zh-CN" altLang="en-US" sz="2400" b="1">
                <a:latin typeface="Times New Roman" panose="02020603050405020304" pitchFamily="18" charset="0"/>
                <a:cs typeface="Times New Roman" panose="02020603050405020304" pitchFamily="18" charset="0"/>
              </a:rPr>
              <a:t>占</a:t>
            </a:r>
            <a:r>
              <a:rPr lang="en-US" altLang="zh-CN" sz="2400" b="1">
                <a:latin typeface="Times New Roman" panose="02020603050405020304" pitchFamily="18" charset="0"/>
                <a:cs typeface="Times New Roman" panose="02020603050405020304" pitchFamily="18" charset="0"/>
              </a:rPr>
              <a:t>17%)</a:t>
            </a:r>
            <a:endParaRPr lang="en-US" altLang="zh-CN" sz="2400" b="1" dirty="0">
              <a:latin typeface="Times New Roman" panose="02020603050405020304" pitchFamily="18" charset="0"/>
              <a:cs typeface="Times New Roman" panose="02020603050405020304" pitchFamily="18" charset="0"/>
            </a:endParaRPr>
          </a:p>
          <a:p>
            <a:pPr lvl="1" eaLnBrk="1" fontAlgn="auto" hangingPunct="1">
              <a:lnSpc>
                <a:spcPct val="110000"/>
              </a:lnSpc>
              <a:spcAft>
                <a:spcPts val="0"/>
              </a:spcAft>
              <a:buFont typeface="Arial" pitchFamily="34" charset="0"/>
              <a:buChar char="–"/>
              <a:defRPr/>
            </a:pP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拍循环控制 </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占</a:t>
            </a:r>
            <a:r>
              <a:rPr lang="en-US" altLang="zh-CN" sz="2400" b="1" dirty="0">
                <a:latin typeface="Times New Roman" panose="02020603050405020304" pitchFamily="18" charset="0"/>
                <a:cs typeface="Times New Roman" panose="02020603050405020304" pitchFamily="18" charset="0"/>
              </a:rPr>
              <a:t>33%)</a:t>
            </a:r>
          </a:p>
          <a:p>
            <a:pPr lvl="1" eaLnBrk="1" fontAlgn="auto" hangingPunct="1">
              <a:lnSpc>
                <a:spcPct val="110000"/>
              </a:lnSpc>
              <a:spcAft>
                <a:spcPts val="0"/>
              </a:spcAft>
              <a:buFont typeface="Arial" pitchFamily="34" charset="0"/>
              <a:buChar char="–"/>
              <a:defRPr/>
            </a:pPr>
            <a:endParaRPr lang="en-US" altLang="zh-CN" sz="2400" b="1" dirty="0">
              <a:latin typeface="Times New Roman" panose="02020603050405020304" pitchFamily="18" charset="0"/>
              <a:cs typeface="Times New Roman" panose="02020603050405020304" pitchFamily="18" charset="0"/>
            </a:endParaRPr>
          </a:p>
          <a:p>
            <a:pPr eaLnBrk="1" fontAlgn="auto" hangingPunct="1">
              <a:lnSpc>
                <a:spcPct val="110000"/>
              </a:lnSpc>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如何进一步减少空转和循环控制占用的比率</a:t>
            </a:r>
            <a:r>
              <a:rPr lang="en-US" altLang="zh-CN" sz="2800" b="1" dirty="0">
                <a:latin typeface="Times New Roman" panose="02020603050405020304" pitchFamily="18" charset="0"/>
                <a:cs typeface="Times New Roman" panose="02020603050405020304" pitchFamily="18" charset="0"/>
              </a:rPr>
              <a:t>?</a:t>
            </a:r>
          </a:p>
        </p:txBody>
      </p:sp>
      <p:sp>
        <p:nvSpPr>
          <p:cNvPr id="2" name="日期占位符 1">
            <a:extLst>
              <a:ext uri="{FF2B5EF4-FFF2-40B4-BE49-F238E27FC236}">
                <a16:creationId xmlns:a16="http://schemas.microsoft.com/office/drawing/2014/main" id="{E45D21AB-68FC-68A6-2BB6-AF2D2647EC59}"/>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7029D57C-B327-82A5-2835-F1B5A7E012D0}"/>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E3DFCD2-9589-3573-9CB9-35FE13D22AD1}"/>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32</a:t>
            </a:fld>
            <a:endParaRPr lang="en-US" altLang="zh-CN"/>
          </a:p>
        </p:txBody>
      </p:sp>
    </p:spTree>
    <p:extLst>
      <p:ext uri="{BB962C8B-B14F-4D97-AF65-F5344CB8AC3E}">
        <p14:creationId xmlns:p14="http://schemas.microsoft.com/office/powerpoint/2010/main" val="392191492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2"/>
          <p:cNvSpPr>
            <a:spLocks noGrp="1" noChangeArrowheads="1"/>
          </p:cNvSpPr>
          <p:nvPr>
            <p:ph type="title" idx="4294967295"/>
          </p:nvPr>
        </p:nvSpPr>
        <p:spPr>
          <a:xfrm>
            <a:off x="457200" y="116632"/>
            <a:ext cx="8229600" cy="1143000"/>
          </a:xfrm>
        </p:spPr>
        <p:txBody>
          <a:bodyPr/>
          <a:lstStyle/>
          <a:p>
            <a:pPr eaLnBrk="1" hangingPunct="1">
              <a:defRPr/>
            </a:pPr>
            <a:r>
              <a:rPr lang="zh-CN" altLang="en-US" sz="3600" b="1" dirty="0">
                <a:latin typeface="+mj-ea"/>
              </a:rPr>
              <a:t>循环展开</a:t>
            </a:r>
          </a:p>
        </p:txBody>
      </p:sp>
      <p:sp>
        <p:nvSpPr>
          <p:cNvPr id="16427" name="Rectangle 43"/>
          <p:cNvSpPr>
            <a:spLocks noGrp="1" noChangeArrowheads="1"/>
          </p:cNvSpPr>
          <p:nvPr>
            <p:ph type="body" idx="4294967295"/>
          </p:nvPr>
        </p:nvSpPr>
        <p:spPr>
          <a:xfrm>
            <a:off x="457200" y="1124744"/>
            <a:ext cx="8434387" cy="5616624"/>
          </a:xfrm>
        </p:spPr>
        <p:txBody>
          <a:bodyPr rtlCol="0">
            <a:normAutofit fontScale="92500" lnSpcReduction="20000"/>
          </a:bodyPr>
          <a:lstStyle/>
          <a:p>
            <a:pPr eaLnBrk="1" fontAlgn="auto" hangingPunct="1">
              <a:lnSpc>
                <a:spcPct val="110000"/>
              </a:lnSpc>
              <a:spcAft>
                <a:spcPts val="0"/>
              </a:spcAft>
              <a:buFont typeface="Arial" pitchFamily="34" charset="0"/>
              <a:buChar char="•"/>
              <a:defRPr/>
            </a:pPr>
            <a:r>
              <a:rPr lang="zh-CN" altLang="en-US" sz="2800" b="1" dirty="0">
                <a:latin typeface="+mn-ea"/>
              </a:rPr>
              <a:t>如果将循环展开</a:t>
            </a:r>
            <a:r>
              <a:rPr lang="en-US" altLang="zh-CN" sz="2800" b="1" dirty="0">
                <a:latin typeface="+mn-ea"/>
              </a:rPr>
              <a:t>3</a:t>
            </a:r>
            <a:r>
              <a:rPr lang="zh-CN" altLang="en-US" sz="2800" b="1" dirty="0">
                <a:latin typeface="+mn-ea"/>
              </a:rPr>
              <a:t>次得到</a:t>
            </a:r>
            <a:r>
              <a:rPr lang="en-US" altLang="zh-CN" sz="2800" b="1" dirty="0">
                <a:latin typeface="+mn-ea"/>
              </a:rPr>
              <a:t>4</a:t>
            </a:r>
            <a:r>
              <a:rPr lang="zh-CN" altLang="en-US" sz="2800" b="1" dirty="0">
                <a:latin typeface="+mn-ea"/>
              </a:rPr>
              <a:t>个循环体</a:t>
            </a:r>
            <a:r>
              <a:rPr lang="en-US" altLang="zh-CN" sz="2800" b="1" dirty="0">
                <a:latin typeface="+mn-ea"/>
              </a:rPr>
              <a:t>(</a:t>
            </a:r>
            <a:r>
              <a:rPr lang="zh-CN" altLang="en-US" sz="2800" b="1" dirty="0">
                <a:latin typeface="+mn-ea"/>
              </a:rPr>
              <a:t>假设数组是</a:t>
            </a:r>
            <a:r>
              <a:rPr lang="en-US" altLang="zh-CN" sz="2800" b="1" dirty="0">
                <a:latin typeface="+mn-ea"/>
              </a:rPr>
              <a:t>4</a:t>
            </a:r>
            <a:r>
              <a:rPr lang="zh-CN" altLang="en-US" sz="2800" b="1" dirty="0">
                <a:latin typeface="+mn-ea"/>
              </a:rPr>
              <a:t>的倍数的元素</a:t>
            </a:r>
            <a:r>
              <a:rPr lang="en-US" altLang="zh-CN" sz="2800" b="1" dirty="0">
                <a:latin typeface="+mn-ea"/>
              </a:rPr>
              <a:t>)</a:t>
            </a:r>
          </a:p>
          <a:p>
            <a:pPr lvl="2" eaLnBrk="1" fontAlgn="auto" hangingPunct="1">
              <a:lnSpc>
                <a:spcPct val="80000"/>
              </a:lnSpc>
              <a:spcAft>
                <a:spcPts val="0"/>
              </a:spcAft>
              <a:buFont typeface="Wingdings" pitchFamily="2" charset="2"/>
              <a:buNone/>
              <a:defRPr/>
            </a:pPr>
            <a:endParaRPr lang="en-US" altLang="zh-CN" sz="1600" dirty="0">
              <a:latin typeface="Verdana" pitchFamily="34" charset="0"/>
              <a:ea typeface="华文中宋" pitchFamily="2" charset="-122"/>
            </a:endParaRP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Loop:	LD	F0,0(R1)</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ADDD	F4,F0,F2</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SD	0(R1),F4</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SUBI    R1,R1,#8</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t>
            </a:r>
            <a:r>
              <a:rPr lang="en-US" altLang="zh-CN" sz="1900" dirty="0">
                <a:solidFill>
                  <a:srgbClr val="FF5050"/>
                </a:solidFill>
                <a:latin typeface="Verdana" pitchFamily="34" charset="0"/>
                <a:ea typeface="华文中宋" pitchFamily="2" charset="-122"/>
              </a:rPr>
              <a:t>LD	F0, 0(R1)</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ADDD	F4,F0,F2</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SD	0(R1), F4</a:t>
            </a:r>
          </a:p>
          <a:p>
            <a:pPr lvl="1" eaLnBrk="1" fontAlgn="auto" hangingPunct="1">
              <a:lnSpc>
                <a:spcPct val="90000"/>
              </a:lnSpc>
              <a:spcAft>
                <a:spcPts val="0"/>
              </a:spcAft>
              <a:buNone/>
              <a:defRPr/>
            </a:pPr>
            <a:r>
              <a:rPr lang="en-US" altLang="zh-CN" sz="1900" dirty="0">
                <a:solidFill>
                  <a:srgbClr val="FF5050"/>
                </a:solidFill>
                <a:latin typeface="Verdana" pitchFamily="34" charset="0"/>
                <a:ea typeface="华文中宋" pitchFamily="2" charset="-122"/>
              </a:rPr>
              <a:t>                 SUBI    R1,R1,#8</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LD	F0, 0(R1)</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ADDD	F4,F0,F2</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SD	0(R1), F4</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SUBI    R1,R1,#8</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t>
            </a:r>
            <a:r>
              <a:rPr lang="en-US" altLang="zh-CN" sz="1900" dirty="0">
                <a:solidFill>
                  <a:srgbClr val="FF5050"/>
                </a:solidFill>
                <a:latin typeface="Verdana" pitchFamily="34" charset="0"/>
                <a:ea typeface="华文中宋" pitchFamily="2" charset="-122"/>
              </a:rPr>
              <a:t>LD	F0,0(R1)</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ADDD	F4,F0,F2</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SD	0(R1), F4</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t>
            </a:r>
            <a:r>
              <a:rPr lang="en-US" altLang="zh-CN" sz="1900" dirty="0">
                <a:solidFill>
                  <a:srgbClr val="FF5050"/>
                </a:solidFill>
                <a:latin typeface="Verdana" pitchFamily="34" charset="0"/>
                <a:ea typeface="华文中宋" pitchFamily="2" charset="-122"/>
              </a:rPr>
              <a:t>SUBI    R1,R1,#8</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BNEZ	R1,Loop</a:t>
            </a:r>
            <a:endParaRPr lang="zh-CN" altLang="en-US" sz="1900" dirty="0">
              <a:latin typeface="Verdana" pitchFamily="34" charset="0"/>
              <a:ea typeface="华文中宋" pitchFamily="2" charset="-122"/>
            </a:endParaRPr>
          </a:p>
        </p:txBody>
      </p:sp>
      <p:sp>
        <p:nvSpPr>
          <p:cNvPr id="4" name="Rectangle 2">
            <a:extLst>
              <a:ext uri="{FF2B5EF4-FFF2-40B4-BE49-F238E27FC236}">
                <a16:creationId xmlns:a16="http://schemas.microsoft.com/office/drawing/2014/main" id="{DC93066F-8AE5-4968-B95F-8D0635E8F1F2}"/>
              </a:ext>
            </a:extLst>
          </p:cNvPr>
          <p:cNvSpPr>
            <a:spLocks noChangeArrowheads="1"/>
          </p:cNvSpPr>
          <p:nvPr/>
        </p:nvSpPr>
        <p:spPr bwMode="auto">
          <a:xfrm>
            <a:off x="5436096" y="2348880"/>
            <a:ext cx="3084513" cy="792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zh-CN" altLang="en-US" sz="2400" dirty="0">
                <a:solidFill>
                  <a:srgbClr val="5B9BD5"/>
                </a:solidFill>
                <a:latin typeface="Comic Sans MS" panose="030F0702030302020204" pitchFamily="66" charset="0"/>
              </a:rPr>
              <a:t>编译器直接调整存储器访问的偏移量</a:t>
            </a:r>
            <a:endParaRPr lang="en-US" altLang="zh-CN" sz="2400" b="1" dirty="0">
              <a:solidFill>
                <a:srgbClr val="5B9BD5"/>
              </a:solidFill>
              <a:latin typeface="Comic Sans MS" panose="030F0702030302020204" pitchFamily="66" charset="0"/>
            </a:endParaRPr>
          </a:p>
        </p:txBody>
      </p:sp>
      <p:sp>
        <p:nvSpPr>
          <p:cNvPr id="5" name="Rectangle 2">
            <a:extLst>
              <a:ext uri="{FF2B5EF4-FFF2-40B4-BE49-F238E27FC236}">
                <a16:creationId xmlns:a16="http://schemas.microsoft.com/office/drawing/2014/main" id="{9293FB99-0A92-4BAD-B79E-43BBBFBF7DD7}"/>
              </a:ext>
            </a:extLst>
          </p:cNvPr>
          <p:cNvSpPr>
            <a:spLocks noChangeArrowheads="1"/>
          </p:cNvSpPr>
          <p:nvPr/>
        </p:nvSpPr>
        <p:spPr bwMode="auto">
          <a:xfrm>
            <a:off x="5436096" y="3537012"/>
            <a:ext cx="3084513" cy="792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360" tIns="44280" rIns="90360" bIns="44280"/>
          <a:lstStyle>
            <a:lvl1pPr marL="284163" indent="-284163">
              <a:lnSpc>
                <a:spcPct val="90000"/>
              </a:lnSpc>
              <a:spcBef>
                <a:spcPts val="1000"/>
              </a:spcBef>
              <a:buClr>
                <a:srgbClr val="000000"/>
              </a:buClr>
              <a:buSzPct val="100000"/>
              <a:buFont typeface="Arial" panose="020B060402020202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800">
                <a:solidFill>
                  <a:srgbClr val="000000"/>
                </a:solidFill>
                <a:latin typeface="Calibri" panose="020F0502020204030204" pitchFamily="34" charset="0"/>
                <a:ea typeface="宋体" panose="02010600030101010101" pitchFamily="2" charset="-122"/>
              </a:defRPr>
            </a:lvl1pPr>
            <a:lvl2pPr marL="800100" indent="-342900">
              <a:lnSpc>
                <a:spcPct val="90000"/>
              </a:lnSpc>
              <a:spcBef>
                <a:spcPts val="500"/>
              </a:spcBef>
              <a:buClr>
                <a:srgbClr val="000000"/>
              </a:buClr>
              <a:buSzPct val="100000"/>
              <a:buFont typeface="Calibri" panose="020F0502020204030204" pitchFamily="34" charset="0"/>
              <a:buChar char="−"/>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400">
                <a:solidFill>
                  <a:srgbClr val="000000"/>
                </a:solidFill>
                <a:latin typeface="Calibri" panose="020F0502020204030204" pitchFamily="34" charset="0"/>
                <a:ea typeface="宋体" panose="02010600030101010101" pitchFamily="2" charset="-122"/>
              </a:defRPr>
            </a:lvl2pPr>
            <a:lvl3pPr marL="1257300" indent="-342900">
              <a:lnSpc>
                <a:spcPct val="90000"/>
              </a:lnSpc>
              <a:spcBef>
                <a:spcPts val="500"/>
              </a:spcBef>
              <a:buClr>
                <a:srgbClr val="000000"/>
              </a:buClr>
              <a:buSzPct val="100000"/>
              <a:buFont typeface="Wingdings" panose="05000000000000000000" pitchFamily="2" charset="2"/>
              <a:buChar char="ü"/>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sz="2000">
                <a:solidFill>
                  <a:srgbClr val="000000"/>
                </a:solidFill>
                <a:latin typeface="Calibri" panose="020F0502020204030204" pitchFamily="34" charset="0"/>
                <a:ea typeface="宋体" panose="02010600030101010101" pitchFamily="2" charset="-122"/>
              </a:defRPr>
            </a:lvl3pPr>
            <a:lvl4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4pPr>
            <a:lvl5pPr>
              <a:lnSpc>
                <a:spcPct val="90000"/>
              </a:lnSpc>
              <a:spcBef>
                <a:spcPts val="500"/>
              </a:spcBef>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5pPr>
            <a:lvl6pPr marL="25146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6pPr>
            <a:lvl7pPr marL="29718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7pPr>
            <a:lvl8pPr marL="34290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8pPr>
            <a:lvl9pPr marL="3886200" indent="-228600" defTabSz="449263" eaLnBrk="0" fontAlgn="base" hangingPunct="0">
              <a:lnSpc>
                <a:spcPct val="90000"/>
              </a:lnSpc>
              <a:spcBef>
                <a:spcPts val="500"/>
              </a:spcBef>
              <a:spcAft>
                <a:spcPct val="0"/>
              </a:spcAft>
              <a:buClr>
                <a:srgbClr val="000000"/>
              </a:buClr>
              <a:buSzPct val="100000"/>
              <a:buFont typeface="Times New Roman" panose="02020603050405020304" pitchFamily="18" charset="0"/>
              <a:tabLst>
                <a:tab pos="284163" algn="l"/>
                <a:tab pos="1198563" algn="l"/>
                <a:tab pos="2112963" algn="l"/>
                <a:tab pos="3027363" algn="l"/>
                <a:tab pos="3941763" algn="l"/>
                <a:tab pos="4856163" algn="l"/>
                <a:tab pos="5770563" algn="l"/>
                <a:tab pos="6684963" algn="l"/>
                <a:tab pos="7599363" algn="l"/>
                <a:tab pos="8513763" algn="l"/>
                <a:tab pos="9428163" algn="l"/>
                <a:tab pos="10342563" algn="l"/>
              </a:tabLst>
              <a:defRPr>
                <a:solidFill>
                  <a:srgbClr val="000000"/>
                </a:solidFill>
                <a:latin typeface="Calibri" panose="020F0502020204030204" pitchFamily="34" charset="0"/>
                <a:ea typeface="宋体" panose="02010600030101010101" pitchFamily="2" charset="-122"/>
              </a:defRPr>
            </a:lvl9pPr>
          </a:lstStyle>
          <a:p>
            <a:pPr eaLnBrk="1" hangingPunct="1">
              <a:spcBef>
                <a:spcPts val="900"/>
              </a:spcBef>
              <a:buClr>
                <a:srgbClr val="5B9BD5"/>
              </a:buClr>
              <a:buFont typeface="Comic Sans MS" panose="030F0702030302020204" pitchFamily="66" charset="0"/>
              <a:buChar char="•"/>
            </a:pPr>
            <a:r>
              <a:rPr lang="zh-CN" altLang="en-US" sz="2400" dirty="0">
                <a:solidFill>
                  <a:srgbClr val="5B9BD5"/>
                </a:solidFill>
                <a:latin typeface="Comic Sans MS" panose="030F0702030302020204" pitchFamily="66" charset="0"/>
              </a:rPr>
              <a:t>大量关于</a:t>
            </a:r>
            <a:r>
              <a:rPr lang="en-US" altLang="zh-CN" sz="2400" dirty="0">
                <a:solidFill>
                  <a:srgbClr val="5B9BD5"/>
                </a:solidFill>
                <a:latin typeface="Comic Sans MS" panose="030F0702030302020204" pitchFamily="66" charset="0"/>
              </a:rPr>
              <a:t>F0,F4</a:t>
            </a:r>
            <a:r>
              <a:rPr lang="zh-CN" altLang="en-US" sz="2400" dirty="0">
                <a:solidFill>
                  <a:srgbClr val="5B9BD5"/>
                </a:solidFill>
                <a:latin typeface="Comic Sans MS" panose="030F0702030302020204" pitchFamily="66" charset="0"/>
              </a:rPr>
              <a:t>的名相关，指令难以调度</a:t>
            </a:r>
            <a:endParaRPr lang="en-US" altLang="zh-CN" sz="2400" b="1" dirty="0">
              <a:solidFill>
                <a:srgbClr val="5B9BD5"/>
              </a:solidFill>
              <a:latin typeface="Comic Sans MS" panose="030F0702030302020204" pitchFamily="66" charset="0"/>
            </a:endParaRPr>
          </a:p>
        </p:txBody>
      </p:sp>
      <p:sp>
        <p:nvSpPr>
          <p:cNvPr id="2" name="日期占位符 1">
            <a:extLst>
              <a:ext uri="{FF2B5EF4-FFF2-40B4-BE49-F238E27FC236}">
                <a16:creationId xmlns:a16="http://schemas.microsoft.com/office/drawing/2014/main" id="{FF79B6DA-67FD-1667-3E17-B81C5AB02FCE}"/>
              </a:ext>
            </a:extLst>
          </p:cNvPr>
          <p:cNvSpPr>
            <a:spLocks noGrp="1"/>
          </p:cNvSpPr>
          <p:nvPr>
            <p:ph type="dt" sz="half" idx="10"/>
          </p:nvPr>
        </p:nvSpPr>
        <p:spPr>
          <a:xfrm>
            <a:off x="457200" y="6376243"/>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23E62846-D85F-02A8-C1C0-4CFDEF3CD23B}"/>
              </a:ext>
            </a:extLst>
          </p:cNvPr>
          <p:cNvSpPr>
            <a:spLocks noGrp="1"/>
          </p:cNvSpPr>
          <p:nvPr>
            <p:ph type="ftr" sz="quarter" idx="11"/>
          </p:nvPr>
        </p:nvSpPr>
        <p:spPr>
          <a:xfrm>
            <a:off x="3124200" y="6376243"/>
            <a:ext cx="2895600" cy="365125"/>
          </a:xfrm>
        </p:spPr>
        <p:txBody>
          <a:bodyPr/>
          <a:lstStyle/>
          <a:p>
            <a:pPr>
              <a:defRPr/>
            </a:pPr>
            <a:r>
              <a:rPr lang="zh-CN" altLang="en-US"/>
              <a:t>计算学部 计算机体系结构 刘宏伟</a:t>
            </a:r>
            <a:endParaRPr lang="en-US" altLang="zh-CN"/>
          </a:p>
        </p:txBody>
      </p:sp>
      <p:sp>
        <p:nvSpPr>
          <p:cNvPr id="6" name="灯片编号占位符 3">
            <a:extLst>
              <a:ext uri="{FF2B5EF4-FFF2-40B4-BE49-F238E27FC236}">
                <a16:creationId xmlns:a16="http://schemas.microsoft.com/office/drawing/2014/main" id="{031FA5E0-FA18-C42C-01D2-D0973945FC92}"/>
              </a:ext>
            </a:extLst>
          </p:cNvPr>
          <p:cNvSpPr>
            <a:spLocks noGrp="1"/>
          </p:cNvSpPr>
          <p:nvPr>
            <p:ph type="sldNum" sz="quarter" idx="12"/>
          </p:nvPr>
        </p:nvSpPr>
        <p:spPr>
          <a:xfrm>
            <a:off x="6553200" y="6376243"/>
            <a:ext cx="2133600" cy="365125"/>
          </a:xfrm>
        </p:spPr>
        <p:txBody>
          <a:bodyPr/>
          <a:lstStyle/>
          <a:p>
            <a:pPr>
              <a:defRPr/>
            </a:pPr>
            <a:fld id="{8BCAC33D-D29A-48B3-BCD6-381D3D720D26}" type="slidenum">
              <a:rPr lang="zh-CN" altLang="en-US" smtClean="0"/>
              <a:t>33</a:t>
            </a:fld>
            <a:endParaRPr lang="en-US" altLang="zh-CN"/>
          </a:p>
        </p:txBody>
      </p:sp>
    </p:spTree>
    <p:extLst>
      <p:ext uri="{BB962C8B-B14F-4D97-AF65-F5344CB8AC3E}">
        <p14:creationId xmlns:p14="http://schemas.microsoft.com/office/powerpoint/2010/main" val="44702829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100000">
                                          <p:val>
                                            <p:strVal val="1+#ppt_w/2"/>
                                          </p:val>
                                        </p:tav>
                                        <p:tav>
                                          <p:val>
                                            <p:strVal val="#ppt_x"/>
                                          </p:val>
                                        </p:tav>
                                      </p:tavLst>
                                    </p:anim>
                                    <p:anim calcmode="lin" valueType="num">
                                      <p:cBhvr>
                                        <p:cTn id="8" dur="500" fill="hold"/>
                                        <p:tgtEl>
                                          <p:spTgt spid="4"/>
                                        </p:tgtEl>
                                        <p:attrNameLst>
                                          <p:attrName>ppt_y</p:attrName>
                                        </p:attrNameLst>
                                      </p:cBhvr>
                                      <p:tavLst>
                                        <p:tav tm="100000">
                                          <p:val>
                                            <p:strVal val="#ppt_y"/>
                                          </p:val>
                                        </p:tav>
                                        <p:tav>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additive="repl">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100000">
                                          <p:val>
                                            <p:strVal val="1+#ppt_w/2"/>
                                          </p:val>
                                        </p:tav>
                                        <p:tav>
                                          <p:val>
                                            <p:strVal val="#ppt_x"/>
                                          </p:val>
                                        </p:tav>
                                      </p:tavLst>
                                    </p:anim>
                                    <p:anim calcmode="lin" valueType="num">
                                      <p:cBhvr>
                                        <p:cTn id="14" dur="500" fill="hold"/>
                                        <p:tgtEl>
                                          <p:spTgt spid="5"/>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2"/>
          <p:cNvSpPr>
            <a:spLocks noGrp="1" noChangeArrowheads="1"/>
          </p:cNvSpPr>
          <p:nvPr>
            <p:ph type="title" idx="4294967295"/>
          </p:nvPr>
        </p:nvSpPr>
        <p:spPr>
          <a:xfrm>
            <a:off x="457200" y="116632"/>
            <a:ext cx="8229600" cy="1143000"/>
          </a:xfrm>
        </p:spPr>
        <p:txBody>
          <a:bodyPr/>
          <a:lstStyle/>
          <a:p>
            <a:pPr eaLnBrk="1" hangingPunct="1">
              <a:defRPr/>
            </a:pPr>
            <a:r>
              <a:rPr lang="zh-CN" altLang="en-US" sz="3600" b="1" dirty="0">
                <a:latin typeface="+mj-ea"/>
              </a:rPr>
              <a:t>循环展开</a:t>
            </a:r>
          </a:p>
        </p:txBody>
      </p:sp>
      <p:sp>
        <p:nvSpPr>
          <p:cNvPr id="16427" name="Rectangle 43"/>
          <p:cNvSpPr>
            <a:spLocks noGrp="1" noChangeArrowheads="1"/>
          </p:cNvSpPr>
          <p:nvPr>
            <p:ph type="body" idx="4294967295"/>
          </p:nvPr>
        </p:nvSpPr>
        <p:spPr>
          <a:xfrm>
            <a:off x="457200" y="1124744"/>
            <a:ext cx="8434387" cy="4997450"/>
          </a:xfrm>
        </p:spPr>
        <p:txBody>
          <a:bodyPr rtlCol="0">
            <a:normAutofit fontScale="92500" lnSpcReduction="10000"/>
          </a:bodyPr>
          <a:lstStyle/>
          <a:p>
            <a:pPr eaLnBrk="1" fontAlgn="auto" hangingPunct="1">
              <a:lnSpc>
                <a:spcPct val="110000"/>
              </a:lnSpc>
              <a:spcAft>
                <a:spcPts val="0"/>
              </a:spcAft>
              <a:buFont typeface="Arial" pitchFamily="34" charset="0"/>
              <a:buChar char="•"/>
              <a:defRPr/>
            </a:pPr>
            <a:r>
              <a:rPr lang="zh-CN" altLang="en-US" sz="2800" b="1" dirty="0">
                <a:latin typeface="+mn-ea"/>
              </a:rPr>
              <a:t>如果将循环展开</a:t>
            </a:r>
            <a:r>
              <a:rPr lang="en-US" altLang="zh-CN" sz="2800" b="1" dirty="0">
                <a:latin typeface="+mn-ea"/>
              </a:rPr>
              <a:t>3</a:t>
            </a:r>
            <a:r>
              <a:rPr lang="zh-CN" altLang="en-US" sz="2800" b="1" dirty="0">
                <a:latin typeface="+mn-ea"/>
              </a:rPr>
              <a:t>次得到</a:t>
            </a:r>
            <a:r>
              <a:rPr lang="en-US" altLang="zh-CN" sz="2800" b="1" dirty="0">
                <a:latin typeface="+mn-ea"/>
              </a:rPr>
              <a:t>4</a:t>
            </a:r>
            <a:r>
              <a:rPr lang="zh-CN" altLang="en-US" sz="2800" b="1" dirty="0">
                <a:latin typeface="+mn-ea"/>
              </a:rPr>
              <a:t>个循环体</a:t>
            </a:r>
            <a:r>
              <a:rPr lang="en-US" altLang="zh-CN" sz="2800" b="1" dirty="0">
                <a:latin typeface="+mn-ea"/>
              </a:rPr>
              <a:t>(</a:t>
            </a:r>
            <a:r>
              <a:rPr lang="zh-CN" altLang="en-US" sz="2800" b="1" dirty="0">
                <a:latin typeface="+mn-ea"/>
              </a:rPr>
              <a:t>假设数组是</a:t>
            </a:r>
            <a:r>
              <a:rPr lang="en-US" altLang="zh-CN" sz="2800" b="1" dirty="0">
                <a:latin typeface="+mn-ea"/>
              </a:rPr>
              <a:t>4</a:t>
            </a:r>
            <a:r>
              <a:rPr lang="zh-CN" altLang="en-US" sz="2800" b="1" dirty="0">
                <a:latin typeface="+mn-ea"/>
              </a:rPr>
              <a:t>的倍数的元素</a:t>
            </a:r>
            <a:r>
              <a:rPr lang="en-US" altLang="zh-CN" sz="2800" b="1" dirty="0">
                <a:latin typeface="+mn-ea"/>
              </a:rPr>
              <a:t>)</a:t>
            </a:r>
          </a:p>
          <a:p>
            <a:pPr lvl="2" eaLnBrk="1" fontAlgn="auto" hangingPunct="1">
              <a:lnSpc>
                <a:spcPct val="80000"/>
              </a:lnSpc>
              <a:spcAft>
                <a:spcPts val="0"/>
              </a:spcAft>
              <a:buFont typeface="Wingdings" pitchFamily="2" charset="2"/>
              <a:buNone/>
              <a:defRPr/>
            </a:pPr>
            <a:endParaRPr lang="en-US" altLang="zh-CN" sz="1600" dirty="0">
              <a:latin typeface="Verdana" pitchFamily="34" charset="0"/>
              <a:ea typeface="华文中宋" pitchFamily="2" charset="-122"/>
            </a:endParaRP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Loop:	LD	F0,0(R1)</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ADDD	F4,F0,F2</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SD	0(R1),F4</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t>
            </a:r>
            <a:r>
              <a:rPr lang="en-US" altLang="zh-CN" sz="1900" dirty="0">
                <a:solidFill>
                  <a:srgbClr val="FF5050"/>
                </a:solidFill>
                <a:latin typeface="Verdana" pitchFamily="34" charset="0"/>
                <a:ea typeface="华文中宋" pitchFamily="2" charset="-122"/>
              </a:rPr>
              <a:t>LD	F6,-8(R1)</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ADDD	F8,F6,F2</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SD	-8(R1), F8</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LD	F10,-16(R1)</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ADDD	F12,F10,F2</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SD	-16(R1), F12</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a:t>
            </a:r>
            <a:r>
              <a:rPr lang="en-US" altLang="zh-CN" sz="1900" dirty="0">
                <a:solidFill>
                  <a:srgbClr val="FF5050"/>
                </a:solidFill>
                <a:latin typeface="Verdana" pitchFamily="34" charset="0"/>
                <a:ea typeface="华文中宋" pitchFamily="2" charset="-122"/>
              </a:rPr>
              <a:t>LD	F14,-24(R1)</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ADDD	F16,F14,F2</a:t>
            </a:r>
          </a:p>
          <a:p>
            <a:pPr lvl="1" eaLnBrk="1" fontAlgn="auto" hangingPunct="1">
              <a:lnSpc>
                <a:spcPct val="90000"/>
              </a:lnSpc>
              <a:spcAft>
                <a:spcPts val="0"/>
              </a:spcAft>
              <a:buFont typeface="Wingdings" pitchFamily="2" charset="2"/>
              <a:buNone/>
              <a:defRPr/>
            </a:pPr>
            <a:r>
              <a:rPr lang="en-US" altLang="zh-CN" sz="1900" dirty="0">
                <a:solidFill>
                  <a:srgbClr val="FF5050"/>
                </a:solidFill>
                <a:latin typeface="Verdana" pitchFamily="34" charset="0"/>
                <a:ea typeface="华文中宋" pitchFamily="2" charset="-122"/>
              </a:rPr>
              <a:t>			SD	-24(R1), F16</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SUBI    R1,R1,#-32</a:t>
            </a:r>
          </a:p>
          <a:p>
            <a:pPr lvl="1" eaLnBrk="1" fontAlgn="auto" hangingPunct="1">
              <a:lnSpc>
                <a:spcPct val="90000"/>
              </a:lnSpc>
              <a:spcAft>
                <a:spcPts val="0"/>
              </a:spcAft>
              <a:buFont typeface="Wingdings" pitchFamily="2" charset="2"/>
              <a:buNone/>
              <a:defRPr/>
            </a:pPr>
            <a:r>
              <a:rPr lang="en-US" altLang="zh-CN" sz="1900" dirty="0">
                <a:latin typeface="Verdana" pitchFamily="34" charset="0"/>
                <a:ea typeface="华文中宋" pitchFamily="2" charset="-122"/>
              </a:rPr>
              <a:t>			BNEZ	R1,Loop</a:t>
            </a:r>
            <a:endParaRPr lang="zh-CN" altLang="en-US" sz="1900" dirty="0">
              <a:latin typeface="Verdana" pitchFamily="34" charset="0"/>
              <a:ea typeface="华文中宋" pitchFamily="2" charset="-122"/>
            </a:endParaRPr>
          </a:p>
        </p:txBody>
      </p:sp>
      <p:sp>
        <p:nvSpPr>
          <p:cNvPr id="2" name="日期占位符 1">
            <a:extLst>
              <a:ext uri="{FF2B5EF4-FFF2-40B4-BE49-F238E27FC236}">
                <a16:creationId xmlns:a16="http://schemas.microsoft.com/office/drawing/2014/main" id="{A5CC388A-5A27-3E4D-FA33-6617095F2782}"/>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390B0C8C-A123-DEC6-CA58-748E5D3FAAB0}"/>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0EE3627-1635-B549-052B-1A4F43FF3A5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34</a:t>
            </a:fld>
            <a:endParaRPr lang="en-US" altLang="zh-CN"/>
          </a:p>
        </p:txBody>
      </p:sp>
    </p:spTree>
    <p:extLst>
      <p:ext uri="{BB962C8B-B14F-4D97-AF65-F5344CB8AC3E}">
        <p14:creationId xmlns:p14="http://schemas.microsoft.com/office/powerpoint/2010/main" val="2394349866"/>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68313" y="0"/>
            <a:ext cx="8229600" cy="1143000"/>
          </a:xfrm>
        </p:spPr>
        <p:txBody>
          <a:bodyPr/>
          <a:lstStyle/>
          <a:p>
            <a:pPr eaLnBrk="1" hangingPunct="1"/>
            <a:r>
              <a:rPr lang="zh-CN" altLang="en-US" sz="3600" b="1"/>
              <a:t>循环无调度执行</a:t>
            </a:r>
          </a:p>
        </p:txBody>
      </p:sp>
      <p:graphicFrame>
        <p:nvGraphicFramePr>
          <p:cNvPr id="337923" name="Group 3"/>
          <p:cNvGraphicFramePr>
            <a:graphicFrameLocks noGrp="1"/>
          </p:cNvGraphicFramePr>
          <p:nvPr>
            <p:ph idx="4294967295"/>
          </p:nvPr>
        </p:nvGraphicFramePr>
        <p:xfrm>
          <a:off x="468313" y="1052513"/>
          <a:ext cx="8207375" cy="5308605"/>
        </p:xfrm>
        <a:graphic>
          <a:graphicData uri="http://schemas.openxmlformats.org/drawingml/2006/table">
            <a:tbl>
              <a:tblPr/>
              <a:tblGrid>
                <a:gridCol w="2122487">
                  <a:extLst>
                    <a:ext uri="{9D8B030D-6E8A-4147-A177-3AD203B41FA5}">
                      <a16:colId xmlns:a16="http://schemas.microsoft.com/office/drawing/2014/main" val="20000"/>
                    </a:ext>
                  </a:extLst>
                </a:gridCol>
                <a:gridCol w="6084888">
                  <a:extLst>
                    <a:ext uri="{9D8B030D-6E8A-4147-A177-3AD203B41FA5}">
                      <a16:colId xmlns:a16="http://schemas.microsoft.com/office/drawing/2014/main" val="20001"/>
                    </a:ext>
                  </a:extLst>
                </a:gridCol>
              </a:tblGrid>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时钟</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无调度</a:t>
                      </a: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66FF99"/>
                    </a:solidFill>
                  </a:tcPr>
                </a:tc>
                <a:extLst>
                  <a:ext uri="{0D108BD9-81ED-4DB2-BD59-A6C34878D82A}">
                    <a16:rowId xmlns:a16="http://schemas.microsoft.com/office/drawing/2014/main" val="10000"/>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1</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LD		F0,0(R1)</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2</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3</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ADDD		F4,F0,F2</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4</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46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5</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6</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SD		0(R1),F4</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7</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SUBI		R1,R1,#8</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5775">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zh-CN" altLang="en-US" sz="2400" b="1" i="0" u="none" strike="noStrike" cap="none" normalizeH="0" baseline="0">
                          <a:ln>
                            <a:noFill/>
                          </a:ln>
                          <a:solidFill>
                            <a:schemeClr val="tx1"/>
                          </a:solidFill>
                          <a:effectLst/>
                          <a:latin typeface="Courier New" pitchFamily="49" charset="0"/>
                          <a:ea typeface="华文中宋" pitchFamily="2" charset="-122"/>
                        </a:rPr>
                        <a:t>8</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9</a:t>
                      </a:r>
                      <a:endParaRPr kumimoji="1" lang="zh-CN" altLang="en-US"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BNEZ		R1,LOOP</a:t>
                      </a:r>
                      <a:endParaRPr kumimoji="1" lang="zh-CN" altLang="en-US" sz="2400" b="1" i="0"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8418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400" b="1" i="0" u="none" strike="noStrike" cap="none" normalizeH="0" baseline="0">
                          <a:ln>
                            <a:noFill/>
                          </a:ln>
                          <a:solidFill>
                            <a:schemeClr val="tx1"/>
                          </a:solidFill>
                          <a:effectLst/>
                          <a:latin typeface="Courier New" pitchFamily="49" charset="0"/>
                          <a:ea typeface="华文中宋" pitchFamily="2" charset="-122"/>
                          <a:cs typeface="Times New Roman" pitchFamily="18" charset="0"/>
                        </a:rPr>
                        <a:t>10</a:t>
                      </a:r>
                    </a:p>
                  </a:txBody>
                  <a:tcPr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85000"/>
                        <a:buFontTx/>
                        <a:buNone/>
                        <a:tabLst/>
                      </a:pPr>
                      <a:r>
                        <a:rPr kumimoji="1" lang="en-US" altLang="zh-CN" sz="24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rPr>
                        <a:t>stall</a:t>
                      </a:r>
                      <a:endParaRPr kumimoji="1" lang="zh-CN" altLang="en-US" sz="2400" b="1" i="1" u="none" strike="noStrike" cap="none" normalizeH="0" baseline="0" dirty="0">
                        <a:ln>
                          <a:noFill/>
                        </a:ln>
                        <a:solidFill>
                          <a:schemeClr val="tx1"/>
                        </a:solidFill>
                        <a:effectLst/>
                        <a:latin typeface="Courier New" pitchFamily="49" charset="0"/>
                        <a:ea typeface="华文中宋" pitchFamily="2" charset="-122"/>
                        <a:cs typeface="Times New Roman" pitchFamily="18" charset="0"/>
                      </a:endParaRPr>
                    </a:p>
                  </a:txBody>
                  <a:tcPr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 name="日期占位符 1">
            <a:extLst>
              <a:ext uri="{FF2B5EF4-FFF2-40B4-BE49-F238E27FC236}">
                <a16:creationId xmlns:a16="http://schemas.microsoft.com/office/drawing/2014/main" id="{F17A3292-DCF3-2C50-6573-AF0B662B0DA9}"/>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78971D78-1C8A-41DD-DF6C-3D31B583348F}"/>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BE69CFB-5922-392E-F9F8-DCAD9E89F082}"/>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35</a:t>
            </a:fld>
            <a:endParaRPr lang="en-US" altLang="zh-CN"/>
          </a:p>
        </p:txBody>
      </p:sp>
    </p:spTree>
    <p:extLst>
      <p:ext uri="{BB962C8B-B14F-4D97-AF65-F5344CB8AC3E}">
        <p14:creationId xmlns:p14="http://schemas.microsoft.com/office/powerpoint/2010/main" val="2758537362"/>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457200" y="-26988"/>
            <a:ext cx="8229600" cy="1143001"/>
          </a:xfrm>
        </p:spPr>
        <p:txBody>
          <a:bodyPr/>
          <a:lstStyle/>
          <a:p>
            <a:pPr eaLnBrk="1" hangingPunct="1">
              <a:defRPr/>
            </a:pPr>
            <a:r>
              <a:rPr lang="zh-CN" altLang="en-US" sz="3600" b="1" dirty="0">
                <a:latin typeface="+mj-ea"/>
              </a:rPr>
              <a:t>执行时间分析</a:t>
            </a:r>
          </a:p>
        </p:txBody>
      </p:sp>
      <p:sp>
        <p:nvSpPr>
          <p:cNvPr id="32771" name="Rectangle 3"/>
          <p:cNvSpPr>
            <a:spLocks noGrp="1" noChangeArrowheads="1"/>
          </p:cNvSpPr>
          <p:nvPr>
            <p:ph type="body" sz="half" idx="4294967295"/>
          </p:nvPr>
        </p:nvSpPr>
        <p:spPr>
          <a:xfrm>
            <a:off x="468313" y="1052513"/>
            <a:ext cx="6480175" cy="5616575"/>
          </a:xfrm>
        </p:spPr>
        <p:txBody>
          <a:bodyPr/>
          <a:lstStyle/>
          <a:p>
            <a:pPr eaLnBrk="1" hangingPunct="1">
              <a:lnSpc>
                <a:spcPct val="80000"/>
              </a:lnSpc>
              <a:buFont typeface="Wingdings" pitchFamily="2" charset="2"/>
              <a:buNone/>
            </a:pPr>
            <a:r>
              <a:rPr lang="en-US" altLang="zh-CN" sz="2400" dirty="0">
                <a:latin typeface="Verdana" pitchFamily="34" charset="0"/>
                <a:ea typeface="华文中宋" pitchFamily="2" charset="-122"/>
              </a:rPr>
              <a:t>Loop:	        LD		F0,0(R1)</a:t>
            </a:r>
          </a:p>
          <a:p>
            <a:pPr eaLnBrk="1" hangingPunct="1">
              <a:lnSpc>
                <a:spcPct val="80000"/>
              </a:lnSpc>
              <a:buFont typeface="Wingdings" pitchFamily="2" charset="2"/>
              <a:buNone/>
            </a:pPr>
            <a:r>
              <a:rPr lang="en-US" altLang="zh-CN" sz="2400" dirty="0">
                <a:latin typeface="Verdana" pitchFamily="34" charset="0"/>
                <a:ea typeface="华文中宋" pitchFamily="2" charset="-122"/>
              </a:rPr>
              <a:t>			ADDD 	F4,F0,F2</a:t>
            </a:r>
          </a:p>
          <a:p>
            <a:pPr eaLnBrk="1" hangingPunct="1">
              <a:lnSpc>
                <a:spcPct val="80000"/>
              </a:lnSpc>
              <a:buFont typeface="Wingdings" pitchFamily="2" charset="2"/>
              <a:buNone/>
            </a:pPr>
            <a:r>
              <a:rPr lang="en-US" altLang="zh-CN" sz="2400" dirty="0">
                <a:latin typeface="Verdana" pitchFamily="34" charset="0"/>
                <a:ea typeface="华文中宋" pitchFamily="2" charset="-122"/>
              </a:rPr>
              <a:t>			SD		0(R1),F4</a:t>
            </a:r>
          </a:p>
          <a:p>
            <a:pPr eaLnBrk="1" hangingPunct="1">
              <a:lnSpc>
                <a:spcPct val="80000"/>
              </a:lnSpc>
              <a:buFont typeface="Wingdings" pitchFamily="2" charset="2"/>
              <a:buNone/>
            </a:pPr>
            <a:r>
              <a:rPr lang="en-US" altLang="zh-CN" sz="2400" dirty="0">
                <a:latin typeface="Verdana" pitchFamily="34" charset="0"/>
                <a:ea typeface="华文中宋" pitchFamily="2" charset="-122"/>
              </a:rPr>
              <a:t>			</a:t>
            </a:r>
            <a:r>
              <a:rPr lang="en-US" altLang="zh-CN" sz="2400" dirty="0">
                <a:solidFill>
                  <a:srgbClr val="FF5050"/>
                </a:solidFill>
                <a:latin typeface="Verdana" pitchFamily="34" charset="0"/>
                <a:ea typeface="华文中宋" pitchFamily="2" charset="-122"/>
              </a:rPr>
              <a:t>LD		F6,-8(R1)</a:t>
            </a:r>
          </a:p>
          <a:p>
            <a:pPr eaLnBrk="1" hangingPunct="1">
              <a:lnSpc>
                <a:spcPct val="80000"/>
              </a:lnSpc>
              <a:buFont typeface="Wingdings" pitchFamily="2" charset="2"/>
              <a:buNone/>
            </a:pPr>
            <a:r>
              <a:rPr lang="en-US" altLang="zh-CN" sz="2400" dirty="0">
                <a:solidFill>
                  <a:srgbClr val="FF5050"/>
                </a:solidFill>
                <a:latin typeface="Verdana" pitchFamily="34" charset="0"/>
                <a:ea typeface="华文中宋" pitchFamily="2" charset="-122"/>
              </a:rPr>
              <a:t>			ADDD 	F8,F6,F2</a:t>
            </a:r>
          </a:p>
          <a:p>
            <a:pPr eaLnBrk="1" hangingPunct="1">
              <a:lnSpc>
                <a:spcPct val="80000"/>
              </a:lnSpc>
              <a:buFont typeface="Wingdings" pitchFamily="2" charset="2"/>
              <a:buNone/>
            </a:pPr>
            <a:r>
              <a:rPr lang="en-US" altLang="zh-CN" sz="2400" dirty="0">
                <a:solidFill>
                  <a:srgbClr val="FF5050"/>
                </a:solidFill>
                <a:latin typeface="Verdana" pitchFamily="34" charset="0"/>
                <a:ea typeface="华文中宋" pitchFamily="2" charset="-122"/>
              </a:rPr>
              <a:t>			SD		-8(R1), F8</a:t>
            </a:r>
          </a:p>
          <a:p>
            <a:pPr eaLnBrk="1" hangingPunct="1">
              <a:lnSpc>
                <a:spcPct val="80000"/>
              </a:lnSpc>
              <a:buFont typeface="Wingdings" pitchFamily="2" charset="2"/>
              <a:buNone/>
            </a:pPr>
            <a:r>
              <a:rPr lang="en-US" altLang="zh-CN" sz="2400" dirty="0">
                <a:latin typeface="Verdana" pitchFamily="34" charset="0"/>
                <a:ea typeface="华文中宋" pitchFamily="2" charset="-122"/>
              </a:rPr>
              <a:t>			LD		F10,-16(R1)</a:t>
            </a:r>
          </a:p>
          <a:p>
            <a:pPr eaLnBrk="1" hangingPunct="1">
              <a:lnSpc>
                <a:spcPct val="80000"/>
              </a:lnSpc>
              <a:buFont typeface="Wingdings" pitchFamily="2" charset="2"/>
              <a:buNone/>
            </a:pPr>
            <a:r>
              <a:rPr lang="en-US" altLang="zh-CN" sz="2400" dirty="0">
                <a:latin typeface="Verdana" pitchFamily="34" charset="0"/>
                <a:ea typeface="华文中宋" pitchFamily="2" charset="-122"/>
              </a:rPr>
              <a:t>			ADDD 	F12,F10,F2</a:t>
            </a:r>
          </a:p>
          <a:p>
            <a:pPr eaLnBrk="1" hangingPunct="1">
              <a:lnSpc>
                <a:spcPct val="80000"/>
              </a:lnSpc>
              <a:buFont typeface="Wingdings" pitchFamily="2" charset="2"/>
              <a:buNone/>
            </a:pPr>
            <a:r>
              <a:rPr lang="en-US" altLang="zh-CN" sz="2400" dirty="0">
                <a:latin typeface="Verdana" pitchFamily="34" charset="0"/>
                <a:ea typeface="华文中宋" pitchFamily="2" charset="-122"/>
              </a:rPr>
              <a:t>			SD		-16(R1), F12</a:t>
            </a:r>
          </a:p>
          <a:p>
            <a:pPr eaLnBrk="1" hangingPunct="1">
              <a:lnSpc>
                <a:spcPct val="80000"/>
              </a:lnSpc>
              <a:buFont typeface="Wingdings" pitchFamily="2" charset="2"/>
              <a:buNone/>
            </a:pPr>
            <a:r>
              <a:rPr lang="en-US" altLang="zh-CN" sz="2400" dirty="0">
                <a:latin typeface="Verdana" pitchFamily="34" charset="0"/>
                <a:ea typeface="华文中宋" pitchFamily="2" charset="-122"/>
              </a:rPr>
              <a:t>			</a:t>
            </a:r>
            <a:r>
              <a:rPr lang="en-US" altLang="zh-CN" sz="2400" dirty="0">
                <a:solidFill>
                  <a:srgbClr val="FF5050"/>
                </a:solidFill>
                <a:latin typeface="Verdana" pitchFamily="34" charset="0"/>
                <a:ea typeface="华文中宋" pitchFamily="2" charset="-122"/>
              </a:rPr>
              <a:t>LD		F14,-24(R1)</a:t>
            </a:r>
          </a:p>
          <a:p>
            <a:pPr eaLnBrk="1" hangingPunct="1">
              <a:lnSpc>
                <a:spcPct val="80000"/>
              </a:lnSpc>
              <a:buFont typeface="Wingdings" pitchFamily="2" charset="2"/>
              <a:buNone/>
            </a:pPr>
            <a:r>
              <a:rPr lang="en-US" altLang="zh-CN" sz="2400" dirty="0">
                <a:solidFill>
                  <a:srgbClr val="FF5050"/>
                </a:solidFill>
                <a:latin typeface="Verdana" pitchFamily="34" charset="0"/>
                <a:ea typeface="华文中宋" pitchFamily="2" charset="-122"/>
              </a:rPr>
              <a:t>			ADDD 	F16,F14,F2</a:t>
            </a:r>
          </a:p>
          <a:p>
            <a:pPr eaLnBrk="1" hangingPunct="1">
              <a:lnSpc>
                <a:spcPct val="80000"/>
              </a:lnSpc>
              <a:buFont typeface="Wingdings" pitchFamily="2" charset="2"/>
              <a:buNone/>
            </a:pPr>
            <a:r>
              <a:rPr lang="en-US" altLang="zh-CN" sz="2400" dirty="0">
                <a:solidFill>
                  <a:srgbClr val="FF5050"/>
                </a:solidFill>
                <a:latin typeface="Verdana" pitchFamily="34" charset="0"/>
                <a:ea typeface="华文中宋" pitchFamily="2" charset="-122"/>
              </a:rPr>
              <a:t>			SD		-24(R1), F16</a:t>
            </a:r>
          </a:p>
          <a:p>
            <a:pPr eaLnBrk="1" hangingPunct="1">
              <a:lnSpc>
                <a:spcPct val="80000"/>
              </a:lnSpc>
              <a:buFont typeface="Wingdings" pitchFamily="2" charset="2"/>
              <a:buNone/>
            </a:pPr>
            <a:r>
              <a:rPr lang="en-US" altLang="zh-CN" sz="2400" dirty="0">
                <a:latin typeface="Verdana" pitchFamily="34" charset="0"/>
                <a:ea typeface="华文中宋" pitchFamily="2" charset="-122"/>
              </a:rPr>
              <a:t>			SUBI	        R1,R1,#-32</a:t>
            </a:r>
          </a:p>
          <a:p>
            <a:pPr eaLnBrk="1" hangingPunct="1">
              <a:lnSpc>
                <a:spcPct val="80000"/>
              </a:lnSpc>
              <a:buFont typeface="Wingdings" pitchFamily="2" charset="2"/>
              <a:buNone/>
            </a:pPr>
            <a:r>
              <a:rPr lang="en-US" altLang="zh-CN" sz="2400" dirty="0">
                <a:latin typeface="Verdana" pitchFamily="34" charset="0"/>
                <a:ea typeface="华文中宋" pitchFamily="2" charset="-122"/>
              </a:rPr>
              <a:t>			BNEZ	        R1,Loop</a:t>
            </a:r>
            <a:endParaRPr lang="zh-CN" altLang="en-US" sz="2400" dirty="0">
              <a:latin typeface="Verdana" pitchFamily="34" charset="0"/>
              <a:ea typeface="华文中宋" pitchFamily="2" charset="-122"/>
            </a:endParaRPr>
          </a:p>
          <a:p>
            <a:pPr eaLnBrk="1" hangingPunct="1">
              <a:lnSpc>
                <a:spcPct val="80000"/>
              </a:lnSpc>
              <a:buFont typeface="Wingdings" pitchFamily="2" charset="2"/>
              <a:buNone/>
            </a:pPr>
            <a:r>
              <a:rPr lang="en-US" altLang="zh-CN" sz="2400" dirty="0">
                <a:latin typeface="Verdana" pitchFamily="34" charset="0"/>
                <a:ea typeface="华文中宋" pitchFamily="2" charset="-122"/>
              </a:rPr>
              <a:t>			stall		</a:t>
            </a:r>
            <a:r>
              <a:rPr lang="en-US" altLang="zh-CN" sz="1600" dirty="0">
                <a:latin typeface="Verdana" pitchFamily="34" charset="0"/>
                <a:ea typeface="华文中宋" pitchFamily="2" charset="-122"/>
              </a:rPr>
              <a:t>	</a:t>
            </a:r>
          </a:p>
        </p:txBody>
      </p:sp>
      <p:sp>
        <p:nvSpPr>
          <p:cNvPr id="368644" name="Rectangle 4"/>
          <p:cNvSpPr>
            <a:spLocks noGrp="1" noChangeArrowheads="1"/>
          </p:cNvSpPr>
          <p:nvPr>
            <p:ph type="body" sz="half" idx="4294967295"/>
          </p:nvPr>
        </p:nvSpPr>
        <p:spPr>
          <a:xfrm>
            <a:off x="6732588" y="1052513"/>
            <a:ext cx="1943100" cy="5805487"/>
          </a:xfrm>
        </p:spPr>
        <p:txBody>
          <a:bodyPr rtlCol="0">
            <a:normAutofit lnSpcReduction="10000"/>
          </a:bodyPr>
          <a:lstStyle/>
          <a:p>
            <a:pPr eaLnBrk="1" fontAlgn="auto" hangingPunct="1">
              <a:lnSpc>
                <a:spcPct val="90000"/>
              </a:lnSpc>
              <a:spcAft>
                <a:spcPts val="0"/>
              </a:spcAft>
              <a:buFont typeface="Wingdings" pitchFamily="2" charset="2"/>
              <a:buNone/>
              <a:defRPr/>
            </a:pPr>
            <a:r>
              <a:rPr lang="en-US" altLang="zh-CN" sz="2400" dirty="0">
                <a:latin typeface="Verdana" pitchFamily="34" charset="0"/>
                <a:ea typeface="华文中宋" pitchFamily="2" charset="-122"/>
              </a:rPr>
              <a:t>1</a:t>
            </a:r>
          </a:p>
          <a:p>
            <a:pPr eaLnBrk="1" fontAlgn="auto" hangingPunct="1">
              <a:lnSpc>
                <a:spcPct val="90000"/>
              </a:lnSpc>
              <a:spcAft>
                <a:spcPts val="0"/>
              </a:spcAft>
              <a:buFont typeface="Wingdings" pitchFamily="2" charset="2"/>
              <a:buNone/>
              <a:defRPr/>
            </a:pPr>
            <a:r>
              <a:rPr lang="en-US" altLang="zh-CN" sz="2400" dirty="0">
                <a:latin typeface="Verdana" pitchFamily="34" charset="0"/>
                <a:ea typeface="华文中宋" pitchFamily="2" charset="-122"/>
              </a:rPr>
              <a:t>2,3</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latin typeface="Verdana" pitchFamily="34" charset="0"/>
                <a:ea typeface="华文中宋" pitchFamily="2" charset="-122"/>
              </a:rPr>
              <a:t>4,5,6</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a:solidFill>
                  <a:srgbClr val="FF5050"/>
                </a:solidFill>
                <a:latin typeface="Verdana" pitchFamily="34" charset="0"/>
                <a:ea typeface="华文中宋" pitchFamily="2" charset="-122"/>
              </a:rPr>
              <a:t>7</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solidFill>
                  <a:srgbClr val="FF5050"/>
                </a:solidFill>
                <a:latin typeface="Verdana" pitchFamily="34" charset="0"/>
                <a:ea typeface="华文中宋" pitchFamily="2" charset="-122"/>
              </a:rPr>
              <a:t>8,9</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solidFill>
                  <a:srgbClr val="FF5050"/>
                </a:solidFill>
                <a:latin typeface="Verdana" pitchFamily="34" charset="0"/>
                <a:ea typeface="华文中宋" pitchFamily="2" charset="-122"/>
              </a:rPr>
              <a:t>10,11,12</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latin typeface="Verdana" pitchFamily="34" charset="0"/>
                <a:ea typeface="华文中宋" pitchFamily="2" charset="-122"/>
              </a:rPr>
              <a:t>13</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latin typeface="Verdana" pitchFamily="34" charset="0"/>
                <a:ea typeface="华文中宋" pitchFamily="2" charset="-122"/>
              </a:rPr>
              <a:t>14,15</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a:latin typeface="Verdana" pitchFamily="34" charset="0"/>
                <a:ea typeface="华文中宋" pitchFamily="2" charset="-122"/>
              </a:rPr>
              <a:t>16,17,18</a:t>
            </a:r>
            <a:endParaRPr lang="en-US" altLang="zh-CN"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solidFill>
                  <a:srgbClr val="FF5050"/>
                </a:solidFill>
                <a:latin typeface="Verdana" pitchFamily="34" charset="0"/>
                <a:ea typeface="华文中宋" pitchFamily="2" charset="-122"/>
              </a:rPr>
              <a:t>19</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solidFill>
                  <a:srgbClr val="FF5050"/>
                </a:solidFill>
                <a:latin typeface="Verdana" pitchFamily="34" charset="0"/>
                <a:ea typeface="华文中宋" pitchFamily="2" charset="-122"/>
              </a:rPr>
              <a:t>20,21</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solidFill>
                  <a:srgbClr val="FF5050"/>
                </a:solidFill>
                <a:latin typeface="Verdana" pitchFamily="34" charset="0"/>
                <a:ea typeface="华文中宋" pitchFamily="2" charset="-122"/>
              </a:rPr>
              <a:t>22,23,24</a:t>
            </a:r>
          </a:p>
          <a:p>
            <a:pPr eaLnBrk="1" fontAlgn="auto" hangingPunct="1">
              <a:lnSpc>
                <a:spcPct val="90000"/>
              </a:lnSpc>
              <a:spcAft>
                <a:spcPts val="0"/>
              </a:spcAft>
              <a:buFont typeface="Wingdings" pitchFamily="2" charset="2"/>
              <a:buNone/>
              <a:defRPr/>
            </a:pPr>
            <a:r>
              <a:rPr lang="en-US" altLang="zh-CN" sz="2400" dirty="0">
                <a:latin typeface="Verdana" pitchFamily="34" charset="0"/>
                <a:ea typeface="华文中宋" pitchFamily="2" charset="-122"/>
              </a:rPr>
              <a:t>25</a:t>
            </a:r>
          </a:p>
          <a:p>
            <a:pPr eaLnBrk="1" fontAlgn="auto" hangingPunct="1">
              <a:lnSpc>
                <a:spcPct val="90000"/>
              </a:lnSpc>
              <a:spcAft>
                <a:spcPts val="0"/>
              </a:spcAft>
              <a:buFont typeface="Wingdings" pitchFamily="2" charset="2"/>
              <a:buNone/>
              <a:defRPr/>
            </a:pPr>
            <a:r>
              <a:rPr lang="en-US" altLang="zh-CN" sz="2400">
                <a:latin typeface="Verdana" pitchFamily="34" charset="0"/>
                <a:ea typeface="华文中宋" pitchFamily="2" charset="-122"/>
              </a:rPr>
              <a:t>26,27</a:t>
            </a:r>
            <a:endParaRPr lang="zh-CN" altLang="en-US" sz="2400" dirty="0">
              <a:latin typeface="Verdana" pitchFamily="34" charset="0"/>
              <a:ea typeface="华文中宋" pitchFamily="2" charset="-122"/>
            </a:endParaRPr>
          </a:p>
          <a:p>
            <a:pPr eaLnBrk="1" fontAlgn="auto" hangingPunct="1">
              <a:lnSpc>
                <a:spcPct val="90000"/>
              </a:lnSpc>
              <a:spcAft>
                <a:spcPts val="0"/>
              </a:spcAft>
              <a:buFont typeface="Wingdings" pitchFamily="2" charset="2"/>
              <a:buNone/>
              <a:defRPr/>
            </a:pPr>
            <a:r>
              <a:rPr lang="en-US" altLang="zh-CN" sz="2400" dirty="0">
                <a:latin typeface="Verdana" pitchFamily="34" charset="0"/>
                <a:ea typeface="华文中宋" pitchFamily="2" charset="-122"/>
              </a:rPr>
              <a:t>28</a:t>
            </a:r>
            <a:endParaRPr lang="zh-CN" altLang="en-US" sz="2400" dirty="0">
              <a:latin typeface="Verdana" pitchFamily="34" charset="0"/>
              <a:ea typeface="华文中宋" pitchFamily="2" charset="-122"/>
            </a:endParaRPr>
          </a:p>
          <a:p>
            <a:pPr eaLnBrk="1" fontAlgn="auto" hangingPunct="1">
              <a:lnSpc>
                <a:spcPct val="80000"/>
              </a:lnSpc>
              <a:spcAft>
                <a:spcPts val="0"/>
              </a:spcAft>
              <a:buFont typeface="Arial" pitchFamily="34" charset="0"/>
              <a:buChar char="•"/>
              <a:defRPr/>
            </a:pPr>
            <a:endParaRPr lang="zh-CN" altLang="en-US" sz="2400" dirty="0">
              <a:latin typeface="Verdana" pitchFamily="34" charset="0"/>
              <a:ea typeface="华文中宋" pitchFamily="2" charset="-122"/>
            </a:endParaRPr>
          </a:p>
        </p:txBody>
      </p:sp>
      <p:sp>
        <p:nvSpPr>
          <p:cNvPr id="2" name="日期占位符 1">
            <a:extLst>
              <a:ext uri="{FF2B5EF4-FFF2-40B4-BE49-F238E27FC236}">
                <a16:creationId xmlns:a16="http://schemas.microsoft.com/office/drawing/2014/main" id="{01B369F5-2B3A-B5A2-105D-03A7BBAA1967}"/>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E772514F-51E8-1909-6ADA-8342E2447D42}"/>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27249D7-CD5D-2B21-06A3-A34B5E55733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36</a:t>
            </a:fld>
            <a:endParaRPr lang="en-US" altLang="zh-CN"/>
          </a:p>
        </p:txBody>
      </p:sp>
    </p:spTree>
    <p:extLst>
      <p:ext uri="{BB962C8B-B14F-4D97-AF65-F5344CB8AC3E}">
        <p14:creationId xmlns:p14="http://schemas.microsoft.com/office/powerpoint/2010/main" val="2882386375"/>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ChangeArrowheads="1"/>
          </p:cNvSpPr>
          <p:nvPr>
            <p:ph type="title" idx="4294967295"/>
          </p:nvPr>
        </p:nvSpPr>
        <p:spPr/>
        <p:txBody>
          <a:bodyPr/>
          <a:lstStyle/>
          <a:p>
            <a:pPr eaLnBrk="1" hangingPunct="1">
              <a:defRPr/>
            </a:pPr>
            <a:r>
              <a:rPr lang="zh-CN" altLang="en-US" sz="3600" b="1" dirty="0">
                <a:latin typeface="+mj-ea"/>
              </a:rPr>
              <a:t>结果分析</a:t>
            </a:r>
          </a:p>
        </p:txBody>
      </p:sp>
      <p:sp>
        <p:nvSpPr>
          <p:cNvPr id="369669" name="Rectangle 5"/>
          <p:cNvSpPr>
            <a:spLocks noGrp="1" noChangeArrowheads="1"/>
          </p:cNvSpPr>
          <p:nvPr>
            <p:ph type="body" idx="4294967295"/>
          </p:nvPr>
        </p:nvSpPr>
        <p:spPr/>
        <p:txBody>
          <a:bodyPr rtlCol="0">
            <a:normAutofit/>
          </a:bodyPr>
          <a:lstStyle/>
          <a:p>
            <a:pPr eaLnBrk="1" fontAlgn="auto" hangingPunct="1">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循环使用</a:t>
            </a:r>
            <a:r>
              <a:rPr lang="en-US" altLang="zh-CN" sz="2800" b="1" dirty="0">
                <a:latin typeface="Times New Roman" panose="02020603050405020304" pitchFamily="18" charset="0"/>
                <a:cs typeface="Times New Roman" panose="02020603050405020304" pitchFamily="18" charset="0"/>
              </a:rPr>
              <a:t>28</a:t>
            </a:r>
            <a:r>
              <a:rPr lang="zh-CN" altLang="en-US" sz="2800" b="1" dirty="0">
                <a:latin typeface="Times New Roman" panose="02020603050405020304" pitchFamily="18" charset="0"/>
                <a:cs typeface="Times New Roman" panose="02020603050405020304" pitchFamily="18" charset="0"/>
              </a:rPr>
              <a:t>个时钟节拍</a:t>
            </a:r>
          </a:p>
          <a:p>
            <a:pPr lvl="1" eaLnBrk="1" fontAlgn="auto" hangingPunct="1">
              <a:spcAft>
                <a:spcPts val="0"/>
              </a:spcAft>
              <a:buFont typeface="Arial" pitchFamily="34" charset="0"/>
              <a:buChar char="–"/>
              <a:defRPr/>
            </a:pPr>
            <a:r>
              <a:rPr lang="en-US" altLang="zh-CN" sz="2400" b="1" dirty="0">
                <a:latin typeface="Times New Roman" panose="02020603050405020304" pitchFamily="18" charset="0"/>
                <a:cs typeface="Times New Roman" panose="02020603050405020304" pitchFamily="18" charset="0"/>
              </a:rPr>
              <a:t>14</a:t>
            </a:r>
            <a:r>
              <a:rPr lang="zh-CN" altLang="en-US" sz="2400" b="1" dirty="0">
                <a:latin typeface="Times New Roman" panose="02020603050405020304" pitchFamily="18" charset="0"/>
                <a:cs typeface="Times New Roman" panose="02020603050405020304" pitchFamily="18" charset="0"/>
              </a:rPr>
              <a:t>个空转节拍</a:t>
            </a:r>
          </a:p>
          <a:p>
            <a:pPr lvl="2" eaLnBrk="1" fontAlgn="auto" hangingPunct="1">
              <a:spcAft>
                <a:spcPts val="0"/>
              </a:spcAft>
              <a:buFont typeface="Arial" pitchFamily="34" charset="0"/>
              <a:buChar char="•"/>
              <a:defRPr/>
            </a:pPr>
            <a:r>
              <a:rPr lang="zh-CN" altLang="en-US" b="1" dirty="0">
                <a:latin typeface="Times New Roman" panose="02020603050405020304" pitchFamily="18" charset="0"/>
                <a:cs typeface="Times New Roman" panose="02020603050405020304" pitchFamily="18" charset="0"/>
              </a:rPr>
              <a:t>每个</a:t>
            </a:r>
            <a:r>
              <a:rPr lang="en-US" altLang="zh-CN" b="1" dirty="0">
                <a:latin typeface="Times New Roman" panose="02020603050405020304" pitchFamily="18" charset="0"/>
                <a:cs typeface="Times New Roman" panose="02020603050405020304" pitchFamily="18" charset="0"/>
              </a:rPr>
              <a:t>LD</a:t>
            </a:r>
            <a:r>
              <a:rPr lang="zh-CN" altLang="en-US" b="1" dirty="0">
                <a:latin typeface="Times New Roman" panose="02020603050405020304" pitchFamily="18" charset="0"/>
                <a:cs typeface="Times New Roman" panose="02020603050405020304" pitchFamily="18" charset="0"/>
              </a:rPr>
              <a:t>有</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个空转个</a:t>
            </a:r>
            <a:r>
              <a:rPr lang="zh-CN" b="1" dirty="0">
                <a:latin typeface="Times New Roman" panose="02020603050405020304" pitchFamily="18" charset="0"/>
                <a:cs typeface="Times New Roman" panose="02020603050405020304" pitchFamily="18" charset="0"/>
              </a:rPr>
              <a:t>节拍</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共</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拍</a:t>
            </a:r>
          </a:p>
          <a:p>
            <a:pPr lvl="2" eaLnBrk="1" fontAlgn="auto" hangingPunct="1">
              <a:spcAft>
                <a:spcPts val="0"/>
              </a:spcAft>
              <a:buFont typeface="Arial" pitchFamily="34" charset="0"/>
              <a:buChar char="•"/>
              <a:defRPr/>
            </a:pPr>
            <a:r>
              <a:rPr lang="zh-CN" altLang="en-US" b="1" dirty="0">
                <a:latin typeface="Times New Roman" panose="02020603050405020304" pitchFamily="18" charset="0"/>
                <a:cs typeface="Times New Roman" panose="02020603050405020304" pitchFamily="18" charset="0"/>
              </a:rPr>
              <a:t>每个</a:t>
            </a:r>
            <a:r>
              <a:rPr lang="en-US" altLang="zh-CN" b="1" dirty="0">
                <a:latin typeface="Times New Roman" panose="02020603050405020304" pitchFamily="18" charset="0"/>
                <a:cs typeface="Times New Roman" panose="02020603050405020304" pitchFamily="18" charset="0"/>
              </a:rPr>
              <a:t>ADDD</a:t>
            </a:r>
            <a:r>
              <a:rPr lang="zh-CN" altLang="en-US" b="1" dirty="0">
                <a:latin typeface="Times New Roman" panose="02020603050405020304" pitchFamily="18" charset="0"/>
                <a:cs typeface="Times New Roman" panose="02020603050405020304" pitchFamily="18" charset="0"/>
              </a:rPr>
              <a:t>有</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个空转节拍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共</a:t>
            </a:r>
            <a:r>
              <a:rPr lang="en-US" altLang="zh-CN" b="1" dirty="0">
                <a:latin typeface="Times New Roman" panose="02020603050405020304" pitchFamily="18" charset="0"/>
                <a:cs typeface="Times New Roman" panose="02020603050405020304" pitchFamily="18" charset="0"/>
              </a:rPr>
              <a:t>8</a:t>
            </a:r>
            <a:r>
              <a:rPr lang="zh-CN" altLang="en-US" b="1" dirty="0">
                <a:latin typeface="Times New Roman" panose="02020603050405020304" pitchFamily="18" charset="0"/>
                <a:cs typeface="Times New Roman" panose="02020603050405020304" pitchFamily="18" charset="0"/>
              </a:rPr>
              <a:t>拍</a:t>
            </a:r>
          </a:p>
          <a:p>
            <a:pPr lvl="2" eaLnBrk="1" fontAlgn="auto" hangingPunct="1">
              <a:spcAft>
                <a:spcPts val="0"/>
              </a:spcAft>
              <a:buFont typeface="Arial" pitchFamily="34" charset="0"/>
              <a:buChar char="•"/>
              <a:defRPr/>
            </a:pPr>
            <a:r>
              <a:rPr lang="en-US" altLang="zh-CN" b="1" dirty="0">
                <a:latin typeface="Times New Roman" panose="02020603050405020304" pitchFamily="18" charset="0"/>
                <a:cs typeface="Times New Roman" panose="02020603050405020304" pitchFamily="18" charset="0"/>
              </a:rPr>
              <a:t>SUBI</a:t>
            </a:r>
            <a:r>
              <a:rPr lang="zh-CN" altLang="en-US" b="1" dirty="0">
                <a:latin typeface="Times New Roman" panose="02020603050405020304" pitchFamily="18" charset="0"/>
                <a:cs typeface="Times New Roman" panose="02020603050405020304" pitchFamily="18" charset="0"/>
              </a:rPr>
              <a:t>有</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个空转节拍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共</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拍</a:t>
            </a:r>
          </a:p>
          <a:p>
            <a:pPr lvl="2" eaLnBrk="1" fontAlgn="auto" hangingPunct="1">
              <a:spcAft>
                <a:spcPts val="0"/>
              </a:spcAft>
              <a:buFont typeface="Arial" pitchFamily="34" charset="0"/>
              <a:buChar char="•"/>
              <a:defRPr/>
            </a:pPr>
            <a:r>
              <a:rPr lang="en-US" altLang="zh-CN" b="1" dirty="0">
                <a:latin typeface="Times New Roman" panose="02020603050405020304" pitchFamily="18" charset="0"/>
                <a:cs typeface="Times New Roman" panose="02020603050405020304" pitchFamily="18" charset="0"/>
              </a:rPr>
              <a:t>BRANCH</a:t>
            </a:r>
            <a:r>
              <a:rPr lang="zh-CN" altLang="en-US" b="1" dirty="0">
                <a:latin typeface="Times New Roman" panose="02020603050405020304" pitchFamily="18" charset="0"/>
                <a:cs typeface="Times New Roman" panose="02020603050405020304" pitchFamily="18" charset="0"/>
              </a:rPr>
              <a:t>有</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个空转节</a:t>
            </a:r>
            <a:r>
              <a:rPr lang="zh-CN" b="1" dirty="0">
                <a:latin typeface="Times New Roman" panose="02020603050405020304" pitchFamily="18" charset="0"/>
                <a:cs typeface="Times New Roman" panose="02020603050405020304" pitchFamily="18" charset="0"/>
              </a:rPr>
              <a:t>拍</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共</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拍</a:t>
            </a:r>
          </a:p>
          <a:p>
            <a:pPr lvl="1" eaLnBrk="1" fontAlgn="auto" hangingPunct="1">
              <a:spcAft>
                <a:spcPts val="0"/>
              </a:spcAft>
              <a:buFont typeface="Arial" pitchFamily="34" charset="0"/>
              <a:buChar char="–"/>
              <a:defRPr/>
            </a:pPr>
            <a:r>
              <a:rPr lang="zh-CN" altLang="en-US" sz="2400" b="1" dirty="0">
                <a:latin typeface="Times New Roman" panose="02020603050405020304" pitchFamily="18" charset="0"/>
                <a:cs typeface="Times New Roman" panose="02020603050405020304" pitchFamily="18" charset="0"/>
              </a:rPr>
              <a:t>有</a:t>
            </a:r>
            <a:r>
              <a:rPr lang="en-US" altLang="zh-CN" sz="2400" b="1" dirty="0">
                <a:latin typeface="Times New Roman" panose="02020603050405020304" pitchFamily="18" charset="0"/>
                <a:cs typeface="Times New Roman" panose="02020603050405020304" pitchFamily="18" charset="0"/>
              </a:rPr>
              <a:t>14</a:t>
            </a:r>
            <a:r>
              <a:rPr lang="zh-CN" altLang="en-US" sz="2400" b="1" dirty="0">
                <a:latin typeface="Times New Roman" panose="02020603050405020304" pitchFamily="18" charset="0"/>
                <a:cs typeface="Times New Roman" panose="02020603050405020304" pitchFamily="18" charset="0"/>
              </a:rPr>
              <a:t>个指令流出节拍</a:t>
            </a:r>
          </a:p>
          <a:p>
            <a:pPr eaLnBrk="1" fontAlgn="auto" hangingPunct="1">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平均每</a:t>
            </a:r>
            <a:r>
              <a:rPr lang="zh-CN" altLang="en-US" sz="2800" b="1">
                <a:latin typeface="Times New Roman" panose="02020603050405020304" pitchFamily="18" charset="0"/>
                <a:cs typeface="Times New Roman" panose="02020603050405020304" pitchFamily="18" charset="0"/>
              </a:rPr>
              <a:t>遍循环</a:t>
            </a:r>
            <a:r>
              <a:rPr lang="en-US" altLang="zh-CN" sz="2800" b="1">
                <a:latin typeface="Times New Roman" panose="02020603050405020304" pitchFamily="18" charset="0"/>
                <a:cs typeface="Times New Roman" panose="02020603050405020304" pitchFamily="18" charset="0"/>
              </a:rPr>
              <a:t>7</a:t>
            </a:r>
            <a:r>
              <a:rPr lang="zh-CN" altLang="en-US" sz="2800" b="1">
                <a:latin typeface="Times New Roman" panose="02020603050405020304" pitchFamily="18" charset="0"/>
                <a:cs typeface="Times New Roman" panose="02020603050405020304" pitchFamily="18" charset="0"/>
              </a:rPr>
              <a:t>个</a:t>
            </a:r>
            <a:r>
              <a:rPr lang="zh-CN" altLang="en-US" sz="2800" b="1" dirty="0">
                <a:latin typeface="Times New Roman" panose="02020603050405020304" pitchFamily="18" charset="0"/>
                <a:cs typeface="Times New Roman" panose="02020603050405020304" pitchFamily="18" charset="0"/>
              </a:rPr>
              <a:t>时钟节拍</a:t>
            </a:r>
          </a:p>
          <a:p>
            <a:pPr eaLnBrk="1" fontAlgn="auto" hangingPunct="1">
              <a:spcAft>
                <a:spcPts val="0"/>
              </a:spcAft>
              <a:buFont typeface="Arial" pitchFamily="34" charset="0"/>
              <a:buChar char="•"/>
              <a:defRPr/>
            </a:pPr>
            <a:r>
              <a:rPr lang="zh-CN" altLang="en-US" sz="2800" b="1" dirty="0">
                <a:latin typeface="Times New Roman" panose="02020603050405020304" pitchFamily="18" charset="0"/>
                <a:cs typeface="Times New Roman" panose="02020603050405020304" pitchFamily="18" charset="0"/>
              </a:rPr>
              <a:t>共计使用</a:t>
            </a:r>
            <a:r>
              <a:rPr lang="en-US" altLang="zh-CN" sz="2800" b="1" dirty="0">
                <a:latin typeface="Times New Roman" panose="02020603050405020304" pitchFamily="18" charset="0"/>
                <a:cs typeface="Times New Roman" panose="02020603050405020304" pitchFamily="18" charset="0"/>
              </a:rPr>
              <a:t>9</a:t>
            </a:r>
            <a:r>
              <a:rPr lang="zh-CN" altLang="en-US" sz="2800" b="1" dirty="0">
                <a:latin typeface="Times New Roman" panose="02020603050405020304" pitchFamily="18" charset="0"/>
                <a:cs typeface="Times New Roman" panose="02020603050405020304" pitchFamily="18" charset="0"/>
              </a:rPr>
              <a:t>个寄存器</a:t>
            </a:r>
          </a:p>
        </p:txBody>
      </p:sp>
      <p:sp>
        <p:nvSpPr>
          <p:cNvPr id="2" name="日期占位符 1">
            <a:extLst>
              <a:ext uri="{FF2B5EF4-FFF2-40B4-BE49-F238E27FC236}">
                <a16:creationId xmlns:a16="http://schemas.microsoft.com/office/drawing/2014/main" id="{28A75BC7-CC6D-9A8B-1BC2-95234B915603}"/>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9CC41BF0-F9A3-D98B-F606-B2EDF60CDB23}"/>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E14C9AE-812C-3284-579A-A6158C7F64E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37</a:t>
            </a:fld>
            <a:endParaRPr lang="en-US" altLang="zh-CN"/>
          </a:p>
        </p:txBody>
      </p:sp>
    </p:spTree>
    <p:extLst>
      <p:ext uri="{BB962C8B-B14F-4D97-AF65-F5344CB8AC3E}">
        <p14:creationId xmlns:p14="http://schemas.microsoft.com/office/powerpoint/2010/main" val="1437384317"/>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468313" y="0"/>
            <a:ext cx="8229600" cy="1143000"/>
          </a:xfrm>
        </p:spPr>
        <p:txBody>
          <a:bodyPr/>
          <a:lstStyle/>
          <a:p>
            <a:pPr eaLnBrk="1" hangingPunct="1">
              <a:defRPr/>
            </a:pPr>
            <a:r>
              <a:rPr lang="zh-CN" altLang="en-US" sz="3600" b="1" dirty="0">
                <a:latin typeface="+mj-ea"/>
              </a:rPr>
              <a:t>循环展开</a:t>
            </a:r>
            <a:r>
              <a:rPr lang="en-US" altLang="zh-CN" sz="3600" b="1" dirty="0">
                <a:latin typeface="+mj-ea"/>
              </a:rPr>
              <a:t>+</a:t>
            </a:r>
            <a:r>
              <a:rPr lang="zh-CN" altLang="en-US" sz="3600" b="1" dirty="0">
                <a:latin typeface="+mj-ea"/>
              </a:rPr>
              <a:t>指令调度</a:t>
            </a:r>
          </a:p>
        </p:txBody>
      </p:sp>
      <p:sp>
        <p:nvSpPr>
          <p:cNvPr id="34819" name="Rectangle 3"/>
          <p:cNvSpPr>
            <a:spLocks noGrp="1" noChangeArrowheads="1"/>
          </p:cNvSpPr>
          <p:nvPr>
            <p:ph type="body" idx="4294967295"/>
          </p:nvPr>
        </p:nvSpPr>
        <p:spPr>
          <a:xfrm>
            <a:off x="468313" y="1052513"/>
            <a:ext cx="8207375" cy="5805487"/>
          </a:xfrm>
        </p:spPr>
        <p:txBody>
          <a:bodyPr/>
          <a:lstStyle/>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Loop:	 	LD		F0,0(R1)</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LD		F6,-8(R1)</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LD		F10,-16(R1)</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LD		F14,-24(R1)</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ADDD	         F4,F0,F2</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ADDD  	F8,F6,F2</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ADDD  	F12,F10,F2</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ADDD 	F16,F14,F2</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SD		0(R1),F4</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SD		-8(R1),F8</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SUBI	         R1,R1,#-32</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SD	         16(R1),F12</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BNEZ		R1,R2,Loop</a:t>
            </a:r>
          </a:p>
          <a:p>
            <a:pPr marL="966788" lvl="1" indent="-495300" eaLnBrk="1" hangingPunct="1">
              <a:buFont typeface="Wingdings" pitchFamily="2" charset="2"/>
              <a:buAutoNum type="arabicPeriod"/>
            </a:pPr>
            <a:r>
              <a:rPr lang="en-US" altLang="zh-CN" sz="2200" dirty="0">
                <a:latin typeface="Verdana" pitchFamily="34" charset="0"/>
                <a:ea typeface="华文中宋" pitchFamily="2" charset="-122"/>
              </a:rPr>
              <a:t>		SD		8(R1),F16</a:t>
            </a:r>
            <a:endParaRPr lang="zh-CN" altLang="en-US" sz="2200" dirty="0">
              <a:latin typeface="Verdana" pitchFamily="34" charset="0"/>
              <a:ea typeface="华文中宋" pitchFamily="2" charset="-122"/>
            </a:endParaRPr>
          </a:p>
        </p:txBody>
      </p:sp>
    </p:spTree>
    <p:extLst>
      <p:ext uri="{BB962C8B-B14F-4D97-AF65-F5344CB8AC3E}">
        <p14:creationId xmlns:p14="http://schemas.microsoft.com/office/powerpoint/2010/main" val="1349278575"/>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42" name="Rectangle 6"/>
          <p:cNvSpPr>
            <a:spLocks noGrp="1" noChangeArrowheads="1"/>
          </p:cNvSpPr>
          <p:nvPr>
            <p:ph type="title" idx="4294967295"/>
          </p:nvPr>
        </p:nvSpPr>
        <p:spPr/>
        <p:txBody>
          <a:bodyPr rtlCol="0">
            <a:normAutofit/>
          </a:bodyPr>
          <a:lstStyle/>
          <a:p>
            <a:pPr eaLnBrk="1" fontAlgn="auto" hangingPunct="1">
              <a:spcAft>
                <a:spcPts val="0"/>
              </a:spcAft>
              <a:defRPr/>
            </a:pPr>
            <a:r>
              <a:rPr lang="zh-CN" altLang="en-US" sz="3600" b="1" dirty="0">
                <a:latin typeface="+mj-ea"/>
              </a:rPr>
              <a:t>“循环展开</a:t>
            </a:r>
            <a:r>
              <a:rPr lang="en-US" altLang="zh-CN" sz="3600" b="1" dirty="0">
                <a:latin typeface="+mj-ea"/>
              </a:rPr>
              <a:t>+</a:t>
            </a:r>
            <a:r>
              <a:rPr lang="zh-CN" altLang="en-US" sz="3600" b="1" dirty="0">
                <a:latin typeface="+mj-ea"/>
              </a:rPr>
              <a:t>指令调度”结果分析</a:t>
            </a:r>
            <a:endParaRPr lang="en-US" altLang="zh-CN" sz="3600" b="1" dirty="0">
              <a:latin typeface="+mj-ea"/>
            </a:endParaRPr>
          </a:p>
        </p:txBody>
      </p:sp>
      <p:sp>
        <p:nvSpPr>
          <p:cNvPr id="35843" name="Rectangle 7"/>
          <p:cNvSpPr>
            <a:spLocks noGrp="1" noChangeArrowheads="1"/>
          </p:cNvSpPr>
          <p:nvPr>
            <p:ph type="body" idx="4294967295"/>
          </p:nvPr>
        </p:nvSpPr>
        <p:spPr/>
        <p:txBody>
          <a:bodyPr/>
          <a:lstStyle/>
          <a:p>
            <a:pPr eaLnBrk="1" hangingPunct="1">
              <a:lnSpc>
                <a:spcPct val="120000"/>
              </a:lnSpc>
              <a:defRPr/>
            </a:pPr>
            <a:r>
              <a:rPr lang="zh-CN" altLang="en-US" sz="2600" b="1" dirty="0">
                <a:latin typeface="Times New Roman" panose="02020603050405020304" pitchFamily="18" charset="0"/>
                <a:cs typeface="Times New Roman" panose="02020603050405020304" pitchFamily="18" charset="0"/>
              </a:rPr>
              <a:t>每遍循环时间下降为</a:t>
            </a:r>
            <a:r>
              <a:rPr lang="en-US" altLang="zh-CN" sz="2600" b="1" dirty="0">
                <a:latin typeface="Times New Roman" panose="02020603050405020304" pitchFamily="18" charset="0"/>
                <a:cs typeface="Times New Roman" panose="02020603050405020304" pitchFamily="18" charset="0"/>
              </a:rPr>
              <a:t>14</a:t>
            </a:r>
            <a:r>
              <a:rPr lang="zh-CN" altLang="en-US" sz="2600" b="1" dirty="0">
                <a:latin typeface="Times New Roman" panose="02020603050405020304" pitchFamily="18" charset="0"/>
                <a:cs typeface="Times New Roman" panose="02020603050405020304" pitchFamily="18" charset="0"/>
              </a:rPr>
              <a:t>个时钟节拍</a:t>
            </a:r>
          </a:p>
          <a:p>
            <a:pPr lvl="1" eaLnBrk="1" hangingPunct="1">
              <a:lnSpc>
                <a:spcPct val="120000"/>
              </a:lnSpc>
              <a:defRPr/>
            </a:pPr>
            <a:r>
              <a:rPr lang="zh-CN" altLang="en-US" sz="2600" b="1" dirty="0">
                <a:latin typeface="Times New Roman" panose="02020603050405020304" pitchFamily="18" charset="0"/>
                <a:cs typeface="Times New Roman" panose="02020603050405020304" pitchFamily="18" charset="0"/>
              </a:rPr>
              <a:t>每个元素平均使用</a:t>
            </a:r>
            <a:r>
              <a:rPr lang="en-US" altLang="zh-CN" sz="2600" b="1" dirty="0">
                <a:latin typeface="Times New Roman" panose="02020603050405020304" pitchFamily="18" charset="0"/>
                <a:cs typeface="Times New Roman" panose="02020603050405020304" pitchFamily="18" charset="0"/>
              </a:rPr>
              <a:t>3.5</a:t>
            </a:r>
            <a:r>
              <a:rPr lang="zh-CN" altLang="en-US" sz="2600" b="1" dirty="0">
                <a:latin typeface="Times New Roman" panose="02020603050405020304" pitchFamily="18" charset="0"/>
                <a:cs typeface="Times New Roman" panose="02020603050405020304" pitchFamily="18" charset="0"/>
              </a:rPr>
              <a:t>个时钟节拍</a:t>
            </a:r>
          </a:p>
          <a:p>
            <a:pPr eaLnBrk="1" hangingPunct="1">
              <a:lnSpc>
                <a:spcPct val="120000"/>
              </a:lnSpc>
              <a:defRPr/>
            </a:pPr>
            <a:r>
              <a:rPr lang="zh-CN" altLang="en-US" sz="2600" b="1" dirty="0">
                <a:latin typeface="Times New Roman" panose="02020603050405020304" pitchFamily="18" charset="0"/>
                <a:cs typeface="Times New Roman" panose="02020603050405020304" pitchFamily="18" charset="0"/>
              </a:rPr>
              <a:t>比较</a:t>
            </a:r>
          </a:p>
          <a:p>
            <a:pPr lvl="1" eaLnBrk="1" hangingPunct="1">
              <a:lnSpc>
                <a:spcPct val="120000"/>
              </a:lnSpc>
              <a:defRPr/>
            </a:pPr>
            <a:r>
              <a:rPr lang="zh-CN" altLang="en-US" sz="2600" b="1" dirty="0">
                <a:latin typeface="Times New Roman" panose="02020603050405020304" pitchFamily="18" charset="0"/>
                <a:cs typeface="Times New Roman" panose="02020603050405020304" pitchFamily="18" charset="0"/>
              </a:rPr>
              <a:t>没有循环展开，有指令调度</a:t>
            </a:r>
          </a:p>
          <a:p>
            <a:pPr lvl="2" eaLnBrk="1" hangingPunct="1">
              <a:lnSpc>
                <a:spcPct val="120000"/>
              </a:lnSpc>
              <a:defRPr/>
            </a:pPr>
            <a:r>
              <a:rPr lang="zh-CN" altLang="en-US" sz="2600" b="1" dirty="0">
                <a:latin typeface="Times New Roman" panose="02020603050405020304" pitchFamily="18" charset="0"/>
                <a:cs typeface="Times New Roman" panose="02020603050405020304" pitchFamily="18" charset="0"/>
              </a:rPr>
              <a:t>每个元素</a:t>
            </a:r>
            <a:r>
              <a:rPr lang="en-US" altLang="zh-CN" sz="2600" b="1" dirty="0">
                <a:latin typeface="Times New Roman" panose="02020603050405020304" pitchFamily="18" charset="0"/>
                <a:cs typeface="Times New Roman" panose="02020603050405020304" pitchFamily="18" charset="0"/>
              </a:rPr>
              <a:t>6</a:t>
            </a:r>
            <a:r>
              <a:rPr lang="zh-CN" altLang="en-US" sz="2600" b="1" dirty="0">
                <a:latin typeface="Times New Roman" panose="02020603050405020304" pitchFamily="18" charset="0"/>
                <a:cs typeface="Times New Roman" panose="02020603050405020304" pitchFamily="18" charset="0"/>
              </a:rPr>
              <a:t>拍</a:t>
            </a:r>
          </a:p>
          <a:p>
            <a:pPr lvl="1" eaLnBrk="1" hangingPunct="1">
              <a:lnSpc>
                <a:spcPct val="120000"/>
              </a:lnSpc>
              <a:defRPr/>
            </a:pPr>
            <a:r>
              <a:rPr lang="zh-CN" altLang="en-US" sz="2600" b="1" dirty="0">
                <a:latin typeface="Times New Roman" panose="02020603050405020304" pitchFamily="18" charset="0"/>
                <a:cs typeface="Times New Roman" panose="02020603050405020304" pitchFamily="18" charset="0"/>
              </a:rPr>
              <a:t>有循环展开，没有指令调度</a:t>
            </a:r>
          </a:p>
          <a:p>
            <a:pPr lvl="2" eaLnBrk="1" hangingPunct="1">
              <a:lnSpc>
                <a:spcPct val="120000"/>
              </a:lnSpc>
              <a:defRPr/>
            </a:pPr>
            <a:r>
              <a:rPr lang="zh-CN" altLang="en-US" sz="2600" b="1" dirty="0">
                <a:latin typeface="Times New Roman" panose="02020603050405020304" pitchFamily="18" charset="0"/>
                <a:cs typeface="Times New Roman" panose="02020603050405020304" pitchFamily="18" charset="0"/>
              </a:rPr>
              <a:t>每个元素</a:t>
            </a:r>
            <a:r>
              <a:rPr lang="en-US" altLang="zh-CN" sz="2600" b="1" dirty="0">
                <a:latin typeface="Times New Roman" panose="02020603050405020304" pitchFamily="18" charset="0"/>
                <a:cs typeface="Times New Roman" panose="02020603050405020304" pitchFamily="18" charset="0"/>
              </a:rPr>
              <a:t>7</a:t>
            </a:r>
            <a:r>
              <a:rPr lang="zh-CN" altLang="en-US" sz="2600" b="1" dirty="0">
                <a:latin typeface="Times New Roman" panose="02020603050405020304" pitchFamily="18" charset="0"/>
                <a:cs typeface="Times New Roman" panose="02020603050405020304" pitchFamily="18" charset="0"/>
              </a:rPr>
              <a:t>拍</a:t>
            </a:r>
            <a:endParaRPr lang="en-US" altLang="zh-CN" sz="26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1A3E7EFC-1F19-7A52-F7FD-DD42F66AC67E}"/>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F8D3ECA8-A08D-E339-4D99-69E74B3A73F4}"/>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4CAA675-E3D4-D276-4719-D885C67B4A3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39</a:t>
            </a:fld>
            <a:endParaRPr lang="en-US" altLang="zh-CN"/>
          </a:p>
        </p:txBody>
      </p:sp>
    </p:spTree>
    <p:extLst>
      <p:ext uri="{BB962C8B-B14F-4D97-AF65-F5344CB8AC3E}">
        <p14:creationId xmlns:p14="http://schemas.microsoft.com/office/powerpoint/2010/main" val="726982859"/>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9"/>
          <p:cNvSpPr>
            <a:spLocks noGrp="1" noChangeArrowheads="1"/>
          </p:cNvSpPr>
          <p:nvPr>
            <p:ph type="title" idx="4294967295"/>
          </p:nvPr>
        </p:nvSpPr>
        <p:spPr/>
        <p:txBody>
          <a:bodyPr/>
          <a:lstStyle/>
          <a:p>
            <a:pPr eaLnBrk="1" hangingPunct="1">
              <a:defRPr/>
            </a:pPr>
            <a:r>
              <a:rPr lang="zh-CN" altLang="en-US" sz="3600" b="1" dirty="0">
                <a:latin typeface="+mj-ea"/>
              </a:rPr>
              <a:t>循环展开和指令调度的总结</a:t>
            </a:r>
          </a:p>
        </p:txBody>
      </p:sp>
      <p:sp>
        <p:nvSpPr>
          <p:cNvPr id="19466" name="Rectangle 10"/>
          <p:cNvSpPr>
            <a:spLocks noGrp="1" noChangeArrowheads="1"/>
          </p:cNvSpPr>
          <p:nvPr>
            <p:ph type="body" idx="4294967295"/>
          </p:nvPr>
        </p:nvSpPr>
        <p:spPr>
          <a:xfrm>
            <a:off x="457200" y="1600200"/>
            <a:ext cx="8362950" cy="4525963"/>
          </a:xfrm>
        </p:spPr>
        <p:txBody>
          <a:bodyPr/>
          <a:lstStyle/>
          <a:p>
            <a:pPr eaLnBrk="1" hangingPunct="1">
              <a:defRPr/>
            </a:pPr>
            <a:r>
              <a:rPr lang="zh-CN" altLang="en-US" sz="2600" b="1" dirty="0">
                <a:latin typeface="Times New Roman" panose="02020603050405020304" pitchFamily="18" charset="0"/>
                <a:cs typeface="Times New Roman" panose="02020603050405020304" pitchFamily="18" charset="0"/>
              </a:rPr>
              <a:t>保证正确性（循环控制和操作数偏移量的修改）</a:t>
            </a:r>
            <a:endParaRPr lang="en-US" altLang="zh-CN" sz="2600" b="1" dirty="0">
              <a:latin typeface="Times New Roman" panose="02020603050405020304" pitchFamily="18" charset="0"/>
              <a:cs typeface="Times New Roman" panose="02020603050405020304" pitchFamily="18" charset="0"/>
            </a:endParaRPr>
          </a:p>
          <a:p>
            <a:pPr eaLnBrk="1" hangingPunct="1">
              <a:defRPr/>
            </a:pPr>
            <a:r>
              <a:rPr lang="zh-CN" altLang="en-US" sz="2600" b="1" dirty="0">
                <a:latin typeface="Times New Roman" panose="02020603050405020304" pitchFamily="18" charset="0"/>
                <a:cs typeface="Times New Roman" panose="02020603050405020304" pitchFamily="18" charset="0"/>
              </a:rPr>
              <a:t>注意有效性（找到不同循环体之间的无关性）</a:t>
            </a:r>
            <a:endParaRPr lang="en-US" altLang="zh-CN" sz="2600" b="1" dirty="0">
              <a:latin typeface="Times New Roman" panose="02020603050405020304" pitchFamily="18" charset="0"/>
              <a:cs typeface="Times New Roman" panose="02020603050405020304" pitchFamily="18" charset="0"/>
            </a:endParaRPr>
          </a:p>
          <a:p>
            <a:pPr eaLnBrk="1" hangingPunct="1">
              <a:defRPr/>
            </a:pPr>
            <a:r>
              <a:rPr lang="zh-CN" altLang="en-US" sz="2600" b="1" dirty="0">
                <a:latin typeface="Times New Roman" panose="02020603050405020304" pitchFamily="18" charset="0"/>
                <a:cs typeface="Times New Roman" panose="02020603050405020304" pitchFamily="18" charset="0"/>
              </a:rPr>
              <a:t>使用大量不同的寄存器（换名）</a:t>
            </a:r>
          </a:p>
          <a:p>
            <a:pPr eaLnBrk="1" hangingPunct="1">
              <a:defRPr/>
            </a:pPr>
            <a:r>
              <a:rPr lang="zh-CN" altLang="en-US" sz="2600" b="1" dirty="0">
                <a:latin typeface="Times New Roman" panose="02020603050405020304" pitchFamily="18" charset="0"/>
                <a:cs typeface="Times New Roman" panose="02020603050405020304" pitchFamily="18" charset="0"/>
              </a:rPr>
              <a:t>减少循环控制中的测试指令和分支指令</a:t>
            </a:r>
            <a:endParaRPr lang="en-US" altLang="zh-CN" sz="2600" b="1" dirty="0">
              <a:latin typeface="Times New Roman" panose="02020603050405020304" pitchFamily="18" charset="0"/>
              <a:cs typeface="Times New Roman" panose="02020603050405020304" pitchFamily="18" charset="0"/>
            </a:endParaRPr>
          </a:p>
          <a:p>
            <a:pPr eaLnBrk="1" hangingPunct="1">
              <a:defRPr/>
            </a:pPr>
            <a:r>
              <a:rPr lang="zh-CN" altLang="en-US" sz="2600" b="1" dirty="0">
                <a:latin typeface="Times New Roman" panose="02020603050405020304" pitchFamily="18" charset="0"/>
                <a:cs typeface="Times New Roman" panose="02020603050405020304" pitchFamily="18" charset="0"/>
              </a:rPr>
              <a:t>注意分析</a:t>
            </a:r>
            <a:r>
              <a:rPr lang="en-US" altLang="zh-CN" sz="2600" b="1" dirty="0">
                <a:latin typeface="Times New Roman" panose="02020603050405020304" pitchFamily="18" charset="0"/>
                <a:cs typeface="Times New Roman" panose="02020603050405020304" pitchFamily="18" charset="0"/>
              </a:rPr>
              <a:t>Load/Store</a:t>
            </a:r>
            <a:r>
              <a:rPr lang="zh-CN" altLang="en-US" sz="2600" b="1" dirty="0">
                <a:latin typeface="Times New Roman" panose="02020603050405020304" pitchFamily="18" charset="0"/>
                <a:cs typeface="Times New Roman" panose="02020603050405020304" pitchFamily="18" charset="0"/>
              </a:rPr>
              <a:t>指令的内存地址</a:t>
            </a:r>
            <a:endParaRPr lang="en-US" altLang="zh-CN" sz="2600" b="1" dirty="0">
              <a:latin typeface="Times New Roman" panose="02020603050405020304" pitchFamily="18" charset="0"/>
              <a:cs typeface="Times New Roman" panose="02020603050405020304" pitchFamily="18" charset="0"/>
            </a:endParaRPr>
          </a:p>
          <a:p>
            <a:pPr eaLnBrk="1" hangingPunct="1">
              <a:defRPr/>
            </a:pPr>
            <a:r>
              <a:rPr lang="zh-CN" altLang="en-US" sz="2600" b="1" dirty="0">
                <a:latin typeface="Times New Roman" panose="02020603050405020304" pitchFamily="18" charset="0"/>
                <a:cs typeface="Times New Roman" panose="02020603050405020304" pitchFamily="18" charset="0"/>
              </a:rPr>
              <a:t>注意新的相关性</a:t>
            </a:r>
            <a:endParaRPr lang="en-US" altLang="zh-CN" sz="2600" b="1" dirty="0">
              <a:latin typeface="Times New Roman" panose="02020603050405020304" pitchFamily="18" charset="0"/>
              <a:cs typeface="Times New Roman" panose="02020603050405020304" pitchFamily="18" charset="0"/>
            </a:endParaRPr>
          </a:p>
          <a:p>
            <a:pPr marL="0" indent="0" eaLnBrk="1" hangingPunct="1">
              <a:buNone/>
              <a:defRPr/>
            </a:pPr>
            <a:endParaRPr lang="en-US" altLang="zh-CN" sz="26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91F57F40-8C22-0FEF-0377-6BF177F9B1C1}"/>
              </a:ext>
            </a:extLst>
          </p:cNvPr>
          <p:cNvSpPr>
            <a:spLocks noGrp="1"/>
          </p:cNvSpPr>
          <p:nvPr>
            <p:ph type="dt" sz="half" idx="10"/>
          </p:nvPr>
        </p:nvSpPr>
        <p:spPr>
          <a:xfrm>
            <a:off x="457200" y="6356350"/>
            <a:ext cx="2133600" cy="365125"/>
          </a:xfrm>
        </p:spPr>
        <p:txBody>
          <a:bodyPr/>
          <a:lstStyle/>
          <a:p>
            <a:pPr>
              <a:defRPr/>
            </a:pPr>
            <a:fld id="{7ED9A3F7-5273-40BD-B851-A9444259F767}"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1B5310FA-F34E-AC33-916E-9B5D4D751AEE}"/>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7D25E34-2ABB-AE4E-9A91-DF388DDD055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40</a:t>
            </a:fld>
            <a:endParaRPr lang="en-US" altLang="zh-CN"/>
          </a:p>
        </p:txBody>
      </p:sp>
    </p:spTree>
    <p:extLst>
      <p:ext uri="{BB962C8B-B14F-4D97-AF65-F5344CB8AC3E}">
        <p14:creationId xmlns:p14="http://schemas.microsoft.com/office/powerpoint/2010/main" val="14418692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6">
                                            <p:txEl>
                                              <p:pRg st="0" end="0"/>
                                            </p:txEl>
                                          </p:spTgt>
                                        </p:tgtEl>
                                        <p:attrNameLst>
                                          <p:attrName>style.visibility</p:attrName>
                                        </p:attrNameLst>
                                      </p:cBhvr>
                                      <p:to>
                                        <p:strVal val="visible"/>
                                      </p:to>
                                    </p:set>
                                    <p:animEffect transition="in" filter="wipe(left)">
                                      <p:cBhvr>
                                        <p:cTn id="7" dur="500"/>
                                        <p:tgtEl>
                                          <p:spTgt spid="19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6">
                                            <p:txEl>
                                              <p:pRg st="1" end="1"/>
                                            </p:txEl>
                                          </p:spTgt>
                                        </p:tgtEl>
                                        <p:attrNameLst>
                                          <p:attrName>style.visibility</p:attrName>
                                        </p:attrNameLst>
                                      </p:cBhvr>
                                      <p:to>
                                        <p:strVal val="visible"/>
                                      </p:to>
                                    </p:set>
                                    <p:animEffect transition="in" filter="wipe(left)">
                                      <p:cBhvr>
                                        <p:cTn id="12" dur="500"/>
                                        <p:tgtEl>
                                          <p:spTgt spid="1946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6">
                                            <p:txEl>
                                              <p:pRg st="2" end="2"/>
                                            </p:txEl>
                                          </p:spTgt>
                                        </p:tgtEl>
                                        <p:attrNameLst>
                                          <p:attrName>style.visibility</p:attrName>
                                        </p:attrNameLst>
                                      </p:cBhvr>
                                      <p:to>
                                        <p:strVal val="visible"/>
                                      </p:to>
                                    </p:set>
                                    <p:animEffect transition="in" filter="wipe(left)">
                                      <p:cBhvr>
                                        <p:cTn id="17" dur="500"/>
                                        <p:tgtEl>
                                          <p:spTgt spid="1946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66">
                                            <p:txEl>
                                              <p:pRg st="3" end="3"/>
                                            </p:txEl>
                                          </p:spTgt>
                                        </p:tgtEl>
                                        <p:attrNameLst>
                                          <p:attrName>style.visibility</p:attrName>
                                        </p:attrNameLst>
                                      </p:cBhvr>
                                      <p:to>
                                        <p:strVal val="visible"/>
                                      </p:to>
                                    </p:set>
                                    <p:animEffect transition="in" filter="wipe(left)">
                                      <p:cBhvr>
                                        <p:cTn id="22" dur="500"/>
                                        <p:tgtEl>
                                          <p:spTgt spid="1946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66">
                                            <p:txEl>
                                              <p:pRg st="4" end="4"/>
                                            </p:txEl>
                                          </p:spTgt>
                                        </p:tgtEl>
                                        <p:attrNameLst>
                                          <p:attrName>style.visibility</p:attrName>
                                        </p:attrNameLst>
                                      </p:cBhvr>
                                      <p:to>
                                        <p:strVal val="visible"/>
                                      </p:to>
                                    </p:set>
                                    <p:animEffect transition="in" filter="wipe(left)">
                                      <p:cBhvr>
                                        <p:cTn id="27" dur="500"/>
                                        <p:tgtEl>
                                          <p:spTgt spid="1946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466">
                                            <p:txEl>
                                              <p:pRg st="5" end="5"/>
                                            </p:txEl>
                                          </p:spTgt>
                                        </p:tgtEl>
                                        <p:attrNameLst>
                                          <p:attrName>style.visibility</p:attrName>
                                        </p:attrNameLst>
                                      </p:cBhvr>
                                      <p:to>
                                        <p:strVal val="visible"/>
                                      </p:to>
                                    </p:set>
                                    <p:animEffect transition="in" filter="wipe(left)">
                                      <p:cBhvr>
                                        <p:cTn id="32" dur="500"/>
                                        <p:tgtEl>
                                          <p:spTgt spid="1946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468313" y="414338"/>
            <a:ext cx="8229600" cy="1143000"/>
          </a:xfrm>
        </p:spPr>
        <p:txBody>
          <a:bodyPr rtlCol="0">
            <a:normAutofit/>
          </a:bodyPr>
          <a:lstStyle/>
          <a:p>
            <a:pPr eaLnBrk="1" fontAlgn="auto" hangingPunct="1">
              <a:spcAft>
                <a:spcPts val="0"/>
              </a:spcAft>
              <a:defRPr/>
            </a:pPr>
            <a:r>
              <a:rPr lang="en-US" altLang="zh-CN" sz="3600" b="1" dirty="0">
                <a:latin typeface="Times New Roman" panose="02020603050405020304" pitchFamily="18" charset="0"/>
                <a:cs typeface="Times New Roman" panose="02020603050405020304" pitchFamily="18" charset="0"/>
              </a:rPr>
              <a:t>4.1  </a:t>
            </a:r>
            <a:r>
              <a:rPr lang="zh-CN" altLang="en-US" sz="3600" b="1" dirty="0">
                <a:latin typeface="Times New Roman" panose="02020603050405020304" pitchFamily="18" charset="0"/>
                <a:cs typeface="Times New Roman" panose="02020603050405020304" pitchFamily="18" charset="0"/>
              </a:rPr>
              <a:t>指令级并行的概念</a:t>
            </a:r>
          </a:p>
        </p:txBody>
      </p:sp>
      <p:sp>
        <p:nvSpPr>
          <p:cNvPr id="4099" name="Rectangle 2"/>
          <p:cNvSpPr>
            <a:spLocks noGrp="1" noChangeArrowheads="1"/>
          </p:cNvSpPr>
          <p:nvPr>
            <p:ph idx="1"/>
          </p:nvPr>
        </p:nvSpPr>
        <p:spPr>
          <a:xfrm>
            <a:off x="755650" y="2060575"/>
            <a:ext cx="7064375" cy="3313113"/>
          </a:xfrm>
        </p:spPr>
        <p:txBody>
          <a:bodyPr/>
          <a:lstStyle/>
          <a:p>
            <a:pPr marL="0" indent="0" eaLnBrk="1" hangingPunct="1">
              <a:spcBef>
                <a:spcPct val="50000"/>
              </a:spcBef>
              <a:buFont typeface="Arial" charset="0"/>
              <a:buNone/>
            </a:pPr>
            <a:r>
              <a:rPr lang="en-US" altLang="zh-CN" sz="2800" b="1" dirty="0">
                <a:latin typeface="Times New Roman" pitchFamily="18" charset="0"/>
              </a:rPr>
              <a:t>4.1.1  </a:t>
            </a:r>
            <a:r>
              <a:rPr lang="zh-CN" altLang="en-US" sz="2800" b="1" dirty="0">
                <a:latin typeface="Times New Roman" pitchFamily="18" charset="0"/>
              </a:rPr>
              <a:t>循环展开调度的基本方法</a:t>
            </a:r>
            <a:endParaRPr lang="en-US" altLang="zh-CN" sz="2800" b="1" dirty="0">
              <a:latin typeface="Times New Roman" pitchFamily="18" charset="0"/>
            </a:endParaRPr>
          </a:p>
          <a:p>
            <a:pPr marL="0" indent="0" eaLnBrk="1" hangingPunct="1">
              <a:spcBef>
                <a:spcPct val="50000"/>
              </a:spcBef>
              <a:buFont typeface="Arial" charset="0"/>
              <a:buNone/>
            </a:pPr>
            <a:endParaRPr lang="zh-CN" altLang="en-US" sz="2800" b="1" dirty="0">
              <a:latin typeface="Times New Roman" pitchFamily="18" charset="0"/>
            </a:endParaRPr>
          </a:p>
          <a:p>
            <a:pPr marL="0" indent="0" eaLnBrk="1" hangingPunct="1">
              <a:spcBef>
                <a:spcPct val="50000"/>
              </a:spcBef>
              <a:buFont typeface="Arial" charset="0"/>
              <a:buNone/>
            </a:pPr>
            <a:r>
              <a:rPr lang="en-US" altLang="zh-CN" sz="2800" b="1" u="sng" dirty="0">
                <a:effectLst>
                  <a:outerShdw blurRad="38100" dist="38100" dir="2700000" algn="tl">
                    <a:srgbClr val="000000">
                      <a:alpha val="43137"/>
                    </a:srgbClr>
                  </a:outerShdw>
                </a:effectLst>
                <a:latin typeface="Times New Roman" pitchFamily="18" charset="0"/>
              </a:rPr>
              <a:t>4.1.2  </a:t>
            </a:r>
            <a:r>
              <a:rPr lang="zh-CN" altLang="en-US" sz="2800" b="1" u="sng" dirty="0">
                <a:effectLst>
                  <a:outerShdw blurRad="38100" dist="38100" dir="2700000" algn="tl">
                    <a:srgbClr val="000000">
                      <a:alpha val="43137"/>
                    </a:srgbClr>
                  </a:outerShdw>
                </a:effectLst>
                <a:latin typeface="Times New Roman" pitchFamily="18" charset="0"/>
              </a:rPr>
              <a:t>相关性</a:t>
            </a:r>
            <a:endParaRPr lang="en-US" altLang="zh-CN" b="1" u="sng" dirty="0">
              <a:effectLst>
                <a:outerShdw blurRad="38100" dist="38100" dir="2700000" algn="tl">
                  <a:srgbClr val="000000">
                    <a:alpha val="43137"/>
                  </a:srgbClr>
                </a:outerShdw>
              </a:effectLst>
              <a:latin typeface="Times New Roman" pitchFamily="18" charset="0"/>
            </a:endParaRPr>
          </a:p>
        </p:txBody>
      </p:sp>
      <p:sp>
        <p:nvSpPr>
          <p:cNvPr id="2" name="日期占位符 1">
            <a:extLst>
              <a:ext uri="{FF2B5EF4-FFF2-40B4-BE49-F238E27FC236}">
                <a16:creationId xmlns:a16="http://schemas.microsoft.com/office/drawing/2014/main" id="{9E80EBEC-BC86-32F9-F0B7-9C393F80EFE3}"/>
              </a:ext>
            </a:extLst>
          </p:cNvPr>
          <p:cNvSpPr>
            <a:spLocks noGrp="1"/>
          </p:cNvSpPr>
          <p:nvPr>
            <p:ph type="dt" sz="half" idx="10"/>
          </p:nvPr>
        </p:nvSpPr>
        <p:spPr/>
        <p:txBody>
          <a:bodyPr/>
          <a:lstStyle/>
          <a:p>
            <a:pPr>
              <a:defRPr/>
            </a:pPr>
            <a:fld id="{071420FF-6B59-43E2-A9AD-992F6FA6F0AB}"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F44EF954-B63D-4800-A0D2-30971023020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27CF6DE-9660-4342-A5FC-756E71A26210}"/>
              </a:ext>
            </a:extLst>
          </p:cNvPr>
          <p:cNvSpPr>
            <a:spLocks noGrp="1"/>
          </p:cNvSpPr>
          <p:nvPr>
            <p:ph type="sldNum" sz="quarter" idx="12"/>
          </p:nvPr>
        </p:nvSpPr>
        <p:spPr/>
        <p:txBody>
          <a:bodyPr/>
          <a:lstStyle/>
          <a:p>
            <a:pPr>
              <a:defRPr/>
            </a:pPr>
            <a:fld id="{8BCAC33D-D29A-48B3-BCD6-381D3D720D26}" type="slidenum">
              <a:rPr lang="zh-CN" altLang="en-US" smtClean="0"/>
              <a:t>41</a:t>
            </a:fld>
            <a:endParaRPr lang="en-US" altLang="zh-CN"/>
          </a:p>
        </p:txBody>
      </p:sp>
    </p:spTree>
    <p:extLst>
      <p:ext uri="{BB962C8B-B14F-4D97-AF65-F5344CB8AC3E}">
        <p14:creationId xmlns:p14="http://schemas.microsoft.com/office/powerpoint/2010/main" val="1939262611"/>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descr="Rectangle: Click to edit Master text styles&#10;Second level&#10;Third level&#10;Fourth level&#10;Fifth level"/>
          <p:cNvSpPr>
            <a:spLocks noGrp="1" noChangeArrowheads="1"/>
          </p:cNvSpPr>
          <p:nvPr>
            <p:ph idx="1"/>
          </p:nvPr>
        </p:nvSpPr>
        <p:spPr>
          <a:xfrm>
            <a:off x="399603" y="1268760"/>
            <a:ext cx="8328917" cy="4183062"/>
          </a:xfrm>
        </p:spPr>
        <p:txBody>
          <a:bodyPr/>
          <a:lstStyle/>
          <a:p>
            <a:pPr marL="635000" indent="-457200" eaLnBrk="1" hangingPunct="1">
              <a:defRPr/>
            </a:pPr>
            <a:r>
              <a:rPr lang="zh-CN" altLang="en-US" sz="2600" b="1" dirty="0">
                <a:solidFill>
                  <a:srgbClr val="FF0000"/>
                </a:solidFill>
                <a:latin typeface="Times New Roman" panose="02020603050405020304" pitchFamily="18" charset="0"/>
                <a:cs typeface="Times New Roman" panose="02020603050405020304" pitchFamily="18" charset="0"/>
              </a:rPr>
              <a:t>相关与流水线冲突 </a:t>
            </a:r>
            <a:r>
              <a:rPr lang="en-US" altLang="zh-CN" sz="2600" b="1" dirty="0">
                <a:solidFill>
                  <a:srgbClr val="FF0000"/>
                </a:solidFill>
                <a:latin typeface="Times New Roman" panose="02020603050405020304" pitchFamily="18" charset="0"/>
                <a:cs typeface="Times New Roman" panose="02020603050405020304" pitchFamily="18" charset="0"/>
              </a:rPr>
              <a:t>(Dependence and Hazard)</a:t>
            </a:r>
          </a:p>
          <a:p>
            <a:pPr marL="1085850" lvl="1" indent="-457200" eaLnBrk="1" hangingPunct="1">
              <a:defRPr/>
            </a:pPr>
            <a:r>
              <a:rPr lang="zh-CN" altLang="en-US" sz="2600" b="1" dirty="0">
                <a:solidFill>
                  <a:srgbClr val="FF0000"/>
                </a:solidFill>
                <a:latin typeface="Times New Roman" panose="02020603050405020304" pitchFamily="18" charset="0"/>
                <a:cs typeface="Times New Roman" panose="02020603050405020304" pitchFamily="18" charset="0"/>
              </a:rPr>
              <a:t>相关：</a:t>
            </a:r>
            <a:r>
              <a:rPr lang="zh-CN" altLang="en-US" sz="2600" b="1" dirty="0">
                <a:latin typeface="Times New Roman" panose="02020603050405020304" pitchFamily="18" charset="0"/>
                <a:cs typeface="Times New Roman" panose="02020603050405020304" pitchFamily="18" charset="0"/>
              </a:rPr>
              <a:t>两条指令之间存在某种依赖关系。</a:t>
            </a:r>
          </a:p>
          <a:p>
            <a:pPr lvl="2" eaLnBrk="1" hangingPunct="1">
              <a:buFont typeface="Wingdings" pitchFamily="2" charset="2"/>
              <a:buNone/>
              <a:defRPr/>
            </a:pPr>
            <a:r>
              <a:rPr lang="zh-CN" altLang="en-US" b="1" dirty="0">
                <a:latin typeface="Times New Roman" panose="02020603050405020304" pitchFamily="18" charset="0"/>
                <a:cs typeface="Times New Roman" panose="02020603050405020304" pitchFamily="18" charset="0"/>
              </a:rPr>
              <a:t>  如果两条指令相关，则它们就有可能不能在流水线</a:t>
            </a:r>
          </a:p>
          <a:p>
            <a:pPr lvl="2" eaLnBrk="1" hangingPunct="1">
              <a:buFont typeface="Wingdings" pitchFamily="2" charset="2"/>
              <a:buNone/>
              <a:defRPr/>
            </a:pPr>
            <a:r>
              <a:rPr lang="zh-CN" altLang="en-US" b="1" dirty="0">
                <a:latin typeface="Times New Roman" panose="02020603050405020304" pitchFamily="18" charset="0"/>
                <a:cs typeface="Times New Roman" panose="02020603050405020304" pitchFamily="18" charset="0"/>
              </a:rPr>
              <a:t>  中重叠执行或者只能部分重叠执行。</a:t>
            </a:r>
          </a:p>
          <a:p>
            <a:pPr marL="1085850" lvl="1" indent="-457200" eaLnBrk="1" hangingPunct="1">
              <a:defRPr/>
            </a:pPr>
            <a:r>
              <a:rPr lang="zh-CN" altLang="en-US" sz="2600" b="1" dirty="0">
                <a:latin typeface="Times New Roman" panose="02020603050405020304" pitchFamily="18" charset="0"/>
                <a:cs typeface="Times New Roman" panose="02020603050405020304" pitchFamily="18" charset="0"/>
              </a:rPr>
              <a:t>相关有</a:t>
            </a:r>
            <a:r>
              <a:rPr lang="en-US" altLang="zh-CN" sz="2600" b="1" dirty="0">
                <a:solidFill>
                  <a:srgbClr val="9933FF"/>
                </a:solidFill>
                <a:latin typeface="Times New Roman" panose="02020603050405020304" pitchFamily="18" charset="0"/>
                <a:cs typeface="Times New Roman" panose="02020603050405020304" pitchFamily="18" charset="0"/>
              </a:rPr>
              <a:t>3</a:t>
            </a:r>
            <a:r>
              <a:rPr lang="zh-CN" altLang="en-US" sz="2600" b="1" dirty="0">
                <a:latin typeface="Times New Roman" panose="02020603050405020304" pitchFamily="18" charset="0"/>
                <a:cs typeface="Times New Roman" panose="02020603050405020304" pitchFamily="18" charset="0"/>
              </a:rPr>
              <a:t>种类型</a:t>
            </a:r>
          </a:p>
          <a:p>
            <a:pPr lvl="2" eaLnBrk="1" hangingPunct="1">
              <a:defRPr/>
            </a:pPr>
            <a:r>
              <a:rPr lang="zh-CN" altLang="en-US" sz="2600" b="1" dirty="0">
                <a:latin typeface="Times New Roman" panose="02020603050405020304" pitchFamily="18" charset="0"/>
                <a:cs typeface="Times New Roman" panose="02020603050405020304" pitchFamily="18" charset="0"/>
              </a:rPr>
              <a:t>数据相关（也称真数据相关、数据流相关）</a:t>
            </a:r>
          </a:p>
          <a:p>
            <a:pPr lvl="2" eaLnBrk="1" hangingPunct="1">
              <a:defRPr/>
            </a:pPr>
            <a:r>
              <a:rPr lang="zh-CN" altLang="en-US" sz="2600" b="1" dirty="0">
                <a:latin typeface="Times New Roman" panose="02020603050405020304" pitchFamily="18" charset="0"/>
                <a:cs typeface="Times New Roman" panose="02020603050405020304" pitchFamily="18" charset="0"/>
              </a:rPr>
              <a:t>名相关（包括反相关、输出相关）</a:t>
            </a:r>
          </a:p>
          <a:p>
            <a:pPr lvl="2" eaLnBrk="1" hangingPunct="1">
              <a:defRPr/>
            </a:pPr>
            <a:r>
              <a:rPr lang="zh-CN" altLang="en-US" sz="2600" b="1" dirty="0">
                <a:latin typeface="Times New Roman" panose="02020603050405020304" pitchFamily="18" charset="0"/>
                <a:cs typeface="Times New Roman" panose="02020603050405020304" pitchFamily="18" charset="0"/>
              </a:rPr>
              <a:t>控制相关</a:t>
            </a:r>
          </a:p>
        </p:txBody>
      </p:sp>
      <p:sp>
        <p:nvSpPr>
          <p:cNvPr id="26627" name="Text Box 4"/>
          <p:cNvSpPr txBox="1">
            <a:spLocks noChangeArrowheads="1"/>
          </p:cNvSpPr>
          <p:nvPr/>
        </p:nvSpPr>
        <p:spPr bwMode="auto">
          <a:xfrm>
            <a:off x="-7938" y="333375"/>
            <a:ext cx="9144001"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algn="ctr">
              <a:spcBef>
                <a:spcPct val="50000"/>
              </a:spcBef>
              <a:buFont typeface="Wingdings" pitchFamily="2" charset="2"/>
              <a:buNone/>
              <a:defRPr/>
            </a:pPr>
            <a:r>
              <a:rPr lang="en-US" altLang="zh-CN" sz="3600" b="1" dirty="0">
                <a:solidFill>
                  <a:srgbClr val="000000"/>
                </a:solidFill>
                <a:latin typeface="Times New Roman" panose="02020603050405020304" pitchFamily="18" charset="0"/>
                <a:ea typeface="+mj-ea"/>
                <a:cs typeface="Times New Roman" panose="02020603050405020304" pitchFamily="18" charset="0"/>
              </a:rPr>
              <a:t>4.1.2 </a:t>
            </a:r>
            <a:r>
              <a:rPr lang="zh-CN" altLang="en-US" sz="3600" b="1" dirty="0">
                <a:solidFill>
                  <a:srgbClr val="000000"/>
                </a:solidFill>
                <a:latin typeface="Times New Roman" panose="02020603050405020304" pitchFamily="18" charset="0"/>
                <a:ea typeface="+mj-ea"/>
                <a:cs typeface="Times New Roman" panose="02020603050405020304" pitchFamily="18" charset="0"/>
              </a:rPr>
              <a:t>相关性</a:t>
            </a:r>
          </a:p>
        </p:txBody>
      </p:sp>
      <p:sp>
        <p:nvSpPr>
          <p:cNvPr id="2" name="日期占位符 1">
            <a:extLst>
              <a:ext uri="{FF2B5EF4-FFF2-40B4-BE49-F238E27FC236}">
                <a16:creationId xmlns:a16="http://schemas.microsoft.com/office/drawing/2014/main" id="{8A13D222-722E-F8A7-B8F0-D4466162DEB5}"/>
              </a:ext>
            </a:extLst>
          </p:cNvPr>
          <p:cNvSpPr>
            <a:spLocks noGrp="1"/>
          </p:cNvSpPr>
          <p:nvPr>
            <p:ph type="dt" sz="half" idx="10"/>
          </p:nvPr>
        </p:nvSpPr>
        <p:spPr/>
        <p:txBody>
          <a:bodyPr/>
          <a:lstStyle/>
          <a:p>
            <a:pPr>
              <a:defRPr/>
            </a:pPr>
            <a:fld id="{987BCF1D-612A-40E3-9EA7-4B0AC2C3EC16}"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446F8622-ED08-2B5E-7F19-C15AE887DE2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7484C22-1CB3-B627-AA0A-55BD86A19C85}"/>
              </a:ext>
            </a:extLst>
          </p:cNvPr>
          <p:cNvSpPr>
            <a:spLocks noGrp="1"/>
          </p:cNvSpPr>
          <p:nvPr>
            <p:ph type="sldNum" sz="quarter" idx="12"/>
          </p:nvPr>
        </p:nvSpPr>
        <p:spPr/>
        <p:txBody>
          <a:bodyPr/>
          <a:lstStyle/>
          <a:p>
            <a:pPr>
              <a:defRPr/>
            </a:pPr>
            <a:fld id="{8BCAC33D-D29A-48B3-BCD6-381D3D720D26}" type="slidenum">
              <a:rPr lang="zh-CN" altLang="en-US" smtClean="0"/>
              <a:t>42</a:t>
            </a:fld>
            <a:endParaRPr lang="en-US" altLang="zh-CN"/>
          </a:p>
        </p:txBody>
      </p:sp>
    </p:spTree>
    <p:extLst>
      <p:ext uri="{BB962C8B-B14F-4D97-AF65-F5344CB8AC3E}">
        <p14:creationId xmlns:p14="http://schemas.microsoft.com/office/powerpoint/2010/main" val="2675944335"/>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descr="Rectangle: Click to edit Master text styles&#10;Second level&#10;Third level&#10;Fourth level&#10;Fifth level"/>
          <p:cNvSpPr>
            <a:spLocks noGrp="1" noChangeArrowheads="1"/>
          </p:cNvSpPr>
          <p:nvPr>
            <p:ph idx="1"/>
          </p:nvPr>
        </p:nvSpPr>
        <p:spPr>
          <a:xfrm>
            <a:off x="457200" y="1484313"/>
            <a:ext cx="8229600" cy="3673475"/>
          </a:xfrm>
        </p:spPr>
        <p:txBody>
          <a:bodyPr/>
          <a:lstStyle/>
          <a:p>
            <a:pPr marL="457200" indent="-457200" eaLnBrk="1" hangingPunct="1">
              <a:buFont typeface="黑体" pitchFamily="49" charset="-122"/>
              <a:buAutoNum type="arabicPeriod"/>
              <a:defRPr/>
            </a:pPr>
            <a:r>
              <a:rPr lang="zh-CN" altLang="en-US" sz="2400" b="1" dirty="0">
                <a:latin typeface="Times New Roman" panose="02020603050405020304" pitchFamily="18" charset="0"/>
                <a:cs typeface="Times New Roman" panose="02020603050405020304" pitchFamily="18" charset="0"/>
              </a:rPr>
              <a:t>数据相关、真数据相关、数据流相关</a:t>
            </a:r>
            <a:endParaRPr lang="en-US" altLang="zh-CN" sz="2400" b="1" dirty="0">
              <a:latin typeface="Times New Roman" panose="02020603050405020304" pitchFamily="18" charset="0"/>
              <a:cs typeface="Times New Roman" panose="02020603050405020304" pitchFamily="18" charset="0"/>
            </a:endParaRPr>
          </a:p>
          <a:p>
            <a:pPr marL="0" indent="0" eaLnBrk="1" hangingPunct="1">
              <a:buNone/>
              <a:defRPr/>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Data dependence</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Flow Dependence</a:t>
            </a:r>
            <a:r>
              <a:rPr lang="zh-CN" altLang="en-US" sz="2400" b="1" dirty="0">
                <a:latin typeface="Times New Roman" panose="02020603050405020304" pitchFamily="18" charset="0"/>
                <a:cs typeface="Times New Roman" panose="02020603050405020304" pitchFamily="18" charset="0"/>
              </a:rPr>
              <a:t>）</a:t>
            </a:r>
          </a:p>
          <a:p>
            <a:pPr marL="1085850" lvl="1" indent="-457200" eaLnBrk="1" hangingPunct="1">
              <a:defRPr/>
            </a:pPr>
            <a:r>
              <a:rPr lang="zh-CN" altLang="en-US" sz="2400" b="1" dirty="0">
                <a:latin typeface="Times New Roman" panose="02020603050405020304" pitchFamily="18" charset="0"/>
                <a:cs typeface="Times New Roman" panose="02020603050405020304" pitchFamily="18" charset="0"/>
              </a:rPr>
              <a:t>对于两条指令</a:t>
            </a:r>
            <a:r>
              <a:rPr lang="en-US" altLang="zh-CN" sz="2400" b="1" dirty="0">
                <a:solidFill>
                  <a:srgbClr val="9933FF"/>
                </a:solidFill>
                <a:latin typeface="Times New Roman" panose="02020603050405020304" pitchFamily="18" charset="0"/>
                <a:cs typeface="Times New Roman" panose="02020603050405020304" pitchFamily="18" charset="0"/>
              </a:rPr>
              <a:t>i</a:t>
            </a:r>
            <a:r>
              <a:rPr lang="zh-CN" altLang="en-US" sz="2400" b="1" dirty="0">
                <a:latin typeface="Times New Roman" panose="02020603050405020304" pitchFamily="18" charset="0"/>
                <a:cs typeface="Times New Roman" panose="02020603050405020304" pitchFamily="18" charset="0"/>
              </a:rPr>
              <a:t>（在前）和</a:t>
            </a:r>
            <a:r>
              <a:rPr lang="en-US" altLang="zh-CN" sz="2400" b="1" dirty="0">
                <a:solidFill>
                  <a:srgbClr val="9933FF"/>
                </a:solidFill>
                <a:latin typeface="Times New Roman" panose="02020603050405020304" pitchFamily="18" charset="0"/>
                <a:cs typeface="Times New Roman" panose="02020603050405020304" pitchFamily="18" charset="0"/>
              </a:rPr>
              <a:t>j</a:t>
            </a:r>
            <a:r>
              <a:rPr lang="zh-CN" altLang="en-US" sz="2400" b="1" dirty="0">
                <a:latin typeface="Times New Roman" panose="02020603050405020304" pitchFamily="18" charset="0"/>
                <a:cs typeface="Times New Roman" panose="02020603050405020304" pitchFamily="18" charset="0"/>
              </a:rPr>
              <a:t>（在后），如果下述条件之一成立，则称</a:t>
            </a:r>
            <a:r>
              <a:rPr lang="zh-CN" altLang="en-US" sz="2400" b="1" dirty="0">
                <a:solidFill>
                  <a:srgbClr val="9933FF"/>
                </a:solidFill>
                <a:latin typeface="Times New Roman" panose="02020603050405020304" pitchFamily="18" charset="0"/>
                <a:cs typeface="Times New Roman" panose="02020603050405020304" pitchFamily="18" charset="0"/>
              </a:rPr>
              <a:t>指令</a:t>
            </a:r>
            <a:r>
              <a:rPr lang="en-US" altLang="zh-CN" sz="2400" b="1" dirty="0">
                <a:solidFill>
                  <a:srgbClr val="9933FF"/>
                </a:solidFill>
                <a:latin typeface="Times New Roman" panose="02020603050405020304" pitchFamily="18" charset="0"/>
                <a:cs typeface="Times New Roman" panose="02020603050405020304" pitchFamily="18" charset="0"/>
              </a:rPr>
              <a:t>j</a:t>
            </a:r>
            <a:r>
              <a:rPr lang="zh-CN" altLang="en-US" sz="2400" b="1" dirty="0">
                <a:latin typeface="Times New Roman" panose="02020603050405020304" pitchFamily="18" charset="0"/>
                <a:cs typeface="Times New Roman" panose="02020603050405020304" pitchFamily="18" charset="0"/>
              </a:rPr>
              <a:t>与</a:t>
            </a:r>
            <a:r>
              <a:rPr lang="zh-CN" altLang="en-US" sz="2400" b="1" dirty="0">
                <a:solidFill>
                  <a:srgbClr val="9933FF"/>
                </a:solidFill>
                <a:latin typeface="Times New Roman" panose="02020603050405020304" pitchFamily="18" charset="0"/>
                <a:cs typeface="Times New Roman" panose="02020603050405020304" pitchFamily="18" charset="0"/>
              </a:rPr>
              <a:t>指令</a:t>
            </a:r>
            <a:r>
              <a:rPr lang="en-US" altLang="zh-CN" sz="2400" b="1" dirty="0">
                <a:solidFill>
                  <a:srgbClr val="9933FF"/>
                </a:solidFill>
                <a:latin typeface="Times New Roman" panose="02020603050405020304" pitchFamily="18" charset="0"/>
                <a:cs typeface="Times New Roman" panose="02020603050405020304" pitchFamily="18" charset="0"/>
              </a:rPr>
              <a:t>i</a:t>
            </a:r>
            <a:r>
              <a:rPr lang="zh-CN" altLang="en-US" sz="2400" b="1" dirty="0">
                <a:solidFill>
                  <a:srgbClr val="FF0000"/>
                </a:solidFill>
                <a:latin typeface="Times New Roman" panose="02020603050405020304" pitchFamily="18" charset="0"/>
                <a:cs typeface="Times New Roman" panose="02020603050405020304" pitchFamily="18" charset="0"/>
              </a:rPr>
              <a:t>数据相关。</a:t>
            </a:r>
            <a:r>
              <a:rPr lang="zh-CN" altLang="en-US" sz="2400" b="1" dirty="0">
                <a:latin typeface="Times New Roman" panose="02020603050405020304" pitchFamily="18" charset="0"/>
                <a:cs typeface="Times New Roman" panose="02020603050405020304" pitchFamily="18" charset="0"/>
              </a:rPr>
              <a:t> </a:t>
            </a:r>
          </a:p>
          <a:p>
            <a:pPr marL="914400" lvl="2" indent="0" eaLnBrk="1" hangingPunct="1">
              <a:buFont typeface="Arial" charset="0"/>
              <a:buNone/>
              <a:defRPr/>
            </a:pP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指令</a:t>
            </a:r>
            <a:r>
              <a:rPr lang="en-US" altLang="zh-CN" b="1" dirty="0">
                <a:solidFill>
                  <a:srgbClr val="9933FF"/>
                </a:solidFill>
                <a:latin typeface="Times New Roman" panose="02020603050405020304" pitchFamily="18" charset="0"/>
                <a:cs typeface="Times New Roman" panose="02020603050405020304" pitchFamily="18" charset="0"/>
              </a:rPr>
              <a:t>j</a:t>
            </a:r>
            <a:r>
              <a:rPr lang="zh-CN" altLang="en-US" b="1" dirty="0">
                <a:latin typeface="Times New Roman" panose="02020603050405020304" pitchFamily="18" charset="0"/>
                <a:cs typeface="Times New Roman" panose="02020603050405020304" pitchFamily="18" charset="0"/>
              </a:rPr>
              <a:t>使用指令</a:t>
            </a:r>
            <a:r>
              <a:rPr lang="en-US" altLang="zh-CN" b="1" dirty="0">
                <a:solidFill>
                  <a:srgbClr val="9933FF"/>
                </a:solidFill>
                <a:latin typeface="Times New Roman" panose="02020603050405020304" pitchFamily="18" charset="0"/>
                <a:cs typeface="Times New Roman" panose="02020603050405020304" pitchFamily="18" charset="0"/>
              </a:rPr>
              <a:t>i</a:t>
            </a:r>
            <a:r>
              <a:rPr lang="zh-CN" altLang="en-US" b="1" dirty="0">
                <a:latin typeface="Times New Roman" panose="02020603050405020304" pitchFamily="18" charset="0"/>
                <a:cs typeface="Times New Roman" panose="02020603050405020304" pitchFamily="18" charset="0"/>
              </a:rPr>
              <a:t>产生的结果；</a:t>
            </a:r>
          </a:p>
          <a:p>
            <a:pPr marL="914400" lvl="2" indent="0" eaLnBrk="1" hangingPunct="1">
              <a:buFont typeface="Arial" charset="0"/>
              <a:buNone/>
              <a:defRPr/>
            </a:pP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指令</a:t>
            </a:r>
            <a:r>
              <a:rPr lang="en-US" altLang="zh-CN" b="1" dirty="0">
                <a:solidFill>
                  <a:srgbClr val="9933FF"/>
                </a:solidFill>
                <a:latin typeface="Times New Roman" panose="02020603050405020304" pitchFamily="18" charset="0"/>
                <a:cs typeface="Times New Roman" panose="02020603050405020304" pitchFamily="18" charset="0"/>
              </a:rPr>
              <a:t>j</a:t>
            </a:r>
            <a:r>
              <a:rPr lang="zh-CN" altLang="en-US" b="1" dirty="0">
                <a:latin typeface="Times New Roman" panose="02020603050405020304" pitchFamily="18" charset="0"/>
                <a:cs typeface="Times New Roman" panose="02020603050405020304" pitchFamily="18" charset="0"/>
              </a:rPr>
              <a:t>与指令</a:t>
            </a:r>
            <a:r>
              <a:rPr lang="en-US" altLang="zh-CN" b="1" dirty="0">
                <a:solidFill>
                  <a:srgbClr val="9933FF"/>
                </a:solidFill>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数据相关，而指令</a:t>
            </a:r>
            <a:r>
              <a:rPr lang="en-US" altLang="zh-CN" b="1" dirty="0">
                <a:solidFill>
                  <a:srgbClr val="9933FF"/>
                </a:solidFill>
                <a:latin typeface="Times New Roman" panose="02020603050405020304" pitchFamily="18" charset="0"/>
                <a:cs typeface="Times New Roman" panose="02020603050405020304" pitchFamily="18" charset="0"/>
              </a:rPr>
              <a:t>k</a:t>
            </a:r>
            <a:r>
              <a:rPr lang="zh-CN" altLang="en-US" b="1" dirty="0">
                <a:latin typeface="Times New Roman" panose="02020603050405020304" pitchFamily="18" charset="0"/>
                <a:cs typeface="Times New Roman" panose="02020603050405020304" pitchFamily="18" charset="0"/>
              </a:rPr>
              <a:t>又与指令</a:t>
            </a:r>
            <a:r>
              <a:rPr lang="en-US" altLang="zh-CN" b="1" dirty="0">
                <a:solidFill>
                  <a:srgbClr val="9933FF"/>
                </a:solidFill>
                <a:latin typeface="Times New Roman" panose="02020603050405020304" pitchFamily="18" charset="0"/>
                <a:cs typeface="Times New Roman" panose="02020603050405020304" pitchFamily="18" charset="0"/>
              </a:rPr>
              <a:t>i</a:t>
            </a:r>
            <a:r>
              <a:rPr lang="zh-CN" altLang="en-US" b="1" dirty="0">
                <a:latin typeface="Times New Roman" panose="02020603050405020304" pitchFamily="18" charset="0"/>
                <a:cs typeface="Times New Roman" panose="02020603050405020304" pitchFamily="18" charset="0"/>
              </a:rPr>
              <a:t>数据相关。</a:t>
            </a:r>
          </a:p>
          <a:p>
            <a:pPr marL="1085850" lvl="1" indent="-457200" eaLnBrk="1" hangingPunct="1">
              <a:defRPr/>
            </a:pPr>
            <a:r>
              <a:rPr lang="zh-CN" altLang="en-US" sz="2400" b="1" dirty="0">
                <a:latin typeface="Times New Roman" panose="02020603050405020304" pitchFamily="18" charset="0"/>
                <a:cs typeface="Times New Roman" panose="02020603050405020304" pitchFamily="18" charset="0"/>
              </a:rPr>
              <a:t>数据相关具有</a:t>
            </a:r>
            <a:r>
              <a:rPr lang="zh-CN" altLang="en-US" sz="2400" b="1" dirty="0">
                <a:solidFill>
                  <a:srgbClr val="D60093"/>
                </a:solidFill>
                <a:latin typeface="Times New Roman" panose="02020603050405020304" pitchFamily="18" charset="0"/>
                <a:cs typeface="Times New Roman" panose="02020603050405020304" pitchFamily="18" charset="0"/>
              </a:rPr>
              <a:t>传递性。</a:t>
            </a:r>
          </a:p>
          <a:p>
            <a:pPr marL="457200" indent="-457200" eaLnBrk="1" hangingPunct="1">
              <a:buFont typeface="Wingdings" pitchFamily="2" charset="2"/>
              <a:buNone/>
              <a:defRPr/>
            </a:pPr>
            <a:r>
              <a:rPr lang="zh-CN" altLang="en-US" sz="2400" b="1" dirty="0">
                <a:latin typeface="Times New Roman" panose="02020603050405020304" pitchFamily="18" charset="0"/>
                <a:cs typeface="Times New Roman" panose="02020603050405020304" pitchFamily="18" charset="0"/>
              </a:rPr>
              <a:t>               </a:t>
            </a:r>
          </a:p>
        </p:txBody>
      </p:sp>
      <p:sp>
        <p:nvSpPr>
          <p:cNvPr id="4" name="Text Box 4"/>
          <p:cNvSpPr txBox="1">
            <a:spLocks noChangeArrowheads="1"/>
          </p:cNvSpPr>
          <p:nvPr/>
        </p:nvSpPr>
        <p:spPr bwMode="auto">
          <a:xfrm>
            <a:off x="-7938" y="476250"/>
            <a:ext cx="9144001"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algn="ctr">
              <a:spcBef>
                <a:spcPct val="50000"/>
              </a:spcBef>
              <a:buFont typeface="Wingdings" pitchFamily="2" charset="2"/>
              <a:buNone/>
              <a:defRPr/>
            </a:pPr>
            <a:r>
              <a:rPr lang="en-US" altLang="zh-CN" sz="3600" b="1" dirty="0">
                <a:solidFill>
                  <a:srgbClr val="000000"/>
                </a:solidFill>
                <a:latin typeface="Times New Roman" panose="02020603050405020304" pitchFamily="18" charset="0"/>
                <a:ea typeface="+mj-ea"/>
                <a:cs typeface="Times New Roman" panose="02020603050405020304" pitchFamily="18" charset="0"/>
              </a:rPr>
              <a:t>4.1.2 </a:t>
            </a:r>
            <a:r>
              <a:rPr lang="zh-CN" altLang="en-US" sz="3600" b="1" dirty="0">
                <a:solidFill>
                  <a:srgbClr val="000000"/>
                </a:solidFill>
                <a:latin typeface="Times New Roman" panose="02020603050405020304" pitchFamily="18" charset="0"/>
                <a:ea typeface="+mj-ea"/>
                <a:cs typeface="Times New Roman" panose="02020603050405020304" pitchFamily="18" charset="0"/>
              </a:rPr>
              <a:t>相关性</a:t>
            </a:r>
          </a:p>
        </p:txBody>
      </p:sp>
      <p:sp>
        <p:nvSpPr>
          <p:cNvPr id="38916" name="TextBox 1"/>
          <p:cNvSpPr txBox="1">
            <a:spLocks noChangeArrowheads="1"/>
          </p:cNvSpPr>
          <p:nvPr/>
        </p:nvSpPr>
        <p:spPr bwMode="auto">
          <a:xfrm>
            <a:off x="1331913" y="5373688"/>
            <a:ext cx="60325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2400" b="1" u="sng" dirty="0">
                <a:solidFill>
                  <a:srgbClr val="FF0000"/>
                </a:solidFill>
              </a:rPr>
              <a:t>数据相关是两条指令存在先写后读的相关链</a:t>
            </a:r>
            <a:endParaRPr lang="en-US" altLang="zh-CN" sz="2400" b="1" u="sng" dirty="0">
              <a:solidFill>
                <a:srgbClr val="FF0000"/>
              </a:solidFill>
            </a:endParaRPr>
          </a:p>
          <a:p>
            <a:pPr algn="ctr" eaLnBrk="1" hangingPunct="1"/>
            <a:r>
              <a:rPr lang="zh-CN" altLang="en-US" sz="2400" b="1" u="sng" dirty="0">
                <a:solidFill>
                  <a:srgbClr val="FF0000"/>
                </a:solidFill>
              </a:rPr>
              <a:t>引起流水线的</a:t>
            </a:r>
            <a:r>
              <a:rPr lang="en-US" altLang="zh-CN" sz="2400" b="1" u="sng" dirty="0">
                <a:solidFill>
                  <a:srgbClr val="FF0000"/>
                </a:solidFill>
              </a:rPr>
              <a:t>RAW</a:t>
            </a:r>
            <a:r>
              <a:rPr lang="zh-CN" altLang="en-US" sz="2400" b="1" u="sng" dirty="0">
                <a:solidFill>
                  <a:srgbClr val="FF0000"/>
                </a:solidFill>
              </a:rPr>
              <a:t>冲突 </a:t>
            </a:r>
          </a:p>
        </p:txBody>
      </p:sp>
      <p:sp>
        <p:nvSpPr>
          <p:cNvPr id="2" name="日期占位符 1">
            <a:extLst>
              <a:ext uri="{FF2B5EF4-FFF2-40B4-BE49-F238E27FC236}">
                <a16:creationId xmlns:a16="http://schemas.microsoft.com/office/drawing/2014/main" id="{BC1E0D47-1C8C-CFE4-7C44-A0C3F117E19D}"/>
              </a:ext>
            </a:extLst>
          </p:cNvPr>
          <p:cNvSpPr>
            <a:spLocks noGrp="1"/>
          </p:cNvSpPr>
          <p:nvPr>
            <p:ph type="dt" sz="half" idx="10"/>
          </p:nvPr>
        </p:nvSpPr>
        <p:spPr/>
        <p:txBody>
          <a:bodyPr/>
          <a:lstStyle/>
          <a:p>
            <a:pPr>
              <a:defRPr/>
            </a:pPr>
            <a:fld id="{36405E1C-B751-4E78-A587-0AC3D6F43CE1}"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EC6F74A7-DD17-D0E5-8104-049C4B4B8AF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E9BCC61C-86B9-89F2-6A7A-B88339252FDC}"/>
              </a:ext>
            </a:extLst>
          </p:cNvPr>
          <p:cNvSpPr>
            <a:spLocks noGrp="1"/>
          </p:cNvSpPr>
          <p:nvPr>
            <p:ph type="sldNum" sz="quarter" idx="12"/>
          </p:nvPr>
        </p:nvSpPr>
        <p:spPr/>
        <p:txBody>
          <a:bodyPr/>
          <a:lstStyle/>
          <a:p>
            <a:pPr>
              <a:defRPr/>
            </a:pPr>
            <a:fld id="{8BCAC33D-D29A-48B3-BCD6-381D3D720D26}" type="slidenum">
              <a:rPr lang="zh-CN" altLang="en-US" smtClean="0"/>
              <a:t>43</a:t>
            </a:fld>
            <a:endParaRPr lang="en-US" altLang="zh-CN"/>
          </a:p>
        </p:txBody>
      </p:sp>
    </p:spTree>
    <p:extLst>
      <p:ext uri="{BB962C8B-B14F-4D97-AF65-F5344CB8AC3E}">
        <p14:creationId xmlns:p14="http://schemas.microsoft.com/office/powerpoint/2010/main" val="2614075689"/>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descr="Rectangle: Click to edit Master text styles&#10;Second level&#10;Third level&#10;Fourth level&#10;Fifth level"/>
          <p:cNvSpPr>
            <a:spLocks noGrp="1" noChangeArrowheads="1"/>
          </p:cNvSpPr>
          <p:nvPr>
            <p:ph idx="1"/>
          </p:nvPr>
        </p:nvSpPr>
        <p:spPr>
          <a:xfrm>
            <a:off x="323850" y="333375"/>
            <a:ext cx="7772400" cy="625475"/>
          </a:xfrm>
        </p:spPr>
        <p:txBody>
          <a:bodyPr/>
          <a:lstStyle/>
          <a:p>
            <a:pPr marL="457200" indent="-457200" eaLnBrk="1" hangingPunct="1">
              <a:buFont typeface="Wingdings" pitchFamily="2" charset="2"/>
              <a:buNone/>
            </a:pPr>
            <a:r>
              <a:rPr lang="en-US" altLang="zh-CN"/>
              <a:t>  </a:t>
            </a:r>
            <a:r>
              <a:rPr lang="zh-CN" altLang="en-US" b="1"/>
              <a:t>例如：下面这一段代码存在数据相关。</a:t>
            </a:r>
            <a:r>
              <a:rPr lang="en-US" altLang="zh-CN" b="1"/>
              <a:t>(</a:t>
            </a:r>
            <a:r>
              <a:rPr lang="zh-CN" altLang="en-US" b="1"/>
              <a:t>数组增值</a:t>
            </a:r>
            <a:r>
              <a:rPr lang="en-US" altLang="zh-CN" b="1"/>
              <a:t>)</a:t>
            </a:r>
            <a:endParaRPr lang="zh-CN" altLang="en-US" b="1"/>
          </a:p>
        </p:txBody>
      </p:sp>
      <p:sp>
        <p:nvSpPr>
          <p:cNvPr id="39939" name="Text Box 4"/>
          <p:cNvSpPr txBox="1">
            <a:spLocks noChangeArrowheads="1"/>
          </p:cNvSpPr>
          <p:nvPr/>
        </p:nvSpPr>
        <p:spPr bwMode="auto">
          <a:xfrm>
            <a:off x="684213" y="1700213"/>
            <a:ext cx="8137525" cy="374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50000"/>
              </a:lnSpc>
              <a:buFont typeface="Wingdings" pitchFamily="2" charset="2"/>
              <a:buNone/>
            </a:pPr>
            <a:r>
              <a:rPr lang="en-US" altLang="zh-CN" sz="2400" b="1" dirty="0">
                <a:solidFill>
                  <a:srgbClr val="000000"/>
                </a:solidFill>
                <a:latin typeface="宋体" pitchFamily="2" charset="-122"/>
              </a:rPr>
              <a:t>Loop</a:t>
            </a: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LD      </a:t>
            </a:r>
            <a:r>
              <a:rPr lang="en-US" altLang="zh-CN" sz="2400" b="1" dirty="0">
                <a:solidFill>
                  <a:srgbClr val="D60093"/>
                </a:solidFill>
                <a:latin typeface="宋体" pitchFamily="2" charset="-122"/>
              </a:rPr>
              <a:t>F0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R1</a:t>
            </a:r>
            <a:r>
              <a:rPr lang="zh-CN" altLang="en-US" sz="2400" b="1" dirty="0">
                <a:solidFill>
                  <a:srgbClr val="000000"/>
                </a:solidFill>
                <a:latin typeface="宋体" pitchFamily="2" charset="-122"/>
              </a:rPr>
              <a:t>）	</a:t>
            </a:r>
            <a:r>
              <a:rPr lang="en-US" altLang="zh-CN" sz="2400" b="1" dirty="0">
                <a:solidFill>
                  <a:srgbClr val="0000CC"/>
                </a:solidFill>
                <a:latin typeface="宋体" pitchFamily="2" charset="-122"/>
              </a:rPr>
              <a:t>// F0</a:t>
            </a:r>
            <a:r>
              <a:rPr lang="zh-CN" altLang="en-US" sz="2400" b="1" dirty="0">
                <a:solidFill>
                  <a:srgbClr val="0000CC"/>
                </a:solidFill>
                <a:latin typeface="宋体" pitchFamily="2" charset="-122"/>
              </a:rPr>
              <a:t>为数组元素</a:t>
            </a:r>
          </a:p>
          <a:p>
            <a:pPr eaLnBrk="1" hangingPunct="1">
              <a:lnSpc>
                <a:spcPct val="150000"/>
              </a:lnSpc>
              <a:buFont typeface="Wingdings" pitchFamily="2" charset="2"/>
              <a:buNone/>
            </a:pPr>
            <a:r>
              <a:rPr lang="zh-CN" altLang="en-US" sz="2400" b="1" dirty="0">
                <a:solidFill>
                  <a:srgbClr val="000000"/>
                </a:solidFill>
                <a:latin typeface="宋体" pitchFamily="2" charset="-122"/>
              </a:rPr>
              <a:t>       </a:t>
            </a:r>
          </a:p>
          <a:p>
            <a:pPr eaLnBrk="1" hangingPunct="1">
              <a:lnSpc>
                <a:spcPct val="80000"/>
              </a:lnSpc>
              <a:buFont typeface="Wingdings" pitchFamily="2" charset="2"/>
              <a:buNone/>
            </a:pP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ADDD    </a:t>
            </a:r>
            <a:r>
              <a:rPr lang="en-US" altLang="zh-CN" sz="2400" b="1" dirty="0">
                <a:solidFill>
                  <a:srgbClr val="008000"/>
                </a:solidFill>
                <a:latin typeface="宋体" pitchFamily="2" charset="-122"/>
              </a:rPr>
              <a:t>F4</a:t>
            </a:r>
            <a:r>
              <a:rPr lang="zh-CN" altLang="en-US" sz="2400" b="1" dirty="0">
                <a:solidFill>
                  <a:srgbClr val="000000"/>
                </a:solidFill>
                <a:latin typeface="宋体" pitchFamily="2" charset="-122"/>
              </a:rPr>
              <a:t>，</a:t>
            </a:r>
            <a:r>
              <a:rPr lang="en-US" altLang="zh-CN" sz="2400" b="1" dirty="0">
                <a:solidFill>
                  <a:srgbClr val="D60093"/>
                </a:solidFill>
                <a:latin typeface="宋体" pitchFamily="2" charset="-122"/>
              </a:rPr>
              <a:t>F0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F2	</a:t>
            </a:r>
            <a:r>
              <a:rPr lang="en-US" altLang="zh-CN" sz="2400" b="1" dirty="0">
                <a:solidFill>
                  <a:srgbClr val="0000CC"/>
                </a:solidFill>
                <a:latin typeface="宋体" pitchFamily="2" charset="-122"/>
              </a:rPr>
              <a:t>// </a:t>
            </a:r>
            <a:r>
              <a:rPr lang="zh-CN" altLang="en-US" sz="2400" b="1" dirty="0">
                <a:solidFill>
                  <a:srgbClr val="0000CC"/>
                </a:solidFill>
                <a:latin typeface="宋体" pitchFamily="2" charset="-122"/>
              </a:rPr>
              <a:t>加上</a:t>
            </a:r>
            <a:r>
              <a:rPr lang="en-US" altLang="zh-CN" sz="2400" b="1" dirty="0">
                <a:solidFill>
                  <a:srgbClr val="0000CC"/>
                </a:solidFill>
                <a:latin typeface="宋体" pitchFamily="2" charset="-122"/>
              </a:rPr>
              <a:t>F2</a:t>
            </a:r>
            <a:r>
              <a:rPr lang="zh-CN" altLang="en-US" sz="2400" b="1" dirty="0">
                <a:solidFill>
                  <a:srgbClr val="0000CC"/>
                </a:solidFill>
                <a:latin typeface="宋体" pitchFamily="2" charset="-122"/>
              </a:rPr>
              <a:t>中的值</a:t>
            </a:r>
          </a:p>
          <a:p>
            <a:pPr eaLnBrk="1" hangingPunct="1">
              <a:lnSpc>
                <a:spcPct val="270000"/>
              </a:lnSpc>
              <a:buFont typeface="Wingdings" pitchFamily="2" charset="2"/>
              <a:buNone/>
            </a:pP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SD      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R1</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a:t>
            </a:r>
            <a:r>
              <a:rPr lang="en-US" altLang="zh-CN" sz="2400" dirty="0">
                <a:solidFill>
                  <a:srgbClr val="008000"/>
                </a:solidFill>
                <a:latin typeface="宋体" pitchFamily="2" charset="-122"/>
              </a:rPr>
              <a:t> F4 </a:t>
            </a:r>
            <a:r>
              <a:rPr lang="zh-CN" altLang="en-US" sz="2400" b="1" dirty="0">
                <a:solidFill>
                  <a:srgbClr val="000000"/>
                </a:solidFill>
                <a:latin typeface="宋体" pitchFamily="2" charset="-122"/>
              </a:rPr>
              <a:t>	</a:t>
            </a:r>
            <a:r>
              <a:rPr lang="en-US" altLang="zh-CN" sz="2400" b="1" dirty="0">
                <a:solidFill>
                  <a:srgbClr val="0000CC"/>
                </a:solidFill>
                <a:latin typeface="宋体" pitchFamily="2" charset="-122"/>
              </a:rPr>
              <a:t>// </a:t>
            </a:r>
            <a:r>
              <a:rPr lang="zh-CN" altLang="en-US" sz="2400" b="1" dirty="0">
                <a:solidFill>
                  <a:srgbClr val="0000CC"/>
                </a:solidFill>
                <a:latin typeface="宋体" pitchFamily="2" charset="-122"/>
              </a:rPr>
              <a:t>保存结果</a:t>
            </a:r>
          </a:p>
          <a:p>
            <a:pPr eaLnBrk="1" hangingPunct="1">
              <a:lnSpc>
                <a:spcPct val="110000"/>
              </a:lnSpc>
              <a:buFont typeface="Wingdings" pitchFamily="2" charset="2"/>
              <a:buNone/>
            </a:pP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SUBI    </a:t>
            </a:r>
            <a:r>
              <a:rPr lang="en-US" altLang="zh-CN" sz="2400" b="1" dirty="0">
                <a:solidFill>
                  <a:srgbClr val="9933FF"/>
                </a:solidFill>
                <a:latin typeface="宋体" pitchFamily="2" charset="-122"/>
              </a:rPr>
              <a:t>R1</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R1</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#8	</a:t>
            </a:r>
            <a:r>
              <a:rPr lang="en-US" altLang="zh-CN" sz="2400" b="1" dirty="0">
                <a:solidFill>
                  <a:srgbClr val="0000CC"/>
                </a:solidFill>
                <a:latin typeface="宋体" pitchFamily="2" charset="-122"/>
              </a:rPr>
              <a:t>// </a:t>
            </a:r>
            <a:r>
              <a:rPr lang="zh-CN" altLang="en-US" sz="2400" b="1" dirty="0">
                <a:solidFill>
                  <a:srgbClr val="0000CC"/>
                </a:solidFill>
                <a:latin typeface="宋体" pitchFamily="2" charset="-122"/>
              </a:rPr>
              <a:t>数组指针递减</a:t>
            </a:r>
            <a:r>
              <a:rPr lang="en-US" altLang="zh-CN" sz="2400" b="1" dirty="0">
                <a:solidFill>
                  <a:srgbClr val="0000CC"/>
                </a:solidFill>
                <a:latin typeface="宋体" pitchFamily="2" charset="-122"/>
              </a:rPr>
              <a:t>8</a:t>
            </a:r>
            <a:r>
              <a:rPr lang="zh-CN" altLang="en-US" sz="2400" b="1" dirty="0">
                <a:solidFill>
                  <a:srgbClr val="0000CC"/>
                </a:solidFill>
                <a:latin typeface="宋体" pitchFamily="2" charset="-122"/>
              </a:rPr>
              <a:t>个字节</a:t>
            </a:r>
          </a:p>
          <a:p>
            <a:pPr eaLnBrk="1" hangingPunct="1">
              <a:lnSpc>
                <a:spcPct val="230000"/>
              </a:lnSpc>
              <a:buFont typeface="Wingdings" pitchFamily="2" charset="2"/>
              <a:buNone/>
            </a:pP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BNEZ    </a:t>
            </a:r>
            <a:r>
              <a:rPr lang="en-US" altLang="zh-CN" sz="2400" b="1" dirty="0">
                <a:solidFill>
                  <a:srgbClr val="9933FF"/>
                </a:solidFill>
                <a:latin typeface="宋体" pitchFamily="2" charset="-122"/>
              </a:rPr>
              <a:t>R1</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Loop	     </a:t>
            </a:r>
            <a:r>
              <a:rPr lang="en-US" altLang="zh-CN" sz="2400" b="1" dirty="0">
                <a:solidFill>
                  <a:srgbClr val="0000CC"/>
                </a:solidFill>
                <a:latin typeface="宋体" pitchFamily="2" charset="-122"/>
              </a:rPr>
              <a:t>// </a:t>
            </a:r>
            <a:r>
              <a:rPr lang="zh-CN" altLang="en-US" sz="2400" b="1" dirty="0">
                <a:solidFill>
                  <a:srgbClr val="0000CC"/>
                </a:solidFill>
                <a:latin typeface="宋体" pitchFamily="2" charset="-122"/>
              </a:rPr>
              <a:t>如果</a:t>
            </a:r>
            <a:r>
              <a:rPr lang="en-US" altLang="zh-CN" sz="2400" b="1" dirty="0">
                <a:solidFill>
                  <a:srgbClr val="0000CC"/>
                </a:solidFill>
                <a:latin typeface="宋体" pitchFamily="2" charset="-122"/>
              </a:rPr>
              <a:t>R1≠0</a:t>
            </a:r>
            <a:r>
              <a:rPr lang="zh-CN" altLang="en-US" sz="2400" b="1" dirty="0">
                <a:solidFill>
                  <a:srgbClr val="0000CC"/>
                </a:solidFill>
                <a:latin typeface="宋体" pitchFamily="2" charset="-122"/>
              </a:rPr>
              <a:t>，则分支</a:t>
            </a:r>
            <a:r>
              <a:rPr lang="zh-CN" altLang="en-US" sz="2400" b="1" dirty="0">
                <a:solidFill>
                  <a:srgbClr val="000000"/>
                </a:solidFill>
                <a:latin typeface="宋体" pitchFamily="2" charset="-122"/>
              </a:rPr>
              <a:t> </a:t>
            </a:r>
          </a:p>
        </p:txBody>
      </p:sp>
      <p:sp>
        <p:nvSpPr>
          <p:cNvPr id="39940" name="Line 5"/>
          <p:cNvSpPr>
            <a:spLocks noChangeShapeType="1"/>
          </p:cNvSpPr>
          <p:nvPr/>
        </p:nvSpPr>
        <p:spPr bwMode="auto">
          <a:xfrm>
            <a:off x="3276600" y="2276475"/>
            <a:ext cx="647700" cy="504825"/>
          </a:xfrm>
          <a:prstGeom prst="line">
            <a:avLst/>
          </a:prstGeom>
          <a:noFill/>
          <a:ln w="12700">
            <a:solidFill>
              <a:srgbClr val="D6009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1" name="Line 6"/>
          <p:cNvSpPr>
            <a:spLocks noChangeShapeType="1"/>
          </p:cNvSpPr>
          <p:nvPr/>
        </p:nvSpPr>
        <p:spPr bwMode="auto">
          <a:xfrm>
            <a:off x="3276600" y="3139090"/>
            <a:ext cx="1151384" cy="505934"/>
          </a:xfrm>
          <a:prstGeom prst="line">
            <a:avLst/>
          </a:prstGeom>
          <a:noFill/>
          <a:ln w="95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42" name="Line 7"/>
          <p:cNvSpPr>
            <a:spLocks noChangeShapeType="1"/>
          </p:cNvSpPr>
          <p:nvPr/>
        </p:nvSpPr>
        <p:spPr bwMode="auto">
          <a:xfrm>
            <a:off x="3276600" y="4437063"/>
            <a:ext cx="0" cy="503237"/>
          </a:xfrm>
          <a:prstGeom prst="line">
            <a:avLst/>
          </a:prstGeom>
          <a:noFill/>
          <a:ln w="9525">
            <a:solidFill>
              <a:srgbClr val="9933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日期占位符 1">
            <a:extLst>
              <a:ext uri="{FF2B5EF4-FFF2-40B4-BE49-F238E27FC236}">
                <a16:creationId xmlns:a16="http://schemas.microsoft.com/office/drawing/2014/main" id="{649028B7-0F42-D27B-D03C-1BA164D545A3}"/>
              </a:ext>
            </a:extLst>
          </p:cNvPr>
          <p:cNvSpPr>
            <a:spLocks noGrp="1"/>
          </p:cNvSpPr>
          <p:nvPr>
            <p:ph type="dt" sz="half" idx="10"/>
          </p:nvPr>
        </p:nvSpPr>
        <p:spPr/>
        <p:txBody>
          <a:bodyPr/>
          <a:lstStyle/>
          <a:p>
            <a:pPr>
              <a:defRPr/>
            </a:pPr>
            <a:fld id="{E5CCBA67-B7F3-4A0C-BF34-4C1DA810D5EA}"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606E8DAB-65C7-90AD-BB01-44D9A3BD143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69481C6-1497-2B5A-3EFF-CD56690D0E7B}"/>
              </a:ext>
            </a:extLst>
          </p:cNvPr>
          <p:cNvSpPr>
            <a:spLocks noGrp="1"/>
          </p:cNvSpPr>
          <p:nvPr>
            <p:ph type="sldNum" sz="quarter" idx="12"/>
          </p:nvPr>
        </p:nvSpPr>
        <p:spPr/>
        <p:txBody>
          <a:bodyPr/>
          <a:lstStyle/>
          <a:p>
            <a:pPr>
              <a:defRPr/>
            </a:pPr>
            <a:fld id="{8BCAC33D-D29A-48B3-BCD6-381D3D720D26}" type="slidenum">
              <a:rPr lang="zh-CN" altLang="en-US" smtClean="0"/>
              <a:t>44</a:t>
            </a:fld>
            <a:endParaRPr lang="en-US" altLang="zh-CN"/>
          </a:p>
        </p:txBody>
      </p:sp>
    </p:spTree>
    <p:extLst>
      <p:ext uri="{BB962C8B-B14F-4D97-AF65-F5344CB8AC3E}">
        <p14:creationId xmlns:p14="http://schemas.microsoft.com/office/powerpoint/2010/main" val="2472459846"/>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descr="Rectangle: Click to edit Master text styles&#10;Second level&#10;Third level&#10;Fourth level&#10;Fifth level"/>
          <p:cNvSpPr>
            <a:spLocks noGrp="1" noChangeArrowheads="1"/>
          </p:cNvSpPr>
          <p:nvPr>
            <p:ph idx="1"/>
          </p:nvPr>
        </p:nvSpPr>
        <p:spPr>
          <a:xfrm>
            <a:off x="496888" y="836613"/>
            <a:ext cx="8229600" cy="4525962"/>
          </a:xfrm>
        </p:spPr>
        <p:txBody>
          <a:bodyPr/>
          <a:lstStyle/>
          <a:p>
            <a:pPr lvl="1" eaLnBrk="1" hangingPunct="1">
              <a:defRPr/>
            </a:pPr>
            <a:r>
              <a:rPr lang="zh-CN" altLang="en-US" sz="2400" b="1" dirty="0">
                <a:latin typeface="+mj-ea"/>
                <a:ea typeface="+mj-ea"/>
              </a:rPr>
              <a:t>如果两条指令之间有</a:t>
            </a:r>
            <a:r>
              <a:rPr lang="zh-CN" altLang="en-US" sz="2400" b="1" dirty="0">
                <a:solidFill>
                  <a:srgbClr val="FF0000"/>
                </a:solidFill>
                <a:latin typeface="+mj-ea"/>
                <a:ea typeface="+mj-ea"/>
              </a:rPr>
              <a:t>真数据相关</a:t>
            </a:r>
            <a:r>
              <a:rPr lang="zh-CN" altLang="en-US" sz="2400" b="1" dirty="0">
                <a:latin typeface="+mj-ea"/>
                <a:ea typeface="+mj-ea"/>
              </a:rPr>
              <a:t>，那么它们就不能同时执行或是完全重叠执行</a:t>
            </a:r>
            <a:endParaRPr lang="en-US" altLang="zh-CN" sz="2400" b="1" dirty="0">
              <a:latin typeface="+mj-ea"/>
              <a:ea typeface="+mj-ea"/>
            </a:endParaRPr>
          </a:p>
          <a:p>
            <a:pPr lvl="1" eaLnBrk="1" hangingPunct="1">
              <a:defRPr/>
            </a:pPr>
            <a:r>
              <a:rPr lang="zh-CN" altLang="en-US" sz="2400" b="1" dirty="0">
                <a:latin typeface="+mj-ea"/>
                <a:ea typeface="+mj-ea"/>
              </a:rPr>
              <a:t>同时执行这些指令会造成正在流水的处理机检测到这种冲突并插入暂停，从而减少甚至取消指令之间的重叠</a:t>
            </a:r>
            <a:endParaRPr lang="en-US" altLang="zh-CN" sz="2400" b="1" dirty="0">
              <a:latin typeface="+mj-ea"/>
              <a:ea typeface="+mj-ea"/>
            </a:endParaRPr>
          </a:p>
          <a:p>
            <a:pPr lvl="1" eaLnBrk="1" hangingPunct="1">
              <a:defRPr/>
            </a:pPr>
            <a:r>
              <a:rPr lang="zh-CN" altLang="en-US" sz="2400" b="1" dirty="0">
                <a:latin typeface="+mj-ea"/>
                <a:ea typeface="+mj-ea"/>
              </a:rPr>
              <a:t>指令序列中存在的真数据相关反映出产生该指令序列的程序源代码的相关关系</a:t>
            </a:r>
          </a:p>
        </p:txBody>
      </p:sp>
      <p:sp>
        <p:nvSpPr>
          <p:cNvPr id="4" name="圆角矩形 3"/>
          <p:cNvSpPr>
            <a:spLocks noChangeArrowheads="1"/>
          </p:cNvSpPr>
          <p:nvPr/>
        </p:nvSpPr>
        <p:spPr bwMode="auto">
          <a:xfrm>
            <a:off x="679450" y="4508500"/>
            <a:ext cx="8072438" cy="1285875"/>
          </a:xfrm>
          <a:prstGeom prst="roundRect">
            <a:avLst>
              <a:gd name="adj" fmla="val 16667"/>
            </a:avLst>
          </a:prstGeom>
          <a:gradFill rotWithShape="1">
            <a:gsLst>
              <a:gs pos="0">
                <a:srgbClr val="282F7F"/>
              </a:gs>
              <a:gs pos="20000">
                <a:srgbClr val="29307D"/>
              </a:gs>
              <a:gs pos="100000">
                <a:srgbClr val="1D225E"/>
              </a:gs>
            </a:gsLst>
            <a:lin ang="5400000"/>
          </a:gra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round/>
                <a:headEnd/>
                <a:tailEnd/>
              </a14:hiddenLine>
            </a:ext>
          </a:extLst>
        </p:spPr>
        <p:txBody>
          <a:bodyPr wrap="none"/>
          <a:lstStyle/>
          <a:p>
            <a:pPr algn="ctr">
              <a:buFont typeface="Arial" pitchFamily="34" charset="0"/>
              <a:buNone/>
              <a:defRPr/>
            </a:pPr>
            <a:r>
              <a:rPr lang="zh-CN" altLang="en-US" sz="2200" dirty="0">
                <a:solidFill>
                  <a:srgbClr val="FFFFFF"/>
                </a:solidFill>
              </a:rPr>
              <a:t>相关性是程序的一个特性，</a:t>
            </a:r>
            <a:endParaRPr lang="en-US" altLang="zh-CN" sz="2200" dirty="0">
              <a:solidFill>
                <a:srgbClr val="FFFFFF"/>
              </a:solidFill>
            </a:endParaRPr>
          </a:p>
          <a:p>
            <a:pPr algn="ctr">
              <a:buFont typeface="Arial" pitchFamily="34" charset="0"/>
              <a:buNone/>
              <a:defRPr/>
            </a:pPr>
            <a:r>
              <a:rPr lang="zh-CN" altLang="en-US" sz="2200" dirty="0">
                <a:solidFill>
                  <a:srgbClr val="FFFFFF"/>
                </a:solidFill>
              </a:rPr>
              <a:t>是否一个相关会导致实际的冲突，是否该冲突会造成暂停，</a:t>
            </a:r>
            <a:endParaRPr lang="en-US" altLang="zh-CN" sz="2200" dirty="0">
              <a:solidFill>
                <a:srgbClr val="FFFFFF"/>
              </a:solidFill>
            </a:endParaRPr>
          </a:p>
          <a:p>
            <a:pPr algn="ctr">
              <a:buFont typeface="Arial" pitchFamily="34" charset="0"/>
              <a:buNone/>
              <a:defRPr/>
            </a:pPr>
            <a:r>
              <a:rPr lang="zh-CN" altLang="en-US" sz="2200" dirty="0">
                <a:solidFill>
                  <a:srgbClr val="FFFFFF"/>
                </a:solidFill>
              </a:rPr>
              <a:t>这是流水线结构的基本特性。</a:t>
            </a:r>
            <a:endParaRPr lang="zh-CN" altLang="en-US" sz="2200" dirty="0"/>
          </a:p>
        </p:txBody>
      </p:sp>
      <p:sp>
        <p:nvSpPr>
          <p:cNvPr id="2" name="日期占位符 1">
            <a:extLst>
              <a:ext uri="{FF2B5EF4-FFF2-40B4-BE49-F238E27FC236}">
                <a16:creationId xmlns:a16="http://schemas.microsoft.com/office/drawing/2014/main" id="{C28D9239-28EA-CA5D-3E05-6616EBEFEA38}"/>
              </a:ext>
            </a:extLst>
          </p:cNvPr>
          <p:cNvSpPr>
            <a:spLocks noGrp="1"/>
          </p:cNvSpPr>
          <p:nvPr>
            <p:ph type="dt" sz="half" idx="10"/>
          </p:nvPr>
        </p:nvSpPr>
        <p:spPr/>
        <p:txBody>
          <a:bodyPr/>
          <a:lstStyle/>
          <a:p>
            <a:pPr>
              <a:defRPr/>
            </a:pPr>
            <a:fld id="{16635E5E-BE5A-441E-99FD-CBD2B61C9993}"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BC0A9C20-101D-588E-72B4-DFD70C92ACA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39303DAA-A156-55BB-9C13-036D0AD1E00B}"/>
              </a:ext>
            </a:extLst>
          </p:cNvPr>
          <p:cNvSpPr>
            <a:spLocks noGrp="1"/>
          </p:cNvSpPr>
          <p:nvPr>
            <p:ph type="sldNum" sz="quarter" idx="12"/>
          </p:nvPr>
        </p:nvSpPr>
        <p:spPr/>
        <p:txBody>
          <a:bodyPr/>
          <a:lstStyle/>
          <a:p>
            <a:pPr>
              <a:defRPr/>
            </a:pPr>
            <a:fld id="{8BCAC33D-D29A-48B3-BCD6-381D3D720D26}" type="slidenum">
              <a:rPr lang="zh-CN" altLang="en-US" smtClean="0"/>
              <a:t>45</a:t>
            </a:fld>
            <a:endParaRPr lang="en-US" altLang="zh-CN"/>
          </a:p>
        </p:txBody>
      </p:sp>
    </p:spTree>
    <p:extLst>
      <p:ext uri="{BB962C8B-B14F-4D97-AF65-F5344CB8AC3E}">
        <p14:creationId xmlns:p14="http://schemas.microsoft.com/office/powerpoint/2010/main" val="1478184448"/>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descr="Rectangle: Click to edit Master text styles&#10;Second level&#10;Third level&#10;Fourth level&#10;Fifth level"/>
          <p:cNvSpPr>
            <a:spLocks noGrp="1" noChangeArrowheads="1"/>
          </p:cNvSpPr>
          <p:nvPr>
            <p:ph idx="1"/>
          </p:nvPr>
        </p:nvSpPr>
        <p:spPr>
          <a:xfrm>
            <a:off x="177800" y="5084763"/>
            <a:ext cx="8786813" cy="648493"/>
          </a:xfrm>
        </p:spPr>
        <p:txBody>
          <a:bodyPr/>
          <a:lstStyle/>
          <a:p>
            <a:pPr lvl="1" eaLnBrk="1" hangingPunct="1">
              <a:defRPr/>
            </a:pPr>
            <a:r>
              <a:rPr lang="zh-CN" altLang="en-US" sz="2400" b="1" dirty="0">
                <a:latin typeface="+mj-ea"/>
                <a:ea typeface="+mj-ea"/>
              </a:rPr>
              <a:t>如果分支检测移到了</a:t>
            </a:r>
            <a:r>
              <a:rPr lang="en-US" altLang="zh-CN" sz="2400" b="1" dirty="0">
                <a:latin typeface="+mj-ea"/>
                <a:ea typeface="+mj-ea"/>
              </a:rPr>
              <a:t>ID</a:t>
            </a:r>
            <a:r>
              <a:rPr lang="zh-CN" altLang="en-US" sz="2400" b="1" dirty="0">
                <a:latin typeface="+mj-ea"/>
                <a:ea typeface="+mj-ea"/>
              </a:rPr>
              <a:t>流水段，相关会造成</a:t>
            </a:r>
            <a:r>
              <a:rPr lang="en-US" altLang="zh-CN" sz="2400" b="1" dirty="0">
                <a:latin typeface="+mj-ea"/>
                <a:ea typeface="+mj-ea"/>
              </a:rPr>
              <a:t>1</a:t>
            </a:r>
            <a:r>
              <a:rPr lang="zh-CN" altLang="en-US" sz="2400" b="1" dirty="0">
                <a:latin typeface="+mj-ea"/>
                <a:ea typeface="+mj-ea"/>
              </a:rPr>
              <a:t>次暂</a:t>
            </a:r>
            <a:endParaRPr lang="en-US" altLang="zh-CN" sz="2400" b="1" dirty="0">
              <a:latin typeface="+mj-ea"/>
              <a:ea typeface="+mj-ea"/>
            </a:endParaRPr>
          </a:p>
        </p:txBody>
      </p:sp>
      <p:sp>
        <p:nvSpPr>
          <p:cNvPr id="41987" name="Text Box 4"/>
          <p:cNvSpPr txBox="1">
            <a:spLocks noChangeArrowheads="1"/>
          </p:cNvSpPr>
          <p:nvPr/>
        </p:nvSpPr>
        <p:spPr bwMode="auto">
          <a:xfrm>
            <a:off x="611188" y="692150"/>
            <a:ext cx="813752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lnSpc>
                <a:spcPct val="150000"/>
              </a:lnSpc>
              <a:buFont typeface="Wingdings" pitchFamily="2" charset="2"/>
              <a:buNone/>
            </a:pPr>
            <a:r>
              <a:rPr lang="en-US" altLang="zh-CN" sz="2400" b="1" dirty="0">
                <a:solidFill>
                  <a:srgbClr val="000000"/>
                </a:solidFill>
                <a:latin typeface="宋体" pitchFamily="2" charset="-122"/>
              </a:rPr>
              <a:t>Loop</a:t>
            </a: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LD      </a:t>
            </a:r>
            <a:r>
              <a:rPr lang="en-US" altLang="zh-CN" sz="2400" b="1" dirty="0">
                <a:solidFill>
                  <a:srgbClr val="D60093"/>
                </a:solidFill>
                <a:latin typeface="宋体" pitchFamily="2" charset="-122"/>
              </a:rPr>
              <a:t>F0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R1</a:t>
            </a:r>
            <a:r>
              <a:rPr lang="zh-CN" altLang="en-US" sz="2400" b="1" dirty="0">
                <a:solidFill>
                  <a:srgbClr val="000000"/>
                </a:solidFill>
                <a:latin typeface="宋体" pitchFamily="2" charset="-122"/>
              </a:rPr>
              <a:t>）	</a:t>
            </a:r>
            <a:r>
              <a:rPr lang="en-US" altLang="zh-CN" sz="2400" b="1" dirty="0">
                <a:solidFill>
                  <a:srgbClr val="0000CC"/>
                </a:solidFill>
                <a:latin typeface="宋体" pitchFamily="2" charset="-122"/>
              </a:rPr>
              <a:t>// F0</a:t>
            </a:r>
            <a:r>
              <a:rPr lang="zh-CN" altLang="en-US" sz="2400" b="1" dirty="0">
                <a:solidFill>
                  <a:srgbClr val="0000CC"/>
                </a:solidFill>
                <a:latin typeface="宋体" pitchFamily="2" charset="-122"/>
              </a:rPr>
              <a:t>为数组元素</a:t>
            </a:r>
          </a:p>
          <a:p>
            <a:pPr eaLnBrk="1" hangingPunct="1">
              <a:lnSpc>
                <a:spcPct val="150000"/>
              </a:lnSpc>
              <a:buFont typeface="Wingdings" pitchFamily="2" charset="2"/>
              <a:buNone/>
            </a:pPr>
            <a:r>
              <a:rPr lang="zh-CN" altLang="en-US" sz="2400" b="1" dirty="0">
                <a:solidFill>
                  <a:srgbClr val="000000"/>
                </a:solidFill>
                <a:latin typeface="宋体" pitchFamily="2" charset="-122"/>
              </a:rPr>
              <a:t>       </a:t>
            </a:r>
          </a:p>
          <a:p>
            <a:pPr eaLnBrk="1" hangingPunct="1">
              <a:lnSpc>
                <a:spcPct val="80000"/>
              </a:lnSpc>
              <a:buFont typeface="Wingdings" pitchFamily="2" charset="2"/>
              <a:buNone/>
            </a:pP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ADDD    </a:t>
            </a:r>
            <a:r>
              <a:rPr lang="en-US" altLang="zh-CN" sz="2400" b="1" dirty="0">
                <a:solidFill>
                  <a:srgbClr val="008000"/>
                </a:solidFill>
                <a:latin typeface="宋体" pitchFamily="2" charset="-122"/>
              </a:rPr>
              <a:t>F4</a:t>
            </a:r>
            <a:r>
              <a:rPr lang="zh-CN" altLang="en-US" sz="2400" b="1" dirty="0">
                <a:solidFill>
                  <a:srgbClr val="000000"/>
                </a:solidFill>
                <a:latin typeface="宋体" pitchFamily="2" charset="-122"/>
              </a:rPr>
              <a:t>，</a:t>
            </a:r>
            <a:r>
              <a:rPr lang="en-US" altLang="zh-CN" sz="2400" b="1" dirty="0">
                <a:solidFill>
                  <a:srgbClr val="D60093"/>
                </a:solidFill>
                <a:latin typeface="宋体" pitchFamily="2" charset="-122"/>
              </a:rPr>
              <a:t>F0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F2	</a:t>
            </a:r>
            <a:r>
              <a:rPr lang="en-US" altLang="zh-CN" sz="2400" b="1" dirty="0">
                <a:solidFill>
                  <a:srgbClr val="0000CC"/>
                </a:solidFill>
                <a:latin typeface="宋体" pitchFamily="2" charset="-122"/>
              </a:rPr>
              <a:t>// </a:t>
            </a:r>
            <a:r>
              <a:rPr lang="zh-CN" altLang="en-US" sz="2400" b="1" dirty="0">
                <a:solidFill>
                  <a:srgbClr val="0000CC"/>
                </a:solidFill>
                <a:latin typeface="宋体" pitchFamily="2" charset="-122"/>
              </a:rPr>
              <a:t>加上</a:t>
            </a:r>
            <a:r>
              <a:rPr lang="en-US" altLang="zh-CN" sz="2400" b="1" dirty="0">
                <a:solidFill>
                  <a:srgbClr val="0000CC"/>
                </a:solidFill>
                <a:latin typeface="宋体" pitchFamily="2" charset="-122"/>
              </a:rPr>
              <a:t>F2</a:t>
            </a:r>
            <a:r>
              <a:rPr lang="zh-CN" altLang="en-US" sz="2400" b="1" dirty="0">
                <a:solidFill>
                  <a:srgbClr val="0000CC"/>
                </a:solidFill>
                <a:latin typeface="宋体" pitchFamily="2" charset="-122"/>
              </a:rPr>
              <a:t>中的值</a:t>
            </a:r>
          </a:p>
          <a:p>
            <a:pPr eaLnBrk="1" hangingPunct="1">
              <a:lnSpc>
                <a:spcPct val="270000"/>
              </a:lnSpc>
              <a:buFont typeface="Wingdings" pitchFamily="2" charset="2"/>
              <a:buNone/>
            </a:pPr>
            <a:r>
              <a:rPr lang="zh-CN" altLang="en-US" sz="2400" b="1" dirty="0">
                <a:solidFill>
                  <a:srgbClr val="000000"/>
                </a:solidFill>
                <a:latin typeface="宋体" pitchFamily="2" charset="-122"/>
              </a:rPr>
              <a:t>       </a:t>
            </a:r>
            <a:r>
              <a:rPr lang="en-US" altLang="zh-CN" sz="2400" b="1" dirty="0">
                <a:solidFill>
                  <a:srgbClr val="000000"/>
                </a:solidFill>
                <a:latin typeface="宋体" pitchFamily="2" charset="-122"/>
              </a:rPr>
              <a:t>SD      0</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R1</a:t>
            </a:r>
            <a:r>
              <a:rPr lang="zh-CN" altLang="en-US" sz="2400" b="1" dirty="0">
                <a:solidFill>
                  <a:srgbClr val="000000"/>
                </a:solidFill>
                <a:latin typeface="宋体" pitchFamily="2" charset="-122"/>
              </a:rPr>
              <a:t>）</a:t>
            </a:r>
            <a:r>
              <a:rPr lang="en-US" altLang="zh-CN" sz="2400" b="1" dirty="0">
                <a:solidFill>
                  <a:srgbClr val="000000"/>
                </a:solidFill>
                <a:latin typeface="宋体" pitchFamily="2" charset="-122"/>
              </a:rPr>
              <a:t>,</a:t>
            </a:r>
            <a:r>
              <a:rPr lang="en-US" altLang="zh-CN" sz="2400" dirty="0">
                <a:solidFill>
                  <a:srgbClr val="008000"/>
                </a:solidFill>
                <a:latin typeface="宋体" pitchFamily="2" charset="-122"/>
              </a:rPr>
              <a:t> F4</a:t>
            </a:r>
            <a:r>
              <a:rPr lang="zh-CN" altLang="en-US" sz="2400" b="1" dirty="0">
                <a:solidFill>
                  <a:srgbClr val="000000"/>
                </a:solidFill>
                <a:latin typeface="宋体" pitchFamily="2" charset="-122"/>
              </a:rPr>
              <a:t>	</a:t>
            </a:r>
            <a:r>
              <a:rPr lang="en-US" altLang="zh-CN" sz="2400" b="1" dirty="0">
                <a:solidFill>
                  <a:srgbClr val="0000CC"/>
                </a:solidFill>
                <a:latin typeface="宋体" pitchFamily="2" charset="-122"/>
              </a:rPr>
              <a:t>// </a:t>
            </a:r>
            <a:r>
              <a:rPr lang="zh-CN" altLang="en-US" sz="2400" b="1" dirty="0">
                <a:solidFill>
                  <a:srgbClr val="0000CC"/>
                </a:solidFill>
                <a:latin typeface="宋体" pitchFamily="2" charset="-122"/>
              </a:rPr>
              <a:t>保存结果</a:t>
            </a:r>
          </a:p>
          <a:p>
            <a:pPr eaLnBrk="1" hangingPunct="1">
              <a:lnSpc>
                <a:spcPct val="110000"/>
              </a:lnSpc>
              <a:buFont typeface="Wingdings" pitchFamily="2" charset="2"/>
              <a:buNone/>
            </a:pPr>
            <a:r>
              <a:rPr lang="zh-CN" altLang="en-US" sz="2400" b="1" dirty="0">
                <a:solidFill>
                  <a:srgbClr val="FF0000"/>
                </a:solidFill>
                <a:latin typeface="宋体" pitchFamily="2" charset="-122"/>
              </a:rPr>
              <a:t>       </a:t>
            </a:r>
            <a:endParaRPr lang="en-US" altLang="zh-CN" sz="2400" b="1" dirty="0">
              <a:solidFill>
                <a:srgbClr val="FF0000"/>
              </a:solidFill>
              <a:latin typeface="宋体" pitchFamily="2" charset="-122"/>
            </a:endParaRPr>
          </a:p>
          <a:p>
            <a:pPr eaLnBrk="1" hangingPunct="1">
              <a:lnSpc>
                <a:spcPct val="110000"/>
              </a:lnSpc>
              <a:buFont typeface="Wingdings" pitchFamily="2" charset="2"/>
              <a:buNone/>
            </a:pPr>
            <a:r>
              <a:rPr lang="en-US" altLang="zh-CN" sz="2400" b="1" dirty="0">
                <a:solidFill>
                  <a:srgbClr val="FF0000"/>
                </a:solidFill>
                <a:latin typeface="宋体" pitchFamily="2" charset="-122"/>
              </a:rPr>
              <a:t>       SUBI    R1</a:t>
            </a:r>
            <a:r>
              <a:rPr lang="zh-CN" altLang="en-US" sz="2400" b="1" dirty="0">
                <a:solidFill>
                  <a:srgbClr val="FF0000"/>
                </a:solidFill>
                <a:latin typeface="宋体" pitchFamily="2" charset="-122"/>
              </a:rPr>
              <a:t>，</a:t>
            </a:r>
            <a:r>
              <a:rPr lang="en-US" altLang="zh-CN" sz="2400" b="1" dirty="0">
                <a:solidFill>
                  <a:srgbClr val="FF0000"/>
                </a:solidFill>
                <a:latin typeface="宋体" pitchFamily="2" charset="-122"/>
              </a:rPr>
              <a:t>R1</a:t>
            </a:r>
            <a:r>
              <a:rPr lang="zh-CN" altLang="en-US" sz="2400" b="1" dirty="0">
                <a:solidFill>
                  <a:srgbClr val="FF0000"/>
                </a:solidFill>
                <a:latin typeface="宋体" pitchFamily="2" charset="-122"/>
              </a:rPr>
              <a:t>，</a:t>
            </a:r>
            <a:r>
              <a:rPr lang="en-US" altLang="zh-CN" sz="2400" b="1" dirty="0">
                <a:solidFill>
                  <a:srgbClr val="FF0000"/>
                </a:solidFill>
                <a:latin typeface="宋体" pitchFamily="2" charset="-122"/>
              </a:rPr>
              <a:t>#8	// </a:t>
            </a:r>
            <a:r>
              <a:rPr lang="zh-CN" altLang="en-US" sz="2400" b="1" dirty="0">
                <a:solidFill>
                  <a:srgbClr val="FF0000"/>
                </a:solidFill>
                <a:latin typeface="宋体" pitchFamily="2" charset="-122"/>
              </a:rPr>
              <a:t>数组指针递减</a:t>
            </a:r>
            <a:r>
              <a:rPr lang="en-US" altLang="zh-CN" sz="2400" b="1" dirty="0">
                <a:solidFill>
                  <a:srgbClr val="FF0000"/>
                </a:solidFill>
                <a:latin typeface="宋体" pitchFamily="2" charset="-122"/>
              </a:rPr>
              <a:t>8</a:t>
            </a:r>
            <a:r>
              <a:rPr lang="zh-CN" altLang="en-US" sz="2400" b="1" dirty="0">
                <a:solidFill>
                  <a:srgbClr val="FF0000"/>
                </a:solidFill>
                <a:latin typeface="宋体" pitchFamily="2" charset="-122"/>
              </a:rPr>
              <a:t>个字节</a:t>
            </a:r>
          </a:p>
          <a:p>
            <a:pPr eaLnBrk="1" hangingPunct="1">
              <a:lnSpc>
                <a:spcPct val="230000"/>
              </a:lnSpc>
              <a:buFont typeface="Wingdings" pitchFamily="2" charset="2"/>
              <a:buNone/>
            </a:pPr>
            <a:r>
              <a:rPr lang="zh-CN" altLang="en-US" sz="2400" b="1" dirty="0">
                <a:solidFill>
                  <a:srgbClr val="FF0000"/>
                </a:solidFill>
                <a:latin typeface="宋体" pitchFamily="2" charset="-122"/>
              </a:rPr>
              <a:t>       </a:t>
            </a:r>
            <a:r>
              <a:rPr lang="en-US" altLang="zh-CN" sz="2400" b="1" dirty="0">
                <a:solidFill>
                  <a:srgbClr val="FF0000"/>
                </a:solidFill>
                <a:latin typeface="宋体" pitchFamily="2" charset="-122"/>
              </a:rPr>
              <a:t>BNEZ    R1</a:t>
            </a:r>
            <a:r>
              <a:rPr lang="zh-CN" altLang="en-US" sz="2400" b="1" dirty="0">
                <a:solidFill>
                  <a:srgbClr val="FF0000"/>
                </a:solidFill>
                <a:latin typeface="宋体" pitchFamily="2" charset="-122"/>
              </a:rPr>
              <a:t>，</a:t>
            </a:r>
            <a:r>
              <a:rPr lang="en-US" altLang="zh-CN" sz="2400" b="1" dirty="0">
                <a:solidFill>
                  <a:srgbClr val="FF0000"/>
                </a:solidFill>
                <a:latin typeface="宋体" pitchFamily="2" charset="-122"/>
              </a:rPr>
              <a:t>Loop 	// </a:t>
            </a:r>
            <a:r>
              <a:rPr lang="zh-CN" altLang="en-US" sz="2400" b="1" dirty="0">
                <a:solidFill>
                  <a:srgbClr val="FF0000"/>
                </a:solidFill>
                <a:latin typeface="宋体" pitchFamily="2" charset="-122"/>
              </a:rPr>
              <a:t>如果</a:t>
            </a:r>
            <a:r>
              <a:rPr lang="en-US" altLang="zh-CN" sz="2400" b="1" dirty="0">
                <a:solidFill>
                  <a:srgbClr val="FF0000"/>
                </a:solidFill>
                <a:latin typeface="宋体" pitchFamily="2" charset="-122"/>
              </a:rPr>
              <a:t>R1≠0</a:t>
            </a:r>
            <a:r>
              <a:rPr lang="zh-CN" altLang="en-US" sz="2400" b="1" dirty="0">
                <a:solidFill>
                  <a:srgbClr val="FF0000"/>
                </a:solidFill>
                <a:latin typeface="宋体" pitchFamily="2" charset="-122"/>
              </a:rPr>
              <a:t>，则分支 </a:t>
            </a:r>
          </a:p>
        </p:txBody>
      </p:sp>
      <p:sp>
        <p:nvSpPr>
          <p:cNvPr id="2" name="日期占位符 1">
            <a:extLst>
              <a:ext uri="{FF2B5EF4-FFF2-40B4-BE49-F238E27FC236}">
                <a16:creationId xmlns:a16="http://schemas.microsoft.com/office/drawing/2014/main" id="{44C1B6C5-CA62-FF8B-E8E6-EC483C0FF374}"/>
              </a:ext>
            </a:extLst>
          </p:cNvPr>
          <p:cNvSpPr>
            <a:spLocks noGrp="1"/>
          </p:cNvSpPr>
          <p:nvPr>
            <p:ph type="dt" sz="half" idx="10"/>
          </p:nvPr>
        </p:nvSpPr>
        <p:spPr/>
        <p:txBody>
          <a:bodyPr/>
          <a:lstStyle/>
          <a:p>
            <a:pPr>
              <a:defRPr/>
            </a:pPr>
            <a:fld id="{7243D839-DFF3-41C0-A0BC-D92B108842FD}" type="datetime1">
              <a:rPr lang="zh-CN" altLang="en-US" smtClean="0"/>
              <a:t>2025/10/21</a:t>
            </a:fld>
            <a:endParaRPr lang="en-US" altLang="zh-CN"/>
          </a:p>
        </p:txBody>
      </p:sp>
      <p:sp>
        <p:nvSpPr>
          <p:cNvPr id="4" name="页脚占位符 3">
            <a:extLst>
              <a:ext uri="{FF2B5EF4-FFF2-40B4-BE49-F238E27FC236}">
                <a16:creationId xmlns:a16="http://schemas.microsoft.com/office/drawing/2014/main" id="{28BED53B-FBBC-A9BA-1ECB-230A02286F5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6A183387-6096-0F3F-D36E-6FCCC0366158}"/>
              </a:ext>
            </a:extLst>
          </p:cNvPr>
          <p:cNvSpPr>
            <a:spLocks noGrp="1"/>
          </p:cNvSpPr>
          <p:nvPr>
            <p:ph type="sldNum" sz="quarter" idx="12"/>
          </p:nvPr>
        </p:nvSpPr>
        <p:spPr/>
        <p:txBody>
          <a:bodyPr/>
          <a:lstStyle/>
          <a:p>
            <a:pPr>
              <a:defRPr/>
            </a:pPr>
            <a:fld id="{8BCAC33D-D29A-48B3-BCD6-381D3D720D26}" type="slidenum">
              <a:rPr lang="zh-CN" altLang="en-US" smtClean="0"/>
              <a:t>46</a:t>
            </a:fld>
            <a:endParaRPr lang="en-US" altLang="zh-CN"/>
          </a:p>
        </p:txBody>
      </p:sp>
    </p:spTree>
    <p:extLst>
      <p:ext uri="{BB962C8B-B14F-4D97-AF65-F5344CB8AC3E}">
        <p14:creationId xmlns:p14="http://schemas.microsoft.com/office/powerpoint/2010/main" val="1755085607"/>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descr="Rectangle: Click to edit Master text styles&#10;Second level&#10;Third level&#10;Fourth level&#10;Fifth level"/>
          <p:cNvSpPr>
            <a:spLocks noGrp="1" noChangeArrowheads="1"/>
          </p:cNvSpPr>
          <p:nvPr>
            <p:ph idx="1"/>
          </p:nvPr>
        </p:nvSpPr>
        <p:spPr>
          <a:xfrm>
            <a:off x="395288" y="836712"/>
            <a:ext cx="8229600" cy="5832648"/>
          </a:xfrm>
        </p:spPr>
        <p:txBody>
          <a:bodyPr/>
          <a:lstStyle/>
          <a:p>
            <a:pPr lvl="1" eaLnBrk="1" hangingPunct="1"/>
            <a:r>
              <a:rPr lang="zh-CN" altLang="en-US" sz="2400" b="1" dirty="0"/>
              <a:t>数据相关性会限制可以开发的指令级并行性</a:t>
            </a:r>
            <a:endParaRPr lang="en-US" altLang="zh-CN" sz="2400" b="1" dirty="0"/>
          </a:p>
          <a:p>
            <a:pPr lvl="1" eaLnBrk="1" hangingPunct="1"/>
            <a:r>
              <a:rPr lang="zh-CN" altLang="en-US" sz="2400" b="1" dirty="0"/>
              <a:t>解决方法</a:t>
            </a:r>
            <a:endParaRPr lang="en-US" altLang="zh-CN" sz="2400" b="1" dirty="0"/>
          </a:p>
          <a:p>
            <a:pPr lvl="2" eaLnBrk="1" hangingPunct="1"/>
            <a:r>
              <a:rPr lang="zh-CN" altLang="en-US" b="1" dirty="0"/>
              <a:t>硬件：采用互锁机制，一旦检测存在数据相关，则停止本指令的执行，并插入空转周期</a:t>
            </a:r>
            <a:endParaRPr lang="en-US" altLang="zh-CN" b="1" dirty="0"/>
          </a:p>
          <a:p>
            <a:pPr lvl="2" eaLnBrk="1" hangingPunct="1"/>
            <a:r>
              <a:rPr lang="zh-CN" altLang="en-US" b="1" dirty="0"/>
              <a:t>软件：使用编译器，在相关出插入空操作（空转周期），保证当前指令不会错误的使用一个尚未产生的数据。</a:t>
            </a:r>
            <a:endParaRPr lang="en-US" altLang="zh-CN" b="1" dirty="0"/>
          </a:p>
          <a:p>
            <a:pPr lvl="1" eaLnBrk="1" hangingPunct="1"/>
            <a:r>
              <a:rPr lang="zh-CN" altLang="en-US" sz="2400" b="1" dirty="0"/>
              <a:t>数据相关的检测</a:t>
            </a:r>
            <a:endParaRPr lang="en-US" altLang="zh-CN" sz="2400" b="1" dirty="0"/>
          </a:p>
          <a:p>
            <a:pPr lvl="2" eaLnBrk="1" hangingPunct="1"/>
            <a:r>
              <a:rPr lang="zh-CN" altLang="en-US" b="1" dirty="0"/>
              <a:t>当数据的流动是经过寄存器时，相关的检测比较直观和容易</a:t>
            </a:r>
          </a:p>
          <a:p>
            <a:pPr lvl="2" eaLnBrk="1" hangingPunct="1"/>
            <a:r>
              <a:rPr lang="zh-CN" altLang="en-US" b="1" dirty="0"/>
              <a:t>当数据的流动是经过存储器时，检测比较复杂。</a:t>
            </a:r>
          </a:p>
          <a:p>
            <a:pPr lvl="3" eaLnBrk="1" hangingPunct="1">
              <a:buFont typeface="Wingdings" pitchFamily="2" charset="2"/>
              <a:buChar char="Ø"/>
            </a:pPr>
            <a:r>
              <a:rPr lang="zh-CN" altLang="en-US" sz="2400" b="1" dirty="0"/>
              <a:t> 相同形式的地址其有效地址未必相同；</a:t>
            </a:r>
          </a:p>
          <a:p>
            <a:pPr lvl="3" eaLnBrk="1" hangingPunct="1">
              <a:buFont typeface="Wingdings" pitchFamily="2" charset="2"/>
              <a:buChar char="Ø"/>
            </a:pPr>
            <a:r>
              <a:rPr lang="zh-CN" altLang="en-US" sz="2400" b="1" dirty="0"/>
              <a:t> 形式不同的地址其有效地址却可能相同。</a:t>
            </a:r>
            <a:endParaRPr lang="en-US" altLang="zh-CN" sz="2400" b="1" dirty="0"/>
          </a:p>
        </p:txBody>
      </p:sp>
      <p:sp>
        <p:nvSpPr>
          <p:cNvPr id="2" name="日期占位符 1">
            <a:extLst>
              <a:ext uri="{FF2B5EF4-FFF2-40B4-BE49-F238E27FC236}">
                <a16:creationId xmlns:a16="http://schemas.microsoft.com/office/drawing/2014/main" id="{3C157470-5B88-3DCD-22EA-76942DBD46FF}"/>
              </a:ext>
            </a:extLst>
          </p:cNvPr>
          <p:cNvSpPr>
            <a:spLocks noGrp="1"/>
          </p:cNvSpPr>
          <p:nvPr>
            <p:ph type="dt" sz="half" idx="10"/>
          </p:nvPr>
        </p:nvSpPr>
        <p:spPr/>
        <p:txBody>
          <a:bodyPr/>
          <a:lstStyle/>
          <a:p>
            <a:pPr>
              <a:defRPr/>
            </a:pPr>
            <a:fld id="{49C48B15-F21E-40F2-B3EA-E7D704E844E4}" type="datetime1">
              <a:rPr lang="zh-CN" altLang="en-US" smtClean="0"/>
              <a:t>2025/10/21</a:t>
            </a:fld>
            <a:endParaRPr lang="en-US" altLang="zh-CN"/>
          </a:p>
        </p:txBody>
      </p:sp>
      <p:sp>
        <p:nvSpPr>
          <p:cNvPr id="4" name="页脚占位符 3">
            <a:extLst>
              <a:ext uri="{FF2B5EF4-FFF2-40B4-BE49-F238E27FC236}">
                <a16:creationId xmlns:a16="http://schemas.microsoft.com/office/drawing/2014/main" id="{A7228D7D-556A-5E88-081D-C2791DF6688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3FE0FDDB-CFFC-363D-B13E-A929644646E8}"/>
              </a:ext>
            </a:extLst>
          </p:cNvPr>
          <p:cNvSpPr>
            <a:spLocks noGrp="1"/>
          </p:cNvSpPr>
          <p:nvPr>
            <p:ph type="sldNum" sz="quarter" idx="12"/>
          </p:nvPr>
        </p:nvSpPr>
        <p:spPr/>
        <p:txBody>
          <a:bodyPr/>
          <a:lstStyle/>
          <a:p>
            <a:pPr>
              <a:defRPr/>
            </a:pPr>
            <a:fld id="{8BCAC33D-D29A-48B3-BCD6-381D3D720D26}" type="slidenum">
              <a:rPr lang="zh-CN" altLang="en-US" smtClean="0"/>
              <a:t>47</a:t>
            </a:fld>
            <a:endParaRPr lang="en-US" altLang="zh-CN"/>
          </a:p>
        </p:txBody>
      </p:sp>
    </p:spTree>
    <p:extLst>
      <p:ext uri="{BB962C8B-B14F-4D97-AF65-F5344CB8AC3E}">
        <p14:creationId xmlns:p14="http://schemas.microsoft.com/office/powerpoint/2010/main" val="3595546469"/>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descr="Rectangle: Click to edit Master text styles&#10;Second level&#10;Third level&#10;Fourth level&#10;Fifth level"/>
          <p:cNvSpPr>
            <a:spLocks noGrp="1" noChangeArrowheads="1"/>
          </p:cNvSpPr>
          <p:nvPr>
            <p:ph idx="1"/>
          </p:nvPr>
        </p:nvSpPr>
        <p:spPr>
          <a:xfrm>
            <a:off x="457200" y="1600200"/>
            <a:ext cx="8002588" cy="4525963"/>
          </a:xfrm>
        </p:spPr>
        <p:txBody>
          <a:bodyPr/>
          <a:lstStyle/>
          <a:p>
            <a:pPr marL="0" indent="0" eaLnBrk="1" hangingPunct="1">
              <a:buFont typeface="Arial" charset="0"/>
              <a:buNone/>
              <a:defRPr/>
            </a:pPr>
            <a:r>
              <a:rPr lang="en-US" altLang="zh-CN" sz="2600" b="1" dirty="0">
                <a:latin typeface="+mn-ea"/>
              </a:rPr>
              <a:t>2. </a:t>
            </a:r>
            <a:r>
              <a:rPr lang="zh-CN" altLang="en-US" sz="2600" b="1" dirty="0">
                <a:latin typeface="+mn-ea"/>
              </a:rPr>
              <a:t>名相关（</a:t>
            </a:r>
            <a:r>
              <a:rPr lang="en-US" altLang="zh-CN" sz="2600" b="1" dirty="0">
                <a:latin typeface="Times New Roman" panose="02020603050405020304" pitchFamily="18" charset="0"/>
                <a:cs typeface="Times New Roman" panose="02020603050405020304" pitchFamily="18" charset="0"/>
              </a:rPr>
              <a:t>Name dependence</a:t>
            </a:r>
            <a:r>
              <a:rPr lang="zh-CN" altLang="en-US" sz="2600" b="1" dirty="0">
                <a:latin typeface="+mn-ea"/>
              </a:rPr>
              <a:t>）</a:t>
            </a:r>
          </a:p>
          <a:p>
            <a:pPr marL="1085850" lvl="1" indent="-457200" eaLnBrk="1" hangingPunct="1">
              <a:defRPr/>
            </a:pPr>
            <a:r>
              <a:rPr lang="zh-CN" altLang="en-US" sz="2400" b="1" dirty="0">
                <a:solidFill>
                  <a:srgbClr val="FF0000"/>
                </a:solidFill>
                <a:latin typeface="+mn-ea"/>
              </a:rPr>
              <a:t>名：</a:t>
            </a:r>
            <a:r>
              <a:rPr lang="zh-CN" altLang="en-US" sz="2400" b="1" dirty="0">
                <a:latin typeface="+mn-ea"/>
              </a:rPr>
              <a:t>指令所访问的寄存器或存储器单元的名称。</a:t>
            </a:r>
          </a:p>
          <a:p>
            <a:pPr marL="1085850" lvl="1" indent="-457200" eaLnBrk="1" hangingPunct="1">
              <a:defRPr/>
            </a:pPr>
            <a:r>
              <a:rPr lang="zh-CN" altLang="en-US" sz="2400" b="1" dirty="0">
                <a:latin typeface="+mn-ea"/>
              </a:rPr>
              <a:t>如果两条指令使用相同的名，但是它们之间并没有数据流动，则称这两条指令存在</a:t>
            </a:r>
            <a:r>
              <a:rPr lang="zh-CN" altLang="en-US" sz="2400" b="1" dirty="0">
                <a:solidFill>
                  <a:srgbClr val="FF0000"/>
                </a:solidFill>
                <a:latin typeface="+mn-ea"/>
              </a:rPr>
              <a:t>名相关。</a:t>
            </a:r>
          </a:p>
        </p:txBody>
      </p:sp>
      <p:sp>
        <p:nvSpPr>
          <p:cNvPr id="4" name="Text Box 4"/>
          <p:cNvSpPr txBox="1">
            <a:spLocks noChangeArrowheads="1"/>
          </p:cNvSpPr>
          <p:nvPr/>
        </p:nvSpPr>
        <p:spPr bwMode="auto">
          <a:xfrm>
            <a:off x="0" y="47625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algn="ctr">
              <a:spcBef>
                <a:spcPct val="50000"/>
              </a:spcBef>
              <a:buFont typeface="Wingdings" pitchFamily="2" charset="2"/>
              <a:buNone/>
              <a:defRPr/>
            </a:pPr>
            <a:r>
              <a:rPr lang="en-US" altLang="zh-CN" sz="3600" b="1" dirty="0">
                <a:solidFill>
                  <a:srgbClr val="000000"/>
                </a:solidFill>
                <a:latin typeface="Times New Roman" panose="02020603050405020304" pitchFamily="18" charset="0"/>
                <a:ea typeface="+mj-ea"/>
                <a:cs typeface="Times New Roman" panose="02020603050405020304" pitchFamily="18" charset="0"/>
              </a:rPr>
              <a:t>4.1.2 </a:t>
            </a:r>
            <a:r>
              <a:rPr lang="zh-CN" altLang="en-US" sz="3600" b="1" dirty="0">
                <a:solidFill>
                  <a:srgbClr val="000000"/>
                </a:solidFill>
                <a:latin typeface="Times New Roman" panose="02020603050405020304" pitchFamily="18" charset="0"/>
                <a:ea typeface="+mj-ea"/>
                <a:cs typeface="Times New Roman" panose="02020603050405020304" pitchFamily="18" charset="0"/>
              </a:rPr>
              <a:t>相关性</a:t>
            </a:r>
          </a:p>
        </p:txBody>
      </p:sp>
      <p:sp>
        <p:nvSpPr>
          <p:cNvPr id="2" name="日期占位符 1">
            <a:extLst>
              <a:ext uri="{FF2B5EF4-FFF2-40B4-BE49-F238E27FC236}">
                <a16:creationId xmlns:a16="http://schemas.microsoft.com/office/drawing/2014/main" id="{8BDAA5A9-DCF7-DC96-609C-90A028B73F4E}"/>
              </a:ext>
            </a:extLst>
          </p:cNvPr>
          <p:cNvSpPr>
            <a:spLocks noGrp="1"/>
          </p:cNvSpPr>
          <p:nvPr>
            <p:ph type="dt" sz="half" idx="10"/>
          </p:nvPr>
        </p:nvSpPr>
        <p:spPr/>
        <p:txBody>
          <a:bodyPr/>
          <a:lstStyle/>
          <a:p>
            <a:pPr>
              <a:defRPr/>
            </a:pPr>
            <a:fld id="{EF36B613-E15A-4B8A-A444-7D69DDA2FD56}"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431F948B-5FF4-94B8-A4FC-DF037EBFEA7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2ED09B97-02AF-D4AB-7E0E-8716954934F2}"/>
              </a:ext>
            </a:extLst>
          </p:cNvPr>
          <p:cNvSpPr>
            <a:spLocks noGrp="1"/>
          </p:cNvSpPr>
          <p:nvPr>
            <p:ph type="sldNum" sz="quarter" idx="12"/>
          </p:nvPr>
        </p:nvSpPr>
        <p:spPr/>
        <p:txBody>
          <a:bodyPr/>
          <a:lstStyle/>
          <a:p>
            <a:pPr>
              <a:defRPr/>
            </a:pPr>
            <a:fld id="{8BCAC33D-D29A-48B3-BCD6-381D3D720D26}" type="slidenum">
              <a:rPr lang="zh-CN" altLang="en-US" smtClean="0"/>
              <a:t>48</a:t>
            </a:fld>
            <a:endParaRPr lang="en-US" altLang="zh-CN"/>
          </a:p>
        </p:txBody>
      </p:sp>
    </p:spTree>
    <p:extLst>
      <p:ext uri="{BB962C8B-B14F-4D97-AF65-F5344CB8AC3E}">
        <p14:creationId xmlns:p14="http://schemas.microsoft.com/office/powerpoint/2010/main" val="3352445346"/>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descr="Rectangle: Click to edit Master text styles&#10;Second level&#10;Third level&#10;Fourth level&#10;Fifth level"/>
          <p:cNvSpPr>
            <a:spLocks noGrp="1" noChangeArrowheads="1"/>
          </p:cNvSpPr>
          <p:nvPr>
            <p:ph idx="1"/>
          </p:nvPr>
        </p:nvSpPr>
        <p:spPr>
          <a:xfrm>
            <a:off x="107950" y="692150"/>
            <a:ext cx="8785225" cy="5761038"/>
          </a:xfrm>
        </p:spPr>
        <p:txBody>
          <a:bodyPr/>
          <a:lstStyle/>
          <a:p>
            <a:pPr marL="1085850" lvl="1" indent="-457200" eaLnBrk="1" hangingPunct="1">
              <a:defRPr/>
            </a:pPr>
            <a:r>
              <a:rPr lang="zh-CN" altLang="en-US" sz="2400" b="1" dirty="0">
                <a:latin typeface="+mn-ea"/>
              </a:rPr>
              <a:t>指令</a:t>
            </a:r>
            <a:r>
              <a:rPr lang="en-US" altLang="zh-CN" sz="2400" b="1" dirty="0">
                <a:solidFill>
                  <a:srgbClr val="9933FF"/>
                </a:solidFill>
                <a:latin typeface="+mn-ea"/>
              </a:rPr>
              <a:t>j</a:t>
            </a:r>
            <a:r>
              <a:rPr lang="zh-CN" altLang="en-US" sz="2400" b="1" dirty="0">
                <a:latin typeface="+mn-ea"/>
              </a:rPr>
              <a:t>与指令</a:t>
            </a:r>
            <a:r>
              <a:rPr lang="en-US" altLang="zh-CN" sz="2400" b="1" dirty="0">
                <a:solidFill>
                  <a:srgbClr val="9933FF"/>
                </a:solidFill>
                <a:latin typeface="+mn-ea"/>
              </a:rPr>
              <a:t>i</a:t>
            </a:r>
            <a:r>
              <a:rPr lang="zh-CN" altLang="en-US" sz="2400" b="1" dirty="0">
                <a:latin typeface="+mn-ea"/>
              </a:rPr>
              <a:t>之间的名相关有两种：</a:t>
            </a:r>
            <a:endParaRPr lang="en-US" altLang="zh-CN" sz="2400" b="1" dirty="0">
              <a:latin typeface="+mn-ea"/>
            </a:endParaRPr>
          </a:p>
          <a:p>
            <a:pPr marL="628650" lvl="1" indent="0" eaLnBrk="1" hangingPunct="1">
              <a:buFont typeface="Arial" charset="0"/>
              <a:buNone/>
              <a:defRPr/>
            </a:pPr>
            <a:r>
              <a:rPr lang="zh-CN" altLang="en-US" sz="2400" b="1" dirty="0">
                <a:latin typeface="+mn-ea"/>
              </a:rPr>
              <a:t>（</a:t>
            </a:r>
            <a:r>
              <a:rPr lang="en-US" altLang="zh-CN" sz="2400" b="1" dirty="0">
                <a:latin typeface="+mn-ea"/>
              </a:rPr>
              <a:t>1</a:t>
            </a:r>
            <a:r>
              <a:rPr lang="zh-CN" altLang="en-US" sz="2400" b="1" dirty="0">
                <a:latin typeface="+mn-ea"/>
              </a:rPr>
              <a:t>）</a:t>
            </a:r>
            <a:r>
              <a:rPr lang="zh-CN" altLang="en-US" sz="2400" b="1" dirty="0">
                <a:solidFill>
                  <a:srgbClr val="FF0000"/>
                </a:solidFill>
                <a:latin typeface="+mn-ea"/>
              </a:rPr>
              <a:t>反相关（</a:t>
            </a:r>
            <a:r>
              <a:rPr lang="en-US" altLang="zh-CN" sz="2400" b="1" dirty="0">
                <a:solidFill>
                  <a:srgbClr val="FF0000"/>
                </a:solidFill>
                <a:latin typeface="+mn-ea"/>
              </a:rPr>
              <a:t>Anti dependence</a:t>
            </a:r>
            <a:r>
              <a:rPr lang="zh-CN" altLang="en-US" sz="2400" b="1" dirty="0">
                <a:solidFill>
                  <a:srgbClr val="FF0000"/>
                </a:solidFill>
                <a:latin typeface="+mn-ea"/>
              </a:rPr>
              <a:t>）</a:t>
            </a:r>
            <a:r>
              <a:rPr lang="zh-CN" altLang="en-US" sz="2400" b="1" dirty="0">
                <a:latin typeface="+mn-ea"/>
              </a:rPr>
              <a:t>：</a:t>
            </a:r>
            <a:endParaRPr lang="en-US" altLang="zh-CN" sz="2400" b="1" dirty="0">
              <a:latin typeface="+mn-ea"/>
            </a:endParaRPr>
          </a:p>
          <a:p>
            <a:pPr marL="628650" lvl="1" indent="0" eaLnBrk="1" hangingPunct="1">
              <a:buFont typeface="Arial" charset="0"/>
              <a:buNone/>
              <a:defRPr/>
            </a:pPr>
            <a:r>
              <a:rPr lang="en-US" altLang="zh-CN" sz="2400" b="1" dirty="0">
                <a:solidFill>
                  <a:srgbClr val="FF0000"/>
                </a:solidFill>
                <a:latin typeface="+mn-ea"/>
              </a:rPr>
              <a:t>     </a:t>
            </a:r>
            <a:r>
              <a:rPr lang="zh-CN" altLang="en-US" sz="2400" b="1" dirty="0">
                <a:latin typeface="+mn-ea"/>
              </a:rPr>
              <a:t>如果指令</a:t>
            </a:r>
            <a:r>
              <a:rPr lang="en-US" altLang="zh-CN" sz="2400" b="1" dirty="0">
                <a:solidFill>
                  <a:srgbClr val="9933FF"/>
                </a:solidFill>
                <a:latin typeface="+mn-ea"/>
              </a:rPr>
              <a:t>j</a:t>
            </a:r>
            <a:r>
              <a:rPr lang="zh-CN" altLang="en-US" sz="2400" b="1" dirty="0">
                <a:latin typeface="+mn-ea"/>
              </a:rPr>
              <a:t>写的名与指令</a:t>
            </a:r>
            <a:r>
              <a:rPr lang="en-US" altLang="zh-CN" sz="2400" b="1" dirty="0">
                <a:solidFill>
                  <a:srgbClr val="9933FF"/>
                </a:solidFill>
                <a:latin typeface="+mn-ea"/>
              </a:rPr>
              <a:t>i</a:t>
            </a:r>
            <a:r>
              <a:rPr lang="zh-CN" altLang="en-US" sz="2400" b="1" dirty="0">
                <a:latin typeface="+mn-ea"/>
              </a:rPr>
              <a:t>读的名相同（引发流水线的</a:t>
            </a:r>
            <a:r>
              <a:rPr lang="zh-CN" altLang="en-US" sz="2400" b="1" dirty="0">
                <a:solidFill>
                  <a:srgbClr val="FF0000"/>
                </a:solidFill>
                <a:latin typeface="+mn-ea"/>
              </a:rPr>
              <a:t>先读后写</a:t>
            </a:r>
            <a:r>
              <a:rPr lang="en-US" altLang="zh-CN" sz="2400" b="1" dirty="0">
                <a:solidFill>
                  <a:srgbClr val="FF0000"/>
                </a:solidFill>
                <a:latin typeface="+mn-ea"/>
              </a:rPr>
              <a:t>WAR</a:t>
            </a:r>
            <a:r>
              <a:rPr lang="zh-CN" altLang="en-US" sz="2400" b="1" dirty="0">
                <a:solidFill>
                  <a:srgbClr val="FF0000"/>
                </a:solidFill>
                <a:latin typeface="+mn-ea"/>
              </a:rPr>
              <a:t>冲突</a:t>
            </a:r>
            <a:r>
              <a:rPr lang="zh-CN" altLang="en-US" sz="2400" b="1" dirty="0">
                <a:latin typeface="+mn-ea"/>
              </a:rPr>
              <a:t>），则称指令</a:t>
            </a:r>
            <a:r>
              <a:rPr lang="en-US" altLang="zh-CN" sz="2400" b="1" dirty="0">
                <a:latin typeface="+mn-ea"/>
              </a:rPr>
              <a:t>i</a:t>
            </a:r>
            <a:r>
              <a:rPr lang="zh-CN" altLang="en-US" sz="2400" b="1" dirty="0">
                <a:latin typeface="+mn-ea"/>
              </a:rPr>
              <a:t>和</a:t>
            </a:r>
            <a:r>
              <a:rPr lang="en-US" altLang="zh-CN" sz="2400" b="1" dirty="0">
                <a:latin typeface="+mn-ea"/>
              </a:rPr>
              <a:t>j</a:t>
            </a:r>
            <a:r>
              <a:rPr lang="zh-CN" altLang="en-US" sz="2400" b="1" dirty="0">
                <a:latin typeface="+mn-ea"/>
              </a:rPr>
              <a:t>发生了反相关。</a:t>
            </a:r>
          </a:p>
          <a:p>
            <a:pPr marL="1085850" lvl="1" indent="-457200" eaLnBrk="1" hangingPunct="1">
              <a:buClr>
                <a:srgbClr val="33CC33"/>
              </a:buClr>
              <a:buSzPct val="80000"/>
              <a:buFont typeface="Wingdings 2" pitchFamily="18" charset="2"/>
              <a:buNone/>
              <a:defRPr/>
            </a:pPr>
            <a:r>
              <a:rPr lang="zh-CN" altLang="en-US" sz="2400" b="1" dirty="0">
                <a:solidFill>
                  <a:srgbClr val="FF33CC"/>
                </a:solidFill>
                <a:latin typeface="+mn-ea"/>
              </a:rPr>
              <a:t>            </a:t>
            </a:r>
            <a:r>
              <a:rPr lang="zh-CN" altLang="en-US" sz="2400" b="1" i="1" dirty="0">
                <a:latin typeface="+mn-ea"/>
              </a:rPr>
              <a:t>指令</a:t>
            </a:r>
            <a:r>
              <a:rPr lang="en-US" altLang="zh-CN" sz="2400" b="1" i="1" dirty="0">
                <a:latin typeface="+mn-ea"/>
              </a:rPr>
              <a:t>j</a:t>
            </a:r>
            <a:r>
              <a:rPr lang="zh-CN" altLang="en-US" sz="2400" b="1" i="1" dirty="0">
                <a:latin typeface="+mn-ea"/>
              </a:rPr>
              <a:t>写的名＝指令</a:t>
            </a:r>
            <a:r>
              <a:rPr lang="en-US" altLang="zh-CN" sz="2400" b="1" i="1" dirty="0">
                <a:latin typeface="+mn-ea"/>
              </a:rPr>
              <a:t>i</a:t>
            </a:r>
            <a:r>
              <a:rPr lang="zh-CN" altLang="en-US" sz="2400" b="1" i="1" dirty="0">
                <a:latin typeface="+mn-ea"/>
              </a:rPr>
              <a:t>读的名</a:t>
            </a:r>
            <a:endParaRPr lang="en-US" altLang="zh-CN" sz="2400" b="1" i="1" dirty="0">
              <a:latin typeface="+mn-ea"/>
            </a:endParaRPr>
          </a:p>
          <a:p>
            <a:pPr marL="1085850" lvl="1" indent="-457200" eaLnBrk="1" hangingPunct="1">
              <a:buClr>
                <a:srgbClr val="33CC33"/>
              </a:buClr>
              <a:buSzPct val="80000"/>
              <a:buFont typeface="Wingdings 2" pitchFamily="18" charset="2"/>
              <a:buNone/>
              <a:defRPr/>
            </a:pPr>
            <a:r>
              <a:rPr lang="en-US" altLang="zh-CN" sz="2400" b="1" dirty="0">
                <a:solidFill>
                  <a:srgbClr val="D60093"/>
                </a:solidFill>
                <a:latin typeface="+mn-ea"/>
              </a:rPr>
              <a:t>	</a:t>
            </a:r>
            <a:r>
              <a:rPr lang="zh-CN" altLang="en-US" sz="2400" b="1" dirty="0">
                <a:latin typeface="+mn-ea"/>
              </a:rPr>
              <a:t>必须保证指令的原来顺序，以确保</a:t>
            </a:r>
            <a:r>
              <a:rPr lang="en-US" altLang="zh-CN" sz="2400" b="1" dirty="0">
                <a:latin typeface="+mn-ea"/>
              </a:rPr>
              <a:t>i</a:t>
            </a:r>
            <a:r>
              <a:rPr lang="zh-CN" altLang="en-US" sz="2400" b="1" dirty="0">
                <a:latin typeface="+mn-ea"/>
              </a:rPr>
              <a:t>能读到正确的值。</a:t>
            </a:r>
            <a:endParaRPr lang="en-US" altLang="zh-CN" sz="2400" b="1" dirty="0">
              <a:latin typeface="+mn-ea"/>
            </a:endParaRPr>
          </a:p>
          <a:p>
            <a:pPr marL="1085850" lvl="1" indent="-457200" eaLnBrk="1" hangingPunct="1">
              <a:buClr>
                <a:srgbClr val="33CC33"/>
              </a:buClr>
              <a:buSzPct val="80000"/>
              <a:buFont typeface="Wingdings 2" pitchFamily="18" charset="2"/>
              <a:buNone/>
              <a:defRPr/>
            </a:pPr>
            <a:endParaRPr lang="en-US" altLang="zh-CN" sz="2400" b="1" dirty="0">
              <a:solidFill>
                <a:srgbClr val="FF0000"/>
              </a:solidFill>
              <a:latin typeface="+mn-ea"/>
            </a:endParaRPr>
          </a:p>
          <a:p>
            <a:pPr marL="1085850" lvl="1" indent="-457200" eaLnBrk="1" hangingPunct="1">
              <a:buClr>
                <a:srgbClr val="33CC33"/>
              </a:buClr>
              <a:buSzPct val="80000"/>
              <a:buFont typeface="Wingdings 2" pitchFamily="18" charset="2"/>
              <a:buNone/>
              <a:defRPr/>
            </a:pPr>
            <a:r>
              <a:rPr lang="zh-CN" altLang="en-US" sz="2400" b="1" dirty="0">
                <a:latin typeface="+mn-ea"/>
              </a:rPr>
              <a:t>（</a:t>
            </a:r>
            <a:r>
              <a:rPr lang="en-US" altLang="zh-CN" sz="2400" b="1" dirty="0">
                <a:latin typeface="+mn-ea"/>
              </a:rPr>
              <a:t>2</a:t>
            </a:r>
            <a:r>
              <a:rPr lang="zh-CN" altLang="en-US" sz="2400" b="1" dirty="0">
                <a:latin typeface="+mn-ea"/>
              </a:rPr>
              <a:t>）</a:t>
            </a:r>
            <a:r>
              <a:rPr lang="zh-CN" altLang="en-US" sz="2400" b="1" dirty="0">
                <a:solidFill>
                  <a:srgbClr val="FF0000"/>
                </a:solidFill>
                <a:latin typeface="+mn-ea"/>
              </a:rPr>
              <a:t>输出相关（</a:t>
            </a:r>
            <a:r>
              <a:rPr lang="en-US" altLang="zh-CN" sz="2400" b="1" dirty="0">
                <a:solidFill>
                  <a:srgbClr val="FF0000"/>
                </a:solidFill>
                <a:latin typeface="+mn-ea"/>
              </a:rPr>
              <a:t>Output dependence</a:t>
            </a:r>
            <a:r>
              <a:rPr lang="zh-CN" altLang="en-US" sz="2400" b="1" dirty="0">
                <a:solidFill>
                  <a:srgbClr val="FF0000"/>
                </a:solidFill>
                <a:latin typeface="+mn-ea"/>
              </a:rPr>
              <a:t>）</a:t>
            </a:r>
            <a:r>
              <a:rPr lang="zh-CN" altLang="en-US" sz="2400" b="1" dirty="0">
                <a:latin typeface="+mn-ea"/>
              </a:rPr>
              <a:t>：</a:t>
            </a:r>
            <a:endParaRPr lang="en-US" altLang="zh-CN" sz="2400" b="1" dirty="0">
              <a:latin typeface="+mn-ea"/>
            </a:endParaRPr>
          </a:p>
          <a:p>
            <a:pPr marL="914400" lvl="2" indent="0" eaLnBrk="1" hangingPunct="1">
              <a:buFont typeface="Arial" charset="0"/>
              <a:buNone/>
              <a:defRPr/>
            </a:pPr>
            <a:r>
              <a:rPr lang="zh-CN" altLang="en-US" b="1" dirty="0">
                <a:latin typeface="+mn-ea"/>
              </a:rPr>
              <a:t>   如果指令</a:t>
            </a:r>
            <a:r>
              <a:rPr lang="en-US" altLang="zh-CN" b="1" dirty="0">
                <a:latin typeface="+mn-ea"/>
              </a:rPr>
              <a:t>j</a:t>
            </a:r>
            <a:r>
              <a:rPr lang="zh-CN" altLang="en-US" b="1" dirty="0">
                <a:latin typeface="+mn-ea"/>
              </a:rPr>
              <a:t>和指令</a:t>
            </a:r>
            <a:r>
              <a:rPr lang="en-US" altLang="zh-CN" b="1" dirty="0">
                <a:latin typeface="+mn-ea"/>
              </a:rPr>
              <a:t>i</a:t>
            </a:r>
            <a:r>
              <a:rPr lang="zh-CN" altLang="en-US" b="1" dirty="0">
                <a:latin typeface="+mn-ea"/>
              </a:rPr>
              <a:t>写相同的名（引发流水线的</a:t>
            </a:r>
            <a:r>
              <a:rPr lang="zh-CN" altLang="en-US" b="1" dirty="0">
                <a:solidFill>
                  <a:srgbClr val="FF0000"/>
                </a:solidFill>
                <a:latin typeface="+mn-ea"/>
              </a:rPr>
              <a:t>写后写</a:t>
            </a:r>
            <a:r>
              <a:rPr lang="en-US" altLang="zh-CN" b="1" dirty="0">
                <a:solidFill>
                  <a:srgbClr val="FF0000"/>
                </a:solidFill>
                <a:latin typeface="+mn-ea"/>
              </a:rPr>
              <a:t>WAW</a:t>
            </a:r>
            <a:r>
              <a:rPr lang="zh-CN" altLang="en-US" b="1" dirty="0">
                <a:solidFill>
                  <a:srgbClr val="FF0000"/>
                </a:solidFill>
                <a:latin typeface="+mn-ea"/>
              </a:rPr>
              <a:t>冲突</a:t>
            </a:r>
            <a:r>
              <a:rPr lang="zh-CN" altLang="en-US" b="1" dirty="0">
                <a:latin typeface="+mn-ea"/>
              </a:rPr>
              <a:t>），则称指令</a:t>
            </a:r>
            <a:r>
              <a:rPr lang="en-US" altLang="zh-CN" b="1" dirty="0">
                <a:latin typeface="+mn-ea"/>
              </a:rPr>
              <a:t>i</a:t>
            </a:r>
            <a:r>
              <a:rPr lang="zh-CN" altLang="en-US" b="1" dirty="0">
                <a:latin typeface="+mn-ea"/>
              </a:rPr>
              <a:t>和</a:t>
            </a:r>
            <a:r>
              <a:rPr lang="en-US" altLang="zh-CN" b="1" dirty="0">
                <a:latin typeface="+mn-ea"/>
              </a:rPr>
              <a:t>j</a:t>
            </a:r>
            <a:r>
              <a:rPr lang="zh-CN" altLang="en-US" b="1" dirty="0">
                <a:latin typeface="+mn-ea"/>
              </a:rPr>
              <a:t>发生了输出相关。</a:t>
            </a:r>
          </a:p>
          <a:p>
            <a:pPr marL="1085850" lvl="1" indent="-457200" eaLnBrk="1" hangingPunct="1">
              <a:buClr>
                <a:srgbClr val="33CC33"/>
              </a:buClr>
              <a:buSzPct val="80000"/>
              <a:buFont typeface="Wingdings 2" pitchFamily="18" charset="2"/>
              <a:buNone/>
              <a:defRPr/>
            </a:pPr>
            <a:r>
              <a:rPr lang="zh-CN" altLang="en-US" sz="2400" b="1" dirty="0">
                <a:solidFill>
                  <a:schemeClr val="hlink"/>
                </a:solidFill>
                <a:latin typeface="+mn-ea"/>
              </a:rPr>
              <a:t>            </a:t>
            </a:r>
            <a:r>
              <a:rPr lang="zh-CN" altLang="en-US" sz="2400" b="1" i="1" dirty="0">
                <a:latin typeface="+mn-ea"/>
              </a:rPr>
              <a:t>指令</a:t>
            </a:r>
            <a:r>
              <a:rPr lang="en-US" altLang="zh-CN" sz="2400" b="1" i="1" dirty="0">
                <a:latin typeface="+mn-ea"/>
              </a:rPr>
              <a:t>j</a:t>
            </a:r>
            <a:r>
              <a:rPr lang="zh-CN" altLang="en-US" sz="2400" b="1" i="1" dirty="0">
                <a:latin typeface="+mn-ea"/>
              </a:rPr>
              <a:t>写的名＝指令</a:t>
            </a:r>
            <a:r>
              <a:rPr lang="en-US" altLang="zh-CN" sz="2400" b="1" i="1" dirty="0">
                <a:latin typeface="+mn-ea"/>
              </a:rPr>
              <a:t>i</a:t>
            </a:r>
            <a:r>
              <a:rPr lang="zh-CN" altLang="en-US" sz="2400" b="1" i="1" dirty="0">
                <a:latin typeface="+mn-ea"/>
              </a:rPr>
              <a:t>写的名</a:t>
            </a:r>
            <a:endParaRPr lang="en-US" altLang="zh-CN" sz="2400" b="1" i="1" dirty="0">
              <a:latin typeface="+mn-ea"/>
            </a:endParaRPr>
          </a:p>
          <a:p>
            <a:pPr marL="1085850" lvl="1" indent="-457200" eaLnBrk="1" hangingPunct="1">
              <a:buClr>
                <a:srgbClr val="33CC33"/>
              </a:buClr>
              <a:buSzPct val="80000"/>
              <a:buFont typeface="Wingdings 2" pitchFamily="18" charset="2"/>
              <a:buNone/>
              <a:defRPr/>
            </a:pPr>
            <a:r>
              <a:rPr lang="en-US" altLang="zh-CN" sz="2400" b="1" dirty="0">
                <a:solidFill>
                  <a:srgbClr val="D60093"/>
                </a:solidFill>
                <a:latin typeface="+mn-ea"/>
              </a:rPr>
              <a:t>	</a:t>
            </a:r>
            <a:r>
              <a:rPr lang="zh-CN" altLang="en-US" sz="2400" b="1" dirty="0">
                <a:latin typeface="+mn-ea"/>
              </a:rPr>
              <a:t>操作顺序必须得到保证，以使最后写入的值得以保存。</a:t>
            </a:r>
            <a:endParaRPr lang="zh-CN" altLang="en-US" sz="2400" b="1" dirty="0">
              <a:solidFill>
                <a:srgbClr val="D60093"/>
              </a:solidFill>
              <a:latin typeface="+mn-ea"/>
            </a:endParaRPr>
          </a:p>
          <a:p>
            <a:pPr marL="1085850" lvl="1" indent="-457200" eaLnBrk="1" hangingPunct="1">
              <a:lnSpc>
                <a:spcPct val="130000"/>
              </a:lnSpc>
              <a:buSzPct val="80000"/>
              <a:buFont typeface="Wingdings" pitchFamily="2" charset="2"/>
              <a:buNone/>
              <a:defRPr/>
            </a:pPr>
            <a:endParaRPr lang="en-US" altLang="zh-CN" sz="2400" b="1" dirty="0">
              <a:latin typeface="+mn-ea"/>
            </a:endParaRPr>
          </a:p>
        </p:txBody>
      </p:sp>
      <p:sp>
        <p:nvSpPr>
          <p:cNvPr id="2" name="日期占位符 1">
            <a:extLst>
              <a:ext uri="{FF2B5EF4-FFF2-40B4-BE49-F238E27FC236}">
                <a16:creationId xmlns:a16="http://schemas.microsoft.com/office/drawing/2014/main" id="{7E8B0909-2167-77F7-9314-912A46F2C98F}"/>
              </a:ext>
            </a:extLst>
          </p:cNvPr>
          <p:cNvSpPr>
            <a:spLocks noGrp="1"/>
          </p:cNvSpPr>
          <p:nvPr>
            <p:ph type="dt" sz="half" idx="10"/>
          </p:nvPr>
        </p:nvSpPr>
        <p:spPr/>
        <p:txBody>
          <a:bodyPr/>
          <a:lstStyle/>
          <a:p>
            <a:pPr>
              <a:defRPr/>
            </a:pPr>
            <a:fld id="{89E55A85-E8D2-4EF4-998F-961BD44AED83}"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D1C6D25D-1B14-46D3-FA9F-4A1F75696EC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B287A5D-D73A-741F-661A-0BE12650F078}"/>
              </a:ext>
            </a:extLst>
          </p:cNvPr>
          <p:cNvSpPr>
            <a:spLocks noGrp="1"/>
          </p:cNvSpPr>
          <p:nvPr>
            <p:ph type="sldNum" sz="quarter" idx="12"/>
          </p:nvPr>
        </p:nvSpPr>
        <p:spPr/>
        <p:txBody>
          <a:bodyPr/>
          <a:lstStyle/>
          <a:p>
            <a:pPr>
              <a:defRPr/>
            </a:pPr>
            <a:fld id="{8BCAC33D-D29A-48B3-BCD6-381D3D720D26}" type="slidenum">
              <a:rPr lang="zh-CN" altLang="en-US" smtClean="0"/>
              <a:t>49</a:t>
            </a:fld>
            <a:endParaRPr lang="en-US" altLang="zh-CN"/>
          </a:p>
        </p:txBody>
      </p:sp>
    </p:spTree>
    <p:extLst>
      <p:ext uri="{BB962C8B-B14F-4D97-AF65-F5344CB8AC3E}">
        <p14:creationId xmlns:p14="http://schemas.microsoft.com/office/powerpoint/2010/main" val="3331064915"/>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descr="Rectangle: Click to edit Master text styles&#10;Second level&#10;Third level&#10;Fourth level&#10;Fifth level"/>
          <p:cNvSpPr>
            <a:spLocks noGrp="1" noChangeArrowheads="1"/>
          </p:cNvSpPr>
          <p:nvPr>
            <p:ph idx="1"/>
          </p:nvPr>
        </p:nvSpPr>
        <p:spPr>
          <a:xfrm>
            <a:off x="250825" y="692150"/>
            <a:ext cx="8497888" cy="5473700"/>
          </a:xfrm>
        </p:spPr>
        <p:txBody>
          <a:bodyPr/>
          <a:lstStyle/>
          <a:p>
            <a:pPr marL="628650" lvl="1" indent="0" eaLnBrk="1" hangingPunct="1">
              <a:lnSpc>
                <a:spcPct val="140000"/>
              </a:lnSpc>
              <a:buSzPct val="80000"/>
              <a:buFont typeface="Arial" charset="0"/>
              <a:buNone/>
              <a:defRPr/>
            </a:pPr>
            <a:r>
              <a:rPr lang="en-US" altLang="zh-CN" sz="2400" b="1" dirty="0">
                <a:latin typeface="+mn-ea"/>
              </a:rPr>
              <a:t>2. </a:t>
            </a:r>
            <a:r>
              <a:rPr lang="zh-CN" altLang="en-US" sz="2400" b="1" dirty="0">
                <a:latin typeface="+mn-ea"/>
              </a:rPr>
              <a:t>名相关</a:t>
            </a:r>
            <a:endParaRPr lang="en-US" altLang="zh-CN" sz="2400" b="1" dirty="0">
              <a:latin typeface="+mn-ea"/>
            </a:endParaRPr>
          </a:p>
          <a:p>
            <a:pPr marL="1085850" lvl="1" indent="-457200" eaLnBrk="1" hangingPunct="1">
              <a:lnSpc>
                <a:spcPct val="140000"/>
              </a:lnSpc>
              <a:buSzPct val="80000"/>
              <a:buFont typeface="Wingdings" panose="05000000000000000000" pitchFamily="2" charset="2"/>
              <a:buChar char="Ø"/>
              <a:defRPr/>
            </a:pPr>
            <a:r>
              <a:rPr lang="zh-CN" altLang="en-US" sz="2400" b="1" dirty="0">
                <a:latin typeface="+mn-ea"/>
              </a:rPr>
              <a:t>两条指令之间并没有数据的传送。</a:t>
            </a:r>
          </a:p>
          <a:p>
            <a:pPr marL="1085850" lvl="1" indent="-457200" eaLnBrk="1" hangingPunct="1">
              <a:lnSpc>
                <a:spcPct val="140000"/>
              </a:lnSpc>
              <a:buSzPct val="80000"/>
              <a:buFont typeface="Wingdings" panose="05000000000000000000" pitchFamily="2" charset="2"/>
              <a:buChar char="Ø"/>
              <a:defRPr/>
            </a:pPr>
            <a:r>
              <a:rPr lang="zh-CN" altLang="en-US" sz="2400" b="1" dirty="0">
                <a:latin typeface="+mn-ea"/>
              </a:rPr>
              <a:t>如果一条指令中的名改变了，并不影响另外一条指令的执行。</a:t>
            </a:r>
          </a:p>
          <a:p>
            <a:pPr marL="1085850" lvl="1" indent="-457200" eaLnBrk="1" hangingPunct="1">
              <a:lnSpc>
                <a:spcPct val="140000"/>
              </a:lnSpc>
              <a:buFont typeface="Wingdings" panose="05000000000000000000" pitchFamily="2" charset="2"/>
              <a:buChar char="Ø"/>
              <a:defRPr/>
            </a:pPr>
            <a:r>
              <a:rPr lang="zh-CN" altLang="en-US" sz="2400" b="1" dirty="0">
                <a:latin typeface="+mn-ea"/>
              </a:rPr>
              <a:t>换名技术</a:t>
            </a:r>
          </a:p>
          <a:p>
            <a:pPr lvl="2" eaLnBrk="1" hangingPunct="1">
              <a:lnSpc>
                <a:spcPct val="140000"/>
              </a:lnSpc>
              <a:defRPr/>
            </a:pPr>
            <a:r>
              <a:rPr lang="zh-CN" altLang="en-US" b="1" dirty="0">
                <a:latin typeface="+mn-ea"/>
              </a:rPr>
              <a:t>通过改变指令中操作数的名来消除名相关。</a:t>
            </a:r>
          </a:p>
          <a:p>
            <a:pPr lvl="2" eaLnBrk="1" hangingPunct="1">
              <a:lnSpc>
                <a:spcPct val="140000"/>
              </a:lnSpc>
              <a:defRPr/>
            </a:pPr>
            <a:r>
              <a:rPr lang="zh-CN" altLang="en-US" b="1" dirty="0">
                <a:latin typeface="+mn-ea"/>
              </a:rPr>
              <a:t>对于寄存器操作数进行换名称为</a:t>
            </a:r>
            <a:r>
              <a:rPr lang="zh-CN" altLang="en-US" b="1" dirty="0">
                <a:solidFill>
                  <a:srgbClr val="FF0000"/>
                </a:solidFill>
                <a:latin typeface="+mn-ea"/>
              </a:rPr>
              <a:t>寄存器换名（重命名，</a:t>
            </a:r>
            <a:r>
              <a:rPr lang="en-US" altLang="zh-CN" b="1" dirty="0">
                <a:solidFill>
                  <a:srgbClr val="FF0000"/>
                </a:solidFill>
                <a:latin typeface="+mn-ea"/>
              </a:rPr>
              <a:t>Renaming</a:t>
            </a:r>
            <a:r>
              <a:rPr lang="zh-CN" altLang="en-US" b="1" dirty="0">
                <a:solidFill>
                  <a:srgbClr val="FF0000"/>
                </a:solidFill>
                <a:latin typeface="+mn-ea"/>
              </a:rPr>
              <a:t>）。</a:t>
            </a:r>
            <a:endParaRPr lang="en-US" altLang="zh-CN" b="1" dirty="0">
              <a:solidFill>
                <a:srgbClr val="FF0000"/>
              </a:solidFill>
              <a:latin typeface="+mn-ea"/>
            </a:endParaRPr>
          </a:p>
          <a:p>
            <a:pPr lvl="2" eaLnBrk="1" hangingPunct="1">
              <a:lnSpc>
                <a:spcPct val="140000"/>
              </a:lnSpc>
              <a:defRPr/>
            </a:pPr>
            <a:r>
              <a:rPr lang="zh-CN" altLang="en-US" b="1" dirty="0">
                <a:solidFill>
                  <a:srgbClr val="008000"/>
                </a:solidFill>
                <a:latin typeface="+mn-ea"/>
              </a:rPr>
              <a:t>既可以用编译器静态实现，也可以用硬件动态完成。</a:t>
            </a:r>
            <a:endParaRPr lang="en-US" altLang="zh-CN" b="1" dirty="0">
              <a:solidFill>
                <a:srgbClr val="008000"/>
              </a:solidFill>
              <a:latin typeface="+mn-ea"/>
            </a:endParaRPr>
          </a:p>
        </p:txBody>
      </p:sp>
      <p:sp>
        <p:nvSpPr>
          <p:cNvPr id="2" name="日期占位符 1">
            <a:extLst>
              <a:ext uri="{FF2B5EF4-FFF2-40B4-BE49-F238E27FC236}">
                <a16:creationId xmlns:a16="http://schemas.microsoft.com/office/drawing/2014/main" id="{F64FDC39-8DBC-CE16-F848-7DCAF14F3201}"/>
              </a:ext>
            </a:extLst>
          </p:cNvPr>
          <p:cNvSpPr>
            <a:spLocks noGrp="1"/>
          </p:cNvSpPr>
          <p:nvPr>
            <p:ph type="dt" sz="half" idx="10"/>
          </p:nvPr>
        </p:nvSpPr>
        <p:spPr/>
        <p:txBody>
          <a:bodyPr/>
          <a:lstStyle/>
          <a:p>
            <a:pPr>
              <a:defRPr/>
            </a:pPr>
            <a:fld id="{8A75B319-CAC6-431E-8885-F3634DBD960F}"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8ABBA61A-E792-F867-B37A-87185E13AD9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83C134E-2A7C-141F-9B72-45B65CC8F573}"/>
              </a:ext>
            </a:extLst>
          </p:cNvPr>
          <p:cNvSpPr>
            <a:spLocks noGrp="1"/>
          </p:cNvSpPr>
          <p:nvPr>
            <p:ph type="sldNum" sz="quarter" idx="12"/>
          </p:nvPr>
        </p:nvSpPr>
        <p:spPr/>
        <p:txBody>
          <a:bodyPr/>
          <a:lstStyle/>
          <a:p>
            <a:pPr>
              <a:defRPr/>
            </a:pPr>
            <a:fld id="{8BCAC33D-D29A-48B3-BCD6-381D3D720D26}" type="slidenum">
              <a:rPr lang="zh-CN" altLang="en-US" smtClean="0"/>
              <a:t>50</a:t>
            </a:fld>
            <a:endParaRPr lang="en-US" altLang="zh-CN"/>
          </a:p>
        </p:txBody>
      </p:sp>
    </p:spTree>
    <p:extLst>
      <p:ext uri="{BB962C8B-B14F-4D97-AF65-F5344CB8AC3E}">
        <p14:creationId xmlns:p14="http://schemas.microsoft.com/office/powerpoint/2010/main" val="3038709527"/>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2"/>
          <p:cNvSpPr>
            <a:spLocks noGrp="1" noChangeArrowheads="1"/>
          </p:cNvSpPr>
          <p:nvPr>
            <p:ph type="title" idx="4294967295"/>
          </p:nvPr>
        </p:nvSpPr>
        <p:spPr>
          <a:xfrm>
            <a:off x="437778" y="28620"/>
            <a:ext cx="8229600" cy="1143000"/>
          </a:xfrm>
        </p:spPr>
        <p:txBody>
          <a:bodyPr/>
          <a:lstStyle/>
          <a:p>
            <a:pPr eaLnBrk="1" hangingPunct="1">
              <a:defRPr/>
            </a:pPr>
            <a:r>
              <a:rPr lang="zh-CN" altLang="en-US" sz="3600" b="1" dirty="0">
                <a:latin typeface="+mj-ea"/>
              </a:rPr>
              <a:t>循环展开中的换名</a:t>
            </a:r>
          </a:p>
        </p:txBody>
      </p:sp>
      <p:sp>
        <p:nvSpPr>
          <p:cNvPr id="16427" name="Rectangle 43"/>
          <p:cNvSpPr>
            <a:spLocks noGrp="1" noChangeArrowheads="1"/>
          </p:cNvSpPr>
          <p:nvPr>
            <p:ph type="body" idx="4294967295"/>
          </p:nvPr>
        </p:nvSpPr>
        <p:spPr>
          <a:xfrm>
            <a:off x="417220" y="1052736"/>
            <a:ext cx="8434387" cy="5688632"/>
          </a:xfrm>
        </p:spPr>
        <p:txBody>
          <a:bodyPr rtlCol="0">
            <a:normAutofit lnSpcReduction="10000"/>
          </a:bodyPr>
          <a:lstStyle/>
          <a:p>
            <a:pPr eaLnBrk="1" fontAlgn="auto" hangingPunct="1">
              <a:lnSpc>
                <a:spcPct val="110000"/>
              </a:lnSpc>
              <a:spcAft>
                <a:spcPts val="0"/>
              </a:spcAft>
              <a:buFont typeface="Arial" pitchFamily="34" charset="0"/>
              <a:buChar char="•"/>
              <a:defRPr/>
            </a:pPr>
            <a:r>
              <a:rPr lang="zh-CN" altLang="en-US" sz="2800" b="1" dirty="0">
                <a:latin typeface="+mn-ea"/>
              </a:rPr>
              <a:t>如果将循环展开</a:t>
            </a:r>
            <a:r>
              <a:rPr lang="en-US" altLang="zh-CN" sz="2800" b="1" dirty="0">
                <a:latin typeface="+mn-ea"/>
              </a:rPr>
              <a:t>3</a:t>
            </a:r>
            <a:r>
              <a:rPr lang="zh-CN" altLang="en-US" sz="2800" b="1" dirty="0">
                <a:latin typeface="+mn-ea"/>
              </a:rPr>
              <a:t>次得到</a:t>
            </a:r>
            <a:r>
              <a:rPr lang="en-US" altLang="zh-CN" sz="2800" b="1" dirty="0">
                <a:latin typeface="+mn-ea"/>
              </a:rPr>
              <a:t>4</a:t>
            </a:r>
            <a:r>
              <a:rPr lang="zh-CN" altLang="en-US" sz="2800" b="1" dirty="0">
                <a:latin typeface="+mn-ea"/>
              </a:rPr>
              <a:t>个循环体</a:t>
            </a:r>
            <a:r>
              <a:rPr lang="en-US" altLang="zh-CN" sz="2800" b="1" dirty="0">
                <a:latin typeface="+mn-ea"/>
              </a:rPr>
              <a:t>(</a:t>
            </a:r>
            <a:r>
              <a:rPr lang="zh-CN" altLang="en-US" sz="2800" b="1" dirty="0">
                <a:latin typeface="+mn-ea"/>
              </a:rPr>
              <a:t>假设数组是</a:t>
            </a:r>
            <a:r>
              <a:rPr lang="en-US" altLang="zh-CN" sz="2800" b="1" dirty="0">
                <a:latin typeface="+mn-ea"/>
              </a:rPr>
              <a:t>4</a:t>
            </a:r>
            <a:r>
              <a:rPr lang="zh-CN" altLang="en-US" sz="2800" b="1" dirty="0">
                <a:latin typeface="+mn-ea"/>
              </a:rPr>
              <a:t>的倍数的元素</a:t>
            </a:r>
            <a:r>
              <a:rPr lang="en-US" altLang="zh-CN" sz="2800" b="1" dirty="0">
                <a:latin typeface="+mn-ea"/>
              </a:rPr>
              <a:t>)</a:t>
            </a:r>
          </a:p>
          <a:p>
            <a:pPr lvl="2" eaLnBrk="1" fontAlgn="auto" hangingPunct="1">
              <a:lnSpc>
                <a:spcPct val="80000"/>
              </a:lnSpc>
              <a:spcAft>
                <a:spcPts val="0"/>
              </a:spcAft>
              <a:buFont typeface="Wingdings" pitchFamily="2" charset="2"/>
              <a:buNone/>
              <a:defRPr/>
            </a:pPr>
            <a:endParaRPr lang="en-US" altLang="zh-CN" sz="1600" dirty="0">
              <a:latin typeface="Verdana" pitchFamily="34" charset="0"/>
              <a:ea typeface="华文中宋" pitchFamily="2" charset="-122"/>
            </a:endParaRP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Loop:	LD	F0,0(R1)</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ADDD	F4,F0,F2</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SD	0(R1),F4</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a:t>
            </a:r>
            <a:r>
              <a:rPr lang="en-US" altLang="zh-CN" sz="2000" dirty="0">
                <a:solidFill>
                  <a:srgbClr val="FF5050"/>
                </a:solidFill>
                <a:latin typeface="Verdana" pitchFamily="34" charset="0"/>
                <a:ea typeface="华文中宋" pitchFamily="2" charset="-122"/>
              </a:rPr>
              <a:t>LD	</a:t>
            </a:r>
            <a:r>
              <a:rPr lang="en-US" altLang="zh-CN" sz="2000" dirty="0">
                <a:solidFill>
                  <a:srgbClr val="0066FF"/>
                </a:solidFill>
                <a:latin typeface="Verdana" pitchFamily="34" charset="0"/>
                <a:ea typeface="华文中宋" pitchFamily="2" charset="-122"/>
              </a:rPr>
              <a:t>F6</a:t>
            </a:r>
            <a:r>
              <a:rPr lang="en-US" altLang="zh-CN" sz="2000" dirty="0">
                <a:solidFill>
                  <a:srgbClr val="FF5050"/>
                </a:solidFill>
                <a:latin typeface="Verdana" pitchFamily="34" charset="0"/>
                <a:ea typeface="华文中宋" pitchFamily="2" charset="-122"/>
              </a:rPr>
              <a:t>,-8(R1)</a:t>
            </a:r>
          </a:p>
          <a:p>
            <a:pPr lvl="1" eaLnBrk="1" fontAlgn="auto" hangingPunct="1">
              <a:lnSpc>
                <a:spcPct val="90000"/>
              </a:lnSpc>
              <a:spcAft>
                <a:spcPts val="0"/>
              </a:spcAft>
              <a:buFont typeface="Wingdings" pitchFamily="2" charset="2"/>
              <a:buNone/>
              <a:defRPr/>
            </a:pPr>
            <a:r>
              <a:rPr lang="en-US" altLang="zh-CN" sz="2000" dirty="0">
                <a:solidFill>
                  <a:srgbClr val="FF5050"/>
                </a:solidFill>
                <a:latin typeface="Verdana" pitchFamily="34" charset="0"/>
                <a:ea typeface="华文中宋" pitchFamily="2" charset="-122"/>
              </a:rPr>
              <a:t>			ADDD	</a:t>
            </a:r>
            <a:r>
              <a:rPr lang="en-US" altLang="zh-CN" sz="2000" dirty="0">
                <a:solidFill>
                  <a:srgbClr val="0066FF"/>
                </a:solidFill>
                <a:latin typeface="Verdana" pitchFamily="34" charset="0"/>
                <a:ea typeface="华文中宋" pitchFamily="2" charset="-122"/>
              </a:rPr>
              <a:t>F8</a:t>
            </a:r>
            <a:r>
              <a:rPr lang="en-US" altLang="zh-CN" sz="2000" dirty="0">
                <a:solidFill>
                  <a:srgbClr val="FF5050"/>
                </a:solidFill>
                <a:latin typeface="Verdana" pitchFamily="34" charset="0"/>
                <a:ea typeface="华文中宋" pitchFamily="2" charset="-122"/>
              </a:rPr>
              <a:t>,</a:t>
            </a:r>
            <a:r>
              <a:rPr lang="en-US" altLang="zh-CN" sz="2000" dirty="0">
                <a:solidFill>
                  <a:srgbClr val="0066FF"/>
                </a:solidFill>
                <a:latin typeface="Verdana" pitchFamily="34" charset="0"/>
                <a:ea typeface="华文中宋" pitchFamily="2" charset="-122"/>
              </a:rPr>
              <a:t>F6</a:t>
            </a:r>
            <a:r>
              <a:rPr lang="en-US" altLang="zh-CN" sz="2000" dirty="0">
                <a:solidFill>
                  <a:srgbClr val="FF5050"/>
                </a:solidFill>
                <a:latin typeface="Verdana" pitchFamily="34" charset="0"/>
                <a:ea typeface="华文中宋" pitchFamily="2" charset="-122"/>
              </a:rPr>
              <a:t>,F2</a:t>
            </a:r>
          </a:p>
          <a:p>
            <a:pPr lvl="1" eaLnBrk="1" fontAlgn="auto" hangingPunct="1">
              <a:lnSpc>
                <a:spcPct val="90000"/>
              </a:lnSpc>
              <a:spcAft>
                <a:spcPts val="0"/>
              </a:spcAft>
              <a:buFont typeface="Wingdings" pitchFamily="2" charset="2"/>
              <a:buNone/>
              <a:defRPr/>
            </a:pPr>
            <a:r>
              <a:rPr lang="en-US" altLang="zh-CN" sz="2000" dirty="0">
                <a:solidFill>
                  <a:srgbClr val="FF5050"/>
                </a:solidFill>
                <a:latin typeface="Verdana" pitchFamily="34" charset="0"/>
                <a:ea typeface="华文中宋" pitchFamily="2" charset="-122"/>
              </a:rPr>
              <a:t>			SD	-8(R1), </a:t>
            </a:r>
            <a:r>
              <a:rPr lang="en-US" altLang="zh-CN" sz="2000" dirty="0">
                <a:solidFill>
                  <a:srgbClr val="0066FF"/>
                </a:solidFill>
                <a:latin typeface="Verdana" pitchFamily="34" charset="0"/>
                <a:ea typeface="华文中宋" pitchFamily="2" charset="-122"/>
              </a:rPr>
              <a:t>F8</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LD	</a:t>
            </a:r>
            <a:r>
              <a:rPr lang="en-US" altLang="zh-CN" sz="2000" dirty="0">
                <a:solidFill>
                  <a:srgbClr val="0066FF"/>
                </a:solidFill>
                <a:latin typeface="Verdana" pitchFamily="34" charset="0"/>
                <a:ea typeface="华文中宋" pitchFamily="2" charset="-122"/>
              </a:rPr>
              <a:t>F10</a:t>
            </a:r>
            <a:r>
              <a:rPr lang="en-US" altLang="zh-CN" sz="2000" dirty="0">
                <a:latin typeface="Verdana" pitchFamily="34" charset="0"/>
                <a:ea typeface="华文中宋" pitchFamily="2" charset="-122"/>
              </a:rPr>
              <a:t>,-16(R1)</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ADDD	</a:t>
            </a:r>
            <a:r>
              <a:rPr lang="en-US" altLang="zh-CN" sz="2000" dirty="0">
                <a:solidFill>
                  <a:srgbClr val="0066FF"/>
                </a:solidFill>
                <a:latin typeface="Verdana" pitchFamily="34" charset="0"/>
                <a:ea typeface="华文中宋" pitchFamily="2" charset="-122"/>
              </a:rPr>
              <a:t>F12</a:t>
            </a:r>
            <a:r>
              <a:rPr lang="en-US" altLang="zh-CN" sz="2000" dirty="0">
                <a:latin typeface="Verdana" pitchFamily="34" charset="0"/>
                <a:ea typeface="华文中宋" pitchFamily="2" charset="-122"/>
              </a:rPr>
              <a:t>,</a:t>
            </a:r>
            <a:r>
              <a:rPr lang="en-US" altLang="zh-CN" sz="2000" dirty="0">
                <a:solidFill>
                  <a:srgbClr val="0066FF"/>
                </a:solidFill>
                <a:latin typeface="Verdana" pitchFamily="34" charset="0"/>
                <a:ea typeface="华文中宋" pitchFamily="2" charset="-122"/>
              </a:rPr>
              <a:t>F10</a:t>
            </a:r>
            <a:r>
              <a:rPr lang="en-US" altLang="zh-CN" sz="2000" dirty="0">
                <a:latin typeface="Verdana" pitchFamily="34" charset="0"/>
                <a:ea typeface="华文中宋" pitchFamily="2" charset="-122"/>
              </a:rPr>
              <a:t>,F2</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SD	-16(R1), </a:t>
            </a:r>
            <a:r>
              <a:rPr lang="en-US" altLang="zh-CN" sz="2000" dirty="0">
                <a:solidFill>
                  <a:srgbClr val="0066FF"/>
                </a:solidFill>
                <a:latin typeface="Verdana" pitchFamily="34" charset="0"/>
                <a:ea typeface="华文中宋" pitchFamily="2" charset="-122"/>
              </a:rPr>
              <a:t>F12</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a:t>
            </a:r>
            <a:r>
              <a:rPr lang="en-US" altLang="zh-CN" sz="2000" dirty="0">
                <a:solidFill>
                  <a:srgbClr val="FF5050"/>
                </a:solidFill>
                <a:latin typeface="Verdana" pitchFamily="34" charset="0"/>
                <a:ea typeface="华文中宋" pitchFamily="2" charset="-122"/>
              </a:rPr>
              <a:t>LD	</a:t>
            </a:r>
            <a:r>
              <a:rPr lang="en-US" altLang="zh-CN" sz="2000" dirty="0">
                <a:solidFill>
                  <a:srgbClr val="0066FF"/>
                </a:solidFill>
                <a:latin typeface="Verdana" pitchFamily="34" charset="0"/>
                <a:ea typeface="华文中宋" pitchFamily="2" charset="-122"/>
              </a:rPr>
              <a:t>F14</a:t>
            </a:r>
            <a:r>
              <a:rPr lang="en-US" altLang="zh-CN" sz="2000" dirty="0">
                <a:solidFill>
                  <a:srgbClr val="FF5050"/>
                </a:solidFill>
                <a:latin typeface="Verdana" pitchFamily="34" charset="0"/>
                <a:ea typeface="华文中宋" pitchFamily="2" charset="-122"/>
              </a:rPr>
              <a:t>,-24(R1)</a:t>
            </a:r>
          </a:p>
          <a:p>
            <a:pPr lvl="1" eaLnBrk="1" fontAlgn="auto" hangingPunct="1">
              <a:lnSpc>
                <a:spcPct val="90000"/>
              </a:lnSpc>
              <a:spcAft>
                <a:spcPts val="0"/>
              </a:spcAft>
              <a:buFont typeface="Wingdings" pitchFamily="2" charset="2"/>
              <a:buNone/>
              <a:defRPr/>
            </a:pPr>
            <a:r>
              <a:rPr lang="en-US" altLang="zh-CN" sz="2000" dirty="0">
                <a:solidFill>
                  <a:srgbClr val="FF5050"/>
                </a:solidFill>
                <a:latin typeface="Verdana" pitchFamily="34" charset="0"/>
                <a:ea typeface="华文中宋" pitchFamily="2" charset="-122"/>
              </a:rPr>
              <a:t>			ADDD	</a:t>
            </a:r>
            <a:r>
              <a:rPr lang="en-US" altLang="zh-CN" sz="2000" dirty="0">
                <a:solidFill>
                  <a:srgbClr val="0066FF"/>
                </a:solidFill>
                <a:latin typeface="Verdana" pitchFamily="34" charset="0"/>
                <a:ea typeface="华文中宋" pitchFamily="2" charset="-122"/>
              </a:rPr>
              <a:t>F16</a:t>
            </a:r>
            <a:r>
              <a:rPr lang="en-US" altLang="zh-CN" sz="2000" dirty="0">
                <a:solidFill>
                  <a:srgbClr val="FF5050"/>
                </a:solidFill>
                <a:latin typeface="Verdana" pitchFamily="34" charset="0"/>
                <a:ea typeface="华文中宋" pitchFamily="2" charset="-122"/>
              </a:rPr>
              <a:t>,</a:t>
            </a:r>
            <a:r>
              <a:rPr lang="en-US" altLang="zh-CN" sz="2000" dirty="0">
                <a:solidFill>
                  <a:srgbClr val="0066FF"/>
                </a:solidFill>
                <a:latin typeface="Verdana" pitchFamily="34" charset="0"/>
                <a:ea typeface="华文中宋" pitchFamily="2" charset="-122"/>
              </a:rPr>
              <a:t>F14</a:t>
            </a:r>
            <a:r>
              <a:rPr lang="en-US" altLang="zh-CN" sz="2000" dirty="0">
                <a:solidFill>
                  <a:srgbClr val="FF5050"/>
                </a:solidFill>
                <a:latin typeface="Verdana" pitchFamily="34" charset="0"/>
                <a:ea typeface="华文中宋" pitchFamily="2" charset="-122"/>
              </a:rPr>
              <a:t>,F2</a:t>
            </a:r>
          </a:p>
          <a:p>
            <a:pPr lvl="1" eaLnBrk="1" fontAlgn="auto" hangingPunct="1">
              <a:lnSpc>
                <a:spcPct val="90000"/>
              </a:lnSpc>
              <a:spcAft>
                <a:spcPts val="0"/>
              </a:spcAft>
              <a:buFont typeface="Wingdings" pitchFamily="2" charset="2"/>
              <a:buNone/>
              <a:defRPr/>
            </a:pPr>
            <a:r>
              <a:rPr lang="en-US" altLang="zh-CN" sz="2000" dirty="0">
                <a:solidFill>
                  <a:srgbClr val="FF5050"/>
                </a:solidFill>
                <a:latin typeface="Verdana" pitchFamily="34" charset="0"/>
                <a:ea typeface="华文中宋" pitchFamily="2" charset="-122"/>
              </a:rPr>
              <a:t>			SD	-24(R1), </a:t>
            </a:r>
            <a:r>
              <a:rPr lang="en-US" altLang="zh-CN" sz="2000" dirty="0">
                <a:solidFill>
                  <a:srgbClr val="0066FF"/>
                </a:solidFill>
                <a:latin typeface="Verdana" pitchFamily="34" charset="0"/>
                <a:ea typeface="华文中宋" pitchFamily="2" charset="-122"/>
              </a:rPr>
              <a:t>F16</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SUBI    R1,R1,#-32</a:t>
            </a:r>
          </a:p>
          <a:p>
            <a:pPr lvl="1" eaLnBrk="1" fontAlgn="auto" hangingPunct="1">
              <a:lnSpc>
                <a:spcPct val="90000"/>
              </a:lnSpc>
              <a:spcAft>
                <a:spcPts val="0"/>
              </a:spcAft>
              <a:buFont typeface="Wingdings" pitchFamily="2" charset="2"/>
              <a:buNone/>
              <a:defRPr/>
            </a:pPr>
            <a:r>
              <a:rPr lang="en-US" altLang="zh-CN" sz="2000" dirty="0">
                <a:latin typeface="Verdana" pitchFamily="34" charset="0"/>
                <a:ea typeface="华文中宋" pitchFamily="2" charset="-122"/>
              </a:rPr>
              <a:t>			BNEZ	R1,Loop</a:t>
            </a:r>
            <a:endParaRPr lang="zh-CN" altLang="en-US" sz="2000" dirty="0">
              <a:latin typeface="Verdana" pitchFamily="34" charset="0"/>
              <a:ea typeface="华文中宋" pitchFamily="2" charset="-122"/>
            </a:endParaRPr>
          </a:p>
        </p:txBody>
      </p:sp>
    </p:spTree>
    <p:extLst>
      <p:ext uri="{BB962C8B-B14F-4D97-AF65-F5344CB8AC3E}">
        <p14:creationId xmlns:p14="http://schemas.microsoft.com/office/powerpoint/2010/main" val="1543715113"/>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descr="Rectangle: Click to edit Master text styles&#10;Second level&#10;Third level&#10;Fourth level&#10;Fifth level"/>
          <p:cNvSpPr>
            <a:spLocks noGrp="1" noChangeArrowheads="1"/>
          </p:cNvSpPr>
          <p:nvPr>
            <p:ph idx="1"/>
          </p:nvPr>
        </p:nvSpPr>
        <p:spPr>
          <a:xfrm>
            <a:off x="611560" y="695325"/>
            <a:ext cx="7772400" cy="5638800"/>
          </a:xfrm>
        </p:spPr>
        <p:txBody>
          <a:bodyPr/>
          <a:lstStyle/>
          <a:p>
            <a:pPr marL="1085850" lvl="1" indent="-457200" eaLnBrk="1" hangingPunct="1">
              <a:buFont typeface="Wingdings" pitchFamily="2" charset="2"/>
              <a:buNone/>
            </a:pPr>
            <a:endParaRPr lang="zh-CN" altLang="en-US" dirty="0">
              <a:latin typeface="黑体" pitchFamily="49" charset="-122"/>
            </a:endParaRPr>
          </a:p>
          <a:p>
            <a:pPr marL="1085850" lvl="1" indent="-457200" eaLnBrk="1" hangingPunct="1"/>
            <a:r>
              <a:rPr lang="zh-CN" altLang="en-US" sz="2400" b="1" dirty="0">
                <a:latin typeface="Times New Roman" panose="02020603050405020304" pitchFamily="18" charset="0"/>
                <a:cs typeface="Times New Roman" panose="02020603050405020304" pitchFamily="18" charset="0"/>
              </a:rPr>
              <a:t>再考虑以下代码：</a:t>
            </a:r>
          </a:p>
          <a:p>
            <a:pPr lvl="2" eaLnBrk="1" hangingPunct="1">
              <a:lnSpc>
                <a:spcPct val="100000"/>
              </a:lnSpc>
              <a:buFont typeface="Wingdings" pitchFamily="2" charset="2"/>
              <a:buNone/>
            </a:pPr>
            <a:r>
              <a:rPr lang="zh-CN" altLang="en-US" dirty="0">
                <a:latin typeface="宋体" pitchFamily="2" charset="-122"/>
              </a:rPr>
              <a:t>       </a:t>
            </a:r>
            <a:r>
              <a:rPr lang="en-US" altLang="zh-CN" dirty="0">
                <a:latin typeface="宋体" pitchFamily="2" charset="-122"/>
              </a:rPr>
              <a:t>DIVD	    F0</a:t>
            </a:r>
            <a:r>
              <a:rPr lang="zh-CN" altLang="en-US" dirty="0">
                <a:latin typeface="宋体" pitchFamily="2" charset="-122"/>
              </a:rPr>
              <a:t>，</a:t>
            </a:r>
            <a:r>
              <a:rPr lang="en-US" altLang="zh-CN" dirty="0">
                <a:latin typeface="宋体" pitchFamily="2" charset="-122"/>
              </a:rPr>
              <a:t>F2</a:t>
            </a:r>
            <a:r>
              <a:rPr lang="zh-CN" altLang="en-US" dirty="0">
                <a:latin typeface="宋体" pitchFamily="2" charset="-122"/>
              </a:rPr>
              <a:t>，</a:t>
            </a:r>
            <a:r>
              <a:rPr lang="en-US" altLang="zh-CN" dirty="0">
                <a:latin typeface="宋体" pitchFamily="2" charset="-122"/>
              </a:rPr>
              <a:t>F4</a:t>
            </a:r>
          </a:p>
          <a:p>
            <a:pPr lvl="2" eaLnBrk="1" hangingPunct="1">
              <a:lnSpc>
                <a:spcPct val="100000"/>
              </a:lnSpc>
              <a:buFont typeface="Wingdings" pitchFamily="2" charset="2"/>
              <a:buNone/>
            </a:pPr>
            <a:r>
              <a:rPr lang="en-US" altLang="zh-CN" dirty="0">
                <a:latin typeface="宋体" pitchFamily="2" charset="-122"/>
              </a:rPr>
              <a:t>       MULD	    </a:t>
            </a:r>
            <a:r>
              <a:rPr lang="en-US" altLang="zh-CN" dirty="0">
                <a:solidFill>
                  <a:schemeClr val="hlink"/>
                </a:solidFill>
                <a:latin typeface="宋体" pitchFamily="2" charset="-122"/>
              </a:rPr>
              <a:t>F6</a:t>
            </a:r>
            <a:r>
              <a:rPr lang="zh-CN" altLang="en-US" dirty="0">
                <a:latin typeface="宋体" pitchFamily="2" charset="-122"/>
              </a:rPr>
              <a:t>，</a:t>
            </a:r>
            <a:r>
              <a:rPr lang="en-US" altLang="zh-CN" dirty="0">
                <a:latin typeface="宋体" pitchFamily="2" charset="-122"/>
              </a:rPr>
              <a:t>F0</a:t>
            </a:r>
            <a:r>
              <a:rPr lang="zh-CN" altLang="en-US" dirty="0">
                <a:latin typeface="宋体" pitchFamily="2" charset="-122"/>
              </a:rPr>
              <a:t>，</a:t>
            </a:r>
            <a:r>
              <a:rPr lang="en-US" altLang="zh-CN" dirty="0">
                <a:solidFill>
                  <a:srgbClr val="D60093"/>
                </a:solidFill>
                <a:latin typeface="宋体" pitchFamily="2" charset="-122"/>
              </a:rPr>
              <a:t>F8</a:t>
            </a:r>
          </a:p>
          <a:p>
            <a:pPr lvl="2" eaLnBrk="1" hangingPunct="1">
              <a:lnSpc>
                <a:spcPct val="100000"/>
              </a:lnSpc>
              <a:buFont typeface="Wingdings" pitchFamily="2" charset="2"/>
              <a:buNone/>
            </a:pPr>
            <a:r>
              <a:rPr lang="en-US" altLang="zh-CN" dirty="0">
                <a:latin typeface="宋体" pitchFamily="2" charset="-122"/>
              </a:rPr>
              <a:t>       SD	    0</a:t>
            </a:r>
            <a:r>
              <a:rPr lang="zh-CN" altLang="en-US" dirty="0">
                <a:latin typeface="宋体" pitchFamily="2" charset="-122"/>
              </a:rPr>
              <a:t>（</a:t>
            </a:r>
            <a:r>
              <a:rPr lang="en-US" altLang="zh-CN" dirty="0">
                <a:latin typeface="宋体" pitchFamily="2" charset="-122"/>
              </a:rPr>
              <a:t>R1</a:t>
            </a:r>
            <a:r>
              <a:rPr lang="zh-CN" altLang="en-US" dirty="0">
                <a:latin typeface="宋体" pitchFamily="2" charset="-122"/>
              </a:rPr>
              <a:t>），</a:t>
            </a:r>
            <a:r>
              <a:rPr lang="en-US" altLang="zh-CN" u="sng" dirty="0">
                <a:latin typeface="宋体" pitchFamily="2" charset="-122"/>
              </a:rPr>
              <a:t>F6</a:t>
            </a:r>
            <a:endParaRPr lang="zh-CN" altLang="en-US" u="sng" dirty="0">
              <a:latin typeface="宋体" pitchFamily="2" charset="-122"/>
            </a:endParaRPr>
          </a:p>
          <a:p>
            <a:pPr lvl="2" eaLnBrk="1" hangingPunct="1">
              <a:lnSpc>
                <a:spcPct val="100000"/>
              </a:lnSpc>
              <a:buFont typeface="Wingdings" pitchFamily="2" charset="2"/>
              <a:buNone/>
            </a:pPr>
            <a:r>
              <a:rPr lang="zh-CN" altLang="en-US" dirty="0">
                <a:latin typeface="宋体" pitchFamily="2" charset="-122"/>
              </a:rPr>
              <a:t>       </a:t>
            </a:r>
            <a:r>
              <a:rPr lang="en-US" altLang="zh-CN" dirty="0">
                <a:latin typeface="宋体" pitchFamily="2" charset="-122"/>
              </a:rPr>
              <a:t>SUBD	    </a:t>
            </a:r>
            <a:r>
              <a:rPr lang="en-US" altLang="zh-CN" dirty="0">
                <a:solidFill>
                  <a:srgbClr val="D60093"/>
                </a:solidFill>
                <a:latin typeface="宋体" pitchFamily="2" charset="-122"/>
              </a:rPr>
              <a:t>F8</a:t>
            </a:r>
            <a:r>
              <a:rPr lang="zh-CN" altLang="en-US" dirty="0">
                <a:latin typeface="宋体" pitchFamily="2" charset="-122"/>
              </a:rPr>
              <a:t>，</a:t>
            </a:r>
            <a:r>
              <a:rPr lang="en-US" altLang="zh-CN" dirty="0">
                <a:latin typeface="宋体" pitchFamily="2" charset="-122"/>
              </a:rPr>
              <a:t>F10</a:t>
            </a:r>
            <a:r>
              <a:rPr lang="zh-CN" altLang="en-US" dirty="0">
                <a:latin typeface="宋体" pitchFamily="2" charset="-122"/>
              </a:rPr>
              <a:t>，</a:t>
            </a:r>
            <a:r>
              <a:rPr lang="en-US" altLang="zh-CN" dirty="0">
                <a:latin typeface="宋体" pitchFamily="2" charset="-122"/>
              </a:rPr>
              <a:t>F14</a:t>
            </a:r>
          </a:p>
          <a:p>
            <a:pPr lvl="2" eaLnBrk="1" hangingPunct="1">
              <a:lnSpc>
                <a:spcPct val="100000"/>
              </a:lnSpc>
              <a:buFont typeface="Wingdings" pitchFamily="2" charset="2"/>
              <a:buNone/>
            </a:pPr>
            <a:r>
              <a:rPr lang="en-US" altLang="zh-CN" dirty="0">
                <a:latin typeface="宋体" pitchFamily="2" charset="-122"/>
              </a:rPr>
              <a:t>       ADDD	    </a:t>
            </a:r>
            <a:r>
              <a:rPr lang="en-US" altLang="zh-CN" dirty="0">
                <a:solidFill>
                  <a:schemeClr val="hlink"/>
                </a:solidFill>
                <a:latin typeface="宋体" pitchFamily="2" charset="-122"/>
              </a:rPr>
              <a:t>F6</a:t>
            </a:r>
            <a:r>
              <a:rPr lang="zh-CN" altLang="en-US" dirty="0">
                <a:latin typeface="宋体" pitchFamily="2" charset="-122"/>
              </a:rPr>
              <a:t>， </a:t>
            </a:r>
            <a:r>
              <a:rPr lang="en-US" altLang="zh-CN" dirty="0">
                <a:latin typeface="宋体" pitchFamily="2" charset="-122"/>
              </a:rPr>
              <a:t>F10</a:t>
            </a:r>
            <a:r>
              <a:rPr lang="zh-CN" altLang="en-US" dirty="0">
                <a:latin typeface="宋体" pitchFamily="2" charset="-122"/>
              </a:rPr>
              <a:t>，</a:t>
            </a:r>
            <a:r>
              <a:rPr lang="en-US" altLang="zh-CN" u="sng" dirty="0">
                <a:latin typeface="宋体" pitchFamily="2" charset="-122"/>
              </a:rPr>
              <a:t>F8</a:t>
            </a:r>
            <a:r>
              <a:rPr lang="en-US" altLang="zh-CN" dirty="0">
                <a:latin typeface="宋体" pitchFamily="2" charset="-122"/>
              </a:rPr>
              <a:t> </a:t>
            </a:r>
          </a:p>
        </p:txBody>
      </p:sp>
      <p:sp>
        <p:nvSpPr>
          <p:cNvPr id="101379" name="Text Box 7"/>
          <p:cNvSpPr txBox="1">
            <a:spLocks noChangeArrowheads="1"/>
          </p:cNvSpPr>
          <p:nvPr/>
        </p:nvSpPr>
        <p:spPr bwMode="auto">
          <a:xfrm>
            <a:off x="86241" y="2852936"/>
            <a:ext cx="2133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eaLnBrk="1" hangingPunct="1">
              <a:lnSpc>
                <a:spcPct val="60000"/>
              </a:lnSpc>
              <a:spcBef>
                <a:spcPct val="50000"/>
              </a:spcBef>
              <a:buFont typeface="Wingdings" pitchFamily="2" charset="2"/>
              <a:buNone/>
            </a:pPr>
            <a:r>
              <a:rPr lang="zh-CN" altLang="en-US" sz="2000" b="1" dirty="0">
                <a:solidFill>
                  <a:schemeClr val="hlink"/>
                </a:solidFill>
                <a:latin typeface="宋体" pitchFamily="2" charset="-122"/>
                <a:ea typeface="宋体" pitchFamily="2" charset="-122"/>
              </a:rPr>
              <a:t>输出相关（</a:t>
            </a:r>
            <a:r>
              <a:rPr lang="en-US" altLang="zh-CN" sz="2000" b="1" dirty="0">
                <a:solidFill>
                  <a:schemeClr val="hlink"/>
                </a:solidFill>
                <a:latin typeface="宋体" pitchFamily="2" charset="-122"/>
                <a:ea typeface="宋体" pitchFamily="2" charset="-122"/>
              </a:rPr>
              <a:t>F6</a:t>
            </a:r>
            <a:r>
              <a:rPr lang="zh-CN" altLang="en-US" sz="2000" b="1" dirty="0">
                <a:solidFill>
                  <a:schemeClr val="hlink"/>
                </a:solidFill>
                <a:latin typeface="宋体" pitchFamily="2" charset="-122"/>
                <a:ea typeface="宋体" pitchFamily="2" charset="-122"/>
              </a:rPr>
              <a:t>）</a:t>
            </a:r>
          </a:p>
          <a:p>
            <a:pPr eaLnBrk="1" hangingPunct="1">
              <a:lnSpc>
                <a:spcPct val="60000"/>
              </a:lnSpc>
              <a:spcBef>
                <a:spcPct val="50000"/>
              </a:spcBef>
              <a:buFont typeface="Wingdings" pitchFamily="2" charset="2"/>
              <a:buNone/>
            </a:pPr>
            <a:r>
              <a:rPr lang="zh-CN" altLang="en-US" sz="2000" b="1" dirty="0">
                <a:solidFill>
                  <a:schemeClr val="hlink"/>
                </a:solidFill>
                <a:latin typeface="宋体" pitchFamily="2" charset="-122"/>
                <a:ea typeface="宋体" pitchFamily="2" charset="-122"/>
              </a:rPr>
              <a:t>导致</a:t>
            </a:r>
            <a:r>
              <a:rPr lang="en-US" altLang="zh-CN" sz="2000" b="1" dirty="0">
                <a:solidFill>
                  <a:schemeClr val="hlink"/>
                </a:solidFill>
                <a:latin typeface="宋体" pitchFamily="2" charset="-122"/>
                <a:ea typeface="宋体" pitchFamily="2" charset="-122"/>
              </a:rPr>
              <a:t>WAW</a:t>
            </a:r>
            <a:r>
              <a:rPr lang="zh-CN" altLang="en-US" sz="2000" b="1" dirty="0">
                <a:solidFill>
                  <a:schemeClr val="hlink"/>
                </a:solidFill>
                <a:latin typeface="宋体" pitchFamily="2" charset="-122"/>
                <a:ea typeface="宋体" pitchFamily="2" charset="-122"/>
              </a:rPr>
              <a:t>冲突</a:t>
            </a:r>
          </a:p>
        </p:txBody>
      </p:sp>
      <p:sp>
        <p:nvSpPr>
          <p:cNvPr id="101380" name="Text Box 8"/>
          <p:cNvSpPr txBox="1">
            <a:spLocks noChangeArrowheads="1"/>
          </p:cNvSpPr>
          <p:nvPr/>
        </p:nvSpPr>
        <p:spPr bwMode="auto">
          <a:xfrm>
            <a:off x="6804248" y="2492896"/>
            <a:ext cx="1905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eaLnBrk="1" hangingPunct="1">
              <a:lnSpc>
                <a:spcPct val="60000"/>
              </a:lnSpc>
              <a:spcBef>
                <a:spcPct val="50000"/>
              </a:spcBef>
              <a:buFont typeface="Wingdings" pitchFamily="2" charset="2"/>
              <a:buNone/>
            </a:pPr>
            <a:r>
              <a:rPr lang="zh-CN" altLang="en-US" sz="2000" b="1" dirty="0">
                <a:solidFill>
                  <a:srgbClr val="D60093"/>
                </a:solidFill>
                <a:latin typeface="宋体" pitchFamily="2" charset="-122"/>
                <a:ea typeface="宋体" pitchFamily="2" charset="-122"/>
              </a:rPr>
              <a:t>反相关（</a:t>
            </a:r>
            <a:r>
              <a:rPr lang="en-US" altLang="zh-CN" sz="2000" b="1" dirty="0">
                <a:solidFill>
                  <a:srgbClr val="D60093"/>
                </a:solidFill>
                <a:latin typeface="宋体" pitchFamily="2" charset="-122"/>
                <a:ea typeface="宋体" pitchFamily="2" charset="-122"/>
              </a:rPr>
              <a:t>F8</a:t>
            </a:r>
            <a:r>
              <a:rPr lang="zh-CN" altLang="en-US" sz="2000" b="1" dirty="0">
                <a:solidFill>
                  <a:srgbClr val="D60093"/>
                </a:solidFill>
                <a:latin typeface="宋体" pitchFamily="2" charset="-122"/>
                <a:ea typeface="宋体" pitchFamily="2" charset="-122"/>
              </a:rPr>
              <a:t>）</a:t>
            </a:r>
          </a:p>
          <a:p>
            <a:pPr eaLnBrk="1" hangingPunct="1">
              <a:lnSpc>
                <a:spcPct val="60000"/>
              </a:lnSpc>
              <a:spcBef>
                <a:spcPct val="50000"/>
              </a:spcBef>
              <a:buFont typeface="Wingdings" pitchFamily="2" charset="2"/>
              <a:buNone/>
            </a:pPr>
            <a:r>
              <a:rPr lang="zh-CN" altLang="en-US" sz="2000" b="1" dirty="0">
                <a:solidFill>
                  <a:srgbClr val="D60093"/>
                </a:solidFill>
                <a:latin typeface="宋体" pitchFamily="2" charset="-122"/>
                <a:ea typeface="宋体" pitchFamily="2" charset="-122"/>
              </a:rPr>
              <a:t>导致</a:t>
            </a:r>
            <a:r>
              <a:rPr lang="en-US" altLang="zh-CN" sz="2000" b="1" dirty="0">
                <a:solidFill>
                  <a:srgbClr val="D60093"/>
                </a:solidFill>
                <a:latin typeface="宋体" pitchFamily="2" charset="-122"/>
                <a:ea typeface="宋体" pitchFamily="2" charset="-122"/>
              </a:rPr>
              <a:t>WAR</a:t>
            </a:r>
            <a:r>
              <a:rPr lang="zh-CN" altLang="en-US" sz="2000" b="1" dirty="0">
                <a:solidFill>
                  <a:srgbClr val="D60093"/>
                </a:solidFill>
                <a:latin typeface="宋体" pitchFamily="2" charset="-122"/>
                <a:ea typeface="宋体" pitchFamily="2" charset="-122"/>
              </a:rPr>
              <a:t>冲突</a:t>
            </a:r>
            <a:r>
              <a:rPr lang="zh-CN" altLang="en-US" sz="2000" b="1" dirty="0">
                <a:solidFill>
                  <a:srgbClr val="008000"/>
                </a:solidFill>
                <a:latin typeface="宋体" pitchFamily="2" charset="-122"/>
                <a:ea typeface="宋体" pitchFamily="2" charset="-122"/>
              </a:rPr>
              <a:t> </a:t>
            </a:r>
          </a:p>
        </p:txBody>
      </p:sp>
      <p:sp>
        <p:nvSpPr>
          <p:cNvPr id="101381" name="AutoShape 11"/>
          <p:cNvSpPr>
            <a:spLocks/>
          </p:cNvSpPr>
          <p:nvPr/>
        </p:nvSpPr>
        <p:spPr bwMode="auto">
          <a:xfrm flipH="1">
            <a:off x="2241104" y="2348880"/>
            <a:ext cx="307806" cy="1435224"/>
          </a:xfrm>
          <a:prstGeom prst="rightBrace">
            <a:avLst>
              <a:gd name="adj1" fmla="val 44420"/>
              <a:gd name="adj2" fmla="val 50000"/>
            </a:avLst>
          </a:prstGeom>
          <a:noFill/>
          <a:ln w="190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buFont typeface="Wingdings" pitchFamily="2" charset="2"/>
              <a:buNone/>
            </a:pPr>
            <a:endParaRPr lang="zh-CN" altLang="zh-CN">
              <a:solidFill>
                <a:schemeClr val="hlink"/>
              </a:solidFill>
            </a:endParaRPr>
          </a:p>
        </p:txBody>
      </p:sp>
      <p:sp>
        <p:nvSpPr>
          <p:cNvPr id="101382" name="AutoShape 12"/>
          <p:cNvSpPr>
            <a:spLocks/>
          </p:cNvSpPr>
          <p:nvPr/>
        </p:nvSpPr>
        <p:spPr bwMode="auto">
          <a:xfrm flipH="1">
            <a:off x="6372200" y="2276872"/>
            <a:ext cx="186424" cy="978024"/>
          </a:xfrm>
          <a:prstGeom prst="leftBrace">
            <a:avLst>
              <a:gd name="adj1" fmla="val 41644"/>
              <a:gd name="adj2" fmla="val 50000"/>
            </a:avLst>
          </a:prstGeom>
          <a:noFill/>
          <a:ln w="19050">
            <a:solidFill>
              <a:srgbClr val="D6009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buFont typeface="Wingdings" pitchFamily="2" charset="2"/>
              <a:buNone/>
            </a:pPr>
            <a:endParaRPr lang="zh-CN" altLang="en-US"/>
          </a:p>
        </p:txBody>
      </p:sp>
      <p:sp>
        <p:nvSpPr>
          <p:cNvPr id="2" name="矩形 1">
            <a:extLst>
              <a:ext uri="{FF2B5EF4-FFF2-40B4-BE49-F238E27FC236}">
                <a16:creationId xmlns:a16="http://schemas.microsoft.com/office/drawing/2014/main" id="{BE9CA184-65AA-4492-A21F-8F92C90ECF0F}"/>
              </a:ext>
            </a:extLst>
          </p:cNvPr>
          <p:cNvSpPr/>
          <p:nvPr/>
        </p:nvSpPr>
        <p:spPr>
          <a:xfrm>
            <a:off x="2220787" y="4440567"/>
            <a:ext cx="5154985" cy="707886"/>
          </a:xfrm>
          <a:prstGeom prst="rect">
            <a:avLst/>
          </a:prstGeom>
        </p:spPr>
        <p:txBody>
          <a:bodyPr wrap="square">
            <a:spAutoFit/>
          </a:bodyPr>
          <a:lstStyle/>
          <a:p>
            <a:r>
              <a:rPr lang="zh-CN" altLang="en-US" sz="2000" b="0" dirty="0">
                <a:latin typeface="黑体" pitchFamily="49" charset="-122"/>
              </a:rPr>
              <a:t>第二、三条指令中的</a:t>
            </a:r>
            <a:r>
              <a:rPr lang="en-US" altLang="zh-CN" sz="2000" b="0" u="sng" dirty="0">
                <a:latin typeface="+mn-ea"/>
                <a:ea typeface="+mn-ea"/>
              </a:rPr>
              <a:t>F6</a:t>
            </a:r>
            <a:r>
              <a:rPr lang="zh-CN" altLang="en-US" sz="2000" b="0" dirty="0">
                <a:latin typeface="黑体" pitchFamily="49" charset="-122"/>
              </a:rPr>
              <a:t>是真数据相关</a:t>
            </a:r>
            <a:endParaRPr lang="en-US" altLang="zh-CN" sz="2000" b="0" dirty="0">
              <a:latin typeface="黑体" pitchFamily="49" charset="-122"/>
            </a:endParaRPr>
          </a:p>
          <a:p>
            <a:r>
              <a:rPr lang="zh-CN" altLang="en-US" sz="2000" b="0" dirty="0">
                <a:latin typeface="黑体" pitchFamily="49" charset="-122"/>
              </a:rPr>
              <a:t>第四、五条指令中的</a:t>
            </a:r>
            <a:r>
              <a:rPr lang="en-US" altLang="zh-CN" sz="2000" b="0" u="sng" dirty="0">
                <a:latin typeface="+mn-ea"/>
              </a:rPr>
              <a:t>F8</a:t>
            </a:r>
            <a:r>
              <a:rPr lang="zh-CN" altLang="en-US" sz="2000" b="0" dirty="0">
                <a:latin typeface="黑体" pitchFamily="49" charset="-122"/>
              </a:rPr>
              <a:t>是真数据相关</a:t>
            </a:r>
            <a:endParaRPr lang="en-US" altLang="zh-CN" sz="2000" b="0" dirty="0">
              <a:latin typeface="黑体" pitchFamily="49" charset="-122"/>
            </a:endParaRPr>
          </a:p>
        </p:txBody>
      </p:sp>
      <p:sp>
        <p:nvSpPr>
          <p:cNvPr id="3" name="日期占位符 2">
            <a:extLst>
              <a:ext uri="{FF2B5EF4-FFF2-40B4-BE49-F238E27FC236}">
                <a16:creationId xmlns:a16="http://schemas.microsoft.com/office/drawing/2014/main" id="{F1FEA469-8D7F-255C-B369-E3D1CF20DB8B}"/>
              </a:ext>
            </a:extLst>
          </p:cNvPr>
          <p:cNvSpPr>
            <a:spLocks noGrp="1"/>
          </p:cNvSpPr>
          <p:nvPr>
            <p:ph type="dt" sz="half" idx="10"/>
          </p:nvPr>
        </p:nvSpPr>
        <p:spPr/>
        <p:txBody>
          <a:bodyPr/>
          <a:lstStyle/>
          <a:p>
            <a:pPr>
              <a:defRPr/>
            </a:pPr>
            <a:fld id="{FEF31A15-A57B-4F0A-AB8D-0F80627C8A34}" type="datetime1">
              <a:rPr lang="zh-CN" altLang="en-US" smtClean="0"/>
              <a:t>2025/10/21</a:t>
            </a:fld>
            <a:endParaRPr lang="en-US" altLang="zh-CN"/>
          </a:p>
        </p:txBody>
      </p:sp>
      <p:sp>
        <p:nvSpPr>
          <p:cNvPr id="4" name="页脚占位符 3">
            <a:extLst>
              <a:ext uri="{FF2B5EF4-FFF2-40B4-BE49-F238E27FC236}">
                <a16:creationId xmlns:a16="http://schemas.microsoft.com/office/drawing/2014/main" id="{5585A59E-FBC3-8EE2-CAC2-588E2A29F5B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948A11B2-2EBF-C9DA-CC84-9F570BFF436E}"/>
              </a:ext>
            </a:extLst>
          </p:cNvPr>
          <p:cNvSpPr>
            <a:spLocks noGrp="1"/>
          </p:cNvSpPr>
          <p:nvPr>
            <p:ph type="sldNum" sz="quarter" idx="12"/>
          </p:nvPr>
        </p:nvSpPr>
        <p:spPr/>
        <p:txBody>
          <a:bodyPr/>
          <a:lstStyle/>
          <a:p>
            <a:pPr>
              <a:defRPr/>
            </a:pPr>
            <a:fld id="{8BCAC33D-D29A-48B3-BCD6-381D3D720D26}" type="slidenum">
              <a:rPr lang="zh-CN" altLang="en-US" smtClean="0"/>
              <a:t>52</a:t>
            </a:fld>
            <a:endParaRPr lang="en-US" altLang="zh-CN"/>
          </a:p>
        </p:txBody>
      </p:sp>
    </p:spTree>
    <p:extLst>
      <p:ext uri="{BB962C8B-B14F-4D97-AF65-F5344CB8AC3E}">
        <p14:creationId xmlns:p14="http://schemas.microsoft.com/office/powerpoint/2010/main" val="36865983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descr="Rectangle: Click to edit Master text styles&#10;Second level&#10;Third level&#10;Fourth level&#10;Fifth level"/>
          <p:cNvSpPr>
            <a:spLocks noGrp="1" noChangeArrowheads="1"/>
          </p:cNvSpPr>
          <p:nvPr>
            <p:ph idx="1"/>
          </p:nvPr>
        </p:nvSpPr>
        <p:spPr>
          <a:xfrm>
            <a:off x="831850" y="1219200"/>
            <a:ext cx="7772400" cy="3865563"/>
          </a:xfrm>
        </p:spPr>
        <p:txBody>
          <a:bodyPr/>
          <a:lstStyle/>
          <a:p>
            <a:pPr marL="1085850" lvl="1" indent="-457200" eaLnBrk="1" hangingPunct="1"/>
            <a:r>
              <a:rPr lang="zh-CN" altLang="en-US" b="1" dirty="0">
                <a:latin typeface="黑体" pitchFamily="49" charset="-122"/>
              </a:rPr>
              <a:t>消除名相关</a:t>
            </a:r>
          </a:p>
          <a:p>
            <a:pPr lvl="2" eaLnBrk="1" hangingPunct="1"/>
            <a:r>
              <a:rPr lang="zh-CN" altLang="en-US" dirty="0">
                <a:latin typeface="宋体" pitchFamily="2" charset="-122"/>
              </a:rPr>
              <a:t>引入两个临时寄存器</a:t>
            </a:r>
            <a:r>
              <a:rPr lang="en-US" altLang="zh-CN" dirty="0">
                <a:solidFill>
                  <a:schemeClr val="hlink"/>
                </a:solidFill>
                <a:latin typeface="宋体" pitchFamily="2" charset="-122"/>
              </a:rPr>
              <a:t>S</a:t>
            </a:r>
            <a:r>
              <a:rPr lang="zh-CN" altLang="en-US" dirty="0">
                <a:latin typeface="宋体" pitchFamily="2" charset="-122"/>
              </a:rPr>
              <a:t>和</a:t>
            </a:r>
            <a:r>
              <a:rPr lang="en-US" altLang="zh-CN" dirty="0">
                <a:solidFill>
                  <a:srgbClr val="D60093"/>
                </a:solidFill>
                <a:latin typeface="宋体" pitchFamily="2" charset="-122"/>
              </a:rPr>
              <a:t>T</a:t>
            </a:r>
          </a:p>
          <a:p>
            <a:pPr lvl="2" eaLnBrk="1" hangingPunct="1"/>
            <a:r>
              <a:rPr lang="zh-CN" altLang="en-US" dirty="0">
                <a:latin typeface="黑体" pitchFamily="49" charset="-122"/>
              </a:rPr>
              <a:t>把这段代码改写为：</a:t>
            </a:r>
          </a:p>
          <a:p>
            <a:pPr lvl="2" eaLnBrk="1" hangingPunct="1">
              <a:buFont typeface="Wingdings" pitchFamily="2" charset="2"/>
              <a:buNone/>
            </a:pPr>
            <a:r>
              <a:rPr lang="zh-CN" altLang="en-US" dirty="0">
                <a:latin typeface="宋体" pitchFamily="2" charset="-122"/>
              </a:rPr>
              <a:t>       </a:t>
            </a:r>
            <a:r>
              <a:rPr lang="en-US" altLang="zh-CN" dirty="0">
                <a:latin typeface="宋体" pitchFamily="2" charset="-122"/>
              </a:rPr>
              <a:t>DIVD	      F0</a:t>
            </a:r>
            <a:r>
              <a:rPr lang="zh-CN" altLang="en-US" dirty="0">
                <a:latin typeface="宋体" pitchFamily="2" charset="-122"/>
              </a:rPr>
              <a:t>，</a:t>
            </a:r>
            <a:r>
              <a:rPr lang="en-US" altLang="zh-CN" dirty="0">
                <a:latin typeface="宋体" pitchFamily="2" charset="-122"/>
              </a:rPr>
              <a:t>F2</a:t>
            </a:r>
            <a:r>
              <a:rPr lang="zh-CN" altLang="en-US" dirty="0">
                <a:latin typeface="宋体" pitchFamily="2" charset="-122"/>
              </a:rPr>
              <a:t>，</a:t>
            </a:r>
            <a:r>
              <a:rPr lang="en-US" altLang="zh-CN" dirty="0">
                <a:latin typeface="宋体" pitchFamily="2" charset="-122"/>
              </a:rPr>
              <a:t>F4</a:t>
            </a:r>
          </a:p>
          <a:p>
            <a:pPr lvl="2" eaLnBrk="1" hangingPunct="1">
              <a:buFont typeface="Wingdings" pitchFamily="2" charset="2"/>
              <a:buNone/>
            </a:pPr>
            <a:r>
              <a:rPr lang="en-US" altLang="zh-CN" dirty="0">
                <a:latin typeface="宋体" pitchFamily="2" charset="-122"/>
              </a:rPr>
              <a:t>       MULD	      </a:t>
            </a:r>
            <a:r>
              <a:rPr lang="en-US" altLang="zh-CN" dirty="0">
                <a:solidFill>
                  <a:schemeClr val="hlink"/>
                </a:solidFill>
                <a:latin typeface="宋体" pitchFamily="2" charset="-122"/>
              </a:rPr>
              <a:t>S</a:t>
            </a:r>
            <a:r>
              <a:rPr lang="zh-CN" altLang="en-US" dirty="0">
                <a:latin typeface="宋体" pitchFamily="2" charset="-122"/>
              </a:rPr>
              <a:t>，</a:t>
            </a:r>
            <a:r>
              <a:rPr lang="en-US" altLang="zh-CN" dirty="0">
                <a:latin typeface="宋体" pitchFamily="2" charset="-122"/>
              </a:rPr>
              <a:t>F0</a:t>
            </a:r>
            <a:r>
              <a:rPr lang="zh-CN" altLang="en-US" dirty="0">
                <a:latin typeface="宋体" pitchFamily="2" charset="-122"/>
              </a:rPr>
              <a:t>，</a:t>
            </a:r>
            <a:r>
              <a:rPr lang="en-US" altLang="zh-CN" dirty="0">
                <a:latin typeface="宋体" pitchFamily="2" charset="-122"/>
              </a:rPr>
              <a:t>F8</a:t>
            </a:r>
          </a:p>
          <a:p>
            <a:pPr lvl="2" eaLnBrk="1" hangingPunct="1">
              <a:buFont typeface="Wingdings" pitchFamily="2" charset="2"/>
              <a:buNone/>
            </a:pPr>
            <a:r>
              <a:rPr lang="en-US" altLang="zh-CN" dirty="0">
                <a:latin typeface="宋体" pitchFamily="2" charset="-122"/>
              </a:rPr>
              <a:t>       SD		0</a:t>
            </a:r>
            <a:r>
              <a:rPr lang="zh-CN" altLang="en-US" dirty="0">
                <a:latin typeface="宋体" pitchFamily="2" charset="-122"/>
              </a:rPr>
              <a:t>（</a:t>
            </a:r>
            <a:r>
              <a:rPr lang="en-US" altLang="zh-CN" dirty="0">
                <a:latin typeface="宋体" pitchFamily="2" charset="-122"/>
              </a:rPr>
              <a:t>R1</a:t>
            </a:r>
            <a:r>
              <a:rPr lang="zh-CN" altLang="en-US" dirty="0">
                <a:latin typeface="宋体" pitchFamily="2" charset="-122"/>
              </a:rPr>
              <a:t>），</a:t>
            </a:r>
            <a:r>
              <a:rPr lang="en-US" altLang="zh-CN" dirty="0">
                <a:latin typeface="宋体" pitchFamily="2" charset="-122"/>
              </a:rPr>
              <a:t>S</a:t>
            </a:r>
            <a:endParaRPr lang="zh-CN" altLang="en-US" dirty="0">
              <a:latin typeface="宋体" pitchFamily="2" charset="-122"/>
            </a:endParaRPr>
          </a:p>
          <a:p>
            <a:pPr lvl="2" eaLnBrk="1" hangingPunct="1">
              <a:buFont typeface="Wingdings" pitchFamily="2" charset="2"/>
              <a:buNone/>
            </a:pPr>
            <a:r>
              <a:rPr lang="zh-CN" altLang="en-US" dirty="0">
                <a:latin typeface="宋体" pitchFamily="2" charset="-122"/>
              </a:rPr>
              <a:t>       </a:t>
            </a:r>
            <a:r>
              <a:rPr lang="en-US" altLang="zh-CN" dirty="0">
                <a:latin typeface="宋体" pitchFamily="2" charset="-122"/>
              </a:rPr>
              <a:t>SUBD	      </a:t>
            </a:r>
            <a:r>
              <a:rPr lang="en-US" altLang="zh-CN" dirty="0">
                <a:solidFill>
                  <a:srgbClr val="D60093"/>
                </a:solidFill>
                <a:latin typeface="宋体" pitchFamily="2" charset="-122"/>
              </a:rPr>
              <a:t>T</a:t>
            </a:r>
            <a:r>
              <a:rPr lang="zh-CN" altLang="en-US" dirty="0">
                <a:latin typeface="宋体" pitchFamily="2" charset="-122"/>
              </a:rPr>
              <a:t>，</a:t>
            </a:r>
            <a:r>
              <a:rPr lang="en-US" altLang="zh-CN" dirty="0">
                <a:latin typeface="宋体" pitchFamily="2" charset="-122"/>
              </a:rPr>
              <a:t>F10</a:t>
            </a:r>
            <a:r>
              <a:rPr lang="zh-CN" altLang="en-US" dirty="0">
                <a:latin typeface="宋体" pitchFamily="2" charset="-122"/>
              </a:rPr>
              <a:t>，</a:t>
            </a:r>
            <a:r>
              <a:rPr lang="en-US" altLang="zh-CN" dirty="0">
                <a:latin typeface="宋体" pitchFamily="2" charset="-122"/>
              </a:rPr>
              <a:t>F14</a:t>
            </a:r>
          </a:p>
          <a:p>
            <a:pPr lvl="2" eaLnBrk="1" hangingPunct="1">
              <a:buFont typeface="Wingdings" pitchFamily="2" charset="2"/>
              <a:buNone/>
            </a:pPr>
            <a:r>
              <a:rPr lang="en-US" altLang="zh-CN" dirty="0">
                <a:latin typeface="宋体" pitchFamily="2" charset="-122"/>
              </a:rPr>
              <a:t>       ADDD	      </a:t>
            </a:r>
            <a:r>
              <a:rPr lang="en-US" altLang="zh-CN" dirty="0">
                <a:solidFill>
                  <a:schemeClr val="hlink"/>
                </a:solidFill>
                <a:latin typeface="宋体" pitchFamily="2" charset="-122"/>
              </a:rPr>
              <a:t>F6</a:t>
            </a:r>
            <a:r>
              <a:rPr lang="zh-CN" altLang="en-US" dirty="0">
                <a:latin typeface="宋体" pitchFamily="2" charset="-122"/>
              </a:rPr>
              <a:t>，</a:t>
            </a:r>
            <a:r>
              <a:rPr lang="en-US" altLang="zh-CN" dirty="0">
                <a:latin typeface="宋体" pitchFamily="2" charset="-122"/>
              </a:rPr>
              <a:t>F10</a:t>
            </a:r>
            <a:r>
              <a:rPr lang="zh-CN" altLang="en-US" dirty="0">
                <a:latin typeface="宋体" pitchFamily="2" charset="-122"/>
              </a:rPr>
              <a:t>，</a:t>
            </a:r>
            <a:r>
              <a:rPr lang="en-US" altLang="zh-CN" dirty="0">
                <a:solidFill>
                  <a:srgbClr val="D60093"/>
                </a:solidFill>
                <a:latin typeface="宋体" pitchFamily="2" charset="-122"/>
              </a:rPr>
              <a:t>T</a:t>
            </a:r>
            <a:r>
              <a:rPr lang="en-US" altLang="zh-CN" dirty="0">
                <a:latin typeface="宋体" pitchFamily="2" charset="-122"/>
              </a:rPr>
              <a:t> </a:t>
            </a:r>
          </a:p>
        </p:txBody>
      </p:sp>
      <p:sp>
        <p:nvSpPr>
          <p:cNvPr id="102403" name="Text Box 4"/>
          <p:cNvSpPr txBox="1">
            <a:spLocks noChangeArrowheads="1"/>
          </p:cNvSpPr>
          <p:nvPr/>
        </p:nvSpPr>
        <p:spPr bwMode="auto">
          <a:xfrm>
            <a:off x="6443984" y="3212976"/>
            <a:ext cx="2376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eaLnBrk="1" hangingPunct="1">
              <a:spcBef>
                <a:spcPct val="50000"/>
              </a:spcBef>
              <a:buFont typeface="Wingdings" pitchFamily="2" charset="2"/>
              <a:buNone/>
            </a:pPr>
            <a:r>
              <a:rPr lang="zh-CN" altLang="en-US" sz="2000" b="1" dirty="0">
                <a:solidFill>
                  <a:schemeClr val="hlink"/>
                </a:solidFill>
                <a:latin typeface="宋体" pitchFamily="2" charset="-122"/>
                <a:ea typeface="宋体" pitchFamily="2" charset="-122"/>
              </a:rPr>
              <a:t>两个</a:t>
            </a:r>
            <a:r>
              <a:rPr lang="en-US" altLang="zh-CN" sz="2000" b="1" dirty="0">
                <a:solidFill>
                  <a:schemeClr val="hlink"/>
                </a:solidFill>
                <a:latin typeface="宋体" pitchFamily="2" charset="-122"/>
                <a:ea typeface="宋体" pitchFamily="2" charset="-122"/>
              </a:rPr>
              <a:t>F6</a:t>
            </a:r>
            <a:r>
              <a:rPr lang="zh-CN" altLang="en-US" sz="2000" b="1" dirty="0">
                <a:solidFill>
                  <a:schemeClr val="hlink"/>
                </a:solidFill>
                <a:latin typeface="宋体" pitchFamily="2" charset="-122"/>
                <a:ea typeface="宋体" pitchFamily="2" charset="-122"/>
              </a:rPr>
              <a:t>都换名为</a:t>
            </a:r>
            <a:r>
              <a:rPr lang="en-US" altLang="zh-CN" sz="2000" b="1" dirty="0">
                <a:solidFill>
                  <a:schemeClr val="hlink"/>
                </a:solidFill>
                <a:latin typeface="宋体" pitchFamily="2" charset="-122"/>
                <a:ea typeface="宋体" pitchFamily="2" charset="-122"/>
              </a:rPr>
              <a:t>S</a:t>
            </a:r>
            <a:r>
              <a:rPr lang="en-US" altLang="zh-CN" sz="2000" b="1" dirty="0">
                <a:solidFill>
                  <a:schemeClr val="tx1"/>
                </a:solidFill>
              </a:rPr>
              <a:t> </a:t>
            </a:r>
          </a:p>
        </p:txBody>
      </p:sp>
      <p:sp>
        <p:nvSpPr>
          <p:cNvPr id="102404" name="AutoShape 5"/>
          <p:cNvSpPr>
            <a:spLocks/>
          </p:cNvSpPr>
          <p:nvPr/>
        </p:nvSpPr>
        <p:spPr bwMode="auto">
          <a:xfrm>
            <a:off x="6227737" y="3228975"/>
            <a:ext cx="144463" cy="504825"/>
          </a:xfrm>
          <a:prstGeom prst="rightBrace">
            <a:avLst>
              <a:gd name="adj1" fmla="val 29105"/>
              <a:gd name="adj2" fmla="val 50000"/>
            </a:avLst>
          </a:prstGeom>
          <a:noFill/>
          <a:ln w="190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buFont typeface="Wingdings" pitchFamily="2" charset="2"/>
              <a:buNone/>
            </a:pPr>
            <a:endParaRPr lang="zh-CN" altLang="en-US"/>
          </a:p>
        </p:txBody>
      </p:sp>
      <p:sp>
        <p:nvSpPr>
          <p:cNvPr id="102405" name="AutoShape 6"/>
          <p:cNvSpPr>
            <a:spLocks/>
          </p:cNvSpPr>
          <p:nvPr/>
        </p:nvSpPr>
        <p:spPr bwMode="auto">
          <a:xfrm>
            <a:off x="2627784" y="4162238"/>
            <a:ext cx="142875" cy="431800"/>
          </a:xfrm>
          <a:prstGeom prst="leftBrace">
            <a:avLst>
              <a:gd name="adj1" fmla="val 25171"/>
              <a:gd name="adj2" fmla="val 50000"/>
            </a:avLst>
          </a:prstGeom>
          <a:noFill/>
          <a:ln w="19050">
            <a:solidFill>
              <a:srgbClr val="D60093"/>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buFont typeface="Wingdings" pitchFamily="2" charset="2"/>
              <a:buNone/>
            </a:pPr>
            <a:endParaRPr lang="zh-CN" altLang="zh-CN">
              <a:solidFill>
                <a:srgbClr val="D60093"/>
              </a:solidFill>
            </a:endParaRPr>
          </a:p>
        </p:txBody>
      </p:sp>
      <p:sp>
        <p:nvSpPr>
          <p:cNvPr id="102406" name="Text Box 7"/>
          <p:cNvSpPr txBox="1">
            <a:spLocks noChangeArrowheads="1"/>
          </p:cNvSpPr>
          <p:nvPr/>
        </p:nvSpPr>
        <p:spPr bwMode="auto">
          <a:xfrm>
            <a:off x="395759" y="4162238"/>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eaLnBrk="1" hangingPunct="1">
              <a:spcBef>
                <a:spcPct val="50000"/>
              </a:spcBef>
              <a:buFont typeface="Wingdings" pitchFamily="2" charset="2"/>
              <a:buNone/>
            </a:pPr>
            <a:r>
              <a:rPr lang="zh-CN" altLang="en-US" sz="2000" b="1" dirty="0">
                <a:solidFill>
                  <a:srgbClr val="D60093"/>
                </a:solidFill>
                <a:latin typeface="宋体" pitchFamily="2" charset="-122"/>
                <a:ea typeface="宋体" pitchFamily="2" charset="-122"/>
              </a:rPr>
              <a:t>两个</a:t>
            </a:r>
            <a:r>
              <a:rPr lang="en-US" altLang="zh-CN" sz="2000" b="1" dirty="0">
                <a:solidFill>
                  <a:srgbClr val="D60093"/>
                </a:solidFill>
                <a:latin typeface="宋体" pitchFamily="2" charset="-122"/>
                <a:ea typeface="宋体" pitchFamily="2" charset="-122"/>
              </a:rPr>
              <a:t>F8</a:t>
            </a:r>
            <a:r>
              <a:rPr lang="zh-CN" altLang="en-US" sz="2000" b="1" dirty="0">
                <a:solidFill>
                  <a:srgbClr val="D60093"/>
                </a:solidFill>
                <a:latin typeface="宋体" pitchFamily="2" charset="-122"/>
                <a:ea typeface="宋体" pitchFamily="2" charset="-122"/>
              </a:rPr>
              <a:t>都换名为</a:t>
            </a:r>
            <a:r>
              <a:rPr lang="en-US" altLang="zh-CN" sz="2000" b="1" dirty="0">
                <a:solidFill>
                  <a:srgbClr val="D60093"/>
                </a:solidFill>
                <a:latin typeface="宋体" pitchFamily="2" charset="-122"/>
                <a:ea typeface="宋体" pitchFamily="2" charset="-122"/>
              </a:rPr>
              <a:t>T </a:t>
            </a:r>
          </a:p>
        </p:txBody>
      </p:sp>
      <p:sp>
        <p:nvSpPr>
          <p:cNvPr id="102407" name="Rectangle 8" descr="Rectangle: Click to edit Master text styles&#10;Second level&#10;Third level&#10;Fourth level&#10;Fifth level"/>
          <p:cNvSpPr>
            <a:spLocks noChangeArrowheads="1"/>
          </p:cNvSpPr>
          <p:nvPr/>
        </p:nvSpPr>
        <p:spPr bwMode="auto">
          <a:xfrm>
            <a:off x="684213" y="4953000"/>
            <a:ext cx="7702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eaLnBrk="1" hangingPunct="1">
              <a:lnSpc>
                <a:spcPct val="120000"/>
              </a:lnSpc>
              <a:spcBef>
                <a:spcPct val="20000"/>
              </a:spcBef>
              <a:buClr>
                <a:schemeClr val="tx1"/>
              </a:buClr>
              <a:buFont typeface="Wingdings" pitchFamily="2" charset="2"/>
              <a:buChar char="•"/>
            </a:pPr>
            <a:endParaRPr lang="zh-CN" altLang="en-US">
              <a:solidFill>
                <a:srgbClr val="E24C05"/>
              </a:solidFill>
              <a:latin typeface="黑体" pitchFamily="49" charset="-122"/>
            </a:endParaRPr>
          </a:p>
        </p:txBody>
      </p:sp>
      <p:sp>
        <p:nvSpPr>
          <p:cNvPr id="2" name="日期占位符 1">
            <a:extLst>
              <a:ext uri="{FF2B5EF4-FFF2-40B4-BE49-F238E27FC236}">
                <a16:creationId xmlns:a16="http://schemas.microsoft.com/office/drawing/2014/main" id="{6837BE4A-7009-7966-7AA6-81367863119E}"/>
              </a:ext>
            </a:extLst>
          </p:cNvPr>
          <p:cNvSpPr>
            <a:spLocks noGrp="1"/>
          </p:cNvSpPr>
          <p:nvPr>
            <p:ph type="dt" sz="half" idx="10"/>
          </p:nvPr>
        </p:nvSpPr>
        <p:spPr/>
        <p:txBody>
          <a:bodyPr/>
          <a:lstStyle/>
          <a:p>
            <a:pPr>
              <a:defRPr/>
            </a:pPr>
            <a:fld id="{43B1D984-CD0F-4E3C-B81B-45635E10ECF3}"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360E36F3-ED60-9022-B674-D3955D0897B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F810A3F-E789-DF33-A225-0CA9FD7C25F4}"/>
              </a:ext>
            </a:extLst>
          </p:cNvPr>
          <p:cNvSpPr>
            <a:spLocks noGrp="1"/>
          </p:cNvSpPr>
          <p:nvPr>
            <p:ph type="sldNum" sz="quarter" idx="12"/>
          </p:nvPr>
        </p:nvSpPr>
        <p:spPr/>
        <p:txBody>
          <a:bodyPr/>
          <a:lstStyle/>
          <a:p>
            <a:pPr>
              <a:defRPr/>
            </a:pPr>
            <a:fld id="{8BCAC33D-D29A-48B3-BCD6-381D3D720D26}" type="slidenum">
              <a:rPr lang="zh-CN" altLang="en-US" smtClean="0"/>
              <a:t>53</a:t>
            </a:fld>
            <a:endParaRPr lang="en-US" altLang="zh-CN"/>
          </a:p>
        </p:txBody>
      </p:sp>
    </p:spTree>
    <p:extLst>
      <p:ext uri="{BB962C8B-B14F-4D97-AF65-F5344CB8AC3E}">
        <p14:creationId xmlns:p14="http://schemas.microsoft.com/office/powerpoint/2010/main" val="16710908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p:nvPr>
        </p:nvSpPr>
        <p:spPr>
          <a:xfrm>
            <a:off x="457200" y="116632"/>
            <a:ext cx="8229600" cy="1143000"/>
          </a:xfrm>
        </p:spPr>
        <p:txBody>
          <a:bodyPr/>
          <a:lstStyle/>
          <a:p>
            <a:r>
              <a:rPr lang="en-US" altLang="zh-CN" dirty="0">
                <a:ea typeface="ＭＳ Ｐゴシック" pitchFamily="34" charset="-128"/>
              </a:rPr>
              <a:t>Dependence Types</a:t>
            </a:r>
          </a:p>
        </p:txBody>
      </p:sp>
      <p:sp>
        <p:nvSpPr>
          <p:cNvPr id="11" name="Rectangle 3"/>
          <p:cNvSpPr>
            <a:spLocks noChangeArrowheads="1"/>
          </p:cNvSpPr>
          <p:nvPr/>
        </p:nvSpPr>
        <p:spPr bwMode="auto">
          <a:xfrm>
            <a:off x="762000" y="1143000"/>
            <a:ext cx="6445250" cy="511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zh-CN" sz="2800" dirty="0">
                <a:solidFill>
                  <a:srgbClr val="000000"/>
                </a:solidFill>
                <a:latin typeface="Calibri" pitchFamily="34" charset="0"/>
              </a:rPr>
              <a:t>Flow dependence</a:t>
            </a:r>
          </a:p>
          <a:p>
            <a:pPr marL="0" lvl="3"/>
            <a:r>
              <a:rPr lang="en-US" altLang="zh-CN" sz="2800" dirty="0">
                <a:solidFill>
                  <a:srgbClr val="000000"/>
                </a:solidFill>
                <a:latin typeface="Calibri" pitchFamily="34" charset="0"/>
              </a:rPr>
              <a:t>r</a:t>
            </a:r>
            <a:r>
              <a:rPr lang="en-US" altLang="zh-CN" sz="2800" baseline="-25000" dirty="0">
                <a:solidFill>
                  <a:srgbClr val="000000"/>
                </a:solidFill>
                <a:latin typeface="Calibri" pitchFamily="34" charset="0"/>
              </a:rPr>
              <a:t>3</a:t>
            </a:r>
            <a:r>
              <a:rPr lang="en-US" altLang="zh-CN" sz="2800" dirty="0">
                <a:solidFill>
                  <a:srgbClr val="000000"/>
                </a:solidFill>
                <a:latin typeface="Calibri" pitchFamily="34" charset="0"/>
              </a:rPr>
              <a:t>        </a:t>
            </a:r>
            <a:r>
              <a:rPr lang="en-US" altLang="zh-CN" sz="2800" dirty="0">
                <a:solidFill>
                  <a:srgbClr val="000000"/>
                </a:solidFill>
                <a:latin typeface="Calibri" pitchFamily="34" charset="0"/>
                <a:sym typeface="Symbol" pitchFamily="18" charset="2"/>
              </a:rPr>
              <a:t></a:t>
            </a:r>
            <a:r>
              <a:rPr lang="en-US" altLang="zh-CN" sz="2800" dirty="0">
                <a:solidFill>
                  <a:srgbClr val="000000"/>
                </a:solidFill>
                <a:latin typeface="Calibri" pitchFamily="34" charset="0"/>
              </a:rPr>
              <a:t>  r</a:t>
            </a:r>
            <a:r>
              <a:rPr lang="en-US" altLang="zh-CN" sz="2800" baseline="-25000" dirty="0">
                <a:solidFill>
                  <a:srgbClr val="000000"/>
                </a:solidFill>
                <a:latin typeface="Calibri" pitchFamily="34" charset="0"/>
              </a:rPr>
              <a:t>1</a:t>
            </a:r>
            <a:r>
              <a:rPr lang="en-US" altLang="zh-CN" sz="2800" dirty="0">
                <a:solidFill>
                  <a:srgbClr val="000000"/>
                </a:solidFill>
                <a:latin typeface="Calibri" pitchFamily="34" charset="0"/>
              </a:rPr>
              <a:t>  op  r</a:t>
            </a:r>
            <a:r>
              <a:rPr lang="en-US" altLang="zh-CN" sz="2800" baseline="-25000" dirty="0">
                <a:solidFill>
                  <a:srgbClr val="000000"/>
                </a:solidFill>
                <a:latin typeface="Calibri" pitchFamily="34" charset="0"/>
              </a:rPr>
              <a:t>2</a:t>
            </a:r>
            <a:r>
              <a:rPr lang="en-US" altLang="zh-CN" sz="2800" dirty="0">
                <a:solidFill>
                  <a:srgbClr val="000000"/>
                </a:solidFill>
                <a:latin typeface="Calibri" pitchFamily="34" charset="0"/>
              </a:rPr>
              <a:t> 	           Read-after-Write  </a:t>
            </a:r>
          </a:p>
          <a:p>
            <a:pPr marL="0" lvl="3"/>
            <a:r>
              <a:rPr lang="en-US" altLang="zh-CN" sz="2800" dirty="0">
                <a:solidFill>
                  <a:srgbClr val="000000"/>
                </a:solidFill>
                <a:latin typeface="Calibri" pitchFamily="34" charset="0"/>
              </a:rPr>
              <a:t>r</a:t>
            </a:r>
            <a:r>
              <a:rPr lang="en-US" altLang="zh-CN" sz="2800" baseline="-25000" dirty="0">
                <a:solidFill>
                  <a:srgbClr val="000000"/>
                </a:solidFill>
                <a:latin typeface="Calibri" pitchFamily="34" charset="0"/>
              </a:rPr>
              <a:t>5</a:t>
            </a:r>
            <a:r>
              <a:rPr lang="en-US" altLang="zh-CN" sz="2800" dirty="0">
                <a:solidFill>
                  <a:srgbClr val="000000"/>
                </a:solidFill>
                <a:latin typeface="Calibri" pitchFamily="34" charset="0"/>
              </a:rPr>
              <a:t> 	</a:t>
            </a:r>
            <a:r>
              <a:rPr lang="en-US" altLang="zh-CN" sz="2800" dirty="0">
                <a:solidFill>
                  <a:srgbClr val="000000"/>
                </a:solidFill>
                <a:latin typeface="Calibri" pitchFamily="34" charset="0"/>
                <a:sym typeface="Symbol" pitchFamily="18" charset="2"/>
              </a:rPr>
              <a:t></a:t>
            </a:r>
            <a:r>
              <a:rPr lang="en-US" altLang="zh-CN" sz="2800" dirty="0">
                <a:solidFill>
                  <a:srgbClr val="000000"/>
                </a:solidFill>
                <a:latin typeface="Calibri" pitchFamily="34" charset="0"/>
              </a:rPr>
              <a:t>  r</a:t>
            </a:r>
            <a:r>
              <a:rPr lang="en-US" altLang="zh-CN" sz="2800" baseline="-25000" dirty="0">
                <a:solidFill>
                  <a:srgbClr val="000000"/>
                </a:solidFill>
                <a:latin typeface="Calibri" pitchFamily="34" charset="0"/>
              </a:rPr>
              <a:t>3</a:t>
            </a:r>
            <a:r>
              <a:rPr lang="en-US" altLang="zh-CN" sz="2800" dirty="0">
                <a:solidFill>
                  <a:srgbClr val="000000"/>
                </a:solidFill>
                <a:latin typeface="Calibri" pitchFamily="34" charset="0"/>
              </a:rPr>
              <a:t>  op  r</a:t>
            </a:r>
            <a:r>
              <a:rPr lang="en-US" altLang="zh-CN" sz="2800" baseline="-25000" dirty="0">
                <a:solidFill>
                  <a:srgbClr val="000000"/>
                </a:solidFill>
                <a:latin typeface="Calibri" pitchFamily="34" charset="0"/>
              </a:rPr>
              <a:t>4	</a:t>
            </a:r>
            <a:r>
              <a:rPr lang="en-US" altLang="zh-CN" sz="2800" dirty="0">
                <a:solidFill>
                  <a:srgbClr val="000000"/>
                </a:solidFill>
                <a:latin typeface="Calibri" pitchFamily="34" charset="0"/>
              </a:rPr>
              <a:t> 	(RAW)</a:t>
            </a:r>
          </a:p>
          <a:p>
            <a:pPr marL="0" lvl="3"/>
            <a:endParaRPr lang="en-US" altLang="zh-CN" sz="2800" baseline="-25000" dirty="0">
              <a:solidFill>
                <a:srgbClr val="000000"/>
              </a:solidFill>
              <a:latin typeface="Calibri" pitchFamily="34" charset="0"/>
            </a:endParaRPr>
          </a:p>
          <a:p>
            <a:r>
              <a:rPr lang="en-US" altLang="zh-CN" sz="2800" dirty="0">
                <a:solidFill>
                  <a:srgbClr val="000000"/>
                </a:solidFill>
                <a:latin typeface="Calibri" pitchFamily="34" charset="0"/>
              </a:rPr>
              <a:t>Anti dependence</a:t>
            </a:r>
          </a:p>
          <a:p>
            <a:pPr marL="0" lvl="3"/>
            <a:r>
              <a:rPr lang="en-US" altLang="zh-CN" sz="2800" dirty="0">
                <a:solidFill>
                  <a:srgbClr val="000000"/>
                </a:solidFill>
                <a:latin typeface="Calibri" pitchFamily="34" charset="0"/>
              </a:rPr>
              <a:t>r</a:t>
            </a:r>
            <a:r>
              <a:rPr lang="en-US" altLang="zh-CN" sz="2800" baseline="-25000" dirty="0">
                <a:solidFill>
                  <a:srgbClr val="000000"/>
                </a:solidFill>
                <a:latin typeface="Calibri" pitchFamily="34" charset="0"/>
              </a:rPr>
              <a:t>3</a:t>
            </a:r>
            <a:r>
              <a:rPr lang="en-US" altLang="zh-CN" sz="2800" dirty="0">
                <a:solidFill>
                  <a:srgbClr val="000000"/>
                </a:solidFill>
                <a:latin typeface="Calibri" pitchFamily="34" charset="0"/>
              </a:rPr>
              <a:t> 	</a:t>
            </a:r>
            <a:r>
              <a:rPr lang="en-US" altLang="zh-CN" sz="2800" dirty="0">
                <a:solidFill>
                  <a:srgbClr val="000000"/>
                </a:solidFill>
                <a:latin typeface="Calibri" pitchFamily="34" charset="0"/>
                <a:sym typeface="Symbol" pitchFamily="18" charset="2"/>
              </a:rPr>
              <a:t></a:t>
            </a:r>
            <a:r>
              <a:rPr lang="en-US" altLang="zh-CN" sz="2800" dirty="0">
                <a:solidFill>
                  <a:srgbClr val="000000"/>
                </a:solidFill>
                <a:latin typeface="Calibri" pitchFamily="34" charset="0"/>
              </a:rPr>
              <a:t>   r</a:t>
            </a:r>
            <a:r>
              <a:rPr lang="en-US" altLang="zh-CN" sz="2800" baseline="-25000" dirty="0">
                <a:solidFill>
                  <a:srgbClr val="000000"/>
                </a:solidFill>
                <a:latin typeface="Calibri" pitchFamily="34" charset="0"/>
              </a:rPr>
              <a:t>1</a:t>
            </a:r>
            <a:r>
              <a:rPr lang="en-US" altLang="zh-CN" sz="2800" dirty="0">
                <a:solidFill>
                  <a:srgbClr val="000000"/>
                </a:solidFill>
                <a:latin typeface="Calibri" pitchFamily="34" charset="0"/>
              </a:rPr>
              <a:t>  op  r</a:t>
            </a:r>
            <a:r>
              <a:rPr lang="en-US" altLang="zh-CN" sz="2800" baseline="-25000" dirty="0">
                <a:solidFill>
                  <a:srgbClr val="000000"/>
                </a:solidFill>
                <a:latin typeface="Calibri" pitchFamily="34" charset="0"/>
              </a:rPr>
              <a:t>2</a:t>
            </a:r>
            <a:r>
              <a:rPr lang="en-US" altLang="zh-CN" sz="2800" dirty="0">
                <a:solidFill>
                  <a:srgbClr val="000000"/>
                </a:solidFill>
                <a:latin typeface="Calibri" pitchFamily="34" charset="0"/>
              </a:rPr>
              <a:t> 	Write-after-Read </a:t>
            </a:r>
          </a:p>
          <a:p>
            <a:pPr marL="0" lvl="3"/>
            <a:r>
              <a:rPr lang="en-US" altLang="zh-CN" sz="2800" dirty="0">
                <a:solidFill>
                  <a:srgbClr val="000000"/>
                </a:solidFill>
                <a:latin typeface="Calibri" pitchFamily="34" charset="0"/>
              </a:rPr>
              <a:t>r</a:t>
            </a:r>
            <a:r>
              <a:rPr lang="en-US" altLang="zh-CN" sz="2800" baseline="-25000" dirty="0">
                <a:solidFill>
                  <a:srgbClr val="000000"/>
                </a:solidFill>
                <a:latin typeface="Calibri" pitchFamily="34" charset="0"/>
              </a:rPr>
              <a:t>1</a:t>
            </a:r>
            <a:r>
              <a:rPr lang="en-US" altLang="zh-CN" sz="2800" dirty="0">
                <a:solidFill>
                  <a:srgbClr val="000000"/>
                </a:solidFill>
                <a:latin typeface="Calibri" pitchFamily="34" charset="0"/>
              </a:rPr>
              <a:t> 	</a:t>
            </a:r>
            <a:r>
              <a:rPr lang="en-US" altLang="zh-CN" sz="2800" dirty="0">
                <a:solidFill>
                  <a:srgbClr val="000000"/>
                </a:solidFill>
                <a:latin typeface="Calibri" pitchFamily="34" charset="0"/>
                <a:sym typeface="Symbol" pitchFamily="18" charset="2"/>
              </a:rPr>
              <a:t></a:t>
            </a:r>
            <a:r>
              <a:rPr lang="en-US" altLang="zh-CN" sz="2800" dirty="0">
                <a:solidFill>
                  <a:srgbClr val="000000"/>
                </a:solidFill>
                <a:latin typeface="Calibri" pitchFamily="34" charset="0"/>
              </a:rPr>
              <a:t>   r</a:t>
            </a:r>
            <a:r>
              <a:rPr lang="en-US" altLang="zh-CN" sz="2800" baseline="-25000" dirty="0">
                <a:solidFill>
                  <a:srgbClr val="000000"/>
                </a:solidFill>
                <a:latin typeface="Calibri" pitchFamily="34" charset="0"/>
              </a:rPr>
              <a:t>4</a:t>
            </a:r>
            <a:r>
              <a:rPr lang="en-US" altLang="zh-CN" sz="2800" dirty="0">
                <a:solidFill>
                  <a:srgbClr val="000000"/>
                </a:solidFill>
                <a:latin typeface="Calibri" pitchFamily="34" charset="0"/>
              </a:rPr>
              <a:t>  op  r</a:t>
            </a:r>
            <a:r>
              <a:rPr lang="en-US" altLang="zh-CN" sz="2800" baseline="-25000" dirty="0">
                <a:solidFill>
                  <a:srgbClr val="000000"/>
                </a:solidFill>
                <a:latin typeface="Calibri" pitchFamily="34" charset="0"/>
              </a:rPr>
              <a:t>5	 	</a:t>
            </a:r>
            <a:r>
              <a:rPr lang="en-US" altLang="zh-CN" sz="2800" dirty="0">
                <a:solidFill>
                  <a:srgbClr val="000000"/>
                </a:solidFill>
                <a:latin typeface="Calibri" pitchFamily="34" charset="0"/>
              </a:rPr>
              <a:t>(WAR)</a:t>
            </a:r>
          </a:p>
          <a:p>
            <a:pPr marL="0" lvl="3"/>
            <a:r>
              <a:rPr lang="en-US" altLang="zh-CN" sz="2800" dirty="0">
                <a:solidFill>
                  <a:srgbClr val="000000"/>
                </a:solidFill>
                <a:latin typeface="Calibri" pitchFamily="34" charset="0"/>
              </a:rPr>
              <a:t> </a:t>
            </a:r>
          </a:p>
          <a:p>
            <a:r>
              <a:rPr lang="en-US" altLang="zh-CN" sz="2800" dirty="0">
                <a:solidFill>
                  <a:srgbClr val="000000"/>
                </a:solidFill>
                <a:latin typeface="Calibri" pitchFamily="34" charset="0"/>
              </a:rPr>
              <a:t>Output-dependence</a:t>
            </a:r>
          </a:p>
          <a:p>
            <a:pPr marL="0" lvl="3"/>
            <a:r>
              <a:rPr lang="en-US" altLang="zh-CN" sz="2800" dirty="0">
                <a:solidFill>
                  <a:srgbClr val="000000"/>
                </a:solidFill>
                <a:latin typeface="Calibri" pitchFamily="34" charset="0"/>
              </a:rPr>
              <a:t>r</a:t>
            </a:r>
            <a:r>
              <a:rPr lang="en-US" altLang="zh-CN" sz="2800" baseline="-25000" dirty="0">
                <a:solidFill>
                  <a:srgbClr val="000000"/>
                </a:solidFill>
                <a:latin typeface="Calibri" pitchFamily="34" charset="0"/>
              </a:rPr>
              <a:t>3</a:t>
            </a:r>
            <a:r>
              <a:rPr lang="en-US" altLang="zh-CN" sz="2800" dirty="0">
                <a:solidFill>
                  <a:srgbClr val="000000"/>
                </a:solidFill>
                <a:latin typeface="Calibri" pitchFamily="34" charset="0"/>
              </a:rPr>
              <a:t> 	</a:t>
            </a:r>
            <a:r>
              <a:rPr lang="en-US" altLang="zh-CN" sz="2800" dirty="0">
                <a:solidFill>
                  <a:srgbClr val="000000"/>
                </a:solidFill>
                <a:latin typeface="Calibri" pitchFamily="34" charset="0"/>
                <a:sym typeface="Symbol" pitchFamily="18" charset="2"/>
              </a:rPr>
              <a:t></a:t>
            </a:r>
            <a:r>
              <a:rPr lang="en-US" altLang="zh-CN" sz="2800" dirty="0">
                <a:solidFill>
                  <a:srgbClr val="000000"/>
                </a:solidFill>
                <a:latin typeface="Calibri" pitchFamily="34" charset="0"/>
              </a:rPr>
              <a:t>  r</a:t>
            </a:r>
            <a:r>
              <a:rPr lang="en-US" altLang="zh-CN" sz="2800" baseline="-25000" dirty="0">
                <a:solidFill>
                  <a:srgbClr val="000000"/>
                </a:solidFill>
                <a:latin typeface="Calibri" pitchFamily="34" charset="0"/>
              </a:rPr>
              <a:t>1</a:t>
            </a:r>
            <a:r>
              <a:rPr lang="en-US" altLang="zh-CN" sz="2800" dirty="0">
                <a:solidFill>
                  <a:srgbClr val="000000"/>
                </a:solidFill>
                <a:latin typeface="Calibri" pitchFamily="34" charset="0"/>
              </a:rPr>
              <a:t>  op  r</a:t>
            </a:r>
            <a:r>
              <a:rPr lang="en-US" altLang="zh-CN" sz="2800" baseline="-25000" dirty="0">
                <a:solidFill>
                  <a:srgbClr val="000000"/>
                </a:solidFill>
                <a:latin typeface="Calibri" pitchFamily="34" charset="0"/>
              </a:rPr>
              <a:t>2</a:t>
            </a:r>
            <a:r>
              <a:rPr lang="en-US" altLang="zh-CN" sz="2800" dirty="0">
                <a:solidFill>
                  <a:srgbClr val="000000"/>
                </a:solidFill>
                <a:latin typeface="Calibri" pitchFamily="34" charset="0"/>
              </a:rPr>
              <a:t>  	Write-after-Write </a:t>
            </a:r>
          </a:p>
          <a:p>
            <a:pPr marL="0" lvl="3"/>
            <a:r>
              <a:rPr lang="en-US" altLang="zh-CN" sz="2800" dirty="0">
                <a:solidFill>
                  <a:srgbClr val="919191"/>
                </a:solidFill>
                <a:latin typeface="Calibri" pitchFamily="34" charset="0"/>
              </a:rPr>
              <a:t>r</a:t>
            </a:r>
            <a:r>
              <a:rPr lang="en-US" altLang="zh-CN" sz="2800" baseline="-25000" dirty="0">
                <a:solidFill>
                  <a:srgbClr val="919191"/>
                </a:solidFill>
                <a:latin typeface="Calibri" pitchFamily="34" charset="0"/>
              </a:rPr>
              <a:t>5</a:t>
            </a:r>
            <a:r>
              <a:rPr lang="en-US" altLang="zh-CN" sz="2800" dirty="0">
                <a:solidFill>
                  <a:srgbClr val="919191"/>
                </a:solidFill>
                <a:latin typeface="Calibri" pitchFamily="34" charset="0"/>
              </a:rPr>
              <a:t> 	</a:t>
            </a:r>
            <a:r>
              <a:rPr lang="en-US" altLang="zh-CN" sz="2800" dirty="0">
                <a:solidFill>
                  <a:srgbClr val="000000"/>
                </a:solidFill>
                <a:latin typeface="Calibri" pitchFamily="34" charset="0"/>
                <a:sym typeface="Symbol" pitchFamily="18" charset="2"/>
              </a:rPr>
              <a:t></a:t>
            </a:r>
            <a:r>
              <a:rPr lang="en-US" altLang="zh-CN" sz="2800" dirty="0">
                <a:solidFill>
                  <a:srgbClr val="919191"/>
                </a:solidFill>
                <a:latin typeface="Calibri" pitchFamily="34" charset="0"/>
              </a:rPr>
              <a:t>  r</a:t>
            </a:r>
            <a:r>
              <a:rPr lang="en-US" altLang="zh-CN" sz="2800" baseline="-25000" dirty="0">
                <a:solidFill>
                  <a:srgbClr val="919191"/>
                </a:solidFill>
                <a:latin typeface="Calibri" pitchFamily="34" charset="0"/>
              </a:rPr>
              <a:t>3</a:t>
            </a:r>
            <a:r>
              <a:rPr lang="en-US" altLang="zh-CN" sz="2800" dirty="0">
                <a:solidFill>
                  <a:srgbClr val="919191"/>
                </a:solidFill>
                <a:latin typeface="Calibri" pitchFamily="34" charset="0"/>
              </a:rPr>
              <a:t>  op  r</a:t>
            </a:r>
            <a:r>
              <a:rPr lang="en-US" altLang="zh-CN" sz="2800" baseline="-25000" dirty="0">
                <a:solidFill>
                  <a:srgbClr val="919191"/>
                </a:solidFill>
                <a:latin typeface="Calibri" pitchFamily="34" charset="0"/>
              </a:rPr>
              <a:t>4</a:t>
            </a:r>
            <a:r>
              <a:rPr lang="en-US" altLang="zh-CN" sz="2800" baseline="-25000" dirty="0">
                <a:solidFill>
                  <a:srgbClr val="000000"/>
                </a:solidFill>
                <a:latin typeface="Calibri" pitchFamily="34" charset="0"/>
              </a:rPr>
              <a:t>	 	</a:t>
            </a:r>
            <a:r>
              <a:rPr lang="en-US" altLang="zh-CN" sz="2800" dirty="0">
                <a:solidFill>
                  <a:srgbClr val="000000"/>
                </a:solidFill>
                <a:latin typeface="Calibri" pitchFamily="34" charset="0"/>
              </a:rPr>
              <a:t>(WAW)</a:t>
            </a:r>
          </a:p>
          <a:p>
            <a:pPr marL="0" lvl="3"/>
            <a:r>
              <a:rPr lang="en-US" altLang="zh-CN" sz="2800" dirty="0">
                <a:solidFill>
                  <a:srgbClr val="000000"/>
                </a:solidFill>
                <a:latin typeface="Calibri" pitchFamily="34" charset="0"/>
              </a:rPr>
              <a:t>r</a:t>
            </a:r>
            <a:r>
              <a:rPr lang="en-US" altLang="zh-CN" sz="2800" baseline="-25000" dirty="0">
                <a:solidFill>
                  <a:srgbClr val="000000"/>
                </a:solidFill>
                <a:latin typeface="Calibri" pitchFamily="34" charset="0"/>
              </a:rPr>
              <a:t>3</a:t>
            </a:r>
            <a:r>
              <a:rPr lang="en-US" altLang="zh-CN" sz="2800" dirty="0">
                <a:solidFill>
                  <a:srgbClr val="000000"/>
                </a:solidFill>
                <a:latin typeface="Calibri" pitchFamily="34" charset="0"/>
              </a:rPr>
              <a:t> 	</a:t>
            </a:r>
            <a:r>
              <a:rPr lang="en-US" altLang="zh-CN" sz="2800" dirty="0">
                <a:solidFill>
                  <a:srgbClr val="000000"/>
                </a:solidFill>
                <a:latin typeface="Calibri" pitchFamily="34" charset="0"/>
                <a:sym typeface="Symbol" pitchFamily="18" charset="2"/>
              </a:rPr>
              <a:t></a:t>
            </a:r>
            <a:r>
              <a:rPr lang="en-US" altLang="zh-CN" sz="2800" dirty="0">
                <a:solidFill>
                  <a:srgbClr val="000000"/>
                </a:solidFill>
                <a:latin typeface="Calibri" pitchFamily="34" charset="0"/>
              </a:rPr>
              <a:t>  r</a:t>
            </a:r>
            <a:r>
              <a:rPr lang="en-US" altLang="zh-CN" sz="2800" baseline="-25000" dirty="0">
                <a:solidFill>
                  <a:srgbClr val="000000"/>
                </a:solidFill>
                <a:latin typeface="Calibri" pitchFamily="34" charset="0"/>
              </a:rPr>
              <a:t>6</a:t>
            </a:r>
            <a:r>
              <a:rPr lang="en-US" altLang="zh-CN" sz="2800" dirty="0">
                <a:solidFill>
                  <a:srgbClr val="000000"/>
                </a:solidFill>
                <a:latin typeface="Calibri" pitchFamily="34" charset="0"/>
              </a:rPr>
              <a:t>  </a:t>
            </a:r>
            <a:r>
              <a:rPr lang="en-US" altLang="zh-CN" sz="2800">
                <a:solidFill>
                  <a:srgbClr val="000000"/>
                </a:solidFill>
                <a:latin typeface="Calibri" pitchFamily="34" charset="0"/>
              </a:rPr>
              <a:t>op  r</a:t>
            </a:r>
            <a:r>
              <a:rPr lang="en-US" altLang="zh-CN" sz="2800" baseline="-25000">
                <a:solidFill>
                  <a:srgbClr val="000000"/>
                </a:solidFill>
                <a:latin typeface="Calibri" pitchFamily="34" charset="0"/>
              </a:rPr>
              <a:t>7</a:t>
            </a:r>
            <a:r>
              <a:rPr lang="en-US" altLang="zh-CN" sz="2800">
                <a:solidFill>
                  <a:srgbClr val="000000"/>
                </a:solidFill>
                <a:latin typeface="Calibri" pitchFamily="34" charset="0"/>
              </a:rPr>
              <a:t>  </a:t>
            </a:r>
            <a:endParaRPr lang="en-US" altLang="zh-CN" sz="2800" dirty="0">
              <a:solidFill>
                <a:srgbClr val="000000"/>
              </a:solidFill>
              <a:latin typeface="Calibri" pitchFamily="34" charset="0"/>
            </a:endParaRPr>
          </a:p>
        </p:txBody>
      </p:sp>
      <p:sp>
        <p:nvSpPr>
          <p:cNvPr id="12" name="Line 4"/>
          <p:cNvSpPr>
            <a:spLocks noChangeShapeType="1"/>
          </p:cNvSpPr>
          <p:nvPr/>
        </p:nvSpPr>
        <p:spPr bwMode="auto">
          <a:xfrm flipH="1" flipV="1">
            <a:off x="1295400" y="1981200"/>
            <a:ext cx="900336" cy="223664"/>
          </a:xfrm>
          <a:prstGeom prst="line">
            <a:avLst/>
          </a:prstGeom>
          <a:noFill/>
          <a:ln w="28575">
            <a:solidFill>
              <a:srgbClr val="FC0128"/>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latin typeface="Arial" charset="0"/>
              <a:ea typeface="ＭＳ Ｐゴシック" charset="0"/>
              <a:cs typeface="ＭＳ Ｐゴシック" charset="0"/>
            </a:endParaRPr>
          </a:p>
        </p:txBody>
      </p:sp>
      <p:sp>
        <p:nvSpPr>
          <p:cNvPr id="13" name="Line 5"/>
          <p:cNvSpPr>
            <a:spLocks noChangeShapeType="1"/>
          </p:cNvSpPr>
          <p:nvPr/>
        </p:nvSpPr>
        <p:spPr bwMode="auto">
          <a:xfrm flipV="1">
            <a:off x="1295400" y="3581400"/>
            <a:ext cx="1044352" cy="152400"/>
          </a:xfrm>
          <a:prstGeom prst="line">
            <a:avLst/>
          </a:prstGeom>
          <a:noFill/>
          <a:ln w="28575">
            <a:solidFill>
              <a:srgbClr val="FC0128"/>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en-US" kern="0">
              <a:solidFill>
                <a:sysClr val="windowText" lastClr="000000"/>
              </a:solidFill>
              <a:latin typeface="Arial" charset="0"/>
              <a:ea typeface="ＭＳ Ｐゴシック" charset="0"/>
              <a:cs typeface="ＭＳ Ｐゴシック" charset="0"/>
            </a:endParaRPr>
          </a:p>
        </p:txBody>
      </p:sp>
      <p:sp>
        <p:nvSpPr>
          <p:cNvPr id="14" name="Freeform 6"/>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en-US" kern="0">
              <a:solidFill>
                <a:sysClr val="windowText" lastClr="000000"/>
              </a:solidFill>
              <a:latin typeface="Arial" charset="0"/>
              <a:ea typeface="ＭＳ Ｐゴシック" charset="0"/>
              <a:cs typeface="ＭＳ Ｐゴシック" charset="0"/>
            </a:endParaRPr>
          </a:p>
        </p:txBody>
      </p:sp>
      <p:sp>
        <p:nvSpPr>
          <p:cNvPr id="2" name="日期占位符 1">
            <a:extLst>
              <a:ext uri="{FF2B5EF4-FFF2-40B4-BE49-F238E27FC236}">
                <a16:creationId xmlns:a16="http://schemas.microsoft.com/office/drawing/2014/main" id="{D8355A14-BEC1-FF7C-89A7-B5D3FC39FB30}"/>
              </a:ext>
            </a:extLst>
          </p:cNvPr>
          <p:cNvSpPr>
            <a:spLocks noGrp="1"/>
          </p:cNvSpPr>
          <p:nvPr>
            <p:ph type="dt" sz="half" idx="10"/>
          </p:nvPr>
        </p:nvSpPr>
        <p:spPr/>
        <p:txBody>
          <a:bodyPr/>
          <a:lstStyle/>
          <a:p>
            <a:pPr>
              <a:defRPr/>
            </a:pPr>
            <a:fld id="{98AA5DE0-AEFE-4C82-A8C6-7566B31AED5B}"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FFB564FD-79D7-69A8-8D51-3C686A2B98D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C8B486BB-5EA7-8410-ABBE-79ED594CB778}"/>
              </a:ext>
            </a:extLst>
          </p:cNvPr>
          <p:cNvSpPr>
            <a:spLocks noGrp="1"/>
          </p:cNvSpPr>
          <p:nvPr>
            <p:ph type="sldNum" sz="quarter" idx="12"/>
          </p:nvPr>
        </p:nvSpPr>
        <p:spPr/>
        <p:txBody>
          <a:bodyPr/>
          <a:lstStyle/>
          <a:p>
            <a:pPr>
              <a:defRPr/>
            </a:pPr>
            <a:fld id="{8BCAC33D-D29A-48B3-BCD6-381D3D720D26}" type="slidenum">
              <a:rPr lang="zh-CN" altLang="en-US" smtClean="0"/>
              <a:t>54</a:t>
            </a:fld>
            <a:endParaRPr lang="en-US" altLang="zh-CN"/>
          </a:p>
        </p:txBody>
      </p:sp>
    </p:spTree>
    <p:extLst>
      <p:ext uri="{BB962C8B-B14F-4D97-AF65-F5344CB8AC3E}">
        <p14:creationId xmlns:p14="http://schemas.microsoft.com/office/powerpoint/2010/main" val="34930948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descr="Rectangle: Click to edit Master text styles&#10;Second level&#10;Third level&#10;Fourth level&#10;Fifth level"/>
          <p:cNvSpPr>
            <a:spLocks noGrp="1" noChangeArrowheads="1"/>
          </p:cNvSpPr>
          <p:nvPr>
            <p:ph idx="1"/>
          </p:nvPr>
        </p:nvSpPr>
        <p:spPr>
          <a:xfrm>
            <a:off x="685800" y="1292225"/>
            <a:ext cx="8134350" cy="2857500"/>
          </a:xfrm>
        </p:spPr>
        <p:txBody>
          <a:bodyPr/>
          <a:lstStyle/>
          <a:p>
            <a:pPr marL="0" indent="0" eaLnBrk="1" hangingPunct="1">
              <a:buFont typeface="Arial" charset="0"/>
              <a:buNone/>
              <a:defRPr/>
            </a:pPr>
            <a:r>
              <a:rPr lang="en-US" altLang="zh-CN" sz="2400" b="1" dirty="0">
                <a:latin typeface="+mn-ea"/>
              </a:rPr>
              <a:t>3. </a:t>
            </a:r>
            <a:r>
              <a:rPr lang="zh-CN" altLang="en-US" sz="2400" b="1" dirty="0">
                <a:latin typeface="+mn-ea"/>
              </a:rPr>
              <a:t>控制相关 </a:t>
            </a:r>
          </a:p>
          <a:p>
            <a:pPr marL="1085850" lvl="1" indent="-457200" eaLnBrk="1" hangingPunct="1">
              <a:defRPr/>
            </a:pPr>
            <a:r>
              <a:rPr lang="zh-CN" altLang="en-US" sz="2400" b="1" dirty="0">
                <a:latin typeface="+mn-ea"/>
              </a:rPr>
              <a:t>由分支指令引起的相关。</a:t>
            </a:r>
          </a:p>
          <a:p>
            <a:pPr lvl="2" eaLnBrk="1" hangingPunct="1">
              <a:buFont typeface="Arial" pitchFamily="34" charset="0"/>
              <a:buChar char="•"/>
              <a:defRPr/>
            </a:pPr>
            <a:r>
              <a:rPr lang="zh-CN" altLang="en-US" b="1" dirty="0">
                <a:latin typeface="+mn-ea"/>
              </a:rPr>
              <a:t>为了保证程序应有的执行顺序，必须严格按控制关确定的顺序执行。</a:t>
            </a:r>
          </a:p>
          <a:p>
            <a:pPr marL="1085850" lvl="1" indent="-457200" eaLnBrk="1" hangingPunct="1">
              <a:defRPr/>
            </a:pPr>
            <a:r>
              <a:rPr lang="zh-CN" altLang="en-US" sz="2400" b="1" dirty="0">
                <a:latin typeface="+mn-ea"/>
              </a:rPr>
              <a:t>典型的程序结构是</a:t>
            </a:r>
            <a:r>
              <a:rPr lang="zh-CN" altLang="en-US" sz="2400" b="1" dirty="0">
                <a:solidFill>
                  <a:srgbClr val="9933FF"/>
                </a:solidFill>
                <a:latin typeface="+mn-ea"/>
              </a:rPr>
              <a:t>“</a:t>
            </a:r>
            <a:r>
              <a:rPr lang="en-US" altLang="zh-CN" sz="2400" b="1" dirty="0">
                <a:solidFill>
                  <a:srgbClr val="9933FF"/>
                </a:solidFill>
                <a:latin typeface="+mn-ea"/>
              </a:rPr>
              <a:t>if-then”</a:t>
            </a:r>
            <a:r>
              <a:rPr lang="zh-CN" altLang="en-US" sz="2400" b="1" dirty="0">
                <a:latin typeface="+mn-ea"/>
              </a:rPr>
              <a:t>结构。</a:t>
            </a:r>
          </a:p>
          <a:p>
            <a:pPr marL="1085850" lvl="1" indent="-457200" eaLnBrk="1" hangingPunct="1">
              <a:defRPr/>
            </a:pPr>
            <a:r>
              <a:rPr lang="zh-CN" altLang="en-US" sz="2400" b="1" dirty="0">
                <a:latin typeface="+mn-ea"/>
              </a:rPr>
              <a:t>例：</a:t>
            </a:r>
          </a:p>
        </p:txBody>
      </p:sp>
      <p:sp>
        <p:nvSpPr>
          <p:cNvPr id="35844" name="Text Box 4"/>
          <p:cNvSpPr txBox="1">
            <a:spLocks noChangeArrowheads="1"/>
          </p:cNvSpPr>
          <p:nvPr/>
        </p:nvSpPr>
        <p:spPr bwMode="auto">
          <a:xfrm>
            <a:off x="3151188" y="3789363"/>
            <a:ext cx="2881312" cy="2554545"/>
          </a:xfrm>
          <a:prstGeom prst="rect">
            <a:avLst/>
          </a:prstGeom>
          <a:gradFill rotWithShape="1">
            <a:gsLst>
              <a:gs pos="0">
                <a:srgbClr val="F8F8F8"/>
              </a:gs>
              <a:gs pos="20000">
                <a:srgbClr val="F7F7F7"/>
              </a:gs>
              <a:gs pos="100000">
                <a:srgbClr val="BDBDBD"/>
              </a:gs>
            </a:gsLst>
            <a:lin ang="5400000"/>
          </a:gra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kumimoji="1" lang="en-US" altLang="zh-CN" sz="2000" b="1" dirty="0">
                <a:solidFill>
                  <a:srgbClr val="008000"/>
                </a:solidFill>
                <a:latin typeface="宋体" panose="02010600030101010101" pitchFamily="2" charset="-122"/>
              </a:rPr>
              <a:t>if p1 {</a:t>
            </a:r>
          </a:p>
          <a:p>
            <a:pPr>
              <a:defRPr/>
            </a:pPr>
            <a:r>
              <a:rPr kumimoji="1" lang="en-US" altLang="zh-CN" sz="2000" b="1" dirty="0">
                <a:solidFill>
                  <a:srgbClr val="008000"/>
                </a:solidFill>
                <a:latin typeface="宋体" panose="02010600030101010101" pitchFamily="2" charset="-122"/>
              </a:rPr>
              <a:t>	   S1</a:t>
            </a:r>
            <a:r>
              <a:rPr kumimoji="1" lang="zh-CN" altLang="en-US" sz="2000" b="1" dirty="0">
                <a:solidFill>
                  <a:srgbClr val="008000"/>
                </a:solidFill>
                <a:latin typeface="宋体" panose="02010600030101010101" pitchFamily="2" charset="-122"/>
              </a:rPr>
              <a:t>；</a:t>
            </a:r>
          </a:p>
          <a:p>
            <a:pPr>
              <a:defRPr/>
            </a:pPr>
            <a:r>
              <a:rPr kumimoji="1" lang="zh-CN" altLang="en-US" sz="2000" b="1" dirty="0">
                <a:solidFill>
                  <a:srgbClr val="008000"/>
                </a:solidFill>
                <a:latin typeface="宋体" panose="02010600030101010101" pitchFamily="2" charset="-122"/>
              </a:rPr>
              <a:t>      </a:t>
            </a:r>
            <a:r>
              <a:rPr kumimoji="1" lang="en-US" altLang="zh-CN" sz="2000" b="1" dirty="0">
                <a:solidFill>
                  <a:srgbClr val="008000"/>
                </a:solidFill>
                <a:latin typeface="宋体" panose="02010600030101010101" pitchFamily="2" charset="-122"/>
              </a:rPr>
              <a:t>}</a:t>
            </a:r>
            <a:r>
              <a:rPr kumimoji="1" lang="zh-CN" altLang="en-US" sz="2000" b="1" dirty="0">
                <a:solidFill>
                  <a:srgbClr val="008000"/>
                </a:solidFill>
                <a:latin typeface="宋体" panose="02010600030101010101" pitchFamily="2" charset="-122"/>
              </a:rPr>
              <a:t>；</a:t>
            </a:r>
          </a:p>
          <a:p>
            <a:pPr>
              <a:defRPr/>
            </a:pPr>
            <a:r>
              <a:rPr kumimoji="1" lang="en-US" altLang="zh-CN" sz="2000" b="1" dirty="0">
                <a:solidFill>
                  <a:srgbClr val="008000"/>
                </a:solidFill>
                <a:latin typeface="宋体" panose="02010600030101010101" pitchFamily="2" charset="-122"/>
              </a:rPr>
              <a:t>S</a:t>
            </a:r>
            <a:r>
              <a:rPr kumimoji="1" lang="zh-CN" altLang="en-US" sz="2000" b="1" dirty="0">
                <a:solidFill>
                  <a:srgbClr val="008000"/>
                </a:solidFill>
                <a:latin typeface="宋体" panose="02010600030101010101" pitchFamily="2" charset="-122"/>
              </a:rPr>
              <a:t>；</a:t>
            </a:r>
            <a:endParaRPr kumimoji="1" lang="en-US" altLang="zh-CN" sz="2000" b="1" dirty="0">
              <a:solidFill>
                <a:srgbClr val="008000"/>
              </a:solidFill>
              <a:latin typeface="宋体" panose="02010600030101010101" pitchFamily="2" charset="-122"/>
            </a:endParaRPr>
          </a:p>
          <a:p>
            <a:pPr>
              <a:defRPr/>
            </a:pPr>
            <a:endParaRPr kumimoji="1" lang="zh-CN" altLang="en-US" sz="2000" b="1" dirty="0">
              <a:solidFill>
                <a:srgbClr val="008000"/>
              </a:solidFill>
              <a:latin typeface="宋体" panose="02010600030101010101" pitchFamily="2" charset="-122"/>
            </a:endParaRPr>
          </a:p>
          <a:p>
            <a:pPr>
              <a:defRPr/>
            </a:pPr>
            <a:r>
              <a:rPr kumimoji="1" lang="en-US" altLang="zh-CN" sz="2000" b="1" dirty="0">
                <a:solidFill>
                  <a:srgbClr val="008000"/>
                </a:solidFill>
                <a:latin typeface="宋体" panose="02010600030101010101" pitchFamily="2" charset="-122"/>
              </a:rPr>
              <a:t>if p2 {</a:t>
            </a:r>
          </a:p>
          <a:p>
            <a:pPr>
              <a:defRPr/>
            </a:pPr>
            <a:r>
              <a:rPr kumimoji="1" lang="en-US" altLang="zh-CN" sz="2000" b="1" dirty="0">
                <a:solidFill>
                  <a:srgbClr val="008000"/>
                </a:solidFill>
                <a:latin typeface="宋体" panose="02010600030101010101" pitchFamily="2" charset="-122"/>
              </a:rPr>
              <a:t>	   S2</a:t>
            </a:r>
            <a:r>
              <a:rPr kumimoji="1" lang="zh-CN" altLang="en-US" sz="2000" b="1" dirty="0">
                <a:solidFill>
                  <a:srgbClr val="008000"/>
                </a:solidFill>
                <a:latin typeface="宋体" panose="02010600030101010101" pitchFamily="2" charset="-122"/>
              </a:rPr>
              <a:t>；</a:t>
            </a:r>
          </a:p>
          <a:p>
            <a:pPr>
              <a:defRPr/>
            </a:pPr>
            <a:r>
              <a:rPr kumimoji="1" lang="zh-CN" altLang="en-US" sz="2000" b="1" dirty="0">
                <a:solidFill>
                  <a:srgbClr val="008000"/>
                </a:solidFill>
                <a:latin typeface="宋体" panose="02010600030101010101" pitchFamily="2" charset="-122"/>
              </a:rPr>
              <a:t>      </a:t>
            </a:r>
            <a:r>
              <a:rPr kumimoji="1" lang="en-US" altLang="zh-CN" sz="2000" b="1" dirty="0">
                <a:solidFill>
                  <a:srgbClr val="008000"/>
                </a:solidFill>
                <a:latin typeface="宋体" panose="02010600030101010101" pitchFamily="2" charset="-122"/>
              </a:rPr>
              <a:t>}</a:t>
            </a:r>
            <a:r>
              <a:rPr kumimoji="1" lang="zh-CN" altLang="en-US" sz="2000" b="1" dirty="0">
                <a:solidFill>
                  <a:srgbClr val="008000"/>
                </a:solidFill>
                <a:latin typeface="宋体" panose="02010600030101010101" pitchFamily="2" charset="-122"/>
              </a:rPr>
              <a:t>；</a:t>
            </a:r>
          </a:p>
        </p:txBody>
      </p:sp>
      <p:sp>
        <p:nvSpPr>
          <p:cNvPr id="5" name="Text Box 4"/>
          <p:cNvSpPr txBox="1">
            <a:spLocks noChangeArrowheads="1"/>
          </p:cNvSpPr>
          <p:nvPr/>
        </p:nvSpPr>
        <p:spPr bwMode="auto">
          <a:xfrm>
            <a:off x="3175" y="338138"/>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E24C05"/>
                </a:solidFill>
                <a:latin typeface="Tahoma" pitchFamily="34" charset="0"/>
                <a:ea typeface="黑体" pitchFamily="49" charset="-122"/>
              </a:defRPr>
            </a:lvl1pPr>
            <a:lvl2pPr>
              <a:defRPr sz="2400">
                <a:solidFill>
                  <a:schemeClr val="tx1"/>
                </a:solidFill>
                <a:latin typeface="Tahoma" pitchFamily="34" charset="0"/>
                <a:ea typeface="黑体" pitchFamily="49" charset="-122"/>
              </a:defRPr>
            </a:lvl2pPr>
            <a:lvl3pPr>
              <a:defRPr sz="2000" b="1">
                <a:solidFill>
                  <a:srgbClr val="000000"/>
                </a:solidFill>
                <a:latin typeface="Tahoma" pitchFamily="34" charset="0"/>
                <a:ea typeface="宋体" pitchFamily="2" charset="-122"/>
              </a:defRPr>
            </a:lvl3pPr>
            <a:lvl4pPr>
              <a:defRPr sz="2000" b="1">
                <a:solidFill>
                  <a:schemeClr val="tx1"/>
                </a:solidFill>
                <a:latin typeface="Tahoma" pitchFamily="34" charset="0"/>
                <a:ea typeface="宋体" pitchFamily="2" charset="-122"/>
              </a:defRPr>
            </a:lvl4pPr>
            <a:lvl5pPr>
              <a:defRPr sz="2000" b="1">
                <a:solidFill>
                  <a:schemeClr val="tx1"/>
                </a:solidFill>
                <a:latin typeface="Tahoma" pitchFamily="34" charset="0"/>
                <a:ea typeface="宋体" pitchFamily="2" charset="-122"/>
              </a:defRPr>
            </a:lvl5pPr>
            <a:lvl6pPr eaLnBrk="0" hangingPunct="0">
              <a:defRPr sz="2000" b="1">
                <a:solidFill>
                  <a:schemeClr val="tx1"/>
                </a:solidFill>
                <a:latin typeface="Tahoma" pitchFamily="34" charset="0"/>
                <a:ea typeface="宋体" pitchFamily="2" charset="-122"/>
              </a:defRPr>
            </a:lvl6pPr>
            <a:lvl7pPr eaLnBrk="0" hangingPunct="0">
              <a:defRPr sz="2000" b="1">
                <a:solidFill>
                  <a:schemeClr val="tx1"/>
                </a:solidFill>
                <a:latin typeface="Tahoma" pitchFamily="34" charset="0"/>
                <a:ea typeface="宋体" pitchFamily="2" charset="-122"/>
              </a:defRPr>
            </a:lvl7pPr>
            <a:lvl8pPr eaLnBrk="0" hangingPunct="0">
              <a:defRPr sz="2000" b="1">
                <a:solidFill>
                  <a:schemeClr val="tx1"/>
                </a:solidFill>
                <a:latin typeface="Tahoma" pitchFamily="34" charset="0"/>
                <a:ea typeface="宋体" pitchFamily="2" charset="-122"/>
              </a:defRPr>
            </a:lvl8pPr>
            <a:lvl9pPr eaLnBrk="0" hangingPunct="0">
              <a:defRPr sz="2000" b="1">
                <a:solidFill>
                  <a:schemeClr val="tx1"/>
                </a:solidFill>
                <a:latin typeface="Tahoma" pitchFamily="34" charset="0"/>
                <a:ea typeface="宋体" pitchFamily="2" charset="-122"/>
              </a:defRPr>
            </a:lvl9pPr>
          </a:lstStyle>
          <a:p>
            <a:pPr algn="ctr">
              <a:spcBef>
                <a:spcPct val="50000"/>
              </a:spcBef>
              <a:buFont typeface="Wingdings" pitchFamily="2" charset="2"/>
              <a:buNone/>
              <a:defRPr/>
            </a:pPr>
            <a:r>
              <a:rPr lang="en-US" altLang="zh-CN" sz="3600" b="1" dirty="0">
                <a:solidFill>
                  <a:srgbClr val="000000"/>
                </a:solidFill>
                <a:latin typeface="Times New Roman" panose="02020603050405020304" pitchFamily="18" charset="0"/>
                <a:ea typeface="+mj-ea"/>
                <a:cs typeface="Times New Roman" panose="02020603050405020304" pitchFamily="18" charset="0"/>
              </a:rPr>
              <a:t>4.1.2 </a:t>
            </a:r>
            <a:r>
              <a:rPr lang="zh-CN" altLang="en-US" sz="3600" b="1" dirty="0">
                <a:solidFill>
                  <a:srgbClr val="000000"/>
                </a:solidFill>
                <a:latin typeface="Times New Roman" panose="02020603050405020304" pitchFamily="18" charset="0"/>
                <a:ea typeface="+mj-ea"/>
                <a:cs typeface="Times New Roman" panose="02020603050405020304" pitchFamily="18" charset="0"/>
              </a:rPr>
              <a:t>相关性</a:t>
            </a:r>
          </a:p>
        </p:txBody>
      </p:sp>
      <p:sp>
        <p:nvSpPr>
          <p:cNvPr id="2" name="日期占位符 1">
            <a:extLst>
              <a:ext uri="{FF2B5EF4-FFF2-40B4-BE49-F238E27FC236}">
                <a16:creationId xmlns:a16="http://schemas.microsoft.com/office/drawing/2014/main" id="{899AD3C5-3213-4AB1-4743-7C41457196C0}"/>
              </a:ext>
            </a:extLst>
          </p:cNvPr>
          <p:cNvSpPr>
            <a:spLocks noGrp="1"/>
          </p:cNvSpPr>
          <p:nvPr>
            <p:ph type="dt" sz="half" idx="10"/>
          </p:nvPr>
        </p:nvSpPr>
        <p:spPr/>
        <p:txBody>
          <a:bodyPr/>
          <a:lstStyle/>
          <a:p>
            <a:pPr>
              <a:defRPr/>
            </a:pPr>
            <a:fld id="{E0AF825E-1CDF-47CE-8316-CFEE5163A65F}"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41918AA8-63D3-FB08-AFBD-57C8DB467E5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810676B-6F98-E6DF-9FBE-E32747077592}"/>
              </a:ext>
            </a:extLst>
          </p:cNvPr>
          <p:cNvSpPr>
            <a:spLocks noGrp="1"/>
          </p:cNvSpPr>
          <p:nvPr>
            <p:ph type="sldNum" sz="quarter" idx="12"/>
          </p:nvPr>
        </p:nvSpPr>
        <p:spPr/>
        <p:txBody>
          <a:bodyPr/>
          <a:lstStyle/>
          <a:p>
            <a:pPr>
              <a:defRPr/>
            </a:pPr>
            <a:fld id="{8BCAC33D-D29A-48B3-BCD6-381D3D720D26}" type="slidenum">
              <a:rPr lang="zh-CN" altLang="en-US" smtClean="0"/>
              <a:t>55</a:t>
            </a:fld>
            <a:endParaRPr lang="en-US" altLang="zh-CN"/>
          </a:p>
        </p:txBody>
      </p:sp>
    </p:spTree>
    <p:extLst>
      <p:ext uri="{BB962C8B-B14F-4D97-AF65-F5344CB8AC3E}">
        <p14:creationId xmlns:p14="http://schemas.microsoft.com/office/powerpoint/2010/main" val="1325012815"/>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descr="Rectangle: Click to edit Master text styles&#10;Second level&#10;Third level&#10;Fourth level&#10;Fifth level"/>
          <p:cNvSpPr>
            <a:spLocks noGrp="1" noChangeArrowheads="1"/>
          </p:cNvSpPr>
          <p:nvPr>
            <p:ph idx="1"/>
          </p:nvPr>
        </p:nvSpPr>
        <p:spPr>
          <a:xfrm>
            <a:off x="0" y="404813"/>
            <a:ext cx="9036496" cy="3960812"/>
          </a:xfrm>
        </p:spPr>
        <p:txBody>
          <a:bodyPr/>
          <a:lstStyle/>
          <a:p>
            <a:pPr marL="7200" lvl="1" indent="-457200" eaLnBrk="1" hangingPunct="1"/>
            <a:r>
              <a:rPr lang="zh-CN" altLang="en-US" b="1" dirty="0"/>
              <a:t>控制相关有以下两个原则：</a:t>
            </a:r>
          </a:p>
          <a:p>
            <a:pPr marL="196200" lvl="2" indent="0" eaLnBrk="1" hangingPunct="1">
              <a:buNone/>
            </a:pPr>
            <a:r>
              <a:rPr lang="zh-CN" altLang="en-US" b="1" dirty="0">
                <a:latin typeface="宋体" pitchFamily="2" charset="-122"/>
              </a:rPr>
              <a:t>（</a:t>
            </a:r>
            <a:r>
              <a:rPr lang="en-US" altLang="zh-CN" b="1" dirty="0">
                <a:latin typeface="宋体" pitchFamily="2" charset="-122"/>
              </a:rPr>
              <a:t>1</a:t>
            </a:r>
            <a:r>
              <a:rPr lang="zh-CN" altLang="en-US" b="1" dirty="0">
                <a:latin typeface="宋体" pitchFamily="2" charset="-122"/>
              </a:rPr>
              <a:t>）与控制相关的指令不能移到分支指令之前，即控制有关的指令不能调度到分支指令的控制范围之外。</a:t>
            </a:r>
            <a:endParaRPr lang="en-US" altLang="zh-CN" b="1" dirty="0">
              <a:latin typeface="宋体" pitchFamily="2" charset="-122"/>
            </a:endParaRPr>
          </a:p>
          <a:p>
            <a:pPr marL="900000" lvl="2" indent="-342900" eaLnBrk="1" hangingPunct="1">
              <a:buFont typeface="Wingdings" panose="05000000000000000000" pitchFamily="2" charset="2"/>
              <a:buChar char="Ø"/>
            </a:pPr>
            <a:r>
              <a:rPr lang="zh-CN" altLang="en-US" b="1" dirty="0">
                <a:solidFill>
                  <a:schemeClr val="hlink"/>
                </a:solidFill>
                <a:latin typeface="宋体" pitchFamily="2" charset="-122"/>
              </a:rPr>
              <a:t>对于上述的例子，</a:t>
            </a:r>
            <a:r>
              <a:rPr lang="en-US" altLang="zh-CN" b="1" dirty="0">
                <a:solidFill>
                  <a:srgbClr val="9933FF"/>
                </a:solidFill>
                <a:latin typeface="宋体" pitchFamily="2" charset="-122"/>
              </a:rPr>
              <a:t>then</a:t>
            </a:r>
            <a:r>
              <a:rPr lang="en-US" altLang="zh-CN" b="1" dirty="0">
                <a:solidFill>
                  <a:schemeClr val="hlink"/>
                </a:solidFill>
                <a:latin typeface="宋体" pitchFamily="2" charset="-122"/>
              </a:rPr>
              <a:t> </a:t>
            </a:r>
            <a:r>
              <a:rPr lang="zh-CN" altLang="en-US" b="1" dirty="0">
                <a:solidFill>
                  <a:schemeClr val="hlink"/>
                </a:solidFill>
                <a:latin typeface="宋体" pitchFamily="2" charset="-122"/>
              </a:rPr>
              <a:t>部分中的指令不能移到</a:t>
            </a:r>
            <a:r>
              <a:rPr lang="en-US" altLang="zh-CN" b="1" dirty="0">
                <a:solidFill>
                  <a:srgbClr val="9933FF"/>
                </a:solidFill>
                <a:latin typeface="宋体" pitchFamily="2" charset="-122"/>
              </a:rPr>
              <a:t>if</a:t>
            </a:r>
            <a:r>
              <a:rPr lang="zh-CN" altLang="en-US" b="1" dirty="0">
                <a:solidFill>
                  <a:schemeClr val="hlink"/>
                </a:solidFill>
                <a:latin typeface="宋体" pitchFamily="2" charset="-122"/>
              </a:rPr>
              <a:t>语句之前</a:t>
            </a:r>
            <a:endParaRPr lang="en-US" altLang="zh-CN" b="1" dirty="0">
              <a:solidFill>
                <a:schemeClr val="hlink"/>
              </a:solidFill>
              <a:latin typeface="宋体" pitchFamily="2" charset="-122"/>
            </a:endParaRPr>
          </a:p>
          <a:p>
            <a:pPr marL="900000" lvl="2" indent="-342900" eaLnBrk="1" hangingPunct="1">
              <a:buFont typeface="Wingdings" panose="05000000000000000000" pitchFamily="2" charset="2"/>
              <a:buChar char="Ø"/>
            </a:pPr>
            <a:endParaRPr lang="zh-CN" altLang="en-US" b="1" dirty="0">
              <a:latin typeface="宋体" pitchFamily="2" charset="-122"/>
            </a:endParaRPr>
          </a:p>
          <a:p>
            <a:pPr marL="196200" lvl="2" indent="0" eaLnBrk="1" hangingPunct="1">
              <a:buNone/>
            </a:pPr>
            <a:r>
              <a:rPr lang="zh-CN" altLang="en-US" b="1" dirty="0">
                <a:latin typeface="宋体" pitchFamily="2" charset="-122"/>
              </a:rPr>
              <a:t>（</a:t>
            </a:r>
            <a:r>
              <a:rPr lang="en-US" altLang="zh-CN" b="1" dirty="0">
                <a:latin typeface="宋体" pitchFamily="2" charset="-122"/>
              </a:rPr>
              <a:t>2</a:t>
            </a:r>
            <a:r>
              <a:rPr lang="zh-CN" altLang="en-US" b="1" dirty="0">
                <a:latin typeface="宋体" pitchFamily="2" charset="-122"/>
              </a:rPr>
              <a:t>）与控制无关的指令不能移到分支指令之后，即控制无关的指令不能调度到分支指令的控制范围以内。</a:t>
            </a:r>
            <a:endParaRPr lang="en-US" altLang="zh-CN" b="1" dirty="0">
              <a:latin typeface="宋体" pitchFamily="2" charset="-122"/>
            </a:endParaRPr>
          </a:p>
          <a:p>
            <a:pPr marL="900000" lvl="2" indent="-342900" eaLnBrk="1" hangingPunct="1">
              <a:buFont typeface="Wingdings" panose="05000000000000000000" pitchFamily="2" charset="2"/>
              <a:buChar char="Ø"/>
            </a:pPr>
            <a:r>
              <a:rPr lang="zh-CN" altLang="en-US" b="1" dirty="0">
                <a:solidFill>
                  <a:schemeClr val="hlink"/>
                </a:solidFill>
                <a:latin typeface="宋体" pitchFamily="2" charset="-122"/>
              </a:rPr>
              <a:t>对于上述的例子，不能把</a:t>
            </a:r>
            <a:r>
              <a:rPr lang="en-US" altLang="zh-CN" b="1" dirty="0">
                <a:solidFill>
                  <a:srgbClr val="9933FF"/>
                </a:solidFill>
                <a:latin typeface="宋体" pitchFamily="2" charset="-122"/>
              </a:rPr>
              <a:t>S</a:t>
            </a:r>
            <a:r>
              <a:rPr lang="zh-CN" altLang="en-US" b="1" dirty="0">
                <a:solidFill>
                  <a:schemeClr val="hlink"/>
                </a:solidFill>
                <a:latin typeface="宋体" pitchFamily="2" charset="-122"/>
              </a:rPr>
              <a:t>移到</a:t>
            </a:r>
            <a:r>
              <a:rPr lang="en-US" altLang="zh-CN" b="1" dirty="0">
                <a:solidFill>
                  <a:srgbClr val="9933FF"/>
                </a:solidFill>
                <a:latin typeface="宋体" pitchFamily="2" charset="-122"/>
              </a:rPr>
              <a:t>if</a:t>
            </a:r>
            <a:r>
              <a:rPr lang="zh-CN" altLang="en-US" b="1" dirty="0">
                <a:solidFill>
                  <a:schemeClr val="hlink"/>
                </a:solidFill>
                <a:latin typeface="宋体" pitchFamily="2" charset="-122"/>
              </a:rPr>
              <a:t>语句的</a:t>
            </a:r>
            <a:r>
              <a:rPr lang="en-US" altLang="zh-CN" b="1" dirty="0">
                <a:solidFill>
                  <a:srgbClr val="9933FF"/>
                </a:solidFill>
                <a:latin typeface="宋体" pitchFamily="2" charset="-122"/>
              </a:rPr>
              <a:t>then</a:t>
            </a:r>
            <a:r>
              <a:rPr lang="en-US" altLang="zh-CN" b="1" dirty="0">
                <a:solidFill>
                  <a:schemeClr val="hlink"/>
                </a:solidFill>
                <a:latin typeface="宋体" pitchFamily="2" charset="-122"/>
              </a:rPr>
              <a:t> </a:t>
            </a:r>
            <a:r>
              <a:rPr lang="zh-CN" altLang="en-US" b="1" dirty="0">
                <a:solidFill>
                  <a:schemeClr val="hlink"/>
                </a:solidFill>
                <a:latin typeface="宋体" pitchFamily="2" charset="-122"/>
              </a:rPr>
              <a:t>部分中。</a:t>
            </a:r>
          </a:p>
        </p:txBody>
      </p:sp>
      <p:sp>
        <p:nvSpPr>
          <p:cNvPr id="5" name="Text Box 4"/>
          <p:cNvSpPr txBox="1">
            <a:spLocks noChangeArrowheads="1"/>
          </p:cNvSpPr>
          <p:nvPr/>
        </p:nvSpPr>
        <p:spPr bwMode="auto">
          <a:xfrm>
            <a:off x="3348038" y="3933056"/>
            <a:ext cx="2143125" cy="2862322"/>
          </a:xfrm>
          <a:prstGeom prst="rect">
            <a:avLst/>
          </a:prstGeom>
          <a:gradFill rotWithShape="1">
            <a:gsLst>
              <a:gs pos="0">
                <a:srgbClr val="F8F8F8"/>
              </a:gs>
              <a:gs pos="20000">
                <a:srgbClr val="F7F7F7"/>
              </a:gs>
              <a:gs pos="100000">
                <a:srgbClr val="BDBDBD"/>
              </a:gs>
            </a:gsLst>
            <a:lin ang="5400000"/>
          </a:gra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kumimoji="1" lang="en-US" altLang="zh-CN" sz="2000" b="1" dirty="0">
                <a:solidFill>
                  <a:srgbClr val="008000"/>
                </a:solidFill>
                <a:latin typeface="宋体" panose="02010600030101010101" pitchFamily="2" charset="-122"/>
              </a:rPr>
              <a:t>if p1 {</a:t>
            </a:r>
          </a:p>
          <a:p>
            <a:pPr>
              <a:defRPr/>
            </a:pPr>
            <a:r>
              <a:rPr kumimoji="1" lang="en-US" altLang="zh-CN" sz="2000" b="1" dirty="0">
                <a:solidFill>
                  <a:srgbClr val="008000"/>
                </a:solidFill>
                <a:latin typeface="宋体" panose="02010600030101010101" pitchFamily="2" charset="-122"/>
              </a:rPr>
              <a:t>	   S1</a:t>
            </a:r>
            <a:r>
              <a:rPr kumimoji="1" lang="zh-CN" altLang="en-US" sz="2000" b="1" dirty="0">
                <a:solidFill>
                  <a:srgbClr val="008000"/>
                </a:solidFill>
                <a:latin typeface="宋体" panose="02010600030101010101" pitchFamily="2" charset="-122"/>
              </a:rPr>
              <a:t>；</a:t>
            </a:r>
          </a:p>
          <a:p>
            <a:pPr>
              <a:defRPr/>
            </a:pPr>
            <a:r>
              <a:rPr kumimoji="1" lang="zh-CN" altLang="en-US" sz="2000" b="1" dirty="0">
                <a:solidFill>
                  <a:srgbClr val="008000"/>
                </a:solidFill>
                <a:latin typeface="宋体" panose="02010600030101010101" pitchFamily="2" charset="-122"/>
              </a:rPr>
              <a:t>      </a:t>
            </a:r>
            <a:r>
              <a:rPr kumimoji="1" lang="en-US" altLang="zh-CN" sz="2000" b="1" dirty="0">
                <a:solidFill>
                  <a:srgbClr val="008000"/>
                </a:solidFill>
                <a:latin typeface="宋体" panose="02010600030101010101" pitchFamily="2" charset="-122"/>
              </a:rPr>
              <a:t>}</a:t>
            </a:r>
            <a:r>
              <a:rPr kumimoji="1" lang="zh-CN" altLang="en-US" sz="2000" b="1" dirty="0">
                <a:solidFill>
                  <a:srgbClr val="008000"/>
                </a:solidFill>
                <a:latin typeface="宋体" panose="02010600030101010101" pitchFamily="2" charset="-122"/>
              </a:rPr>
              <a:t>；</a:t>
            </a:r>
            <a:endParaRPr kumimoji="1" lang="en-US" altLang="zh-CN" sz="2000" b="1" dirty="0">
              <a:solidFill>
                <a:srgbClr val="008000"/>
              </a:solidFill>
              <a:latin typeface="宋体" panose="02010600030101010101" pitchFamily="2" charset="-122"/>
            </a:endParaRPr>
          </a:p>
          <a:p>
            <a:pPr>
              <a:defRPr/>
            </a:pPr>
            <a:endParaRPr kumimoji="1" lang="zh-CN" altLang="en-US" sz="2000" b="1" dirty="0">
              <a:solidFill>
                <a:srgbClr val="008000"/>
              </a:solidFill>
              <a:latin typeface="宋体" panose="02010600030101010101" pitchFamily="2" charset="-122"/>
            </a:endParaRPr>
          </a:p>
          <a:p>
            <a:pPr>
              <a:defRPr/>
            </a:pPr>
            <a:r>
              <a:rPr kumimoji="1" lang="en-US" altLang="zh-CN" sz="2000" b="1" dirty="0">
                <a:solidFill>
                  <a:srgbClr val="008000"/>
                </a:solidFill>
                <a:latin typeface="宋体" panose="02010600030101010101" pitchFamily="2" charset="-122"/>
              </a:rPr>
              <a:t>S</a:t>
            </a:r>
            <a:r>
              <a:rPr kumimoji="1" lang="zh-CN" altLang="en-US" sz="2000" b="1" dirty="0">
                <a:solidFill>
                  <a:srgbClr val="008000"/>
                </a:solidFill>
                <a:latin typeface="宋体" panose="02010600030101010101" pitchFamily="2" charset="-122"/>
              </a:rPr>
              <a:t>；</a:t>
            </a:r>
            <a:endParaRPr kumimoji="1" lang="en-US" altLang="zh-CN" sz="2000" b="1" dirty="0">
              <a:solidFill>
                <a:srgbClr val="008000"/>
              </a:solidFill>
              <a:latin typeface="宋体" panose="02010600030101010101" pitchFamily="2" charset="-122"/>
            </a:endParaRPr>
          </a:p>
          <a:p>
            <a:pPr>
              <a:defRPr/>
            </a:pPr>
            <a:endParaRPr kumimoji="1" lang="zh-CN" altLang="en-US" sz="2000" b="1" dirty="0">
              <a:solidFill>
                <a:srgbClr val="008000"/>
              </a:solidFill>
              <a:latin typeface="宋体" panose="02010600030101010101" pitchFamily="2" charset="-122"/>
            </a:endParaRPr>
          </a:p>
          <a:p>
            <a:pPr>
              <a:defRPr/>
            </a:pPr>
            <a:r>
              <a:rPr kumimoji="1" lang="en-US" altLang="zh-CN" sz="2000" b="1" dirty="0">
                <a:solidFill>
                  <a:srgbClr val="008000"/>
                </a:solidFill>
                <a:latin typeface="宋体" panose="02010600030101010101" pitchFamily="2" charset="-122"/>
              </a:rPr>
              <a:t>if p2 {</a:t>
            </a:r>
          </a:p>
          <a:p>
            <a:pPr>
              <a:defRPr/>
            </a:pPr>
            <a:r>
              <a:rPr kumimoji="1" lang="en-US" altLang="zh-CN" sz="2000" b="1" dirty="0">
                <a:solidFill>
                  <a:srgbClr val="008000"/>
                </a:solidFill>
                <a:latin typeface="宋体" panose="02010600030101010101" pitchFamily="2" charset="-122"/>
              </a:rPr>
              <a:t>	   S2</a:t>
            </a:r>
            <a:r>
              <a:rPr kumimoji="1" lang="zh-CN" altLang="en-US" sz="2000" b="1" dirty="0">
                <a:solidFill>
                  <a:srgbClr val="008000"/>
                </a:solidFill>
                <a:latin typeface="宋体" panose="02010600030101010101" pitchFamily="2" charset="-122"/>
              </a:rPr>
              <a:t>；</a:t>
            </a:r>
          </a:p>
          <a:p>
            <a:pPr>
              <a:defRPr/>
            </a:pPr>
            <a:r>
              <a:rPr kumimoji="1" lang="zh-CN" altLang="en-US" sz="2000" b="1" dirty="0">
                <a:solidFill>
                  <a:srgbClr val="008000"/>
                </a:solidFill>
                <a:latin typeface="宋体" panose="02010600030101010101" pitchFamily="2" charset="-122"/>
              </a:rPr>
              <a:t>      </a:t>
            </a:r>
            <a:r>
              <a:rPr kumimoji="1" lang="en-US" altLang="zh-CN" sz="2000" b="1" dirty="0">
                <a:solidFill>
                  <a:srgbClr val="008000"/>
                </a:solidFill>
                <a:latin typeface="宋体" panose="02010600030101010101" pitchFamily="2" charset="-122"/>
              </a:rPr>
              <a:t>}</a:t>
            </a:r>
            <a:r>
              <a:rPr kumimoji="1" lang="zh-CN" altLang="en-US" sz="2000" b="1" dirty="0">
                <a:solidFill>
                  <a:srgbClr val="008000"/>
                </a:solidFill>
                <a:latin typeface="宋体" panose="02010600030101010101" pitchFamily="2" charset="-122"/>
              </a:rPr>
              <a:t>；</a:t>
            </a:r>
          </a:p>
        </p:txBody>
      </p:sp>
      <p:sp>
        <p:nvSpPr>
          <p:cNvPr id="2" name="日期占位符 1">
            <a:extLst>
              <a:ext uri="{FF2B5EF4-FFF2-40B4-BE49-F238E27FC236}">
                <a16:creationId xmlns:a16="http://schemas.microsoft.com/office/drawing/2014/main" id="{653B2C9C-96BA-953F-589E-947DAF2FBA2C}"/>
              </a:ext>
            </a:extLst>
          </p:cNvPr>
          <p:cNvSpPr>
            <a:spLocks noGrp="1"/>
          </p:cNvSpPr>
          <p:nvPr>
            <p:ph type="dt" sz="half" idx="10"/>
          </p:nvPr>
        </p:nvSpPr>
        <p:spPr/>
        <p:txBody>
          <a:bodyPr/>
          <a:lstStyle/>
          <a:p>
            <a:pPr>
              <a:defRPr/>
            </a:pPr>
            <a:fld id="{6623412F-C2CE-4D2C-9C36-F02DFE78EEB6}" type="datetime1">
              <a:rPr lang="zh-CN" altLang="en-US" smtClean="0"/>
              <a:t>2025/10/21</a:t>
            </a:fld>
            <a:endParaRPr lang="en-US" altLang="zh-CN"/>
          </a:p>
        </p:txBody>
      </p:sp>
      <p:sp>
        <p:nvSpPr>
          <p:cNvPr id="3" name="页脚占位符 2">
            <a:extLst>
              <a:ext uri="{FF2B5EF4-FFF2-40B4-BE49-F238E27FC236}">
                <a16:creationId xmlns:a16="http://schemas.microsoft.com/office/drawing/2014/main" id="{B3B73235-EF23-9FB1-723E-4E8B8C3B3AE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C2601D1-9C99-70C7-DEDA-60FF3680B975}"/>
              </a:ext>
            </a:extLst>
          </p:cNvPr>
          <p:cNvSpPr>
            <a:spLocks noGrp="1"/>
          </p:cNvSpPr>
          <p:nvPr>
            <p:ph type="sldNum" sz="quarter" idx="12"/>
          </p:nvPr>
        </p:nvSpPr>
        <p:spPr/>
        <p:txBody>
          <a:bodyPr/>
          <a:lstStyle/>
          <a:p>
            <a:pPr>
              <a:defRPr/>
            </a:pPr>
            <a:fld id="{8BCAC33D-D29A-48B3-BCD6-381D3D720D26}" type="slidenum">
              <a:rPr lang="zh-CN" altLang="en-US" smtClean="0"/>
              <a:t>56</a:t>
            </a:fld>
            <a:endParaRPr lang="en-US" altLang="zh-CN"/>
          </a:p>
        </p:txBody>
      </p:sp>
    </p:spTree>
    <p:extLst>
      <p:ext uri="{BB962C8B-B14F-4D97-AF65-F5344CB8AC3E}">
        <p14:creationId xmlns:p14="http://schemas.microsoft.com/office/powerpoint/2010/main" val="3377519785"/>
      </p:ext>
    </p:extLst>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8055</TotalTime>
  <Words>4766</Words>
  <Application>Microsoft Office PowerPoint</Application>
  <PresentationFormat>全屏显示(4:3)</PresentationFormat>
  <Paragraphs>923</Paragraphs>
  <Slides>56</Slides>
  <Notes>34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56</vt:i4>
      </vt:variant>
    </vt:vector>
  </HeadingPairs>
  <TitlesOfParts>
    <vt:vector size="68" baseType="lpstr">
      <vt:lpstr>ＭＳ Ｐゴシック</vt:lpstr>
      <vt:lpstr>黑体</vt:lpstr>
      <vt:lpstr>宋体</vt:lpstr>
      <vt:lpstr>Arial</vt:lpstr>
      <vt:lpstr>Calibri</vt:lpstr>
      <vt:lpstr>Comic Sans MS</vt:lpstr>
      <vt:lpstr>Courier New</vt:lpstr>
      <vt:lpstr>Times New Roman</vt:lpstr>
      <vt:lpstr>Verdana</vt:lpstr>
      <vt:lpstr>Wingdings</vt:lpstr>
      <vt:lpstr>Wingdings 2</vt:lpstr>
      <vt:lpstr>Office 主题​​</vt:lpstr>
      <vt:lpstr>计算机体系结构</vt:lpstr>
      <vt:lpstr>Recap</vt:lpstr>
      <vt:lpstr>PowerPoint 演示文稿</vt:lpstr>
      <vt:lpstr>第四章 指令级并行</vt:lpstr>
      <vt:lpstr>4.1  指令级并行的概念</vt:lpstr>
      <vt:lpstr>4.1  指令级并行的概念</vt:lpstr>
      <vt:lpstr>性能评价：CPI计算</vt:lpstr>
      <vt:lpstr>本章研究的技术及克服的停顿</vt:lpstr>
      <vt:lpstr>软件和硬件的支持</vt:lpstr>
      <vt:lpstr>几个基本概念</vt:lpstr>
      <vt:lpstr>4.1  指令级并行的概念</vt:lpstr>
      <vt:lpstr>4.1.1 循环展开调度的基本方法</vt:lpstr>
      <vt:lpstr>本章通用浮点流水线延迟表</vt:lpstr>
      <vt:lpstr>其他特性说明</vt:lpstr>
      <vt:lpstr>循环展开实例</vt:lpstr>
      <vt:lpstr>MIPS汇编语言程序</vt:lpstr>
      <vt:lpstr>循环无调度执行</vt:lpstr>
      <vt:lpstr>循环无调度执行</vt:lpstr>
      <vt:lpstr>循环无调度执行</vt:lpstr>
      <vt:lpstr>循环无调度执行</vt:lpstr>
      <vt:lpstr>循环无调度执行</vt:lpstr>
      <vt:lpstr>循环无调度执行</vt:lpstr>
      <vt:lpstr>循环无调度执行</vt:lpstr>
      <vt:lpstr>循环无调度执行结果分析</vt:lpstr>
      <vt:lpstr>调度代码</vt:lpstr>
      <vt:lpstr>调度代码</vt:lpstr>
      <vt:lpstr>调度代码</vt:lpstr>
      <vt:lpstr>调度代码</vt:lpstr>
      <vt:lpstr>调度代码</vt:lpstr>
      <vt:lpstr>如何进行调度</vt:lpstr>
      <vt:lpstr>调度代码结果分析</vt:lpstr>
      <vt:lpstr>调度代码结果分析</vt:lpstr>
      <vt:lpstr>循环展开</vt:lpstr>
      <vt:lpstr>循环展开</vt:lpstr>
      <vt:lpstr>循环无调度执行</vt:lpstr>
      <vt:lpstr>执行时间分析</vt:lpstr>
      <vt:lpstr>结果分析</vt:lpstr>
      <vt:lpstr>循环展开+指令调度</vt:lpstr>
      <vt:lpstr>“循环展开+指令调度”结果分析</vt:lpstr>
      <vt:lpstr>循环展开和指令调度的总结</vt:lpstr>
      <vt:lpstr>4.1  指令级并行的概念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循环展开中的换名</vt:lpstr>
      <vt:lpstr>PowerPoint 演示文稿</vt:lpstr>
      <vt:lpstr>PowerPoint 演示文稿</vt:lpstr>
      <vt:lpstr>Dependence Types</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2063</cp:revision>
  <cp:lastPrinted>2020-11-06T01:37:00Z</cp:lastPrinted>
  <dcterms:created xsi:type="dcterms:W3CDTF">2113-01-01T00:00:00Z</dcterms:created>
  <dcterms:modified xsi:type="dcterms:W3CDTF">2025-10-21T14:09:28Z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