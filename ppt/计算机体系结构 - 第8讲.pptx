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6" r:id="rId2"/>
    <p:sldId id="1033" r:id="rId3"/>
    <p:sldId id="1532" r:id="rId4"/>
    <p:sldId id="1534" r:id="rId5"/>
    <p:sldId id="1579" r:id="rId6"/>
    <p:sldId id="1615" r:id="rId7"/>
    <p:sldId id="1466" r:id="rId8"/>
    <p:sldId id="1467" r:id="rId9"/>
    <p:sldId id="1468" r:id="rId10"/>
    <p:sldId id="1469" r:id="rId11"/>
    <p:sldId id="1470" r:id="rId12"/>
    <p:sldId id="1471" r:id="rId13"/>
    <p:sldId id="1472" r:id="rId14"/>
    <p:sldId id="1473" r:id="rId15"/>
    <p:sldId id="1474" r:id="rId16"/>
    <p:sldId id="1475" r:id="rId17"/>
    <p:sldId id="1476" r:id="rId18"/>
    <p:sldId id="1477" r:id="rId19"/>
    <p:sldId id="1607" r:id="rId20"/>
    <p:sldId id="1580" r:id="rId21"/>
    <p:sldId id="1581" r:id="rId22"/>
    <p:sldId id="1582" r:id="rId23"/>
    <p:sldId id="1583" r:id="rId24"/>
    <p:sldId id="1587" r:id="rId25"/>
    <p:sldId id="1588" r:id="rId26"/>
    <p:sldId id="1589" r:id="rId27"/>
    <p:sldId id="1591" r:id="rId28"/>
    <p:sldId id="1711" r:id="rId29"/>
    <p:sldId id="1564" r:id="rId30"/>
    <p:sldId id="1566" r:id="rId31"/>
    <p:sldId id="1567" r:id="rId32"/>
    <p:sldId id="1568" r:id="rId33"/>
    <p:sldId id="1569" r:id="rId34"/>
    <p:sldId id="1570" r:id="rId35"/>
    <p:sldId id="1571" r:id="rId36"/>
    <p:sldId id="1572" r:id="rId37"/>
    <p:sldId id="1573" r:id="rId38"/>
    <p:sldId id="1574" r:id="rId39"/>
    <p:sldId id="1575" r:id="rId40"/>
    <p:sldId id="1576" r:id="rId41"/>
    <p:sldId id="1577" r:id="rId42"/>
    <p:sldId id="1578" r:id="rId43"/>
    <p:sldId id="1608" r:id="rId44"/>
    <p:sldId id="1609" r:id="rId45"/>
    <p:sldId id="1610" r:id="rId46"/>
    <p:sldId id="1612" r:id="rId47"/>
    <p:sldId id="1613" r:id="rId48"/>
    <p:sldId id="1614" r:id="rId49"/>
    <p:sldId id="1718" r:id="rId50"/>
  </p:sldIdLst>
  <p:sldSz cx="9144000" cy="6858000" type="screen4x3"/>
  <p:notesSz cx="7102475" cy="10233025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33CC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80735" autoAdjust="0"/>
  </p:normalViewPr>
  <p:slideViewPr>
    <p:cSldViewPr>
      <p:cViewPr varScale="1">
        <p:scale>
          <a:sx n="133" d="100"/>
          <a:sy n="133" d="100"/>
        </p:scale>
        <p:origin x="513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2631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937" y="0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342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937" y="9720342"/>
            <a:ext cx="3077951" cy="51109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525" y="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3" y="4860171"/>
            <a:ext cx="5209329" cy="46046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93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525" y="9721930"/>
            <a:ext cx="3077951" cy="511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>
              <a:spcBef>
                <a:spcPct val="20000"/>
              </a:spcBef>
              <a:defRPr sz="13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1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6687E0E-FF9D-4DE2-822D-2F0FC9F24948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99725AF-68FB-4097-B79D-4C41802A68CF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D8A9FAD-E9C7-4DDB-B01B-09A5ECA11617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zh-CN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1F7102B-C2E0-4D08-8778-77A112A0431D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8916734-7D5C-4EA3-9400-525DD8431DCC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0274CAD-B720-483B-9F60-AF942ED9B2A7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CBBBF17-71D1-4D2D-B082-19D451C96F43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BBFE930-5B93-47B4-A902-CD0DF3DF235F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A9AA457-0805-4956-9EBF-8C854AF9AF4A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E486460-5948-4DB9-9060-FF548D40F3E6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1EC2EB-7A20-459E-A7CF-6C4F7407D129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3518004-8FC3-4A8D-8488-2877A0725257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313EDF5-7E1E-4CED-A243-3D0411D4615C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93B7C15-85AA-4F9E-9D4E-0C6B42FA1A11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685FECD-73A4-45B5-86E8-03F3D7240741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FD14F3C-0AA2-42A0-9329-A493FA250923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2CD0CF6-7CB5-4118-A75B-8B3E6362D695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>
              <a:latin typeface="Arial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C3DA394-8C5E-4DF1-82D5-F8D5367BE752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latin typeface="Arial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79FAABB-611F-45DD-8645-517358D3B321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latin typeface="Arial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717FBCE-50BF-4D23-B8DD-A1FC88499D60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latin typeface="Arial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E70D017-A6B8-4AB1-B257-EB7EE1258C9A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latin typeface="Arial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3F33865-06D1-489D-940D-619191E6E0A7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>
              <a:latin typeface="Arial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343B84F-AA2D-4F76-B954-B648757D0974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>
              <a:latin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C5C784F-CD3D-4EE1-850F-0271A430BA47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latin typeface="Arial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CC989DE-4017-4909-A928-6B5D7B3B3315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4AB4EF3-180C-4E34-BE24-CAD7610016CD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40B8F89-28DD-4261-B39C-20B59E506FE6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4F56D9C-23A2-407C-AEED-063BEAC94786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12C4F35-2193-44CE-BA87-9A8A3725D290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1C93B5E-A3D7-4732-BE16-A5E8180DA451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421F344-9E9E-4770-8622-BE65A42D661F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C33196D-B456-4968-915A-622F7D412AC2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D23DF37-849C-4128-9A5F-EFA8E0F7DB35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F25AAEB-A164-4FCE-A1E6-A33713037CB4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1C24A73-F1A0-4106-AD12-EC6D8479C7D8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2C8450-5111-4E9D-9861-8B993293FC43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991E0D2-8FF5-473A-97CE-02AAD785D0B1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F1428D0-DB27-4FB8-81F2-4E1EEA085989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AE6E9A1-C295-4E18-AB43-D2F6CFD31D59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80C3226-E211-487C-8530-91874883E9E2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>
              <a:latin typeface="Arial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BF96C9F-BFEF-4E19-A03E-9D1ED2365AE9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>
              <a:latin typeface="Arial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A17C423-4D65-4E29-9C15-5F2E95062299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>
              <a:latin typeface="Arial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21737EB-8045-45F9-BDE2-C00C572082A7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>
              <a:latin typeface="Arial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DADD743-C2DC-4C64-9003-90D92CF24396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>
              <a:latin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40F53E1-CFD4-432A-B990-4D8D6A26AECA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>
              <a:latin typeface="Arial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998" y="4860687"/>
            <a:ext cx="5208481" cy="46048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这种表示空间感不强，但简单。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4534407-3C2F-4AFA-BA9A-F542E02A62CB}" type="slidenum">
              <a:rPr lang="en-US" altLang="zh-CN" smtClean="0"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574" y="4861441"/>
            <a:ext cx="5206153" cy="46055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30C26-9CCB-4261-BEAC-75FF1BB5947C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65E66-56A4-4224-B94D-067B5038468D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E3D20-66C8-4A98-A65F-AC6FFCCD12AB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A973B-8548-4834-B543-CEF6F61406FC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3F5AE-7BB2-40E5-BE9C-E8AB1B3292FD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7428F-9672-4176-A306-5CD3414F85A8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9BAC5-53ED-4A45-8DAB-CFB24168F5F9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0F1DA-6599-4891-AC10-3E7F610F1986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05677-BB4B-4C42-B6AA-67D9676C702C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58DE3-240D-43C1-B944-68565932544C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86F21-AAAF-4975-AD78-E004D60F0C59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39750" y="188913"/>
            <a:ext cx="8001000" cy="56880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1">
            <a:extLst>
              <a:ext uri="{FF2B5EF4-FFF2-40B4-BE49-F238E27FC236}">
                <a16:creationId xmlns:a16="http://schemas.microsoft.com/office/drawing/2014/main" id="{C8B9C766-0DF4-C201-E4E6-A308AB48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>
              <a:defRPr/>
            </a:pPr>
            <a:fld id="{EDFB8D01-9A63-4316-AB5F-E62A7485C081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F04AD224-F13A-84DE-213A-D1A4FE7C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F6C922D-A975-FEAA-014B-A9958589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9684103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DC9091C-8ACA-4381-B472-A411824596CA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38.xml"/><Relationship Id="rId4" Type="http://schemas.openxmlformats.org/officeDocument/2006/relationships/slide" Target="slide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2.xml"/><Relationship Id="rId4" Type="http://schemas.openxmlformats.org/officeDocument/2006/relationships/slide" Target="slide4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5.xml"/><Relationship Id="rId4" Type="http://schemas.openxmlformats.org/officeDocument/2006/relationships/slide" Target="slide4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16.xml"/><Relationship Id="rId7" Type="http://schemas.openxmlformats.org/officeDocument/2006/relationships/slide" Target="slide8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slide" Target="slid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slide" Target="slide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slide" Target="slide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slide" Target="slide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slide" Target="slide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slide" Target="slide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" Target="slide10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10" Type="http://schemas.openxmlformats.org/officeDocument/2006/relationships/image" Target="../media/image23.png"/><Relationship Id="rId4" Type="http://schemas.openxmlformats.org/officeDocument/2006/relationships/slide" Target="slide16.xml"/><Relationship Id="rId9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slide" Target="slide2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1333501"/>
            <a:ext cx="6192688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71750" y="4500563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第八讲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5D179B-3014-1722-3600-12E55320B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FB8D01-9A63-4316-AB5F-E62A7485C081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721D66-8971-C038-DB3B-5A15316D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3139FD-4929-2C02-61FF-B58A8B04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122907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3" y="1022374"/>
            <a:ext cx="8352927" cy="5502970"/>
          </a:xfrm>
        </p:spPr>
        <p:txBody>
          <a:bodyPr rtlCol="0">
            <a:normAutofit fontScale="85000" lnSpcReduction="20000"/>
          </a:bodyPr>
          <a:lstStyle/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b="1" dirty="0"/>
              <a:t>流水线的基本概念</a:t>
            </a:r>
            <a:endParaRPr lang="en-US" altLang="zh-CN" b="1" dirty="0"/>
          </a:p>
          <a:p>
            <a:pPr marL="1101600" lvl="1" eaLnBrk="1" hangingPunct="1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流水技术的定义</a:t>
            </a:r>
            <a:endParaRPr lang="en-US" altLang="zh-CN" b="1" dirty="0"/>
          </a:p>
          <a:p>
            <a:pPr marL="1101600" lvl="1" eaLnBrk="1" hangingPunct="1">
              <a:lnSpc>
                <a:spcPct val="11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b="1" dirty="0"/>
              <a:t> 流水线的特点</a:t>
            </a:r>
            <a:endParaRPr lang="en-US" altLang="zh-CN" b="1" dirty="0"/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zh-CN" altLang="en-US" b="1" dirty="0">
                <a:latin typeface="+mj-lt"/>
              </a:rPr>
              <a:t>流水线的分类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b="1" dirty="0">
                <a:latin typeface="+mj-lt"/>
              </a:rPr>
              <a:t>  </a:t>
            </a:r>
            <a:r>
              <a:rPr lang="zh-CN" altLang="en-US" b="1" dirty="0">
                <a:latin typeface="+mj-lt"/>
              </a:rPr>
              <a:t>实现的功能（单功能、多功能）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b="1" dirty="0">
                <a:latin typeface="+mj-lt"/>
              </a:rPr>
              <a:t>  </a:t>
            </a:r>
            <a:r>
              <a:rPr lang="zh-CN" altLang="en-US" b="1" dirty="0">
                <a:latin typeface="+mj-lt"/>
              </a:rPr>
              <a:t>连接方式（静态、动态）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>
                <a:latin typeface="+mj-lt"/>
              </a:rPr>
              <a:t>  子过程的粒度（部件级、处理机级和处理机间）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>
                <a:latin typeface="+mj-lt"/>
              </a:rPr>
              <a:t>  数据表示（标量、向量）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b="1" dirty="0">
                <a:latin typeface="+mj-lt"/>
              </a:rPr>
              <a:t>  </a:t>
            </a:r>
            <a:r>
              <a:rPr lang="zh-CN" altLang="en-US" b="1" dirty="0">
                <a:latin typeface="+mj-lt"/>
              </a:rPr>
              <a:t>反馈回路（线性、非线性）</a:t>
            </a:r>
            <a:endParaRPr lang="en-US" altLang="zh-CN" b="1" dirty="0">
              <a:latin typeface="+mj-lt"/>
            </a:endParaRPr>
          </a:p>
          <a:p>
            <a:pPr lvl="1"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altLang="zh-CN" b="1" dirty="0"/>
              <a:t>MIPS</a:t>
            </a:r>
            <a:r>
              <a:rPr lang="zh-CN" altLang="en-US" b="1" dirty="0"/>
              <a:t>基本流水线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b="1" dirty="0">
                <a:latin typeface="+mj-lt"/>
              </a:rPr>
              <a:t>  将数据通路划分流水段，加入段间寄存器文件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b="1" dirty="0">
                <a:latin typeface="+mj-lt"/>
              </a:rPr>
              <a:t>  </a:t>
            </a:r>
            <a:r>
              <a:rPr lang="zh-CN" altLang="en-US" b="1" dirty="0">
                <a:latin typeface="+mj-lt"/>
              </a:rPr>
              <a:t>每功能段完成指令子过程的相应操作</a:t>
            </a:r>
            <a:endParaRPr lang="en-US" altLang="zh-CN" b="1" dirty="0">
              <a:latin typeface="+mj-lt"/>
            </a:endParaRPr>
          </a:p>
          <a:p>
            <a:pPr marL="1101600" lvl="1" eaLnBrk="1" fontAlgn="auto" hangingPunct="1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b="1" dirty="0">
                <a:latin typeface="+mj-lt"/>
              </a:rPr>
              <a:t>  </a:t>
            </a:r>
            <a:r>
              <a:rPr lang="zh-CN" altLang="en-US" b="1" dirty="0">
                <a:latin typeface="+mj-lt"/>
              </a:rPr>
              <a:t>多路选择器的控制</a:t>
            </a:r>
            <a:endParaRPr lang="en-US" altLang="zh-CN" b="1" dirty="0">
              <a:latin typeface="+mj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753A3D-EB2F-4E4D-AA7B-20729698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AD7ADB-46E3-462F-956F-7F73E0752C9F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53E3A9-3A62-3FAB-6804-8EB0AFFDE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35231D-2E7C-E5F6-2AAA-873D6339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2"/>
          <p:cNvSpPr txBox="1">
            <a:spLocks noChangeArrowheads="1"/>
          </p:cNvSpPr>
          <p:nvPr/>
        </p:nvSpPr>
        <p:spPr bwMode="auto">
          <a:xfrm>
            <a:off x="684213" y="1273175"/>
            <a:ext cx="7632700" cy="41005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流水技术的定义</a:t>
            </a:r>
          </a:p>
          <a:p>
            <a:pPr marL="342900" indent="-342900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将一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重复的时序过程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分解为若干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子过程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，每个子过程都可有效地在其专用功能段上与其它子过程同时执行，这种技术称为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流水技术</a:t>
            </a:r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</a:p>
          <a:p>
            <a:pPr marL="342900" indent="-342900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</a:t>
            </a:r>
            <a:r>
              <a:rPr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时空图</a:t>
            </a:r>
          </a:p>
          <a:p>
            <a:pPr marL="342900" indent="-342900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空间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两个方面描述流水线的工作过程，横坐标表示时间，纵坐标表示各流水段。</a:t>
            </a:r>
          </a:p>
        </p:txBody>
      </p:sp>
      <p:sp>
        <p:nvSpPr>
          <p:cNvPr id="11267" name="Rectangle 7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3600" b="1" dirty="0">
                <a:latin typeface="Times New Roman" pitchFamily="18" charset="0"/>
              </a:rPr>
              <a:t>3.1.1 </a:t>
            </a:r>
            <a:r>
              <a:rPr lang="zh-CN" altLang="en-US" sz="3600" b="1" dirty="0">
                <a:latin typeface="Times New Roman" pitchFamily="18" charset="0"/>
              </a:rPr>
              <a:t>流水线基本概念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B74B4C-99B2-B590-21D8-3B1B55CD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>
              <a:defRPr/>
            </a:pPr>
            <a:fld id="{EDFB8D01-9A63-4316-AB5F-E62A7485C081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442793-FFA3-E193-9798-6480A733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60DBDD-C9CC-D857-5BAD-12EB7C83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6179526"/>
      </p:ext>
    </p:extLst>
  </p:cSld>
  <p:clrMapOvr>
    <a:masterClrMapping/>
  </p:clrMapOvr>
  <p:transition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684212" y="1268413"/>
            <a:ext cx="8352283" cy="4191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 </a:t>
            </a:r>
            <a:r>
              <a:rPr lang="zh-CN" altLang="en-US" sz="28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流水线的特点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流水过程由多个相关的子过程组成，这些子过程称为流水线的“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级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”或“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”。段的数目称为流水线的“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深度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”。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每个子过程由专用的功能段实现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各功能段的时间应基本相等，通常为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个时钟周期（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拍）。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流水线需要经过一定的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通过时间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才能稳定。</a:t>
            </a:r>
          </a:p>
          <a:p>
            <a:pPr marL="457200" indent="-457200" eaLnBrk="1" hangingPunct="1">
              <a:lnSpc>
                <a:spcPct val="120000"/>
              </a:lnSpc>
              <a:spcBef>
                <a:spcPct val="50000"/>
              </a:spcBef>
              <a:buFont typeface="+mj-ea"/>
              <a:buAutoNum type="circleNumDbPlain"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流水技术适合于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大量重复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的时序过程。</a:t>
            </a:r>
          </a:p>
        </p:txBody>
      </p:sp>
      <p:sp>
        <p:nvSpPr>
          <p:cNvPr id="13315" name="Rectangle 7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3600" b="1" dirty="0">
                <a:latin typeface="Times New Roman" pitchFamily="18" charset="0"/>
              </a:rPr>
              <a:t>3.1.1 </a:t>
            </a:r>
            <a:r>
              <a:rPr lang="zh-CN" altLang="en-US" sz="3600" b="1" dirty="0">
                <a:latin typeface="Times New Roman" pitchFamily="18" charset="0"/>
              </a:rPr>
              <a:t>流水线基本概念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CAB063-8E29-DF56-95A7-B1EAB65B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>
              <a:defRPr/>
            </a:pPr>
            <a:fld id="{EDFB8D01-9A63-4316-AB5F-E62A7485C081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3AA8A7-FBD8-231A-8673-A3DE4971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7CC34-E41A-0195-AC65-D7068E8C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444140"/>
      </p:ext>
    </p:extLst>
  </p:cSld>
  <p:clrMapOvr>
    <a:masterClrMapping/>
  </p:clrMapOvr>
  <p:transition>
    <p:pull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arch33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5589B3-4648-C045-9CE1-4B04088D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FC507F-B43E-4441-A838-38E57FCF3127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5E206A-C57C-60F5-030A-5160AA1C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EAAFCB-0318-11B3-C957-88E63BA4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6274619"/>
      </p:ext>
    </p:extLst>
  </p:cSld>
  <p:clrMapOvr>
    <a:masterClrMapping/>
  </p:clrMapOvr>
  <p:transition spd="slow"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115888"/>
            <a:ext cx="7958138" cy="863600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latin typeface="Times New Roman" pitchFamily="18" charset="0"/>
              </a:rPr>
              <a:t>3.2    MIPS</a:t>
            </a:r>
            <a:r>
              <a:rPr lang="zh-CN" altLang="en-US" sz="4000" b="1" dirty="0">
                <a:latin typeface="Times New Roman" pitchFamily="18" charset="0"/>
              </a:rPr>
              <a:t>基本流水线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3.2.1 </a:t>
            </a:r>
            <a:r>
              <a:rPr lang="zh-CN" altLang="en-US" b="1" dirty="0"/>
              <a:t>基本</a:t>
            </a:r>
            <a:r>
              <a:rPr lang="en-US" altLang="zh-CN" b="1" dirty="0"/>
              <a:t>MIPS</a:t>
            </a:r>
            <a:r>
              <a:rPr lang="zh-CN" altLang="en-US" b="1" dirty="0"/>
              <a:t>流水线</a:t>
            </a:r>
            <a:endParaRPr lang="en-US" altLang="zh-CN" b="1" dirty="0"/>
          </a:p>
          <a:p>
            <a:pPr eaLnBrk="1" hangingPunct="1">
              <a:buFont typeface="Wingdings" pitchFamily="2" charset="2"/>
              <a:buNone/>
            </a:pPr>
            <a:endParaRPr lang="zh-CN" altLang="en-US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u="sng" dirty="0"/>
              <a:t>3.2.2 </a:t>
            </a:r>
            <a:r>
              <a:rPr lang="zh-CN" altLang="en-US" b="1" u="sng" dirty="0"/>
              <a:t>流水线性能分析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F20FD4-E9EF-C095-66CE-6D2D39B0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F3CD58-CAFE-4974-BD20-4E2FD24481BE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A4D996-124C-B003-BD29-FA4D686E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3A6BB8-ABDF-2903-546A-139D7C83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97573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611188" y="1341438"/>
            <a:ext cx="7488237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en-US" altLang="zh-CN" sz="28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三项性能指标：吞吐率、加速比和效率</a:t>
            </a:r>
          </a:p>
          <a:p>
            <a:pPr eaLnBrk="1" hangingPunct="1">
              <a:spcBef>
                <a:spcPct val="100000"/>
              </a:spcBef>
            </a:pPr>
            <a:r>
              <a:rPr lang="en-US" altLang="zh-CN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1.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吞吐率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	是衡量流水线速度的重要指标</a:t>
            </a:r>
          </a:p>
          <a:p>
            <a:pPr lvl="1" eaLnBrk="1" hangingPunct="1">
              <a:spcBef>
                <a:spcPct val="50000"/>
              </a:spcBef>
              <a:buClr>
                <a:srgbClr val="003366"/>
              </a:buClr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吞吐率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是指单位时间内流水线所完成的任务数或输出结果的数量。</a:t>
            </a:r>
          </a:p>
          <a:p>
            <a:pPr lvl="1" eaLnBrk="1" hangingPunct="1">
              <a:spcBef>
                <a:spcPct val="50000"/>
              </a:spcBef>
              <a:buClr>
                <a:srgbClr val="003366"/>
              </a:buClr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最大吞吐率</a:t>
            </a:r>
            <a:r>
              <a:rPr lang="en-US" altLang="zh-CN" sz="2400" b="1" i="1" dirty="0" err="1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TP</a:t>
            </a:r>
            <a:r>
              <a:rPr lang="en-US" altLang="zh-CN" sz="2400" b="1" i="1" baseline="-25000" dirty="0" err="1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max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是指流水线在达到稳定状态后所得到的吞吐率。</a:t>
            </a:r>
          </a:p>
          <a:p>
            <a:pPr lvl="1" eaLnBrk="1" hangingPunct="1">
              <a:spcBef>
                <a:spcPct val="50000"/>
              </a:spcBef>
              <a:buClr>
                <a:srgbClr val="003366"/>
              </a:buClr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设流水线由</a:t>
            </a:r>
            <a:r>
              <a:rPr lang="en-US" altLang="zh-CN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m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段组成，完成</a:t>
            </a:r>
            <a:r>
              <a:rPr lang="en-US" altLang="zh-CN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个任务的吞吐率称为</a:t>
            </a:r>
            <a:r>
              <a:rPr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实际吞吐率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，记作</a:t>
            </a:r>
            <a:r>
              <a:rPr lang="en-US" altLang="zh-CN" sz="2400" b="1" i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TP</a:t>
            </a:r>
            <a:r>
              <a:rPr lang="zh-CN" altLang="en-US" sz="2400" b="1" dirty="0">
                <a:solidFill>
                  <a:srgbClr val="003366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811338" y="269875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3.2.2 </a:t>
            </a:r>
            <a:r>
              <a:rPr lang="zh-CN" alt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流水线性能分析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223DCE-FDF0-A9CC-36FA-E52D2C11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44BD35-A86C-4B09-A72D-94383825F511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6CBEEE-88FF-B5A7-ABDF-CA0082D6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D8EA5-ED8F-7FAF-1D8B-2A91708C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025978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611188" y="1177925"/>
            <a:ext cx="7848600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）最大吞吐率</a:t>
            </a:r>
          </a:p>
          <a:p>
            <a:pPr lvl="1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假设流水线各段的时间相等，均为</a:t>
            </a:r>
            <a:r>
              <a:rPr lang="zh-CN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，则：</a:t>
            </a:r>
          </a:p>
          <a:p>
            <a:pPr lvl="1" algn="ctr" eaLnBrk="1" hangingPunct="1">
              <a:spcBef>
                <a:spcPct val="50000"/>
              </a:spcBef>
            </a:pPr>
            <a:r>
              <a:rPr lang="en-US" altLang="zh-CN" sz="2400" b="1" i="1" dirty="0" err="1">
                <a:latin typeface="华文中宋" pitchFamily="2" charset="-122"/>
                <a:ea typeface="华文中宋" pitchFamily="2" charset="-122"/>
              </a:rPr>
              <a:t>TP</a:t>
            </a:r>
            <a:r>
              <a:rPr lang="en-US" altLang="zh-CN" sz="2400" b="1" i="1" baseline="-25000" dirty="0" err="1">
                <a:latin typeface="华文中宋" pitchFamily="2" charset="-122"/>
                <a:ea typeface="华文中宋" pitchFamily="2" charset="-122"/>
              </a:rPr>
              <a:t>max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 = 1/△t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</a:p>
          <a:p>
            <a:pPr lvl="1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假设流水线各段时间不等，第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i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段时间为</a:t>
            </a:r>
            <a:r>
              <a:rPr lang="zh-CN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 err="1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 err="1">
                <a:latin typeface="华文中宋" pitchFamily="2" charset="-122"/>
                <a:ea typeface="华文中宋" pitchFamily="2" charset="-122"/>
              </a:rPr>
              <a:t>i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，则：</a:t>
            </a:r>
          </a:p>
          <a:p>
            <a:pPr lvl="1" algn="ctr" eaLnBrk="1" hangingPunct="1">
              <a:spcBef>
                <a:spcPct val="50000"/>
              </a:spcBef>
            </a:pPr>
            <a:r>
              <a:rPr lang="en-US" altLang="zh-CN" sz="2400" b="1" i="1" dirty="0" err="1">
                <a:latin typeface="华文中宋" pitchFamily="2" charset="-122"/>
                <a:ea typeface="华文中宋" pitchFamily="2" charset="-122"/>
              </a:rPr>
              <a:t>TP</a:t>
            </a:r>
            <a:r>
              <a:rPr lang="en-US" altLang="zh-CN" sz="2400" b="1" i="1" baseline="-25000" dirty="0" err="1">
                <a:latin typeface="华文中宋" pitchFamily="2" charset="-122"/>
                <a:ea typeface="华文中宋" pitchFamily="2" charset="-122"/>
              </a:rPr>
              <a:t>max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 = 1/max{△</a:t>
            </a:r>
            <a:r>
              <a:rPr lang="en-US" altLang="zh-CN" sz="2400" b="1" i="1" dirty="0" err="1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 err="1">
                <a:latin typeface="华文中宋" pitchFamily="2" charset="-122"/>
                <a:ea typeface="华文中宋" pitchFamily="2" charset="-122"/>
              </a:rPr>
              <a:t>i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}</a:t>
            </a:r>
          </a:p>
          <a:p>
            <a:pPr lvl="2" eaLnBrk="1" hangingPunct="1">
              <a:spcBef>
                <a:spcPct val="50000"/>
              </a:spcBef>
              <a:buFont typeface="Arial" pitchFamily="34" charset="0"/>
              <a:buChar char="–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最大吞吐率取决于流水线中最慢一段所需的时间，该段成为流水线的瓶颈</a:t>
            </a:r>
          </a:p>
          <a:p>
            <a:pPr lvl="2" eaLnBrk="1" hangingPunct="1">
              <a:spcBef>
                <a:spcPct val="50000"/>
              </a:spcBef>
              <a:buFont typeface="Arial" pitchFamily="34" charset="0"/>
              <a:buChar char="–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消除瓶颈的方法</a:t>
            </a: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3" eaLnBrk="1" hangingPunct="1">
              <a:spcBef>
                <a:spcPct val="30000"/>
              </a:spcBef>
              <a:buFont typeface="Arial" pitchFamily="34" charset="0"/>
              <a:buChar char="–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细分瓶颈段</a:t>
            </a:r>
          </a:p>
          <a:p>
            <a:pPr lvl="3" eaLnBrk="1" hangingPunct="1">
              <a:spcBef>
                <a:spcPct val="30000"/>
              </a:spcBef>
              <a:buFont typeface="Arial" pitchFamily="34" charset="0"/>
              <a:buChar char="–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重复设置瓶颈段	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C43316-5D0D-021F-B8C7-B9B99F6B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535CC1-898B-4562-A7D4-2D89332523B2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49A339-B91E-046C-AFF2-545CEA76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020F3-145F-350E-87F1-652F7669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443240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611188" y="1268413"/>
            <a:ext cx="7488237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）实际吞吐率</a:t>
            </a:r>
          </a:p>
          <a:p>
            <a:pPr lvl="1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若各段时间相等（假设均为</a:t>
            </a:r>
            <a:r>
              <a:rPr lang="zh-CN" altLang="zh-CN" sz="2400" b="1" i="1" dirty="0">
                <a:latin typeface="华文中宋" pitchFamily="2" charset="-122"/>
                <a:ea typeface="华文中宋" pitchFamily="2" charset="-122"/>
              </a:rPr>
              <a:t>△t</a:t>
            </a:r>
            <a:r>
              <a:rPr lang="zh-CN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），则完成时间</a:t>
            </a:r>
          </a:p>
          <a:p>
            <a:pPr lvl="1" algn="ctr" eaLnBrk="1" hangingPunct="1">
              <a:spcBef>
                <a:spcPct val="50000"/>
              </a:spcBef>
              <a:spcAft>
                <a:spcPct val="25000"/>
              </a:spcAft>
            </a:pP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zh-CN" altLang="en-US" sz="2400" b="1" i="1" baseline="-25000" dirty="0">
                <a:latin typeface="华文中宋" pitchFamily="2" charset="-122"/>
                <a:ea typeface="华文中宋" pitchFamily="2" charset="-122"/>
              </a:rPr>
              <a:t>流水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= m</a:t>
            </a:r>
            <a:r>
              <a:rPr lang="zh-CN" altLang="zh-CN" sz="2400" b="1" i="1" dirty="0">
                <a:latin typeface="华文中宋" pitchFamily="2" charset="-122"/>
                <a:ea typeface="华文中宋" pitchFamily="2" charset="-122"/>
              </a:rPr>
              <a:t>△t</a:t>
            </a:r>
            <a:r>
              <a:rPr lang="zh-CN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+(n-1)</a:t>
            </a:r>
            <a:r>
              <a:rPr lang="zh-CN" altLang="zh-CN" sz="2400" b="1" i="1" dirty="0">
                <a:latin typeface="华文中宋" pitchFamily="2" charset="-122"/>
                <a:ea typeface="华文中宋" pitchFamily="2" charset="-122"/>
              </a:rPr>
              <a:t>△t</a:t>
            </a:r>
            <a:r>
              <a:rPr lang="zh-CN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说明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）</a:t>
            </a:r>
          </a:p>
          <a:p>
            <a:pPr lvl="1" algn="ctr" eaLnBrk="1" hangingPunct="1">
              <a:spcBef>
                <a:spcPct val="50000"/>
              </a:spcBef>
              <a:spcAft>
                <a:spcPct val="25000"/>
              </a:spcAft>
            </a:pP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1" algn="ctr" eaLnBrk="1" hangingPunct="1">
              <a:spcBef>
                <a:spcPct val="50000"/>
              </a:spcBef>
              <a:spcAft>
                <a:spcPct val="25000"/>
              </a:spcAft>
            </a:pP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1" algn="ctr" eaLnBrk="1" hangingPunct="1">
              <a:spcBef>
                <a:spcPct val="50000"/>
              </a:spcBef>
              <a:spcAft>
                <a:spcPct val="25000"/>
              </a:spcAft>
            </a:pP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1" algn="ctr" eaLnBrk="1" hangingPunct="1">
              <a:spcBef>
                <a:spcPct val="50000"/>
              </a:spcBef>
              <a:spcAft>
                <a:spcPct val="25000"/>
              </a:spcAft>
            </a:pP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1" algn="ctr" eaLnBrk="1" hangingPunct="1">
              <a:spcBef>
                <a:spcPct val="50000"/>
              </a:spcBef>
              <a:spcAft>
                <a:spcPct val="25000"/>
              </a:spcAft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4" action="ppaction://hlinksldjump"/>
              </a:rPr>
              <a:t>时空图</a:t>
            </a: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965165" y="2924944"/>
            <a:ext cx="8178835" cy="2376489"/>
            <a:chOff x="748" y="2750"/>
            <a:chExt cx="5130" cy="1497"/>
          </a:xfrm>
        </p:grpSpPr>
        <p:grpSp>
          <p:nvGrpSpPr>
            <p:cNvPr id="34820" name="Group 20"/>
            <p:cNvGrpSpPr>
              <a:grpSpLocks/>
            </p:cNvGrpSpPr>
            <p:nvPr/>
          </p:nvGrpSpPr>
          <p:grpSpPr bwMode="auto">
            <a:xfrm>
              <a:off x="1850" y="2750"/>
              <a:ext cx="4028" cy="1497"/>
              <a:chOff x="852" y="2750"/>
              <a:chExt cx="4028" cy="1497"/>
            </a:xfrm>
          </p:grpSpPr>
          <p:sp>
            <p:nvSpPr>
              <p:cNvPr id="34822" name="Text Box 4"/>
              <p:cNvSpPr txBox="1">
                <a:spLocks noChangeArrowheads="1"/>
              </p:cNvSpPr>
              <p:nvPr/>
            </p:nvSpPr>
            <p:spPr bwMode="auto">
              <a:xfrm>
                <a:off x="962" y="2872"/>
                <a:ext cx="3674" cy="4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华文中宋" pitchFamily="2" charset="-122"/>
                    <a:ea typeface="华文中宋" pitchFamily="2" charset="-122"/>
                  </a:rPr>
                  <a:t>TP 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华文中宋" pitchFamily="2" charset="-122"/>
                    <a:ea typeface="华文中宋" pitchFamily="2" charset="-122"/>
                  </a:rPr>
                  <a:t>＝ ─── ＝ ──────────</a:t>
                </a:r>
              </a:p>
            </p:txBody>
          </p:sp>
          <p:sp>
            <p:nvSpPr>
              <p:cNvPr id="34823" name="Text Box 5"/>
              <p:cNvSpPr txBox="1">
                <a:spLocks noChangeArrowheads="1"/>
              </p:cNvSpPr>
              <p:nvPr/>
            </p:nvSpPr>
            <p:spPr bwMode="auto">
              <a:xfrm>
                <a:off x="1578" y="3026"/>
                <a:ext cx="552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T</a:t>
                </a:r>
                <a:r>
                  <a:rPr kumimoji="1" lang="zh-CN" altLang="en-US" sz="2400" b="1" i="1" baseline="-2500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流水</a:t>
                </a:r>
                <a:endParaRPr kumimoji="1" lang="zh-CN" altLang="en-US" sz="2400" b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24" name="Text Box 6"/>
              <p:cNvSpPr txBox="1">
                <a:spLocks noChangeArrowheads="1"/>
              </p:cNvSpPr>
              <p:nvPr/>
            </p:nvSpPr>
            <p:spPr bwMode="auto">
              <a:xfrm>
                <a:off x="1722" y="2750"/>
                <a:ext cx="28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n</a:t>
                </a:r>
                <a:endParaRPr kumimoji="1" lang="en-US" altLang="zh-CN" sz="2400" b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25" name="Text Box 7"/>
              <p:cNvSpPr txBox="1">
                <a:spLocks noChangeArrowheads="1"/>
              </p:cNvSpPr>
              <p:nvPr/>
            </p:nvSpPr>
            <p:spPr bwMode="auto">
              <a:xfrm>
                <a:off x="2514" y="3026"/>
                <a:ext cx="204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 dirty="0">
                    <a:solidFill>
                      <a:srgbClr val="003366"/>
                    </a:solidFill>
                    <a:latin typeface="+mj-ea"/>
                    <a:ea typeface="+mj-ea"/>
                  </a:rPr>
                  <a:t>m</a:t>
                </a:r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Times New Roman" pitchFamily="18" charset="0"/>
                    <a:ea typeface="楷体_GB2312" pitchFamily="49" charset="-122"/>
                    <a:sym typeface="Wingdings"/>
                  </a:rPr>
                  <a:t></a:t>
                </a:r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△t</a:t>
                </a:r>
                <a:r>
                  <a:rPr kumimoji="1" lang="en-US" altLang="zh-CN" sz="2400" b="1" i="1" baseline="-25000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＋</a:t>
                </a:r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n</a:t>
                </a:r>
                <a:r>
                  <a:rPr kumimoji="1" lang="zh-CN" altLang="en-US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－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１</a:t>
                </a:r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  <a:sym typeface="Wingdings"/>
                  </a:rPr>
                  <a:t></a:t>
                </a:r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△t</a:t>
                </a:r>
                <a:r>
                  <a:rPr kumimoji="1" lang="en-US" altLang="zh-CN" sz="2400" b="1" i="1" baseline="-25000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kumimoji="1" lang="en-US" altLang="zh-CN" sz="2400" b="1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26" name="Text Box 8"/>
              <p:cNvSpPr txBox="1">
                <a:spLocks noChangeArrowheads="1"/>
              </p:cNvSpPr>
              <p:nvPr/>
            </p:nvSpPr>
            <p:spPr bwMode="auto">
              <a:xfrm>
                <a:off x="3300" y="2750"/>
                <a:ext cx="19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n</a:t>
                </a:r>
                <a:endParaRPr kumimoji="1" lang="en-US" altLang="zh-CN" sz="2400" b="1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27" name="Text Box 9"/>
              <p:cNvSpPr txBox="1">
                <a:spLocks noChangeArrowheads="1"/>
              </p:cNvSpPr>
              <p:nvPr/>
            </p:nvSpPr>
            <p:spPr bwMode="auto">
              <a:xfrm>
                <a:off x="1023" y="3936"/>
                <a:ext cx="189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(1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＋         </a:t>
                </a:r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△t</a:t>
                </a:r>
                <a:r>
                  <a:rPr kumimoji="1" lang="en-US" altLang="zh-CN" sz="2400" b="1" i="1" baseline="-25000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0 </a:t>
                </a:r>
                <a:r>
                  <a:rPr kumimoji="1" lang="en-US" altLang="zh-CN" sz="2400" b="1" baseline="-25000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kumimoji="1" lang="en-US" altLang="zh-CN" sz="2400" b="1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28" name="Text Box 14"/>
              <p:cNvSpPr txBox="1">
                <a:spLocks noChangeArrowheads="1"/>
              </p:cNvSpPr>
              <p:nvPr/>
            </p:nvSpPr>
            <p:spPr bwMode="auto">
              <a:xfrm>
                <a:off x="852" y="3779"/>
                <a:ext cx="4028" cy="4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＝ ──────── ＝ ─────</a:t>
                </a:r>
              </a:p>
            </p:txBody>
          </p:sp>
          <p:sp>
            <p:nvSpPr>
              <p:cNvPr id="34829" name="Text Box 10"/>
              <p:cNvSpPr txBox="1">
                <a:spLocks noChangeArrowheads="1"/>
              </p:cNvSpPr>
              <p:nvPr/>
            </p:nvSpPr>
            <p:spPr bwMode="auto">
              <a:xfrm>
                <a:off x="3443" y="3892"/>
                <a:ext cx="96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m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－</a:t>
                </a:r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34830" name="Text Box 11"/>
              <p:cNvSpPr txBox="1">
                <a:spLocks noChangeArrowheads="1"/>
              </p:cNvSpPr>
              <p:nvPr/>
            </p:nvSpPr>
            <p:spPr bwMode="auto">
              <a:xfrm>
                <a:off x="1877" y="3635"/>
                <a:ext cx="19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34831" name="Text Box 12"/>
              <p:cNvSpPr txBox="1">
                <a:spLocks noChangeArrowheads="1"/>
              </p:cNvSpPr>
              <p:nvPr/>
            </p:nvSpPr>
            <p:spPr bwMode="auto">
              <a:xfrm>
                <a:off x="3410" y="3635"/>
                <a:ext cx="72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 err="1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TP</a:t>
                </a:r>
                <a:r>
                  <a:rPr kumimoji="1" lang="en-US" altLang="zh-CN" sz="2400" b="1" i="1" baseline="-25000" dirty="0" err="1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max</a:t>
                </a:r>
                <a:endParaRPr kumimoji="1" lang="en-US" altLang="zh-CN" sz="2400" b="1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32" name="Text Box 13"/>
              <p:cNvSpPr txBox="1">
                <a:spLocks noChangeArrowheads="1"/>
              </p:cNvSpPr>
              <p:nvPr/>
            </p:nvSpPr>
            <p:spPr bwMode="auto">
              <a:xfrm>
                <a:off x="1584" y="4044"/>
                <a:ext cx="19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n</a:t>
                </a:r>
                <a:endParaRPr kumimoji="1" lang="en-US" altLang="zh-CN" sz="2400" b="1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33" name="Line 15"/>
              <p:cNvSpPr>
                <a:spLocks noChangeShapeType="1"/>
              </p:cNvSpPr>
              <p:nvPr/>
            </p:nvSpPr>
            <p:spPr bwMode="auto">
              <a:xfrm>
                <a:off x="3470" y="413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34834" name="Text Box 16"/>
              <p:cNvSpPr txBox="1">
                <a:spLocks noChangeArrowheads="1"/>
              </p:cNvSpPr>
              <p:nvPr/>
            </p:nvSpPr>
            <p:spPr bwMode="auto">
              <a:xfrm>
                <a:off x="3088" y="3970"/>
                <a:ext cx="52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1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＋</a:t>
                </a:r>
              </a:p>
            </p:txBody>
          </p:sp>
          <p:sp>
            <p:nvSpPr>
              <p:cNvPr id="34835" name="Text Box 17"/>
              <p:cNvSpPr txBox="1">
                <a:spLocks noChangeArrowheads="1"/>
              </p:cNvSpPr>
              <p:nvPr/>
            </p:nvSpPr>
            <p:spPr bwMode="auto">
              <a:xfrm>
                <a:off x="3570" y="4060"/>
                <a:ext cx="19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n</a:t>
                </a:r>
                <a:endParaRPr kumimoji="1" lang="en-US" altLang="zh-CN" sz="2400" b="1" dirty="0">
                  <a:solidFill>
                    <a:srgbClr val="0033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836" name="Text Box 19"/>
              <p:cNvSpPr txBox="1">
                <a:spLocks noChangeArrowheads="1"/>
              </p:cNvSpPr>
              <p:nvPr/>
            </p:nvSpPr>
            <p:spPr bwMode="auto">
              <a:xfrm>
                <a:off x="1470" y="3872"/>
                <a:ext cx="96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m</a:t>
                </a:r>
                <a:r>
                  <a:rPr kumimoji="1" lang="zh-CN" altLang="en-US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－</a:t>
                </a:r>
                <a:r>
                  <a:rPr kumimoji="1" lang="en-US" altLang="zh-CN" sz="2400" b="1" dirty="0">
                    <a:solidFill>
                      <a:srgbClr val="003366"/>
                    </a:solidFill>
                    <a:latin typeface="楷体_GB2312" pitchFamily="49" charset="-122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34837" name="Line 18"/>
              <p:cNvSpPr>
                <a:spLocks noChangeShapeType="1"/>
              </p:cNvSpPr>
              <p:nvPr/>
            </p:nvSpPr>
            <p:spPr bwMode="auto">
              <a:xfrm>
                <a:off x="1455" y="4123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21" name="Text Box 21"/>
            <p:cNvSpPr txBox="1">
              <a:spLocks noChangeArrowheads="1"/>
            </p:cNvSpPr>
            <p:nvPr/>
          </p:nvSpPr>
          <p:spPr bwMode="auto">
            <a:xfrm>
              <a:off x="748" y="2907"/>
              <a:ext cx="10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chemeClr val="accent2"/>
                  </a:solidFill>
                  <a:latin typeface="Arial" pitchFamily="34" charset="0"/>
                  <a:ea typeface="华文中宋" pitchFamily="2" charset="-122"/>
                </a:rPr>
                <a:t>实际吞吐率</a:t>
              </a: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3118B6-CFBA-B6A6-C2F0-B275997A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6BAD7D-C630-40B9-9AC8-79AB426BB264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29CC28-CA84-3B2E-42FE-ADCAA644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B9D74D-EA76-2112-A0A1-23DA4F67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76846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7586" name="Text Box 2"/>
              <p:cNvSpPr txBox="1">
                <a:spLocks noChangeArrowheads="1"/>
              </p:cNvSpPr>
              <p:nvPr/>
            </p:nvSpPr>
            <p:spPr bwMode="auto">
              <a:xfrm>
                <a:off x="611188" y="1268413"/>
                <a:ext cx="7777162" cy="24323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800100" indent="-3429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lvl="1" eaLnBrk="1" hangingPunct="1">
                  <a:spcBef>
                    <a:spcPct val="100000"/>
                  </a:spcBef>
                  <a:buSzPct val="60000"/>
                  <a:buFont typeface="Wingdings" pitchFamily="2" charset="2"/>
                  <a:buChar char="u"/>
                </a:pP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若各段时间不等（假设第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i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段为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∆</m:t>
                    </m:r>
                  </m:oMath>
                </a14:m>
                <a:r>
                  <a:rPr lang="zh-CN" altLang="zh-CN" sz="2400" b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i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），则完成时间</a:t>
                </a:r>
              </a:p>
              <a:p>
                <a:pPr lvl="1" eaLnBrk="1" hangingPunct="1">
                  <a:spcBef>
                    <a:spcPct val="100000"/>
                  </a:spcBef>
                </a:pP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	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  <a:hlinkClick r:id="rId3" action="ppaction://hlinksldjump"/>
                  </a:rPr>
                  <a:t>时空图</a:t>
                </a:r>
                <a:endParaRPr lang="zh-CN" altLang="en-US" sz="2400" b="1" dirty="0">
                  <a:latin typeface="华文中宋" pitchFamily="2" charset="-122"/>
                  <a:ea typeface="华文中宋" pitchFamily="2" charset="-122"/>
                </a:endParaRPr>
              </a:p>
              <a:p>
                <a:pPr lvl="1" algn="ctr" eaLnBrk="1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zh-CN" sz="2400" b="1" i="1" smtClean="0"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latin typeface="Cambria Math"/>
                            <a:ea typeface="华文中宋" pitchFamily="2" charset="-122"/>
                          </a:rPr>
                          <m:t>𝒊</m:t>
                        </m:r>
                        <m:r>
                          <a:rPr lang="pt-BR" altLang="zh-CN" sz="2400" b="1" i="1" smtClean="0">
                            <a:latin typeface="Cambria Math"/>
                            <a:ea typeface="华文中宋" pitchFamily="2" charset="-122"/>
                          </a:rPr>
                          <m:t>=</m:t>
                        </m:r>
                        <m:r>
                          <a:rPr lang="en-US" altLang="zh-CN" sz="2400" b="1" i="1" smtClean="0">
                            <a:latin typeface="Cambria Math"/>
                            <a:ea typeface="华文中宋" pitchFamily="2" charset="-122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/>
                            <a:ea typeface="华文中宋" pitchFamily="2" charset="-122"/>
                          </a:rPr>
                          <m:t>𝒎</m:t>
                        </m:r>
                      </m:sup>
                      <m:e>
                        <m:r>
                          <a:rPr lang="pt-BR" altLang="zh-CN" sz="2400" b="1" i="1" smtClean="0">
                            <a:latin typeface="Cambria Math"/>
                            <a:ea typeface="Cambria Math"/>
                          </a:rPr>
                          <m:t>∆</m:t>
                        </m:r>
                      </m:e>
                    </m:nary>
                  </m:oMath>
                </a14:m>
                <a:r>
                  <a:rPr lang="zh-CN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i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+(n-1)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  <a:ea typeface="Cambria Math"/>
                      </a:rPr>
                      <m:t>∆</m:t>
                    </m:r>
                  </m:oMath>
                </a14:m>
                <a:r>
                  <a:rPr lang="zh-CN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j</a:t>
                </a:r>
                <a:endParaRPr lang="en-US" altLang="zh-CN" sz="2400" b="1" i="1" baseline="-25000" dirty="0">
                  <a:latin typeface="华文中宋" pitchFamily="2" charset="-122"/>
                  <a:ea typeface="华文中宋" pitchFamily="2" charset="-122"/>
                </a:endParaRPr>
              </a:p>
              <a:p>
                <a:pPr lvl="1"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	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这里，</a:t>
                </a:r>
                <a:r>
                  <a:rPr lang="en-US" altLang="zh-CN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∆</m:t>
                    </m:r>
                  </m:oMath>
                </a14:m>
                <a:r>
                  <a:rPr lang="zh-CN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j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=max 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∆</m:t>
                    </m:r>
                  </m:oMath>
                </a14:m>
                <a:r>
                  <a:rPr lang="zh-CN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i</a:t>
                </a:r>
                <a:r>
                  <a:rPr lang="en-US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 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}</a:t>
                </a:r>
              </a:p>
            </p:txBody>
          </p:sp>
        </mc:Choice>
        <mc:Fallback>
          <p:sp>
            <p:nvSpPr>
              <p:cNvPr id="6758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1268413"/>
                <a:ext cx="7777162" cy="2432397"/>
              </a:xfrm>
              <a:prstGeom prst="rect">
                <a:avLst/>
              </a:prstGeom>
              <a:blipFill>
                <a:blip r:embed="rId4"/>
                <a:stretch>
                  <a:fillRect t="-2005" b="-60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331913" y="4292601"/>
            <a:ext cx="6481762" cy="1584326"/>
            <a:chOff x="884" y="3125"/>
            <a:chExt cx="4083" cy="998"/>
          </a:xfrm>
        </p:grpSpPr>
        <p:grpSp>
          <p:nvGrpSpPr>
            <p:cNvPr id="35845" name="Group 5"/>
            <p:cNvGrpSpPr>
              <a:grpSpLocks/>
            </p:cNvGrpSpPr>
            <p:nvPr/>
          </p:nvGrpSpPr>
          <p:grpSpPr bwMode="auto">
            <a:xfrm>
              <a:off x="2087" y="3125"/>
              <a:ext cx="2880" cy="998"/>
              <a:chOff x="3930" y="3327"/>
              <a:chExt cx="3465" cy="1201"/>
            </a:xfrm>
          </p:grpSpPr>
          <p:sp>
            <p:nvSpPr>
              <p:cNvPr id="35847" name="Text Box 6"/>
              <p:cNvSpPr txBox="1">
                <a:spLocks noChangeArrowheads="1"/>
              </p:cNvSpPr>
              <p:nvPr/>
            </p:nvSpPr>
            <p:spPr bwMode="auto">
              <a:xfrm>
                <a:off x="3930" y="3498"/>
                <a:ext cx="3465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TP </a:t>
                </a:r>
                <a:r>
                  <a:rPr kumimoji="1" lang="zh-CN" altLang="en-US" sz="2400" b="1" dirty="0">
                    <a:latin typeface="华文中宋" pitchFamily="2" charset="-122"/>
                    <a:ea typeface="华文中宋" pitchFamily="2" charset="-122"/>
                  </a:rPr>
                  <a:t>＝ ──────────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848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65" y="3842"/>
                    <a:ext cx="2535" cy="4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itchFamily="34" charset="0"/>
                        <a:ea typeface="宋体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en-US" altLang="zh-CN" sz="2400" b="1" dirty="0">
                        <a:latin typeface="华文中宋" pitchFamily="2" charset="-122"/>
                        <a:ea typeface="华文中宋" pitchFamily="2" charset="-122"/>
                      </a:rPr>
                      <a:t>∑ </a:t>
                    </a:r>
                    <a14:m>
                      <m:oMath xmlns:m="http://schemas.openxmlformats.org/officeDocument/2006/math">
                        <m:r>
                          <a:rPr lang="en-US" altLang="zh-CN" sz="2400" b="1" i="0" smtClean="0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∆</m:t>
                        </m:r>
                      </m:oMath>
                    </a14:m>
                    <a:r>
                      <a:rPr kumimoji="1" lang="en-US" altLang="zh-CN" sz="2400" b="1" i="1" dirty="0" err="1">
                        <a:latin typeface="华文中宋" pitchFamily="2" charset="-122"/>
                        <a:ea typeface="华文中宋" pitchFamily="2" charset="-122"/>
                      </a:rPr>
                      <a:t>t</a:t>
                    </a:r>
                    <a:r>
                      <a:rPr kumimoji="1" lang="en-US" altLang="zh-CN" sz="2400" b="1" i="1" baseline="-25000" dirty="0" err="1">
                        <a:latin typeface="华文中宋" pitchFamily="2" charset="-122"/>
                        <a:ea typeface="华文中宋" pitchFamily="2" charset="-122"/>
                      </a:rPr>
                      <a:t>i</a:t>
                    </a:r>
                    <a:r>
                      <a:rPr kumimoji="1" lang="zh-CN" altLang="en-US" sz="2400" b="1" dirty="0">
                        <a:latin typeface="华文中宋" pitchFamily="2" charset="-122"/>
                        <a:ea typeface="华文中宋" pitchFamily="2" charset="-122"/>
                      </a:rPr>
                      <a:t>＋</a:t>
                    </a:r>
                    <a:r>
                      <a:rPr kumimoji="1" lang="en-US" altLang="zh-CN" sz="2400" b="1" dirty="0">
                        <a:latin typeface="华文中宋" pitchFamily="2" charset="-122"/>
                        <a:ea typeface="华文中宋" pitchFamily="2" charset="-122"/>
                      </a:rPr>
                      <a:t>(</a:t>
                    </a:r>
                    <a:r>
                      <a:rPr kumimoji="1" lang="en-US" altLang="zh-CN" sz="2400" b="1" i="1" dirty="0">
                        <a:latin typeface="华文中宋" pitchFamily="2" charset="-122"/>
                        <a:ea typeface="华文中宋" pitchFamily="2" charset="-122"/>
                      </a:rPr>
                      <a:t>n</a:t>
                    </a:r>
                    <a:r>
                      <a:rPr kumimoji="1" lang="zh-CN" altLang="en-US" sz="2400" b="1" dirty="0">
                        <a:latin typeface="华文中宋" pitchFamily="2" charset="-122"/>
                        <a:ea typeface="华文中宋" pitchFamily="2" charset="-122"/>
                      </a:rPr>
                      <a:t>－</a:t>
                    </a:r>
                    <a:r>
                      <a:rPr kumimoji="1" lang="en-US" altLang="zh-CN" sz="2400" b="1" dirty="0">
                        <a:latin typeface="华文中宋" pitchFamily="2" charset="-122"/>
                        <a:ea typeface="华文中宋" pitchFamily="2" charset="-122"/>
                      </a:rPr>
                      <a:t>1)</a:t>
                    </a:r>
                    <a:r>
                      <a:rPr lang="en-US" altLang="zh-CN" sz="2400" dirty="0">
                        <a:ea typeface="Cambria Math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∆</m:t>
                        </m:r>
                      </m:oMath>
                    </a14:m>
                    <a:r>
                      <a:rPr kumimoji="1" lang="en-US" altLang="zh-CN" sz="2400" b="1" i="1" dirty="0" err="1">
                        <a:latin typeface="华文中宋" pitchFamily="2" charset="-122"/>
                        <a:ea typeface="华文中宋" pitchFamily="2" charset="-122"/>
                      </a:rPr>
                      <a:t>t</a:t>
                    </a:r>
                    <a:r>
                      <a:rPr kumimoji="1" lang="en-US" altLang="zh-CN" sz="2400" b="1" i="1" baseline="-25000" dirty="0" err="1">
                        <a:latin typeface="华文中宋" pitchFamily="2" charset="-122"/>
                        <a:ea typeface="华文中宋" pitchFamily="2" charset="-122"/>
                      </a:rPr>
                      <a:t>j</a:t>
                    </a:r>
                    <a:endParaRPr kumimoji="1" lang="en-US" altLang="zh-CN" sz="2400" b="1" dirty="0">
                      <a:latin typeface="华文中宋" pitchFamily="2" charset="-122"/>
                      <a:ea typeface="华文中宋" pitchFamily="2" charset="-122"/>
                    </a:endParaRPr>
                  </a:p>
                </p:txBody>
              </p:sp>
            </mc:Choice>
            <mc:Fallback>
              <p:sp>
                <p:nvSpPr>
                  <p:cNvPr id="35848" name="Text 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665" y="3842"/>
                    <a:ext cx="2535" cy="46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14" t="-8911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849" name="Text Box 8"/>
              <p:cNvSpPr txBox="1">
                <a:spLocks noChangeArrowheads="1"/>
              </p:cNvSpPr>
              <p:nvPr/>
            </p:nvSpPr>
            <p:spPr bwMode="auto">
              <a:xfrm>
                <a:off x="4705" y="3611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m</a:t>
                </a:r>
                <a:endParaRPr kumimoji="1" lang="en-US" altLang="zh-CN" sz="2400" b="1" dirty="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35850" name="Text Box 9"/>
              <p:cNvSpPr txBox="1">
                <a:spLocks noChangeArrowheads="1"/>
              </p:cNvSpPr>
              <p:nvPr/>
            </p:nvSpPr>
            <p:spPr bwMode="auto">
              <a:xfrm>
                <a:off x="4605" y="4060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dirty="0" err="1">
                    <a:latin typeface="华文中宋" pitchFamily="2" charset="-122"/>
                    <a:ea typeface="华文中宋" pitchFamily="2" charset="-122"/>
                  </a:rPr>
                  <a:t>i</a:t>
                </a:r>
                <a:r>
                  <a:rPr kumimoji="1" lang="en-US" altLang="zh-CN" sz="2400" b="1" dirty="0">
                    <a:latin typeface="华文中宋" pitchFamily="2" charset="-122"/>
                    <a:ea typeface="华文中宋" pitchFamily="2" charset="-122"/>
                  </a:rPr>
                  <a:t>=1</a:t>
                </a:r>
              </a:p>
            </p:txBody>
          </p:sp>
          <p:sp>
            <p:nvSpPr>
              <p:cNvPr id="35851" name="Text Box 10"/>
              <p:cNvSpPr txBox="1">
                <a:spLocks noChangeArrowheads="1"/>
              </p:cNvSpPr>
              <p:nvPr/>
            </p:nvSpPr>
            <p:spPr bwMode="auto">
              <a:xfrm>
                <a:off x="5610" y="3327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 i="1">
                    <a:latin typeface="华文中宋" pitchFamily="2" charset="-122"/>
                    <a:ea typeface="华文中宋" pitchFamily="2" charset="-122"/>
                  </a:rPr>
                  <a:t>n</a:t>
                </a:r>
              </a:p>
            </p:txBody>
          </p:sp>
        </p:grpSp>
        <p:sp>
          <p:nvSpPr>
            <p:cNvPr id="35846" name="Text Box 11"/>
            <p:cNvSpPr txBox="1">
              <a:spLocks noChangeArrowheads="1"/>
            </p:cNvSpPr>
            <p:nvPr/>
          </p:nvSpPr>
          <p:spPr bwMode="auto">
            <a:xfrm>
              <a:off x="884" y="3285"/>
              <a:ext cx="10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华文中宋" pitchFamily="2" charset="-122"/>
                  <a:ea typeface="华文中宋" pitchFamily="2" charset="-122"/>
                </a:rPr>
                <a:t>实际吞吐率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D0A9EF-A301-5473-4E69-13864955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DC642-6668-4C9C-9BEF-619F6C61D408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802DCF-C053-9773-997E-F18138B4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93FADB-76FB-C013-B1A6-417B1411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602342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8610" name="Text Box 2"/>
              <p:cNvSpPr txBox="1">
                <a:spLocks noChangeArrowheads="1"/>
              </p:cNvSpPr>
              <p:nvPr/>
            </p:nvSpPr>
            <p:spPr bwMode="auto">
              <a:xfrm>
                <a:off x="611188" y="1268413"/>
                <a:ext cx="7488237" cy="4744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1pPr>
                <a:lvl2pPr marL="800100" indent="-3429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100000"/>
                  </a:spcBef>
                </a:pP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2. 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加速比</a:t>
                </a:r>
              </a:p>
              <a:p>
                <a:pPr lvl="1" eaLnBrk="1" hangingPunct="1">
                  <a:spcBef>
                    <a:spcPct val="100000"/>
                  </a:spcBef>
                  <a:spcAft>
                    <a:spcPct val="50000"/>
                  </a:spcAft>
                  <a:buSzPct val="60000"/>
                  <a:buFont typeface="Wingdings" pitchFamily="2" charset="2"/>
                  <a:buChar char="u"/>
                </a:pP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加速比是指流水线速度与等功能的非流水线速度之比。</a:t>
                </a:r>
              </a:p>
              <a:p>
                <a:pPr lvl="1" eaLnBrk="1" hangingPunct="1">
                  <a:spcBef>
                    <a:spcPct val="30000"/>
                  </a:spcBef>
                  <a:spcAft>
                    <a:spcPct val="20000"/>
                  </a:spcAft>
                  <a:buSzPct val="60000"/>
                  <a:buFont typeface="Wingdings" pitchFamily="2" charset="2"/>
                  <a:buChar char="u"/>
                </a:pP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根据定义可知，加速比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S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 = 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en-US" sz="2400" b="1" i="1" baseline="-25000" dirty="0">
                    <a:latin typeface="Verdana" pitchFamily="34" charset="0"/>
                    <a:ea typeface="华文中宋" pitchFamily="2" charset="-122"/>
                  </a:rPr>
                  <a:t>非</a:t>
                </a:r>
                <a:r>
                  <a:rPr lang="zh-CN" altLang="en-US" sz="2400" b="1" i="1" baseline="-25000" dirty="0">
                    <a:latin typeface="华文中宋" pitchFamily="2" charset="-122"/>
                    <a:ea typeface="华文中宋" pitchFamily="2" charset="-122"/>
                  </a:rPr>
                  <a:t>流水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/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en-US" sz="2400" b="1" i="1" baseline="-25000" dirty="0">
                    <a:latin typeface="华文中宋" pitchFamily="2" charset="-122"/>
                    <a:ea typeface="华文中宋" pitchFamily="2" charset="-122"/>
                  </a:rPr>
                  <a:t>流水</a:t>
                </a:r>
              </a:p>
              <a:p>
                <a:pPr lvl="1" eaLnBrk="1" hangingPunct="1">
                  <a:spcBef>
                    <a:spcPct val="50000"/>
                  </a:spcBef>
                  <a:spcAft>
                    <a:spcPct val="50000"/>
                  </a:spcAft>
                  <a:buSzPct val="60000"/>
                  <a:buFont typeface="Wingdings" pitchFamily="2" charset="2"/>
                  <a:buChar char="u"/>
                </a:pP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若流水线为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m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段，每段时间均为</a:t>
                </a:r>
                <a:r>
                  <a:rPr lang="zh-CN" altLang="en-US" sz="2400" b="1" i="1" dirty="0">
                    <a:latin typeface="华文中宋" pitchFamily="2" charset="-122"/>
                    <a:ea typeface="华文中宋" pitchFamily="2" charset="-122"/>
                  </a:rPr>
                  <a:t>△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en-US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0</a:t>
                </a:r>
                <a:r>
                  <a:rPr lang="zh-CN" altLang="en-US" sz="2400" b="1" dirty="0">
                    <a:latin typeface="华文中宋" pitchFamily="2" charset="-122"/>
                    <a:ea typeface="华文中宋" pitchFamily="2" charset="-122"/>
                  </a:rPr>
                  <a:t>，则</a:t>
                </a:r>
              </a:p>
              <a:p>
                <a:pPr lvl="1" algn="ctr" eaLnBrk="1" hangingPunct="1">
                  <a:spcAft>
                    <a:spcPct val="50000"/>
                  </a:spcAft>
                </a:pP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  <a:hlinkClick r:id="rId3" action="ppaction://hlinksldjump"/>
                  </a:rPr>
                  <a:t>T</a:t>
                </a:r>
                <a:r>
                  <a:rPr lang="zh-CN" altLang="en-US" sz="2400" b="1" i="1" baseline="-25000" dirty="0">
                    <a:latin typeface="华文中宋" pitchFamily="2" charset="-122"/>
                    <a:ea typeface="华文中宋" pitchFamily="2" charset="-122"/>
                    <a:hlinkClick r:id="rId3" action="ppaction://hlinksldjump"/>
                  </a:rPr>
                  <a:t>非流水</a:t>
                </a:r>
                <a:r>
                  <a:rPr lang="zh-CN" altLang="en-US" sz="2400" b="1" i="1" dirty="0">
                    <a:latin typeface="华文中宋" pitchFamily="2" charset="-122"/>
                    <a:ea typeface="华文中宋" pitchFamily="2" charset="-122"/>
                    <a:hlinkClick r:id="rId3" action="ppaction://hlinksldjump"/>
                  </a:rPr>
                  <a:t> 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= nm△t</a:t>
                </a:r>
                <a:r>
                  <a:rPr lang="en-US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0</a:t>
                </a:r>
                <a:r>
                  <a:rPr lang="zh-CN" altLang="en-US" sz="2400" b="1" i="1" baseline="-25000" dirty="0">
                    <a:latin typeface="华文中宋" pitchFamily="2" charset="-122"/>
                    <a:ea typeface="华文中宋" pitchFamily="2" charset="-122"/>
                  </a:rPr>
                  <a:t>，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T</a:t>
                </a:r>
                <a:r>
                  <a:rPr lang="zh-CN" altLang="en-US" sz="2400" b="1" i="1" baseline="-25000" dirty="0">
                    <a:latin typeface="华文中宋" pitchFamily="2" charset="-122"/>
                    <a:ea typeface="华文中宋" pitchFamily="2" charset="-122"/>
                  </a:rPr>
                  <a:t>流水</a:t>
                </a:r>
                <a:r>
                  <a:rPr lang="zh-CN" altLang="en-US" sz="2400" b="1" i="1" dirty="0">
                    <a:latin typeface="华文中宋" pitchFamily="2" charset="-122"/>
                    <a:ea typeface="华文中宋" pitchFamily="2" charset="-122"/>
                  </a:rPr>
                  <a:t> 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= m△t</a:t>
                </a:r>
                <a:r>
                  <a:rPr lang="en-US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0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 </a:t>
                </a:r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</a:rPr>
                  <a:t>+ (n-1)</a:t>
                </a: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△t</a:t>
                </a:r>
                <a:r>
                  <a:rPr lang="en-US" altLang="zh-CN" sz="2400" b="1" i="1" baseline="-25000" dirty="0">
                    <a:latin typeface="华文中宋" pitchFamily="2" charset="-122"/>
                    <a:ea typeface="华文中宋" pitchFamily="2" charset="-122"/>
                  </a:rPr>
                  <a:t>0 </a:t>
                </a:r>
              </a:p>
              <a:p>
                <a:pPr lvl="1" eaLnBrk="1" hangingPunct="1">
                  <a:spcAft>
                    <a:spcPct val="50000"/>
                  </a:spcAft>
                </a:pPr>
                <a:endParaRPr lang="en-US" altLang="zh-CN" sz="1200" b="1" i="1" dirty="0">
                  <a:latin typeface="华文中宋" pitchFamily="2" charset="-122"/>
                  <a:ea typeface="华文中宋" pitchFamily="2" charset="-122"/>
                </a:endParaRPr>
              </a:p>
              <a:p>
                <a:pPr lvl="1" eaLnBrk="1" hangingPunct="1">
                  <a:spcAft>
                    <a:spcPct val="50000"/>
                  </a:spcAft>
                </a:pPr>
                <a:r>
                  <a:rPr lang="en-US" altLang="zh-CN" sz="2400" b="1" i="1" dirty="0">
                    <a:latin typeface="华文中宋" pitchFamily="2" charset="-122"/>
                    <a:ea typeface="华文中宋" pitchFamily="2" charset="-122"/>
                  </a:rPr>
                  <a:t>			 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/>
                        <a:ea typeface="华文中宋" pitchFamily="2" charset="-122"/>
                      </a:rPr>
                      <m:t>𝑺</m:t>
                    </m:r>
                    <m:r>
                      <a:rPr lang="en-US" altLang="zh-CN" sz="2400" b="1" i="1" dirty="0" smtClean="0">
                        <a:latin typeface="Cambria Math"/>
                        <a:ea typeface="华文中宋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/>
                            <a:ea typeface="华文中宋" pitchFamily="2" charset="-122"/>
                          </a:rPr>
                          <m:t>mn</m:t>
                        </m:r>
                      </m:num>
                      <m:den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𝒎</m:t>
                        </m:r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+</m:t>
                        </m:r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𝒏</m:t>
                        </m:r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−</m:t>
                        </m:r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𝟏</m:t>
                        </m:r>
                      </m:den>
                    </m:f>
                    <m:r>
                      <a:rPr lang="en-US" altLang="zh-CN" sz="3200" b="1" i="1" smtClean="0">
                        <a:latin typeface="Cambria Math"/>
                        <a:ea typeface="华文中宋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  <a:ea typeface="华文中宋" pitchFamily="2" charset="-122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𝒎</m:t>
                        </m:r>
                      </m:num>
                      <m:den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𝟏</m:t>
                        </m:r>
                        <m:r>
                          <a:rPr lang="en-US" altLang="zh-CN" sz="3200" b="1" i="1" smtClean="0">
                            <a:latin typeface="Cambria Math"/>
                            <a:ea typeface="华文中宋" pitchFamily="2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  <a:ea typeface="华文中宋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smtClean="0">
                                <a:latin typeface="Cambria Math"/>
                                <a:ea typeface="华文中宋" pitchFamily="2" charset="-122"/>
                              </a:rPr>
                              <m:t>𝒎</m:t>
                            </m:r>
                            <m:r>
                              <a:rPr lang="en-US" altLang="zh-CN" sz="3200" b="1" i="1" smtClean="0">
                                <a:latin typeface="Cambria Math"/>
                                <a:ea typeface="华文中宋" pitchFamily="2" charset="-122"/>
                              </a:rPr>
                              <m:t>−</m:t>
                            </m:r>
                            <m:r>
                              <a:rPr lang="en-US" altLang="zh-CN" sz="3200" b="1" i="1" smtClean="0">
                                <a:latin typeface="Cambria Math"/>
                                <a:ea typeface="华文中宋" pitchFamily="2" charset="-122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3200" b="1" i="1" smtClean="0">
                                <a:latin typeface="Cambria Math"/>
                                <a:ea typeface="华文中宋" pitchFamily="2" charset="-122"/>
                              </a:rPr>
                              <m:t>𝒏</m:t>
                            </m:r>
                          </m:den>
                        </m:f>
                      </m:den>
                    </m:f>
                  </m:oMath>
                </a14:m>
                <a:endParaRPr lang="en-US" altLang="zh-CN" sz="3200" b="1" i="1" dirty="0">
                  <a:latin typeface="Times New Roman" panose="02020603050405020304" pitchFamily="18" charset="0"/>
                  <a:ea typeface="华文中宋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610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1268413"/>
                <a:ext cx="7488237" cy="4744697"/>
              </a:xfrm>
              <a:prstGeom prst="rect">
                <a:avLst/>
              </a:prstGeom>
              <a:blipFill rotWithShape="1">
                <a:blip r:embed="rId4"/>
                <a:stretch>
                  <a:fillRect l="-1221" t="-1028" r="-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F08486-23CE-D0B3-2556-EDEC4761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46F7A0-6077-4FF6-9E5F-42147BC22686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84FE11-6226-C213-3230-D40A8F1A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E75793-B692-CCD1-D317-8EDC9921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08414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612775" y="1196975"/>
            <a:ext cx="7488238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3.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效率</a:t>
            </a:r>
          </a:p>
          <a:p>
            <a:pPr lvl="1" eaLnBrk="1" hangingPunct="1">
              <a:lnSpc>
                <a:spcPct val="140000"/>
              </a:lnSpc>
              <a:spcBef>
                <a:spcPct val="25000"/>
              </a:spcBef>
              <a:spcAft>
                <a:spcPct val="25000"/>
              </a:spcAft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效率指流水线的设备利用率。</a:t>
            </a:r>
          </a:p>
          <a:p>
            <a:pPr lvl="1" eaLnBrk="1" hangingPunct="1">
              <a:spcBef>
                <a:spcPct val="25000"/>
              </a:spcBef>
              <a:spcAft>
                <a:spcPct val="25000"/>
              </a:spcAft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由于流水线有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通过时间和排空时间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，所以流水线的各段并非一直满负荷工作，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E&lt;1</a:t>
            </a:r>
          </a:p>
          <a:p>
            <a:pPr lvl="1" eaLnBrk="1" hangingPunct="1">
              <a:spcBef>
                <a:spcPct val="25000"/>
              </a:spcBef>
              <a:spcAft>
                <a:spcPct val="25000"/>
              </a:spcAft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若各段时间相等，则各段效率也相等，即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e1 = e2 = e3 =… = n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/T</a:t>
            </a:r>
            <a:r>
              <a:rPr lang="zh-CN" altLang="en-US" sz="2400" b="1" baseline="-25000" dirty="0">
                <a:latin typeface="华文中宋" pitchFamily="2" charset="-122"/>
                <a:ea typeface="华文中宋" pitchFamily="2" charset="-122"/>
              </a:rPr>
              <a:t>流水 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4" action="ppaction://hlinksldjump"/>
              </a:rPr>
              <a:t>解释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)</a:t>
            </a:r>
          </a:p>
          <a:p>
            <a:pPr lvl="1" eaLnBrk="1" hangingPunct="1">
              <a:spcBef>
                <a:spcPct val="25000"/>
              </a:spcBef>
              <a:spcAft>
                <a:spcPct val="25000"/>
              </a:spcAft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整个流水线效率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1404938" y="4673600"/>
            <a:ext cx="6438900" cy="1204913"/>
            <a:chOff x="885" y="2944"/>
            <a:chExt cx="4056" cy="759"/>
          </a:xfrm>
        </p:grpSpPr>
        <p:sp>
          <p:nvSpPr>
            <p:cNvPr id="37893" name="Text Box 14"/>
            <p:cNvSpPr txBox="1">
              <a:spLocks noChangeArrowheads="1"/>
            </p:cNvSpPr>
            <p:nvPr/>
          </p:nvSpPr>
          <p:spPr bwMode="auto">
            <a:xfrm>
              <a:off x="885" y="3071"/>
              <a:ext cx="405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 dirty="0">
                  <a:latin typeface="华文中宋" pitchFamily="2" charset="-122"/>
                  <a:ea typeface="华文中宋" pitchFamily="2" charset="-122"/>
                </a:rPr>
                <a:t>E</a:t>
              </a:r>
              <a:r>
                <a:rPr kumimoji="1" lang="en-US" altLang="zh-CN" sz="2400" b="1" dirty="0"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kumimoji="1" lang="zh-CN" altLang="en-US" sz="2400" b="1" dirty="0">
                  <a:latin typeface="华文中宋" pitchFamily="2" charset="-122"/>
                  <a:ea typeface="华文中宋" pitchFamily="2" charset="-122"/>
                </a:rPr>
                <a:t>＝ ─── ＝ ────── ＝ ─────</a:t>
              </a:r>
            </a:p>
          </p:txBody>
        </p:sp>
        <p:sp>
          <p:nvSpPr>
            <p:cNvPr id="37894" name="Text Box 15"/>
            <p:cNvSpPr txBox="1">
              <a:spLocks noChangeArrowheads="1"/>
            </p:cNvSpPr>
            <p:nvPr/>
          </p:nvSpPr>
          <p:spPr bwMode="auto">
            <a:xfrm>
              <a:off x="1412" y="2944"/>
              <a:ext cx="811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n△t</a:t>
              </a:r>
              <a:r>
                <a:rPr kumimoji="1" lang="en-US" altLang="zh-CN" sz="2400" b="1" i="1" baseline="-25000">
                  <a:latin typeface="华文中宋" pitchFamily="2" charset="-122"/>
                  <a:ea typeface="华文中宋" pitchFamily="2" charset="-122"/>
                </a:rPr>
                <a:t>0</a:t>
              </a:r>
              <a:endParaRPr kumimoji="1" lang="en-US" altLang="zh-CN" sz="2400" b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37895" name="Text Box 16"/>
            <p:cNvSpPr txBox="1">
              <a:spLocks noChangeArrowheads="1"/>
            </p:cNvSpPr>
            <p:nvPr/>
          </p:nvSpPr>
          <p:spPr bwMode="auto">
            <a:xfrm>
              <a:off x="1439" y="3162"/>
              <a:ext cx="812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T</a:t>
              </a:r>
              <a:r>
                <a:rPr kumimoji="1" lang="zh-CN" altLang="en-US" sz="2400" b="1" i="1" baseline="-25000">
                  <a:latin typeface="华文中宋" pitchFamily="2" charset="-122"/>
                  <a:ea typeface="华文中宋" pitchFamily="2" charset="-122"/>
                </a:rPr>
                <a:t>流水</a:t>
              </a:r>
              <a:endParaRPr kumimoji="1" lang="zh-CN" altLang="en-US" sz="2400" b="1" i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37896" name="Text Box 17"/>
            <p:cNvSpPr txBox="1">
              <a:spLocks noChangeArrowheads="1"/>
            </p:cNvSpPr>
            <p:nvPr/>
          </p:nvSpPr>
          <p:spPr bwMode="auto">
            <a:xfrm>
              <a:off x="2643" y="2968"/>
              <a:ext cx="48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n</a:t>
              </a:r>
              <a:endParaRPr kumimoji="1" lang="en-US" altLang="zh-CN" sz="2400" b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37897" name="Text Box 18"/>
            <p:cNvSpPr txBox="1">
              <a:spLocks noChangeArrowheads="1"/>
            </p:cNvSpPr>
            <p:nvPr/>
          </p:nvSpPr>
          <p:spPr bwMode="auto">
            <a:xfrm>
              <a:off x="2392" y="3174"/>
              <a:ext cx="114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m</a:t>
              </a:r>
              <a:r>
                <a:rPr kumimoji="1" lang="zh-CN" altLang="en-US" sz="2400" b="1">
                  <a:latin typeface="华文中宋" pitchFamily="2" charset="-122"/>
                  <a:ea typeface="华文中宋" pitchFamily="2" charset="-122"/>
                </a:rPr>
                <a:t>＋</a:t>
              </a:r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n</a:t>
              </a:r>
              <a:r>
                <a:rPr kumimoji="1" lang="zh-CN" altLang="en-US" sz="2400" b="1">
                  <a:latin typeface="华文中宋" pitchFamily="2" charset="-122"/>
                  <a:ea typeface="华文中宋" pitchFamily="2" charset="-122"/>
                </a:rPr>
                <a:t>－</a:t>
              </a:r>
              <a:r>
                <a:rPr kumimoji="1" lang="en-US" altLang="zh-CN" sz="2400" b="1">
                  <a:latin typeface="华文中宋" pitchFamily="2" charset="-122"/>
                  <a:ea typeface="华文中宋" pitchFamily="2" charset="-122"/>
                </a:rPr>
                <a:t>1</a:t>
              </a:r>
            </a:p>
          </p:txBody>
        </p:sp>
        <p:sp>
          <p:nvSpPr>
            <p:cNvPr id="37898" name="Text Box 19"/>
            <p:cNvSpPr txBox="1">
              <a:spLocks noChangeArrowheads="1"/>
            </p:cNvSpPr>
            <p:nvPr/>
          </p:nvSpPr>
          <p:spPr bwMode="auto">
            <a:xfrm>
              <a:off x="4112" y="2968"/>
              <a:ext cx="44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>
                  <a:latin typeface="华文中宋" pitchFamily="2" charset="-122"/>
                  <a:ea typeface="华文中宋" pitchFamily="2" charset="-122"/>
                </a:rPr>
                <a:t>1</a:t>
              </a:r>
            </a:p>
          </p:txBody>
        </p:sp>
        <p:sp>
          <p:nvSpPr>
            <p:cNvPr id="37899" name="Text Box 20"/>
            <p:cNvSpPr txBox="1">
              <a:spLocks noChangeArrowheads="1"/>
            </p:cNvSpPr>
            <p:nvPr/>
          </p:nvSpPr>
          <p:spPr bwMode="auto">
            <a:xfrm>
              <a:off x="4216" y="3321"/>
              <a:ext cx="44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n</a:t>
              </a:r>
              <a:endParaRPr kumimoji="1" lang="en-US" altLang="zh-CN" sz="2400" b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37900" name="Text Box 21"/>
            <p:cNvSpPr txBox="1">
              <a:spLocks noChangeArrowheads="1"/>
            </p:cNvSpPr>
            <p:nvPr/>
          </p:nvSpPr>
          <p:spPr bwMode="auto">
            <a:xfrm>
              <a:off x="3716" y="3252"/>
              <a:ext cx="649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>
                  <a:latin typeface="华文中宋" pitchFamily="2" charset="-122"/>
                  <a:ea typeface="华文中宋" pitchFamily="2" charset="-122"/>
                </a:rPr>
                <a:t>1</a:t>
              </a:r>
              <a:r>
                <a:rPr kumimoji="1" lang="zh-CN" altLang="en-US" sz="2400" b="1">
                  <a:latin typeface="华文中宋" pitchFamily="2" charset="-122"/>
                  <a:ea typeface="华文中宋" pitchFamily="2" charset="-122"/>
                </a:rPr>
                <a:t>＋</a:t>
              </a:r>
              <a:r>
                <a:rPr kumimoji="1" lang="zh-CN" altLang="en-US" sz="2400" b="1" i="1" baseline="-25000"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kumimoji="1" lang="zh-CN" altLang="en-US" sz="2400" b="1" baseline="-25000">
                  <a:latin typeface="华文中宋" pitchFamily="2" charset="-122"/>
                  <a:ea typeface="华文中宋" pitchFamily="2" charset="-122"/>
                </a:rPr>
                <a:t> </a:t>
              </a:r>
              <a:endParaRPr kumimoji="1" lang="zh-CN" altLang="en-US" sz="2400" b="1"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37901" name="Text Box 22"/>
            <p:cNvSpPr txBox="1">
              <a:spLocks noChangeArrowheads="1"/>
            </p:cNvSpPr>
            <p:nvPr/>
          </p:nvSpPr>
          <p:spPr bwMode="auto">
            <a:xfrm>
              <a:off x="4055" y="3177"/>
              <a:ext cx="86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2400" b="1" i="1">
                  <a:latin typeface="华文中宋" pitchFamily="2" charset="-122"/>
                  <a:ea typeface="华文中宋" pitchFamily="2" charset="-122"/>
                </a:rPr>
                <a:t>m</a:t>
              </a:r>
              <a:r>
                <a:rPr kumimoji="1" lang="zh-CN" altLang="en-US" sz="2400" b="1">
                  <a:latin typeface="华文中宋" pitchFamily="2" charset="-122"/>
                  <a:ea typeface="华文中宋" pitchFamily="2" charset="-122"/>
                </a:rPr>
                <a:t>－</a:t>
              </a:r>
              <a:r>
                <a:rPr kumimoji="1" lang="en-US" altLang="zh-CN" sz="2400" b="1">
                  <a:latin typeface="华文中宋" pitchFamily="2" charset="-122"/>
                  <a:ea typeface="华文中宋" pitchFamily="2" charset="-122"/>
                </a:rPr>
                <a:t>1</a:t>
              </a:r>
            </a:p>
          </p:txBody>
        </p:sp>
        <p:sp>
          <p:nvSpPr>
            <p:cNvPr id="37902" name="Line 23"/>
            <p:cNvSpPr>
              <a:spLocks noChangeShapeType="1"/>
            </p:cNvSpPr>
            <p:nvPr/>
          </p:nvSpPr>
          <p:spPr bwMode="auto">
            <a:xfrm>
              <a:off x="4078" y="3422"/>
              <a:ext cx="5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05" name="Text Box 25"/>
          <p:cNvSpPr txBox="1">
            <a:spLocks noChangeArrowheads="1"/>
          </p:cNvSpPr>
          <p:nvPr/>
        </p:nvSpPr>
        <p:spPr bwMode="auto">
          <a:xfrm>
            <a:off x="1331913" y="5527675"/>
            <a:ext cx="4608512" cy="52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当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n&gt;&gt;m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时，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E≈1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22A470-1DED-8B13-3293-2CDB3708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C26CEC-2518-4170-A020-12A48ED70DC8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9B486-E373-D1BA-11C0-DF6C7D5A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63FCC2-5A8A-48A4-2B29-E2C0FB9D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991428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611188" y="1201738"/>
            <a:ext cx="7488237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  <a:buSzPct val="60000"/>
              <a:buFont typeface="Wingdings" pitchFamily="2" charset="2"/>
              <a:buNone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3.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效率</a:t>
            </a:r>
          </a:p>
          <a:p>
            <a:pPr lvl="1" eaLnBrk="1" hangingPunct="1">
              <a:lnSpc>
                <a:spcPct val="140000"/>
              </a:lnSpc>
              <a:spcBef>
                <a:spcPct val="10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从时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-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空图上看，效率就是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个任务所占的时空区与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m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个段总的时空区之比</a:t>
            </a:r>
          </a:p>
          <a:p>
            <a:pPr lvl="1" eaLnBrk="1" hangingPunct="1">
              <a:lnSpc>
                <a:spcPct val="140000"/>
              </a:lnSpc>
              <a:spcBef>
                <a:spcPct val="10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根据这个定义，可以计算流水线各段时间不等时的流水线效率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2408238" y="4657725"/>
            <a:ext cx="4322762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buSzPct val="60000"/>
              <a:buFont typeface="Wingdings" pitchFamily="2" charset="2"/>
              <a:buNone/>
            </a:pP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　 　</a:t>
            </a:r>
            <a:r>
              <a:rPr kumimoji="1" lang="en-US" altLang="zh-CN" sz="2400" b="1" i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n </a:t>
            </a: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个任务占用的时空区</a:t>
            </a:r>
            <a:b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</a:br>
            <a:r>
              <a:rPr kumimoji="1" lang="en-US" altLang="zh-CN" sz="2400" b="1" i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E </a:t>
            </a: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＝━━━━━━━━━━━</a:t>
            </a:r>
            <a:b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</a:b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         </a:t>
            </a:r>
            <a:r>
              <a:rPr kumimoji="1" lang="en-US" altLang="zh-CN" sz="2400" b="1" i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m </a:t>
            </a: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个段总的时空区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C14373-656F-6596-95AD-7B247E13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5B190E-5EBD-451A-B864-9800A5A4F6EB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9E552B-CAB1-B7F5-620E-745F993B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F72C4D-124B-2D11-06DF-AA3B33A4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468747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611188" y="1268413"/>
            <a:ext cx="7488237" cy="374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4.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吞吐率、加速比和效率的关系</a:t>
            </a:r>
          </a:p>
          <a:p>
            <a:pPr lvl="1" eaLnBrk="1" hangingPunct="1">
              <a:lnSpc>
                <a:spcPct val="140000"/>
              </a:lnSpc>
              <a:spcBef>
                <a:spcPct val="100000"/>
              </a:spcBef>
              <a:buSzPct val="60000"/>
              <a:buFont typeface="Wingdings" pitchFamily="2" charset="2"/>
              <a:buChar char="u"/>
            </a:pP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E = n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/T</a:t>
            </a:r>
            <a:r>
              <a:rPr lang="zh-CN" altLang="en-US" sz="2400" b="1" i="1" baseline="-25000" dirty="0">
                <a:latin typeface="华文中宋" pitchFamily="2" charset="-122"/>
                <a:ea typeface="华文中宋" pitchFamily="2" charset="-122"/>
              </a:rPr>
              <a:t>流水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=mn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/(T</a:t>
            </a:r>
            <a:r>
              <a:rPr lang="zh-CN" altLang="en-US" sz="2400" b="1" i="1" baseline="-25000" dirty="0">
                <a:latin typeface="华文中宋" pitchFamily="2" charset="-122"/>
                <a:ea typeface="华文中宋" pitchFamily="2" charset="-122"/>
              </a:rPr>
              <a:t>流水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m)= S/m</a:t>
            </a:r>
          </a:p>
          <a:p>
            <a:pPr lvl="1" eaLnBrk="1" hangingPunct="1">
              <a:lnSpc>
                <a:spcPct val="140000"/>
              </a:lnSpc>
              <a:spcBef>
                <a:spcPct val="25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效率是实际加速比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与最大加速比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m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之比。</a:t>
            </a:r>
          </a:p>
          <a:p>
            <a:pPr lvl="1" eaLnBrk="1" hangingPunct="1">
              <a:lnSpc>
                <a:spcPct val="140000"/>
              </a:lnSpc>
              <a:spcBef>
                <a:spcPct val="100000"/>
              </a:spcBef>
              <a:buSzPct val="60000"/>
              <a:buFont typeface="Wingdings" pitchFamily="2" charset="2"/>
              <a:buChar char="u"/>
            </a:pP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E = n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/T</a:t>
            </a:r>
            <a:r>
              <a:rPr lang="zh-CN" altLang="en-US" sz="2400" b="1" i="1" baseline="-25000" dirty="0">
                <a:latin typeface="华文中宋" pitchFamily="2" charset="-122"/>
                <a:ea typeface="华文中宋" pitchFamily="2" charset="-122"/>
              </a:rPr>
              <a:t>流水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= (n/T</a:t>
            </a:r>
            <a:r>
              <a:rPr lang="zh-CN" altLang="en-US" sz="2400" b="1" i="1" baseline="-25000" dirty="0">
                <a:latin typeface="华文中宋" pitchFamily="2" charset="-122"/>
                <a:ea typeface="华文中宋" pitchFamily="2" charset="-122"/>
              </a:rPr>
              <a:t>流水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) ·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=TP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</a:p>
          <a:p>
            <a:pPr lvl="1" eaLnBrk="1" hangingPunct="1">
              <a:spcBef>
                <a:spcPct val="45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当</a:t>
            </a:r>
            <a:r>
              <a:rPr lang="en-US" altLang="en-US" sz="2400" b="1" i="1" dirty="0">
                <a:latin typeface="华文中宋" pitchFamily="2" charset="-122"/>
                <a:ea typeface="华文中宋" pitchFamily="2" charset="-122"/>
              </a:rPr>
              <a:t>△</a:t>
            </a:r>
            <a:r>
              <a:rPr lang="en-US" altLang="zh-CN" sz="2400" b="1" i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en-US" altLang="zh-CN" sz="2400" b="1" i="1" baseline="-25000" dirty="0">
                <a:latin typeface="华文中宋" pitchFamily="2" charset="-122"/>
                <a:ea typeface="华文中宋" pitchFamily="2" charset="-122"/>
              </a:rPr>
              <a:t>0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不变时，流水线的效率与吞吐率呈正比。为提高效率而采取的措施，也有助于提高吞吐率。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3F4711-94EC-7F43-ED5C-17751922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05F786-AD0B-4D01-870E-2F40B5A8D184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B0B65C-44FD-B2E7-7BC7-0CD692E8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96654-6709-BAEC-B61E-8E4A70DB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006436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539750" y="1196975"/>
            <a:ext cx="784860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    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在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静态流水线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上计算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∑</a:t>
            </a:r>
            <a:r>
              <a:rPr kumimoji="1" lang="en-US" altLang="zh-CN" sz="2400" b="1" dirty="0" err="1">
                <a:latin typeface="华文中宋" pitchFamily="2" charset="-122"/>
                <a:ea typeface="华文中宋" pitchFamily="2" charset="-122"/>
              </a:rPr>
              <a:t>A</a:t>
            </a:r>
            <a:r>
              <a:rPr kumimoji="1" lang="en-US" altLang="zh-CN" sz="2400" b="1" baseline="-25000" dirty="0" err="1">
                <a:latin typeface="华文中宋" pitchFamily="2" charset="-122"/>
                <a:ea typeface="华文中宋" pitchFamily="2" charset="-122"/>
              </a:rPr>
              <a:t>i</a:t>
            </a:r>
            <a:r>
              <a:rPr kumimoji="1" lang="en-US" altLang="zh-CN" sz="2400" b="1" dirty="0" err="1">
                <a:latin typeface="华文中宋" pitchFamily="2" charset="-122"/>
                <a:ea typeface="华文中宋" pitchFamily="2" charset="-122"/>
              </a:rPr>
              <a:t>B</a:t>
            </a:r>
            <a:r>
              <a:rPr kumimoji="1" lang="en-US" altLang="zh-CN" sz="2400" b="1" baseline="-25000" dirty="0" err="1">
                <a:latin typeface="华文中宋" pitchFamily="2" charset="-122"/>
                <a:ea typeface="华文中宋" pitchFamily="2" charset="-122"/>
              </a:rPr>
              <a:t>i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，问吞吐率、加速</a:t>
            </a:r>
          </a:p>
          <a:p>
            <a:pPr eaLnBrk="1" hangingPunct="1"/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          比、效率各是多少？</a:t>
            </a:r>
          </a:p>
          <a:p>
            <a:pPr eaLnBrk="1" hangingPunct="1">
              <a:spcBef>
                <a:spcPct val="100000"/>
              </a:spcBef>
              <a:spcAft>
                <a:spcPct val="25000"/>
              </a:spcAft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解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：	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(1)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确定适合流水处理的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  <a:hlinkClick r:id="rId4" action="ppaction://hlinksldjump"/>
              </a:rPr>
              <a:t>计算过程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  <a:sym typeface="Wingdings" pitchFamily="2" charset="2"/>
            </a:endParaRPr>
          </a:p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	  	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(2)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画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  <a:hlinkClick r:id="rId5" action="ppaction://hlinksldjump"/>
              </a:rPr>
              <a:t>时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  <a:hlinkClick r:id="rId5" action="ppaction://hlinksldjump"/>
              </a:rPr>
              <a:t>-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  <a:hlinkClick r:id="rId5" action="ppaction://hlinksldjump"/>
              </a:rPr>
              <a:t>空图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  <a:sym typeface="Wingdings" pitchFamily="2" charset="2"/>
            </a:endParaRPr>
          </a:p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	  	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(3)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  <a:hlinkClick r:id="rId6" action="ppaction://hlinksldjump"/>
              </a:rPr>
              <a:t>性能计算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  <a:sym typeface="Wingdings" pitchFamily="2" charset="2"/>
            </a:endParaRP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			吞吐率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TP =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7/20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·△t</a:t>
            </a:r>
            <a:r>
              <a:rPr kumimoji="1" lang="en-US" altLang="zh-CN" sz="2400" b="1" baseline="-25000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0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			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加速比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S = (34·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△t</a:t>
            </a:r>
            <a:r>
              <a:rPr kumimoji="1" lang="en-US" altLang="zh-CN" sz="2400" b="1" baseline="-25000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0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)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/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(20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·△t</a:t>
            </a:r>
            <a:r>
              <a:rPr kumimoji="1" lang="en-US" altLang="zh-CN" sz="2400" b="1" baseline="-25000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0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)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=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sym typeface="Wingdings" pitchFamily="2" charset="2"/>
              </a:rPr>
              <a:t>1.7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			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效率</a:t>
            </a:r>
            <a:r>
              <a:rPr kumimoji="1" lang="en-US" altLang="zh-CN" sz="2400" b="1" i="1" dirty="0">
                <a:latin typeface="华文中宋" pitchFamily="2" charset="-122"/>
                <a:ea typeface="华文中宋" pitchFamily="2" charset="-122"/>
              </a:rPr>
              <a:t>E</a:t>
            </a:r>
            <a:r>
              <a:rPr kumimoji="1" lang="zh-CN" altLang="en-US" sz="2400" b="1" i="1" dirty="0">
                <a:latin typeface="华文中宋" pitchFamily="2" charset="-122"/>
                <a:ea typeface="华文中宋" pitchFamily="2" charset="-122"/>
              </a:rPr>
              <a:t>＝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(4×4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＋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3×6)/(8×20)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＝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0.21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230688" y="1052513"/>
            <a:ext cx="701675" cy="979487"/>
            <a:chOff x="2665" y="663"/>
            <a:chExt cx="442" cy="617"/>
          </a:xfrm>
        </p:grpSpPr>
        <p:sp>
          <p:nvSpPr>
            <p:cNvPr id="40965" name="Text Box 3"/>
            <p:cNvSpPr txBox="1">
              <a:spLocks noChangeArrowheads="1"/>
            </p:cNvSpPr>
            <p:nvPr/>
          </p:nvSpPr>
          <p:spPr bwMode="auto">
            <a:xfrm>
              <a:off x="2665" y="1030"/>
              <a:ext cx="4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chemeClr val="folHlink"/>
                  </a:solidFill>
                  <a:latin typeface="楷体_GB2312" pitchFamily="49" charset="-122"/>
                  <a:ea typeface="楷体_GB2312" pitchFamily="49" charset="-122"/>
                </a:rPr>
                <a:t>i=1</a:t>
              </a:r>
            </a:p>
          </p:txBody>
        </p:sp>
        <p:sp>
          <p:nvSpPr>
            <p:cNvPr id="40966" name="Text Box 4"/>
            <p:cNvSpPr txBox="1">
              <a:spLocks noChangeArrowheads="1"/>
            </p:cNvSpPr>
            <p:nvPr/>
          </p:nvSpPr>
          <p:spPr bwMode="auto">
            <a:xfrm>
              <a:off x="2775" y="66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solidFill>
                    <a:schemeClr val="folHlink"/>
                  </a:solidFill>
                  <a:latin typeface="楷体_GB2312" pitchFamily="49" charset="-122"/>
                  <a:ea typeface="楷体_GB2312" pitchFamily="49" charset="-122"/>
                </a:rPr>
                <a:t>m</a:t>
              </a:r>
            </a:p>
          </p:txBody>
        </p:sp>
      </p:grpSp>
      <p:sp>
        <p:nvSpPr>
          <p:cNvPr id="40964" name="Rectangle 6"/>
          <p:cNvSpPr>
            <a:spLocks noChangeArrowheads="1"/>
          </p:cNvSpPr>
          <p:nvPr/>
        </p:nvSpPr>
        <p:spPr bwMode="auto">
          <a:xfrm>
            <a:off x="539750" y="549275"/>
            <a:ext cx="3313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5.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流水线性能分析实例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076C65-9BF7-BEF9-2AE0-CEA08222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B8A5E-4305-45C1-BA17-5C523B46EF16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1CFB03-76E0-808F-0045-C80D24F8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7590A3-FEB8-D7CD-C6BF-717EE47F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68002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5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5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611188" y="1111250"/>
            <a:ext cx="7488237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上述方案性能不高！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静态多功能流水线在对某种功能进行处理时，总有某些段处于空闲状态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功能切换增加了前一种功能的排空时间和后一种功能的通过时间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需要把输出回传到输入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（冲突）</a:t>
            </a: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	能否通过动态流水线改进其性能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？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举例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I</a:t>
            </a:r>
            <a:endParaRPr kumimoji="1" lang="en-US" altLang="zh-CN" sz="2400" b="1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举例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II	  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4" action="ppaction://hlinksldjump"/>
              </a:rPr>
              <a:t>这样行不行？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 	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5" action="ppaction://hlinksldjump"/>
              </a:rPr>
              <a:t>正确方案</a:t>
            </a:r>
            <a:endParaRPr kumimoji="1" lang="zh-CN" altLang="en-US" sz="2400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81C844-DCF8-DD72-30AD-9BF46856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24169B-90A9-47B6-A15B-EA0B78C5708B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2916E6-6604-88FB-5E52-3A9E7A8C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0151C6-A3F4-A6BA-72BD-F0B7DB09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7251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539750" y="1268413"/>
            <a:ext cx="7848600" cy="485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2   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在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的非流水实现和基本流水线中，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5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个功能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 单元的执行时间：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10/8/10/10/7ns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。流水线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每个功能段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额外开销为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1ns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，求相对于非流水指令实现而言，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 基本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流水线的加速比是多少？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解：	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T</a:t>
            </a:r>
            <a:r>
              <a:rPr lang="zh-CN" altLang="en-US" sz="2400" b="1" baseline="-25000" dirty="0">
                <a:latin typeface="华文中宋" pitchFamily="2" charset="-122"/>
                <a:ea typeface="华文中宋" pitchFamily="2" charset="-122"/>
              </a:rPr>
              <a:t>非流水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= 10 + 8 + 10 + 10 + 7 = 45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	 T</a:t>
            </a:r>
            <a:r>
              <a:rPr lang="zh-CN" altLang="en-US" sz="2400" b="1" baseline="-25000" dirty="0">
                <a:latin typeface="华文中宋" pitchFamily="2" charset="-122"/>
                <a:ea typeface="华文中宋" pitchFamily="2" charset="-122"/>
              </a:rPr>
              <a:t>流水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= 10 + 1 = 11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	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加速比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S = 45/11 ≈ 4.1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注：    流水线额外开销包括：流水寄存器的延迟（建立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 时间和传输延迟）以及时钟扭曲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347E2A-4B44-478F-3345-C74BEEE8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24200A-E448-45F3-9BBE-22EC084F25D7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18CB89-6CE8-CDB3-9CE7-57F1148AE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1FBA5F-0586-8A2B-A7D2-01995A20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983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7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539750" y="1196975"/>
            <a:ext cx="7488238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6.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有关流水线性能的若干问题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流水线并不能减少（而且一般是增加）单条指令的执行时间，但能够提高吞吐率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增加流水线的深度可以提高流水线性能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流水线深度受限于流水线的延迟和额外开销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需要用高速锁存器作为流水线寄存器</a:t>
            </a:r>
          </a:p>
          <a:p>
            <a:pPr lvl="2" eaLnBrk="1" hangingPunct="1">
              <a:spcBef>
                <a:spcPct val="20000"/>
              </a:spcBef>
              <a:buFont typeface="楷体_GB2312" pitchFamily="49" charset="-122"/>
              <a:buChar char="-"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Earle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锁存器</a:t>
            </a:r>
          </a:p>
          <a:p>
            <a:pPr lvl="1"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指令之间存在的相关，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产生了流水线的冲突，进而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限制了流水线的性能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5FEF77-0386-3385-A3DC-80E22601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A2C110-F6DE-4E9B-9F11-36B4C5B3890B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5C27F9-5B8E-7E14-85B5-7C3E31BC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7DE683-D134-4EA0-3D43-4DBFC552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73958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第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600" b="1" dirty="0"/>
              <a:t>章 流水线技术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3.1    </a:t>
            </a:r>
            <a:r>
              <a:rPr lang="zh-CN" altLang="en-US" b="1" dirty="0">
                <a:latin typeface="Times New Roman" pitchFamily="18" charset="0"/>
              </a:rPr>
              <a:t>流水线概述</a:t>
            </a: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3.2    MIPS</a:t>
            </a:r>
            <a:r>
              <a:rPr lang="zh-CN" altLang="en-US" b="1" dirty="0">
                <a:latin typeface="Times New Roman" pitchFamily="18" charset="0"/>
              </a:rPr>
              <a:t>的基本流水线</a:t>
            </a: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b="1" dirty="0"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u="sng" dirty="0">
                <a:latin typeface="Times New Roman" pitchFamily="18" charset="0"/>
              </a:rPr>
              <a:t>3.3    </a:t>
            </a:r>
            <a:r>
              <a:rPr lang="zh-CN" altLang="en-US" b="1" u="sng" dirty="0">
                <a:latin typeface="Times New Roman" pitchFamily="18" charset="0"/>
              </a:rPr>
              <a:t>流水线中的冲突</a:t>
            </a:r>
            <a:endParaRPr lang="en-US" altLang="zh-CN" b="1" u="sng" dirty="0"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3.4    </a:t>
            </a:r>
            <a:r>
              <a:rPr lang="zh-CN" altLang="en-US" b="1" dirty="0">
                <a:latin typeface="Times New Roman" pitchFamily="18" charset="0"/>
              </a:rPr>
              <a:t>实例分析：</a:t>
            </a:r>
            <a:r>
              <a:rPr lang="en-US" altLang="zh-CN" b="1" dirty="0">
                <a:latin typeface="Times New Roman" pitchFamily="18" charset="0"/>
              </a:rPr>
              <a:t>MIPS R4000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buNone/>
            </a:pPr>
            <a:r>
              <a:rPr lang="en-US" altLang="zh-CN" b="1" dirty="0">
                <a:latin typeface="Times New Roman" pitchFamily="18" charset="0"/>
              </a:rPr>
              <a:t>3.5    </a:t>
            </a:r>
            <a:r>
              <a:rPr lang="zh-CN" altLang="en-US" b="1" dirty="0">
                <a:latin typeface="Times New Roman" pitchFamily="18" charset="0"/>
              </a:rPr>
              <a:t>向量处理机</a:t>
            </a:r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2E74E7-747E-9ACF-99F1-6B56E783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C5E7A0-EF27-4C10-A63C-5893F8AA063C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4EC6D6-B460-6A56-05F5-3D7248F5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B294F-8973-32AF-FF81-BCBA4AFB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00984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流水线中的冲突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755650" y="1700213"/>
            <a:ext cx="7064375" cy="3313112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itchFamily="18" charset="0"/>
              </a:rPr>
              <a:t>3.3.1  </a:t>
            </a:r>
            <a:r>
              <a:rPr lang="zh-CN" altLang="en-US" sz="2800" b="1" dirty="0">
                <a:latin typeface="Times New Roman" pitchFamily="18" charset="0"/>
              </a:rPr>
              <a:t>流水线的结构冲突</a:t>
            </a: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endParaRPr lang="zh-CN" altLang="en-US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itchFamily="18" charset="0"/>
              </a:rPr>
              <a:t>3.3.2  </a:t>
            </a:r>
            <a:r>
              <a:rPr lang="zh-CN" altLang="en-US" sz="2800" b="1" dirty="0">
                <a:latin typeface="Times New Roman" pitchFamily="18" charset="0"/>
              </a:rPr>
              <a:t>流水线的数据冲突</a:t>
            </a: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charset="0"/>
              <a:buNone/>
            </a:pPr>
            <a:r>
              <a:rPr lang="en-US" altLang="zh-CN" sz="2800" b="1" dirty="0">
                <a:latin typeface="Times New Roman" pitchFamily="18" charset="0"/>
              </a:rPr>
              <a:t>3.3.3 </a:t>
            </a:r>
            <a:r>
              <a:rPr lang="zh-CN" altLang="en-US" sz="2800" b="1" dirty="0">
                <a:latin typeface="Times New Roman" pitchFamily="18" charset="0"/>
              </a:rPr>
              <a:t>流水线的控制冲突</a:t>
            </a:r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A18BB7-1F38-3571-35FB-CDA86ECA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CA623F-814D-4D2B-A486-58F68E6C3566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67A9F1-CEAB-1CC8-B614-03DB2C8F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2EDE3-EA25-E909-6C2D-71ED4A3F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86210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611188" y="1455738"/>
            <a:ext cx="7488237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80000"/>
              </a:spcBef>
              <a:defRPr/>
            </a:pPr>
            <a:r>
              <a:rPr lang="en-US" altLang="zh-CN" sz="2800" b="1" dirty="0">
                <a:latin typeface="华文中宋" pitchFamily="2" charset="-122"/>
                <a:ea typeface="华文中宋" pitchFamily="2" charset="-122"/>
              </a:rPr>
              <a:t>1. </a:t>
            </a: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什么是流水线冲突（</a:t>
            </a:r>
            <a:r>
              <a:rPr lang="en-US" altLang="zh-CN" sz="2800" b="1" dirty="0">
                <a:latin typeface="华文中宋" pitchFamily="2" charset="-122"/>
                <a:ea typeface="华文中宋" pitchFamily="2" charset="-122"/>
              </a:rPr>
              <a:t>Pipeline Hazard</a:t>
            </a: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）？</a:t>
            </a:r>
          </a:p>
          <a:p>
            <a:pPr marL="439200" lvl="1" indent="0" eaLnBrk="1" hangingPunct="1"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流水线冲突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是指相邻或相近的两条指令因存在某种关联，后一条指令不能在原先指定的时钟周期开始执行。</a:t>
            </a:r>
          </a:p>
          <a:p>
            <a:pPr lvl="1" eaLnBrk="1" hangingPunct="1">
              <a:spcBef>
                <a:spcPct val="20000"/>
              </a:spcBef>
              <a:defRPr/>
            </a:pPr>
            <a:endParaRPr kumimoji="1" lang="zh-CN" altLang="en-US" sz="2400" b="1" dirty="0">
              <a:solidFill>
                <a:schemeClr val="folHlink"/>
              </a:solidFill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  <a:defRPr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消除冲突的基本方法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——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暂停</a:t>
            </a:r>
          </a:p>
          <a:p>
            <a:pPr lvl="1" eaLnBrk="1" hangingPunct="1">
              <a:spcBef>
                <a:spcPct val="80000"/>
              </a:spcBef>
              <a:defRPr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暂停流水线中某条指令及其后面所有指令的执行，</a:t>
            </a:r>
          </a:p>
          <a:p>
            <a:pPr lvl="1" eaLnBrk="1" hangingPunct="1">
              <a:spcBef>
                <a:spcPct val="30000"/>
              </a:spcBef>
              <a:defRPr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该指令之前的所有指令继续执行。</a:t>
            </a: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1438275" y="376238"/>
            <a:ext cx="5942013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lang="zh-CN" altLang="en-US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流水线中的冲突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8D8CF1-D45F-BE2F-A788-CE8A5F60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5AC92A-0A35-469D-9059-C3E05338E08A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D8045A-700D-162F-8CD0-44B4ACAB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1EE6A-FDDF-8668-6EB2-B3105C43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3997971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612775" y="1052513"/>
            <a:ext cx="7488238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50000"/>
              </a:spcBef>
            </a:pPr>
            <a:r>
              <a:rPr lang="en-US" altLang="zh-CN" sz="2800" b="1" dirty="0">
                <a:latin typeface="华文中宋" pitchFamily="2" charset="-122"/>
                <a:ea typeface="华文中宋" pitchFamily="2" charset="-122"/>
              </a:rPr>
              <a:t>2. </a:t>
            </a: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三种不同类型的冲突</a:t>
            </a:r>
          </a:p>
          <a:p>
            <a:pPr lvl="1" algn="just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结构冲突（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Structural Hazard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：当指令在重叠执行过程中，硬件资源满足不了指令重叠执行的要求而发生的冲突。</a:t>
            </a:r>
          </a:p>
          <a:p>
            <a:pPr lvl="1" algn="just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数据冲突（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Data Hazard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：因一条指令需要用到前面指令的结果，而无法与产生结果的指令重叠执行时发生的冲突。</a:t>
            </a:r>
          </a:p>
          <a:p>
            <a:pPr lvl="1" algn="just" eaLnBrk="1" hangingPunct="1">
              <a:spcBef>
                <a:spcPct val="5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控制冲突（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Control Hazard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：当流水线遇到分支指令和其它会改变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PC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值的指令所引起的冲突。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438275" y="376238"/>
            <a:ext cx="5942013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 </a:t>
            </a:r>
            <a:r>
              <a:rPr lang="zh-CN" altLang="en-US" sz="4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流水线中的冲突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F3D6F8-D42D-0422-2D5B-F353F9D2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6595CD-09E2-4C6B-8794-AE97368A7970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8EDF4F-A135-34BD-78FA-0BD017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48B566-0945-F2B4-C74A-1D8EE720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5788123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539750" y="1370013"/>
            <a:ext cx="7777163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lvl="1" eaLnBrk="1" hangingPunct="1">
              <a:spcBef>
                <a:spcPct val="100000"/>
              </a:spcBef>
              <a:buSzPct val="60000"/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1. 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导致结构冲突的常见原因：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功能部件不是全流水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重复设置的资源数量不足</a:t>
            </a:r>
          </a:p>
          <a:p>
            <a:pPr lvl="1" eaLnBrk="1" hangingPunct="1">
              <a:spcBef>
                <a:spcPct val="100000"/>
              </a:spcBef>
              <a:buSzPct val="60000"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2.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实例：当数据和指令存在同一存储器中时，访存指令会引起</a:t>
            </a:r>
            <a:r>
              <a:rPr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存储器访问冲突</a:t>
            </a:r>
            <a:r>
              <a:rPr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  <a:p>
            <a:pPr lvl="2" eaLnBrk="1" hangingPunct="1">
              <a:spcBef>
                <a:spcPct val="5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解决方法：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I.</a:t>
            </a:r>
            <a:r>
              <a:rPr lang="en-US" altLang="zh-CN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  <a:hlinkClick r:id="rId4" action="ppaction://hlinksldjump"/>
              </a:rPr>
              <a:t>插入暂停周期</a:t>
            </a:r>
            <a:r>
              <a:rPr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  <a:hlinkClick r:id="rId5" action="ppaction://hlinksldjump"/>
              </a:rPr>
              <a:t>时空图）</a:t>
            </a:r>
            <a:endParaRPr lang="zh-CN" altLang="en-US" sz="2400" b="1" dirty="0">
              <a:latin typeface="华文中宋" pitchFamily="2" charset="-122"/>
              <a:ea typeface="华文中宋" pitchFamily="2" charset="-122"/>
            </a:endParaRP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II.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将指令存储器和数据存储器分离</a:t>
            </a: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1692275" y="304800"/>
            <a:ext cx="5942013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3.3.1 </a:t>
            </a:r>
            <a:r>
              <a:rPr lang="zh-CN" altLang="en-US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流水线的结构冲突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CF88AB-9D65-518D-D965-28B753DB5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D856AD-F29C-4245-8BC7-6D2B85AAA1E4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95925A-FC25-1540-66AA-2FB6D82E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29389-4D56-DEB8-22FA-61694D7A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41169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539750" y="1196975"/>
            <a:ext cx="7488238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lvl="1" eaLnBrk="1" hangingPunct="1">
              <a:lnSpc>
                <a:spcPct val="200000"/>
              </a:lnSpc>
              <a:spcBef>
                <a:spcPct val="20000"/>
              </a:spcBef>
              <a:buSzPct val="60000"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3.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避免</a:t>
            </a:r>
            <a:r>
              <a:rPr kumimoji="1" lang="zh-CN" altLang="en-US" sz="2400" b="1" dirty="0">
                <a:latin typeface="Arial" charset="0"/>
                <a:ea typeface="华文中宋" pitchFamily="2" charset="-122"/>
              </a:rPr>
              <a:t>结构冲突的方法：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kumimoji="1" lang="zh-CN" altLang="en-US" sz="2400" b="1" dirty="0">
                <a:latin typeface="Arial" charset="0"/>
                <a:ea typeface="华文中宋" pitchFamily="2" charset="-122"/>
              </a:rPr>
              <a:t>所有功能单元完全流水化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kumimoji="1" lang="zh-CN" altLang="en-US" sz="2400" b="1" dirty="0">
                <a:latin typeface="Arial" charset="0"/>
                <a:ea typeface="华文中宋" pitchFamily="2" charset="-122"/>
              </a:rPr>
              <a:t>设置足够多的硬件资源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None/>
            </a:pPr>
            <a:r>
              <a:rPr kumimoji="1" lang="zh-CN" altLang="en-US" sz="2400" b="1" dirty="0">
                <a:latin typeface="Arial" charset="0"/>
                <a:ea typeface="华文中宋" pitchFamily="2" charset="-122"/>
              </a:rPr>
              <a:t>    但是，硬件代价很大！</a:t>
            </a:r>
          </a:p>
          <a:p>
            <a:pPr lvl="1" eaLnBrk="1" hangingPunct="1">
              <a:lnSpc>
                <a:spcPct val="200000"/>
              </a:lnSpc>
              <a:spcBef>
                <a:spcPct val="20000"/>
              </a:spcBef>
              <a:buSzPct val="60000"/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4. </a:t>
            </a:r>
            <a:r>
              <a:rPr kumimoji="1" lang="zh-CN" altLang="en-US" sz="2400" b="1" dirty="0">
                <a:latin typeface="Arial" charset="0"/>
                <a:ea typeface="华文中宋" pitchFamily="2" charset="-122"/>
              </a:rPr>
              <a:t>有些设计方案允许结构冲突存在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lang="zh-CN" altLang="en-US" sz="2400" b="1" dirty="0">
                <a:latin typeface="Arial" charset="0"/>
                <a:ea typeface="华文中宋" pitchFamily="2" charset="-122"/>
              </a:rPr>
              <a:t>降低成本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–"/>
            </a:pPr>
            <a:r>
              <a:rPr lang="zh-CN" altLang="en-US" sz="2400" b="1" dirty="0">
                <a:latin typeface="Arial" charset="0"/>
                <a:ea typeface="华文中宋" pitchFamily="2" charset="-122"/>
              </a:rPr>
              <a:t>减少功能单元的延迟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92275" y="304800"/>
            <a:ext cx="5942013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3.3.1 </a:t>
            </a:r>
            <a:r>
              <a:rPr lang="zh-CN" altLang="en-US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流水线的结构冲突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381B89-74B1-6F96-89A7-955E802F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E70629-F6DE-4B41-98F6-E9424B28CE47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831072-2180-6D4F-C3DC-9CB39A79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3AE5AC-2AFA-516C-70BD-23178FC3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9956345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468313" y="692150"/>
            <a:ext cx="78486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:   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当前许多机器都没有将浮点功能单元完全流水，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比如在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实现中，浮点乘需要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5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个时钟周期，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但对该指令不流水。请分析由此引起的结构冲突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对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mdljdp2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基准程序在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上运行的性能有何影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响？为简单起见，假设浮点乘法服从均匀分布。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解：   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mdljdp2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中浮点乘法出现的频率约为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14%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最坏情况：每个浮点乘都无法与其它操作重叠执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                行，都需要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5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个周期，此时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CPI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为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1.56 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	     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最好情况：可以完全重叠执行，仅需要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个周期，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                         此时没有性能损失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160E46-4F78-240B-5505-A2FBB83C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D1ABA6-4444-4432-B827-B7B8E3E82054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6C3BF7-4E9F-FAE8-F3DC-1E7417F3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D7A964-FAE2-3946-D98C-D61D2CAC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17881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75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75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539750" y="1268413"/>
            <a:ext cx="7488238" cy="469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1. 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数据冲突简介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	</a:t>
            </a:r>
          </a:p>
          <a:p>
            <a:pPr lvl="1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实例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：	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ADD	R1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R2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R3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		SUB	R4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R1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R5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		AND	R6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R1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R7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		OR	R8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 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R1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R9</a:t>
            </a:r>
          </a:p>
          <a:p>
            <a:pPr lvl="2" eaLnBrk="1" hangingPunct="1">
              <a:spcBef>
                <a:spcPct val="20000"/>
              </a:spcBef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		XOR	R10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R1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R11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	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产生原因：当指令在流水线中重叠执行时，流水线有可能改变指令读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/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写操作数的顺序，使之不同于它们在非流水实现时的顺序，这将导致数据冲突。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	消除方法：向流水线中插入暂停周期</a:t>
            </a: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3.3.2 </a:t>
            </a:r>
            <a:r>
              <a:rPr lang="zh-CN" altLang="en-US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EB1EE0-FEC2-2581-B891-6A752EC7A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0B800C-AD52-4089-9AE2-8A8F8FB8196D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80974C-7C84-8A35-5F3C-13AB2E86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F0E02A-F3A7-4DBB-D740-5720B68C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781230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684213" y="1255713"/>
            <a:ext cx="7488237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2. 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通过</a:t>
            </a:r>
            <a:r>
              <a:rPr kumimoji="1" lang="zh-CN" altLang="en-US" sz="28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定向技术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减少数据冲突带来的暂停</a:t>
            </a:r>
          </a:p>
          <a:p>
            <a:pPr eaLnBrk="1" hangingPunct="1">
              <a:spcBef>
                <a:spcPct val="80000"/>
              </a:spcBef>
            </a:pPr>
            <a:r>
              <a:rPr kumimoji="1" lang="zh-CN" altLang="en-US" sz="2800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定向</a:t>
            </a:r>
            <a:r>
              <a:rPr kumimoji="1" lang="en-US" altLang="zh-CN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(forwarding)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，也称为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旁路</a:t>
            </a:r>
            <a:r>
              <a:rPr kumimoji="1" lang="en-US" altLang="zh-CN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(bypassing)</a:t>
            </a:r>
          </a:p>
          <a:p>
            <a:pPr eaLnBrk="1" hangingPunct="1">
              <a:spcBef>
                <a:spcPct val="80000"/>
              </a:spcBef>
            </a:pPr>
            <a:r>
              <a:rPr kumimoji="1" lang="en-US" altLang="zh-CN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	</a:t>
            </a: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  <a:hlinkClick r:id="rId4" action="ppaction://hlinksldjump"/>
              </a:rPr>
              <a:t>工作过程</a:t>
            </a:r>
            <a:endParaRPr kumimoji="1" lang="zh-CN" altLang="en-US" sz="2400" b="1" dirty="0">
              <a:solidFill>
                <a:schemeClr val="folHlink"/>
              </a:solidFill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folHlink"/>
                </a:solidFill>
                <a:latin typeface="华文中宋" pitchFamily="2" charset="-122"/>
                <a:ea typeface="华文中宋" pitchFamily="2" charset="-122"/>
              </a:rPr>
              <a:t>	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主要思路：将计算结果从其产生的地方直接送到真正需要它的地方，就可以避免暂停。</a:t>
            </a:r>
          </a:p>
          <a:p>
            <a:pPr lvl="1" eaLnBrk="1" hangingPunct="1">
              <a:spcBef>
                <a:spcPct val="50000"/>
              </a:spcBef>
              <a:buFont typeface="楷体_GB2312" pitchFamily="49" charset="-122"/>
              <a:buChar char="-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寄存器文件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EX/MEM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中的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ALU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运算结果总是回送到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ALU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的输入寄存器</a:t>
            </a:r>
          </a:p>
          <a:p>
            <a:pPr lvl="1" eaLnBrk="1" hangingPunct="1">
              <a:spcBef>
                <a:spcPct val="50000"/>
              </a:spcBef>
              <a:buFont typeface="楷体_GB2312" pitchFamily="49" charset="-122"/>
              <a:buChar char="-"/>
            </a:pP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从定向通路得到输入数据的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ALU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操作不必从源寄存器中读取操作数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b="1" dirty="0">
                <a:solidFill>
                  <a:srgbClr val="000066"/>
                </a:solidFill>
                <a:latin typeface="+mj-ea"/>
                <a:ea typeface="+mj-ea"/>
              </a:rPr>
              <a:t>3.3.2 </a:t>
            </a:r>
            <a:r>
              <a:rPr lang="zh-CN" altLang="en-US" sz="4000" b="1" dirty="0">
                <a:solidFill>
                  <a:srgbClr val="000066"/>
                </a:solidFill>
                <a:latin typeface="+mj-ea"/>
                <a:ea typeface="+mj-ea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350590-908E-3EBF-9D26-71022CD2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5C1981-2746-4C06-B755-33A97E0AA1BB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B7FAD9-E2A3-D38A-3329-1F6ECDF3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2D9515-3D89-707E-F739-654F2F90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00286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611188" y="1196975"/>
            <a:ext cx="7488237" cy="465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100000"/>
              </a:spcBef>
            </a:pPr>
            <a:r>
              <a:rPr kumimoji="1" lang="en-US" altLang="zh-CN" sz="2800" b="1" dirty="0">
                <a:latin typeface="华文中宋" pitchFamily="2" charset="-122"/>
                <a:ea typeface="华文中宋" pitchFamily="2" charset="-122"/>
              </a:rPr>
              <a:t>2. </a:t>
            </a:r>
            <a:r>
              <a:rPr kumimoji="1" lang="zh-CN" altLang="en-US" sz="2800" b="1" dirty="0">
                <a:latin typeface="华文中宋" pitchFamily="2" charset="-122"/>
                <a:ea typeface="华文中宋" pitchFamily="2" charset="-122"/>
              </a:rPr>
              <a:t>通过定向技术减少数据冲突带来的暂停</a:t>
            </a:r>
            <a:endParaRPr lang="zh-CN" altLang="en-US" sz="28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进一步推广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：一个结果不仅可以从某一功能单元的输出定向到其自身的输入，而且还可以定向到其它功能单元的输入。	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(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  <a:hlinkClick r:id="rId3" action="ppaction://hlinksldjump"/>
              </a:rPr>
              <a:t>举例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)</a:t>
            </a: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在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MIPS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中，任何流水寄存器到任何功能单元的输入都可能需要定向路径，将形成复杂的旁路网络。</a:t>
            </a: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两条指令访问同一存储单元，也可能引起数据冲突，例如访问数据</a:t>
            </a:r>
            <a:r>
              <a:rPr kumimoji="1" lang="en-US" altLang="zh-CN" sz="2400" b="1" dirty="0">
                <a:latin typeface="华文中宋" pitchFamily="2" charset="-122"/>
                <a:ea typeface="华文中宋" pitchFamily="2" charset="-122"/>
              </a:rPr>
              <a:t>Cache</a:t>
            </a: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失效时。</a:t>
            </a:r>
          </a:p>
          <a:p>
            <a:pPr eaLnBrk="1" hangingPunct="1">
              <a:spcBef>
                <a:spcPct val="80000"/>
              </a:spcBef>
              <a:buSzPct val="60000"/>
              <a:buFont typeface="Wingdings" pitchFamily="2" charset="2"/>
              <a:buChar char="u"/>
            </a:pPr>
            <a:r>
              <a:rPr kumimoji="1" lang="zh-CN" altLang="en-US" sz="2400" b="1" dirty="0">
                <a:latin typeface="华文中宋" pitchFamily="2" charset="-122"/>
                <a:ea typeface="华文中宋" pitchFamily="2" charset="-122"/>
              </a:rPr>
              <a:t>本章只讨论</a:t>
            </a:r>
            <a:r>
              <a:rPr kumimoji="1" lang="zh-CN" altLang="en-US" sz="2400" b="1" dirty="0">
                <a:solidFill>
                  <a:schemeClr val="accent2"/>
                </a:solidFill>
                <a:latin typeface="华文中宋" pitchFamily="2" charset="-122"/>
                <a:ea typeface="华文中宋" pitchFamily="2" charset="-122"/>
              </a:rPr>
              <a:t>寄存器数据冲突！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63713" y="260350"/>
            <a:ext cx="5942012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latin typeface="+mj-ea"/>
                <a:ea typeface="+mj-ea"/>
              </a:rPr>
              <a:t>3.3.2 </a:t>
            </a:r>
            <a:r>
              <a:rPr lang="zh-CN" altLang="en-US" sz="3600" b="1" dirty="0">
                <a:latin typeface="+mj-ea"/>
                <a:ea typeface="+mj-ea"/>
              </a:rPr>
              <a:t>流水线的数据冲突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296D6D-B69B-B41A-3D7A-ADB7DA0A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4C298B-937E-4CDB-94E5-46196D9578A8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ACD91-F273-BC84-02C0-3E191AE3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0DEC95-5D52-BC75-C549-A6143300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3004315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0419" name="Picture 2" descr="arch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280400" cy="633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04813"/>
            <a:ext cx="8064500" cy="605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1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33375"/>
            <a:ext cx="7848600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814" name="Picture 6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46075"/>
            <a:ext cx="8137525" cy="625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3" name="AutoShape 4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83525" y="381000"/>
            <a:ext cx="533400" cy="304800"/>
          </a:xfrm>
          <a:prstGeom prst="actionButtonReturn">
            <a:avLst/>
          </a:prstGeom>
          <a:solidFill>
            <a:srgbClr val="F4CCF3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6F853B-38C2-A66E-8655-16E608AF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92DE45-822A-42FF-AE98-EC0CD617F24B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9F6902-63D7-7B1D-344E-6EBA667E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E232D5-B79B-841D-4615-44C6A1B3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897327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arch3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023BCB-661A-066E-749A-81FA640B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E74754-AE5C-451D-A12B-2AF805E96557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C097F5-B275-7EF5-12C7-FA2DD35E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B20F9-9FEE-7149-F40C-F049C05A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757761"/>
      </p:ext>
    </p:extLst>
  </p:cSld>
  <p:clrMapOvr>
    <a:masterClrMapping/>
  </p:clrMapOvr>
  <p:transition spd="slow"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arch36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3C6346-3176-9DC1-47FD-0072378D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956926-07B5-4BA1-9640-861EBCE47256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C283B4-C6F1-02E2-EB03-162C597F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A069BF-DFFA-D24A-2CDD-279F4E08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9215932"/>
      </p:ext>
    </p:extLst>
  </p:cSld>
  <p:clrMapOvr>
    <a:masterClrMapping/>
  </p:clrMapOvr>
  <p:transition spd="slow"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4515" name="Picture 2" descr="arch38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543800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332E88-4A42-8572-BD9A-1B88FCF8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F39C0-C569-47CC-87EC-C075AF38E7BC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B9DEFE-BE97-9F2E-CA28-780B232D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C6288-D0A7-4AAF-B38E-4A937DE2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620972"/>
      </p:ext>
    </p:extLst>
  </p:cSld>
  <p:clrMapOvr>
    <a:masterClrMapping/>
  </p:clrMapOvr>
  <p:transition spd="slow"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5539" name="Picture 2" descr="arch39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838200"/>
            <a:ext cx="6805613" cy="511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B3E273-7989-2B50-BD11-E6C0B834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2527BF-421E-4792-B840-EDE4215CB68D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B963A4-38E0-BF01-3E49-301BF647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79AA6-1A03-6360-CB8E-0F206164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4215014"/>
      </p:ext>
    </p:extLst>
  </p:cSld>
  <p:clrMapOvr>
    <a:masterClrMapping/>
  </p:clrMapOvr>
  <p:transition spd="slow"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6563" name="Picture 2" descr="arch40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772400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B80B48-58A8-A71E-7A6E-181ADF863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042C7B-A01B-49FF-B1F7-88FB763B2BEA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8269D3-A723-DE1A-B064-1071A1BE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B50E0F-FEBF-D689-1ABA-B8361ADB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5482269"/>
      </p:ext>
    </p:extLst>
  </p:cSld>
  <p:clrMapOvr>
    <a:masterClrMapping/>
  </p:clrMapOvr>
  <p:transition spd="slow"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7587" name="Picture 2" descr="arch41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391400" cy="539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8A9FD5-E9BD-350B-6397-B2453D44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A39E2A-297E-4A62-BF32-EF5EF7B64E3E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245A00-1E3F-0232-D180-D6DC9358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E28982-E485-361C-71C9-E3B4B06C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934017"/>
      </p:ext>
    </p:extLst>
  </p:cSld>
  <p:clrMapOvr>
    <a:masterClrMapping/>
  </p:clrMapOvr>
  <p:transition spd="slow"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8611" name="Picture 2" descr="arch4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6962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2B6E72-5C7A-9A2E-4F84-29DE6BFD0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FD186-2E06-4244-BCE6-A4315E67BF7E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A4E2B4-4619-2D22-FA3A-4AEA1DC6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B04540-CB15-C228-0D2B-2C7A8BD8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004136"/>
      </p:ext>
    </p:extLst>
  </p:cSld>
  <p:clrMapOvr>
    <a:masterClrMapping/>
  </p:clrMapOvr>
  <p:transition spd="slow"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9635" name="Picture 2" descr="arch4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604838"/>
            <a:ext cx="4983163" cy="564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0E23DF-7AB6-035A-5968-EF9B24D8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962631-3CEC-47F8-AF3C-D7A57FC809F2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D8BFF5-0DB2-6791-85A5-A7FBFDC1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8BBBC-C31F-B0DE-90DA-35E8D7B1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267134"/>
      </p:ext>
    </p:extLst>
  </p:cSld>
  <p:clrMapOvr>
    <a:masterClrMapping/>
  </p:clrMapOvr>
  <p:transition spd="slow"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arch4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C54FD5-62CC-6D1C-809D-3929751E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85B433-E259-4F70-A73F-AE030DF7D272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A72984-E1FD-9EC3-133E-411E0C82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667A4F-14AC-958A-0560-5A927F65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11593"/>
      </p:ext>
    </p:extLst>
  </p:cSld>
  <p:clrMapOvr>
    <a:masterClrMapping/>
  </p:clrMapOvr>
  <p:transition spd="slow"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arch45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CA0BBB-DA21-2D45-9335-CC3B0ABD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4076A4-F142-4797-A942-7903E3F89FF3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F58A9F-444F-55A6-8721-F4181988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C5B74-B242-51E5-291B-8D5EB3FB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195060"/>
      </p:ext>
    </p:extLst>
  </p:cSld>
  <p:clrMapOvr>
    <a:masterClrMapping/>
  </p:clrMapOvr>
  <p:transition spd="slow"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arch46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91440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D53045-F141-2960-23E9-600C7270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7A852D-07A8-43B2-B0FC-80AE3CD2D1B6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667951-17E9-D167-67D8-7FF57B9D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C942AD-4A73-9AEC-17F2-BBA98189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606118"/>
      </p:ext>
    </p:extLst>
  </p:cSld>
  <p:clrMapOvr>
    <a:masterClrMapping/>
  </p:clrMapOvr>
  <p:transition spd="slow"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 descr="arch47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1440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0" y="4608513"/>
            <a:ext cx="9150350" cy="1989137"/>
            <a:chOff x="576" y="2750"/>
            <a:chExt cx="4708" cy="890"/>
          </a:xfrm>
        </p:grpSpPr>
        <p:pic>
          <p:nvPicPr>
            <p:cNvPr id="73732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840"/>
              <a:ext cx="4708" cy="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3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" y="2840"/>
              <a:ext cx="918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4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2840"/>
              <a:ext cx="918" cy="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5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6" y="3158"/>
              <a:ext cx="918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36" name="Line 8"/>
            <p:cNvSpPr>
              <a:spLocks noChangeShapeType="1"/>
            </p:cNvSpPr>
            <p:nvPr/>
          </p:nvSpPr>
          <p:spPr bwMode="auto">
            <a:xfrm flipV="1">
              <a:off x="1655" y="2750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7" name="Line 9"/>
            <p:cNvSpPr>
              <a:spLocks noChangeShapeType="1"/>
            </p:cNvSpPr>
            <p:nvPr/>
          </p:nvSpPr>
          <p:spPr bwMode="auto">
            <a:xfrm flipV="1">
              <a:off x="1837" y="2750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3738" name="Picture 1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5" y="2750"/>
              <a:ext cx="4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04FFD-F84E-10A0-A590-95B64C48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B4883C-615B-4E98-B726-B836FC2BFE52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7FB0A4-0665-60EB-6A6C-C83AB1D8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9FA43C-0253-2288-352B-E61F6B2C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999983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4755" name="Picture 2" descr="arch3243b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60350"/>
            <a:ext cx="8820150" cy="49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79388" y="4481513"/>
            <a:ext cx="8829675" cy="2017712"/>
            <a:chOff x="431" y="2783"/>
            <a:chExt cx="4944" cy="1056"/>
          </a:xfrm>
        </p:grpSpPr>
        <p:pic>
          <p:nvPicPr>
            <p:cNvPr id="74757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" y="2931"/>
              <a:ext cx="4944" cy="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58" name="Line 5"/>
            <p:cNvSpPr>
              <a:spLocks noChangeShapeType="1"/>
            </p:cNvSpPr>
            <p:nvPr/>
          </p:nvSpPr>
          <p:spPr bwMode="auto">
            <a:xfrm flipV="1">
              <a:off x="1776" y="2807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4759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2931"/>
              <a:ext cx="816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60" name="Line 6"/>
            <p:cNvSpPr>
              <a:spLocks noChangeShapeType="1"/>
            </p:cNvSpPr>
            <p:nvPr/>
          </p:nvSpPr>
          <p:spPr bwMode="auto">
            <a:xfrm flipV="1">
              <a:off x="2200" y="2807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4761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3475"/>
              <a:ext cx="91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2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" y="3487"/>
              <a:ext cx="635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3" name="Picture 10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6" y="3657"/>
              <a:ext cx="545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4" name="Picture 11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" y="2931"/>
              <a:ext cx="918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65" name="Line 12"/>
            <p:cNvSpPr>
              <a:spLocks noChangeShapeType="1"/>
            </p:cNvSpPr>
            <p:nvPr/>
          </p:nvSpPr>
          <p:spPr bwMode="auto">
            <a:xfrm flipV="1">
              <a:off x="3016" y="2789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6" name="Line 13"/>
            <p:cNvSpPr>
              <a:spLocks noChangeShapeType="1"/>
            </p:cNvSpPr>
            <p:nvPr/>
          </p:nvSpPr>
          <p:spPr bwMode="auto">
            <a:xfrm flipV="1">
              <a:off x="3424" y="2789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7" name="Line 14"/>
            <p:cNvSpPr>
              <a:spLocks noChangeShapeType="1"/>
            </p:cNvSpPr>
            <p:nvPr/>
          </p:nvSpPr>
          <p:spPr bwMode="auto">
            <a:xfrm flipV="1">
              <a:off x="4649" y="2783"/>
              <a:ext cx="0" cy="54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4768" name="Picture 16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" y="2795"/>
              <a:ext cx="47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FBA884-4C5A-9FA8-A0E2-393F3B1C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BF0AEF-8E83-4C94-ADF8-16980D0FE17A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4C9581-AB44-985C-B776-622E2910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3730AD-6689-C080-DC7A-651C4C9A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763799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rch49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"/>
            <a:ext cx="9144000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11F4C8-180E-ECA9-5594-206B80DBA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E5F019-6CF7-4499-9FDA-5683B9C050E8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EDA3FF-F76A-E61D-C9F9-453A03B2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720BD1-D0CB-ACF4-1998-8EE82E25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819565"/>
      </p:ext>
    </p:extLst>
  </p:cSld>
  <p:clrMapOvr>
    <a:masterClrMapping/>
  </p:clrMapOvr>
  <p:transition spd="slow"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rch50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13CB44-A798-0ED5-C4FD-518E4CA5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BB0460-8A91-49D1-8083-7D144EB49BA0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D475D7-3193-C546-4947-5077B16E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CCD5BE-8AE9-17CC-AB16-FAD048EC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283595"/>
      </p:ext>
    </p:extLst>
  </p:cSld>
  <p:clrMapOvr>
    <a:masterClrMapping/>
  </p:clrMapOvr>
  <p:transition spd="slow"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rch5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836613"/>
            <a:ext cx="903605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C57A27-6742-DE7F-4DCC-52C6A9F2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336FFD-71E9-4425-80C8-EB3C78D4C065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EC4E86-2E88-7A3A-454E-702F5713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2D08B5-21CC-2122-5C96-77FB25E0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412637"/>
      </p:ext>
    </p:extLst>
  </p:cSld>
  <p:clrMapOvr>
    <a:masterClrMapping/>
  </p:clrMapOvr>
  <p:transition spd="slow"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rch5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C93001-A8D9-831D-8EEA-A36BC52E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453DE5-3536-4B95-91F1-7E985DA74F43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AF3E92-7A00-EF12-8157-0D329BEB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B90C49-2C41-4E7D-EF8C-565907F8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0270757"/>
      </p:ext>
    </p:extLst>
  </p:cSld>
  <p:clrMapOvr>
    <a:masterClrMapping/>
  </p:clrMapOvr>
  <p:transition spd="slow"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74" name="Picture 2" descr="arch5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85788"/>
            <a:ext cx="7315200" cy="568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7E9DBE-52D8-6FCB-24BD-4807B2CE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9EE36A-83D3-406A-9C7B-1B27204462CA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BCA9F7-9F5A-8299-D29E-7A29B057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C0770F-885E-4D96-5B4F-1FA71E60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181722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8467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0483" name="Picture 2" descr="arch54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5463"/>
            <a:ext cx="7315200" cy="580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6838D7-C09B-6582-3C7D-1E7F3601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406812-4780-4A77-88A2-C0DFEC8EAC2D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ED6D96-25CC-CEDB-D824-3B63186B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66527-8DBA-3F78-7A0F-12CF974E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1227843"/>
      </p:ext>
    </p:extLst>
  </p:cSld>
  <p:clrMapOvr>
    <a:masterClrMapping/>
  </p:clrMapOvr>
  <p:transition spd="slow"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arch55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8DB58F-FC45-8DB5-F88E-E82B4AB8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068434-1E5A-4CF0-B802-CE241391CA59}" type="datetime1">
              <a:rPr lang="zh-CN" altLang="en-US" smtClean="0"/>
              <a:t>2025/10/7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554EAE-1988-AED9-F065-CCCFD2BB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</a:t>
            </a:r>
            <a:r>
              <a:rPr lang="en-US" altLang="zh-CN"/>
              <a:t>-</a:t>
            </a:r>
            <a:r>
              <a:rPr lang="zh-CN" altLang="en-US"/>
              <a:t>计算机体系结构</a:t>
            </a:r>
            <a:r>
              <a:rPr lang="en-US" altLang="zh-CN"/>
              <a:t>-</a:t>
            </a:r>
            <a:r>
              <a:rPr lang="zh-CN" altLang="en-US"/>
              <a:t>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C9E21-3CCD-D01D-03C3-50E472EA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7976140"/>
      </p:ext>
    </p:extLst>
  </p:cSld>
  <p:clrMapOvr>
    <a:masterClrMapping/>
  </p:clrMapOvr>
  <p:transition spd="slow" advClick="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5228</TotalTime>
  <Words>2544</Words>
  <Application>Microsoft Office PowerPoint</Application>
  <PresentationFormat>全屏显示(4:3)</PresentationFormat>
  <Paragraphs>419</Paragraphs>
  <Slides>49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9" baseType="lpstr">
      <vt:lpstr>华文中宋</vt:lpstr>
      <vt:lpstr>楷体_GB2312</vt:lpstr>
      <vt:lpstr>宋体</vt:lpstr>
      <vt:lpstr>Arial</vt:lpstr>
      <vt:lpstr>Calibri</vt:lpstr>
      <vt:lpstr>Cambria Math</vt:lpstr>
      <vt:lpstr>Times New Roman</vt:lpstr>
      <vt:lpstr>Verdana</vt:lpstr>
      <vt:lpstr>Wingdings</vt:lpstr>
      <vt:lpstr>Office 主题​​</vt:lpstr>
      <vt:lpstr>计算机体系结构</vt:lpstr>
      <vt:lpstr>Recap</vt:lpstr>
      <vt:lpstr>PowerPoint 演示文稿</vt:lpstr>
      <vt:lpstr>PowerPoint 演示文稿</vt:lpstr>
      <vt:lpstr>PowerPoint 演示文稿</vt:lpstr>
      <vt:lpstr>3.2    MIPS基本流水线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第3章 流水线技术</vt:lpstr>
      <vt:lpstr>3.3  流水线中的冲突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1863</cp:revision>
  <cp:lastPrinted>2020-10-27T07:10:09Z</cp:lastPrinted>
  <dcterms:created xsi:type="dcterms:W3CDTF">2113-01-01T00:00:00Z</dcterms:created>
  <dcterms:modified xsi:type="dcterms:W3CDTF">2025-10-07T03:27:27Z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