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1730" r:id="rId3"/>
    <p:sldId id="1033" r:id="rId4"/>
    <p:sldId id="1580" r:id="rId5"/>
    <p:sldId id="1589" r:id="rId6"/>
    <p:sldId id="1591" r:id="rId7"/>
    <p:sldId id="1711" r:id="rId8"/>
    <p:sldId id="1712" r:id="rId9"/>
    <p:sldId id="1713" r:id="rId10"/>
    <p:sldId id="1714" r:id="rId11"/>
    <p:sldId id="1715" r:id="rId12"/>
    <p:sldId id="1716" r:id="rId13"/>
    <p:sldId id="1717" r:id="rId14"/>
    <p:sldId id="1648" r:id="rId15"/>
    <p:sldId id="1649" r:id="rId16"/>
    <p:sldId id="1650" r:id="rId17"/>
    <p:sldId id="1729" r:id="rId18"/>
    <p:sldId id="1608" r:id="rId19"/>
    <p:sldId id="1611" r:id="rId20"/>
    <p:sldId id="1612" r:id="rId21"/>
    <p:sldId id="1727" r:id="rId22"/>
    <p:sldId id="1728" r:id="rId23"/>
    <p:sldId id="1718" r:id="rId24"/>
    <p:sldId id="1719" r:id="rId25"/>
    <p:sldId id="1720" r:id="rId26"/>
    <p:sldId id="1721" r:id="rId27"/>
    <p:sldId id="1722" r:id="rId28"/>
    <p:sldId id="1723" r:id="rId29"/>
    <p:sldId id="1724" r:id="rId30"/>
    <p:sldId id="1676" r:id="rId31"/>
    <p:sldId id="1677" r:id="rId32"/>
    <p:sldId id="1708" r:id="rId33"/>
    <p:sldId id="1678" r:id="rId34"/>
    <p:sldId id="1680" r:id="rId35"/>
    <p:sldId id="1681" r:id="rId36"/>
    <p:sldId id="1682" r:id="rId37"/>
    <p:sldId id="1709" r:id="rId38"/>
    <p:sldId id="1683" r:id="rId39"/>
  </p:sldIdLst>
  <p:sldSz cx="9144000" cy="6858000" type="screen4x3"/>
  <p:notesSz cx="7099300" cy="10234613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33CC"/>
    <a:srgbClr val="003399"/>
    <a:srgbClr val="33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80735" autoAdjust="0"/>
  </p:normalViewPr>
  <p:slideViewPr>
    <p:cSldViewPr>
      <p:cViewPr varScale="1">
        <p:scale>
          <a:sx n="128" d="100"/>
          <a:sy n="128" d="100"/>
        </p:scale>
        <p:origin x="504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9833CB-0817-44DC-BDA6-97E8269B2A4B}" type="datetimeFigureOut">
              <a:rPr lang="zh-CN" altLang="en-US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8BBD55E-9969-4143-865D-25DDD65926A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76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00B983-0E40-4C29-87BA-CE566D420E2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212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2CD0CF6-7CB5-4118-A75B-8B3E6362D695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latin typeface="Arial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343B84F-AA2D-4F76-B954-B648757D0974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>
              <a:latin typeface="Arial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C5C784F-CD3D-4EE1-850F-0271A430BA47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latin typeface="Arial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CC989DE-4017-4909-A928-6B5D7B3B3315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latin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CD638D9D-5FF5-400F-9E3B-95CD2875125A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latin typeface="Arial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F670DBE-C12F-4BD1-86F9-366A26A22293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latin typeface="Arial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F0622C-1E59-4047-B981-09B01007B05D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2A63621-A985-4744-A12A-0A497BEEDA51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latin typeface="Arial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75930D-91EF-4976-8FBE-78046D0348C0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>
              <a:latin typeface="Arial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b="1" dirty="0">
              <a:latin typeface="宋体" charset="-122"/>
            </a:endParaRPr>
          </a:p>
          <a:p>
            <a:endParaRPr lang="en-US" altLang="zh-CN" b="1" dirty="0">
              <a:latin typeface="宋体" charset="-122"/>
            </a:endParaRPr>
          </a:p>
          <a:p>
            <a:endParaRPr lang="zh-CN" altLang="en-US" dirty="0"/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7F65FC8-F4E3-4C8A-AF4E-BBD7FB510508}" type="slidenum">
              <a:rPr kumimoji="1" lang="en-US" altLang="zh-CN" smtClean="0">
                <a:latin typeface="Times New Roman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kumimoji="1" lang="en-US" altLang="zh-CN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D9F5FC8-DE59-4445-8B42-1B39490393EC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latin typeface="Arial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E5FD703-0A38-46A4-9270-6DD196A58FAF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>
              <a:latin typeface="Arial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047CFDB-3BA2-4AAD-B091-20756E2B8B12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>
              <a:latin typeface="Arial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5EB4C-328F-F30A-AE01-A0563F2B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F55916A1-8AAE-6909-1FA4-D734C671D3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2CD0CF6-7CB5-4118-A75B-8B3E6362D695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>
              <a:latin typeface="Arial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1E33A4C7-C609-CD62-15AB-59B9CCB7F1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AF3155AB-DAE9-032E-4A63-8F47A565F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29658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40977EA-B596-49DD-84F5-684BBC650D43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>
              <a:latin typeface="Arial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B1C48AA-AC18-4871-93B7-DD95586674D8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>
              <a:latin typeface="Arial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21737EB-8045-45F9-BDE2-C00C572082A7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>
              <a:latin typeface="Arial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DADD743-C2DC-4C64-9003-90D92CF24396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>
              <a:latin typeface="Arial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40F53E1-CFD4-432A-B990-4D8D6A26AECA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>
              <a:latin typeface="Arial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这种表示空间感不强，但简单。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4534407-3C2F-4AFA-BA9A-F542E02A62CB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>
              <a:latin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C7582A28-FB04-47EB-9F10-87CBCBF5262F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>
              <a:latin typeface="Arial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C4CE723-73EF-4C97-84ED-508920883B62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>
              <a:latin typeface="Arial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D70409C-5D8B-4813-ABAF-4AD8F5558C14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>
              <a:latin typeface="Arial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5FEC926-1EEC-4FE1-B198-F25C3F517D3A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>
              <a:latin typeface="Arial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暂停的简化表达。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592F99E-3EC6-4F4A-80E3-1A19B44A768A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>
              <a:latin typeface="Arial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827E7ED-BC05-4E97-A5C1-911A24732180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>
              <a:latin typeface="Arial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A677AC6-3A23-4B1F-AE93-9C02A96EC26C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>
              <a:latin typeface="Arial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0C6A790-9D16-417D-90D4-211DE6F9D997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>
              <a:latin typeface="Arial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4534407-3C2F-4AFA-BA9A-F542E02A62CB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>
              <a:latin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C221D128-1166-4464-9BB8-D9935950DD65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>
              <a:latin typeface="Arial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5AE55DA-3743-4D26-9FE3-BC2A5E347D19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>
              <a:latin typeface="Arial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90F749C-4927-4955-A930-31919D3351B3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>
              <a:latin typeface="Arial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93A69A7-C90C-44DF-A7F7-99908554B494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>
              <a:latin typeface="Arial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dirty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D7C10C7-553E-4F93-94C7-E3FE6F7EC1FC}" type="slidenum">
              <a:rPr kumimoji="1" lang="en-US" altLang="zh-CN" smtClean="0">
                <a:latin typeface="Times New Roman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kumimoji="1" lang="en-US" altLang="zh-CN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2465D9D-BF4C-4A27-8171-9C22D5D753DB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>
              <a:latin typeface="Arial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dirty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0863D-0499-4560-847B-387304ADF576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E633C-541A-4E3F-A22A-3C4C63E8EF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35C6B-E579-4E55-9A07-6C51A0ECAC50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AC33D-D29A-48B3-BCD6-381D3D720D2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F4EB0-0899-4EB5-8557-35CA73D74579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6AFD5-B4CE-4309-A85F-E56CFD4311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C2AD9-82B3-4EE3-B833-29392AE8F43B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CC3E9-608E-4023-AA79-77ECC6312F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C1319-DD8D-4230-B67D-959E3170FB0C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80664-B5A2-458D-9781-BDBB3E44461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CBA5B-9A13-4478-9AE6-705D1057CF65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2FEDC-7E89-472C-BFD5-D857A9C78A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23FFF-ED9E-414E-8FB8-4DA042B6DF76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7EA61-351E-4105-9AD9-76D38C6E993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63A10-210A-4D7B-8684-F5FFF1B115D9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75736-67D3-4C0D-9AD3-EBB1133B7A1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7221E-D41D-4D2F-8884-1CFBDF3F66AF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3B5C7-14AB-4EB9-8E35-9962854618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7F3FF-4048-4B6E-A3A2-FC7B24F23C0F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9E446-6F6B-46FF-A641-54E99657CB0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1E93A-29DD-4BA6-8118-992440533BC0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200" y="247650"/>
            <a:ext cx="5105400" cy="381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22FFB5-76AD-87F2-86C4-BC97AB2C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69521-2900-4916-A3C5-6D496B7AC8FC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6772D2-F7FA-B53A-8B35-69B3060F9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计算学部</a:t>
            </a:r>
            <a:r>
              <a:rPr lang="en-US" altLang="zh-CN" dirty="0"/>
              <a:t>-</a:t>
            </a:r>
            <a:r>
              <a:rPr lang="zh-CN" altLang="en-US" dirty="0"/>
              <a:t>计算机体系结构</a:t>
            </a:r>
            <a:r>
              <a:rPr lang="en-US" altLang="zh-CN" dirty="0"/>
              <a:t>-</a:t>
            </a:r>
            <a:r>
              <a:rPr lang="zh-CN" altLang="en-US" dirty="0"/>
              <a:t>刘宏伟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D62B36-B4A3-6BE9-5486-2DE4C041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113263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76D694-B0FB-494F-A64C-75C570E66429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E38698-3FD2-4DD5-AB6F-61E8F41EBC1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it-coa.gitlab.io/hit-coa-la32r-lab/f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5" Type="http://schemas.openxmlformats.org/officeDocument/2006/relationships/slide" Target="slide28.xml"/><Relationship Id="rId4" Type="http://schemas.openxmlformats.org/officeDocument/2006/relationships/slide" Target="slide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8.xml"/><Relationship Id="rId4" Type="http://schemas.openxmlformats.org/officeDocument/2006/relationships/slide" Target="slide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slide" Target="slide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1266825"/>
            <a:ext cx="5976590" cy="1143000"/>
          </a:xfrm>
        </p:spPr>
        <p:txBody>
          <a:bodyPr/>
          <a:lstStyle/>
          <a:p>
            <a:pPr algn="dist" eaLnBrk="1" hangingPunct="1"/>
            <a:r>
              <a:rPr lang="zh-CN" altLang="en-US" sz="5400" b="1" dirty="0"/>
              <a:t>计算机体系结构</a:t>
            </a: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3714750" y="5072063"/>
            <a:ext cx="2951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 刘宏伟</a:t>
            </a:r>
          </a:p>
        </p:txBody>
      </p:sp>
      <p:sp>
        <p:nvSpPr>
          <p:cNvPr id="2052" name="Text Box 7"/>
          <p:cNvSpPr txBox="1">
            <a:spLocks noChangeArrowheads="1"/>
          </p:cNvSpPr>
          <p:nvPr/>
        </p:nvSpPr>
        <p:spPr bwMode="auto">
          <a:xfrm>
            <a:off x="2571750" y="4500563"/>
            <a:ext cx="4357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 计算机科学与技术学院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14500" y="3071813"/>
            <a:ext cx="5673725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zh-CN" altLang="en-US" sz="4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第九讲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FEDABC-06B7-C3BA-5E80-852BE8F7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7BBAE4-DBC3-43A9-80E6-C242210CFE90}" type="datetime1">
              <a:rPr lang="zh-CN" altLang="en-US" smtClean="0"/>
              <a:t>2025/10/15</a:t>
            </a:fld>
            <a:endParaRPr lang="en-US" altLang="zh-CN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789BEC-2411-0976-7C1A-40EBDC2D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824064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2A5B97-8330-3E2C-7E57-E9E1354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B46209-1783-CEFD-CD6F-C1DD6FE7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529DFC-CAEF-C7A9-BB43-41BB7DE78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392" y="1700808"/>
            <a:ext cx="7859216" cy="3965228"/>
          </a:xfrm>
        </p:spPr>
        <p:txBody>
          <a:bodyPr/>
          <a:lstStyle/>
          <a:p>
            <a:r>
              <a:rPr lang="zh-CN" altLang="en-US" sz="2800" dirty="0"/>
              <a:t>实验说明、要求、相关指导</a:t>
            </a:r>
            <a:r>
              <a:rPr lang="zh-CN" altLang="en-US" sz="2800"/>
              <a:t>资源见：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hlinkClick r:id="rId2"/>
              </a:rPr>
              <a:t>https://hit-coa.gitlab.io/hit-coa-la32r-lab/fu/</a:t>
            </a:r>
            <a:endParaRPr lang="en-US" altLang="zh-CN" sz="2800" dirty="0"/>
          </a:p>
          <a:p>
            <a:r>
              <a:rPr lang="zh-CN" altLang="en-US" sz="2800" dirty="0"/>
              <a:t>简要说明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增加了两个附加实验</a:t>
            </a:r>
            <a:r>
              <a:rPr lang="en-US" altLang="zh-CN" sz="2400" dirty="0"/>
              <a:t>EX1</a:t>
            </a:r>
            <a:r>
              <a:rPr lang="zh-CN" altLang="en-US" sz="2400" dirty="0"/>
              <a:t>、</a:t>
            </a:r>
            <a:r>
              <a:rPr lang="en-US" altLang="zh-CN" sz="2400" dirty="0"/>
              <a:t>EX2</a:t>
            </a:r>
            <a:r>
              <a:rPr lang="zh-CN" altLang="en-US" sz="2400" dirty="0"/>
              <a:t>，性能测试排在前面的同学，可以加</a:t>
            </a:r>
            <a:r>
              <a:rPr lang="en-US" altLang="zh-CN" sz="2400" dirty="0"/>
              <a:t>1-3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做完这个附加实验，明年可以无障碍参加龙芯杯的个人赛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课程组已经要了</a:t>
            </a:r>
            <a:r>
              <a:rPr lang="en-US" altLang="zh-CN" sz="2400" dirty="0"/>
              <a:t>200</a:t>
            </a:r>
            <a:r>
              <a:rPr lang="zh-CN" altLang="en-US" sz="2400" dirty="0"/>
              <a:t>个龙芯杯的个人赛远程实验平台账号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2C8C74-F3FA-A6F4-0A71-84A17C2F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735C6B-E579-4E55-9A07-6C51A0ECAC50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0E816B-8104-49C5-656E-5F40B01F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B267B8-5639-2E9B-B7A9-524AABFB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20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>
          <a:xfrm>
            <a:off x="685800" y="-27384"/>
            <a:ext cx="7772400" cy="785813"/>
          </a:xfrm>
        </p:spPr>
        <p:txBody>
          <a:bodyPr/>
          <a:lstStyle/>
          <a:p>
            <a:pPr eaLnBrk="1" hangingPunct="1"/>
            <a:r>
              <a:rPr lang="en-US" altLang="zh-CN" b="1" dirty="0"/>
              <a:t>Recap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3" y="836712"/>
            <a:ext cx="8352927" cy="5718994"/>
          </a:xfrm>
        </p:spPr>
        <p:txBody>
          <a:bodyPr rtlCol="0">
            <a:noAutofit/>
          </a:bodyPr>
          <a:lstStyle/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流水线的性能（最大和实际）</a:t>
            </a:r>
            <a:endParaRPr lang="en-US" altLang="zh-CN" b="1" dirty="0"/>
          </a:p>
          <a:p>
            <a:pPr marL="1101600" lvl="1"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 吞吐率、加速比、效率</a:t>
            </a:r>
            <a:endParaRPr lang="en-US" altLang="zh-CN" b="1" dirty="0"/>
          </a:p>
          <a:p>
            <a:pPr marL="1101600" lvl="1" eaLnBrk="1" hangingPunct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 流水线性能的若干问题</a:t>
            </a:r>
            <a:endParaRPr lang="en-US" altLang="zh-CN" b="1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b="1" dirty="0">
                <a:latin typeface="+mj-lt"/>
              </a:rPr>
              <a:t>流水线的冲突</a:t>
            </a:r>
            <a:endParaRPr lang="en-US" altLang="zh-CN" b="1" dirty="0">
              <a:latin typeface="+mj-lt"/>
            </a:endParaRPr>
          </a:p>
          <a:p>
            <a:pPr marL="1101600" lvl="1" indent="-284400" eaLnBrk="1" fontAlgn="auto" hangingPunct="1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 产生的原因（指令之间的关联）</a:t>
            </a:r>
            <a:endParaRPr lang="en-US" altLang="zh-CN" b="1" dirty="0"/>
          </a:p>
          <a:p>
            <a:pPr marL="1101600" lvl="1" indent="-284400" eaLnBrk="1" fontAlgn="auto" hangingPunct="1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 冲突的分类（结构冲突、数据冲突、控制冲突）</a:t>
            </a:r>
            <a:endParaRPr lang="en-US" altLang="zh-CN" b="1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b="1" dirty="0">
                <a:latin typeface="+mj-lt"/>
              </a:rPr>
              <a:t>流水线的结构冲突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产生的原因（流水线中的结构瓶颈）</a:t>
            </a:r>
            <a:endParaRPr lang="en-US" altLang="zh-CN" b="1" dirty="0"/>
          </a:p>
          <a:p>
            <a:pPr marL="1101600"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避免结构冲突的办法</a:t>
            </a:r>
            <a:endParaRPr lang="en-US" altLang="zh-CN" b="1" dirty="0"/>
          </a:p>
          <a:p>
            <a:pPr marL="1101600"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有些流水线的设计允许结构冲突的存在</a:t>
            </a:r>
            <a:endParaRPr lang="en-US" altLang="zh-CN" b="1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b="1" dirty="0">
                <a:latin typeface="+mj-lt"/>
              </a:rPr>
              <a:t>流水线的数据冲突（暂停和定向）</a:t>
            </a:r>
            <a:endParaRPr lang="en-US" altLang="zh-CN" b="1" dirty="0">
              <a:latin typeface="+mj-lt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b="1" dirty="0">
              <a:latin typeface="+mj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F7A838-971B-1219-5FFC-91B93298B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52EA25-F70B-4870-8BC7-DDDA55E91285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2BD124-3E4C-F043-C6DC-D3751FFD3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5EA808-A8BA-C7F2-0B4E-EAA64F37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流水线中的冲突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683568" y="1700808"/>
            <a:ext cx="7064375" cy="3313112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3.3.1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流水线的结构冲突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r>
              <a:rPr lang="en-US" altLang="zh-C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3.3.2  </a:t>
            </a:r>
            <a:r>
              <a:rPr lang="zh-CN" alt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流水线的数据冲突</a:t>
            </a:r>
            <a:endParaRPr lang="en-US" altLang="zh-C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3.3.3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流水线的控制冲突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6105B9-9F10-ADAC-F637-13BF70EA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34CCE7-6327-4100-86DD-489B09F440EB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74FD41-C99A-4469-D979-EF1320BE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E36344-B08B-C5C1-82FF-BDBB1D6A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7862107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539750" y="1268413"/>
            <a:ext cx="7488238" cy="469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数据冲突简介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</a:p>
          <a:p>
            <a:pPr lvl="1"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实例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：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ADD	R1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R2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R3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	SUB	R4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R5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	AND	R6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R7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	OR	R8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R9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	XOR	R10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R11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产生原因：当指令在流水线中重叠执行时，流水线有可能改变指令读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写操作数的顺序，使之不同于它们在非流水实现时的顺序，这将导致数据冲突。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消除方法：向流水线中插入暂停周期</a:t>
            </a:r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8A428D-22D9-9295-C18C-AA990304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E8D757-499E-4EAE-AED3-B115826A37AA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50EF837-2283-8A67-B31E-DFFF6310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FBEA61-ACEA-2E0E-51FB-32F802EB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78123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684213" y="1255713"/>
            <a:ext cx="7488237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通过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定向技术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减少数据冲突带来的暂停</a:t>
            </a:r>
          </a:p>
          <a:p>
            <a:pPr eaLnBrk="1" hangingPunct="1">
              <a:spcBef>
                <a:spcPct val="80000"/>
              </a:spcBef>
            </a:pPr>
            <a:r>
              <a:rPr kumimoji="1"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定向</a:t>
            </a:r>
            <a:r>
              <a:rPr kumimoji="1"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(forwarding)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，也称为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旁路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(bypassing)</a:t>
            </a:r>
          </a:p>
          <a:p>
            <a:pPr eaLnBrk="1" hangingPunct="1">
              <a:spcBef>
                <a:spcPct val="80000"/>
              </a:spcBef>
            </a:pPr>
            <a:r>
              <a:rPr kumimoji="1"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4" action="ppaction://hlinksldjump"/>
              </a:rPr>
              <a:t>工作过程</a:t>
            </a:r>
            <a:endParaRPr kumimoji="1"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主要思路：将计算结果从其产生的地方直接送到真正需要它的地方，就可以避免暂停。</a:t>
            </a:r>
          </a:p>
          <a:p>
            <a:pPr lvl="1" eaLnBrk="1" hangingPunct="1">
              <a:spcBef>
                <a:spcPct val="50000"/>
              </a:spcBef>
              <a:buFont typeface="楷体_GB2312" pitchFamily="49" charset="-122"/>
              <a:buChar char="-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寄存器文件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EX/MEM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ALU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运算结果总是回送到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ALU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的输入端</a:t>
            </a:r>
          </a:p>
          <a:p>
            <a:pPr lvl="1" eaLnBrk="1" hangingPunct="1">
              <a:spcBef>
                <a:spcPct val="50000"/>
              </a:spcBef>
              <a:buFont typeface="楷体_GB2312" pitchFamily="49" charset="-122"/>
              <a:buChar char="-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从定向通路得到输入数据的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ALU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操作不必从源寄存器中读取操作数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003DCE-52B3-E280-EA85-1D6CE0D4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81015B-A08F-4D28-B41B-77EA02296312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A6990D-D107-9CB8-6DE2-A567B761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73C8A1-5067-13AE-F8D2-37CE3F3D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20028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611188" y="1196975"/>
            <a:ext cx="7488237" cy="465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通过定向技术减少数据冲突带来的暂停</a:t>
            </a:r>
            <a:endParaRPr lang="zh-CN" altLang="en-US" sz="28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进一步推广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：一个结果不仅可以从某一功能单元的输出定向到其自身的输入，而且还可以定向到其它功能单元的输入。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举例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MIPS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中，任何流水寄存器到任何功能单元的输入都可能需要定向路径，将形成复杂的旁路网络。</a:t>
            </a:r>
          </a:p>
          <a:p>
            <a:pPr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两条指令访问同一存储单元，也可能引起数据冲突，例如访问数据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失效时。</a:t>
            </a:r>
          </a:p>
          <a:p>
            <a:pPr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本章只讨论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寄存器数据冲突！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708FFC-C756-7E1B-A2B5-9FD2686D8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679949-048B-4A86-925B-74D550803A42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355BE1-B5F0-46FB-9827-6B49D466A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BC9DD0-5E2B-9C3F-2908-E71D8517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004315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611188" y="1268413"/>
            <a:ext cx="7488237" cy="409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数据冲突的分类</a:t>
            </a:r>
          </a:p>
          <a:p>
            <a:pPr eaLnBrk="1" hangingPunct="1">
              <a:spcBef>
                <a:spcPct val="60000"/>
              </a:spcBef>
            </a:pPr>
            <a:r>
              <a:rPr kumimoji="1"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两条指令 </a:t>
            </a:r>
            <a:r>
              <a:rPr kumimoji="1"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i </a:t>
            </a: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和 </a:t>
            </a:r>
            <a:r>
              <a:rPr kumimoji="1"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j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，都会访问同一寄存器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，假设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先进入流水线，则它们对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有四种不同的访问顺序：</a:t>
            </a:r>
          </a:p>
          <a:p>
            <a:pPr eaLnBrk="1" hangingPunct="1">
              <a:spcBef>
                <a:spcPct val="6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先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写后读冲突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RAW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) ——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写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读 </a:t>
            </a:r>
            <a:endParaRPr kumimoji="1" lang="en-US" altLang="zh-CN" sz="2400" b="1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6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完成写之前从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中读出数据，将得到错误的结果！</a:t>
            </a:r>
          </a:p>
          <a:p>
            <a:pPr lvl="1" eaLnBrk="1" hangingPunct="1">
              <a:spcBef>
                <a:spcPct val="6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最常见的数据冲突，严重制约了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的性能，是程序最重要的特征之一！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86B9E2-73BD-782E-5E1B-1294DF72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AA0418-4E52-4BE6-AF99-497A7DB9A5C2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0B89A6-E3A9-71D6-330D-0F75C7A5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50230D-E6F1-D572-6E85-E9947769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316015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612775" y="1268413"/>
            <a:ext cx="7847013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数据冲突的分类</a:t>
            </a:r>
          </a:p>
          <a:p>
            <a:pPr eaLnBrk="1" hangingPunct="1">
              <a:spcBef>
                <a:spcPct val="6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写后写冲突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WAW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) ——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写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写</a:t>
            </a:r>
            <a:endParaRPr kumimoji="1" lang="en-US" altLang="zh-CN" sz="2400" b="1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6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之前完成写操作，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中将保存错误的结果！</a:t>
            </a:r>
          </a:p>
          <a:p>
            <a:pPr lvl="1" eaLnBrk="1" hangingPunct="1">
              <a:spcBef>
                <a:spcPct val="6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MIPS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流水线不会出现这种冲突！</a:t>
            </a:r>
          </a:p>
          <a:p>
            <a:pPr lvl="1" eaLnBrk="1" hangingPunct="1">
              <a:spcBef>
                <a:spcPct val="6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当流水线中有多个段可以写回，或者当流水线暂停某条指令的执行时，允许其后的指令可以继续前进时，可能引起这种类型的冲突。</a:t>
            </a:r>
          </a:p>
          <a:p>
            <a:pPr lvl="1" eaLnBrk="1" hangingPunct="1">
              <a:spcBef>
                <a:spcPct val="60000"/>
              </a:spcBef>
            </a:pP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4" action="ppaction://hlinksldjump"/>
              </a:rPr>
              <a:t>举例</a:t>
            </a:r>
            <a:endParaRPr kumimoji="1"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68140C-AC61-0D5C-AA57-8226748F9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AFC985-0931-452A-93C5-42CA94FD9701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46E868-13A8-ADC3-4F71-4D8EF1B55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77E59A-85BC-AA08-ABEE-BD38AC01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169494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612775" y="1268413"/>
            <a:ext cx="7704138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数据冲突的分类</a:t>
            </a:r>
          </a:p>
          <a:p>
            <a:pPr eaLnBrk="1" hangingPunct="1">
              <a:spcBef>
                <a:spcPct val="6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先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读后写冲突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WAR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) ——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读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写</a:t>
            </a:r>
            <a:endParaRPr kumimoji="1" lang="en-US" altLang="zh-CN" sz="2400" b="1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25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j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先将数据写入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将读出错误的结果！</a:t>
            </a:r>
          </a:p>
          <a:p>
            <a:pPr lvl="1" eaLnBrk="1" hangingPunct="1">
              <a:spcBef>
                <a:spcPct val="25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MIPS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流水线不会出现这种类型的冲突！</a:t>
            </a:r>
          </a:p>
          <a:p>
            <a:pPr lvl="1" eaLnBrk="1" hangingPunct="1">
              <a:spcBef>
                <a:spcPct val="25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当有些指令在流水段后半部分读源操作数，另一些指令在流水段前半部分写结果，可能引起这种类型的相关。</a:t>
            </a:r>
          </a:p>
          <a:p>
            <a:pPr eaLnBrk="1" hangingPunct="1">
              <a:spcBef>
                <a:spcPct val="8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(4)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读后读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RAR 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—— 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读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j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读</a:t>
            </a:r>
          </a:p>
          <a:p>
            <a:pPr lvl="1" eaLnBrk="1" hangingPunct="1">
              <a:spcBef>
                <a:spcPct val="25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不引起数据相关！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6D7378-3479-EA64-8237-9A9A4C2B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AF5A43-2B5D-4F27-8BCC-81B7066DBD64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142CF5-D6FD-6462-60B7-F8566FF14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867DED-CBEA-C50B-AF66-9B269431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0086609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2"/>
          <p:cNvSpPr txBox="1">
            <a:spLocks noChangeArrowheads="1"/>
          </p:cNvSpPr>
          <p:nvPr/>
        </p:nvSpPr>
        <p:spPr bwMode="auto">
          <a:xfrm>
            <a:off x="612774" y="1196975"/>
            <a:ext cx="8074025" cy="454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需要暂停的数据冲突</a:t>
            </a:r>
          </a:p>
          <a:p>
            <a:pPr lvl="1" eaLnBrk="1" hangingPunct="1">
              <a:spcBef>
                <a:spcPct val="2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并非所有数据冲突都可以通过定向技术解决。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3" action="ppaction://hlinksldjump"/>
              </a:rPr>
              <a:t>例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：	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LW	R1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R2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）</a:t>
            </a:r>
          </a:p>
          <a:p>
            <a:pPr lvl="4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SUB	R4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R5</a:t>
            </a:r>
          </a:p>
          <a:p>
            <a:pPr lvl="4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AND	R6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R7</a:t>
            </a:r>
          </a:p>
          <a:p>
            <a:pPr lvl="4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OR	R8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R9</a:t>
            </a:r>
          </a:p>
          <a:p>
            <a:pPr lvl="1" eaLnBrk="1" hangingPunct="1">
              <a:spcBef>
                <a:spcPct val="2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增加流水线“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流水线互锁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”部件，当互锁硬件发现这种冲突后，就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4" action="ppaction://hlinksldjump"/>
              </a:rPr>
              <a:t>暂停流水线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，直到相关消除。</a:t>
            </a:r>
          </a:p>
          <a:p>
            <a:pPr lvl="1" eaLnBrk="1" hangingPunct="1">
              <a:spcBef>
                <a:spcPct val="4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这种情况下，暂停的时钟周期数称为“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载入延迟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”。</a:t>
            </a:r>
          </a:p>
          <a:p>
            <a:pPr lvl="1" eaLnBrk="1" hangingPunct="1">
              <a:spcBef>
                <a:spcPct val="30000"/>
              </a:spcBef>
            </a:pP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5" action="ppaction://hlinksldjump"/>
              </a:rPr>
              <a:t>例</a:t>
            </a:r>
            <a:r>
              <a:rPr kumimoji="1"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5" action="ppaction://hlinksldjump"/>
              </a:rPr>
              <a:t>1</a:t>
            </a:r>
            <a:r>
              <a:rPr kumimoji="1"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hlinkClick r:id="rId6" action="ppaction://hlinksldjump"/>
              </a:rPr>
              <a:t>时空图</a:t>
            </a:r>
            <a:endParaRPr kumimoji="1"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DEFA-5282-F407-5CDE-E61BE186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CEA890-A056-4419-88E1-308B058CBC8F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B8050A-2995-AAD2-AEE2-E8C65485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12250F-058B-B846-DBD9-51639AF6E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6790132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1074" name="Text Box 2"/>
              <p:cNvSpPr txBox="1">
                <a:spLocks noChangeArrowheads="1"/>
              </p:cNvSpPr>
              <p:nvPr/>
            </p:nvSpPr>
            <p:spPr bwMode="auto">
              <a:xfrm>
                <a:off x="611188" y="1196975"/>
                <a:ext cx="7921625" cy="4806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1pPr>
                <a:lvl2pPr marL="800100" indent="-3429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60000"/>
                  </a:spcBef>
                </a:pPr>
                <a:r>
                  <a:rPr kumimoji="1" lang="en-US" altLang="zh-CN" sz="28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5</a:t>
                </a:r>
                <a:r>
                  <a:rPr kumimoji="1" lang="zh-CN" altLang="en-US" sz="28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．对数据冲突的编译调度方法</a:t>
                </a:r>
              </a:p>
              <a:p>
                <a:pPr lvl="1" eaLnBrk="1" hangingPunct="1">
                  <a:spcBef>
                    <a:spcPct val="100000"/>
                  </a:spcBef>
                  <a:buSzPct val="60000"/>
                  <a:buFont typeface="Wingdings" pitchFamily="2" charset="2"/>
                  <a:buChar char="u"/>
                </a:pP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流水线中常常会遇到多种类型的暂停</a:t>
                </a:r>
              </a:p>
              <a:p>
                <a:pPr lvl="1" eaLnBrk="1" hangingPunct="1">
                  <a:spcBef>
                    <a:spcPct val="60000"/>
                  </a:spcBef>
                </a:pP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	例如，计算表达式</a:t>
                </a:r>
                <a:r>
                  <a:rPr kumimoji="1"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  <a:hlinkClick r:id="" action="ppaction://noaction"/>
                  </a:rPr>
                  <a:t>A=B+C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  <a:hlinkClick r:id="" action="ppaction://noaction"/>
                  </a:rPr>
                  <a:t>时会出现暂停</a:t>
                </a:r>
                <a:endParaRPr kumimoji="1"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</a:endParaRPr>
              </a:p>
              <a:p>
                <a:pPr lvl="1" eaLnBrk="1" hangingPunct="1">
                  <a:spcBef>
                    <a:spcPct val="100000"/>
                  </a:spcBef>
                  <a:buSzPct val="60000"/>
                  <a:buFont typeface="Wingdings" pitchFamily="2" charset="2"/>
                  <a:buChar char="u"/>
                </a:pP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编译器可以通过重新排列代码的顺序来消除这种暂停，这种技术就是“</a:t>
                </a:r>
                <a:r>
                  <a:rPr kumimoji="1" lang="zh-CN" altLang="en-US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流水线调度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”或“</a:t>
                </a:r>
                <a:r>
                  <a:rPr kumimoji="1" lang="zh-CN" altLang="en-US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指令调度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”</a:t>
                </a:r>
              </a:p>
              <a:p>
                <a:pPr lvl="1" eaLnBrk="1" hangingPunct="1"/>
                <a:endParaRPr kumimoji="1"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例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: 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请为下列表达式生成没有暂停的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MIPS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指令序列</a:t>
                </a:r>
              </a:p>
              <a:p>
                <a:pPr lvl="1" eaLnBrk="1" hangingPunct="1"/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			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a = b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  <a:ea typeface="华文中宋" pitchFamily="2" charset="-122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kumimoji="1" lang="en-US" altLang="zh-CN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 c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；</a:t>
                </a:r>
              </a:p>
              <a:p>
                <a:pPr lvl="1" eaLnBrk="1" hangingPunct="1"/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			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d = e – f;</a:t>
                </a:r>
              </a:p>
              <a:p>
                <a:pPr lvl="1" eaLnBrk="1" hangingPunct="1"/>
                <a:r>
                  <a:rPr kumimoji="1" lang="en-US" altLang="zh-CN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	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假设载入延迟为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华文中宋" pitchFamily="2" charset="-122"/>
                    <a:cs typeface="Times New Roman" panose="02020603050405020304" pitchFamily="18" charset="0"/>
                  </a:rPr>
                  <a:t>个时钟周期。</a:t>
                </a:r>
              </a:p>
            </p:txBody>
          </p:sp>
        </mc:Choice>
        <mc:Fallback xmlns="">
          <p:sp>
            <p:nvSpPr>
              <p:cNvPr id="131074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1196975"/>
                <a:ext cx="7921625" cy="4806950"/>
              </a:xfrm>
              <a:prstGeom prst="rect">
                <a:avLst/>
              </a:prstGeom>
              <a:blipFill>
                <a:blip r:embed="rId3"/>
                <a:stretch>
                  <a:fillRect l="-1538" t="-1267" b="-190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D850B6-38D7-05BB-F34E-617F9701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9B6B9A-5B18-4634-9EF8-018CA29A3E8F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144408-B608-555B-47EE-D823683B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AA8E10-AFA3-8A1F-990D-D6D0DD174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8137916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2696" name="Group 5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500324"/>
              </p:ext>
            </p:extLst>
          </p:nvPr>
        </p:nvGraphicFramePr>
        <p:xfrm>
          <a:off x="1835696" y="2420888"/>
          <a:ext cx="5472112" cy="3596006"/>
        </p:xfrm>
        <a:graphic>
          <a:graphicData uri="http://schemas.openxmlformats.org/drawingml/2006/table">
            <a:tbl>
              <a:tblPr/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563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调度前的代码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调度后的代码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0"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    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Rb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    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Rc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    Ra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Rb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Rc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     Ra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     Re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    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Rf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SUB    Rd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Rf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     Rd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    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Rb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    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Rc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     Re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    Ra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Rb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Rc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     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Rf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     Ra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SUB    Rd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Rf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     Rd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 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637" name="Rectangle 50" descr="Rectangle: Click to edit Master text styles&#10;Second level&#10;Third level&#10;Fourth level&#10;Fifth level"/>
              <p:cNvSpPr>
                <a:spLocks noChangeArrowheads="1"/>
              </p:cNvSpPr>
              <p:nvPr/>
            </p:nvSpPr>
            <p:spPr bwMode="auto">
              <a:xfrm>
                <a:off x="395288" y="333375"/>
                <a:ext cx="7772400" cy="19434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1714500" lvl="2" indent="-4572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itchFamily="2" charset="2"/>
                  <a:buChar char="p"/>
                </a:pPr>
                <a:r>
                  <a:rPr lang="zh-CN" altLang="en-US" sz="2000" dirty="0">
                    <a:solidFill>
                      <a:srgbClr val="E24C05"/>
                    </a:solidFill>
                  </a:rPr>
                  <a:t>举例：</a:t>
                </a:r>
              </a:p>
              <a:p>
                <a:pPr marL="1257300" lvl="2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黑体" pitchFamily="49" charset="-122"/>
                  </a:rPr>
                  <a:t>请为下列表达式生成没有暂停的指令序列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黑体" pitchFamily="49" charset="-122"/>
                  </a:rPr>
                  <a:t>:</a:t>
                </a:r>
              </a:p>
              <a:p>
                <a:pPr marL="900113" lvl="1" indent="-271463"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itchFamily="2" charset="2"/>
                  <a:buNone/>
                </a:pPr>
                <a:r>
                  <a:rPr lang="en-US" altLang="zh-CN" dirty="0">
                    <a:solidFill>
                      <a:srgbClr val="008000"/>
                    </a:solidFill>
                    <a:latin typeface="黑体" pitchFamily="49" charset="-122"/>
                  </a:rPr>
                  <a:t>			</a:t>
                </a:r>
                <a:r>
                  <a:rPr lang="en-US" altLang="zh-CN" sz="1800" dirty="0">
                    <a:solidFill>
                      <a:srgbClr val="008000"/>
                    </a:solidFill>
                    <a:latin typeface="黑体" pitchFamily="49" charset="-122"/>
                  </a:rPr>
                  <a:t>a </a:t>
                </a:r>
                <a:r>
                  <a:rPr lang="zh-CN" altLang="en-US" sz="1800" dirty="0">
                    <a:solidFill>
                      <a:srgbClr val="008000"/>
                    </a:solidFill>
                    <a:latin typeface="黑体" pitchFamily="49" charset="-122"/>
                  </a:rPr>
                  <a:t>＝ </a:t>
                </a:r>
                <a:r>
                  <a:rPr lang="en-US" altLang="zh-CN" sz="1800" dirty="0">
                    <a:solidFill>
                      <a:srgbClr val="008000"/>
                    </a:solidFill>
                    <a:latin typeface="黑体" pitchFamily="49" charset="-122"/>
                  </a:rPr>
                  <a:t>b</a:t>
                </a:r>
                <a:r>
                  <a:rPr lang="zh-CN" altLang="en-US" sz="1800" dirty="0">
                    <a:solidFill>
                      <a:srgbClr val="008000"/>
                    </a:solidFill>
                    <a:latin typeface="黑体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sz="1800" dirty="0">
                    <a:solidFill>
                      <a:srgbClr val="008000"/>
                    </a:solidFill>
                    <a:latin typeface="黑体" pitchFamily="49" charset="-122"/>
                  </a:rPr>
                  <a:t> </a:t>
                </a:r>
                <a:r>
                  <a:rPr lang="en-US" altLang="zh-CN" sz="1800" dirty="0">
                    <a:solidFill>
                      <a:srgbClr val="008000"/>
                    </a:solidFill>
                    <a:latin typeface="黑体" pitchFamily="49" charset="-122"/>
                  </a:rPr>
                  <a:t>c </a:t>
                </a:r>
                <a:r>
                  <a:rPr lang="zh-CN" altLang="en-US" sz="1800" dirty="0">
                    <a:solidFill>
                      <a:srgbClr val="008000"/>
                    </a:solidFill>
                    <a:latin typeface="黑体" pitchFamily="49" charset="-122"/>
                  </a:rPr>
                  <a:t>；</a:t>
                </a:r>
              </a:p>
              <a:p>
                <a:pPr marL="900113" lvl="1" indent="-271463">
                  <a:spcBef>
                    <a:spcPct val="20000"/>
                  </a:spcBef>
                  <a:buClr>
                    <a:schemeClr val="tx1"/>
                  </a:buClr>
                  <a:buSzPct val="90000"/>
                  <a:buFont typeface="Wingdings" pitchFamily="2" charset="2"/>
                  <a:buNone/>
                </a:pPr>
                <a:r>
                  <a:rPr lang="zh-CN" altLang="en-US" sz="1800" dirty="0">
                    <a:solidFill>
                      <a:srgbClr val="008000"/>
                    </a:solidFill>
                    <a:latin typeface="黑体" pitchFamily="49" charset="-122"/>
                  </a:rPr>
                  <a:t>          </a:t>
                </a:r>
                <a:r>
                  <a:rPr lang="en-US" altLang="zh-CN" sz="1800" dirty="0">
                    <a:solidFill>
                      <a:srgbClr val="008000"/>
                    </a:solidFill>
                    <a:latin typeface="黑体" pitchFamily="49" charset="-122"/>
                  </a:rPr>
                  <a:t>	d </a:t>
                </a:r>
                <a:r>
                  <a:rPr lang="zh-CN" altLang="en-US" sz="1800" dirty="0">
                    <a:solidFill>
                      <a:srgbClr val="008000"/>
                    </a:solidFill>
                    <a:latin typeface="黑体" pitchFamily="49" charset="-122"/>
                  </a:rPr>
                  <a:t>＝ </a:t>
                </a:r>
                <a:r>
                  <a:rPr lang="en-US" altLang="zh-CN" sz="1800" dirty="0">
                    <a:solidFill>
                      <a:srgbClr val="008000"/>
                    </a:solidFill>
                    <a:latin typeface="黑体" pitchFamily="49" charset="-122"/>
                  </a:rPr>
                  <a:t>e </a:t>
                </a:r>
                <a:r>
                  <a:rPr lang="zh-CN" altLang="en-US" sz="1800" dirty="0">
                    <a:solidFill>
                      <a:srgbClr val="008000"/>
                    </a:solidFill>
                    <a:latin typeface="黑体" pitchFamily="49" charset="-122"/>
                  </a:rPr>
                  <a:t>－ </a:t>
                </a:r>
                <a:r>
                  <a:rPr lang="en-US" altLang="zh-CN" sz="1800" dirty="0">
                    <a:solidFill>
                      <a:srgbClr val="008000"/>
                    </a:solidFill>
                    <a:latin typeface="黑体" pitchFamily="49" charset="-122"/>
                  </a:rPr>
                  <a:t>f </a:t>
                </a:r>
                <a:r>
                  <a:rPr lang="zh-CN" altLang="en-US" sz="1800" dirty="0">
                    <a:solidFill>
                      <a:srgbClr val="008000"/>
                    </a:solidFill>
                    <a:latin typeface="黑体" pitchFamily="49" charset="-122"/>
                  </a:rPr>
                  <a:t>；</a:t>
                </a:r>
              </a:p>
              <a:p>
                <a:pPr marL="1257300" lvl="2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宋体" charset="-122"/>
                  </a:rPr>
                  <a:t>假设载入延迟为</a:t>
                </a:r>
                <a:r>
                  <a:rPr lang="en-US" altLang="zh-CN" sz="2000" dirty="0">
                    <a:solidFill>
                      <a:srgbClr val="9933FF"/>
                    </a:solidFill>
                    <a:latin typeface="宋体" charset="-122"/>
                  </a:rPr>
                  <a:t>1</a:t>
                </a:r>
                <a:r>
                  <a:rPr lang="zh-CN" altLang="en-US" sz="2000" dirty="0">
                    <a:solidFill>
                      <a:srgbClr val="080808"/>
                    </a:solidFill>
                    <a:latin typeface="宋体" charset="-122"/>
                  </a:rPr>
                  <a:t>个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宋体" charset="-122"/>
                  </a:rPr>
                  <a:t>时钟周期。</a:t>
                </a:r>
              </a:p>
              <a:p>
                <a:pPr marL="1257300" lvl="2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</a:pPr>
                <a:endParaRPr lang="en-US" altLang="zh-CN" sz="2000" dirty="0">
                  <a:solidFill>
                    <a:srgbClr val="000000"/>
                  </a:solidFill>
                  <a:latin typeface="黑体" pitchFamily="49" charset="-122"/>
                </a:endParaRPr>
              </a:p>
              <a:p>
                <a:pPr marL="1257300" lvl="2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60000"/>
                </a:pPr>
                <a:endParaRPr lang="zh-CN" altLang="en-US" sz="2000" b="1" dirty="0"/>
              </a:p>
            </p:txBody>
          </p:sp>
        </mc:Choice>
        <mc:Fallback xmlns="">
          <p:sp>
            <p:nvSpPr>
              <p:cNvPr id="26637" name="Rectangle 50" descr="Rectangle: Click to edit Master text styles&#10;Second level&#10;Third level&#10;Fourth level&#10;Fifth leve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288" y="333375"/>
                <a:ext cx="7772400" cy="1943497"/>
              </a:xfrm>
              <a:prstGeom prst="rect">
                <a:avLst/>
              </a:prstGeom>
              <a:blipFill>
                <a:blip r:embed="rId3"/>
                <a:stretch>
                  <a:fillRect t="-25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D61786-03E0-E685-AC8A-E3C289F8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9A73C0-AE11-46A0-9907-3C967642A599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C616D1-3B74-AFEC-C238-E28B1B0D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978706-3858-6CD3-9B20-35CA3F61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95BA35-14E5-4401-B968-D9FCFD45D966}" type="slidenum">
              <a:rPr lang="zh-CN" altLang="en-US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878501"/>
      </p:ext>
    </p:extLst>
  </p:cSld>
  <p:clrMapOvr>
    <a:masterClrMapping/>
  </p:clrMapOvr>
  <p:transition>
    <p:pull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/>
          <p:cNvSpPr txBox="1">
            <a:spLocks noChangeArrowheads="1"/>
          </p:cNvSpPr>
          <p:nvPr/>
        </p:nvSpPr>
        <p:spPr bwMode="auto">
          <a:xfrm>
            <a:off x="539750" y="1467519"/>
            <a:ext cx="7632700" cy="441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华文中宋" pitchFamily="2" charset="-122"/>
                <a:ea typeface="华文中宋" pitchFamily="2" charset="-122"/>
              </a:rPr>
              <a:t>6.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 对</a:t>
            </a:r>
            <a:r>
              <a:rPr kumimoji="1" lang="en-US" altLang="zh-CN" sz="2800" b="1" dirty="0">
                <a:latin typeface="华文中宋" pitchFamily="2" charset="-122"/>
                <a:ea typeface="华文中宋" pitchFamily="2" charset="-122"/>
              </a:rPr>
              <a:t>MIPS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流水线控制的实现</a:t>
            </a:r>
          </a:p>
          <a:p>
            <a:pPr lvl="1" eaLnBrk="1" hangingPunct="1">
              <a:spcBef>
                <a:spcPct val="10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指令发射</a:t>
            </a:r>
            <a:r>
              <a:rPr kumimoji="1" lang="en-US" altLang="zh-CN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(Issue)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：指令从流水线的译码段进入执行段的过程称为指令发射。</a:t>
            </a: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检测数据冲突</a:t>
            </a:r>
          </a:p>
          <a:p>
            <a:pPr lvl="2" eaLnBrk="1" hangingPunct="1">
              <a:spcBef>
                <a:spcPct val="25000"/>
              </a:spcBef>
              <a:buFont typeface="楷体_GB2312" pitchFamily="49" charset="-122"/>
              <a:buChar char="-"/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ID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段可以检测所有数据冲突</a:t>
            </a:r>
          </a:p>
          <a:p>
            <a:pPr lvl="2" eaLnBrk="1" hangingPunct="1">
              <a:spcBef>
                <a:spcPct val="25000"/>
              </a:spcBef>
              <a:buFont typeface="楷体_GB2312" pitchFamily="49" charset="-122"/>
              <a:buChar char="-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也可以在使用一个操作数的时钟周期的开始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(EX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和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MEM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段的开始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)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检测相关，并确定必需的定向</a:t>
            </a:r>
          </a:p>
          <a:p>
            <a:pPr lvl="2" eaLnBrk="1" hangingPunct="1">
              <a:spcBef>
                <a:spcPct val="25000"/>
              </a:spcBef>
              <a:buFont typeface="楷体_GB2312" pitchFamily="49" charset="-122"/>
              <a:buChar char="-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流水线相关硬件可以检测到的各种冲突情况</a:t>
            </a:r>
            <a:endParaRPr kumimoji="1" lang="zh-CN" altLang="en-US" sz="2400" b="1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+mj-ea"/>
                <a:ea typeface="+mj-ea"/>
              </a:rPr>
              <a:t>3.3.2 </a:t>
            </a:r>
            <a:r>
              <a:rPr lang="zh-CN" altLang="en-US" sz="3600" b="1" dirty="0">
                <a:latin typeface="+mj-ea"/>
                <a:ea typeface="+mj-ea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BEE721-9909-2D0A-3341-14D4738B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A9E825-2D4C-4670-9BE8-5DBB59CC2FBF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043724-423F-C33B-D539-DD12B27C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90DE34-8AAA-D8D9-A2FF-C76F84E8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028482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611188" y="1196975"/>
            <a:ext cx="7488237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华文中宋" pitchFamily="2" charset="-122"/>
                <a:ea typeface="华文中宋" pitchFamily="2" charset="-122"/>
              </a:rPr>
              <a:t>6. 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对</a:t>
            </a:r>
            <a:r>
              <a:rPr kumimoji="1" lang="en-US" altLang="zh-CN" sz="2800" b="1" dirty="0">
                <a:latin typeface="华文中宋" pitchFamily="2" charset="-122"/>
                <a:ea typeface="华文中宋" pitchFamily="2" charset="-122"/>
              </a:rPr>
              <a:t>MIPS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流水线控制的实现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(1) 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Load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互锁的检测与实现</a:t>
            </a:r>
          </a:p>
          <a:p>
            <a:pPr lvl="1" eaLnBrk="1" hangingPunct="1">
              <a:spcBef>
                <a:spcPct val="5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在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ID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段检测是否需要启动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Load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互锁，必须进行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三种比较</a:t>
            </a:r>
            <a:endParaRPr kumimoji="1" lang="zh-CN" altLang="en-US" sz="2400" b="1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spcBef>
                <a:spcPct val="5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一旦检测到冲突，控制部件必须在流水线中插入暂停周期，并使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IF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和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ID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段中的指令停止前进</a:t>
            </a:r>
          </a:p>
          <a:p>
            <a:pPr lvl="2" eaLnBrk="1" hangingPunct="1">
              <a:spcBef>
                <a:spcPct val="35000"/>
              </a:spcBef>
              <a:buFont typeface="楷体_GB2312" pitchFamily="49" charset="-122"/>
              <a:buChar char="-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将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ID/EX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中控制部分清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0</a:t>
            </a:r>
          </a:p>
          <a:p>
            <a:pPr lvl="2" eaLnBrk="1" hangingPunct="1">
              <a:spcBef>
                <a:spcPct val="35000"/>
              </a:spcBef>
              <a:buFont typeface="楷体_GB2312" pitchFamily="49" charset="-122"/>
              <a:buChar char="-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保持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IF/ID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的内容不变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+mj-ea"/>
                <a:ea typeface="+mj-ea"/>
              </a:rPr>
              <a:t>3.3.2 </a:t>
            </a:r>
            <a:r>
              <a:rPr lang="zh-CN" altLang="en-US" sz="3600" b="1" dirty="0">
                <a:latin typeface="+mj-ea"/>
                <a:ea typeface="+mj-ea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7A326D-381C-78AC-B743-57619279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25BF63-BDC4-4B3A-929F-26AC8800F9DE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B5DB83-435C-38EE-3752-72E9C220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ABA65A-D6E0-9DA1-7783-37A36290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942939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611188" y="1268413"/>
            <a:ext cx="7488237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华文中宋" pitchFamily="2" charset="-122"/>
                <a:ea typeface="华文中宋" pitchFamily="2" charset="-122"/>
              </a:rPr>
              <a:t>6. 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对</a:t>
            </a:r>
            <a:r>
              <a:rPr kumimoji="1" lang="en-US" altLang="zh-CN" sz="2800" b="1" dirty="0">
                <a:latin typeface="华文中宋" pitchFamily="2" charset="-122"/>
                <a:ea typeface="华文中宋" pitchFamily="2" charset="-122"/>
              </a:rPr>
              <a:t>MIPS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流水线控制的实现</a:t>
            </a:r>
            <a:endParaRPr kumimoji="1"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spcBef>
                <a:spcPct val="100000"/>
              </a:spcBef>
            </a:pP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(2) 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定向逻辑的实现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——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例如</a:t>
            </a:r>
            <a:endParaRPr kumimoji="1" lang="zh-CN" altLang="en-US" sz="2400" b="1" dirty="0">
              <a:latin typeface="华文中宋" pitchFamily="2" charset="-122"/>
              <a:ea typeface="华文中宋" pitchFamily="2" charset="-122"/>
            </a:endParaRPr>
          </a:p>
          <a:p>
            <a:pPr lvl="2" eaLnBrk="1" hangingPunct="1">
              <a:spcBef>
                <a:spcPct val="100000"/>
              </a:spcBef>
              <a:buFont typeface="楷体_GB2312" pitchFamily="49" charset="-122"/>
              <a:buChar char="-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所有的定向都是从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ALU/DM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的输出到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ALU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、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DM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或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检测单元的输入		</a:t>
            </a:r>
            <a:endParaRPr kumimoji="1" lang="en-US" altLang="zh-CN" sz="2400" b="1" dirty="0">
              <a:latin typeface="华文中宋" pitchFamily="2" charset="-122"/>
              <a:ea typeface="华文中宋" pitchFamily="2" charset="-122"/>
            </a:endParaRPr>
          </a:p>
          <a:p>
            <a:pPr lvl="2" eaLnBrk="1" hangingPunct="1">
              <a:spcBef>
                <a:spcPct val="100000"/>
              </a:spcBef>
              <a:buFont typeface="楷体_GB2312" pitchFamily="49" charset="-122"/>
              <a:buChar char="-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形成了一个</a:t>
            </a: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旁路网络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(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  <a:hlinkClick r:id="rId4" action="ppaction://hlinksldjump"/>
              </a:rPr>
              <a:t>图示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)</a:t>
            </a:r>
            <a:endParaRPr kumimoji="1" lang="zh-CN" altLang="en-US" sz="2400" b="1" dirty="0">
              <a:solidFill>
                <a:schemeClr val="accent2"/>
              </a:solidFill>
              <a:latin typeface="华文中宋" pitchFamily="2" charset="-122"/>
              <a:ea typeface="华文中宋" pitchFamily="2" charset="-122"/>
            </a:endParaRPr>
          </a:p>
          <a:p>
            <a:pPr lvl="3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需要比较哪些信息？</a:t>
            </a:r>
          </a:p>
          <a:p>
            <a:pPr lvl="3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ALU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输入端应采用多少个输入的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MUX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？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D96AF2-D0BE-631D-B6B5-41397CFA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AD091F-9637-4162-A408-00AF65429928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A02448-EBAE-AAAC-1DA8-B0D0163F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FCD5EF-4AD8-1F75-5F7C-59A276E9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0699152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280A-6069-A995-300A-B66B38E7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045C602D-D617-D6C9-075E-07CCF3F4D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流水线中的冲突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C79D576-6FEA-5F09-DD59-6999DBA421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700808"/>
            <a:ext cx="7064375" cy="3313112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3.3.1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流水线的结构冲突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3.3.2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流水线的数据冲突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r>
              <a:rPr lang="en-US" altLang="zh-C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3.3.3 </a:t>
            </a:r>
            <a:r>
              <a:rPr lang="zh-CN" alt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流水线的控制冲突</a:t>
            </a:r>
            <a:endParaRPr lang="en-US" altLang="zh-C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14D851-CE8E-FE21-6A9A-95BE4CC1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34CCE7-6327-4100-86DD-489B09F440EB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E80126-C348-AA50-AD49-8D4E7979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C8DC6E-5376-72E4-1DF6-C99049A0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8959409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611188" y="1468438"/>
            <a:ext cx="7705725" cy="392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00000"/>
              </a:spcBef>
              <a:defRPr/>
            </a:pPr>
            <a:r>
              <a:rPr kumimoji="1"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分支指令的实现</a:t>
            </a: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一旦分支转移成功，正确的地址要在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 action="ppaction://hlinksldjump"/>
              </a:rPr>
              <a:t>Mem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 action="ppaction://hlinksldjump"/>
              </a:rPr>
              <a:t>段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才会被写入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一旦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段检测到分支指令，就暂停执行其后的指令，直到分支指令达到</a:t>
            </a:r>
            <a:r>
              <a:rPr lang="en-US" altLang="zh-CN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Mem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段，确定新的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为止。</a:t>
            </a: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分支转移成功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将导致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MIPS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流水线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 action="ppaction://hlinksldjump"/>
              </a:rPr>
              <a:t>暂停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 action="ppaction://hlinksldjump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 action="ppaction://hlinksldjump"/>
              </a:rPr>
              <a:t>个周期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  <a:defRPr/>
            </a:pPr>
            <a:endParaRPr kumimoji="1"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1619672" y="404664"/>
            <a:ext cx="662528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3.3.3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流水线的控制冲突</a:t>
            </a:r>
            <a:r>
              <a:rPr lang="zh-CN" altLang="en-US" sz="3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（冒险）</a:t>
            </a:r>
            <a:endParaRPr lang="zh-CN" altLang="en-US" sz="3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D19832-F393-BF91-A214-4E22765E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EE6CAC-466D-412A-9696-35A72D8074A3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6E2C32-392F-B801-864B-D60D4CCD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F562A8-FA06-3E6F-4508-476199DD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8766598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611188" y="1125538"/>
            <a:ext cx="7848600" cy="5029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defRPr/>
            </a:pPr>
            <a:r>
              <a:rPr kumimoji="1"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减少分支开销的途径</a:t>
            </a:r>
          </a:p>
          <a:p>
            <a:pPr lvl="1" eaLnBrk="1" hangingPunct="1">
              <a:spcBef>
                <a:spcPct val="20000"/>
              </a:spcBef>
              <a:buSzPct val="60000"/>
              <a:buFont typeface="Wingdings" pitchFamily="2" charset="2"/>
              <a:buChar char="u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两个基本途径：同时采用，缺一不可！</a:t>
            </a:r>
          </a:p>
          <a:p>
            <a:pPr lvl="2" eaLnBrk="1" hangingPunct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在流水线中尽早判断分支转移是否成功</a:t>
            </a:r>
          </a:p>
          <a:p>
            <a:pPr lvl="2" eaLnBrk="1" hangingPunct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转移成功时，尽早计算出转移目标地址</a:t>
            </a: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经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 action="ppaction://hlinksldjump"/>
              </a:rPr>
              <a:t>改进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MIPS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流水线可以将分支开销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减少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拍</a:t>
            </a:r>
          </a:p>
          <a:p>
            <a:pPr lvl="2" eaLnBrk="1" hangingPunct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将“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=0?”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测试提前到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段</a:t>
            </a:r>
          </a:p>
          <a:p>
            <a:pPr lvl="2" eaLnBrk="1" hangingPunct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段增加一个加法器，计算分支目标地址</a:t>
            </a:r>
            <a:endParaRPr kumimoji="1"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14400" lvl="2" indent="0" eaLnBrk="1" hangingPunct="1">
              <a:spcBef>
                <a:spcPct val="20000"/>
              </a:spcBef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下表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列出了改进后流水线的分支操作</a:t>
            </a:r>
            <a:endParaRPr kumimoji="1"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5" action="ppaction://hlinksldjump"/>
              </a:rPr>
              <a:t>再改进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MIPS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流水线可以将分支开销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再减少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拍</a:t>
            </a:r>
          </a:p>
          <a:p>
            <a:pPr lvl="2" eaLnBrk="1" hangingPunct="1">
              <a:spcBef>
                <a:spcPct val="40000"/>
              </a:spcBef>
              <a:buSzPct val="60000"/>
              <a:buFont typeface="Wingdings" pitchFamily="2" charset="2"/>
              <a:buChar char="ü"/>
              <a:defRPr/>
            </a:pP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将分支判断结果和目标地址提前到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ID/EX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栈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前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35150" y="288925"/>
            <a:ext cx="5942013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3.3.3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流水线的控制冒险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7543EF-86F2-5FAA-5F85-ACA8B648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70199C-DB4C-44DD-9011-DE4FF48D4A2F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945BB6-AB1F-1CED-C216-AEC7BB1B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9A9107-49FA-97B8-5A93-423A1A60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240822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arch5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464BAC-6469-BB88-0E0F-830F2592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90C443-C321-4637-AD66-614057B584AB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CFF8B2-1E68-A12C-A7E1-304BB0CA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31B4AD-ED2B-8576-C7E8-F144C050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0270757"/>
      </p:ext>
    </p:extLst>
  </p:cSld>
  <p:clrMapOvr>
    <a:masterClrMapping/>
  </p:clrMapOvr>
  <p:transition spd="slow"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674" name="Picture 2" descr="arch53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85788"/>
            <a:ext cx="7315200" cy="568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1618BA-5BEC-4792-7124-5E94CC7A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8C2F11-5E2B-4DF2-866C-E026CDD9C970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E80996-82A1-0FAC-335C-D44D920B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BD9499-C653-2C01-1F1F-1F48CF3B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167243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28467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0483" name="Picture 2" descr="arch54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25463"/>
            <a:ext cx="7315200" cy="580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6949D7-387A-63E2-DE44-A78C3619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5E2274-D99A-4206-9BB3-029E2130C918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128606-7878-0AAF-82CD-4BE6F04E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714921-8F8A-9561-9413-F7E8D096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790071"/>
      </p:ext>
    </p:extLst>
  </p:cSld>
  <p:clrMapOvr>
    <a:masterClrMapping/>
  </p:clrMapOvr>
  <p:transition spd="slow"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arch55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DC87B8-BFFB-C457-C612-8B079E9E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2BC147-5BA0-40E6-A1AB-472ADB3CEC85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6EEB23-995D-19BE-E4FE-833EA403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BBD351-F6E1-B46E-0189-CC06EB48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7976140"/>
      </p:ext>
    </p:extLst>
  </p:cSld>
  <p:clrMapOvr>
    <a:masterClrMapping/>
  </p:clrMapOvr>
  <p:transition spd="slow"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arch56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92075"/>
            <a:ext cx="8640762" cy="667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E57961-E9A8-8AC3-221D-84FFE3CBE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9D07BC-71B6-4294-957C-AFC30ABA4C6B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CE8BAE-D213-CDA9-D191-2EADE046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3E98EB-5A01-F56B-D825-D7935E63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0922805"/>
      </p:ext>
    </p:extLst>
  </p:cSld>
  <p:clrMapOvr>
    <a:masterClrMapping/>
  </p:clrMapOvr>
  <p:transition spd="slow"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4579" name="Picture 2" descr="arch57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1617663"/>
            <a:ext cx="8637587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FECAFB-7609-9323-E1BA-B735727A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49725B-8139-4707-A0E1-28CC246D4E6F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46B358-5EEA-8DF8-F48B-10515640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F1701F-FD8E-4605-B1F7-ED3F103B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4320290"/>
      </p:ext>
    </p:extLst>
  </p:cSld>
  <p:clrMapOvr>
    <a:masterClrMapping/>
  </p:clrMapOvr>
  <p:transition spd="slow"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arch58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44450"/>
            <a:ext cx="8785225" cy="675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4D31DB-993D-6AD4-A9B3-E8F8A549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AEFBBB-5751-4C75-A5D7-D7F6968368FC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98CA0B-B161-7173-5508-5D498E29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0A7FC-63DF-5695-D3F5-0B018AB6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3852255"/>
      </p:ext>
    </p:extLst>
  </p:cSld>
  <p:clrMapOvr>
    <a:masterClrMapping/>
  </p:clrMapOvr>
  <p:transition spd="slow"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8675" name="Picture 2" descr="arch58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68438"/>
            <a:ext cx="7924800" cy="392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D137F3-BA92-92D6-D3D1-554B05B3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F84CC1-E2C1-4A2F-9CD3-98E72EF97266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529137-0B3C-7DA7-A4B0-7E90B7B6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F465BC-C7C1-C199-7C7E-202FFD8B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0985133"/>
      </p:ext>
    </p:extLst>
  </p:cSld>
  <p:clrMapOvr>
    <a:masterClrMapping/>
  </p:clrMapOvr>
  <p:transition spd="slow"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arch59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4CC836-4783-D853-CF09-2F74946F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0F5AF9-921C-4123-B4E4-A82657FEE9C4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463407-96FD-DB2A-1E64-DC74B9C05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905CBD-FED1-4BC5-B8FB-ECFACBB4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9476702"/>
      </p:ext>
    </p:extLst>
  </p:cSld>
  <p:clrMapOvr>
    <a:masterClrMapping/>
  </p:clrMapOvr>
  <p:transition spd="slow"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0723" name="Picture 2" descr="arch60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9538"/>
            <a:ext cx="807720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655771-8BD5-F703-77AE-D6DBC978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DEE05A-5C90-4253-A545-A58242A3409F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C6A89-8B12-B2BB-855C-89E00266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B0A9C8-BB6B-D4AE-EEEC-F33A33123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9918991"/>
      </p:ext>
    </p:extLst>
  </p:cSld>
  <p:clrMapOvr>
    <a:masterClrMapping/>
  </p:clrMapOvr>
  <p:transition spd="slow"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4819" name="Picture 2" descr="arch63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-46038"/>
            <a:ext cx="8424863" cy="6937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CB4AC1-6F97-0D2C-B82F-FB1D0BBE9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B7B6B4-9E16-4875-8751-0786502952A0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94EBA2-72A6-98DD-5784-CB1367E1A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375900-14E7-5903-6B98-A22E0428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871442"/>
      </p:ext>
    </p:extLst>
  </p:cSld>
  <p:clrMapOvr>
    <a:masterClrMapping/>
  </p:clrMapOvr>
  <p:transition spd="slow"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250" name="Picture 2" descr="arch64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-39688"/>
            <a:ext cx="8605837" cy="689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80B711-E0E9-63E3-FAA0-A0ADD07C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F86ACA-A79A-4D76-BAE1-E26FEE8D85A7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8AB70F-5CDA-6EC4-C9A1-F4BBF153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670B39-DB85-343C-23EF-745A292F3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891117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30925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9 -0.04954 L 0.10833 0.20255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22" y="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-0.04954 L -0.15938 0.1814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82" y="1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7.40741E-7 L -0.00191 -0.30139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15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arch55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D20987-1A49-F568-5A8A-AB5EA236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644F79-4931-4A8C-BE73-7F8EEB513F56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FABCB0-1C00-7BF1-DEB9-164B9C3A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F70AF2-1F07-8155-AB8D-72488D81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7138304"/>
      </p:ext>
    </p:extLst>
  </p:cSld>
  <p:clrMapOvr>
    <a:masterClrMapping/>
  </p:clrMapOvr>
  <p:transition spd="slow"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8915" name="Picture 7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820738"/>
            <a:ext cx="5975350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1BA005-D702-C20F-5F49-7A2561F46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82CD66-5BC3-4FDE-91EB-659210D33E7F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1216E4-C7BA-6766-0918-FBD5937C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26265-AED9-03BC-A567-BB09D1F8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82175"/>
      </p:ext>
    </p:extLst>
  </p:cSld>
  <p:clrMapOvr>
    <a:masterClrMapping/>
  </p:clrMapOvr>
  <p:transition spd="slow"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arch66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36588"/>
            <a:ext cx="7315200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534A9B-F92F-A051-82AA-C5ACEB44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6D6DA4-83ED-41D0-9B19-213A8F399F6E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568926-CA1F-2BB7-E95F-A02A566B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FC3DF7-9B9D-9E4D-2B1A-8F583B5D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4439277"/>
      </p:ext>
    </p:extLst>
  </p:cSld>
  <p:clrMapOvr>
    <a:masterClrMapping/>
  </p:clrMapOvr>
  <p:transition spd="slow"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1987" name="Picture 2" descr="arch67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60488"/>
            <a:ext cx="7772400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7DAE17-0459-1BF8-CD28-0A2A2FF7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4471EF-3C8C-4FE8-BB1C-B9409BBA6D31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F8F9F1-C40A-178E-E681-10174BBF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1B624F-CD34-B082-01FD-EF0AB9F1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725190"/>
      </p:ext>
    </p:extLst>
  </p:cSld>
  <p:clrMapOvr>
    <a:masterClrMapping/>
  </p:clrMapOvr>
  <p:transition spd="slow"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4035" name="Picture 2" descr="arch68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657225"/>
            <a:ext cx="6858000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D6F3A8-80CF-28B7-235A-DC8950A13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2E6831-3B25-4E29-BCF4-FCC78F361A85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881929-4721-D6D8-B457-7747C613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5A2B5F-5AA7-3DEB-610A-C72529A7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1144584"/>
      </p:ext>
    </p:extLst>
  </p:cSld>
  <p:clrMapOvr>
    <a:masterClrMapping/>
  </p:clrMapOvr>
  <p:transition spd="slow"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4"/>
          <p:cNvSpPr txBox="1">
            <a:spLocks noChangeArrowheads="1"/>
          </p:cNvSpPr>
          <p:nvPr/>
        </p:nvSpPr>
        <p:spPr bwMode="auto">
          <a:xfrm>
            <a:off x="406400" y="1590675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E24C05"/>
                </a:solidFill>
                <a:latin typeface="宋体" charset="-122"/>
              </a:rPr>
              <a:t>流 水 段</a:t>
            </a:r>
          </a:p>
        </p:txBody>
      </p:sp>
      <p:sp>
        <p:nvSpPr>
          <p:cNvPr id="45059" name="Text Box 5"/>
          <p:cNvSpPr txBox="1">
            <a:spLocks noChangeArrowheads="1"/>
          </p:cNvSpPr>
          <p:nvPr/>
        </p:nvSpPr>
        <p:spPr bwMode="auto">
          <a:xfrm>
            <a:off x="3856038" y="1604963"/>
            <a:ext cx="25447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E24C05"/>
                </a:solidFill>
                <a:latin typeface="宋体" charset="-122"/>
              </a:rPr>
              <a:t>分 支 指 令 操 作</a:t>
            </a:r>
          </a:p>
        </p:txBody>
      </p:sp>
      <p:sp>
        <p:nvSpPr>
          <p:cNvPr id="45060" name="Line 6"/>
          <p:cNvSpPr>
            <a:spLocks noChangeShapeType="1"/>
          </p:cNvSpPr>
          <p:nvPr/>
        </p:nvSpPr>
        <p:spPr bwMode="auto">
          <a:xfrm>
            <a:off x="488950" y="2996952"/>
            <a:ext cx="838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5061" name="Line 7"/>
          <p:cNvSpPr>
            <a:spLocks noChangeShapeType="1"/>
          </p:cNvSpPr>
          <p:nvPr/>
        </p:nvSpPr>
        <p:spPr bwMode="auto">
          <a:xfrm>
            <a:off x="400050" y="4581128"/>
            <a:ext cx="8420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5062" name="Text Box 8"/>
          <p:cNvSpPr txBox="1">
            <a:spLocks noChangeArrowheads="1"/>
          </p:cNvSpPr>
          <p:nvPr/>
        </p:nvSpPr>
        <p:spPr bwMode="auto">
          <a:xfrm>
            <a:off x="757237" y="2324427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dirty="0">
                <a:solidFill>
                  <a:schemeClr val="hlink"/>
                </a:solidFill>
                <a:latin typeface="宋体" charset="-122"/>
              </a:rPr>
              <a:t>IF</a:t>
            </a:r>
          </a:p>
        </p:txBody>
      </p:sp>
      <p:sp>
        <p:nvSpPr>
          <p:cNvPr id="45063" name="Rectangle 9"/>
          <p:cNvSpPr>
            <a:spLocks noChangeArrowheads="1"/>
          </p:cNvSpPr>
          <p:nvPr/>
        </p:nvSpPr>
        <p:spPr bwMode="auto">
          <a:xfrm>
            <a:off x="800099" y="3454421"/>
            <a:ext cx="415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 dirty="0">
                <a:solidFill>
                  <a:schemeClr val="hlink"/>
                </a:solidFill>
                <a:latin typeface="宋体" charset="-122"/>
              </a:rPr>
              <a:t>ID</a:t>
            </a:r>
          </a:p>
        </p:txBody>
      </p:sp>
      <p:sp>
        <p:nvSpPr>
          <p:cNvPr id="45064" name="Rectangle 10"/>
          <p:cNvSpPr>
            <a:spLocks noChangeArrowheads="1"/>
          </p:cNvSpPr>
          <p:nvPr/>
        </p:nvSpPr>
        <p:spPr bwMode="auto">
          <a:xfrm>
            <a:off x="800100" y="4797152"/>
            <a:ext cx="415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 dirty="0">
                <a:solidFill>
                  <a:schemeClr val="hlink"/>
                </a:solidFill>
                <a:latin typeface="宋体" charset="-122"/>
              </a:rPr>
              <a:t>EX</a:t>
            </a:r>
          </a:p>
        </p:txBody>
      </p:sp>
      <p:sp>
        <p:nvSpPr>
          <p:cNvPr id="45065" name="Rectangle 11"/>
          <p:cNvSpPr>
            <a:spLocks noChangeArrowheads="1"/>
          </p:cNvSpPr>
          <p:nvPr/>
        </p:nvSpPr>
        <p:spPr bwMode="auto">
          <a:xfrm>
            <a:off x="1595301" y="2170769"/>
            <a:ext cx="7148513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800" b="1" dirty="0">
                <a:latin typeface="宋体" charset="-122"/>
              </a:rPr>
              <a:t>IF/ID.IR ← </a:t>
            </a:r>
            <a:r>
              <a:rPr lang="en-US" altLang="zh-CN" sz="1800" b="1" dirty="0" err="1">
                <a:latin typeface="宋体" charset="-122"/>
              </a:rPr>
              <a:t>Mem</a:t>
            </a:r>
            <a:r>
              <a:rPr lang="en-US" altLang="zh-CN" sz="1800" b="1" dirty="0">
                <a:latin typeface="宋体" charset="-122"/>
              </a:rPr>
              <a:t>[PC]</a:t>
            </a:r>
            <a:r>
              <a:rPr lang="zh-CN" altLang="en-US" sz="1800" b="1" dirty="0">
                <a:latin typeface="宋体" charset="-122"/>
              </a:rPr>
              <a:t>；</a:t>
            </a:r>
          </a:p>
          <a:p>
            <a:pPr>
              <a:lnSpc>
                <a:spcPct val="110000"/>
              </a:lnSpc>
            </a:pPr>
            <a:r>
              <a:rPr lang="en-US" altLang="zh-CN" sz="1800" b="1" dirty="0">
                <a:latin typeface="宋体" charset="-122"/>
              </a:rPr>
              <a:t>IF/ID.NPC, PC ←</a:t>
            </a:r>
            <a:r>
              <a:rPr lang="zh-CN" altLang="en-US" sz="1800" b="1" dirty="0">
                <a:latin typeface="宋体" charset="-122"/>
              </a:rPr>
              <a:t> </a:t>
            </a:r>
            <a:r>
              <a:rPr lang="en-US" altLang="zh-CN" sz="1800" dirty="0">
                <a:latin typeface="宋体" charset="-122"/>
              </a:rPr>
              <a:t>(if ID/</a:t>
            </a:r>
            <a:r>
              <a:rPr lang="en-US" altLang="zh-CN" sz="1800" dirty="0" err="1">
                <a:latin typeface="宋体" charset="-122"/>
              </a:rPr>
              <a:t>EX.Cond</a:t>
            </a:r>
            <a:r>
              <a:rPr lang="en-US" altLang="zh-CN" sz="1800" dirty="0">
                <a:latin typeface="宋体" charset="-122"/>
              </a:rPr>
              <a:t> {ID/EX.NPC} else {PC+4})</a:t>
            </a:r>
            <a:r>
              <a:rPr lang="zh-CN" altLang="en-US" sz="1800" dirty="0">
                <a:latin typeface="宋体" charset="-122"/>
              </a:rPr>
              <a:t>；</a:t>
            </a:r>
            <a:r>
              <a:rPr lang="en-US" altLang="zh-CN" sz="1800" dirty="0">
                <a:latin typeface="宋体" charset="-122"/>
              </a:rPr>
              <a:t> </a:t>
            </a:r>
          </a:p>
        </p:txBody>
      </p:sp>
      <p:sp>
        <p:nvSpPr>
          <p:cNvPr id="45066" name="Line 12"/>
          <p:cNvSpPr>
            <a:spLocks noChangeShapeType="1"/>
          </p:cNvSpPr>
          <p:nvPr/>
        </p:nvSpPr>
        <p:spPr bwMode="auto">
          <a:xfrm>
            <a:off x="444500" y="5229200"/>
            <a:ext cx="8343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5067" name="Line 13"/>
          <p:cNvSpPr>
            <a:spLocks noChangeShapeType="1"/>
          </p:cNvSpPr>
          <p:nvPr/>
        </p:nvSpPr>
        <p:spPr bwMode="auto">
          <a:xfrm>
            <a:off x="438150" y="5805264"/>
            <a:ext cx="8362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5068" name="Text Box 14"/>
          <p:cNvSpPr txBox="1">
            <a:spLocks noChangeArrowheads="1"/>
          </p:cNvSpPr>
          <p:nvPr/>
        </p:nvSpPr>
        <p:spPr bwMode="auto">
          <a:xfrm>
            <a:off x="1616180" y="3037612"/>
            <a:ext cx="738981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1800" b="1" dirty="0">
                <a:latin typeface="宋体" charset="-122"/>
              </a:rPr>
              <a:t>ID/EX.A ←</a:t>
            </a:r>
            <a:r>
              <a:rPr kumimoji="1" lang="en-US" altLang="zh-CN" sz="1800" b="1" dirty="0" err="1">
                <a:latin typeface="宋体" charset="-122"/>
              </a:rPr>
              <a:t>Regs</a:t>
            </a:r>
            <a:r>
              <a:rPr kumimoji="1" lang="en-US" altLang="zh-CN" sz="1800" b="1" dirty="0">
                <a:latin typeface="宋体" charset="-122"/>
              </a:rPr>
              <a:t>[IF/ID.IR </a:t>
            </a:r>
            <a:r>
              <a:rPr kumimoji="1" lang="en-US" altLang="zh-CN" sz="1800" b="1" baseline="-25000" dirty="0">
                <a:latin typeface="宋体" charset="-122"/>
              </a:rPr>
              <a:t>6..10</a:t>
            </a:r>
            <a:r>
              <a:rPr kumimoji="1" lang="en-US" altLang="zh-CN" sz="1800" b="1" dirty="0">
                <a:latin typeface="宋体" charset="-122"/>
              </a:rPr>
              <a:t>]</a:t>
            </a:r>
            <a:r>
              <a:rPr kumimoji="1" lang="zh-CN" altLang="en-US" sz="1800" b="1" dirty="0">
                <a:latin typeface="宋体" charset="-122"/>
              </a:rPr>
              <a:t>； </a:t>
            </a:r>
            <a:r>
              <a:rPr kumimoji="1" lang="en-US" altLang="zh-CN" sz="1800" b="1" dirty="0">
                <a:latin typeface="宋体" charset="-122"/>
              </a:rPr>
              <a:t>ID/EX.B← </a:t>
            </a:r>
            <a:r>
              <a:rPr kumimoji="1" lang="en-US" altLang="zh-CN" sz="1800" b="1" dirty="0" err="1">
                <a:latin typeface="宋体" charset="-122"/>
              </a:rPr>
              <a:t>Regs</a:t>
            </a:r>
            <a:r>
              <a:rPr kumimoji="1" lang="en-US" altLang="zh-CN" sz="1800" b="1" dirty="0">
                <a:latin typeface="宋体" charset="-122"/>
              </a:rPr>
              <a:t>[IF/ID.IR</a:t>
            </a:r>
            <a:r>
              <a:rPr lang="en-US" altLang="zh-CN" sz="1800" baseline="-25000" dirty="0">
                <a:latin typeface="宋体" charset="-122"/>
              </a:rPr>
              <a:t> 11..15</a:t>
            </a:r>
            <a:r>
              <a:rPr kumimoji="1" lang="en-US" altLang="zh-CN" sz="1800" b="1" dirty="0">
                <a:latin typeface="宋体" charset="-122"/>
              </a:rPr>
              <a:t>]</a:t>
            </a:r>
            <a:r>
              <a:rPr kumimoji="1" lang="zh-CN" altLang="en-US" sz="1800" b="1" dirty="0">
                <a:latin typeface="宋体" charset="-122"/>
              </a:rPr>
              <a:t>；</a:t>
            </a:r>
          </a:p>
          <a:p>
            <a:pPr eaLnBrk="1" hangingPunct="1"/>
            <a:r>
              <a:rPr kumimoji="1" lang="en-US" altLang="zh-CN" sz="1800" b="1" dirty="0">
                <a:latin typeface="宋体" charset="-122"/>
              </a:rPr>
              <a:t>ID/EX.IR ← IF/ID.IR</a:t>
            </a:r>
            <a:r>
              <a:rPr kumimoji="1" lang="zh-CN" altLang="en-US" sz="1800" b="1" dirty="0">
                <a:latin typeface="宋体" charset="-122"/>
              </a:rPr>
              <a:t>；</a:t>
            </a:r>
          </a:p>
          <a:p>
            <a:pPr eaLnBrk="1" hangingPunct="1"/>
            <a:r>
              <a:rPr kumimoji="1" lang="en-US" altLang="zh-CN" sz="1800" b="1" dirty="0">
                <a:latin typeface="宋体" charset="-122"/>
              </a:rPr>
              <a:t>ID/</a:t>
            </a:r>
            <a:r>
              <a:rPr kumimoji="1" lang="en-US" altLang="zh-CN" sz="1800" b="1" dirty="0" err="1">
                <a:latin typeface="宋体" charset="-122"/>
              </a:rPr>
              <a:t>EX.Imm</a:t>
            </a:r>
            <a:r>
              <a:rPr kumimoji="1" lang="en-US" altLang="zh-CN" sz="1800" b="1" dirty="0">
                <a:latin typeface="宋体" charset="-122"/>
              </a:rPr>
              <a:t> ←</a:t>
            </a:r>
            <a:r>
              <a:rPr kumimoji="1" lang="zh-CN" altLang="en-US" sz="1800" b="1" dirty="0">
                <a:latin typeface="宋体" charset="-122"/>
              </a:rPr>
              <a:t>（</a:t>
            </a:r>
            <a:r>
              <a:rPr kumimoji="1" lang="en-US" altLang="zh-CN" sz="1800" b="1" dirty="0">
                <a:latin typeface="宋体" charset="-122"/>
              </a:rPr>
              <a:t>IF/ID.IR</a:t>
            </a:r>
            <a:r>
              <a:rPr kumimoji="1" lang="en-US" altLang="zh-CN" sz="1800" b="1" baseline="-25000" dirty="0">
                <a:latin typeface="宋体" charset="-122"/>
              </a:rPr>
              <a:t>16</a:t>
            </a:r>
            <a:r>
              <a:rPr kumimoji="1" lang="en-US" altLang="zh-CN" sz="1800" b="1" dirty="0">
                <a:latin typeface="宋体" charset="-122"/>
              </a:rPr>
              <a:t> </a:t>
            </a:r>
            <a:r>
              <a:rPr kumimoji="1" lang="zh-CN" altLang="en-US" sz="1800" b="1" dirty="0">
                <a:latin typeface="宋体" charset="-122"/>
              </a:rPr>
              <a:t>）</a:t>
            </a:r>
            <a:r>
              <a:rPr kumimoji="1" lang="en-US" altLang="zh-CN" sz="1800" b="1" baseline="30000" dirty="0">
                <a:latin typeface="宋体" charset="-122"/>
              </a:rPr>
              <a:t>16 </a:t>
            </a:r>
            <a:r>
              <a:rPr kumimoji="1" lang="en-US" altLang="zh-CN" sz="1800" b="1" dirty="0">
                <a:latin typeface="宋体" charset="-122"/>
              </a:rPr>
              <a:t>## IF/ID.</a:t>
            </a:r>
            <a:r>
              <a:rPr kumimoji="1" lang="pt-PT" altLang="zh-CN" sz="1800" b="1" dirty="0">
                <a:latin typeface="宋体" charset="-122"/>
              </a:rPr>
              <a:t>IR</a:t>
            </a:r>
            <a:r>
              <a:rPr kumimoji="1" lang="pt-PT" altLang="zh-CN" sz="1800" b="1" baseline="-25000" dirty="0">
                <a:latin typeface="宋体" charset="-122"/>
              </a:rPr>
              <a:t>16..31</a:t>
            </a:r>
            <a:r>
              <a:rPr kumimoji="1" lang="zh-CN" altLang="en-US" sz="1800" b="1" dirty="0">
                <a:latin typeface="宋体" charset="-122"/>
              </a:rPr>
              <a:t>； </a:t>
            </a:r>
            <a:endParaRPr kumimoji="1" lang="en-US" altLang="zh-CN" sz="1800" b="1" dirty="0">
              <a:latin typeface="宋体" charset="-122"/>
            </a:endParaRPr>
          </a:p>
          <a:p>
            <a:pPr eaLnBrk="1" hangingPunct="1"/>
            <a:r>
              <a:rPr kumimoji="1" lang="en-US" altLang="zh-CN" sz="1800" b="1" dirty="0">
                <a:solidFill>
                  <a:srgbClr val="C00000"/>
                </a:solidFill>
                <a:latin typeface="宋体" charset="-122"/>
              </a:rPr>
              <a:t>ID/</a:t>
            </a:r>
            <a:r>
              <a:rPr kumimoji="1" lang="en-US" altLang="zh-CN" sz="1800" b="1" dirty="0" err="1">
                <a:solidFill>
                  <a:srgbClr val="C00000"/>
                </a:solidFill>
                <a:latin typeface="宋体" charset="-122"/>
              </a:rPr>
              <a:t>EX.cond</a:t>
            </a:r>
            <a:r>
              <a:rPr lang="en-US" altLang="zh-CN" sz="1800" dirty="0">
                <a:solidFill>
                  <a:srgbClr val="C00000"/>
                </a:solidFill>
                <a:latin typeface="宋体" charset="-122"/>
              </a:rPr>
              <a:t> ← (</a:t>
            </a:r>
            <a:r>
              <a:rPr lang="en-US" altLang="zh-CN" sz="1800" dirty="0" err="1">
                <a:solidFill>
                  <a:srgbClr val="C00000"/>
                </a:solidFill>
                <a:latin typeface="宋体" charset="-122"/>
              </a:rPr>
              <a:t>Regs</a:t>
            </a:r>
            <a:r>
              <a:rPr lang="en-US" altLang="zh-CN" sz="1800" dirty="0">
                <a:solidFill>
                  <a:srgbClr val="C00000"/>
                </a:solidFill>
                <a:latin typeface="宋体" charset="-122"/>
              </a:rPr>
              <a:t>[IF/ID.IR</a:t>
            </a:r>
            <a:r>
              <a:rPr lang="en-US" altLang="zh-CN" sz="1800" baseline="-25000" dirty="0">
                <a:solidFill>
                  <a:srgbClr val="C00000"/>
                </a:solidFill>
                <a:latin typeface="宋体" charset="-122"/>
              </a:rPr>
              <a:t> 6..10</a:t>
            </a:r>
            <a:r>
              <a:rPr lang="en-US" altLang="zh-CN" sz="1800" dirty="0">
                <a:solidFill>
                  <a:srgbClr val="C00000"/>
                </a:solidFill>
                <a:latin typeface="宋体" charset="-122"/>
              </a:rPr>
              <a:t>] op 0)</a:t>
            </a:r>
            <a:r>
              <a:rPr lang="zh-CN" altLang="en-US" sz="1800" dirty="0">
                <a:solidFill>
                  <a:srgbClr val="C00000"/>
                </a:solidFill>
                <a:latin typeface="宋体" charset="-122"/>
              </a:rPr>
              <a:t>；</a:t>
            </a:r>
            <a:endParaRPr lang="en-US" altLang="zh-CN" sz="1800" dirty="0">
              <a:solidFill>
                <a:srgbClr val="C00000"/>
              </a:solidFill>
              <a:latin typeface="宋体" charset="-122"/>
            </a:endParaRPr>
          </a:p>
          <a:p>
            <a:pPr eaLnBrk="1" hangingPunct="1"/>
            <a:r>
              <a:rPr kumimoji="1" lang="en-US" altLang="zh-CN" sz="1800" b="1" dirty="0">
                <a:solidFill>
                  <a:srgbClr val="C00000"/>
                </a:solidFill>
                <a:latin typeface="宋体" charset="-122"/>
              </a:rPr>
              <a:t>ID/EX.NPC </a:t>
            </a:r>
            <a:r>
              <a:rPr lang="en-US" altLang="zh-CN" sz="1800" dirty="0">
                <a:solidFill>
                  <a:srgbClr val="C00000"/>
                </a:solidFill>
                <a:latin typeface="宋体" charset="-122"/>
              </a:rPr>
              <a:t>← IF/ID.NPC +(IF/ID.IR</a:t>
            </a:r>
            <a:r>
              <a:rPr lang="en-US" altLang="zh-CN" sz="1800" baseline="-25000" dirty="0">
                <a:solidFill>
                  <a:srgbClr val="C00000"/>
                </a:solidFill>
                <a:latin typeface="宋体" charset="-122"/>
              </a:rPr>
              <a:t>16</a:t>
            </a:r>
            <a:r>
              <a:rPr lang="en-US" altLang="zh-CN" sz="1800" dirty="0">
                <a:solidFill>
                  <a:srgbClr val="C00000"/>
                </a:solidFill>
                <a:latin typeface="宋体" charset="-122"/>
              </a:rPr>
              <a:t> )</a:t>
            </a:r>
            <a:r>
              <a:rPr lang="en-US" altLang="zh-CN" sz="1800" baseline="30000" dirty="0">
                <a:solidFill>
                  <a:srgbClr val="C00000"/>
                </a:solidFill>
                <a:latin typeface="宋体" charset="-122"/>
              </a:rPr>
              <a:t>16 </a:t>
            </a:r>
            <a:r>
              <a:rPr lang="en-US" altLang="zh-CN" sz="1800" dirty="0">
                <a:solidFill>
                  <a:srgbClr val="C00000"/>
                </a:solidFill>
                <a:latin typeface="宋体" charset="-122"/>
              </a:rPr>
              <a:t>## IF/ID.</a:t>
            </a:r>
            <a:r>
              <a:rPr lang="pt-PT" altLang="zh-CN" sz="1800" dirty="0">
                <a:solidFill>
                  <a:srgbClr val="C00000"/>
                </a:solidFill>
                <a:latin typeface="宋体" charset="-122"/>
              </a:rPr>
              <a:t>IR</a:t>
            </a:r>
            <a:r>
              <a:rPr lang="pt-PT" altLang="zh-CN" sz="1800" baseline="-25000" dirty="0">
                <a:solidFill>
                  <a:srgbClr val="C00000"/>
                </a:solidFill>
                <a:latin typeface="宋体" charset="-122"/>
              </a:rPr>
              <a:t>16..31</a:t>
            </a:r>
            <a:r>
              <a:rPr lang="zh-CN" altLang="en-US" sz="1800" dirty="0">
                <a:solidFill>
                  <a:srgbClr val="C00000"/>
                </a:solidFill>
                <a:latin typeface="宋体" charset="-122"/>
              </a:rPr>
              <a:t>； </a:t>
            </a:r>
            <a:endParaRPr kumimoji="1" lang="zh-CN" altLang="en-US" sz="1800" b="1" dirty="0">
              <a:solidFill>
                <a:srgbClr val="C00000"/>
              </a:solidFill>
              <a:latin typeface="宋体" charset="-122"/>
            </a:endParaRPr>
          </a:p>
        </p:txBody>
      </p:sp>
      <p:sp>
        <p:nvSpPr>
          <p:cNvPr id="45069" name="Rectangle 15"/>
          <p:cNvSpPr>
            <a:spLocks noChangeArrowheads="1"/>
          </p:cNvSpPr>
          <p:nvPr/>
        </p:nvSpPr>
        <p:spPr bwMode="auto">
          <a:xfrm>
            <a:off x="699815" y="5301208"/>
            <a:ext cx="631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800" b="1" dirty="0">
                <a:solidFill>
                  <a:schemeClr val="hlink"/>
                </a:solidFill>
                <a:latin typeface="宋体" charset="-122"/>
              </a:rPr>
              <a:t>MEM</a:t>
            </a:r>
          </a:p>
        </p:txBody>
      </p:sp>
      <p:sp>
        <p:nvSpPr>
          <p:cNvPr id="45070" name="Rectangle 16"/>
          <p:cNvSpPr>
            <a:spLocks noChangeArrowheads="1"/>
          </p:cNvSpPr>
          <p:nvPr/>
        </p:nvSpPr>
        <p:spPr bwMode="auto">
          <a:xfrm>
            <a:off x="793750" y="5942013"/>
            <a:ext cx="415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1">
                <a:solidFill>
                  <a:schemeClr val="hlink"/>
                </a:solidFill>
                <a:latin typeface="宋体" charset="-122"/>
              </a:rPr>
              <a:t>WB</a:t>
            </a:r>
          </a:p>
        </p:txBody>
      </p:sp>
      <p:sp>
        <p:nvSpPr>
          <p:cNvPr id="45071" name="Line 17"/>
          <p:cNvSpPr>
            <a:spLocks noChangeShapeType="1"/>
          </p:cNvSpPr>
          <p:nvPr/>
        </p:nvSpPr>
        <p:spPr bwMode="auto">
          <a:xfrm>
            <a:off x="488950" y="1524241"/>
            <a:ext cx="838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5072" name="Line 18"/>
          <p:cNvSpPr>
            <a:spLocks noChangeShapeType="1"/>
          </p:cNvSpPr>
          <p:nvPr/>
        </p:nvSpPr>
        <p:spPr bwMode="auto">
          <a:xfrm>
            <a:off x="457200" y="2047875"/>
            <a:ext cx="838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5073" name="Line 19"/>
          <p:cNvSpPr>
            <a:spLocks noChangeShapeType="1"/>
          </p:cNvSpPr>
          <p:nvPr/>
        </p:nvSpPr>
        <p:spPr bwMode="auto">
          <a:xfrm>
            <a:off x="419100" y="6308725"/>
            <a:ext cx="838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5074" name="Line 20"/>
          <p:cNvSpPr>
            <a:spLocks noChangeShapeType="1"/>
          </p:cNvSpPr>
          <p:nvPr/>
        </p:nvSpPr>
        <p:spPr bwMode="auto">
          <a:xfrm flipH="1">
            <a:off x="1500188" y="1514475"/>
            <a:ext cx="23812" cy="47783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5075" name="Rectangle 23"/>
          <p:cNvSpPr>
            <a:spLocks noChangeArrowheads="1"/>
          </p:cNvSpPr>
          <p:nvPr/>
        </p:nvSpPr>
        <p:spPr bwMode="auto">
          <a:xfrm>
            <a:off x="2195513" y="733425"/>
            <a:ext cx="49688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2800" b="1">
                <a:solidFill>
                  <a:srgbClr val="000000"/>
                </a:solidFill>
              </a:rPr>
              <a:t>改进后流水线的分支操作</a:t>
            </a:r>
            <a:r>
              <a:rPr lang="zh-CN" altLang="en-US" sz="2800"/>
              <a:t> </a:t>
            </a:r>
          </a:p>
        </p:txBody>
      </p:sp>
      <p:sp>
        <p:nvSpPr>
          <p:cNvPr id="20" name="AutoShape 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30593" y="598427"/>
            <a:ext cx="533400" cy="304800"/>
          </a:xfrm>
          <a:prstGeom prst="actionButtonReturn">
            <a:avLst/>
          </a:prstGeom>
          <a:solidFill>
            <a:srgbClr val="F4CCF3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3CADE8-DE46-479F-DCD7-85B23085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FC4113-0755-4D63-B17B-AEA28A830766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3D1123-E2E8-AF8B-0372-144955B4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827C6-A2BC-E278-7C45-8E008310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0486335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4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692150"/>
            <a:ext cx="6624637" cy="535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FD9038-4B09-85C4-9947-D4371BFB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57B732-624C-4D43-AD0B-3D4351083174}" type="datetime1">
              <a:rPr lang="zh-CN" altLang="en-US" smtClean="0"/>
              <a:t>2025/10/15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A7E702-E259-7D6D-6455-FA994468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2D2780-222B-8966-F572-44569F81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191138"/>
      </p:ext>
    </p:extLst>
  </p:cSld>
  <p:clrMapOvr>
    <a:masterClrMapping/>
  </p:clrMapOvr>
  <p:transition spd="slow" advClick="0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8172</TotalTime>
  <Words>2108</Words>
  <Application>Microsoft Office PowerPoint</Application>
  <PresentationFormat>全屏显示(4:3)</PresentationFormat>
  <Paragraphs>330</Paragraphs>
  <Slides>38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8" baseType="lpstr">
      <vt:lpstr>黑体</vt:lpstr>
      <vt:lpstr>华文中宋</vt:lpstr>
      <vt:lpstr>楷体_GB2312</vt:lpstr>
      <vt:lpstr>宋体</vt:lpstr>
      <vt:lpstr>Arial</vt:lpstr>
      <vt:lpstr>Calibri</vt:lpstr>
      <vt:lpstr>Cambria Math</vt:lpstr>
      <vt:lpstr>Times New Roman</vt:lpstr>
      <vt:lpstr>Wingdings</vt:lpstr>
      <vt:lpstr>Office 主题​​</vt:lpstr>
      <vt:lpstr>计算机体系结构</vt:lpstr>
      <vt:lpstr>实验安排</vt:lpstr>
      <vt:lpstr>Recap</vt:lpstr>
      <vt:lpstr>3.3  流水线中的冲突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 流水线中的冲突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suzi</dc:creator>
  <cp:lastModifiedBy>hw liu</cp:lastModifiedBy>
  <cp:revision>1917</cp:revision>
  <cp:lastPrinted>2020-10-30T01:26:41Z</cp:lastPrinted>
  <dcterms:created xsi:type="dcterms:W3CDTF">2113-01-01T00:00:00Z</dcterms:created>
  <dcterms:modified xsi:type="dcterms:W3CDTF">2025-10-15T03:29:35Z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