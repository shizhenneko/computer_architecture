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9"/>
  </p:notesMasterIdLst>
  <p:handoutMasterIdLst>
    <p:handoutMasterId r:id="rId70"/>
  </p:handoutMasterIdLst>
  <p:sldIdLst>
    <p:sldId id="256" r:id="rId2"/>
    <p:sldId id="1033" r:id="rId3"/>
    <p:sldId id="1833" r:id="rId4"/>
    <p:sldId id="1844" r:id="rId5"/>
    <p:sldId id="1834" r:id="rId6"/>
    <p:sldId id="333" r:id="rId7"/>
    <p:sldId id="1759" r:id="rId8"/>
    <p:sldId id="334" r:id="rId9"/>
    <p:sldId id="335" r:id="rId10"/>
    <p:sldId id="336" r:id="rId11"/>
    <p:sldId id="337" r:id="rId12"/>
    <p:sldId id="338" r:id="rId13"/>
    <p:sldId id="339" r:id="rId14"/>
    <p:sldId id="340" r:id="rId15"/>
    <p:sldId id="341" r:id="rId16"/>
    <p:sldId id="342" r:id="rId17"/>
    <p:sldId id="343" r:id="rId18"/>
    <p:sldId id="344" r:id="rId19"/>
    <p:sldId id="345" r:id="rId20"/>
    <p:sldId id="346" r:id="rId21"/>
    <p:sldId id="347" r:id="rId22"/>
    <p:sldId id="348" r:id="rId23"/>
    <p:sldId id="349" r:id="rId24"/>
    <p:sldId id="351" r:id="rId25"/>
    <p:sldId id="352" r:id="rId26"/>
    <p:sldId id="353" r:id="rId27"/>
    <p:sldId id="1852" r:id="rId28"/>
    <p:sldId id="1767" r:id="rId29"/>
    <p:sldId id="359" r:id="rId30"/>
    <p:sldId id="360" r:id="rId31"/>
    <p:sldId id="361" r:id="rId32"/>
    <p:sldId id="362" r:id="rId33"/>
    <p:sldId id="364" r:id="rId34"/>
    <p:sldId id="365" r:id="rId35"/>
    <p:sldId id="366" r:id="rId36"/>
    <p:sldId id="367" r:id="rId37"/>
    <p:sldId id="368" r:id="rId38"/>
    <p:sldId id="370" r:id="rId39"/>
    <p:sldId id="371" r:id="rId40"/>
    <p:sldId id="372" r:id="rId41"/>
    <p:sldId id="373" r:id="rId42"/>
    <p:sldId id="374" r:id="rId43"/>
    <p:sldId id="375" r:id="rId44"/>
    <p:sldId id="376" r:id="rId45"/>
    <p:sldId id="377" r:id="rId46"/>
    <p:sldId id="378" r:id="rId47"/>
    <p:sldId id="379" r:id="rId48"/>
    <p:sldId id="380" r:id="rId49"/>
    <p:sldId id="1853" r:id="rId50"/>
    <p:sldId id="1770" r:id="rId51"/>
    <p:sldId id="1771" r:id="rId52"/>
    <p:sldId id="1819" r:id="rId53"/>
    <p:sldId id="1851" r:id="rId54"/>
    <p:sldId id="1707" r:id="rId55"/>
    <p:sldId id="1708" r:id="rId56"/>
    <p:sldId id="1709" r:id="rId57"/>
    <p:sldId id="1710" r:id="rId58"/>
    <p:sldId id="1711" r:id="rId59"/>
    <p:sldId id="1758" r:id="rId60"/>
    <p:sldId id="1712" r:id="rId61"/>
    <p:sldId id="1713" r:id="rId62"/>
    <p:sldId id="1714" r:id="rId63"/>
    <p:sldId id="1715" r:id="rId64"/>
    <p:sldId id="1716" r:id="rId65"/>
    <p:sldId id="1717" r:id="rId66"/>
    <p:sldId id="1719" r:id="rId67"/>
    <p:sldId id="1829" r:id="rId68"/>
  </p:sldIdLst>
  <p:sldSz cx="9144000" cy="6858000" type="screen4x3"/>
  <p:notesSz cx="7102475" cy="10233025"/>
  <p:kinsoku lang="zh-CN" invalStChars="!),.:;?]}、。—ˇ¨〃々～‖…’”〕〉》」』〗】∶！＂＇），．：；？］｀｜｝·" invalEndChars="([{‘“〔〈《「『〖【（［｛．·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800" b="1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33CC"/>
    <a:srgbClr val="003399"/>
    <a:srgbClr val="3366FF"/>
    <a:srgbClr val="C28F3E"/>
    <a:srgbClr val="BC7D3E"/>
    <a:srgbClr val="B0753A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 autoAdjust="0"/>
    <p:restoredTop sz="80735" autoAdjust="0"/>
  </p:normalViewPr>
  <p:slideViewPr>
    <p:cSldViewPr>
      <p:cViewPr varScale="1">
        <p:scale>
          <a:sx n="71" d="100"/>
          <a:sy n="71" d="100"/>
        </p:scale>
        <p:origin x="1365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993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7951" cy="51109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4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2937" y="1"/>
            <a:ext cx="3077951" cy="51109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4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C9833CB-0817-44DC-BDA6-97E8269B2A4B}" type="datetimeFigureOut">
              <a:rPr lang="zh-CN" altLang="en-US"/>
              <a:t>2025/10/24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344"/>
            <a:ext cx="3077951" cy="51109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4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2937" y="9720344"/>
            <a:ext cx="3077951" cy="51109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4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8BBD55E-9969-4143-865D-25DDD65926A5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62760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77951" cy="5110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>
              <a:spcBef>
                <a:spcPct val="20000"/>
              </a:spcBef>
              <a:defRPr sz="14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4525" y="1"/>
            <a:ext cx="3077951" cy="5110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r">
              <a:spcBef>
                <a:spcPct val="20000"/>
              </a:spcBef>
              <a:defRPr sz="14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574" y="4860172"/>
            <a:ext cx="5209329" cy="460462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930"/>
            <a:ext cx="3077951" cy="5110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>
              <a:spcBef>
                <a:spcPct val="20000"/>
              </a:spcBef>
              <a:defRPr sz="14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525" y="9721930"/>
            <a:ext cx="3077951" cy="5110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algn="r">
              <a:spcBef>
                <a:spcPct val="20000"/>
              </a:spcBef>
              <a:defRPr sz="1400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E900B983-0E40-4C29-87BA-CE566D420E22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72892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3212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05474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5475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804724" indent="-309509">
              <a:defRPr sz="13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238038" indent="-247608">
              <a:defRPr sz="13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733254" indent="-247608">
              <a:defRPr sz="13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28469" indent="-247608">
              <a:defRPr sz="13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23683" indent="-24760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18899" indent="-24760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714114" indent="-24760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209329" indent="-24760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B09F7BF2-0C2B-4CD7-8E39-64E5AA8C8356}" type="slidenum">
              <a:rPr kumimoji="0" lang="en-US" altLang="zh-CN"/>
              <a:pPr/>
              <a:t>3</a:t>
            </a:fld>
            <a:endParaRPr kumimoji="0"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90430" algn="l"/>
                <a:tab pos="1980861" algn="l"/>
                <a:tab pos="2971291" algn="l"/>
                <a:tab pos="3961722" algn="l"/>
                <a:tab pos="4952151" algn="l"/>
                <a:tab pos="5942581" algn="l"/>
                <a:tab pos="6933013" algn="l"/>
                <a:tab pos="7923443" algn="l"/>
                <a:tab pos="8913874" algn="l"/>
                <a:tab pos="9904304" algn="l"/>
                <a:tab pos="10894734" algn="l"/>
              </a:tabLst>
              <a:defRPr sz="1300">
                <a:solidFill>
                  <a:srgbClr val="000000"/>
                </a:solidFill>
                <a:latin typeface="Times New Roman" pitchFamily="18" charset="0"/>
              </a:defRPr>
            </a:lvl1pPr>
            <a:lvl2pPr>
              <a:tabLst>
                <a:tab pos="0" algn="l"/>
                <a:tab pos="990430" algn="l"/>
                <a:tab pos="1980861" algn="l"/>
                <a:tab pos="2971291" algn="l"/>
                <a:tab pos="3961722" algn="l"/>
                <a:tab pos="4952151" algn="l"/>
                <a:tab pos="5942581" algn="l"/>
                <a:tab pos="6933013" algn="l"/>
                <a:tab pos="7923443" algn="l"/>
                <a:tab pos="8913874" algn="l"/>
                <a:tab pos="9904304" algn="l"/>
                <a:tab pos="10894734" algn="l"/>
              </a:tabLst>
              <a:defRPr sz="1300">
                <a:solidFill>
                  <a:srgbClr val="000000"/>
                </a:solidFill>
                <a:latin typeface="Times New Roman" pitchFamily="18" charset="0"/>
              </a:defRPr>
            </a:lvl2pPr>
            <a:lvl3pPr>
              <a:tabLst>
                <a:tab pos="0" algn="l"/>
                <a:tab pos="990430" algn="l"/>
                <a:tab pos="1980861" algn="l"/>
                <a:tab pos="2971291" algn="l"/>
                <a:tab pos="3961722" algn="l"/>
                <a:tab pos="4952151" algn="l"/>
                <a:tab pos="5942581" algn="l"/>
                <a:tab pos="6933013" algn="l"/>
                <a:tab pos="7923443" algn="l"/>
                <a:tab pos="8913874" algn="l"/>
                <a:tab pos="9904304" algn="l"/>
                <a:tab pos="10894734" algn="l"/>
              </a:tabLst>
              <a:defRPr sz="1300">
                <a:solidFill>
                  <a:srgbClr val="000000"/>
                </a:solidFill>
                <a:latin typeface="Times New Roman" pitchFamily="18" charset="0"/>
              </a:defRPr>
            </a:lvl3pPr>
            <a:lvl4pPr>
              <a:tabLst>
                <a:tab pos="0" algn="l"/>
                <a:tab pos="990430" algn="l"/>
                <a:tab pos="1980861" algn="l"/>
                <a:tab pos="2971291" algn="l"/>
                <a:tab pos="3961722" algn="l"/>
                <a:tab pos="4952151" algn="l"/>
                <a:tab pos="5942581" algn="l"/>
                <a:tab pos="6933013" algn="l"/>
                <a:tab pos="7923443" algn="l"/>
                <a:tab pos="8913874" algn="l"/>
                <a:tab pos="9904304" algn="l"/>
                <a:tab pos="10894734" algn="l"/>
              </a:tabLst>
              <a:defRPr sz="1300">
                <a:solidFill>
                  <a:srgbClr val="000000"/>
                </a:solidFill>
                <a:latin typeface="Times New Roman" pitchFamily="18" charset="0"/>
              </a:defRPr>
            </a:lvl4pPr>
            <a:lvl5pPr>
              <a:tabLst>
                <a:tab pos="0" algn="l"/>
                <a:tab pos="990430" algn="l"/>
                <a:tab pos="1980861" algn="l"/>
                <a:tab pos="2971291" algn="l"/>
                <a:tab pos="3961722" algn="l"/>
                <a:tab pos="4952151" algn="l"/>
                <a:tab pos="5942581" algn="l"/>
                <a:tab pos="6933013" algn="l"/>
                <a:tab pos="7923443" algn="l"/>
                <a:tab pos="8913874" algn="l"/>
                <a:tab pos="9904304" algn="l"/>
                <a:tab pos="10894734" algn="l"/>
              </a:tabLst>
              <a:defRPr sz="1300">
                <a:solidFill>
                  <a:srgbClr val="000000"/>
                </a:solidFill>
                <a:latin typeface="Times New Roman" pitchFamily="18" charset="0"/>
              </a:defRPr>
            </a:lvl5pPr>
            <a:lvl6pPr marL="2723683" indent="-247608" defTabSz="48661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90430" algn="l"/>
                <a:tab pos="1980861" algn="l"/>
                <a:tab pos="2971291" algn="l"/>
                <a:tab pos="3961722" algn="l"/>
                <a:tab pos="4952151" algn="l"/>
                <a:tab pos="5942581" algn="l"/>
                <a:tab pos="6933013" algn="l"/>
                <a:tab pos="7923443" algn="l"/>
                <a:tab pos="8913874" algn="l"/>
                <a:tab pos="9904304" algn="l"/>
                <a:tab pos="10894734" algn="l"/>
              </a:tabLst>
              <a:defRPr sz="1300">
                <a:solidFill>
                  <a:srgbClr val="000000"/>
                </a:solidFill>
                <a:latin typeface="Times New Roman" pitchFamily="18" charset="0"/>
              </a:defRPr>
            </a:lvl6pPr>
            <a:lvl7pPr marL="3218899" indent="-247608" defTabSz="48661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90430" algn="l"/>
                <a:tab pos="1980861" algn="l"/>
                <a:tab pos="2971291" algn="l"/>
                <a:tab pos="3961722" algn="l"/>
                <a:tab pos="4952151" algn="l"/>
                <a:tab pos="5942581" algn="l"/>
                <a:tab pos="6933013" algn="l"/>
                <a:tab pos="7923443" algn="l"/>
                <a:tab pos="8913874" algn="l"/>
                <a:tab pos="9904304" algn="l"/>
                <a:tab pos="10894734" algn="l"/>
              </a:tabLst>
              <a:defRPr sz="1300">
                <a:solidFill>
                  <a:srgbClr val="000000"/>
                </a:solidFill>
                <a:latin typeface="Times New Roman" pitchFamily="18" charset="0"/>
              </a:defRPr>
            </a:lvl7pPr>
            <a:lvl8pPr marL="3714114" indent="-247608" defTabSz="48661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90430" algn="l"/>
                <a:tab pos="1980861" algn="l"/>
                <a:tab pos="2971291" algn="l"/>
                <a:tab pos="3961722" algn="l"/>
                <a:tab pos="4952151" algn="l"/>
                <a:tab pos="5942581" algn="l"/>
                <a:tab pos="6933013" algn="l"/>
                <a:tab pos="7923443" algn="l"/>
                <a:tab pos="8913874" algn="l"/>
                <a:tab pos="9904304" algn="l"/>
                <a:tab pos="10894734" algn="l"/>
              </a:tabLst>
              <a:defRPr sz="1300">
                <a:solidFill>
                  <a:srgbClr val="000000"/>
                </a:solidFill>
                <a:latin typeface="Times New Roman" pitchFamily="18" charset="0"/>
              </a:defRPr>
            </a:lvl8pPr>
            <a:lvl9pPr marL="4209329" indent="-247608" defTabSz="48661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90430" algn="l"/>
                <a:tab pos="1980861" algn="l"/>
                <a:tab pos="2971291" algn="l"/>
                <a:tab pos="3961722" algn="l"/>
                <a:tab pos="4952151" algn="l"/>
                <a:tab pos="5942581" algn="l"/>
                <a:tab pos="6933013" algn="l"/>
                <a:tab pos="7923443" algn="l"/>
                <a:tab pos="8913874" algn="l"/>
                <a:tab pos="9904304" algn="l"/>
                <a:tab pos="10894734" algn="l"/>
              </a:tabLst>
              <a:defRPr sz="13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fld id="{5F3D297D-33F6-4E03-9FD3-233FEC562E39}" type="slidenum">
              <a:rPr lang="zh-CN" altLang="zh-CN">
                <a:latin typeface="Calibri" pitchFamily="34" charset="0"/>
              </a:rPr>
              <a:pPr/>
              <a:t>5</a:t>
            </a:fld>
            <a:endParaRPr lang="zh-CN" altLang="zh-CN">
              <a:latin typeface="Calibri" pitchFamily="34" charset="0"/>
            </a:endParaRPr>
          </a:p>
        </p:txBody>
      </p:sp>
      <p:sp>
        <p:nvSpPr>
          <p:cNvPr id="157699" name="Text Box 1"/>
          <p:cNvSpPr txBox="1">
            <a:spLocks noChangeArrowheads="1"/>
          </p:cNvSpPr>
          <p:nvPr/>
        </p:nvSpPr>
        <p:spPr bwMode="auto">
          <a:xfrm>
            <a:off x="1265952" y="3656176"/>
            <a:ext cx="6957795" cy="3462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823" tIns="49131" rIns="99823" bIns="49131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pPr eaLnBrk="1" hangingPunct="1">
              <a:buSzPct val="100000"/>
            </a:pPr>
            <a:r>
              <a:rPr lang="en-US" altLang="zh-CN">
                <a:latin typeface="Arial" pitchFamily="34" charset="0"/>
              </a:rPr>
              <a:t>What you might have thought</a:t>
            </a:r>
          </a:p>
          <a:p>
            <a:pPr eaLnBrk="1" hangingPunct="1">
              <a:buSzPct val="100000"/>
            </a:pPr>
            <a:r>
              <a:rPr lang="en-US" altLang="zh-CN">
                <a:latin typeface="Arial" pitchFamily="34" charset="0"/>
              </a:rPr>
              <a:t>1. 4 stages of instruction execution</a:t>
            </a:r>
          </a:p>
          <a:p>
            <a:pPr eaLnBrk="1" hangingPunct="1">
              <a:buSzPct val="100000"/>
            </a:pPr>
            <a:r>
              <a:rPr lang="en-US" altLang="zh-CN">
                <a:latin typeface="Arial" pitchFamily="34" charset="0"/>
              </a:rPr>
              <a:t>2. Status of FU:  Normal things to keep track of (RAW &amp; structura for busyl):</a:t>
            </a:r>
          </a:p>
          <a:p>
            <a:pPr eaLnBrk="1" hangingPunct="1">
              <a:buSzPct val="100000"/>
            </a:pPr>
            <a:r>
              <a:rPr lang="en-US" altLang="zh-CN">
                <a:latin typeface="Arial" pitchFamily="34" charset="0"/>
              </a:rPr>
              <a:t>Fi from instruction format of the mahine (Fi is dest)</a:t>
            </a:r>
          </a:p>
          <a:p>
            <a:pPr eaLnBrk="1" hangingPunct="1">
              <a:buSzPct val="100000"/>
            </a:pPr>
            <a:r>
              <a:rPr lang="en-US" altLang="zh-CN">
                <a:latin typeface="Arial" pitchFamily="34" charset="0"/>
              </a:rPr>
              <a:t>Add unit can Add or Sub</a:t>
            </a:r>
          </a:p>
          <a:p>
            <a:pPr eaLnBrk="1" hangingPunct="1">
              <a:buSzPct val="100000"/>
            </a:pPr>
            <a:r>
              <a:rPr lang="en-US" altLang="zh-CN">
                <a:latin typeface="Arial" pitchFamily="34" charset="0"/>
              </a:rPr>
              <a:t>Rj, Rk - status of registers (Yes means ready)</a:t>
            </a:r>
          </a:p>
          <a:p>
            <a:pPr eaLnBrk="1" hangingPunct="1">
              <a:buSzPct val="100000"/>
            </a:pPr>
            <a:r>
              <a:rPr lang="en-US" altLang="zh-CN">
                <a:latin typeface="Arial" pitchFamily="34" charset="0"/>
              </a:rPr>
              <a:t>Qj,Qk - If a no in Rj, Rk, means waiting for a FU to write result; Qj, Qk means wihch FU waiting for it</a:t>
            </a:r>
          </a:p>
          <a:p>
            <a:pPr eaLnBrk="1" hangingPunct="1">
              <a:buSzPct val="100000"/>
            </a:pPr>
            <a:r>
              <a:rPr lang="en-US" altLang="zh-CN">
                <a:latin typeface="Arial" pitchFamily="34" charset="0"/>
              </a:rPr>
              <a:t>3.Status of register result (WAW &amp;WAR)s:</a:t>
            </a:r>
          </a:p>
          <a:p>
            <a:pPr eaLnBrk="1" hangingPunct="1">
              <a:buSzPct val="100000"/>
            </a:pPr>
            <a:r>
              <a:rPr lang="en-US" altLang="zh-CN">
                <a:latin typeface="Arial" pitchFamily="34" charset="0"/>
              </a:rPr>
              <a:t>which FU is going to write into registers</a:t>
            </a:r>
          </a:p>
          <a:p>
            <a:pPr eaLnBrk="1" hangingPunct="1">
              <a:buSzPct val="100000"/>
            </a:pPr>
            <a:r>
              <a:rPr lang="en-US" altLang="zh-CN">
                <a:latin typeface="Arial" pitchFamily="34" charset="0"/>
              </a:rPr>
              <a:t>Scoreboard on 6600 = size of FU</a:t>
            </a:r>
          </a:p>
          <a:p>
            <a:pPr eaLnBrk="1" hangingPunct="1">
              <a:buSzPct val="100000"/>
            </a:pPr>
            <a:r>
              <a:rPr lang="en-US" altLang="zh-CN">
                <a:latin typeface="Arial" pitchFamily="34" charset="0"/>
              </a:rPr>
              <a:t>6.7, 6.8, 6.9, 6.12, 6.13, 6.16, 6.17</a:t>
            </a:r>
          </a:p>
          <a:p>
            <a:pPr eaLnBrk="1" hangingPunct="1">
              <a:buSzPct val="100000"/>
            </a:pPr>
            <a:r>
              <a:rPr lang="en-US" altLang="zh-CN">
                <a:latin typeface="Arial" pitchFamily="34" charset="0"/>
              </a:rPr>
              <a:t>FU latencies: Add 2, Mult 10, Div 40 clocks</a:t>
            </a:r>
          </a:p>
        </p:txBody>
      </p:sp>
      <p:sp>
        <p:nvSpPr>
          <p:cNvPr id="15770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30513" y="582613"/>
            <a:ext cx="3832225" cy="287496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>
            <a:extLst>
              <a:ext uri="{FF2B5EF4-FFF2-40B4-BE49-F238E27FC236}">
                <a16:creationId xmlns:a16="http://schemas.microsoft.com/office/drawing/2014/main" id="{387E2B36-7B52-4648-88E4-A7B5A903B6A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B498CC3-8B3B-43FB-9A29-5D16427D28E2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167939" name="Rectangle 1">
            <a:extLst>
              <a:ext uri="{FF2B5EF4-FFF2-40B4-BE49-F238E27FC236}">
                <a16:creationId xmlns:a16="http://schemas.microsoft.com/office/drawing/2014/main" id="{FE99F959-0110-4A83-88A2-3DDCEE43DF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67940" name="Rectangle 2">
            <a:extLst>
              <a:ext uri="{FF2B5EF4-FFF2-40B4-BE49-F238E27FC236}">
                <a16:creationId xmlns:a16="http://schemas.microsoft.com/office/drawing/2014/main" id="{6B44F9BD-A80D-4EF7-8E27-BE445E28BC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136" y="4562642"/>
            <a:ext cx="5785094" cy="37330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>
            <a:extLst>
              <a:ext uri="{FF2B5EF4-FFF2-40B4-BE49-F238E27FC236}">
                <a16:creationId xmlns:a16="http://schemas.microsoft.com/office/drawing/2014/main" id="{0808B62D-062C-45CC-8B32-A88EBC2D117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B1D1EDC-3DA0-4B69-863F-A7C906D5509E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169987" name="Rectangle 1">
            <a:extLst>
              <a:ext uri="{FF2B5EF4-FFF2-40B4-BE49-F238E27FC236}">
                <a16:creationId xmlns:a16="http://schemas.microsoft.com/office/drawing/2014/main" id="{44780250-5890-4F32-B8A6-BC268C690E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69988" name="Rectangle 2">
            <a:extLst>
              <a:ext uri="{FF2B5EF4-FFF2-40B4-BE49-F238E27FC236}">
                <a16:creationId xmlns:a16="http://schemas.microsoft.com/office/drawing/2014/main" id="{548B1628-7E17-4BDB-965A-BC015E24FD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136" y="4562642"/>
            <a:ext cx="5785094" cy="37330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>
            <a:extLst>
              <a:ext uri="{FF2B5EF4-FFF2-40B4-BE49-F238E27FC236}">
                <a16:creationId xmlns:a16="http://schemas.microsoft.com/office/drawing/2014/main" id="{0152E09D-3CBE-4B28-AB39-2EC3F225C9E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142A3F3-FA41-49CE-99C7-102B4C3626BA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172035" name="Rectangle 1">
            <a:extLst>
              <a:ext uri="{FF2B5EF4-FFF2-40B4-BE49-F238E27FC236}">
                <a16:creationId xmlns:a16="http://schemas.microsoft.com/office/drawing/2014/main" id="{599A291A-34F4-4DEE-9B2F-0E286689BB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2036" name="Rectangle 2">
            <a:extLst>
              <a:ext uri="{FF2B5EF4-FFF2-40B4-BE49-F238E27FC236}">
                <a16:creationId xmlns:a16="http://schemas.microsoft.com/office/drawing/2014/main" id="{78B0BA38-514B-4150-8392-A4D61108D8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136" y="4562642"/>
            <a:ext cx="5785094" cy="37330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>
            <a:extLst>
              <a:ext uri="{FF2B5EF4-FFF2-40B4-BE49-F238E27FC236}">
                <a16:creationId xmlns:a16="http://schemas.microsoft.com/office/drawing/2014/main" id="{25E0DAC3-1CCB-41AC-9F3B-5CCC425D9D9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D0F5C1-6B55-4F76-B140-AD2756351052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174083" name="Rectangle 1">
            <a:extLst>
              <a:ext uri="{FF2B5EF4-FFF2-40B4-BE49-F238E27FC236}">
                <a16:creationId xmlns:a16="http://schemas.microsoft.com/office/drawing/2014/main" id="{434EFBA9-E9F4-410E-88E9-5D822556B9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084" name="Rectangle 2">
            <a:extLst>
              <a:ext uri="{FF2B5EF4-FFF2-40B4-BE49-F238E27FC236}">
                <a16:creationId xmlns:a16="http://schemas.microsoft.com/office/drawing/2014/main" id="{F05E688C-989B-4C9E-A934-87395A96D2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136" y="4562642"/>
            <a:ext cx="5785094" cy="37330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>
            <a:extLst>
              <a:ext uri="{FF2B5EF4-FFF2-40B4-BE49-F238E27FC236}">
                <a16:creationId xmlns:a16="http://schemas.microsoft.com/office/drawing/2014/main" id="{E87A633F-9F91-46A6-8FD9-93FFA720041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8ED7B39-8DF5-46A5-A977-0AA8B9C94BFE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176131" name="Rectangle 1">
            <a:extLst>
              <a:ext uri="{FF2B5EF4-FFF2-40B4-BE49-F238E27FC236}">
                <a16:creationId xmlns:a16="http://schemas.microsoft.com/office/drawing/2014/main" id="{08A19D20-1BCF-400B-8070-7DC3748C53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6132" name="Rectangle 2">
            <a:extLst>
              <a:ext uri="{FF2B5EF4-FFF2-40B4-BE49-F238E27FC236}">
                <a16:creationId xmlns:a16="http://schemas.microsoft.com/office/drawing/2014/main" id="{FE159A1A-DACB-4B50-AF25-890B11AE53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136" y="4562642"/>
            <a:ext cx="5785094" cy="37330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7">
            <a:extLst>
              <a:ext uri="{FF2B5EF4-FFF2-40B4-BE49-F238E27FC236}">
                <a16:creationId xmlns:a16="http://schemas.microsoft.com/office/drawing/2014/main" id="{AF2B1383-C726-42CE-8AEA-1CA0F65DF32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0B519DE-8804-4194-8437-085ECC917695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178179" name="Rectangle 1">
            <a:extLst>
              <a:ext uri="{FF2B5EF4-FFF2-40B4-BE49-F238E27FC236}">
                <a16:creationId xmlns:a16="http://schemas.microsoft.com/office/drawing/2014/main" id="{F0EFCEDC-2711-4ADC-AC66-956417F68C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8180" name="Rectangle 2">
            <a:extLst>
              <a:ext uri="{FF2B5EF4-FFF2-40B4-BE49-F238E27FC236}">
                <a16:creationId xmlns:a16="http://schemas.microsoft.com/office/drawing/2014/main" id="{1F9F3B66-C13B-4D45-BF17-8C302A8DE0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136" y="4562642"/>
            <a:ext cx="5785094" cy="37330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>
            <a:extLst>
              <a:ext uri="{FF2B5EF4-FFF2-40B4-BE49-F238E27FC236}">
                <a16:creationId xmlns:a16="http://schemas.microsoft.com/office/drawing/2014/main" id="{63F96C7C-C6F0-40A5-BF16-E4359DCF666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E0B437A-8C89-446A-A387-B34C3BF3E273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180227" name="Rectangle 1">
            <a:extLst>
              <a:ext uri="{FF2B5EF4-FFF2-40B4-BE49-F238E27FC236}">
                <a16:creationId xmlns:a16="http://schemas.microsoft.com/office/drawing/2014/main" id="{ACA5C655-C9BF-4F8C-B0AD-304B2747C0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80228" name="Rectangle 2">
            <a:extLst>
              <a:ext uri="{FF2B5EF4-FFF2-40B4-BE49-F238E27FC236}">
                <a16:creationId xmlns:a16="http://schemas.microsoft.com/office/drawing/2014/main" id="{CB2BBBF1-8D48-4921-B723-47806A4F0A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136" y="4562642"/>
            <a:ext cx="5785094" cy="37330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7">
            <a:extLst>
              <a:ext uri="{FF2B5EF4-FFF2-40B4-BE49-F238E27FC236}">
                <a16:creationId xmlns:a16="http://schemas.microsoft.com/office/drawing/2014/main" id="{BFCC69D1-3394-4D23-8940-C47ED3679EC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C393BA8-D4C3-4DDA-BC97-FFEBBDACD7DC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182275" name="Rectangle 1">
            <a:extLst>
              <a:ext uri="{FF2B5EF4-FFF2-40B4-BE49-F238E27FC236}">
                <a16:creationId xmlns:a16="http://schemas.microsoft.com/office/drawing/2014/main" id="{A1D0149C-061E-4256-8449-D9472B8BF1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82276" name="Rectangle 2">
            <a:extLst>
              <a:ext uri="{FF2B5EF4-FFF2-40B4-BE49-F238E27FC236}">
                <a16:creationId xmlns:a16="http://schemas.microsoft.com/office/drawing/2014/main" id="{5069D3E4-9BD7-449B-91C6-FCF602DE0B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136" y="4562642"/>
            <a:ext cx="5785094" cy="37330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7">
            <a:extLst>
              <a:ext uri="{FF2B5EF4-FFF2-40B4-BE49-F238E27FC236}">
                <a16:creationId xmlns:a16="http://schemas.microsoft.com/office/drawing/2014/main" id="{96C6DEB2-8485-432A-99F1-767E9A8AA87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53E5E39-9F25-4E0C-BDB3-4FAD1A155D45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184323" name="Rectangle 1">
            <a:extLst>
              <a:ext uri="{FF2B5EF4-FFF2-40B4-BE49-F238E27FC236}">
                <a16:creationId xmlns:a16="http://schemas.microsoft.com/office/drawing/2014/main" id="{FAB9545D-E110-4D1A-8B30-CD88130100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84324" name="Rectangle 2">
            <a:extLst>
              <a:ext uri="{FF2B5EF4-FFF2-40B4-BE49-F238E27FC236}">
                <a16:creationId xmlns:a16="http://schemas.microsoft.com/office/drawing/2014/main" id="{F79C37F8-122D-47D3-91C0-86892C3B0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136" y="4562642"/>
            <a:ext cx="5785094" cy="37330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7">
            <a:extLst>
              <a:ext uri="{FF2B5EF4-FFF2-40B4-BE49-F238E27FC236}">
                <a16:creationId xmlns:a16="http://schemas.microsoft.com/office/drawing/2014/main" id="{17AD72BE-EF01-4D63-B30E-0C766A7D74D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68322B1-02B6-4C24-B02C-44F264EBAC6F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186371" name="Rectangle 1">
            <a:extLst>
              <a:ext uri="{FF2B5EF4-FFF2-40B4-BE49-F238E27FC236}">
                <a16:creationId xmlns:a16="http://schemas.microsoft.com/office/drawing/2014/main" id="{A878CA30-5564-49C7-9991-9E6C50613B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86372" name="Rectangle 2">
            <a:extLst>
              <a:ext uri="{FF2B5EF4-FFF2-40B4-BE49-F238E27FC236}">
                <a16:creationId xmlns:a16="http://schemas.microsoft.com/office/drawing/2014/main" id="{A12C8FC5-CBF3-4A4B-90ED-B2165E16F4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136" y="4562642"/>
            <a:ext cx="5785094" cy="37330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>
            <a:extLst>
              <a:ext uri="{FF2B5EF4-FFF2-40B4-BE49-F238E27FC236}">
                <a16:creationId xmlns:a16="http://schemas.microsoft.com/office/drawing/2014/main" id="{2C574D3F-64FE-43FF-A365-DF6CD3FF95E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965F10-4FDB-4EDA-A3DF-892FC7AB7049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188419" name="Rectangle 1">
            <a:extLst>
              <a:ext uri="{FF2B5EF4-FFF2-40B4-BE49-F238E27FC236}">
                <a16:creationId xmlns:a16="http://schemas.microsoft.com/office/drawing/2014/main" id="{8A7761E3-8199-42BF-8746-EA36E7CF55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88420" name="Rectangle 2">
            <a:extLst>
              <a:ext uri="{FF2B5EF4-FFF2-40B4-BE49-F238E27FC236}">
                <a16:creationId xmlns:a16="http://schemas.microsoft.com/office/drawing/2014/main" id="{285991FA-354D-4084-9CBC-49CBD4E1DB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136" y="4562642"/>
            <a:ext cx="5785094" cy="37330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7">
            <a:extLst>
              <a:ext uri="{FF2B5EF4-FFF2-40B4-BE49-F238E27FC236}">
                <a16:creationId xmlns:a16="http://schemas.microsoft.com/office/drawing/2014/main" id="{0EC2A691-A086-4284-8CA9-8E80FD49AF3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5299843-BA2F-4E8C-82D7-B12DF9523F86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190467" name="Rectangle 1">
            <a:extLst>
              <a:ext uri="{FF2B5EF4-FFF2-40B4-BE49-F238E27FC236}">
                <a16:creationId xmlns:a16="http://schemas.microsoft.com/office/drawing/2014/main" id="{473155C8-FF59-475D-A639-4636002EFC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90468" name="Rectangle 2">
            <a:extLst>
              <a:ext uri="{FF2B5EF4-FFF2-40B4-BE49-F238E27FC236}">
                <a16:creationId xmlns:a16="http://schemas.microsoft.com/office/drawing/2014/main" id="{397EB610-1E2C-40F3-8901-06234EE7FC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136" y="4562642"/>
            <a:ext cx="5785094" cy="37330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7">
            <a:extLst>
              <a:ext uri="{FF2B5EF4-FFF2-40B4-BE49-F238E27FC236}">
                <a16:creationId xmlns:a16="http://schemas.microsoft.com/office/drawing/2014/main" id="{285E3A47-157A-42F9-A5F6-2D7BD0B8C2A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BCF2FFA-B8E2-4527-83A1-C826821B0624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192515" name="Rectangle 1">
            <a:extLst>
              <a:ext uri="{FF2B5EF4-FFF2-40B4-BE49-F238E27FC236}">
                <a16:creationId xmlns:a16="http://schemas.microsoft.com/office/drawing/2014/main" id="{DE9898B2-3B42-4511-9AE1-7F97D088A6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92516" name="Rectangle 2">
            <a:extLst>
              <a:ext uri="{FF2B5EF4-FFF2-40B4-BE49-F238E27FC236}">
                <a16:creationId xmlns:a16="http://schemas.microsoft.com/office/drawing/2014/main" id="{C9D6E90D-3371-4A9F-94C7-16F433BC9F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136" y="4562642"/>
            <a:ext cx="5785094" cy="37330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7">
            <a:extLst>
              <a:ext uri="{FF2B5EF4-FFF2-40B4-BE49-F238E27FC236}">
                <a16:creationId xmlns:a16="http://schemas.microsoft.com/office/drawing/2014/main" id="{EBBB0963-CA15-44C3-9DB1-B36248F15DE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06E4762-F943-445E-80B8-9ECF1F87A93F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194563" name="Rectangle 1">
            <a:extLst>
              <a:ext uri="{FF2B5EF4-FFF2-40B4-BE49-F238E27FC236}">
                <a16:creationId xmlns:a16="http://schemas.microsoft.com/office/drawing/2014/main" id="{272333D2-2B98-4EB7-9662-DC2491262D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94564" name="Rectangle 2">
            <a:extLst>
              <a:ext uri="{FF2B5EF4-FFF2-40B4-BE49-F238E27FC236}">
                <a16:creationId xmlns:a16="http://schemas.microsoft.com/office/drawing/2014/main" id="{6DCB532E-C163-473E-9973-5F98E1EA6C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136" y="4562642"/>
            <a:ext cx="5785094" cy="37330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7">
            <a:extLst>
              <a:ext uri="{FF2B5EF4-FFF2-40B4-BE49-F238E27FC236}">
                <a16:creationId xmlns:a16="http://schemas.microsoft.com/office/drawing/2014/main" id="{3042C218-52B3-404B-9F34-E4B05BA5920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DE2F01D-82BB-473B-9A60-4C929BE2E5AA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196611" name="Rectangle 1">
            <a:extLst>
              <a:ext uri="{FF2B5EF4-FFF2-40B4-BE49-F238E27FC236}">
                <a16:creationId xmlns:a16="http://schemas.microsoft.com/office/drawing/2014/main" id="{5789150D-FD2B-4A90-AE3C-61F113E3BE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96612" name="Rectangle 2">
            <a:extLst>
              <a:ext uri="{FF2B5EF4-FFF2-40B4-BE49-F238E27FC236}">
                <a16:creationId xmlns:a16="http://schemas.microsoft.com/office/drawing/2014/main" id="{4CC10EAB-88FF-4BB5-ACEA-240FBCFD78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136" y="4562642"/>
            <a:ext cx="5785094" cy="37330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7">
            <a:extLst>
              <a:ext uri="{FF2B5EF4-FFF2-40B4-BE49-F238E27FC236}">
                <a16:creationId xmlns:a16="http://schemas.microsoft.com/office/drawing/2014/main" id="{69874672-9D6A-46CB-8309-A90A803D0DB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5060C79-722B-49C0-90FD-E6E7F1D92F32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198659" name="Rectangle 1">
            <a:extLst>
              <a:ext uri="{FF2B5EF4-FFF2-40B4-BE49-F238E27FC236}">
                <a16:creationId xmlns:a16="http://schemas.microsoft.com/office/drawing/2014/main" id="{2C0D46D2-A378-47B1-8F96-624562B9D8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98660" name="Rectangle 2">
            <a:extLst>
              <a:ext uri="{FF2B5EF4-FFF2-40B4-BE49-F238E27FC236}">
                <a16:creationId xmlns:a16="http://schemas.microsoft.com/office/drawing/2014/main" id="{D2FAFB49-715A-4DDB-8A43-941995CFF2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136" y="4562642"/>
            <a:ext cx="5785094" cy="37330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7">
            <a:extLst>
              <a:ext uri="{FF2B5EF4-FFF2-40B4-BE49-F238E27FC236}">
                <a16:creationId xmlns:a16="http://schemas.microsoft.com/office/drawing/2014/main" id="{A54D0ED7-0081-4DC8-B308-1F1937CEF45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CE6961C-E17B-46E3-8993-2882E2E0BF56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200707" name="Rectangle 1">
            <a:extLst>
              <a:ext uri="{FF2B5EF4-FFF2-40B4-BE49-F238E27FC236}">
                <a16:creationId xmlns:a16="http://schemas.microsoft.com/office/drawing/2014/main" id="{5D2B0F9F-A0B7-49AF-BA59-B6877882A5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00708" name="Rectangle 2">
            <a:extLst>
              <a:ext uri="{FF2B5EF4-FFF2-40B4-BE49-F238E27FC236}">
                <a16:creationId xmlns:a16="http://schemas.microsoft.com/office/drawing/2014/main" id="{6686026A-8D96-452B-866C-6B6502C1EE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136" y="4562642"/>
            <a:ext cx="5785094" cy="37330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7">
            <a:extLst>
              <a:ext uri="{FF2B5EF4-FFF2-40B4-BE49-F238E27FC236}">
                <a16:creationId xmlns:a16="http://schemas.microsoft.com/office/drawing/2014/main" id="{E859511D-8C98-44B5-A448-488C0AA4CA9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5DBF167-0976-4005-8E09-631D00B5A5FC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204803" name="Rectangle 1">
            <a:extLst>
              <a:ext uri="{FF2B5EF4-FFF2-40B4-BE49-F238E27FC236}">
                <a16:creationId xmlns:a16="http://schemas.microsoft.com/office/drawing/2014/main" id="{210094E0-5FD3-45AB-8646-4800657636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04804" name="Rectangle 2">
            <a:extLst>
              <a:ext uri="{FF2B5EF4-FFF2-40B4-BE49-F238E27FC236}">
                <a16:creationId xmlns:a16="http://schemas.microsoft.com/office/drawing/2014/main" id="{DFF837C9-A1DD-4D64-8AF6-5A452D31FB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136" y="4562642"/>
            <a:ext cx="5785094" cy="37330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7">
            <a:extLst>
              <a:ext uri="{FF2B5EF4-FFF2-40B4-BE49-F238E27FC236}">
                <a16:creationId xmlns:a16="http://schemas.microsoft.com/office/drawing/2014/main" id="{29D3BD9D-0C6B-44C2-821F-9896BA9F8A3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7AD9285-9889-4E56-9A79-8426B4656245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206851" name="Rectangle 1">
            <a:extLst>
              <a:ext uri="{FF2B5EF4-FFF2-40B4-BE49-F238E27FC236}">
                <a16:creationId xmlns:a16="http://schemas.microsoft.com/office/drawing/2014/main" id="{AB3A0005-4C5F-4298-852E-AE4EF12DA7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06852" name="Rectangle 2">
            <a:extLst>
              <a:ext uri="{FF2B5EF4-FFF2-40B4-BE49-F238E27FC236}">
                <a16:creationId xmlns:a16="http://schemas.microsoft.com/office/drawing/2014/main" id="{A403CAA8-055C-474E-AEF9-963AA37EAF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136" y="4562642"/>
            <a:ext cx="5785094" cy="37330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7">
            <a:extLst>
              <a:ext uri="{FF2B5EF4-FFF2-40B4-BE49-F238E27FC236}">
                <a16:creationId xmlns:a16="http://schemas.microsoft.com/office/drawing/2014/main" id="{3404D461-1C44-4AF8-8D15-5CB753EE16F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00B7F62-DAF1-4C5D-996A-11A3ED935AF0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208899" name="Rectangle 1">
            <a:extLst>
              <a:ext uri="{FF2B5EF4-FFF2-40B4-BE49-F238E27FC236}">
                <a16:creationId xmlns:a16="http://schemas.microsoft.com/office/drawing/2014/main" id="{553DCBE1-97BE-4D41-9B3D-D90EBF5724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08900" name="Rectangle 2">
            <a:extLst>
              <a:ext uri="{FF2B5EF4-FFF2-40B4-BE49-F238E27FC236}">
                <a16:creationId xmlns:a16="http://schemas.microsoft.com/office/drawing/2014/main" id="{177EFABB-5CCA-4116-AA0C-05F357DF16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136" y="4562642"/>
            <a:ext cx="5785094" cy="37330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7">
            <a:extLst>
              <a:ext uri="{FF2B5EF4-FFF2-40B4-BE49-F238E27FC236}">
                <a16:creationId xmlns:a16="http://schemas.microsoft.com/office/drawing/2014/main" id="{3404D461-1C44-4AF8-8D15-5CB753EE16F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00B7F62-DAF1-4C5D-996A-11A3ED935AF0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208899" name="Rectangle 1">
            <a:extLst>
              <a:ext uri="{FF2B5EF4-FFF2-40B4-BE49-F238E27FC236}">
                <a16:creationId xmlns:a16="http://schemas.microsoft.com/office/drawing/2014/main" id="{553DCBE1-97BE-4D41-9B3D-D90EBF5724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08900" name="Rectangle 2">
            <a:extLst>
              <a:ext uri="{FF2B5EF4-FFF2-40B4-BE49-F238E27FC236}">
                <a16:creationId xmlns:a16="http://schemas.microsoft.com/office/drawing/2014/main" id="{177EFABB-5CCA-4116-AA0C-05F357DF16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136" y="4562642"/>
            <a:ext cx="5785094" cy="37330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4982822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0899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7">
            <a:extLst>
              <a:ext uri="{FF2B5EF4-FFF2-40B4-BE49-F238E27FC236}">
                <a16:creationId xmlns:a16="http://schemas.microsoft.com/office/drawing/2014/main" id="{DAE04E93-F9DD-4821-BA76-CAA947C7832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1C62A56-D374-4078-86E2-F5720B57DDB7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221187" name="Rectangle 1">
            <a:extLst>
              <a:ext uri="{FF2B5EF4-FFF2-40B4-BE49-F238E27FC236}">
                <a16:creationId xmlns:a16="http://schemas.microsoft.com/office/drawing/2014/main" id="{AEDB322A-51D2-4BA4-B75C-B18ABCD945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21188" name="Rectangle 2">
            <a:extLst>
              <a:ext uri="{FF2B5EF4-FFF2-40B4-BE49-F238E27FC236}">
                <a16:creationId xmlns:a16="http://schemas.microsoft.com/office/drawing/2014/main" id="{FDA08958-432F-4E5F-A9FF-C43210F88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136" y="4562642"/>
            <a:ext cx="5785094" cy="37330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7">
            <a:extLst>
              <a:ext uri="{FF2B5EF4-FFF2-40B4-BE49-F238E27FC236}">
                <a16:creationId xmlns:a16="http://schemas.microsoft.com/office/drawing/2014/main" id="{A603D451-B687-4DCE-B4BE-799EA93B8D2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4F21753-6AB7-4BFC-A9EC-5D4919CE335A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223235" name="Rectangle 1">
            <a:extLst>
              <a:ext uri="{FF2B5EF4-FFF2-40B4-BE49-F238E27FC236}">
                <a16:creationId xmlns:a16="http://schemas.microsoft.com/office/drawing/2014/main" id="{DCBCB13F-8681-47C4-BF22-49B1ECEBB6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23236" name="Rectangle 2">
            <a:extLst>
              <a:ext uri="{FF2B5EF4-FFF2-40B4-BE49-F238E27FC236}">
                <a16:creationId xmlns:a16="http://schemas.microsoft.com/office/drawing/2014/main" id="{CB12EA1D-1B09-47BC-979B-CD876127EE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136" y="4562642"/>
            <a:ext cx="5785094" cy="37330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7">
            <a:extLst>
              <a:ext uri="{FF2B5EF4-FFF2-40B4-BE49-F238E27FC236}">
                <a16:creationId xmlns:a16="http://schemas.microsoft.com/office/drawing/2014/main" id="{67346C81-6C52-482E-8405-50C197EFFDE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788B802-6F9A-4298-A93A-B141D42F2C1F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225283" name="Rectangle 1">
            <a:extLst>
              <a:ext uri="{FF2B5EF4-FFF2-40B4-BE49-F238E27FC236}">
                <a16:creationId xmlns:a16="http://schemas.microsoft.com/office/drawing/2014/main" id="{2C501A23-2930-4913-842F-DE6CC2F0C6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25284" name="Rectangle 2">
            <a:extLst>
              <a:ext uri="{FF2B5EF4-FFF2-40B4-BE49-F238E27FC236}">
                <a16:creationId xmlns:a16="http://schemas.microsoft.com/office/drawing/2014/main" id="{CFF11175-8657-418C-9C5A-BA25A77BEA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136" y="4562642"/>
            <a:ext cx="5785094" cy="37330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7">
            <a:extLst>
              <a:ext uri="{FF2B5EF4-FFF2-40B4-BE49-F238E27FC236}">
                <a16:creationId xmlns:a16="http://schemas.microsoft.com/office/drawing/2014/main" id="{8269ED09-EEF5-464F-9C4B-815525B9BAE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CBEB654-DCDD-4649-87CC-8672620348F6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227331" name="Rectangle 1">
            <a:extLst>
              <a:ext uri="{FF2B5EF4-FFF2-40B4-BE49-F238E27FC236}">
                <a16:creationId xmlns:a16="http://schemas.microsoft.com/office/drawing/2014/main" id="{08E24EAF-887D-47B0-BDF6-91AF8FDB87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27332" name="Rectangle 2">
            <a:extLst>
              <a:ext uri="{FF2B5EF4-FFF2-40B4-BE49-F238E27FC236}">
                <a16:creationId xmlns:a16="http://schemas.microsoft.com/office/drawing/2014/main" id="{462C688E-87E6-48D8-96A7-097C27BB0D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136" y="4562642"/>
            <a:ext cx="5785094" cy="37330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7">
            <a:extLst>
              <a:ext uri="{FF2B5EF4-FFF2-40B4-BE49-F238E27FC236}">
                <a16:creationId xmlns:a16="http://schemas.microsoft.com/office/drawing/2014/main" id="{DF414CCA-2A8B-4E73-AB8C-D2A381777A2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B31816B-A9E9-4045-8A36-2D6C6AA6A0C7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231427" name="Rectangle 1">
            <a:extLst>
              <a:ext uri="{FF2B5EF4-FFF2-40B4-BE49-F238E27FC236}">
                <a16:creationId xmlns:a16="http://schemas.microsoft.com/office/drawing/2014/main" id="{E2F8A9B2-D619-4B0F-90B8-48A988260D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31428" name="Rectangle 2">
            <a:extLst>
              <a:ext uri="{FF2B5EF4-FFF2-40B4-BE49-F238E27FC236}">
                <a16:creationId xmlns:a16="http://schemas.microsoft.com/office/drawing/2014/main" id="{869B0239-EDDF-46C3-9068-140C757F5F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136" y="4562642"/>
            <a:ext cx="5785094" cy="37330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7">
            <a:extLst>
              <a:ext uri="{FF2B5EF4-FFF2-40B4-BE49-F238E27FC236}">
                <a16:creationId xmlns:a16="http://schemas.microsoft.com/office/drawing/2014/main" id="{E410C0ED-F34F-4E31-BCE8-4F9A97D60F1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F11EE81-0EE9-46BA-A372-30DFBFBB7A2B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34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233475" name="Rectangle 1">
            <a:extLst>
              <a:ext uri="{FF2B5EF4-FFF2-40B4-BE49-F238E27FC236}">
                <a16:creationId xmlns:a16="http://schemas.microsoft.com/office/drawing/2014/main" id="{4D250AA1-BEFF-4B81-9A8E-F42486E139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33476" name="Rectangle 2">
            <a:extLst>
              <a:ext uri="{FF2B5EF4-FFF2-40B4-BE49-F238E27FC236}">
                <a16:creationId xmlns:a16="http://schemas.microsoft.com/office/drawing/2014/main" id="{64CAAA05-6ECC-4FD1-A27C-ED75A705DE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136" y="4562642"/>
            <a:ext cx="5785094" cy="37330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7">
            <a:extLst>
              <a:ext uri="{FF2B5EF4-FFF2-40B4-BE49-F238E27FC236}">
                <a16:creationId xmlns:a16="http://schemas.microsoft.com/office/drawing/2014/main" id="{33194662-8C28-419A-B18E-D08C2D5F437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7057BC6-57DE-481C-ACA8-CD5A11B0D6FE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235523" name="Rectangle 1">
            <a:extLst>
              <a:ext uri="{FF2B5EF4-FFF2-40B4-BE49-F238E27FC236}">
                <a16:creationId xmlns:a16="http://schemas.microsoft.com/office/drawing/2014/main" id="{0354E73D-F6FC-4124-8F6F-BB532460BB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35524" name="Rectangle 2">
            <a:extLst>
              <a:ext uri="{FF2B5EF4-FFF2-40B4-BE49-F238E27FC236}">
                <a16:creationId xmlns:a16="http://schemas.microsoft.com/office/drawing/2014/main" id="{E69673C9-9E63-46B3-89A9-D36CC9FDD0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136" y="4562642"/>
            <a:ext cx="5785094" cy="37330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7">
            <a:extLst>
              <a:ext uri="{FF2B5EF4-FFF2-40B4-BE49-F238E27FC236}">
                <a16:creationId xmlns:a16="http://schemas.microsoft.com/office/drawing/2014/main" id="{EF5A8D16-0CA8-4DE2-9007-6D881C67646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D60C7EF-DA86-4C58-A45D-C69842E905D6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36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237571" name="Rectangle 1">
            <a:extLst>
              <a:ext uri="{FF2B5EF4-FFF2-40B4-BE49-F238E27FC236}">
                <a16:creationId xmlns:a16="http://schemas.microsoft.com/office/drawing/2014/main" id="{FF788B2A-F768-43D8-ADC8-6490827CF6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37572" name="Rectangle 2">
            <a:extLst>
              <a:ext uri="{FF2B5EF4-FFF2-40B4-BE49-F238E27FC236}">
                <a16:creationId xmlns:a16="http://schemas.microsoft.com/office/drawing/2014/main" id="{F291CAFE-CCC2-490B-99A7-83CDA58C16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136" y="4562642"/>
            <a:ext cx="5785094" cy="37330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7">
            <a:extLst>
              <a:ext uri="{FF2B5EF4-FFF2-40B4-BE49-F238E27FC236}">
                <a16:creationId xmlns:a16="http://schemas.microsoft.com/office/drawing/2014/main" id="{93E409E7-E8A3-4DFB-B689-478D3132921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4994579-AD14-4000-9246-9942D4B5ECCA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37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239619" name="Rectangle 1">
            <a:extLst>
              <a:ext uri="{FF2B5EF4-FFF2-40B4-BE49-F238E27FC236}">
                <a16:creationId xmlns:a16="http://schemas.microsoft.com/office/drawing/2014/main" id="{A7DC98A1-E08F-4196-B81B-9E1C43ED26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39620" name="Rectangle 2">
            <a:extLst>
              <a:ext uri="{FF2B5EF4-FFF2-40B4-BE49-F238E27FC236}">
                <a16:creationId xmlns:a16="http://schemas.microsoft.com/office/drawing/2014/main" id="{AD6F1335-18FF-41A1-B079-388D150166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136" y="4562642"/>
            <a:ext cx="5785094" cy="37330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7">
            <a:extLst>
              <a:ext uri="{FF2B5EF4-FFF2-40B4-BE49-F238E27FC236}">
                <a16:creationId xmlns:a16="http://schemas.microsoft.com/office/drawing/2014/main" id="{02F7481B-6811-483D-888B-CF4264A186A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8ED7A21-D018-4EC4-A75C-37184202FA86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38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243715" name="Rectangle 1">
            <a:extLst>
              <a:ext uri="{FF2B5EF4-FFF2-40B4-BE49-F238E27FC236}">
                <a16:creationId xmlns:a16="http://schemas.microsoft.com/office/drawing/2014/main" id="{9C092EB6-8079-4010-800B-CD1B55EB9E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43716" name="Rectangle 2">
            <a:extLst>
              <a:ext uri="{FF2B5EF4-FFF2-40B4-BE49-F238E27FC236}">
                <a16:creationId xmlns:a16="http://schemas.microsoft.com/office/drawing/2014/main" id="{459B9B39-B359-4A93-85C0-E7B1C356B3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136" y="4562642"/>
            <a:ext cx="5785094" cy="37330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7">
            <a:extLst>
              <a:ext uri="{FF2B5EF4-FFF2-40B4-BE49-F238E27FC236}">
                <a16:creationId xmlns:a16="http://schemas.microsoft.com/office/drawing/2014/main" id="{29968F5A-472E-47D0-90D3-40ECFA4BA06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B292730-213E-4C69-973C-BBAB355A4A1B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39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245763" name="Rectangle 1">
            <a:extLst>
              <a:ext uri="{FF2B5EF4-FFF2-40B4-BE49-F238E27FC236}">
                <a16:creationId xmlns:a16="http://schemas.microsoft.com/office/drawing/2014/main" id="{70DD1F1D-AB56-4955-9F11-73534C264E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45764" name="Rectangle 2">
            <a:extLst>
              <a:ext uri="{FF2B5EF4-FFF2-40B4-BE49-F238E27FC236}">
                <a16:creationId xmlns:a16="http://schemas.microsoft.com/office/drawing/2014/main" id="{2F48F701-04E5-4834-A452-E3A3DC4A87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136" y="4562642"/>
            <a:ext cx="5785094" cy="37330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7">
            <a:extLst>
              <a:ext uri="{FF2B5EF4-FFF2-40B4-BE49-F238E27FC236}">
                <a16:creationId xmlns:a16="http://schemas.microsoft.com/office/drawing/2014/main" id="{1999F9C5-DE19-4F1C-9BE6-5D69EE45353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922B841-3CB0-4A54-96B3-80F575D13ACA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40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247811" name="Rectangle 1">
            <a:extLst>
              <a:ext uri="{FF2B5EF4-FFF2-40B4-BE49-F238E27FC236}">
                <a16:creationId xmlns:a16="http://schemas.microsoft.com/office/drawing/2014/main" id="{9DBAA98A-0C5A-488B-842D-D6757A258A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47812" name="Rectangle 2">
            <a:extLst>
              <a:ext uri="{FF2B5EF4-FFF2-40B4-BE49-F238E27FC236}">
                <a16:creationId xmlns:a16="http://schemas.microsoft.com/office/drawing/2014/main" id="{1FDF1607-82EE-462E-A58A-430F4E12E4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136" y="4562642"/>
            <a:ext cx="5785094" cy="37330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7">
            <a:extLst>
              <a:ext uri="{FF2B5EF4-FFF2-40B4-BE49-F238E27FC236}">
                <a16:creationId xmlns:a16="http://schemas.microsoft.com/office/drawing/2014/main" id="{6E597D0B-1467-4FF3-825F-C3261F4968F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8EFC77F-FC9B-40C0-A917-7B23F8316571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41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249859" name="Rectangle 1">
            <a:extLst>
              <a:ext uri="{FF2B5EF4-FFF2-40B4-BE49-F238E27FC236}">
                <a16:creationId xmlns:a16="http://schemas.microsoft.com/office/drawing/2014/main" id="{0930AFEC-E956-478B-BF72-76C96068E2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49860" name="Text Box 2">
            <a:extLst>
              <a:ext uri="{FF2B5EF4-FFF2-40B4-BE49-F238E27FC236}">
                <a16:creationId xmlns:a16="http://schemas.microsoft.com/office/drawing/2014/main" id="{D6809C62-CA52-48A4-9500-092BE6431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136" y="4562642"/>
            <a:ext cx="5785094" cy="3733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5454" tIns="47727" rIns="95454" bIns="47727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zh-CN">
                <a:latin typeface="Arial" panose="020B0604020202020204" pitchFamily="34" charset="0"/>
              </a:rPr>
              <a:t>结构冲突，</a:t>
            </a:r>
            <a:r>
              <a:rPr lang="en-US" altLang="zh-CN">
                <a:latin typeface="Arial" panose="020B0604020202020204" pitchFamily="34" charset="0"/>
              </a:rPr>
              <a:t>Mult</a:t>
            </a:r>
            <a:r>
              <a:rPr lang="zh-CN" altLang="zh-CN">
                <a:latin typeface="Arial" panose="020B0604020202020204" pitchFamily="34" charset="0"/>
              </a:rPr>
              <a:t>只有两个保留站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7">
            <a:extLst>
              <a:ext uri="{FF2B5EF4-FFF2-40B4-BE49-F238E27FC236}">
                <a16:creationId xmlns:a16="http://schemas.microsoft.com/office/drawing/2014/main" id="{F2FC2FEA-638D-4FB2-BF3E-F3150801504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24E0C4D-80DA-4FC2-8CD9-910A2F9F2C93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42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251907" name="Rectangle 1">
            <a:extLst>
              <a:ext uri="{FF2B5EF4-FFF2-40B4-BE49-F238E27FC236}">
                <a16:creationId xmlns:a16="http://schemas.microsoft.com/office/drawing/2014/main" id="{66184BC8-ECC4-4BEC-A905-5EB355992E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1908" name="Rectangle 2">
            <a:extLst>
              <a:ext uri="{FF2B5EF4-FFF2-40B4-BE49-F238E27FC236}">
                <a16:creationId xmlns:a16="http://schemas.microsoft.com/office/drawing/2014/main" id="{B67AD615-6BA1-4555-8C18-65AAB963B1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136" y="4562642"/>
            <a:ext cx="5785094" cy="37330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7">
            <a:extLst>
              <a:ext uri="{FF2B5EF4-FFF2-40B4-BE49-F238E27FC236}">
                <a16:creationId xmlns:a16="http://schemas.microsoft.com/office/drawing/2014/main" id="{EC742934-5881-4DA8-B1C9-996B1E99C56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3998DED-CB43-480F-BEDD-99C4D6AD3B49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43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253955" name="Rectangle 1">
            <a:extLst>
              <a:ext uri="{FF2B5EF4-FFF2-40B4-BE49-F238E27FC236}">
                <a16:creationId xmlns:a16="http://schemas.microsoft.com/office/drawing/2014/main" id="{CD38E820-480C-43CF-87CF-D9C0FDCC7B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3956" name="Rectangle 2">
            <a:extLst>
              <a:ext uri="{FF2B5EF4-FFF2-40B4-BE49-F238E27FC236}">
                <a16:creationId xmlns:a16="http://schemas.microsoft.com/office/drawing/2014/main" id="{4BB03E82-4298-45E1-8B7B-3FB62382C2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136" y="4562642"/>
            <a:ext cx="5785094" cy="37330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7">
            <a:extLst>
              <a:ext uri="{FF2B5EF4-FFF2-40B4-BE49-F238E27FC236}">
                <a16:creationId xmlns:a16="http://schemas.microsoft.com/office/drawing/2014/main" id="{8043664D-88ED-4FB9-84EF-7194EE7E1C2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CF56D56-76DC-4C0D-893F-F02B74C7C54A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44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256003" name="Rectangle 1">
            <a:extLst>
              <a:ext uri="{FF2B5EF4-FFF2-40B4-BE49-F238E27FC236}">
                <a16:creationId xmlns:a16="http://schemas.microsoft.com/office/drawing/2014/main" id="{DB6B16D7-41CE-4BCA-86BF-4619F028D4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04" name="Rectangle 2">
            <a:extLst>
              <a:ext uri="{FF2B5EF4-FFF2-40B4-BE49-F238E27FC236}">
                <a16:creationId xmlns:a16="http://schemas.microsoft.com/office/drawing/2014/main" id="{45EA431E-3CA5-4223-BD44-C7BD1B0A39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136" y="4562642"/>
            <a:ext cx="5785094" cy="37330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7">
            <a:extLst>
              <a:ext uri="{FF2B5EF4-FFF2-40B4-BE49-F238E27FC236}">
                <a16:creationId xmlns:a16="http://schemas.microsoft.com/office/drawing/2014/main" id="{3311DC68-EA66-4773-A90C-4DD6F7E0BCC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E6C7D57-64C4-40E2-B576-5650C43967AA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45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258051" name="Rectangle 1">
            <a:extLst>
              <a:ext uri="{FF2B5EF4-FFF2-40B4-BE49-F238E27FC236}">
                <a16:creationId xmlns:a16="http://schemas.microsoft.com/office/drawing/2014/main" id="{7C71126B-89DF-4729-B2CA-68311EA8B2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8052" name="Rectangle 2">
            <a:extLst>
              <a:ext uri="{FF2B5EF4-FFF2-40B4-BE49-F238E27FC236}">
                <a16:creationId xmlns:a16="http://schemas.microsoft.com/office/drawing/2014/main" id="{3D5BF0BA-CBE4-4124-A86D-B2A2CC228B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136" y="4562642"/>
            <a:ext cx="5785094" cy="37330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7">
            <a:extLst>
              <a:ext uri="{FF2B5EF4-FFF2-40B4-BE49-F238E27FC236}">
                <a16:creationId xmlns:a16="http://schemas.microsoft.com/office/drawing/2014/main" id="{3E0F9F70-20D5-4E53-936A-7D0EDC6787D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E83323E-4F38-4841-994B-332E5ED71EF8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46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260099" name="Rectangle 1">
            <a:extLst>
              <a:ext uri="{FF2B5EF4-FFF2-40B4-BE49-F238E27FC236}">
                <a16:creationId xmlns:a16="http://schemas.microsoft.com/office/drawing/2014/main" id="{83E83707-F44B-4C1E-A02C-1C5B815607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60100" name="Rectangle 2">
            <a:extLst>
              <a:ext uri="{FF2B5EF4-FFF2-40B4-BE49-F238E27FC236}">
                <a16:creationId xmlns:a16="http://schemas.microsoft.com/office/drawing/2014/main" id="{D7FC23AB-42FF-4E2C-A50E-108F5C50BA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136" y="4562642"/>
            <a:ext cx="5785094" cy="37330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7">
            <a:extLst>
              <a:ext uri="{FF2B5EF4-FFF2-40B4-BE49-F238E27FC236}">
                <a16:creationId xmlns:a16="http://schemas.microsoft.com/office/drawing/2014/main" id="{81D99246-856D-4098-96B6-127C51160BC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D274565-92A6-4B15-870A-3B709A848182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47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262147" name="Rectangle 1">
            <a:extLst>
              <a:ext uri="{FF2B5EF4-FFF2-40B4-BE49-F238E27FC236}">
                <a16:creationId xmlns:a16="http://schemas.microsoft.com/office/drawing/2014/main" id="{774267A4-233B-4351-AD5B-38EE5C8A7F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62148" name="Rectangle 2">
            <a:extLst>
              <a:ext uri="{FF2B5EF4-FFF2-40B4-BE49-F238E27FC236}">
                <a16:creationId xmlns:a16="http://schemas.microsoft.com/office/drawing/2014/main" id="{C8ECB783-68BE-46B1-B0F9-8E3F6BD1EF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136" y="4562642"/>
            <a:ext cx="5785094" cy="37330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7">
            <a:extLst>
              <a:ext uri="{FF2B5EF4-FFF2-40B4-BE49-F238E27FC236}">
                <a16:creationId xmlns:a16="http://schemas.microsoft.com/office/drawing/2014/main" id="{33EBAB8E-44F2-4077-AEFE-DFE19FB6609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2B47ABB-03E1-4CE1-A12A-A1A6AEC09019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48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264195" name="Rectangle 1">
            <a:extLst>
              <a:ext uri="{FF2B5EF4-FFF2-40B4-BE49-F238E27FC236}">
                <a16:creationId xmlns:a16="http://schemas.microsoft.com/office/drawing/2014/main" id="{15709B92-A77A-41EC-A743-57BE53DF2C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64196" name="Rectangle 2">
            <a:extLst>
              <a:ext uri="{FF2B5EF4-FFF2-40B4-BE49-F238E27FC236}">
                <a16:creationId xmlns:a16="http://schemas.microsoft.com/office/drawing/2014/main" id="{2D5B45CA-D1D3-4CD0-99C1-2319FD303E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136" y="4562642"/>
            <a:ext cx="5785094" cy="37330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7">
            <a:extLst>
              <a:ext uri="{FF2B5EF4-FFF2-40B4-BE49-F238E27FC236}">
                <a16:creationId xmlns:a16="http://schemas.microsoft.com/office/drawing/2014/main" id="{35BC90A6-348B-4F92-A28C-3AAB007979A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624991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102262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579533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4056804" indent="-238636" defTabSz="468986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54542" algn="l"/>
                <a:tab pos="1909084" algn="l"/>
                <a:tab pos="2863626" algn="l"/>
                <a:tab pos="3818169" algn="l"/>
                <a:tab pos="4772711" algn="l"/>
                <a:tab pos="5727253" algn="l"/>
                <a:tab pos="6681795" algn="l"/>
                <a:tab pos="7636337" algn="l"/>
                <a:tab pos="8590879" algn="l"/>
                <a:tab pos="9545422" algn="l"/>
                <a:tab pos="10499964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2F6CFF8-1888-4216-97C1-A06C5DB887D6}" type="slidenum">
              <a:rPr lang="zh-CN" altLang="zh-CN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49</a:t>
            </a:fld>
            <a:endParaRPr lang="zh-CN" altLang="zh-CN">
              <a:latin typeface="Calibri" panose="020F0502020204030204" pitchFamily="34" charset="0"/>
            </a:endParaRPr>
          </a:p>
        </p:txBody>
      </p:sp>
      <p:sp>
        <p:nvSpPr>
          <p:cNvPr id="266243" name="Rectangle 1">
            <a:extLst>
              <a:ext uri="{FF2B5EF4-FFF2-40B4-BE49-F238E27FC236}">
                <a16:creationId xmlns:a16="http://schemas.microsoft.com/office/drawing/2014/main" id="{7BC3BE3B-F9B8-46EC-8042-035DCEF828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82725" y="1185863"/>
            <a:ext cx="4265613" cy="3198812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66244" name="Rectangle 2">
            <a:extLst>
              <a:ext uri="{FF2B5EF4-FFF2-40B4-BE49-F238E27FC236}">
                <a16:creationId xmlns:a16="http://schemas.microsoft.com/office/drawing/2014/main" id="{F8E2850E-45BF-4ECF-B86A-FAFA195443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3136" y="4562642"/>
            <a:ext cx="5785094" cy="3733071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64665748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414936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053775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EAE3F69-A46D-41DB-98E6-6F55BB6177F1}" type="slidenum">
              <a:rPr lang="zh-CN" altLang="en-US" smtClean="0"/>
              <a:pPr>
                <a:defRPr/>
              </a:pPr>
              <a:t>54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804762" indent="-309524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238097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733335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228574" indent="-24762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72381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3219051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714290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4209529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0B6B6E32-5E71-4A61-8920-38914C9ED59A}" type="slidenum">
              <a:rPr lang="en-US" altLang="zh-CN" smtClean="0">
                <a:latin typeface="Arial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55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00B983-0E40-4C29-87BA-CE566D420E22}" type="slidenum">
              <a:rPr lang="zh-CN" altLang="en-US" smtClean="0"/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9137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4D62E9-4CDA-471D-9C91-33C81A904CA6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AE633C-541A-4E3F-A22A-3C4C63E8EF5F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A75CED-29BF-4A4A-B9F8-B90BA507FFA0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AC33D-D29A-48B3-BCD6-381D3D720D2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7600C0-B69D-48CB-B7E7-1E15E3A73C15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36AFD5-B4CE-4309-A85F-E56CFD431173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BB40F3-D744-4354-A7A9-4850FEC64D82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CCC3E9-608E-4023-AA79-77ECC6312F5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18E109-3095-4B01-8A0D-1C268174B1E2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980664-B5A2-458D-9781-BDBB3E44461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3F7E90-ECE7-4F5F-B82B-C1B4F08A8C7E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42FEDC-7E89-472C-BFD5-D857A9C78A6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33B020-4092-484D-847E-28F7CA4AD4E0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B7EA61-351E-4105-9AD9-76D38C6E9934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BFEF54-002B-4EDC-8CDD-110967C98EAA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C75736-67D3-4C0D-9AD3-EBB1133B7A15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2FE14-1F2A-4E78-8FA7-2CC8F38B9970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43B5C7-14AB-4EB9-8E35-9962854618D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0B8156-A01A-4C3E-AC6D-EEAD188E4C44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39E446-6F6B-46FF-A641-54E99657CB0F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2C7281-77A8-4311-AEC0-C4A828C7F2CC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5BA35-14E5-4401-B968-D9FCFD45D96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86200" y="247650"/>
            <a:ext cx="5105400" cy="381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219200"/>
            <a:ext cx="3810000" cy="4953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4953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1">
            <a:extLst>
              <a:ext uri="{FF2B5EF4-FFF2-40B4-BE49-F238E27FC236}">
                <a16:creationId xmlns:a16="http://schemas.microsoft.com/office/drawing/2014/main" id="{C9D042BA-B012-E61A-0CB5-75E2C45A0E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pPr>
              <a:defRPr/>
            </a:pPr>
            <a:fld id="{5DE1722B-243A-4A38-A702-DB9F08946F20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9" name="页脚占位符 2">
            <a:extLst>
              <a:ext uri="{FF2B5EF4-FFF2-40B4-BE49-F238E27FC236}">
                <a16:creationId xmlns:a16="http://schemas.microsoft.com/office/drawing/2014/main" id="{64A4979B-9F3B-7797-25C2-137132028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10" name="灯片编号占位符 3">
            <a:extLst>
              <a:ext uri="{FF2B5EF4-FFF2-40B4-BE49-F238E27FC236}">
                <a16:creationId xmlns:a16="http://schemas.microsoft.com/office/drawing/2014/main" id="{BC9254E7-27A0-7442-71E9-CE763B61C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1007850"/>
      </p:ext>
    </p:extLst>
  </p:cSld>
  <p:clrMapOvr>
    <a:masterClrMapping/>
  </p:clrMapOvr>
  <p:transition>
    <p:pull dir="r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spcBef>
                <a:spcPct val="20000"/>
              </a:spcBef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B9ECBC4-1FD4-43FA-850F-956E66C99B51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spcBef>
                <a:spcPct val="20000"/>
              </a:spcBef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spcBef>
                <a:spcPct val="20000"/>
              </a:spcBef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CE38698-3FD2-4DD5-AB6F-61E8F41EBC15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e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596230" y="1323217"/>
            <a:ext cx="5910263" cy="1143000"/>
          </a:xfrm>
        </p:spPr>
        <p:txBody>
          <a:bodyPr/>
          <a:lstStyle/>
          <a:p>
            <a:pPr algn="dist" eaLnBrk="1" hangingPunct="1"/>
            <a:r>
              <a:rPr lang="zh-CN" altLang="en-US" sz="5400" b="1" dirty="0"/>
              <a:t>计算机体系结构</a:t>
            </a:r>
          </a:p>
        </p:txBody>
      </p:sp>
      <p:sp>
        <p:nvSpPr>
          <p:cNvPr id="2051" name="Text Box 7"/>
          <p:cNvSpPr txBox="1">
            <a:spLocks noChangeArrowheads="1"/>
          </p:cNvSpPr>
          <p:nvPr/>
        </p:nvSpPr>
        <p:spPr bwMode="auto">
          <a:xfrm>
            <a:off x="3714750" y="5072063"/>
            <a:ext cx="29511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/>
              <a:t> 刘宏伟</a:t>
            </a:r>
          </a:p>
        </p:txBody>
      </p:sp>
      <p:sp>
        <p:nvSpPr>
          <p:cNvPr id="2052" name="Text Box 7"/>
          <p:cNvSpPr txBox="1">
            <a:spLocks noChangeArrowheads="1"/>
          </p:cNvSpPr>
          <p:nvPr/>
        </p:nvSpPr>
        <p:spPr bwMode="auto">
          <a:xfrm>
            <a:off x="2571750" y="4500563"/>
            <a:ext cx="43576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/>
              <a:t> 计算机科学与技术学院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714500" y="3071813"/>
            <a:ext cx="5673725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algn="ctr">
              <a:defRPr/>
            </a:pPr>
            <a:r>
              <a:rPr lang="zh-CN" altLang="en-US" sz="4000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第十三讲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8EC3738-25D2-0EAE-305D-ADCCB57AC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DE1722B-243A-4A38-A702-DB9F08946F20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E24C24-7DF9-B2CC-48AA-375529578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DEAE63-0FB5-C419-F53D-2F53E08C5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1</a:t>
            </a:fld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"/>
          <p:cNvSpPr>
            <a:spLocks noGrp="1"/>
          </p:cNvSpPr>
          <p:nvPr>
            <p:ph type="title"/>
          </p:nvPr>
        </p:nvSpPr>
        <p:spPr>
          <a:xfrm>
            <a:off x="685800" y="122907"/>
            <a:ext cx="7772400" cy="785813"/>
          </a:xfrm>
        </p:spPr>
        <p:txBody>
          <a:bodyPr/>
          <a:lstStyle/>
          <a:p>
            <a:pPr eaLnBrk="1" hangingPunct="1"/>
            <a:r>
              <a:rPr lang="en-US" altLang="zh-CN" b="1" dirty="0"/>
              <a:t>Recap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908720"/>
            <a:ext cx="8352927" cy="5718994"/>
          </a:xfrm>
        </p:spPr>
        <p:txBody>
          <a:bodyPr rtlCol="0">
            <a:noAutofit/>
          </a:bodyPr>
          <a:lstStyle/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400" b="1" dirty="0">
                <a:latin typeface="+mj-lt"/>
              </a:rPr>
              <a:t>指令动态调度</a:t>
            </a:r>
            <a:endParaRPr lang="en-US" altLang="zh-CN" sz="2400" b="1" dirty="0">
              <a:latin typeface="+mj-lt"/>
            </a:endParaRPr>
          </a:p>
          <a:p>
            <a:pPr marL="1101600" lvl="1" indent="-284400" eaLnBrk="1" fontAlgn="auto" hangingPunct="1">
              <a:lnSpc>
                <a:spcPct val="90000"/>
              </a:lnSpc>
              <a:spcBef>
                <a:spcPts val="24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sz="2400" b="1" dirty="0"/>
              <a:t> 动态调度的目的、优点及缺点</a:t>
            </a:r>
            <a:endParaRPr lang="en-US" altLang="zh-CN" sz="2400" b="1" dirty="0"/>
          </a:p>
          <a:p>
            <a:pPr marL="1101600" lvl="1" indent="-284400" eaLnBrk="1" fontAlgn="auto" hangingPunct="1">
              <a:lnSpc>
                <a:spcPct val="90000"/>
              </a:lnSpc>
              <a:spcBef>
                <a:spcPts val="24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sz="2400" b="1" dirty="0"/>
              <a:t> 译码段再划分为流出和读操作数两段</a:t>
            </a:r>
            <a:endParaRPr lang="en-US" altLang="zh-CN" sz="2400" b="1" dirty="0"/>
          </a:p>
          <a:p>
            <a:pPr marL="1101600" lvl="1" indent="-284400" eaLnBrk="1" fontAlgn="auto" hangingPunct="1">
              <a:lnSpc>
                <a:spcPct val="90000"/>
              </a:lnSpc>
              <a:spcBef>
                <a:spcPts val="24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altLang="zh-CN" sz="2400" b="1" dirty="0"/>
              <a:t> </a:t>
            </a:r>
            <a:r>
              <a:rPr lang="zh-CN" altLang="en-US" sz="2400" b="1" dirty="0"/>
              <a:t>乱序执行</a:t>
            </a:r>
            <a:endParaRPr lang="en-US" altLang="zh-CN" sz="2400" b="1" dirty="0"/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400" b="1" dirty="0">
                <a:latin typeface="+mj-lt"/>
              </a:rPr>
              <a:t>记分牌</a:t>
            </a:r>
            <a:endParaRPr lang="en-US" altLang="zh-CN" sz="2400" b="1" dirty="0">
              <a:latin typeface="+mj-lt"/>
            </a:endParaRPr>
          </a:p>
          <a:p>
            <a:pPr marL="1101600" lvl="1" eaLnBrk="1" fontAlgn="auto" hangingPunct="1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sz="2400" b="1" dirty="0"/>
              <a:t>基本原理（集中控制指令的流出和执行）</a:t>
            </a:r>
            <a:endParaRPr lang="en-US" altLang="zh-CN" sz="2400" b="1" dirty="0"/>
          </a:p>
          <a:p>
            <a:pPr marL="1101600" lvl="1" eaLnBrk="1" fontAlgn="auto" hangingPunct="1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sz="2400" b="1" dirty="0"/>
              <a:t>执行过程（流出、读操作数、执行和写结果）</a:t>
            </a:r>
            <a:endParaRPr lang="en-US" altLang="zh-CN" sz="2400" b="1" dirty="0"/>
          </a:p>
          <a:p>
            <a:pPr marL="1101600" lvl="1" eaLnBrk="1" fontAlgn="auto" hangingPunct="1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sz="2400" b="1" dirty="0"/>
              <a:t>记分牌的结构（指令状态表、功能部件状态表、结果寄存器状态表）</a:t>
            </a:r>
            <a:endParaRPr lang="en-US" altLang="zh-CN" sz="2400" b="1" dirty="0"/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01600" lvl="1" indent="-284400" eaLnBrk="1" fontAlgn="auto" hangingPunct="1">
              <a:lnSpc>
                <a:spcPct val="110000"/>
              </a:lnSpc>
              <a:spcBef>
                <a:spcPts val="24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/>
              <a:t>分布式检测数据相关</a:t>
            </a:r>
            <a:endParaRPr lang="en-US" altLang="zh-CN" sz="2400" b="1" dirty="0"/>
          </a:p>
          <a:p>
            <a:pPr marL="1101600" lvl="1" indent="-284400" eaLnBrk="1" fontAlgn="auto" hangingPunct="1">
              <a:lnSpc>
                <a:spcPct val="110000"/>
              </a:lnSpc>
              <a:spcBef>
                <a:spcPts val="24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altLang="zh-CN" sz="2400" b="1" dirty="0"/>
              <a:t> </a:t>
            </a:r>
            <a:r>
              <a:rPr lang="zh-CN" altLang="en-US" sz="2400" b="1" dirty="0"/>
              <a:t>执行过程（流出、执行和写结果）</a:t>
            </a:r>
            <a:endParaRPr lang="en-US" altLang="zh-CN" sz="2400" b="1" dirty="0"/>
          </a:p>
          <a:p>
            <a:pPr marL="1101600" lvl="1" indent="-284400" eaLnBrk="1" fontAlgn="auto" hangingPunct="1">
              <a:lnSpc>
                <a:spcPct val="110000"/>
              </a:lnSpc>
              <a:spcBef>
                <a:spcPts val="24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sz="2400" b="1" dirty="0"/>
              <a:t> 保留站、公共数据总线</a:t>
            </a:r>
            <a:r>
              <a:rPr lang="en-US" altLang="zh-CN" sz="2400" b="1" dirty="0"/>
              <a:t>CDB</a:t>
            </a:r>
          </a:p>
          <a:p>
            <a:pPr marL="817200" lvl="1" indent="0" eaLnBrk="1" fontAlgn="auto" hangingPunct="1">
              <a:lnSpc>
                <a:spcPct val="90000"/>
              </a:lnSpc>
              <a:spcBef>
                <a:spcPts val="24"/>
              </a:spcBef>
              <a:spcAft>
                <a:spcPts val="0"/>
              </a:spcAft>
              <a:buNone/>
              <a:defRPr/>
            </a:pPr>
            <a:endParaRPr lang="en-US" altLang="zh-CN" sz="2400" b="1" dirty="0">
              <a:latin typeface="+mj-lt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3059DD1-5F6C-C3C8-C9F3-3F26605C8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351C93-15C1-4190-A919-E47F43D93115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05D908-B87C-D24A-3A10-ECBB19966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364877D-D1E5-E2B5-E492-2B64018DB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2</a:t>
            </a:fld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450" name="Object 4" descr="Rectangle: Click to edit Master text styles&#10;Second level&#10;Third level&#10;Fourth level&#10;Fifth level"/>
          <p:cNvGraphicFramePr>
            <a:graphicFrameLocks noGrp="1" noChangeAspect="1"/>
          </p:cNvGraphicFramePr>
          <p:nvPr>
            <p:ph sz="half" idx="2"/>
          </p:nvPr>
        </p:nvGraphicFramePr>
        <p:xfrm>
          <a:off x="611188" y="908050"/>
          <a:ext cx="7488237" cy="525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762500" imgH="3076575" progId="Word.Picture.8">
                  <p:embed/>
                </p:oleObj>
              </mc:Choice>
              <mc:Fallback>
                <p:oleObj r:id="rId3" imgW="4762500" imgH="3076575" progId="Word.Picture.8">
                  <p:embed/>
                  <p:pic>
                    <p:nvPicPr>
                      <p:cNvPr id="104450" name="Object 4" descr="Rectangle: Click to edit Master text styles&#10;Second level&#10;Third level&#10;Fourth level&#10;Fifth level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908050"/>
                        <a:ext cx="7488237" cy="525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51" name="矩形 3"/>
          <p:cNvSpPr>
            <a:spLocks noChangeArrowheads="1"/>
          </p:cNvSpPr>
          <p:nvPr/>
        </p:nvSpPr>
        <p:spPr bwMode="auto">
          <a:xfrm>
            <a:off x="285750" y="214313"/>
            <a:ext cx="2571750" cy="1806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E24C0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基于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算法</a:t>
            </a:r>
            <a:r>
              <a:rPr lang="zh-CN" altLang="en-US" sz="2400" dirty="0">
                <a:solidFill>
                  <a:srgbClr val="E24C0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MIPS</a:t>
            </a:r>
            <a:r>
              <a:rPr lang="zh-CN" altLang="en-US" sz="2400" dirty="0">
                <a:solidFill>
                  <a:srgbClr val="E24C0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处理器浮点部件的基本结构 </a:t>
            </a:r>
          </a:p>
        </p:txBody>
      </p:sp>
    </p:spTree>
    <p:extLst>
      <p:ext uri="{BB962C8B-B14F-4D97-AF65-F5344CB8AC3E}">
        <p14:creationId xmlns:p14="http://schemas.microsoft.com/office/powerpoint/2010/main" val="1359710657"/>
      </p:ext>
    </p:extLst>
  </p:cSld>
  <p:clrMapOvr>
    <a:masterClrMapping/>
  </p:clrMapOvr>
  <p:transition>
    <p:pull dir="r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33041" y="1484784"/>
            <a:ext cx="8352928" cy="4526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ts val="575"/>
              </a:spcBef>
              <a:buSzPct val="100000"/>
              <a:buFont typeface="+mj-lt"/>
              <a:buAutoNum type="arabicPeriod"/>
            </a:pPr>
            <a:r>
              <a:rPr lang="en-US" altLang="zh-CN" sz="2400" dirty="0">
                <a:solidFill>
                  <a:srgbClr val="5B9BD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Issue</a:t>
            </a:r>
            <a:r>
              <a:rPr lang="zh-CN" altLang="en-US" sz="2400" dirty="0">
                <a:solidFill>
                  <a:srgbClr val="5B9BD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队列中取指令</a:t>
            </a:r>
          </a:p>
          <a:p>
            <a:pPr lvl="1" eaLnBrk="1" hangingPunct="1">
              <a:spcBef>
                <a:spcPts val="500"/>
              </a:spcBef>
              <a:buSzPct val="100000"/>
            </a:pP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存在一个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空闲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的保留站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 structural hazard), 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则控制发射指令和操作数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(renames registers)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消除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WAW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相关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spcBef>
                <a:spcPts val="575"/>
              </a:spcBef>
              <a:buSzPct val="100000"/>
              <a:buFont typeface="+mj-lt"/>
              <a:buAutoNum type="arabicPeriod"/>
            </a:pPr>
            <a:r>
              <a:rPr lang="en-US" altLang="zh-CN" sz="2400" dirty="0">
                <a:solidFill>
                  <a:srgbClr val="5B9BD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Execution</a:t>
            </a:r>
            <a:r>
              <a:rPr lang="zh-CN" altLang="en-US" sz="2400" dirty="0">
                <a:solidFill>
                  <a:srgbClr val="5B9BD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solidFill>
                  <a:srgbClr val="5B9BD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operate on operands (EX)</a:t>
            </a:r>
          </a:p>
          <a:p>
            <a:pPr lvl="1" eaLnBrk="1" hangingPunct="1">
              <a:spcBef>
                <a:spcPts val="550"/>
              </a:spcBef>
              <a:buSzPct val="100000"/>
            </a:pP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当两操作数就绪后，就可以执行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b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如果没有准备好，则监测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Data Bus 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以获取结果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通过推迟指令执行避免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相关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spcBef>
                <a:spcPts val="575"/>
              </a:spcBef>
              <a:buSzPct val="100000"/>
              <a:buFont typeface="+mj-lt"/>
              <a:buAutoNum type="arabicPeriod"/>
            </a:pPr>
            <a:r>
              <a:rPr lang="en-US" altLang="zh-CN" sz="2400" dirty="0">
                <a:solidFill>
                  <a:srgbClr val="5B9BD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result</a:t>
            </a:r>
            <a:r>
              <a:rPr lang="zh-CN" altLang="en-US" sz="2400" dirty="0">
                <a:solidFill>
                  <a:srgbClr val="5B9BD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solidFill>
                  <a:srgbClr val="5B9BD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finish execution (WB)</a:t>
            </a:r>
          </a:p>
          <a:p>
            <a:pPr lvl="1" eaLnBrk="1" hangingPunct="1">
              <a:spcBef>
                <a:spcPts val="550"/>
              </a:spcBef>
              <a:buSzPct val="100000"/>
            </a:pP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将结果通过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Data Bus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传给所有等待该结果的部件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1"/>
          <p:cNvSpPr txBox="1">
            <a:spLocks noChangeArrowheads="1"/>
          </p:cNvSpPr>
          <p:nvPr/>
        </p:nvSpPr>
        <p:spPr bwMode="auto">
          <a:xfrm>
            <a:off x="328613" y="404466"/>
            <a:ext cx="8486775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SzPct val="100000"/>
              <a:buFont typeface="Times New Roman" pitchFamily="18" charset="0"/>
              <a:buNone/>
            </a:pPr>
            <a:r>
              <a:rPr lang="en-US" altLang="zh-CN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en-US" altLang="zh-C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算法的三阶段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62AF115-BE49-A9AA-ADF7-71B2A2E0D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BD80968-78F1-4149-A862-B894312E480A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672CFA3-F90D-3462-6926-0720FC15E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86D521-D7A9-3555-AB06-C8D9CA087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AE633C-541A-4E3F-A22A-3C4C63E8EF5F}" type="slidenum">
              <a:rPr lang="zh-CN" altLang="en-US" smtClean="0"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8551554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Text Box 1"/>
          <p:cNvSpPr txBox="1">
            <a:spLocks noChangeArrowheads="1"/>
          </p:cNvSpPr>
          <p:nvPr/>
        </p:nvSpPr>
        <p:spPr bwMode="auto">
          <a:xfrm>
            <a:off x="414338" y="365125"/>
            <a:ext cx="8229600" cy="61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buSzPct val="100000"/>
              <a:buFont typeface="Times New Roman" pitchFamily="18" charset="0"/>
              <a:buNone/>
            </a:pPr>
            <a:r>
              <a:rPr lang="en-US" altLang="zh-C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Reservation Station </a:t>
            </a:r>
            <a:r>
              <a:rPr lang="zh-CN" altLang="zh-C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结构</a:t>
            </a:r>
          </a:p>
        </p:txBody>
      </p:sp>
      <p:sp>
        <p:nvSpPr>
          <p:cNvPr id="156675" name="Text Box 2"/>
          <p:cNvSpPr txBox="1">
            <a:spLocks noChangeArrowheads="1"/>
          </p:cNvSpPr>
          <p:nvPr/>
        </p:nvSpPr>
        <p:spPr bwMode="auto">
          <a:xfrm>
            <a:off x="276225" y="1125538"/>
            <a:ext cx="8760271" cy="5051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360" tIns="44280" rIns="90360" bIns="44280"/>
          <a:lstStyle>
            <a:lvl1pPr marL="228600" indent="-227013"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1pPr>
            <a:lvl2pPr marL="165100"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2pPr>
            <a:lvl3pPr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3pPr>
            <a:lvl4pPr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4pPr>
            <a:lvl5pPr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4487" indent="-342900" eaLnBrk="1" hangingPunct="1"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Op: </a:t>
            </a:r>
            <a:r>
              <a: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部件所进行的操作</a:t>
            </a:r>
          </a:p>
          <a:p>
            <a:pPr marL="344487" indent="-342900" eaLnBrk="1" hangingPunct="1">
              <a:lnSpc>
                <a:spcPct val="12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zh-CN" sz="22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Vj</a:t>
            </a:r>
            <a:r>
              <a:rPr lang="en-US" altLang="zh-CN" sz="2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2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Vk</a:t>
            </a:r>
            <a:r>
              <a:rPr lang="en-US" altLang="zh-CN" sz="2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源操作数的值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缓冲区有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Vk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域，用于存放要写入存储器的值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域和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域不同时有效。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4487" indent="-342900" eaLnBrk="1" hangingPunct="1"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zh-CN" sz="2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存放存储器地址。开始存立即数，计算出有效地址后，存放有效地址</a:t>
            </a:r>
          </a:p>
          <a:p>
            <a:pPr marL="344487" indent="-342900" eaLnBrk="1" hangingPunct="1"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altLang="zh-CN" sz="22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Qj</a:t>
            </a:r>
            <a:r>
              <a:rPr lang="en-US" altLang="zh-CN" sz="2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2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Qk</a:t>
            </a:r>
            <a:r>
              <a:rPr lang="en-US" altLang="zh-CN" sz="2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</a:t>
            </a:r>
            <a:r>
              <a: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产生源操作数的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保留站号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67600" lvl="1" indent="-342900" eaLnBrk="1" hangingPunct="1">
              <a:spcBef>
                <a:spcPts val="500"/>
              </a:spcBef>
              <a:buSzPct val="100000"/>
              <a:buFont typeface="Wingdings" panose="05000000000000000000" pitchFamily="2" charset="2"/>
              <a:buChar char="ü"/>
            </a:pP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没有记分牌中的准备就绪标志，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Qj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Qk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 =&gt; ready</a:t>
            </a:r>
          </a:p>
          <a:p>
            <a:pPr marL="867600" lvl="1" indent="-342900" eaLnBrk="1" hangingPunct="1">
              <a:spcBef>
                <a:spcPts val="500"/>
              </a:spcBef>
              <a:buSzPct val="100000"/>
              <a:buFont typeface="Wingdings" panose="05000000000000000000" pitchFamily="2" charset="2"/>
              <a:buChar char="ü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缓存区只有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Qk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表示产生结果的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保留站号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4487" indent="-342900" eaLnBrk="1" hangingPunct="1">
              <a:spcBef>
                <a:spcPts val="1000"/>
              </a:spcBef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Busy: </a:t>
            </a:r>
            <a:r>
              <a: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标识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保留站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相应的功能部件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</a:t>
            </a:r>
            <a:r>
              <a: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是否空闲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1000"/>
              </a:spcBef>
              <a:buSzPct val="100000"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eaLnBrk="1" hangingPunct="1">
              <a:spcBef>
                <a:spcPts val="1000"/>
              </a:spcBef>
              <a:buSzPct val="100000"/>
            </a:pPr>
            <a:r>
              <a:rPr lang="en-US" altLang="zh-CN" sz="2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 result status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如果存在对寄存器的写操作，指示对该寄存器进行写操作的部件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eaLnBrk="1" hangingPunct="1">
              <a:spcBef>
                <a:spcPts val="1000"/>
              </a:spcBef>
              <a:buSzPct val="100000"/>
            </a:pPr>
            <a:r>
              <a:rPr lang="en-US" altLang="zh-CN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Qi:  </a:t>
            </a:r>
            <a:r>
              <a: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保留站的编号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E59836B-8CBA-817A-2747-05549355D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3D8D4B-21A8-4E23-8A6F-250A600D134D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000236F-E799-D229-CB35-38C923448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7F777F-120B-145E-0DCB-707185541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17330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Text Box 1">
            <a:extLst>
              <a:ext uri="{FF2B5EF4-FFF2-40B4-BE49-F238E27FC236}">
                <a16:creationId xmlns:a16="http://schemas.microsoft.com/office/drawing/2014/main" id="{C863C7A6-789F-45AE-92FF-755502778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39700"/>
            <a:ext cx="7162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实例</a:t>
            </a:r>
            <a:endParaRPr lang="en-US" altLang="zh-CN" sz="3200" b="1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graphicFrame>
        <p:nvGraphicFramePr>
          <p:cNvPr id="166915" name="Object 2">
            <a:extLst>
              <a:ext uri="{FF2B5EF4-FFF2-40B4-BE49-F238E27FC236}">
                <a16:creationId xmlns:a16="http://schemas.microsoft.com/office/drawing/2014/main" id="{C8C01DCB-EFD2-4A3A-BBB8-88317649BD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2659165"/>
              </p:ext>
            </p:extLst>
          </p:nvPr>
        </p:nvGraphicFramePr>
        <p:xfrm>
          <a:off x="212725" y="1025425"/>
          <a:ext cx="8774113" cy="499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666000" imgH="6607440" progId="">
                  <p:embed/>
                </p:oleObj>
              </mc:Choice>
              <mc:Fallback>
                <p:oleObj r:id="rId3" imgW="9666000" imgH="6607440" progId="">
                  <p:embed/>
                  <p:pic>
                    <p:nvPicPr>
                      <p:cNvPr id="166915" name="Object 2">
                        <a:extLst>
                          <a:ext uri="{FF2B5EF4-FFF2-40B4-BE49-F238E27FC236}">
                            <a16:creationId xmlns:a16="http://schemas.microsoft.com/office/drawing/2014/main" id="{C8C01DCB-EFD2-4A3A-BBB8-88317649BD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1025425"/>
                        <a:ext cx="8774113" cy="499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A54DFA2-AC93-1A3E-6081-4395D714D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D566AD-46A3-4A72-9BED-DFC8C9747104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6A5EE10-873F-95ED-F435-2E0CD046F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AEC29B-4D9A-0BD8-3D76-825AA95E1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6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30"/>
          <p:cNvSpPr>
            <a:spLocks noGrp="1"/>
          </p:cNvSpPr>
          <p:nvPr>
            <p:ph type="title" idx="4294967295"/>
          </p:nvPr>
        </p:nvSpPr>
        <p:spPr>
          <a:xfrm>
            <a:off x="457200" y="53752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指令序列在</a:t>
            </a:r>
            <a:r>
              <a:rPr lang="en-US" altLang="zh-C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算法下如何工作</a:t>
            </a:r>
          </a:p>
        </p:txBody>
      </p:sp>
      <p:sp>
        <p:nvSpPr>
          <p:cNvPr id="87048" name="Rectangle 8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053554"/>
            <a:ext cx="8229600" cy="5111750"/>
          </a:xfrm>
        </p:spPr>
        <p:txBody>
          <a:bodyPr rtlCol="0">
            <a:noAutofit/>
          </a:bodyPr>
          <a:lstStyle/>
          <a:p>
            <a:pPr eaLnBrk="1" fontAlgn="auto" hangingPunct="1">
              <a:spcBef>
                <a:spcPts val="176"/>
              </a:spcBef>
              <a:spcAft>
                <a:spcPts val="0"/>
              </a:spcAft>
              <a:defRPr/>
            </a:pPr>
            <a:r>
              <a:rPr lang="zh-CN" altLang="en-US" sz="2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用以下来说明</a:t>
            </a:r>
            <a:r>
              <a:rPr lang="en-US" altLang="zh-CN" sz="22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Tomasulo</a:t>
            </a:r>
            <a:r>
              <a:rPr lang="zh-CN" altLang="en-US" sz="2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算法原理</a:t>
            </a:r>
          </a:p>
          <a:p>
            <a:pPr marL="1347788" lvl="2" indent="-438150" eaLnBrk="1" fontAlgn="auto" hangingPunct="1">
              <a:spcBef>
                <a:spcPts val="176"/>
              </a:spcBef>
              <a:spcAft>
                <a:spcPts val="0"/>
              </a:spcAft>
              <a:buFont typeface="Wingdings" pitchFamily="2" charset="2"/>
              <a:buAutoNum type="arabicPeriod"/>
              <a:defRPr/>
            </a:pPr>
            <a:r>
              <a:rPr lang="en-US" altLang="zh-CN" sz="2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LD		F6, 34(R2)</a:t>
            </a:r>
          </a:p>
          <a:p>
            <a:pPr marL="1347788" lvl="2" indent="-438150" eaLnBrk="1" fontAlgn="auto" hangingPunct="1">
              <a:spcBef>
                <a:spcPts val="176"/>
              </a:spcBef>
              <a:spcAft>
                <a:spcPts val="0"/>
              </a:spcAft>
              <a:buFont typeface="Wingdings" pitchFamily="2" charset="2"/>
              <a:buAutoNum type="arabicPeriod"/>
              <a:defRPr/>
            </a:pPr>
            <a:r>
              <a:rPr lang="en-US" altLang="zh-CN" sz="2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LD		F2, 45(R3)</a:t>
            </a:r>
          </a:p>
          <a:p>
            <a:pPr marL="1347788" lvl="2" indent="-438150" eaLnBrk="1" fontAlgn="auto" hangingPunct="1">
              <a:spcBef>
                <a:spcPts val="176"/>
              </a:spcBef>
              <a:spcAft>
                <a:spcPts val="0"/>
              </a:spcAft>
              <a:buFont typeface="Wingdings" pitchFamily="2" charset="2"/>
              <a:buAutoNum type="arabicPeriod"/>
              <a:defRPr/>
            </a:pPr>
            <a:r>
              <a:rPr lang="en-US" altLang="zh-CN" sz="2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MULTD	F0, F2, F4</a:t>
            </a:r>
          </a:p>
          <a:p>
            <a:pPr marL="1347788" lvl="2" indent="-438150" eaLnBrk="1" fontAlgn="auto" hangingPunct="1">
              <a:spcBef>
                <a:spcPts val="176"/>
              </a:spcBef>
              <a:spcAft>
                <a:spcPts val="0"/>
              </a:spcAft>
              <a:buFont typeface="Wingdings" pitchFamily="2" charset="2"/>
              <a:buAutoNum type="arabicPeriod"/>
              <a:defRPr/>
            </a:pPr>
            <a:r>
              <a:rPr lang="en-US" altLang="zh-CN" sz="2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SUBD	F8, F6, F2</a:t>
            </a:r>
          </a:p>
          <a:p>
            <a:pPr marL="1347788" lvl="2" indent="-438150" eaLnBrk="1" fontAlgn="auto" hangingPunct="1">
              <a:spcBef>
                <a:spcPts val="176"/>
              </a:spcBef>
              <a:spcAft>
                <a:spcPts val="0"/>
              </a:spcAft>
              <a:buFont typeface="Wingdings" pitchFamily="2" charset="2"/>
              <a:buAutoNum type="arabicPeriod"/>
              <a:defRPr/>
            </a:pPr>
            <a:r>
              <a:rPr lang="en-US" altLang="zh-CN" sz="2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DIVD	F10, F0, F6</a:t>
            </a:r>
          </a:p>
          <a:p>
            <a:pPr marL="1347788" lvl="2" indent="-438150" eaLnBrk="1" fontAlgn="auto" hangingPunct="1">
              <a:spcBef>
                <a:spcPts val="176"/>
              </a:spcBef>
              <a:spcAft>
                <a:spcPts val="0"/>
              </a:spcAft>
              <a:buFont typeface="Wingdings" pitchFamily="2" charset="2"/>
              <a:buAutoNum type="arabicPeriod"/>
              <a:defRPr/>
            </a:pPr>
            <a:r>
              <a:rPr lang="en-US" altLang="zh-CN" sz="2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ADDD	F6, F8, F2</a:t>
            </a:r>
          </a:p>
          <a:p>
            <a:pPr marL="1347788" lvl="2" indent="-438150" eaLnBrk="1" fontAlgn="auto" hangingPunct="1">
              <a:spcBef>
                <a:spcPts val="176"/>
              </a:spcBef>
              <a:spcAft>
                <a:spcPts val="0"/>
              </a:spcAft>
              <a:buFont typeface="Wingdings" pitchFamily="2" charset="2"/>
              <a:buAutoNum type="arabicPeriod"/>
              <a:defRPr/>
            </a:pPr>
            <a:endParaRPr lang="en-US" altLang="zh-CN" sz="22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假设各种操作的延迟为：</a:t>
            </a:r>
          </a:p>
          <a:p>
            <a:pPr marL="457200" indent="-457200" eaLnBrk="1" hangingPunct="1">
              <a:buFont typeface="Wingdings" pitchFamily="2" charset="2"/>
              <a:buNone/>
            </a:pPr>
            <a:r>
              <a:rPr lang="zh-CN" altLang="en-US" sz="2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      加法：</a:t>
            </a:r>
            <a:r>
              <a:rPr lang="en-US" altLang="zh-CN" sz="2200" b="1" dirty="0">
                <a:solidFill>
                  <a:srgbClr val="D60093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个时钟周期</a:t>
            </a:r>
          </a:p>
          <a:p>
            <a:pPr marL="457200" indent="-457200" eaLnBrk="1" hangingPunct="1">
              <a:buFont typeface="Wingdings" pitchFamily="2" charset="2"/>
              <a:buNone/>
            </a:pPr>
            <a:r>
              <a:rPr lang="zh-CN" altLang="en-US" sz="2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      乘法：</a:t>
            </a:r>
            <a:r>
              <a:rPr lang="en-US" altLang="zh-CN" sz="2200" b="1" dirty="0">
                <a:solidFill>
                  <a:srgbClr val="D60093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10</a:t>
            </a:r>
            <a:r>
              <a:rPr lang="zh-CN" altLang="en-US" sz="2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个时钟周期</a:t>
            </a:r>
          </a:p>
          <a:p>
            <a:pPr marL="457200" indent="-457200" eaLnBrk="1" hangingPunct="1">
              <a:buFont typeface="Wingdings" pitchFamily="2" charset="2"/>
              <a:buNone/>
            </a:pPr>
            <a:r>
              <a:rPr lang="zh-CN" altLang="en-US" sz="2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      除法：</a:t>
            </a:r>
            <a:r>
              <a:rPr lang="en-US" altLang="zh-CN" sz="2200" b="1" dirty="0">
                <a:solidFill>
                  <a:srgbClr val="D60093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40</a:t>
            </a:r>
            <a:r>
              <a:rPr lang="zh-CN" altLang="en-US" sz="2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个时钟周期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79EFAEE-6EA7-6A6B-6358-C4C0D0EA1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9C5BE4-2152-4911-9AE5-3C9C371F1C98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C5CD6B2-4584-18F4-2128-58E2D1134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85668A-EDCF-5322-173F-82F02A180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AE633C-541A-4E3F-A22A-3C4C63E8EF5F}" type="slidenum">
              <a:rPr lang="zh-CN" altLang="en-US" smtClean="0"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6343814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Text Box 1">
            <a:extLst>
              <a:ext uri="{FF2B5EF4-FFF2-40B4-BE49-F238E27FC236}">
                <a16:creationId xmlns:a16="http://schemas.microsoft.com/office/drawing/2014/main" id="{93DBB930-5725-46D7-BFA5-3D9134C50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93663"/>
            <a:ext cx="73025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实例：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1</a:t>
            </a:r>
            <a:endParaRPr lang="en-US" altLang="zh-CN" sz="3600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graphicFrame>
        <p:nvGraphicFramePr>
          <p:cNvPr id="168963" name="Object 2">
            <a:extLst>
              <a:ext uri="{FF2B5EF4-FFF2-40B4-BE49-F238E27FC236}">
                <a16:creationId xmlns:a16="http://schemas.microsoft.com/office/drawing/2014/main" id="{6EF2957C-3E42-4274-B106-200A259140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725" y="952500"/>
          <a:ext cx="8774113" cy="499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666000" imgH="6607440" progId="">
                  <p:embed/>
                </p:oleObj>
              </mc:Choice>
              <mc:Fallback>
                <p:oleObj r:id="rId3" imgW="9666000" imgH="6607440" progId="">
                  <p:embed/>
                  <p:pic>
                    <p:nvPicPr>
                      <p:cNvPr id="168963" name="Object 2">
                        <a:extLst>
                          <a:ext uri="{FF2B5EF4-FFF2-40B4-BE49-F238E27FC236}">
                            <a16:creationId xmlns:a16="http://schemas.microsoft.com/office/drawing/2014/main" id="{6EF2957C-3E42-4274-B106-200A259140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952500"/>
                        <a:ext cx="8774113" cy="499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964" name="AutoShape 3">
            <a:extLst>
              <a:ext uri="{FF2B5EF4-FFF2-40B4-BE49-F238E27FC236}">
                <a16:creationId xmlns:a16="http://schemas.microsoft.com/office/drawing/2014/main" id="{F162CEBA-DD83-4B4D-A6A5-3F0F2FC31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1371600"/>
            <a:ext cx="533400" cy="457200"/>
          </a:xfrm>
          <a:prstGeom prst="roundRect">
            <a:avLst>
              <a:gd name="adj" fmla="val 16667"/>
            </a:avLst>
          </a:prstGeom>
          <a:noFill/>
          <a:ln w="57240" cap="sq">
            <a:solidFill>
              <a:srgbClr val="5B9BD5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168965" name="AutoShape 4">
            <a:extLst>
              <a:ext uri="{FF2B5EF4-FFF2-40B4-BE49-F238E27FC236}">
                <a16:creationId xmlns:a16="http://schemas.microsoft.com/office/drawing/2014/main" id="{1277AAD3-56AB-482C-BE68-DD93A2F0F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1371600"/>
            <a:ext cx="1676400" cy="457200"/>
          </a:xfrm>
          <a:prstGeom prst="roundRect">
            <a:avLst>
              <a:gd name="adj" fmla="val 16667"/>
            </a:avLst>
          </a:prstGeom>
          <a:noFill/>
          <a:ln w="57240" cap="sq">
            <a:solidFill>
              <a:srgbClr val="5B9BD5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168966" name="AutoShape 5">
            <a:extLst>
              <a:ext uri="{FF2B5EF4-FFF2-40B4-BE49-F238E27FC236}">
                <a16:creationId xmlns:a16="http://schemas.microsoft.com/office/drawing/2014/main" id="{E851B91D-93B1-404A-A278-AEB2B85FE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5181600"/>
            <a:ext cx="762000" cy="457200"/>
          </a:xfrm>
          <a:prstGeom prst="roundRect">
            <a:avLst>
              <a:gd name="adj" fmla="val 16667"/>
            </a:avLst>
          </a:prstGeom>
          <a:noFill/>
          <a:ln w="57240" cap="sq">
            <a:solidFill>
              <a:srgbClr val="5B9BD5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5457FB6-A5B1-CBF7-0C7A-E98FF5FA0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1C83B65-5351-45DE-940D-1FEB8B4A5680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C17CDCE-E53C-F1C3-50F4-0B7A80251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9B4C31-CC14-26BD-AAF5-2D4510A38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8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1010" name="Object 1">
            <a:extLst>
              <a:ext uri="{FF2B5EF4-FFF2-40B4-BE49-F238E27FC236}">
                <a16:creationId xmlns:a16="http://schemas.microsoft.com/office/drawing/2014/main" id="{70157D53-1E1F-46D2-8C39-17BC097BDE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4315039"/>
              </p:ext>
            </p:extLst>
          </p:nvPr>
        </p:nvGraphicFramePr>
        <p:xfrm>
          <a:off x="212725" y="952500"/>
          <a:ext cx="8774113" cy="499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666000" imgH="6607440" progId="">
                  <p:embed/>
                </p:oleObj>
              </mc:Choice>
              <mc:Fallback>
                <p:oleObj r:id="rId3" imgW="9666000" imgH="6607440" progId="">
                  <p:embed/>
                  <p:pic>
                    <p:nvPicPr>
                      <p:cNvPr id="171010" name="Object 1">
                        <a:extLst>
                          <a:ext uri="{FF2B5EF4-FFF2-40B4-BE49-F238E27FC236}">
                            <a16:creationId xmlns:a16="http://schemas.microsoft.com/office/drawing/2014/main" id="{70157D53-1E1F-46D2-8C39-17BC097BDE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952500"/>
                        <a:ext cx="8774113" cy="499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011" name="AutoShape 2">
            <a:extLst>
              <a:ext uri="{FF2B5EF4-FFF2-40B4-BE49-F238E27FC236}">
                <a16:creationId xmlns:a16="http://schemas.microsoft.com/office/drawing/2014/main" id="{A1A85EAF-4070-4499-B38A-6835F63958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1676400"/>
            <a:ext cx="533400" cy="304800"/>
          </a:xfrm>
          <a:prstGeom prst="roundRect">
            <a:avLst>
              <a:gd name="adj" fmla="val 16667"/>
            </a:avLst>
          </a:prstGeom>
          <a:noFill/>
          <a:ln w="57240" cap="sq">
            <a:solidFill>
              <a:srgbClr val="5B9BD5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171012" name="AutoShape 3">
            <a:extLst>
              <a:ext uri="{FF2B5EF4-FFF2-40B4-BE49-F238E27FC236}">
                <a16:creationId xmlns:a16="http://schemas.microsoft.com/office/drawing/2014/main" id="{00688786-8D84-4A26-8910-D6B65FCB0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1600200"/>
            <a:ext cx="1676400" cy="457200"/>
          </a:xfrm>
          <a:prstGeom prst="roundRect">
            <a:avLst>
              <a:gd name="adj" fmla="val 16667"/>
            </a:avLst>
          </a:prstGeom>
          <a:noFill/>
          <a:ln w="57240" cap="sq">
            <a:solidFill>
              <a:srgbClr val="5B9BD5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171013" name="AutoShape 4">
            <a:extLst>
              <a:ext uri="{FF2B5EF4-FFF2-40B4-BE49-F238E27FC236}">
                <a16:creationId xmlns:a16="http://schemas.microsoft.com/office/drawing/2014/main" id="{68E6CDD2-5F69-47CB-A243-36ED8A8F9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3788" y="5132388"/>
            <a:ext cx="762000" cy="457200"/>
          </a:xfrm>
          <a:prstGeom prst="roundRect">
            <a:avLst>
              <a:gd name="adj" fmla="val 16667"/>
            </a:avLst>
          </a:prstGeom>
          <a:noFill/>
          <a:ln w="57240" cap="sq">
            <a:solidFill>
              <a:srgbClr val="5B9BD5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83973" name="Rectangle 5">
            <a:extLst>
              <a:ext uri="{FF2B5EF4-FFF2-40B4-BE49-F238E27FC236}">
                <a16:creationId xmlns:a16="http://schemas.microsoft.com/office/drawing/2014/main" id="{3D95F6EE-8397-41AC-95EC-FBE582455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363" y="5865813"/>
            <a:ext cx="841057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360" tIns="44280" rIns="90360" bIns="4428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solidFill>
                  <a:srgbClr val="5B9BD5"/>
                </a:solidFill>
                <a:latin typeface="Comic Sans MS" panose="030F0702030302020204" pitchFamily="66" charset="0"/>
              </a:rPr>
              <a:t>Note: Unlike 6600, can have multiple loads outstanding</a:t>
            </a:r>
          </a:p>
        </p:txBody>
      </p:sp>
      <p:sp>
        <p:nvSpPr>
          <p:cNvPr id="12" name="Text Box 1">
            <a:extLst>
              <a:ext uri="{FF2B5EF4-FFF2-40B4-BE49-F238E27FC236}">
                <a16:creationId xmlns:a16="http://schemas.microsoft.com/office/drawing/2014/main" id="{C6770085-377A-42C0-B9DF-69E6763A4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08743"/>
            <a:ext cx="73025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实例：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2</a:t>
            </a:r>
            <a:endParaRPr lang="en-US" altLang="zh-CN" sz="3600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6A612E2-DF4C-00F6-FB52-DB15F2DCA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375A659-67AB-4EE5-B430-388B9958CB08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0BEBA53-AE69-846A-5CBC-39BBAFDF3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A8543C-BCAA-211B-0673-900395446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9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3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3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3058" name="Object 1">
            <a:extLst>
              <a:ext uri="{FF2B5EF4-FFF2-40B4-BE49-F238E27FC236}">
                <a16:creationId xmlns:a16="http://schemas.microsoft.com/office/drawing/2014/main" id="{1E4C59B2-9367-4DA9-AB32-991085A100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725" y="952500"/>
          <a:ext cx="8774113" cy="499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666000" imgH="6607440" progId="">
                  <p:embed/>
                </p:oleObj>
              </mc:Choice>
              <mc:Fallback>
                <p:oleObj r:id="rId3" imgW="9666000" imgH="6607440" progId="">
                  <p:embed/>
                  <p:pic>
                    <p:nvPicPr>
                      <p:cNvPr id="173058" name="Object 1">
                        <a:extLst>
                          <a:ext uri="{FF2B5EF4-FFF2-40B4-BE49-F238E27FC236}">
                            <a16:creationId xmlns:a16="http://schemas.microsoft.com/office/drawing/2014/main" id="{1E4C59B2-9367-4DA9-AB32-991085A100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952500"/>
                        <a:ext cx="8774113" cy="499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059" name="AutoShape 2">
            <a:extLst>
              <a:ext uri="{FF2B5EF4-FFF2-40B4-BE49-F238E27FC236}">
                <a16:creationId xmlns:a16="http://schemas.microsoft.com/office/drawing/2014/main" id="{003ACAD4-4F15-45BF-B665-5E6810753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4038600"/>
            <a:ext cx="3962400" cy="457200"/>
          </a:xfrm>
          <a:prstGeom prst="roundRect">
            <a:avLst>
              <a:gd name="adj" fmla="val 16667"/>
            </a:avLst>
          </a:prstGeom>
          <a:noFill/>
          <a:ln w="57240" cap="sq">
            <a:solidFill>
              <a:srgbClr val="5B9BD5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173060" name="AutoShape 3">
            <a:extLst>
              <a:ext uri="{FF2B5EF4-FFF2-40B4-BE49-F238E27FC236}">
                <a16:creationId xmlns:a16="http://schemas.microsoft.com/office/drawing/2014/main" id="{CF038EBF-6036-469D-90E7-6256194DB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5450" y="5132388"/>
            <a:ext cx="762000" cy="457200"/>
          </a:xfrm>
          <a:prstGeom prst="roundRect">
            <a:avLst>
              <a:gd name="adj" fmla="val 16667"/>
            </a:avLst>
          </a:prstGeom>
          <a:noFill/>
          <a:ln w="57240" cap="sq">
            <a:solidFill>
              <a:srgbClr val="0563C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3CFFCA2C-D0EF-401B-9EE6-E9E28C289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0" y="5659438"/>
            <a:ext cx="849630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360" tIns="44280" rIns="90360" bIns="44280"/>
          <a:lstStyle>
            <a:lvl1pPr marL="284163" indent="-284163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900"/>
              </a:spcBef>
              <a:buClr>
                <a:srgbClr val="5B9BD5"/>
              </a:buClr>
              <a:buFont typeface="Comic Sans MS" panose="030F0702030302020204" pitchFamily="66" charset="0"/>
              <a:buChar char="•"/>
            </a:pPr>
            <a:r>
              <a:rPr lang="en-US" altLang="zh-CN" sz="2400" b="1">
                <a:solidFill>
                  <a:srgbClr val="5B9BD5"/>
                </a:solidFill>
                <a:latin typeface="Comic Sans MS" panose="030F0702030302020204" pitchFamily="66" charset="0"/>
              </a:rPr>
              <a:t>Note: registers names are removed (“renamed”) in Reservation Stations; MULT issued vs. scoreboard</a:t>
            </a:r>
          </a:p>
          <a:p>
            <a:pPr eaLnBrk="1" hangingPunct="1">
              <a:spcBef>
                <a:spcPts val="900"/>
              </a:spcBef>
              <a:buClr>
                <a:srgbClr val="5B9BD5"/>
              </a:buClr>
              <a:buFont typeface="Comic Sans MS" panose="030F0702030302020204" pitchFamily="66" charset="0"/>
              <a:buChar char="•"/>
            </a:pPr>
            <a:r>
              <a:rPr lang="en-US" altLang="zh-CN" sz="2400" b="1">
                <a:solidFill>
                  <a:srgbClr val="5B9BD5"/>
                </a:solidFill>
                <a:latin typeface="Comic Sans MS" panose="030F0702030302020204" pitchFamily="66" charset="0"/>
              </a:rPr>
              <a:t>Load1 completing; what is waiting for Load1? </a:t>
            </a:r>
          </a:p>
        </p:txBody>
      </p:sp>
      <p:sp>
        <p:nvSpPr>
          <p:cNvPr id="10" name="Text Box 1">
            <a:extLst>
              <a:ext uri="{FF2B5EF4-FFF2-40B4-BE49-F238E27FC236}">
                <a16:creationId xmlns:a16="http://schemas.microsoft.com/office/drawing/2014/main" id="{A02D7BFB-C5AC-472C-B481-71088A84E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08743"/>
            <a:ext cx="73025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实例：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3</a:t>
            </a:r>
            <a:endParaRPr lang="en-US" altLang="zh-CN" sz="3600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99DA4FC-4114-8637-F467-8A602F9EF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3589AB9-1EAF-421A-806A-F0D58187F010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CD699A8-D8B6-C21D-84BA-63695164C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B1D0E1-61ED-A474-674D-B7DB31548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10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4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4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106" name="Object 1">
            <a:extLst>
              <a:ext uri="{FF2B5EF4-FFF2-40B4-BE49-F238E27FC236}">
                <a16:creationId xmlns:a16="http://schemas.microsoft.com/office/drawing/2014/main" id="{6A67BA6D-39E6-411C-8C72-C2B8C30812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4100797"/>
              </p:ext>
            </p:extLst>
          </p:nvPr>
        </p:nvGraphicFramePr>
        <p:xfrm>
          <a:off x="165893" y="1052736"/>
          <a:ext cx="8774113" cy="4995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666000" imgH="6607440" progId="">
                  <p:embed/>
                </p:oleObj>
              </mc:Choice>
              <mc:Fallback>
                <p:oleObj r:id="rId3" imgW="9666000" imgH="6607440" progId="">
                  <p:embed/>
                  <p:pic>
                    <p:nvPicPr>
                      <p:cNvPr id="175106" name="Object 1">
                        <a:extLst>
                          <a:ext uri="{FF2B5EF4-FFF2-40B4-BE49-F238E27FC236}">
                            <a16:creationId xmlns:a16="http://schemas.microsoft.com/office/drawing/2014/main" id="{6A67BA6D-39E6-411C-8C72-C2B8C30812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893" y="1052736"/>
                        <a:ext cx="8774113" cy="4995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18" name="Rectangle 2">
            <a:extLst>
              <a:ext uri="{FF2B5EF4-FFF2-40B4-BE49-F238E27FC236}">
                <a16:creationId xmlns:a16="http://schemas.microsoft.com/office/drawing/2014/main" id="{ED5B2FB5-ECB6-4425-998F-9D2A9C548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5943600"/>
            <a:ext cx="849630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360" tIns="44280" rIns="90360" bIns="44280"/>
          <a:lstStyle>
            <a:lvl1pPr marL="284163" indent="-284163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900"/>
              </a:spcBef>
              <a:buClr>
                <a:srgbClr val="5B9BD5"/>
              </a:buClr>
              <a:buFont typeface="Comic Sans MS" panose="030F0702030302020204" pitchFamily="66" charset="0"/>
              <a:buChar char="•"/>
            </a:pPr>
            <a:r>
              <a:rPr lang="en-US" altLang="zh-CN" sz="2400" b="1" dirty="0">
                <a:solidFill>
                  <a:srgbClr val="5B9BD5"/>
                </a:solidFill>
                <a:latin typeface="Comic Sans MS" panose="030F0702030302020204" pitchFamily="66" charset="0"/>
              </a:rPr>
              <a:t>Load2 completing; what is waiting for Load2? </a:t>
            </a:r>
          </a:p>
        </p:txBody>
      </p:sp>
      <p:sp>
        <p:nvSpPr>
          <p:cNvPr id="8" name="Text Box 1">
            <a:extLst>
              <a:ext uri="{FF2B5EF4-FFF2-40B4-BE49-F238E27FC236}">
                <a16:creationId xmlns:a16="http://schemas.microsoft.com/office/drawing/2014/main" id="{83A654A5-993E-47B2-A8D2-E8CB9CD3F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08743"/>
            <a:ext cx="73025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实例：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4</a:t>
            </a:r>
            <a:endParaRPr lang="en-US" altLang="zh-CN" sz="3600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0DD99E7A-6AEC-4B95-952C-7EBCD11DF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040" y="5215222"/>
            <a:ext cx="762000" cy="457200"/>
          </a:xfrm>
          <a:prstGeom prst="roundRect">
            <a:avLst>
              <a:gd name="adj" fmla="val 16667"/>
            </a:avLst>
          </a:prstGeom>
          <a:noFill/>
          <a:ln w="57240" cap="sq">
            <a:solidFill>
              <a:srgbClr val="0563C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10" name="AutoShape 3">
            <a:extLst>
              <a:ext uri="{FF2B5EF4-FFF2-40B4-BE49-F238E27FC236}">
                <a16:creationId xmlns:a16="http://schemas.microsoft.com/office/drawing/2014/main" id="{3EE5CDFF-ABEB-4D0D-8D80-200DE80B7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896" y="3429000"/>
            <a:ext cx="762000" cy="457200"/>
          </a:xfrm>
          <a:prstGeom prst="roundRect">
            <a:avLst>
              <a:gd name="adj" fmla="val 16667"/>
            </a:avLst>
          </a:prstGeom>
          <a:noFill/>
          <a:ln w="57240" cap="sq">
            <a:solidFill>
              <a:srgbClr val="0563C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9A73DAC-5212-6FE9-C866-1600AF0CD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44FA2D5-77EE-45AF-9C32-788604C047B0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CFDB06C-0A85-A41B-FDE0-3BFAE3A64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CDAA3F-BF7C-2955-F213-CEDA48A7D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11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60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60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7154" name="Object 1">
            <a:extLst>
              <a:ext uri="{FF2B5EF4-FFF2-40B4-BE49-F238E27FC236}">
                <a16:creationId xmlns:a16="http://schemas.microsoft.com/office/drawing/2014/main" id="{C1855B68-D633-442B-98FB-2A51F74F95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0193785"/>
              </p:ext>
            </p:extLst>
          </p:nvPr>
        </p:nvGraphicFramePr>
        <p:xfrm>
          <a:off x="262383" y="952500"/>
          <a:ext cx="8774113" cy="499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666000" imgH="6607440" progId="">
                  <p:embed/>
                </p:oleObj>
              </mc:Choice>
              <mc:Fallback>
                <p:oleObj r:id="rId3" imgW="9666000" imgH="6607440" progId="">
                  <p:embed/>
                  <p:pic>
                    <p:nvPicPr>
                      <p:cNvPr id="177154" name="Object 1">
                        <a:extLst>
                          <a:ext uri="{FF2B5EF4-FFF2-40B4-BE49-F238E27FC236}">
                            <a16:creationId xmlns:a16="http://schemas.microsoft.com/office/drawing/2014/main" id="{C1855B68-D633-442B-98FB-2A51F74F95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383" y="952500"/>
                        <a:ext cx="8774113" cy="499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">
            <a:extLst>
              <a:ext uri="{FF2B5EF4-FFF2-40B4-BE49-F238E27FC236}">
                <a16:creationId xmlns:a16="http://schemas.microsoft.com/office/drawing/2014/main" id="{A745A170-D49E-4E0E-AC5A-F6B9BA55E6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08743"/>
            <a:ext cx="73025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实例：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5</a:t>
            </a:r>
            <a:endParaRPr lang="en-US" altLang="zh-CN" sz="3600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3526A223-B6BE-4AE6-B001-B1185EF55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7904" y="5085184"/>
            <a:ext cx="762000" cy="457200"/>
          </a:xfrm>
          <a:prstGeom prst="roundRect">
            <a:avLst>
              <a:gd name="adj" fmla="val 16667"/>
            </a:avLst>
          </a:prstGeom>
          <a:noFill/>
          <a:ln w="57240" cap="sq">
            <a:solidFill>
              <a:srgbClr val="0563C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C8E998E6-6C52-4386-A7F2-60E5521C1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5976" y="3331840"/>
            <a:ext cx="762000" cy="457200"/>
          </a:xfrm>
          <a:prstGeom prst="roundRect">
            <a:avLst>
              <a:gd name="adj" fmla="val 16667"/>
            </a:avLst>
          </a:prstGeom>
          <a:noFill/>
          <a:ln w="57240" cap="sq">
            <a:solidFill>
              <a:srgbClr val="0563C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10" name="AutoShape 3">
            <a:extLst>
              <a:ext uri="{FF2B5EF4-FFF2-40B4-BE49-F238E27FC236}">
                <a16:creationId xmlns:a16="http://schemas.microsoft.com/office/drawing/2014/main" id="{497703AB-8717-4F8F-B646-066606901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7904" y="3979912"/>
            <a:ext cx="762000" cy="457200"/>
          </a:xfrm>
          <a:prstGeom prst="roundRect">
            <a:avLst>
              <a:gd name="adj" fmla="val 16667"/>
            </a:avLst>
          </a:prstGeom>
          <a:noFill/>
          <a:ln w="57240" cap="sq">
            <a:solidFill>
              <a:srgbClr val="0563C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BDDF0853-FFBE-4953-9A2C-10DCB461E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5943600"/>
            <a:ext cx="849630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360" tIns="44280" rIns="90360" bIns="44280"/>
          <a:lstStyle>
            <a:lvl1pPr marL="284163" indent="-284163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900"/>
              </a:spcBef>
              <a:buClr>
                <a:srgbClr val="5B9BD5"/>
              </a:buClr>
              <a:buFont typeface="Comic Sans MS" panose="030F0702030302020204" pitchFamily="66" charset="0"/>
              <a:buChar char="•"/>
            </a:pPr>
            <a:r>
              <a:rPr lang="en-US" altLang="zh-CN" sz="2400" b="1" dirty="0">
                <a:solidFill>
                  <a:srgbClr val="5B9BD5"/>
                </a:solidFill>
                <a:latin typeface="Comic Sans MS" panose="030F0702030302020204" pitchFamily="66" charset="0"/>
              </a:rPr>
              <a:t>Timer starts down for Add1, Mult1? 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5845C09-8BBC-7C20-B3FB-FE3F99FED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1165DD-D23E-489C-BBFB-EB37BED4E759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C871ADD-42AF-76A3-42BD-27C7F3461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4828DF-6ED1-12AE-3225-3CBB409C1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12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9202" name="Object 1">
            <a:extLst>
              <a:ext uri="{FF2B5EF4-FFF2-40B4-BE49-F238E27FC236}">
                <a16:creationId xmlns:a16="http://schemas.microsoft.com/office/drawing/2014/main" id="{5AB3DEE0-6099-4D6C-9EBD-DED2A9EF86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7750623"/>
              </p:ext>
            </p:extLst>
          </p:nvPr>
        </p:nvGraphicFramePr>
        <p:xfrm>
          <a:off x="184943" y="947737"/>
          <a:ext cx="8774113" cy="499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666000" imgH="6607440" progId="">
                  <p:embed/>
                </p:oleObj>
              </mc:Choice>
              <mc:Fallback>
                <p:oleObj r:id="rId3" imgW="9666000" imgH="6607440" progId="">
                  <p:embed/>
                  <p:pic>
                    <p:nvPicPr>
                      <p:cNvPr id="179202" name="Object 1">
                        <a:extLst>
                          <a:ext uri="{FF2B5EF4-FFF2-40B4-BE49-F238E27FC236}">
                            <a16:creationId xmlns:a16="http://schemas.microsoft.com/office/drawing/2014/main" id="{5AB3DEE0-6099-4D6C-9EBD-DED2A9EF86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943" y="947737"/>
                        <a:ext cx="8774113" cy="499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66" name="Rectangle 2">
            <a:extLst>
              <a:ext uri="{FF2B5EF4-FFF2-40B4-BE49-F238E27FC236}">
                <a16:creationId xmlns:a16="http://schemas.microsoft.com/office/drawing/2014/main" id="{3E6065E6-11C3-4932-B70E-6BC791501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5943600"/>
            <a:ext cx="849630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360" tIns="44280" rIns="90360" bIns="44280"/>
          <a:lstStyle>
            <a:lvl1pPr marL="284163" indent="-284163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900"/>
              </a:spcBef>
              <a:buClr>
                <a:srgbClr val="5B9BD5"/>
              </a:buClr>
              <a:buFont typeface="Comic Sans MS" panose="030F0702030302020204" pitchFamily="66" charset="0"/>
              <a:buChar char="•"/>
            </a:pPr>
            <a:r>
              <a:rPr lang="en-US" altLang="zh-CN" sz="2400" b="1">
                <a:solidFill>
                  <a:srgbClr val="5B9BD5"/>
                </a:solidFill>
                <a:latin typeface="Comic Sans MS" panose="030F0702030302020204" pitchFamily="66" charset="0"/>
              </a:rPr>
              <a:t>Issue ADDD here vs. scoreboard? </a:t>
            </a:r>
          </a:p>
        </p:txBody>
      </p:sp>
      <p:sp>
        <p:nvSpPr>
          <p:cNvPr id="8" name="Text Box 1">
            <a:extLst>
              <a:ext uri="{FF2B5EF4-FFF2-40B4-BE49-F238E27FC236}">
                <a16:creationId xmlns:a16="http://schemas.microsoft.com/office/drawing/2014/main" id="{3E8874EC-B382-4F64-84C4-0C0D2F9117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08743"/>
            <a:ext cx="73025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实例：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6</a:t>
            </a:r>
            <a:endParaRPr lang="en-US" altLang="zh-CN" sz="3600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C906D147-1350-49FC-BA16-6B1EB97F5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040" y="5085184"/>
            <a:ext cx="762000" cy="457200"/>
          </a:xfrm>
          <a:prstGeom prst="roundRect">
            <a:avLst>
              <a:gd name="adj" fmla="val 16667"/>
            </a:avLst>
          </a:prstGeom>
          <a:noFill/>
          <a:ln w="57240" cap="sq">
            <a:solidFill>
              <a:srgbClr val="0563C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55E6CC-B7E2-E41E-6E3A-928377307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19515E3-0EB1-487E-8828-9242009344BA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A71B80B-CD1A-9775-483C-71E00FAF4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357B2B-84A0-9B36-5D5B-09EBA0B34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13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80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80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1250" name="Object 1">
            <a:extLst>
              <a:ext uri="{FF2B5EF4-FFF2-40B4-BE49-F238E27FC236}">
                <a16:creationId xmlns:a16="http://schemas.microsoft.com/office/drawing/2014/main" id="{0FA1055E-C39A-4DD1-AD58-1EF8D3AE2E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725" y="952500"/>
          <a:ext cx="8774113" cy="499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666000" imgH="6607440" progId="">
                  <p:embed/>
                </p:oleObj>
              </mc:Choice>
              <mc:Fallback>
                <p:oleObj r:id="rId3" imgW="9666000" imgH="6607440" progId="">
                  <p:embed/>
                  <p:pic>
                    <p:nvPicPr>
                      <p:cNvPr id="181250" name="Object 1">
                        <a:extLst>
                          <a:ext uri="{FF2B5EF4-FFF2-40B4-BE49-F238E27FC236}">
                            <a16:creationId xmlns:a16="http://schemas.microsoft.com/office/drawing/2014/main" id="{0FA1055E-C39A-4DD1-AD58-1EF8D3AE2E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952500"/>
                        <a:ext cx="8774113" cy="499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090" name="Rectangle 2">
            <a:extLst>
              <a:ext uri="{FF2B5EF4-FFF2-40B4-BE49-F238E27FC236}">
                <a16:creationId xmlns:a16="http://schemas.microsoft.com/office/drawing/2014/main" id="{DD5DF8E6-BC75-441D-8409-C728C316B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5943600"/>
            <a:ext cx="849630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360" tIns="44280" rIns="90360" bIns="44280"/>
          <a:lstStyle>
            <a:lvl1pPr marL="284163" indent="-284163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900"/>
              </a:spcBef>
              <a:buClr>
                <a:srgbClr val="5B9BD5"/>
              </a:buClr>
              <a:buFont typeface="Comic Sans MS" panose="030F0702030302020204" pitchFamily="66" charset="0"/>
              <a:buChar char="•"/>
            </a:pPr>
            <a:r>
              <a:rPr lang="en-US" altLang="zh-CN" sz="2400" b="1">
                <a:solidFill>
                  <a:srgbClr val="5B9BD5"/>
                </a:solidFill>
                <a:latin typeface="Comic Sans MS" panose="030F0702030302020204" pitchFamily="66" charset="0"/>
              </a:rPr>
              <a:t>Add1 completing; what is waiting for it? </a:t>
            </a:r>
          </a:p>
        </p:txBody>
      </p:sp>
      <p:sp>
        <p:nvSpPr>
          <p:cNvPr id="8" name="Text Box 1">
            <a:extLst>
              <a:ext uri="{FF2B5EF4-FFF2-40B4-BE49-F238E27FC236}">
                <a16:creationId xmlns:a16="http://schemas.microsoft.com/office/drawing/2014/main" id="{D172FA5D-AB8F-4AE7-8051-6ECA807EE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08743"/>
            <a:ext cx="73025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实例：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7</a:t>
            </a:r>
            <a:endParaRPr lang="en-US" altLang="zh-CN" sz="3600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7DA7F7B-F29D-F610-8703-3A2A9D158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4619F57-0A76-4F58-A0C9-B8F0B025F756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4D1924C-B922-9CBD-31F8-CDD4110EE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5E99CF-3D62-722F-71B5-86FFD9830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14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9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90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3298" name="Object 1">
            <a:extLst>
              <a:ext uri="{FF2B5EF4-FFF2-40B4-BE49-F238E27FC236}">
                <a16:creationId xmlns:a16="http://schemas.microsoft.com/office/drawing/2014/main" id="{B4C83EDC-EE8C-48D5-909C-9F225AA25D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5966019"/>
              </p:ext>
            </p:extLst>
          </p:nvPr>
        </p:nvGraphicFramePr>
        <p:xfrm>
          <a:off x="184943" y="967580"/>
          <a:ext cx="8774113" cy="499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666000" imgH="6607440" progId="">
                  <p:embed/>
                </p:oleObj>
              </mc:Choice>
              <mc:Fallback>
                <p:oleObj r:id="rId3" imgW="9666000" imgH="6607440" progId="">
                  <p:embed/>
                  <p:pic>
                    <p:nvPicPr>
                      <p:cNvPr id="183298" name="Object 1">
                        <a:extLst>
                          <a:ext uri="{FF2B5EF4-FFF2-40B4-BE49-F238E27FC236}">
                            <a16:creationId xmlns:a16="http://schemas.microsoft.com/office/drawing/2014/main" id="{B4C83EDC-EE8C-48D5-909C-9F225AA25D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943" y="967580"/>
                        <a:ext cx="8774113" cy="499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">
            <a:extLst>
              <a:ext uri="{FF2B5EF4-FFF2-40B4-BE49-F238E27FC236}">
                <a16:creationId xmlns:a16="http://schemas.microsoft.com/office/drawing/2014/main" id="{DC6C7E42-EE17-4158-BB69-778602379D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08743"/>
            <a:ext cx="73025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实例：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8</a:t>
            </a:r>
            <a:endParaRPr lang="en-US" altLang="zh-CN" sz="3600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A2EBB10D-88C9-4A77-B2C5-DEAC0D778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0200" y="5132040"/>
            <a:ext cx="762000" cy="457200"/>
          </a:xfrm>
          <a:prstGeom prst="roundRect">
            <a:avLst>
              <a:gd name="adj" fmla="val 16667"/>
            </a:avLst>
          </a:prstGeom>
          <a:noFill/>
          <a:ln w="57240" cap="sq">
            <a:solidFill>
              <a:srgbClr val="0563C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F0A8E46E-22BA-40EA-AE01-F8737BA4D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5984" y="3619872"/>
            <a:ext cx="762000" cy="457200"/>
          </a:xfrm>
          <a:prstGeom prst="roundRect">
            <a:avLst>
              <a:gd name="adj" fmla="val 16667"/>
            </a:avLst>
          </a:prstGeom>
          <a:noFill/>
          <a:ln w="57240" cap="sq">
            <a:solidFill>
              <a:srgbClr val="0563C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9C5FDC4-3448-5D5C-2443-2295F0B69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0ACBDE-3310-47E1-B806-48746D75ED24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901D1D8-36D9-A6EC-A133-BB384789A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CC5315-547E-3DDD-3FF6-4AFEC3A23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15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5346" name="Object 1">
            <a:extLst>
              <a:ext uri="{FF2B5EF4-FFF2-40B4-BE49-F238E27FC236}">
                <a16:creationId xmlns:a16="http://schemas.microsoft.com/office/drawing/2014/main" id="{47EB48E7-6DF8-4E28-953C-F60CBEFE95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725" y="952500"/>
          <a:ext cx="8774113" cy="499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666000" imgH="6607440" progId="">
                  <p:embed/>
                </p:oleObj>
              </mc:Choice>
              <mc:Fallback>
                <p:oleObj r:id="rId3" imgW="9666000" imgH="6607440" progId="">
                  <p:embed/>
                  <p:pic>
                    <p:nvPicPr>
                      <p:cNvPr id="185346" name="Object 1">
                        <a:extLst>
                          <a:ext uri="{FF2B5EF4-FFF2-40B4-BE49-F238E27FC236}">
                            <a16:creationId xmlns:a16="http://schemas.microsoft.com/office/drawing/2014/main" id="{47EB48E7-6DF8-4E28-953C-F60CBEFE95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952500"/>
                        <a:ext cx="8774113" cy="499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">
            <a:extLst>
              <a:ext uri="{FF2B5EF4-FFF2-40B4-BE49-F238E27FC236}">
                <a16:creationId xmlns:a16="http://schemas.microsoft.com/office/drawing/2014/main" id="{56014197-DF94-47C0-AE24-CDC7721208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08743"/>
            <a:ext cx="73025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实例：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9</a:t>
            </a:r>
            <a:endParaRPr lang="en-US" altLang="zh-CN" sz="3600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2701428-A390-F853-4E0A-88051FBD7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01E1466-069E-4FA6-AD66-D85CBB946171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4E21837-B445-E20A-1887-20120BAC5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B0D2C8-889B-2BB4-54D9-149CBBA9E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16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7394" name="Object 1">
            <a:extLst>
              <a:ext uri="{FF2B5EF4-FFF2-40B4-BE49-F238E27FC236}">
                <a16:creationId xmlns:a16="http://schemas.microsoft.com/office/drawing/2014/main" id="{CAEA9179-0809-42FA-944E-30A9499B2A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725" y="952500"/>
          <a:ext cx="8774113" cy="499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666000" imgH="6607440" progId="">
                  <p:embed/>
                </p:oleObj>
              </mc:Choice>
              <mc:Fallback>
                <p:oleObj r:id="rId3" imgW="9666000" imgH="6607440" progId="">
                  <p:embed/>
                  <p:pic>
                    <p:nvPicPr>
                      <p:cNvPr id="187394" name="Object 1">
                        <a:extLst>
                          <a:ext uri="{FF2B5EF4-FFF2-40B4-BE49-F238E27FC236}">
                            <a16:creationId xmlns:a16="http://schemas.microsoft.com/office/drawing/2014/main" id="{CAEA9179-0809-42FA-944E-30A9499B2A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952500"/>
                        <a:ext cx="8774113" cy="499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2" name="Rectangle 2">
            <a:extLst>
              <a:ext uri="{FF2B5EF4-FFF2-40B4-BE49-F238E27FC236}">
                <a16:creationId xmlns:a16="http://schemas.microsoft.com/office/drawing/2014/main" id="{A8C5431D-D2B2-42E6-A9B7-42D7A6F7E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5943600"/>
            <a:ext cx="849630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360" tIns="44280" rIns="90360" bIns="44280"/>
          <a:lstStyle>
            <a:lvl1pPr marL="284163" indent="-284163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900"/>
              </a:spcBef>
              <a:buClr>
                <a:srgbClr val="5B9BD5"/>
              </a:buClr>
              <a:buFont typeface="Comic Sans MS" panose="030F0702030302020204" pitchFamily="66" charset="0"/>
              <a:buChar char="•"/>
            </a:pPr>
            <a:r>
              <a:rPr lang="en-US" altLang="zh-CN" sz="2400" b="1">
                <a:solidFill>
                  <a:srgbClr val="5B9BD5"/>
                </a:solidFill>
                <a:latin typeface="Comic Sans MS" panose="030F0702030302020204" pitchFamily="66" charset="0"/>
              </a:rPr>
              <a:t>Add2 completing; what is waiting for it? </a:t>
            </a:r>
          </a:p>
        </p:txBody>
      </p:sp>
      <p:sp>
        <p:nvSpPr>
          <p:cNvPr id="8" name="Text Box 1">
            <a:extLst>
              <a:ext uri="{FF2B5EF4-FFF2-40B4-BE49-F238E27FC236}">
                <a16:creationId xmlns:a16="http://schemas.microsoft.com/office/drawing/2014/main" id="{088711B2-6A9F-4687-8254-DE597D692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08743"/>
            <a:ext cx="73025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实例：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10</a:t>
            </a:r>
            <a:endParaRPr lang="en-US" altLang="zh-CN" sz="3600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972B6F7-B93E-C927-5BF8-AA7FC7BE8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CA99DC4-8AFC-4029-9908-7E1A1DFF13BE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1F7C386-C4E5-2B83-375D-484C33ABF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BF28FD-073F-7EDF-2D08-1A499BD50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17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2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2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9442" name="Object 1">
            <a:extLst>
              <a:ext uri="{FF2B5EF4-FFF2-40B4-BE49-F238E27FC236}">
                <a16:creationId xmlns:a16="http://schemas.microsoft.com/office/drawing/2014/main" id="{A78B5BC8-AF11-43A4-89F6-1C2E409809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725" y="952500"/>
          <a:ext cx="8774113" cy="499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666000" imgH="6607440" progId="">
                  <p:embed/>
                </p:oleObj>
              </mc:Choice>
              <mc:Fallback>
                <p:oleObj r:id="rId3" imgW="9666000" imgH="6607440" progId="">
                  <p:embed/>
                  <p:pic>
                    <p:nvPicPr>
                      <p:cNvPr id="189442" name="Object 1">
                        <a:extLst>
                          <a:ext uri="{FF2B5EF4-FFF2-40B4-BE49-F238E27FC236}">
                            <a16:creationId xmlns:a16="http://schemas.microsoft.com/office/drawing/2014/main" id="{A78B5BC8-AF11-43A4-89F6-1C2E409809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952500"/>
                        <a:ext cx="8774113" cy="499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86" name="Rectangle 2">
            <a:extLst>
              <a:ext uri="{FF2B5EF4-FFF2-40B4-BE49-F238E27FC236}">
                <a16:creationId xmlns:a16="http://schemas.microsoft.com/office/drawing/2014/main" id="{077B30CF-1488-4C82-BEA8-25E6A942D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25" y="5781675"/>
            <a:ext cx="849630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360" tIns="44280" rIns="90360" bIns="44280"/>
          <a:lstStyle>
            <a:lvl1pPr marL="284163" indent="-284163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900"/>
              </a:spcBef>
              <a:buClr>
                <a:srgbClr val="5B9BD5"/>
              </a:buClr>
              <a:buFont typeface="Comic Sans MS" panose="030F0702030302020204" pitchFamily="66" charset="0"/>
              <a:buChar char="•"/>
            </a:pPr>
            <a:r>
              <a:rPr lang="en-US" altLang="zh-CN" sz="2400" b="1">
                <a:solidFill>
                  <a:srgbClr val="5B9BD5"/>
                </a:solidFill>
                <a:latin typeface="Comic Sans MS" panose="030F0702030302020204" pitchFamily="66" charset="0"/>
              </a:rPr>
              <a:t>Write result of ADDD here vs. scoreboard?</a:t>
            </a:r>
          </a:p>
          <a:p>
            <a:pPr eaLnBrk="1" hangingPunct="1">
              <a:spcBef>
                <a:spcPts val="900"/>
              </a:spcBef>
              <a:buClr>
                <a:srgbClr val="5B9BD5"/>
              </a:buClr>
              <a:buFont typeface="Comic Sans MS" panose="030F0702030302020204" pitchFamily="66" charset="0"/>
              <a:buChar char="•"/>
            </a:pPr>
            <a:r>
              <a:rPr lang="en-US" altLang="zh-CN" sz="2400" b="1">
                <a:solidFill>
                  <a:srgbClr val="5B9BD5"/>
                </a:solidFill>
                <a:latin typeface="Comic Sans MS" panose="030F0702030302020204" pitchFamily="66" charset="0"/>
              </a:rPr>
              <a:t>All quick instructions complete in this cycle!</a:t>
            </a:r>
          </a:p>
        </p:txBody>
      </p:sp>
      <p:sp>
        <p:nvSpPr>
          <p:cNvPr id="8" name="Text Box 1">
            <a:extLst>
              <a:ext uri="{FF2B5EF4-FFF2-40B4-BE49-F238E27FC236}">
                <a16:creationId xmlns:a16="http://schemas.microsoft.com/office/drawing/2014/main" id="{3A31C3E4-D9D3-40D4-8537-67A326D37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08743"/>
            <a:ext cx="73025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实例：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11</a:t>
            </a:r>
            <a:endParaRPr lang="en-US" altLang="zh-CN" sz="3600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F6139CFB-6DC0-49CE-A8C9-72230DED7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040" y="5131197"/>
            <a:ext cx="762000" cy="457200"/>
          </a:xfrm>
          <a:prstGeom prst="roundRect">
            <a:avLst>
              <a:gd name="adj" fmla="val 16667"/>
            </a:avLst>
          </a:prstGeom>
          <a:noFill/>
          <a:ln w="57240" cap="sq">
            <a:solidFill>
              <a:srgbClr val="0563C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F4827F6-F481-D531-F357-C396B51D6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965AD7E-51D7-4325-A8C7-DD20B4B08689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4093D74-C553-640B-EF3D-B034B3585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AECA29-0723-7F55-D5D9-111CA8966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18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3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3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1490" name="Object 1">
            <a:extLst>
              <a:ext uri="{FF2B5EF4-FFF2-40B4-BE49-F238E27FC236}">
                <a16:creationId xmlns:a16="http://schemas.microsoft.com/office/drawing/2014/main" id="{6928D047-FA55-4852-B592-6C8D0A5E64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725" y="952500"/>
          <a:ext cx="8774113" cy="499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666000" imgH="6607440" progId="">
                  <p:embed/>
                </p:oleObj>
              </mc:Choice>
              <mc:Fallback>
                <p:oleObj r:id="rId3" imgW="9666000" imgH="6607440" progId="">
                  <p:embed/>
                  <p:pic>
                    <p:nvPicPr>
                      <p:cNvPr id="191490" name="Object 1">
                        <a:extLst>
                          <a:ext uri="{FF2B5EF4-FFF2-40B4-BE49-F238E27FC236}">
                            <a16:creationId xmlns:a16="http://schemas.microsoft.com/office/drawing/2014/main" id="{6928D047-FA55-4852-B592-6C8D0A5E64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952500"/>
                        <a:ext cx="8774113" cy="499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1491" name="Rectangle 2">
            <a:extLst>
              <a:ext uri="{FF2B5EF4-FFF2-40B4-BE49-F238E27FC236}">
                <a16:creationId xmlns:a16="http://schemas.microsoft.com/office/drawing/2014/main" id="{B6F97B9B-52F6-447A-A518-536A0AF88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300" y="93663"/>
            <a:ext cx="7162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8" name="Text Box 1">
            <a:extLst>
              <a:ext uri="{FF2B5EF4-FFF2-40B4-BE49-F238E27FC236}">
                <a16:creationId xmlns:a16="http://schemas.microsoft.com/office/drawing/2014/main" id="{F10C9BF4-1FB9-4A5C-B035-654C4F5C1F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08743"/>
            <a:ext cx="73025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实例：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12</a:t>
            </a:r>
            <a:endParaRPr lang="en-US" altLang="zh-CN" sz="3600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64319B1-49B8-8682-2E91-E31B53FFB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FD8FEE-4133-4AA8-8584-E70FE4066BDA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DCF2261-22D4-09C8-6D71-B013A4A7C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D94353-0354-3F77-4338-2DC382C4D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19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3538" name="Object 1">
            <a:extLst>
              <a:ext uri="{FF2B5EF4-FFF2-40B4-BE49-F238E27FC236}">
                <a16:creationId xmlns:a16="http://schemas.microsoft.com/office/drawing/2014/main" id="{37D4B2C8-171F-4175-A535-8B0DCF17AB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725" y="952500"/>
          <a:ext cx="8774113" cy="499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666000" imgH="6607440" progId="">
                  <p:embed/>
                </p:oleObj>
              </mc:Choice>
              <mc:Fallback>
                <p:oleObj r:id="rId3" imgW="9666000" imgH="6607440" progId="">
                  <p:embed/>
                  <p:pic>
                    <p:nvPicPr>
                      <p:cNvPr id="193538" name="Object 1">
                        <a:extLst>
                          <a:ext uri="{FF2B5EF4-FFF2-40B4-BE49-F238E27FC236}">
                            <a16:creationId xmlns:a16="http://schemas.microsoft.com/office/drawing/2014/main" id="{37D4B2C8-171F-4175-A535-8B0DCF17AB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952500"/>
                        <a:ext cx="8774113" cy="499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">
            <a:extLst>
              <a:ext uri="{FF2B5EF4-FFF2-40B4-BE49-F238E27FC236}">
                <a16:creationId xmlns:a16="http://schemas.microsoft.com/office/drawing/2014/main" id="{5B93CFCA-8F91-420E-ACD9-4FD8C1E83A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08743"/>
            <a:ext cx="73025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实例：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13</a:t>
            </a:r>
            <a:endParaRPr lang="en-US" altLang="zh-CN" sz="3600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80BC8F3-B5D4-06E5-F3FD-680BC5EC7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A3CD6-FD4A-4157-9DE3-683C8CE393B1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ABC86A3-4199-B181-990B-0F0E4D8A0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248B4E-FCD3-2748-6452-C10A33290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20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5586" name="Object 1">
            <a:extLst>
              <a:ext uri="{FF2B5EF4-FFF2-40B4-BE49-F238E27FC236}">
                <a16:creationId xmlns:a16="http://schemas.microsoft.com/office/drawing/2014/main" id="{B0C8EE7D-0C7E-4ACD-B046-56BE358941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725" y="952500"/>
          <a:ext cx="8774113" cy="499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666000" imgH="6607440" progId="">
                  <p:embed/>
                </p:oleObj>
              </mc:Choice>
              <mc:Fallback>
                <p:oleObj r:id="rId3" imgW="9666000" imgH="6607440" progId="">
                  <p:embed/>
                  <p:pic>
                    <p:nvPicPr>
                      <p:cNvPr id="195586" name="Object 1">
                        <a:extLst>
                          <a:ext uri="{FF2B5EF4-FFF2-40B4-BE49-F238E27FC236}">
                            <a16:creationId xmlns:a16="http://schemas.microsoft.com/office/drawing/2014/main" id="{B0C8EE7D-0C7E-4ACD-B046-56BE358941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952500"/>
                        <a:ext cx="8774113" cy="499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">
            <a:extLst>
              <a:ext uri="{FF2B5EF4-FFF2-40B4-BE49-F238E27FC236}">
                <a16:creationId xmlns:a16="http://schemas.microsoft.com/office/drawing/2014/main" id="{602FBCD5-C586-4775-8043-8E5EC4FF71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08743"/>
            <a:ext cx="73025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实例：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14</a:t>
            </a:r>
            <a:endParaRPr lang="en-US" altLang="zh-CN" sz="3600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9670A5E-BA4D-3AD4-3BEE-42938A03D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12ED121-50BC-46C6-A8F8-E6B3E36F26DE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5F599DE-0ADD-39A6-F7FA-BBFE93CD7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ECD9CC-8C7F-59C6-6B45-DFC59E397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21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634" name="Object 1">
            <a:extLst>
              <a:ext uri="{FF2B5EF4-FFF2-40B4-BE49-F238E27FC236}">
                <a16:creationId xmlns:a16="http://schemas.microsoft.com/office/drawing/2014/main" id="{69B2F5D1-761A-4761-AB66-D9D9E4BADE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725" y="952500"/>
          <a:ext cx="8774113" cy="499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666000" imgH="6607440" progId="">
                  <p:embed/>
                </p:oleObj>
              </mc:Choice>
              <mc:Fallback>
                <p:oleObj r:id="rId3" imgW="9666000" imgH="6607440" progId="">
                  <p:embed/>
                  <p:pic>
                    <p:nvPicPr>
                      <p:cNvPr id="197634" name="Object 1">
                        <a:extLst>
                          <a:ext uri="{FF2B5EF4-FFF2-40B4-BE49-F238E27FC236}">
                            <a16:creationId xmlns:a16="http://schemas.microsoft.com/office/drawing/2014/main" id="{69B2F5D1-761A-4761-AB66-D9D9E4BADE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952500"/>
                        <a:ext cx="8774113" cy="499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">
            <a:extLst>
              <a:ext uri="{FF2B5EF4-FFF2-40B4-BE49-F238E27FC236}">
                <a16:creationId xmlns:a16="http://schemas.microsoft.com/office/drawing/2014/main" id="{5DE42945-0427-44B7-AD79-08E4B1267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08743"/>
            <a:ext cx="73025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实例：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15</a:t>
            </a:r>
            <a:endParaRPr lang="en-US" altLang="zh-CN" sz="3600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30FBF8A-5779-2736-B691-A24C925C4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A8EBD4-60A6-43A3-93AF-2F4B4AD4B695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1A1D6A5-58A5-8A3B-06B4-34A8F5D5A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4381A2-398B-02AE-61AB-6C37A6B4D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22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9682" name="Object 1">
            <a:extLst>
              <a:ext uri="{FF2B5EF4-FFF2-40B4-BE49-F238E27FC236}">
                <a16:creationId xmlns:a16="http://schemas.microsoft.com/office/drawing/2014/main" id="{43E69459-C4FC-46F2-BC71-ABAAF678E9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725" y="952500"/>
          <a:ext cx="8774113" cy="499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666000" imgH="6607440" progId="">
                  <p:embed/>
                </p:oleObj>
              </mc:Choice>
              <mc:Fallback>
                <p:oleObj r:id="rId3" imgW="9666000" imgH="6607440" progId="">
                  <p:embed/>
                  <p:pic>
                    <p:nvPicPr>
                      <p:cNvPr id="199682" name="Object 1">
                        <a:extLst>
                          <a:ext uri="{FF2B5EF4-FFF2-40B4-BE49-F238E27FC236}">
                            <a16:creationId xmlns:a16="http://schemas.microsoft.com/office/drawing/2014/main" id="{43E69459-C4FC-46F2-BC71-ABAAF678E9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952500"/>
                        <a:ext cx="8774113" cy="499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">
            <a:extLst>
              <a:ext uri="{FF2B5EF4-FFF2-40B4-BE49-F238E27FC236}">
                <a16:creationId xmlns:a16="http://schemas.microsoft.com/office/drawing/2014/main" id="{4F258117-23E5-4962-BAE9-2C39E871A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08743"/>
            <a:ext cx="73025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实例：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16</a:t>
            </a:r>
            <a:endParaRPr lang="en-US" altLang="zh-CN" sz="3600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FECE51B-4620-4323-EC13-817BC1919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C2DE84-0922-41C2-AF43-05886A4B48E3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11E6967-FD08-C707-D75A-AE27FB49B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96AE0E-44BE-0495-1367-E0DEA9B14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23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3778" name="Object 1">
            <a:extLst>
              <a:ext uri="{FF2B5EF4-FFF2-40B4-BE49-F238E27FC236}">
                <a16:creationId xmlns:a16="http://schemas.microsoft.com/office/drawing/2014/main" id="{077C9072-C9FF-4A2C-8F2D-A02D067A97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9675469"/>
              </p:ext>
            </p:extLst>
          </p:nvPr>
        </p:nvGraphicFramePr>
        <p:xfrm>
          <a:off x="212725" y="1313457"/>
          <a:ext cx="8774113" cy="499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666000" imgH="6607440" progId="">
                  <p:embed/>
                </p:oleObj>
              </mc:Choice>
              <mc:Fallback>
                <p:oleObj r:id="rId3" imgW="9666000" imgH="6607440" progId="">
                  <p:embed/>
                  <p:pic>
                    <p:nvPicPr>
                      <p:cNvPr id="203778" name="Object 1">
                        <a:extLst>
                          <a:ext uri="{FF2B5EF4-FFF2-40B4-BE49-F238E27FC236}">
                            <a16:creationId xmlns:a16="http://schemas.microsoft.com/office/drawing/2014/main" id="{077C9072-C9FF-4A2C-8F2D-A02D067A97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1313457"/>
                        <a:ext cx="8774113" cy="499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">
            <a:extLst>
              <a:ext uri="{FF2B5EF4-FFF2-40B4-BE49-F238E27FC236}">
                <a16:creationId xmlns:a16="http://schemas.microsoft.com/office/drawing/2014/main" id="{A590C0D4-C040-4795-B26F-5E917A589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88640"/>
            <a:ext cx="73025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实例：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55</a:t>
            </a:r>
          </a:p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（跳过一些节拍）</a:t>
            </a:r>
            <a:endParaRPr lang="en-US" altLang="zh-CN" sz="3600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C5AFCEE-E72F-CA25-73EC-256E1D3BF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7E41137-D33A-46A2-B2AC-B72803054C39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48B2BE5-914F-950A-8A32-8E7FB236A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80C58A-D4C7-1C32-EA0B-39E96F5C1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24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826" name="Object 1">
            <a:extLst>
              <a:ext uri="{FF2B5EF4-FFF2-40B4-BE49-F238E27FC236}">
                <a16:creationId xmlns:a16="http://schemas.microsoft.com/office/drawing/2014/main" id="{CDB248EC-B6E7-4A7F-B75C-BD4472B69E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725" y="952500"/>
          <a:ext cx="8774113" cy="499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666000" imgH="6607440" progId="">
                  <p:embed/>
                </p:oleObj>
              </mc:Choice>
              <mc:Fallback>
                <p:oleObj r:id="rId3" imgW="9666000" imgH="6607440" progId="">
                  <p:embed/>
                  <p:pic>
                    <p:nvPicPr>
                      <p:cNvPr id="205826" name="Object 1">
                        <a:extLst>
                          <a:ext uri="{FF2B5EF4-FFF2-40B4-BE49-F238E27FC236}">
                            <a16:creationId xmlns:a16="http://schemas.microsoft.com/office/drawing/2014/main" id="{CDB248EC-B6E7-4A7F-B75C-BD4472B69E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952500"/>
                        <a:ext cx="8774113" cy="499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78" name="Rectangle 2">
            <a:extLst>
              <a:ext uri="{FF2B5EF4-FFF2-40B4-BE49-F238E27FC236}">
                <a16:creationId xmlns:a16="http://schemas.microsoft.com/office/drawing/2014/main" id="{32E482DB-8E15-4BD2-8221-C8B51F296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5791200"/>
            <a:ext cx="849630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360" tIns="44280" rIns="90360" bIns="44280"/>
          <a:lstStyle>
            <a:lvl1pPr marL="284163" indent="-284163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900"/>
              </a:spcBef>
              <a:buClr>
                <a:srgbClr val="5B9BD5"/>
              </a:buClr>
              <a:buFont typeface="Comic Sans MS" panose="030F0702030302020204" pitchFamily="66" charset="0"/>
              <a:buChar char="•"/>
            </a:pPr>
            <a:r>
              <a:rPr lang="en-US" altLang="zh-CN" sz="2400" b="1">
                <a:solidFill>
                  <a:srgbClr val="5B9BD5"/>
                </a:solidFill>
                <a:latin typeface="Comic Sans MS" panose="030F0702030302020204" pitchFamily="66" charset="0"/>
              </a:rPr>
              <a:t>Mult2 is completing; what is waiting for it? </a:t>
            </a:r>
          </a:p>
        </p:txBody>
      </p:sp>
      <p:sp>
        <p:nvSpPr>
          <p:cNvPr id="8" name="Text Box 1">
            <a:extLst>
              <a:ext uri="{FF2B5EF4-FFF2-40B4-BE49-F238E27FC236}">
                <a16:creationId xmlns:a16="http://schemas.microsoft.com/office/drawing/2014/main" id="{8EA45439-B84D-4021-BE16-63825AF20B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08743"/>
            <a:ext cx="73025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实例：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56</a:t>
            </a:r>
            <a:endParaRPr lang="en-US" altLang="zh-CN" sz="3600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F89E014-310C-339B-0400-2170E9466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746F283-678F-482D-8BDB-0FD480EAD69D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91364D4-9FD5-AC8F-A255-7BF379866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10765B-6155-C889-F524-B28E4D2DB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25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7874" name="Object 1">
            <a:extLst>
              <a:ext uri="{FF2B5EF4-FFF2-40B4-BE49-F238E27FC236}">
                <a16:creationId xmlns:a16="http://schemas.microsoft.com/office/drawing/2014/main" id="{22BE43E3-C993-4626-8FBD-28279E5774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725" y="952500"/>
          <a:ext cx="8774113" cy="499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666000" imgH="6607440" progId="">
                  <p:embed/>
                </p:oleObj>
              </mc:Choice>
              <mc:Fallback>
                <p:oleObj r:id="rId3" imgW="9666000" imgH="6607440" progId="">
                  <p:embed/>
                  <p:pic>
                    <p:nvPicPr>
                      <p:cNvPr id="207874" name="Object 1">
                        <a:extLst>
                          <a:ext uri="{FF2B5EF4-FFF2-40B4-BE49-F238E27FC236}">
                            <a16:creationId xmlns:a16="http://schemas.microsoft.com/office/drawing/2014/main" id="{22BE43E3-C993-4626-8FBD-28279E5774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952500"/>
                        <a:ext cx="8774113" cy="499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">
            <a:extLst>
              <a:ext uri="{FF2B5EF4-FFF2-40B4-BE49-F238E27FC236}">
                <a16:creationId xmlns:a16="http://schemas.microsoft.com/office/drawing/2014/main" id="{B4B6CAEA-3317-4F15-9AE1-FB5AF47C55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08743"/>
            <a:ext cx="73025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实例：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57</a:t>
            </a:r>
            <a:endParaRPr lang="en-US" altLang="zh-CN" sz="3600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517CA04-A5A1-E6BE-0BCB-B85898950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E8A5633-B35C-4778-B8BC-27E2514106FA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CF5742D-D50C-7110-9697-881BCCF4B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3026EA-0EFF-0E65-C644-DC6A2F420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26</a:t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7874" name="Object 1">
            <a:extLst>
              <a:ext uri="{FF2B5EF4-FFF2-40B4-BE49-F238E27FC236}">
                <a16:creationId xmlns:a16="http://schemas.microsoft.com/office/drawing/2014/main" id="{22BE43E3-C993-4626-8FBD-28279E5774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725" y="952500"/>
          <a:ext cx="8774113" cy="499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666000" imgH="6607440" progId="">
                  <p:embed/>
                </p:oleObj>
              </mc:Choice>
              <mc:Fallback>
                <p:oleObj r:id="rId3" imgW="9666000" imgH="6607440" progId="">
                  <p:embed/>
                  <p:pic>
                    <p:nvPicPr>
                      <p:cNvPr id="207874" name="Object 1">
                        <a:extLst>
                          <a:ext uri="{FF2B5EF4-FFF2-40B4-BE49-F238E27FC236}">
                            <a16:creationId xmlns:a16="http://schemas.microsoft.com/office/drawing/2014/main" id="{22BE43E3-C993-4626-8FBD-28279E5774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952500"/>
                        <a:ext cx="8774113" cy="499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02" name="Rectangle 2">
            <a:extLst>
              <a:ext uri="{FF2B5EF4-FFF2-40B4-BE49-F238E27FC236}">
                <a16:creationId xmlns:a16="http://schemas.microsoft.com/office/drawing/2014/main" id="{D8472AB9-EACF-4DC6-9DC4-CE6410191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5715000"/>
            <a:ext cx="849630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360" tIns="44280" rIns="90360" bIns="44280"/>
          <a:lstStyle>
            <a:lvl1pPr marL="284163" indent="-284163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84163" algn="l"/>
                <a:tab pos="1198563" algn="l"/>
                <a:tab pos="2112963" algn="l"/>
                <a:tab pos="3027363" algn="l"/>
                <a:tab pos="3941763" algn="l"/>
                <a:tab pos="4856163" algn="l"/>
                <a:tab pos="5770563" algn="l"/>
                <a:tab pos="6684963" algn="l"/>
                <a:tab pos="7599363" algn="l"/>
                <a:tab pos="8513763" algn="l"/>
                <a:tab pos="9428163" algn="l"/>
                <a:tab pos="10342563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900"/>
              </a:spcBef>
              <a:buClr>
                <a:srgbClr val="5B9BD5"/>
              </a:buClr>
              <a:buFont typeface="Comic Sans MS" panose="030F0702030302020204" pitchFamily="66" charset="0"/>
              <a:buChar char="•"/>
            </a:pPr>
            <a:r>
              <a:rPr lang="en-US" altLang="zh-CN" sz="2400" b="1" dirty="0">
                <a:solidFill>
                  <a:srgbClr val="5B9BD5"/>
                </a:solidFill>
                <a:latin typeface="Comic Sans MS" panose="030F0702030302020204" pitchFamily="66" charset="0"/>
              </a:rPr>
              <a:t>Once again: In-order issue, out-of-order execution and completion.</a:t>
            </a:r>
          </a:p>
        </p:txBody>
      </p:sp>
      <p:sp>
        <p:nvSpPr>
          <p:cNvPr id="207876" name="AutoShape 3">
            <a:extLst>
              <a:ext uri="{FF2B5EF4-FFF2-40B4-BE49-F238E27FC236}">
                <a16:creationId xmlns:a16="http://schemas.microsoft.com/office/drawing/2014/main" id="{F773739C-5FA2-43FF-BCAC-077956107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1295400"/>
            <a:ext cx="457200" cy="1676400"/>
          </a:xfrm>
          <a:prstGeom prst="roundRect">
            <a:avLst>
              <a:gd name="adj" fmla="val 16667"/>
            </a:avLst>
          </a:prstGeom>
          <a:noFill/>
          <a:ln w="57240" cap="sq">
            <a:solidFill>
              <a:srgbClr val="0563C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207877" name="AutoShape 4">
            <a:extLst>
              <a:ext uri="{FF2B5EF4-FFF2-40B4-BE49-F238E27FC236}">
                <a16:creationId xmlns:a16="http://schemas.microsoft.com/office/drawing/2014/main" id="{732391B9-90C1-4EB4-ACC0-764458208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1295400"/>
            <a:ext cx="457200" cy="1676400"/>
          </a:xfrm>
          <a:prstGeom prst="roundRect">
            <a:avLst>
              <a:gd name="adj" fmla="val 16667"/>
            </a:avLst>
          </a:prstGeom>
          <a:noFill/>
          <a:ln w="57240" cap="sq">
            <a:solidFill>
              <a:srgbClr val="5B9BD5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207878" name="AutoShape 5">
            <a:extLst>
              <a:ext uri="{FF2B5EF4-FFF2-40B4-BE49-F238E27FC236}">
                <a16:creationId xmlns:a16="http://schemas.microsoft.com/office/drawing/2014/main" id="{5AB5D735-A00A-4495-8A86-98E87DA83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1905000"/>
            <a:ext cx="457200" cy="1066800"/>
          </a:xfrm>
          <a:prstGeom prst="roundRect">
            <a:avLst>
              <a:gd name="adj" fmla="val 16667"/>
            </a:avLst>
          </a:prstGeom>
          <a:noFill/>
          <a:ln w="57240" cap="sq">
            <a:solidFill>
              <a:srgbClr val="5B9BD5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207879" name="AutoShape 6">
            <a:extLst>
              <a:ext uri="{FF2B5EF4-FFF2-40B4-BE49-F238E27FC236}">
                <a16:creationId xmlns:a16="http://schemas.microsoft.com/office/drawing/2014/main" id="{CDD08F0F-5233-4B2C-951E-FC21E8BC1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1295400"/>
            <a:ext cx="457200" cy="1676400"/>
          </a:xfrm>
          <a:prstGeom prst="roundRect">
            <a:avLst>
              <a:gd name="adj" fmla="val 16667"/>
            </a:avLst>
          </a:prstGeom>
          <a:noFill/>
          <a:ln w="57240" cap="sq">
            <a:solidFill>
              <a:srgbClr val="5B9BD5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12" name="Text Box 1">
            <a:extLst>
              <a:ext uri="{FF2B5EF4-FFF2-40B4-BE49-F238E27FC236}">
                <a16:creationId xmlns:a16="http://schemas.microsoft.com/office/drawing/2014/main" id="{B4B6CAEA-3317-4F15-9AE1-FB5AF47C55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08743"/>
            <a:ext cx="73025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实例：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57</a:t>
            </a:r>
            <a:endParaRPr lang="en-US" altLang="zh-CN" sz="3600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20A6ECF-18EC-62DD-D69F-29F19416F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80C386-CD5B-4F60-AF27-665EDDB3A829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52C3403-8C80-3983-7279-52D0559CC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B22C9A-14E4-414E-E7DC-F7E60773D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06546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30"/>
          <p:cNvSpPr>
            <a:spLocks noGrp="1"/>
          </p:cNvSpPr>
          <p:nvPr>
            <p:ph type="title" idx="4294967295"/>
          </p:nvPr>
        </p:nvSpPr>
        <p:spPr>
          <a:xfrm>
            <a:off x="457200" y="115888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b="1" dirty="0">
                <a:latin typeface="+mj-ea"/>
              </a:rPr>
              <a:t>基于</a:t>
            </a:r>
            <a:r>
              <a:rPr lang="en-US" altLang="zh-C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zh-CN" altLang="en-US" sz="3600" b="1" dirty="0">
                <a:latin typeface="+mj-ea"/>
              </a:rPr>
              <a:t>算法的动态循环展开</a:t>
            </a:r>
          </a:p>
        </p:txBody>
      </p:sp>
      <p:sp>
        <p:nvSpPr>
          <p:cNvPr id="87048" name="Rectangle 8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80466"/>
            <a:ext cx="8424167" cy="5400674"/>
          </a:xfrm>
        </p:spPr>
        <p:txBody>
          <a:bodyPr rtlCol="0">
            <a:noAutofit/>
          </a:bodyPr>
          <a:lstStyle/>
          <a:p>
            <a:pPr marL="571500" indent="-571500" eaLnBrk="1" fontAlgn="auto" hangingPunct="1">
              <a:spcAft>
                <a:spcPts val="0"/>
              </a:spcAft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用以下指令序列来说明</a:t>
            </a:r>
            <a:r>
              <a:rPr lang="en-US" altLang="zh-CN" sz="24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Tomasulo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算法的动态循环展开</a:t>
            </a:r>
          </a:p>
          <a:p>
            <a:pPr marL="909638" lvl="2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Loop</a:t>
            </a:r>
            <a:r>
              <a:rPr lang="zh-CN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： </a:t>
            </a: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LD		F0, 0(R1)</a:t>
            </a:r>
          </a:p>
          <a:p>
            <a:pPr marL="909638" lvl="2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		 MULTD	F4, F0, F2</a:t>
            </a:r>
          </a:p>
          <a:p>
            <a:pPr marL="909638" lvl="2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		 SD		0(R1), F4</a:t>
            </a:r>
          </a:p>
          <a:p>
            <a:pPr marL="909638" lvl="2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		 SUBI		R1, R1, #8</a:t>
            </a:r>
          </a:p>
          <a:p>
            <a:pPr marL="909638" lvl="2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		 BNEZ		R1, Loop</a:t>
            </a:r>
          </a:p>
          <a:p>
            <a:pPr marL="532800" lvl="2" indent="-342900" eaLnBrk="1" fontAlgn="auto" hangingPunct="1">
              <a:lnSpc>
                <a:spcPct val="110000"/>
              </a:lnSpc>
              <a:spcBef>
                <a:spcPts val="228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为了保证正确的异常行为，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算法对指令的执行有一个限制：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一旦有一条分支指令还没有执行完，其后的指令是不允许进入执行段。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2800" lvl="2" indent="-342900" eaLnBrk="1" fontAlgn="auto" hangingPunct="1">
              <a:lnSpc>
                <a:spcPct val="110000"/>
              </a:lnSpc>
              <a:spcBef>
                <a:spcPts val="228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动态存储器地址判别技术，解决存储器访问时的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WAW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冲突。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2800" lvl="2" indent="-342900" eaLnBrk="1" fontAlgn="auto" hangingPunct="1">
              <a:lnSpc>
                <a:spcPct val="110000"/>
              </a:lnSpc>
              <a:spcBef>
                <a:spcPts val="228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第一次取数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LD</a:t>
            </a:r>
            <a:r>
              <a:rPr lang="zh-CN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，由于</a:t>
            </a:r>
            <a:r>
              <a:rPr lang="en-US" altLang="zh-C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Cache miss</a:t>
            </a:r>
            <a:r>
              <a:rPr lang="zh-CN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，需要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8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个时钟周期</a:t>
            </a:r>
            <a:r>
              <a:rPr lang="zh-CN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延迟，之后的取数 </a:t>
            </a:r>
            <a:r>
              <a:rPr lang="en-US" altLang="zh-C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LD</a:t>
            </a:r>
            <a:r>
              <a:rPr lang="zh-CN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，只需</a:t>
            </a:r>
            <a:r>
              <a:rPr lang="en-US" altLang="zh-C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个时钟周期。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存数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SD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需要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个时钟周期</a:t>
            </a:r>
            <a:r>
              <a:rPr lang="zh-CN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。</a:t>
            </a:r>
            <a:endParaRPr lang="en-US" altLang="zh-CN" sz="20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532800" lvl="2" indent="-342900" eaLnBrk="1" fontAlgn="auto" hangingPunct="1">
              <a:lnSpc>
                <a:spcPct val="110000"/>
              </a:lnSpc>
              <a:spcBef>
                <a:spcPts val="228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乘法需要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个时钟周期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D28C002-DDB3-7357-4290-FA5A3BC5C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EAE0BFD-D132-46B3-812B-C4CFEB69E5C5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705D1A5-6CF0-0CCE-EB61-0D4C52540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6D639A-343B-B333-FAB5-ADF9AC89D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AE633C-541A-4E3F-A22A-3C4C63E8EF5F}" type="slidenum">
              <a:rPr lang="zh-CN" altLang="en-US" smtClean="0"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7392348"/>
      </p:ext>
    </p:extLst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0163" name="Object 2">
            <a:extLst>
              <a:ext uri="{FF2B5EF4-FFF2-40B4-BE49-F238E27FC236}">
                <a16:creationId xmlns:a16="http://schemas.microsoft.com/office/drawing/2014/main" id="{FF708FE5-6E9E-49A4-A13A-20FA5EDAFE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838200"/>
          <a:ext cx="8013700" cy="508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877960" imgH="5820840" progId="">
                  <p:embed/>
                </p:oleObj>
              </mc:Choice>
              <mc:Fallback>
                <p:oleObj r:id="rId3" imgW="8877960" imgH="5820840" progId="">
                  <p:embed/>
                  <p:pic>
                    <p:nvPicPr>
                      <p:cNvPr id="220163" name="Object 2">
                        <a:extLst>
                          <a:ext uri="{FF2B5EF4-FFF2-40B4-BE49-F238E27FC236}">
                            <a16:creationId xmlns:a16="http://schemas.microsoft.com/office/drawing/2014/main" id="{FF708FE5-6E9E-49A4-A13A-20FA5EDAFE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838200"/>
                        <a:ext cx="8013700" cy="508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">
            <a:extLst>
              <a:ext uri="{FF2B5EF4-FFF2-40B4-BE49-F238E27FC236}">
                <a16:creationId xmlns:a16="http://schemas.microsoft.com/office/drawing/2014/main" id="{25D09BBE-E3A2-4862-A974-4115378ED6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08743"/>
            <a:ext cx="73025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循环实例</a:t>
            </a:r>
            <a:endParaRPr lang="en-US" altLang="zh-CN" sz="3600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2650DFD-E9BE-1DDB-C32E-A2B104702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3E2174-77AE-4749-B8DD-774D073C3131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9DCCD83-48CF-04E6-9A83-D47498E4C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1F4CF0-57E6-D35B-7CEE-1C8DFAAB8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29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2210" name="Object 1">
            <a:extLst>
              <a:ext uri="{FF2B5EF4-FFF2-40B4-BE49-F238E27FC236}">
                <a16:creationId xmlns:a16="http://schemas.microsoft.com/office/drawing/2014/main" id="{06FA6405-E07A-442D-892D-BECA1B7C36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2620850"/>
              </p:ext>
            </p:extLst>
          </p:nvPr>
        </p:nvGraphicFramePr>
        <p:xfrm>
          <a:off x="302716" y="887412"/>
          <a:ext cx="8013700" cy="508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896680" imgH="5820840" progId="">
                  <p:embed/>
                </p:oleObj>
              </mc:Choice>
              <mc:Fallback>
                <p:oleObj r:id="rId3" imgW="8896680" imgH="5820840" progId="">
                  <p:embed/>
                  <p:pic>
                    <p:nvPicPr>
                      <p:cNvPr id="222210" name="Object 1">
                        <a:extLst>
                          <a:ext uri="{FF2B5EF4-FFF2-40B4-BE49-F238E27FC236}">
                            <a16:creationId xmlns:a16="http://schemas.microsoft.com/office/drawing/2014/main" id="{06FA6405-E07A-442D-892D-BECA1B7C36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716" y="887412"/>
                        <a:ext cx="8013700" cy="508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">
            <a:extLst>
              <a:ext uri="{FF2B5EF4-FFF2-40B4-BE49-F238E27FC236}">
                <a16:creationId xmlns:a16="http://schemas.microsoft.com/office/drawing/2014/main" id="{43AA102B-74B5-4E0B-93EE-590AC1315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08743"/>
            <a:ext cx="73025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循环实例：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1</a:t>
            </a:r>
            <a:endParaRPr lang="en-US" altLang="zh-CN" sz="3600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89617092-4543-4373-98B9-BF2C7EFD453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72400" y="3789040"/>
            <a:ext cx="576064" cy="0"/>
          </a:xfrm>
          <a:prstGeom prst="line">
            <a:avLst/>
          </a:prstGeom>
          <a:noFill/>
          <a:ln w="57240" cap="sq">
            <a:solidFill>
              <a:srgbClr val="5B9BD5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CF9EA1E-2140-348D-834F-1EBBEA9BA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102BF28-57DC-4BD3-BE65-416C50702D19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C6E06A0-CA38-4D25-A1EA-054DAEA11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826E71-5F5A-790D-5014-C3236C1FA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30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4258" name="Object 1">
            <a:extLst>
              <a:ext uri="{FF2B5EF4-FFF2-40B4-BE49-F238E27FC236}">
                <a16:creationId xmlns:a16="http://schemas.microsoft.com/office/drawing/2014/main" id="{F18E52DA-487E-4369-ACDB-7B08746DC2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838200"/>
          <a:ext cx="8013700" cy="508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896680" imgH="5820840" progId="">
                  <p:embed/>
                </p:oleObj>
              </mc:Choice>
              <mc:Fallback>
                <p:oleObj r:id="rId3" imgW="8896680" imgH="5820840" progId="">
                  <p:embed/>
                  <p:pic>
                    <p:nvPicPr>
                      <p:cNvPr id="224258" name="Object 1">
                        <a:extLst>
                          <a:ext uri="{FF2B5EF4-FFF2-40B4-BE49-F238E27FC236}">
                            <a16:creationId xmlns:a16="http://schemas.microsoft.com/office/drawing/2014/main" id="{F18E52DA-487E-4369-ACDB-7B08746DC2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838200"/>
                        <a:ext cx="8013700" cy="508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">
            <a:extLst>
              <a:ext uri="{FF2B5EF4-FFF2-40B4-BE49-F238E27FC236}">
                <a16:creationId xmlns:a16="http://schemas.microsoft.com/office/drawing/2014/main" id="{CD54511D-8E42-4549-BAE7-CA7D148093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08743"/>
            <a:ext cx="73025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循环实例：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2</a:t>
            </a:r>
            <a:endParaRPr lang="en-US" altLang="zh-CN" sz="3600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F5345E68-475E-48D2-8A26-EE7248C79CE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72400" y="4005064"/>
            <a:ext cx="576064" cy="0"/>
          </a:xfrm>
          <a:prstGeom prst="line">
            <a:avLst/>
          </a:prstGeom>
          <a:noFill/>
          <a:ln w="57240" cap="sq">
            <a:solidFill>
              <a:srgbClr val="5B9BD5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AEBFCB2-5388-ACB9-C3D5-F709E483D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48C3F2B-E45A-43AA-87B0-544E3B4259E7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F1F60DF-AC12-6C68-D2B1-534A4A4AC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BCBC219-B7CF-0FE1-E972-B0943CB29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31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6306" name="Object 1">
            <a:extLst>
              <a:ext uri="{FF2B5EF4-FFF2-40B4-BE49-F238E27FC236}">
                <a16:creationId xmlns:a16="http://schemas.microsoft.com/office/drawing/2014/main" id="{D40EC0AF-8DFD-40AC-9515-757BC12AB3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838200"/>
          <a:ext cx="8013700" cy="508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896680" imgH="5820840" progId="">
                  <p:embed/>
                </p:oleObj>
              </mc:Choice>
              <mc:Fallback>
                <p:oleObj r:id="rId3" imgW="8896680" imgH="5820840" progId="">
                  <p:embed/>
                  <p:pic>
                    <p:nvPicPr>
                      <p:cNvPr id="226306" name="Object 1">
                        <a:extLst>
                          <a:ext uri="{FF2B5EF4-FFF2-40B4-BE49-F238E27FC236}">
                            <a16:creationId xmlns:a16="http://schemas.microsoft.com/office/drawing/2014/main" id="{D40EC0AF-8DFD-40AC-9515-757BC12AB3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838200"/>
                        <a:ext cx="8013700" cy="508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19" name="Text Box 3">
            <a:extLst>
              <a:ext uri="{FF2B5EF4-FFF2-40B4-BE49-F238E27FC236}">
                <a16:creationId xmlns:a16="http://schemas.microsoft.com/office/drawing/2014/main" id="{A241D4B4-9C4E-4A56-ACAF-EC7842645A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211888"/>
            <a:ext cx="803275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360" tIns="44280" rIns="90360" bIns="44280"/>
          <a:lstStyle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5B9BD5"/>
              </a:buClr>
            </a:pPr>
            <a:r>
              <a:rPr lang="en-US" altLang="zh-CN">
                <a:solidFill>
                  <a:srgbClr val="5B9BD5"/>
                </a:solidFill>
              </a:rPr>
              <a:t>Implicit renaming sets up “DataFlow” graph</a:t>
            </a:r>
          </a:p>
        </p:txBody>
      </p:sp>
      <p:grpSp>
        <p:nvGrpSpPr>
          <p:cNvPr id="111620" name="Group 4">
            <a:extLst>
              <a:ext uri="{FF2B5EF4-FFF2-40B4-BE49-F238E27FC236}">
                <a16:creationId xmlns:a16="http://schemas.microsoft.com/office/drawing/2014/main" id="{7A514468-C6EB-41B7-8166-85258A53A4D4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1676400"/>
            <a:ext cx="4494213" cy="2817813"/>
            <a:chOff x="2016" y="1056"/>
            <a:chExt cx="2831" cy="1775"/>
          </a:xfrm>
        </p:grpSpPr>
        <p:sp>
          <p:nvSpPr>
            <p:cNvPr id="226313" name="Line 5">
              <a:extLst>
                <a:ext uri="{FF2B5EF4-FFF2-40B4-BE49-F238E27FC236}">
                  <a16:creationId xmlns:a16="http://schemas.microsoft.com/office/drawing/2014/main" id="{6899D928-8707-4169-934D-FC8AEF7BE6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79" y="1056"/>
              <a:ext cx="1153" cy="1727"/>
            </a:xfrm>
            <a:prstGeom prst="line">
              <a:avLst/>
            </a:prstGeom>
            <a:noFill/>
            <a:ln w="57240" cap="sq">
              <a:solidFill>
                <a:srgbClr val="5B9BD5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26314" name="Line 6">
              <a:extLst>
                <a:ext uri="{FF2B5EF4-FFF2-40B4-BE49-F238E27FC236}">
                  <a16:creationId xmlns:a16="http://schemas.microsoft.com/office/drawing/2014/main" id="{5C754CF5-903C-4BC5-B74E-7E324686BC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1535"/>
              <a:ext cx="2831" cy="1297"/>
            </a:xfrm>
            <a:prstGeom prst="line">
              <a:avLst/>
            </a:prstGeom>
            <a:noFill/>
            <a:ln w="57240" cap="sq">
              <a:solidFill>
                <a:srgbClr val="5B9BD5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" name="Line 5">
            <a:extLst>
              <a:ext uri="{FF2B5EF4-FFF2-40B4-BE49-F238E27FC236}">
                <a16:creationId xmlns:a16="http://schemas.microsoft.com/office/drawing/2014/main" id="{05B1C039-89BC-47F3-AC9B-B6C9306ABAF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81290" y="4293096"/>
            <a:ext cx="576064" cy="0"/>
          </a:xfrm>
          <a:prstGeom prst="line">
            <a:avLst/>
          </a:prstGeom>
          <a:noFill/>
          <a:ln w="57240" cap="sq">
            <a:solidFill>
              <a:srgbClr val="5B9BD5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Box 1">
            <a:extLst>
              <a:ext uri="{FF2B5EF4-FFF2-40B4-BE49-F238E27FC236}">
                <a16:creationId xmlns:a16="http://schemas.microsoft.com/office/drawing/2014/main" id="{8B684D61-1DDE-45FB-94BA-3FC3E5A04A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08743"/>
            <a:ext cx="73025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循环实例：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3</a:t>
            </a:r>
            <a:endParaRPr lang="en-US" altLang="zh-CN" sz="3600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271FAE2-F27C-16C0-ACD9-7A7C17BA0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054A170-F834-45C3-AE88-D9247F64A3A3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C076BCF-A987-532E-3995-6F054EE0D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4DAD68-416E-CEB1-7E5F-20E4C232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32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" dur="500" fill="hold"/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" dur="500" fill="hold"/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402" name="Object 1">
            <a:extLst>
              <a:ext uri="{FF2B5EF4-FFF2-40B4-BE49-F238E27FC236}">
                <a16:creationId xmlns:a16="http://schemas.microsoft.com/office/drawing/2014/main" id="{7C829296-ADC0-423D-899E-0F9E73D09C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838200"/>
          <a:ext cx="8013700" cy="508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896680" imgH="5820840" progId="">
                  <p:embed/>
                </p:oleObj>
              </mc:Choice>
              <mc:Fallback>
                <p:oleObj r:id="rId3" imgW="8896680" imgH="5820840" progId="">
                  <p:embed/>
                  <p:pic>
                    <p:nvPicPr>
                      <p:cNvPr id="230402" name="Object 1">
                        <a:extLst>
                          <a:ext uri="{FF2B5EF4-FFF2-40B4-BE49-F238E27FC236}">
                            <a16:creationId xmlns:a16="http://schemas.microsoft.com/office/drawing/2014/main" id="{7C829296-ADC0-423D-899E-0F9E73D09C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838200"/>
                        <a:ext cx="8013700" cy="508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67" name="Text Box 3">
            <a:extLst>
              <a:ext uri="{FF2B5EF4-FFF2-40B4-BE49-F238E27FC236}">
                <a16:creationId xmlns:a16="http://schemas.microsoft.com/office/drawing/2014/main" id="{E1DDDD01-72C9-47B7-AC3E-ED781A23DD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211888"/>
            <a:ext cx="803275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360" tIns="44280" rIns="90360" bIns="44280"/>
          <a:lstStyle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5B9BD5"/>
              </a:buClr>
            </a:pPr>
            <a:r>
              <a:rPr lang="en-US" altLang="zh-CN">
                <a:solidFill>
                  <a:srgbClr val="5B9BD5"/>
                </a:solidFill>
              </a:rPr>
              <a:t>Dispatching SUBI Instruction</a:t>
            </a:r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0B881A81-21A9-463F-BD61-46512611203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244408" y="4509120"/>
            <a:ext cx="576064" cy="0"/>
          </a:xfrm>
          <a:prstGeom prst="line">
            <a:avLst/>
          </a:prstGeom>
          <a:noFill/>
          <a:ln w="57240" cap="sq">
            <a:solidFill>
              <a:srgbClr val="5B9BD5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Box 1">
            <a:extLst>
              <a:ext uri="{FF2B5EF4-FFF2-40B4-BE49-F238E27FC236}">
                <a16:creationId xmlns:a16="http://schemas.microsoft.com/office/drawing/2014/main" id="{4D7B81D4-6511-4ED3-AF65-4BE35AFCA2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08743"/>
            <a:ext cx="73025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循环实例：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4</a:t>
            </a:r>
            <a:endParaRPr lang="en-US" altLang="zh-CN" sz="3600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44CE90B-0E19-49F6-2F9F-F91919AA7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4A079C5-BA85-43E9-A537-E95B7AB92486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A746849-54FC-9613-E711-D3AED4095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E8C916-0719-ED62-62BE-001D9F941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33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3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3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2450" name="Object 1">
            <a:extLst>
              <a:ext uri="{FF2B5EF4-FFF2-40B4-BE49-F238E27FC236}">
                <a16:creationId xmlns:a16="http://schemas.microsoft.com/office/drawing/2014/main" id="{66C8B88F-63ED-4EF4-8397-41F18485BC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838200"/>
          <a:ext cx="8013700" cy="508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896680" imgH="5820840" progId="">
                  <p:embed/>
                </p:oleObj>
              </mc:Choice>
              <mc:Fallback>
                <p:oleObj r:id="rId3" imgW="8896680" imgH="5820840" progId="">
                  <p:embed/>
                  <p:pic>
                    <p:nvPicPr>
                      <p:cNvPr id="232450" name="Object 1">
                        <a:extLst>
                          <a:ext uri="{FF2B5EF4-FFF2-40B4-BE49-F238E27FC236}">
                            <a16:creationId xmlns:a16="http://schemas.microsoft.com/office/drawing/2014/main" id="{66C8B88F-63ED-4EF4-8397-41F18485BC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838200"/>
                        <a:ext cx="8013700" cy="508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691" name="Text Box 3">
            <a:extLst>
              <a:ext uri="{FF2B5EF4-FFF2-40B4-BE49-F238E27FC236}">
                <a16:creationId xmlns:a16="http://schemas.microsoft.com/office/drawing/2014/main" id="{D112833F-313F-4E19-9DA6-35F3477F33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211888"/>
            <a:ext cx="803275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360" tIns="44280" rIns="90360" bIns="44280"/>
          <a:lstStyle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5B9BD5"/>
              </a:buClr>
            </a:pPr>
            <a:r>
              <a:rPr lang="en-US" altLang="zh-CN">
                <a:solidFill>
                  <a:srgbClr val="5B9BD5"/>
                </a:solidFill>
              </a:rPr>
              <a:t>And, BNEZ instruction</a:t>
            </a:r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D84306C0-889E-4544-B566-3889E962A3D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244408" y="4797152"/>
            <a:ext cx="576064" cy="0"/>
          </a:xfrm>
          <a:prstGeom prst="line">
            <a:avLst/>
          </a:prstGeom>
          <a:noFill/>
          <a:ln w="57240" cap="sq">
            <a:solidFill>
              <a:srgbClr val="5B9BD5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Box 1">
            <a:extLst>
              <a:ext uri="{FF2B5EF4-FFF2-40B4-BE49-F238E27FC236}">
                <a16:creationId xmlns:a16="http://schemas.microsoft.com/office/drawing/2014/main" id="{84FC1344-D18C-44D1-9EB2-7A82C907FF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08743"/>
            <a:ext cx="73025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循环实例：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5</a:t>
            </a:r>
            <a:endParaRPr lang="en-US" altLang="zh-CN" sz="3600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5CDD8FEE-1BF5-4E4E-AAA3-FCA1A996B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648" y="5301208"/>
            <a:ext cx="457200" cy="620167"/>
          </a:xfrm>
          <a:prstGeom prst="roundRect">
            <a:avLst>
              <a:gd name="adj" fmla="val 16667"/>
            </a:avLst>
          </a:prstGeom>
          <a:noFill/>
          <a:ln w="57240" cap="sq">
            <a:solidFill>
              <a:srgbClr val="5B9BD5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876ECB6-8D4B-7860-CB44-4EFEAE08A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B7C0D8-D411-4865-9A22-22D96DF7D3AA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A784F0-63E3-68EB-DDE1-B21CBF1A2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6CD5D2-A927-CDFA-B205-A0CF604AD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34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4498" name="Object 1">
            <a:extLst>
              <a:ext uri="{FF2B5EF4-FFF2-40B4-BE49-F238E27FC236}">
                <a16:creationId xmlns:a16="http://schemas.microsoft.com/office/drawing/2014/main" id="{33BA5865-C1DB-41F4-8B2B-8D31244889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838200"/>
          <a:ext cx="8013700" cy="508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896680" imgH="5820840" progId="">
                  <p:embed/>
                </p:oleObj>
              </mc:Choice>
              <mc:Fallback>
                <p:oleObj r:id="rId3" imgW="8896680" imgH="5820840" progId="">
                  <p:embed/>
                  <p:pic>
                    <p:nvPicPr>
                      <p:cNvPr id="234498" name="Object 1">
                        <a:extLst>
                          <a:ext uri="{FF2B5EF4-FFF2-40B4-BE49-F238E27FC236}">
                            <a16:creationId xmlns:a16="http://schemas.microsoft.com/office/drawing/2014/main" id="{33BA5865-C1DB-41F4-8B2B-8D31244889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838200"/>
                        <a:ext cx="8013700" cy="508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15" name="Text Box 3">
            <a:extLst>
              <a:ext uri="{FF2B5EF4-FFF2-40B4-BE49-F238E27FC236}">
                <a16:creationId xmlns:a16="http://schemas.microsoft.com/office/drawing/2014/main" id="{E96C0D6A-D983-49BB-970A-4005BD8539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096000"/>
            <a:ext cx="803275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360" tIns="44280" rIns="90360" bIns="44280"/>
          <a:lstStyle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5B9BD5"/>
              </a:buClr>
            </a:pPr>
            <a:r>
              <a:rPr lang="en-US" altLang="zh-CN" dirty="0">
                <a:solidFill>
                  <a:srgbClr val="5B9BD5"/>
                </a:solidFill>
              </a:rPr>
              <a:t>Notice that F0 never sees Load from location 80</a:t>
            </a:r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02913651-465E-4CC3-91DE-520006D6BA9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244408" y="3789040"/>
            <a:ext cx="576064" cy="0"/>
          </a:xfrm>
          <a:prstGeom prst="line">
            <a:avLst/>
          </a:prstGeom>
          <a:noFill/>
          <a:ln w="57240" cap="sq">
            <a:solidFill>
              <a:srgbClr val="5B9BD5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Box 1">
            <a:extLst>
              <a:ext uri="{FF2B5EF4-FFF2-40B4-BE49-F238E27FC236}">
                <a16:creationId xmlns:a16="http://schemas.microsoft.com/office/drawing/2014/main" id="{058758EF-6FEE-48A2-9326-994F4810A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08743"/>
            <a:ext cx="73025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循环实例：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6</a:t>
            </a:r>
            <a:endParaRPr lang="en-US" altLang="zh-CN" sz="3600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68D0577-1B24-2267-B571-F18795A80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4446718-FF36-4E3F-8802-D56DE8446AE1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7B09460-FD58-7449-7E98-7E170FBA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A1E98C-5587-1813-46C6-ED7699329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35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5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5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6546" name="Object 1">
            <a:extLst>
              <a:ext uri="{FF2B5EF4-FFF2-40B4-BE49-F238E27FC236}">
                <a16:creationId xmlns:a16="http://schemas.microsoft.com/office/drawing/2014/main" id="{083B54AD-D112-4F4A-BFCE-A22C091E08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838200"/>
          <a:ext cx="8013700" cy="508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896680" imgH="5820840" progId="">
                  <p:embed/>
                </p:oleObj>
              </mc:Choice>
              <mc:Fallback>
                <p:oleObj r:id="rId3" imgW="8896680" imgH="5820840" progId="">
                  <p:embed/>
                  <p:pic>
                    <p:nvPicPr>
                      <p:cNvPr id="236546" name="Object 1">
                        <a:extLst>
                          <a:ext uri="{FF2B5EF4-FFF2-40B4-BE49-F238E27FC236}">
                            <a16:creationId xmlns:a16="http://schemas.microsoft.com/office/drawing/2014/main" id="{083B54AD-D112-4F4A-BFCE-A22C091E08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838200"/>
                        <a:ext cx="8013700" cy="508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39" name="Text Box 3">
            <a:extLst>
              <a:ext uri="{FF2B5EF4-FFF2-40B4-BE49-F238E27FC236}">
                <a16:creationId xmlns:a16="http://schemas.microsoft.com/office/drawing/2014/main" id="{86349FEB-4DE2-4DA1-B7F8-1AD1975BB1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916" y="6039485"/>
            <a:ext cx="822960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360" tIns="44280" rIns="90360" bIns="44280"/>
          <a:lstStyle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5B9BD5"/>
              </a:buClr>
            </a:pPr>
            <a:r>
              <a:rPr lang="en-US" altLang="zh-CN" dirty="0">
                <a:solidFill>
                  <a:srgbClr val="5B9BD5"/>
                </a:solidFill>
              </a:rPr>
              <a:t>Register file completely detached from iteration 1</a:t>
            </a:r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78080EEB-07FB-4DC2-8961-83B58B63823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244408" y="4005064"/>
            <a:ext cx="576064" cy="0"/>
          </a:xfrm>
          <a:prstGeom prst="line">
            <a:avLst/>
          </a:prstGeom>
          <a:noFill/>
          <a:ln w="57240" cap="sq">
            <a:solidFill>
              <a:srgbClr val="5B9BD5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Box 1">
            <a:extLst>
              <a:ext uri="{FF2B5EF4-FFF2-40B4-BE49-F238E27FC236}">
                <a16:creationId xmlns:a16="http://schemas.microsoft.com/office/drawing/2014/main" id="{C2D4FC3A-2B36-4B48-8825-FCEBB5ADB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08743"/>
            <a:ext cx="73025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循环实例：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7</a:t>
            </a:r>
            <a:endParaRPr lang="en-US" altLang="zh-CN" sz="3600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969F57F-5B9C-FA5A-7D9C-7FCE68010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355709C-24F0-4D15-BB4A-0F6DBA4E5545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883A5B9-EA5C-FEBF-C62E-AC4DA8A14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E2B8E0-7886-E3F8-3366-89C332D5A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36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6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6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8594" name="Object 1">
            <a:extLst>
              <a:ext uri="{FF2B5EF4-FFF2-40B4-BE49-F238E27FC236}">
                <a16:creationId xmlns:a16="http://schemas.microsoft.com/office/drawing/2014/main" id="{DE51DB7E-399D-4EB6-9139-DB8F587D57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838200"/>
          <a:ext cx="8013700" cy="508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896680" imgH="5820840" progId="">
                  <p:embed/>
                </p:oleObj>
              </mc:Choice>
              <mc:Fallback>
                <p:oleObj r:id="rId3" imgW="8896680" imgH="5820840" progId="">
                  <p:embed/>
                  <p:pic>
                    <p:nvPicPr>
                      <p:cNvPr id="238594" name="Object 1">
                        <a:extLst>
                          <a:ext uri="{FF2B5EF4-FFF2-40B4-BE49-F238E27FC236}">
                            <a16:creationId xmlns:a16="http://schemas.microsoft.com/office/drawing/2014/main" id="{DE51DB7E-399D-4EB6-9139-DB8F587D57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838200"/>
                        <a:ext cx="8013700" cy="508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763" name="Text Box 3">
            <a:extLst>
              <a:ext uri="{FF2B5EF4-FFF2-40B4-BE49-F238E27FC236}">
                <a16:creationId xmlns:a16="http://schemas.microsoft.com/office/drawing/2014/main" id="{0EC82801-DC41-4029-8D6B-9547F803CD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080844"/>
            <a:ext cx="822960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360" tIns="44280" rIns="90360" bIns="44280"/>
          <a:lstStyle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buClr>
                <a:srgbClr val="5B9BD5"/>
              </a:buClr>
            </a:pPr>
            <a:r>
              <a:rPr lang="en-US" altLang="zh-CN" dirty="0">
                <a:solidFill>
                  <a:srgbClr val="5B9BD5"/>
                </a:solidFill>
              </a:rPr>
              <a:t>First and Second iteration completely overlapped</a:t>
            </a:r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5AC6E654-8165-48EE-BB4D-4DDEED77E03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244408" y="4221088"/>
            <a:ext cx="576064" cy="0"/>
          </a:xfrm>
          <a:prstGeom prst="line">
            <a:avLst/>
          </a:prstGeom>
          <a:noFill/>
          <a:ln w="57240" cap="sq">
            <a:solidFill>
              <a:srgbClr val="5B9BD5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Box 1">
            <a:extLst>
              <a:ext uri="{FF2B5EF4-FFF2-40B4-BE49-F238E27FC236}">
                <a16:creationId xmlns:a16="http://schemas.microsoft.com/office/drawing/2014/main" id="{525D195E-F0B2-426C-ADE0-06D7E6A3EB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08743"/>
            <a:ext cx="73025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循环实例：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8</a:t>
            </a:r>
            <a:endParaRPr lang="en-US" altLang="zh-CN" sz="3600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D499F3E-ABFD-8B43-347B-D632D6E2F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4A8553-1C8F-44B0-8628-D85F19AC6D34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59B870-D34E-3715-35AF-FCD5DC35D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FE34C9-7182-F76D-C5D5-B29BABCFF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37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2690" name="Object 1">
            <a:extLst>
              <a:ext uri="{FF2B5EF4-FFF2-40B4-BE49-F238E27FC236}">
                <a16:creationId xmlns:a16="http://schemas.microsoft.com/office/drawing/2014/main" id="{E9178166-AAAE-4C1C-8E63-AC28AFBA22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838200"/>
          <a:ext cx="8013700" cy="508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924863" imgH="5848343" progId="">
                  <p:embed/>
                </p:oleObj>
              </mc:Choice>
              <mc:Fallback>
                <p:oleObj r:id="rId3" imgW="8924863" imgH="5848343" progId="">
                  <p:embed/>
                  <p:pic>
                    <p:nvPicPr>
                      <p:cNvPr id="242690" name="Object 1">
                        <a:extLst>
                          <a:ext uri="{FF2B5EF4-FFF2-40B4-BE49-F238E27FC236}">
                            <a16:creationId xmlns:a16="http://schemas.microsoft.com/office/drawing/2014/main" id="{E9178166-AAAE-4C1C-8E63-AC28AFBA22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838200"/>
                        <a:ext cx="8013700" cy="508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11" name="Text Box 3">
            <a:extLst>
              <a:ext uri="{FF2B5EF4-FFF2-40B4-BE49-F238E27FC236}">
                <a16:creationId xmlns:a16="http://schemas.microsoft.com/office/drawing/2014/main" id="{F0D6A1E9-7784-4354-8978-284E126B5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096000"/>
            <a:ext cx="803275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360" tIns="44280" rIns="90360" bIns="44280"/>
          <a:lstStyle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50000"/>
              </a:lnSpc>
              <a:buClr>
                <a:srgbClr val="5B9BD5"/>
              </a:buClr>
            </a:pPr>
            <a:r>
              <a:rPr lang="en-US" altLang="zh-CN" sz="2400" dirty="0">
                <a:solidFill>
                  <a:srgbClr val="5B9BD5"/>
                </a:solidFill>
              </a:rPr>
              <a:t>Load1 completing: who is waiting?</a:t>
            </a:r>
          </a:p>
          <a:p>
            <a:pPr eaLnBrk="1" hangingPunct="1">
              <a:lnSpc>
                <a:spcPct val="50000"/>
              </a:lnSpc>
              <a:buClr>
                <a:srgbClr val="5B9BD5"/>
              </a:buClr>
            </a:pPr>
            <a:r>
              <a:rPr lang="en-US" altLang="zh-CN" sz="2400" dirty="0">
                <a:solidFill>
                  <a:srgbClr val="5B9BD5"/>
                </a:solidFill>
              </a:rPr>
              <a:t>Note: Dispatching SUBI</a:t>
            </a:r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463499B4-53D8-4D9A-B990-74E67574D11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244408" y="4509120"/>
            <a:ext cx="576064" cy="0"/>
          </a:xfrm>
          <a:prstGeom prst="line">
            <a:avLst/>
          </a:prstGeom>
          <a:noFill/>
          <a:ln w="57240" cap="sq">
            <a:solidFill>
              <a:srgbClr val="5B9BD5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Box 1">
            <a:extLst>
              <a:ext uri="{FF2B5EF4-FFF2-40B4-BE49-F238E27FC236}">
                <a16:creationId xmlns:a16="http://schemas.microsoft.com/office/drawing/2014/main" id="{94F6B51D-ACD4-4BD8-AE82-9B5C49BEBF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08743"/>
            <a:ext cx="73025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循环实例：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9</a:t>
            </a:r>
            <a:endParaRPr lang="en-US" altLang="zh-CN" sz="3600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322480A-98D7-1CB7-0DE5-648C2E485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7F71CD-169E-4327-816F-3290B0E6DE68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892A48B-E03D-A3F8-CD0F-83A6D16F7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E5AD0A-CAA9-1C23-0B1E-E2A375FB0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38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9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9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9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9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4738" name="Object 1">
            <a:extLst>
              <a:ext uri="{FF2B5EF4-FFF2-40B4-BE49-F238E27FC236}">
                <a16:creationId xmlns:a16="http://schemas.microsoft.com/office/drawing/2014/main" id="{AB65EA74-3A6D-4E04-9C76-FEBCE200A0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838200"/>
          <a:ext cx="8013700" cy="508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896680" imgH="5820840" progId="">
                  <p:embed/>
                </p:oleObj>
              </mc:Choice>
              <mc:Fallback>
                <p:oleObj r:id="rId3" imgW="8896680" imgH="5820840" progId="">
                  <p:embed/>
                  <p:pic>
                    <p:nvPicPr>
                      <p:cNvPr id="244738" name="Object 1">
                        <a:extLst>
                          <a:ext uri="{FF2B5EF4-FFF2-40B4-BE49-F238E27FC236}">
                            <a16:creationId xmlns:a16="http://schemas.microsoft.com/office/drawing/2014/main" id="{AB65EA74-3A6D-4E04-9C76-FEBCE200A0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838200"/>
                        <a:ext cx="8013700" cy="508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5" name="Text Box 3">
            <a:extLst>
              <a:ext uri="{FF2B5EF4-FFF2-40B4-BE49-F238E27FC236}">
                <a16:creationId xmlns:a16="http://schemas.microsoft.com/office/drawing/2014/main" id="{012296C3-E293-4FD7-9020-A62F02B1E8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096000"/>
            <a:ext cx="803275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360" tIns="44280" rIns="90360" bIns="44280"/>
          <a:lstStyle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ts val="638"/>
              </a:spcBef>
              <a:buClr>
                <a:srgbClr val="5B9BD5"/>
              </a:buClr>
            </a:pPr>
            <a:r>
              <a:rPr lang="en-US" altLang="zh-CN" sz="2400" dirty="0">
                <a:solidFill>
                  <a:srgbClr val="5B9BD5"/>
                </a:solidFill>
              </a:rPr>
              <a:t>Load2 completing: who is waiting?</a:t>
            </a:r>
          </a:p>
          <a:p>
            <a:pPr eaLnBrk="1" hangingPunct="1">
              <a:lnSpc>
                <a:spcPct val="50000"/>
              </a:lnSpc>
              <a:spcBef>
                <a:spcPts val="638"/>
              </a:spcBef>
              <a:buClr>
                <a:srgbClr val="5B9BD5"/>
              </a:buClr>
            </a:pPr>
            <a:r>
              <a:rPr lang="en-US" altLang="zh-CN" sz="2400" dirty="0">
                <a:solidFill>
                  <a:srgbClr val="5B9BD5"/>
                </a:solidFill>
              </a:rPr>
              <a:t>Note: Dispatching BNEZ</a:t>
            </a:r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A8622285-2C6F-4BAF-9B95-FEEEA883228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244408" y="4797152"/>
            <a:ext cx="576064" cy="0"/>
          </a:xfrm>
          <a:prstGeom prst="line">
            <a:avLst/>
          </a:prstGeom>
          <a:noFill/>
          <a:ln w="57240" cap="sq">
            <a:solidFill>
              <a:srgbClr val="5B9BD5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Box 1">
            <a:extLst>
              <a:ext uri="{FF2B5EF4-FFF2-40B4-BE49-F238E27FC236}">
                <a16:creationId xmlns:a16="http://schemas.microsoft.com/office/drawing/2014/main" id="{F8BC4E42-BCFE-4085-B43B-E3DD61EF2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08743"/>
            <a:ext cx="73025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循环实例：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10</a:t>
            </a:r>
            <a:endParaRPr lang="en-US" altLang="zh-CN" sz="3600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FACD075B-E4D6-4D1B-9D14-B39F209D4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648" y="5301208"/>
            <a:ext cx="457200" cy="620167"/>
          </a:xfrm>
          <a:prstGeom prst="roundRect">
            <a:avLst>
              <a:gd name="adj" fmla="val 16667"/>
            </a:avLst>
          </a:prstGeom>
          <a:noFill/>
          <a:ln w="57240" cap="sq">
            <a:solidFill>
              <a:srgbClr val="5B9BD5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D6F5A68-7A90-B06A-EE88-2F1A62F78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2D5BB5-4A4F-4C9B-AA91-291418A69D6A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38427D-039A-DA72-D54A-9ADF7E257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209C0B-4C05-3674-7348-24B8EB464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39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6786" name="Object 1">
            <a:extLst>
              <a:ext uri="{FF2B5EF4-FFF2-40B4-BE49-F238E27FC236}">
                <a16:creationId xmlns:a16="http://schemas.microsoft.com/office/drawing/2014/main" id="{3E849435-FD07-4A66-9239-E6E549B6C4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838200"/>
          <a:ext cx="8013700" cy="508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896680" imgH="5820840" progId="">
                  <p:embed/>
                </p:oleObj>
              </mc:Choice>
              <mc:Fallback>
                <p:oleObj r:id="rId3" imgW="8896680" imgH="5820840" progId="">
                  <p:embed/>
                  <p:pic>
                    <p:nvPicPr>
                      <p:cNvPr id="246786" name="Object 1">
                        <a:extLst>
                          <a:ext uri="{FF2B5EF4-FFF2-40B4-BE49-F238E27FC236}">
                            <a16:creationId xmlns:a16="http://schemas.microsoft.com/office/drawing/2014/main" id="{3E849435-FD07-4A66-9239-E6E549B6C4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838200"/>
                        <a:ext cx="8013700" cy="508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59" name="Text Box 3">
            <a:extLst>
              <a:ext uri="{FF2B5EF4-FFF2-40B4-BE49-F238E27FC236}">
                <a16:creationId xmlns:a16="http://schemas.microsoft.com/office/drawing/2014/main" id="{AC16B0BD-0F1A-4FFC-953C-5FEB0735CF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6127750"/>
            <a:ext cx="803275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360" tIns="44280" rIns="90360" bIns="44280"/>
          <a:lstStyle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buClr>
                <a:srgbClr val="5B9BD5"/>
              </a:buClr>
            </a:pPr>
            <a:r>
              <a:rPr lang="en-US" altLang="zh-CN">
                <a:solidFill>
                  <a:srgbClr val="5B9BD5"/>
                </a:solidFill>
              </a:rPr>
              <a:t>Next load in sequence</a:t>
            </a:r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7BA29512-ED62-42DF-B768-C9B9CE3279E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86043" y="3789040"/>
            <a:ext cx="576064" cy="0"/>
          </a:xfrm>
          <a:prstGeom prst="line">
            <a:avLst/>
          </a:prstGeom>
          <a:noFill/>
          <a:ln w="57240" cap="sq">
            <a:solidFill>
              <a:srgbClr val="5B9BD5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Box 1">
            <a:extLst>
              <a:ext uri="{FF2B5EF4-FFF2-40B4-BE49-F238E27FC236}">
                <a16:creationId xmlns:a16="http://schemas.microsoft.com/office/drawing/2014/main" id="{3004428D-DA5C-46F6-A95F-7291C69D9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08743"/>
            <a:ext cx="73025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循环实例：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11</a:t>
            </a:r>
            <a:endParaRPr lang="en-US" altLang="zh-CN" sz="3600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8CD58B1-BA34-9AC8-0044-E2C910058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263E37F-7B03-4FB1-8D85-750B75D721CC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ED26B2F-9603-9F08-4057-788F5D527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B65F5F-ECFB-CBE9-B5F8-5A392CACC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40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8834" name="Object 1">
            <a:extLst>
              <a:ext uri="{FF2B5EF4-FFF2-40B4-BE49-F238E27FC236}">
                <a16:creationId xmlns:a16="http://schemas.microsoft.com/office/drawing/2014/main" id="{3298F4B0-DA2B-4AFC-A08C-57671B8121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838200"/>
          <a:ext cx="8013700" cy="508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896680" imgH="5820840" progId="">
                  <p:embed/>
                </p:oleObj>
              </mc:Choice>
              <mc:Fallback>
                <p:oleObj r:id="rId3" imgW="8896680" imgH="5820840" progId="">
                  <p:embed/>
                  <p:pic>
                    <p:nvPicPr>
                      <p:cNvPr id="248834" name="Object 1">
                        <a:extLst>
                          <a:ext uri="{FF2B5EF4-FFF2-40B4-BE49-F238E27FC236}">
                            <a16:creationId xmlns:a16="http://schemas.microsoft.com/office/drawing/2014/main" id="{3298F4B0-DA2B-4AFC-A08C-57671B8121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838200"/>
                        <a:ext cx="8013700" cy="508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83" name="Text Box 3">
            <a:extLst>
              <a:ext uri="{FF2B5EF4-FFF2-40B4-BE49-F238E27FC236}">
                <a16:creationId xmlns:a16="http://schemas.microsoft.com/office/drawing/2014/main" id="{E3123F50-071F-464A-A026-72EC73817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6127750"/>
            <a:ext cx="803275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360" tIns="44280" rIns="90360" bIns="44280"/>
          <a:lstStyle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buClr>
                <a:srgbClr val="5B9BD5"/>
              </a:buClr>
            </a:pPr>
            <a:r>
              <a:rPr lang="en-US" altLang="zh-CN">
                <a:solidFill>
                  <a:srgbClr val="5B9BD5"/>
                </a:solidFill>
              </a:rPr>
              <a:t>Why not issue third multiply?</a:t>
            </a:r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DE4F4210-2E73-4869-98E5-419178AF07A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235159" y="3717032"/>
            <a:ext cx="576064" cy="0"/>
          </a:xfrm>
          <a:prstGeom prst="line">
            <a:avLst/>
          </a:prstGeom>
          <a:noFill/>
          <a:ln w="57240" cap="sq">
            <a:solidFill>
              <a:srgbClr val="5B9BD5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Box 1">
            <a:extLst>
              <a:ext uri="{FF2B5EF4-FFF2-40B4-BE49-F238E27FC236}">
                <a16:creationId xmlns:a16="http://schemas.microsoft.com/office/drawing/2014/main" id="{22E897FA-5924-43FF-B528-74A8FBEB1D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08743"/>
            <a:ext cx="73025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循环实例：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12</a:t>
            </a:r>
            <a:endParaRPr lang="en-US" altLang="zh-CN" sz="3600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4FEBC4B-4BA6-7830-6138-2BF6408BC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C5D3BCA-49A3-43BF-B6C4-8697ECE87EB2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89101A5-CB09-FE91-912F-58CF5C086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44DDBE-7CCB-D9BE-2C3E-E9E735CFA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41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0882" name="Object 1">
            <a:extLst>
              <a:ext uri="{FF2B5EF4-FFF2-40B4-BE49-F238E27FC236}">
                <a16:creationId xmlns:a16="http://schemas.microsoft.com/office/drawing/2014/main" id="{F624D641-805E-45C9-B085-58752204E7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838200"/>
          <a:ext cx="8013700" cy="508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896680" imgH="5820840" progId="">
                  <p:embed/>
                </p:oleObj>
              </mc:Choice>
              <mc:Fallback>
                <p:oleObj r:id="rId3" imgW="8896680" imgH="5820840" progId="">
                  <p:embed/>
                  <p:pic>
                    <p:nvPicPr>
                      <p:cNvPr id="250882" name="Object 1">
                        <a:extLst>
                          <a:ext uri="{FF2B5EF4-FFF2-40B4-BE49-F238E27FC236}">
                            <a16:creationId xmlns:a16="http://schemas.microsoft.com/office/drawing/2014/main" id="{F624D641-805E-45C9-B085-58752204E7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838200"/>
                        <a:ext cx="8013700" cy="508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Line 5">
            <a:extLst>
              <a:ext uri="{FF2B5EF4-FFF2-40B4-BE49-F238E27FC236}">
                <a16:creationId xmlns:a16="http://schemas.microsoft.com/office/drawing/2014/main" id="{F39C50E1-23E6-437C-AD31-57EE61FFEEB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72400" y="3717032"/>
            <a:ext cx="576064" cy="0"/>
          </a:xfrm>
          <a:prstGeom prst="line">
            <a:avLst/>
          </a:prstGeom>
          <a:noFill/>
          <a:ln w="57240" cap="sq">
            <a:solidFill>
              <a:srgbClr val="5B9BD5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Box 1">
            <a:extLst>
              <a:ext uri="{FF2B5EF4-FFF2-40B4-BE49-F238E27FC236}">
                <a16:creationId xmlns:a16="http://schemas.microsoft.com/office/drawing/2014/main" id="{B8C5C75D-67C9-443B-BB22-7396E60331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08743"/>
            <a:ext cx="73025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循环实例：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13</a:t>
            </a:r>
            <a:endParaRPr lang="en-US" altLang="zh-CN" sz="3600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E42E78C-B8DF-2E86-E894-AB41FEA38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45DE834-4961-4609-A5A1-BF654CAC49AE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8F06BE9-B562-FABD-B964-FBC90E59C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5D3BE7-E06E-68B4-8077-7B2AC6AAE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42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2930" name="Object 1">
            <a:extLst>
              <a:ext uri="{FF2B5EF4-FFF2-40B4-BE49-F238E27FC236}">
                <a16:creationId xmlns:a16="http://schemas.microsoft.com/office/drawing/2014/main" id="{0D134CCA-E483-413B-B545-D183EE753E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838200"/>
          <a:ext cx="8013700" cy="508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896680" imgH="5820840" progId="">
                  <p:embed/>
                </p:oleObj>
              </mc:Choice>
              <mc:Fallback>
                <p:oleObj r:id="rId3" imgW="8896680" imgH="5820840" progId="">
                  <p:embed/>
                  <p:pic>
                    <p:nvPicPr>
                      <p:cNvPr id="252930" name="Object 1">
                        <a:extLst>
                          <a:ext uri="{FF2B5EF4-FFF2-40B4-BE49-F238E27FC236}">
                            <a16:creationId xmlns:a16="http://schemas.microsoft.com/office/drawing/2014/main" id="{0D134CCA-E483-413B-B545-D183EE753E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838200"/>
                        <a:ext cx="8013700" cy="508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31" name="Text Box 3">
            <a:extLst>
              <a:ext uri="{FF2B5EF4-FFF2-40B4-BE49-F238E27FC236}">
                <a16:creationId xmlns:a16="http://schemas.microsoft.com/office/drawing/2014/main" id="{B424631D-9E69-4E40-A896-1ECFB99D3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6127750"/>
            <a:ext cx="803275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360" tIns="44280" rIns="90360" bIns="44280"/>
          <a:lstStyle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buClr>
                <a:srgbClr val="5B9BD5"/>
              </a:buClr>
            </a:pPr>
            <a:r>
              <a:rPr lang="en-US" altLang="zh-CN">
                <a:solidFill>
                  <a:srgbClr val="5B9BD5"/>
                </a:solidFill>
              </a:rPr>
              <a:t>Mult1 completing.  Who is waiting?</a:t>
            </a:r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48D78247-7EB0-4CCE-9AB2-E4CAFE01B3B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86043" y="3789040"/>
            <a:ext cx="576064" cy="0"/>
          </a:xfrm>
          <a:prstGeom prst="line">
            <a:avLst/>
          </a:prstGeom>
          <a:noFill/>
          <a:ln w="57240" cap="sq">
            <a:solidFill>
              <a:srgbClr val="5B9BD5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Box 1">
            <a:extLst>
              <a:ext uri="{FF2B5EF4-FFF2-40B4-BE49-F238E27FC236}">
                <a16:creationId xmlns:a16="http://schemas.microsoft.com/office/drawing/2014/main" id="{CF597728-779A-4C1D-AA19-F502E3A9A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08743"/>
            <a:ext cx="73025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循环实例：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14</a:t>
            </a:r>
            <a:endParaRPr lang="en-US" altLang="zh-CN" sz="3600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40D81FD-1B01-6129-1CB3-D7395C468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F82B24F-3D6A-4EC8-9212-76C4C4B5DFC5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3AEC57-D0D1-B540-94B1-9B9CAD0B9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D80C2E-1F51-01CD-4ECB-D8619278D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43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Text Box 3">
            <a:extLst>
              <a:ext uri="{FF2B5EF4-FFF2-40B4-BE49-F238E27FC236}">
                <a16:creationId xmlns:a16="http://schemas.microsoft.com/office/drawing/2014/main" id="{117D6349-705E-42EF-864F-D06DAC22DC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6127750"/>
            <a:ext cx="803275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360" tIns="44280" rIns="90360" bIns="44280"/>
          <a:lstStyle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buClr>
                <a:srgbClr val="5B9BD5"/>
              </a:buClr>
            </a:pPr>
            <a:r>
              <a:rPr lang="en-US" altLang="zh-CN">
                <a:solidFill>
                  <a:srgbClr val="5B9BD5"/>
                </a:solidFill>
              </a:rPr>
              <a:t>Mult2 completing.  Who is waiting?</a:t>
            </a:r>
          </a:p>
        </p:txBody>
      </p:sp>
      <p:sp>
        <p:nvSpPr>
          <p:cNvPr id="9" name="Text Box 1">
            <a:extLst>
              <a:ext uri="{FF2B5EF4-FFF2-40B4-BE49-F238E27FC236}">
                <a16:creationId xmlns:a16="http://schemas.microsoft.com/office/drawing/2014/main" id="{9B3581DC-DB09-4C29-9481-18D02ECCF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08743"/>
            <a:ext cx="73025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循环实例：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15</a:t>
            </a:r>
            <a:endParaRPr lang="en-US" altLang="zh-CN" sz="3600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98AA080-5AFC-451E-8A3E-1B7DE4F1B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37" y="885825"/>
            <a:ext cx="8010525" cy="5086350"/>
          </a:xfrm>
          <a:prstGeom prst="rect">
            <a:avLst/>
          </a:prstGeom>
        </p:spPr>
      </p:pic>
      <p:sp>
        <p:nvSpPr>
          <p:cNvPr id="8" name="Line 5">
            <a:extLst>
              <a:ext uri="{FF2B5EF4-FFF2-40B4-BE49-F238E27FC236}">
                <a16:creationId xmlns:a16="http://schemas.microsoft.com/office/drawing/2014/main" id="{89CCDE56-6809-40CD-BB5A-C6CC56E0825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379144" y="3789040"/>
            <a:ext cx="576064" cy="0"/>
          </a:xfrm>
          <a:prstGeom prst="line">
            <a:avLst/>
          </a:prstGeom>
          <a:noFill/>
          <a:ln w="57240" cap="sq">
            <a:solidFill>
              <a:srgbClr val="5B9BD5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F1C031D-CD25-9F29-A118-20B2A9159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C2BCCE-8706-4C7D-8178-93C398FB6D44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8D0CF18-7C83-8C32-1367-694E99F0C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DD781D2-ACE9-25EF-B82F-5BCA106D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44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1">
            <a:extLst>
              <a:ext uri="{FF2B5EF4-FFF2-40B4-BE49-F238E27FC236}">
                <a16:creationId xmlns:a16="http://schemas.microsoft.com/office/drawing/2014/main" id="{BECE5DF5-4152-44E9-B881-1C611FF1A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08743"/>
            <a:ext cx="73025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循环实例：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16</a:t>
            </a:r>
            <a:endParaRPr lang="en-US" altLang="zh-CN" sz="3600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143B29B-7C5D-40A2-907A-F80C5AB71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37" y="885825"/>
            <a:ext cx="8010525" cy="5086350"/>
          </a:xfrm>
          <a:prstGeom prst="rect">
            <a:avLst/>
          </a:prstGeom>
        </p:spPr>
      </p:pic>
      <p:sp>
        <p:nvSpPr>
          <p:cNvPr id="7" name="Line 5">
            <a:extLst>
              <a:ext uri="{FF2B5EF4-FFF2-40B4-BE49-F238E27FC236}">
                <a16:creationId xmlns:a16="http://schemas.microsoft.com/office/drawing/2014/main" id="{379ACD32-1054-4576-8A26-C9510C359D7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388424" y="4077072"/>
            <a:ext cx="576064" cy="0"/>
          </a:xfrm>
          <a:prstGeom prst="line">
            <a:avLst/>
          </a:prstGeom>
          <a:noFill/>
          <a:ln w="57240" cap="sq">
            <a:solidFill>
              <a:srgbClr val="5B9BD5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F297F55-899F-740C-885D-64A6906F6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A94CA6-B07E-4713-81D1-96DAA7AB4EAF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18B5979-0225-1B3A-5CFB-5B6992209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35E0A92-D353-0FA4-2898-AD31502CC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45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1">
            <a:extLst>
              <a:ext uri="{FF2B5EF4-FFF2-40B4-BE49-F238E27FC236}">
                <a16:creationId xmlns:a16="http://schemas.microsoft.com/office/drawing/2014/main" id="{00019B3A-BF14-4A5B-BA96-55BADF9EB6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08743"/>
            <a:ext cx="73025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循环实例：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17</a:t>
            </a:r>
            <a:endParaRPr lang="en-US" altLang="zh-CN" sz="3600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4488115-7F7D-4A95-95EA-3721335F1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37" y="885825"/>
            <a:ext cx="8010525" cy="5086350"/>
          </a:xfrm>
          <a:prstGeom prst="rect">
            <a:avLst/>
          </a:prstGeom>
        </p:spPr>
      </p:pic>
      <p:sp>
        <p:nvSpPr>
          <p:cNvPr id="7" name="Line 5">
            <a:extLst>
              <a:ext uri="{FF2B5EF4-FFF2-40B4-BE49-F238E27FC236}">
                <a16:creationId xmlns:a16="http://schemas.microsoft.com/office/drawing/2014/main" id="{2A0F1E85-73A9-4674-AD39-640CE1DFC77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316416" y="4293096"/>
            <a:ext cx="576064" cy="0"/>
          </a:xfrm>
          <a:prstGeom prst="line">
            <a:avLst/>
          </a:prstGeom>
          <a:noFill/>
          <a:ln w="57240" cap="sq">
            <a:solidFill>
              <a:srgbClr val="5B9BD5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C89AEEC-6857-7EF3-147A-59B909C2E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BE1863C-28EA-4164-893C-23DEEE323B89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FA7F8D7-57E2-C631-1B0C-6738EBB40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B254289-94B1-CD71-B99A-1CF1ED80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46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1">
            <a:extLst>
              <a:ext uri="{FF2B5EF4-FFF2-40B4-BE49-F238E27FC236}">
                <a16:creationId xmlns:a16="http://schemas.microsoft.com/office/drawing/2014/main" id="{27A62AA7-7E7D-40F8-93D1-F3848C5BD5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88864"/>
            <a:ext cx="73025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循环实例：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18</a:t>
            </a:r>
            <a:endParaRPr lang="en-US" altLang="zh-CN" sz="3600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081CFD6-8FE1-4743-8D63-DA26E97C6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37" y="885825"/>
            <a:ext cx="8010525" cy="5086350"/>
          </a:xfrm>
          <a:prstGeom prst="rect">
            <a:avLst/>
          </a:prstGeom>
        </p:spPr>
      </p:pic>
      <p:sp>
        <p:nvSpPr>
          <p:cNvPr id="7" name="Line 5">
            <a:extLst>
              <a:ext uri="{FF2B5EF4-FFF2-40B4-BE49-F238E27FC236}">
                <a16:creationId xmlns:a16="http://schemas.microsoft.com/office/drawing/2014/main" id="{0BCFFCF0-0134-4013-B3E4-DA4EDDCE9DA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316416" y="4581128"/>
            <a:ext cx="576064" cy="0"/>
          </a:xfrm>
          <a:prstGeom prst="line">
            <a:avLst/>
          </a:prstGeom>
          <a:noFill/>
          <a:ln w="57240" cap="sq">
            <a:solidFill>
              <a:srgbClr val="5B9BD5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724C657-7E8B-0C66-E078-2A4E8A1F9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633374B-23E9-4725-8086-AA9CD5449712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44C53A1-3CD0-D745-DC14-96527E8A1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6875488-011B-8B7F-B7A2-FAAF9A6C1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47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1">
            <a:extLst>
              <a:ext uri="{FF2B5EF4-FFF2-40B4-BE49-F238E27FC236}">
                <a16:creationId xmlns:a16="http://schemas.microsoft.com/office/drawing/2014/main" id="{3C397488-7DFC-42B3-946D-702BB4F1B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08743"/>
            <a:ext cx="73025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循环实例：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19</a:t>
            </a:r>
            <a:endParaRPr lang="en-US" altLang="zh-CN" sz="3600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1A8A8C-3878-423B-BC8F-96E142198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5661248"/>
            <a:ext cx="247650" cy="219075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C7FE58C3-F4D9-4E54-8B7F-07166B6880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737" y="885825"/>
            <a:ext cx="8010525" cy="5086350"/>
          </a:xfrm>
          <a:prstGeom prst="rect">
            <a:avLst/>
          </a:prstGeom>
        </p:spPr>
      </p:pic>
      <p:sp>
        <p:nvSpPr>
          <p:cNvPr id="7" name="Line 5">
            <a:extLst>
              <a:ext uri="{FF2B5EF4-FFF2-40B4-BE49-F238E27FC236}">
                <a16:creationId xmlns:a16="http://schemas.microsoft.com/office/drawing/2014/main" id="{09BA9ED9-471F-466A-B09C-926D4884BD6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244408" y="4797152"/>
            <a:ext cx="576064" cy="0"/>
          </a:xfrm>
          <a:prstGeom prst="line">
            <a:avLst/>
          </a:prstGeom>
          <a:noFill/>
          <a:ln w="57240" cap="sq">
            <a:solidFill>
              <a:srgbClr val="5B9BD5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043BB3F-77E7-F32E-8C0C-3669A58A0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DB25478-8A90-4ECC-B569-3BF13DF2F859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A861BBF-F873-92DF-013E-33F106180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9C3237-4860-BD4A-AFEF-A93B5EEE4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48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1">
            <a:extLst>
              <a:ext uri="{FF2B5EF4-FFF2-40B4-BE49-F238E27FC236}">
                <a16:creationId xmlns:a16="http://schemas.microsoft.com/office/drawing/2014/main" id="{42DA68D0-98EF-4777-BCB3-7C0AE83E3B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08743"/>
            <a:ext cx="73025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001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Calibri" panose="020F0502020204030204" pitchFamily="34" charset="0"/>
              <a:buChar char="−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ü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Times New Roman" panose="02020603050405020304" pitchFamily="18" charset="0"/>
              <a:buNone/>
            </a:pPr>
            <a:r>
              <a:rPr lang="en-US" altLang="zh-CN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循环实例：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20</a:t>
            </a:r>
            <a:endParaRPr lang="en-US" altLang="zh-CN" sz="3600" dirty="0">
              <a:solidFill>
                <a:srgbClr val="FF0000"/>
              </a:solidFill>
              <a:latin typeface="Calibri Light" panose="020F030202020403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B0FF192-7A3C-428A-984B-F351CD443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6" y="841970"/>
            <a:ext cx="8648700" cy="5467350"/>
          </a:xfrm>
          <a:prstGeom prst="rect">
            <a:avLst/>
          </a:prstGeom>
        </p:spPr>
      </p:pic>
      <p:sp>
        <p:nvSpPr>
          <p:cNvPr id="7" name="Line 5">
            <a:extLst>
              <a:ext uri="{FF2B5EF4-FFF2-40B4-BE49-F238E27FC236}">
                <a16:creationId xmlns:a16="http://schemas.microsoft.com/office/drawing/2014/main" id="{731C328A-65B0-48CD-872E-E82034EE767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468172" y="3933056"/>
            <a:ext cx="576064" cy="0"/>
          </a:xfrm>
          <a:prstGeom prst="line">
            <a:avLst/>
          </a:prstGeom>
          <a:noFill/>
          <a:ln w="57240" cap="sq">
            <a:solidFill>
              <a:srgbClr val="5B9BD5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EF6335B-A6CC-DA92-21AE-616E9EB0B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CEB037C-DF68-4C15-964D-2340AEB24921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B8C96F4-729C-E785-3967-766F4BC92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6EF845-A945-13EE-48A1-0C14C44A5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B7EA61-351E-4105-9AD9-76D38C6E9934}" type="slidenum">
              <a:rPr lang="zh-CN" altLang="en-US" smtClean="0"/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50423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标题 30"/>
          <p:cNvSpPr>
            <a:spLocks noGrp="1"/>
          </p:cNvSpPr>
          <p:nvPr>
            <p:ph type="title" idx="4294967295"/>
          </p:nvPr>
        </p:nvSpPr>
        <p:spPr>
          <a:xfrm>
            <a:off x="457200" y="188640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算法的优点</a:t>
            </a:r>
          </a:p>
        </p:txBody>
      </p:sp>
      <p:sp>
        <p:nvSpPr>
          <p:cNvPr id="83971" name="Rectangle 7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40768"/>
            <a:ext cx="8229600" cy="4525963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分布式硬件冲突检测。</a:t>
            </a:r>
            <a:endParaRPr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利用寄存器换名，彻底消除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WAW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和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WAR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这两种名相关</a:t>
            </a:r>
            <a:endParaRPr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如果多个保留站等待同一个操作数，当操作数在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CDB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上广播时，他们可以同时获得所需的数据</a:t>
            </a:r>
            <a:endParaRPr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对于存储器访问，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动态存储器地址判别技术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可解决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RAW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冲突（取操作数时判断）、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WAR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和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WAW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冲突（存操作数时判断）。</a:t>
            </a:r>
            <a:endParaRPr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能够达到很高的性能。</a:t>
            </a:r>
            <a:endParaRPr lang="zh-CN" altLang="en-US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endParaRPr lang="zh-CN" altLang="en-US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1F6627-46B1-FC6F-75E7-08B81892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F68D7A-3977-44C3-B766-057A18D30784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91DCA69-3EA2-57F8-8A42-F66B0831E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929E0E-6E3F-CBD6-6B4E-DFFFF1CF4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AE633C-541A-4E3F-A22A-3C4C63E8EF5F}" type="slidenum">
              <a:rPr lang="zh-CN" altLang="en-US" smtClean="0"/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046236"/>
      </p:ext>
    </p:extLst>
  </p:cSld>
  <p:clrMapOvr>
    <a:masterClrMapping/>
  </p:clrMapOvr>
  <p:transition spd="slow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9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507413" cy="4525963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高复杂性：需要大量硬件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存在瓶颈：单个公共数据总线（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CDB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）引发竞争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额外的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CDB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：在每个保留站上需要为每条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CDB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设置重复的硬件接口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为了保证正确的异常行为，对指令的执行有一个限制：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一旦有一条分支指令还没有执行完，其后的指令是不允许进入执行段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1" hangingPunct="1">
              <a:buNone/>
            </a:pP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 eaLnBrk="1" hangingPunct="1">
              <a:buNone/>
            </a:pP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标题 30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Tomasulo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算法的缺点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ECB7AE7-AF17-1AEF-C8E7-E887A6BE6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069BEB-E534-498A-BBBA-45FD9E00A603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BE8638D-33E6-A40C-C2AB-6B675EBB9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E30FF9-E29C-9AC6-CCF7-AE0D89206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AE633C-541A-4E3F-A22A-3C4C63E8EF5F}" type="slidenum">
              <a:rPr lang="zh-CN" altLang="en-US" smtClean="0"/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5429004"/>
      </p:ext>
    </p:extLst>
  </p:cSld>
  <p:clrMapOvr>
    <a:masterClrMapping/>
  </p:clrMapOvr>
  <p:transition spd="slow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b="1" dirty="0">
                <a:latin typeface="+mj-ea"/>
              </a:rPr>
              <a:t>动态调度方法中的异常行为处理</a:t>
            </a:r>
          </a:p>
        </p:txBody>
      </p:sp>
      <p:sp>
        <p:nvSpPr>
          <p:cNvPr id="104451" name="Rectangle 9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40768"/>
            <a:ext cx="8507413" cy="4525963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指令乱序大大增加了异常处理的复杂度。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不精确异常（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Imprecise Exception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）：当指令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导致发生异常时，处理机的现场（状态）与严格按程序顺序执行不同。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精确异常（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Precise Exception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）：处理机现场跟严格按程序顺序执行时指令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的现场相同。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不精确异常产生的原因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：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702000"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流水线可能已经执行完按程序顺序是位于指令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之后的指令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02000"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流水线可能还没完成按程序顺序是指令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之前的指令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BBD6FB8-BD45-C52B-0DCB-0BDDCF805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BC97E31-2ADA-4E4F-A3E3-BFCECC5C2878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6D8DA5F-39D8-2863-8F1B-7EF8EF6A7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1B32C2-5FCB-F4D1-D87B-B3F2EA129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AE633C-541A-4E3F-A22A-3C4C63E8EF5F}" type="slidenum">
              <a:rPr lang="zh-CN" altLang="en-US" smtClean="0"/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4830362"/>
      </p:ext>
    </p:extLst>
  </p:cSld>
  <p:clrMapOvr>
    <a:masterClrMapping/>
  </p:clrMapOvr>
  <p:transition spd="slow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b="1" dirty="0">
                <a:latin typeface="+mj-ea"/>
              </a:rPr>
              <a:t>动态调度方法中的异常行为处理</a:t>
            </a:r>
          </a:p>
        </p:txBody>
      </p:sp>
      <p:sp>
        <p:nvSpPr>
          <p:cNvPr id="104451" name="Rectangle 9"/>
          <p:cNvSpPr>
            <a:spLocks noGrp="1" noChangeArrowheads="1"/>
          </p:cNvSpPr>
          <p:nvPr>
            <p:ph type="body" idx="4294967295"/>
          </p:nvPr>
        </p:nvSpPr>
        <p:spPr>
          <a:xfrm>
            <a:off x="971600" y="1484784"/>
            <a:ext cx="7272808" cy="4525963"/>
          </a:xfrm>
        </p:spPr>
        <p:txBody>
          <a:bodyPr/>
          <a:lstStyle/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例子：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ADD         R2, R3, R4</a:t>
            </a:r>
          </a:p>
          <a:p>
            <a:pPr marL="0" indent="0" eaLnBrk="1" hangingPunct="1"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LW	        R1, 0(R5)</a:t>
            </a:r>
          </a:p>
          <a:p>
            <a:pPr marL="0" indent="0" eaLnBrk="1" hangingPunct="1"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SUB          R7, R8, R9</a:t>
            </a:r>
          </a:p>
          <a:p>
            <a:pPr marL="0" indent="0" eaLnBrk="1" hangingPunct="1">
              <a:buNone/>
            </a:pP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指令、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LW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指令、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指令没有数据相关，可以乱序执行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指令在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LW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指令执行完之前，更改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R7</a:t>
            </a:r>
          </a:p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但是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LW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指令可能会引起存储器的异常（如访存缺页、访存越界等）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531761D-1BA5-E02B-5EC8-3D489BDD7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3F83A0E-61EF-44E3-B707-4DFBDEDF142B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387CA4F-41A6-0DB5-C620-0B988CF20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7631D1-9130-10EA-9DB5-2266D5BFD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AE633C-541A-4E3F-A22A-3C4C63E8EF5F}" type="slidenum">
              <a:rPr lang="zh-CN" altLang="en-US" smtClean="0"/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6439894"/>
      </p:ext>
    </p:extLst>
  </p:cSld>
  <p:clrMapOvr>
    <a:masterClrMapping/>
  </p:clrMapOvr>
  <p:transition spd="slow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525463" y="404664"/>
            <a:ext cx="7772400" cy="1470025"/>
          </a:xfrm>
        </p:spPr>
        <p:txBody>
          <a:bodyPr/>
          <a:lstStyle/>
          <a:p>
            <a:pPr eaLnBrk="1" hangingPunct="1"/>
            <a:r>
              <a:rPr lang="zh-CN" altLang="en-US" sz="4000" b="1" dirty="0"/>
              <a:t>第四章 指令级并行</a:t>
            </a:r>
          </a:p>
        </p:txBody>
      </p:sp>
      <p:sp>
        <p:nvSpPr>
          <p:cNvPr id="308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611188" y="2060575"/>
            <a:ext cx="7200900" cy="3744913"/>
          </a:xfrm>
        </p:spPr>
        <p:txBody>
          <a:bodyPr rtlCol="0">
            <a:normAutofit/>
          </a:bodyPr>
          <a:lstStyle/>
          <a:p>
            <a:pPr marL="471488" lvl="1" algn="l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4.1	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指令级并行的概念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471488" lvl="1" algn="l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471488" lvl="1" algn="l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4.2	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指令的动态调度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471488" lvl="1" algn="l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471488" lvl="1" algn="l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zh-CN" b="1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4.3	</a:t>
            </a:r>
            <a:r>
              <a:rPr lang="zh-CN" altLang="en-US" b="1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控制相关的动态解决技术</a:t>
            </a:r>
            <a:endParaRPr lang="en-US" altLang="zh-CN" b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471488" lvl="1" algn="l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471488" lvl="1" algn="l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4.4	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多指令流出技术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1258888" y="3068638"/>
            <a:ext cx="70104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0000CC"/>
              </a:buClr>
              <a:buFont typeface="Wingdings" pitchFamily="2" charset="2"/>
              <a:buNone/>
            </a:pPr>
            <a:endParaRPr lang="en-US" altLang="zh-CN" sz="2400" b="1"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67A46DD-4353-9072-8AFD-B07A784DE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37C7E83-BA90-454A-AA54-DDC7A1CC97FE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BE32B9C-6D77-DA19-5495-32AC082A0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CA65A2-EF88-0A7C-EBB3-B16758C17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AE633C-541A-4E3F-A22A-3C4C63E8EF5F}" type="slidenum">
              <a:rPr lang="zh-CN" altLang="en-US" smtClean="0"/>
              <a:t>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51830"/>
      </p:ext>
    </p:extLst>
  </p:cSld>
  <p:clrMapOvr>
    <a:masterClrMapping/>
  </p:clrMapOvr>
  <p:transition spd="slow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type="title"/>
          </p:nvPr>
        </p:nvSpPr>
        <p:spPr>
          <a:xfrm>
            <a:off x="468313" y="414338"/>
            <a:ext cx="8229600" cy="1143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4.3  </a:t>
            </a:r>
            <a:r>
              <a:rPr lang="zh-C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控制相关的动态解决技术</a:t>
            </a:r>
          </a:p>
        </p:txBody>
      </p:sp>
      <p:sp>
        <p:nvSpPr>
          <p:cNvPr id="5123" name="Rectangle 2"/>
          <p:cNvSpPr>
            <a:spLocks noGrp="1" noChangeArrowheads="1"/>
          </p:cNvSpPr>
          <p:nvPr>
            <p:ph idx="1"/>
          </p:nvPr>
        </p:nvSpPr>
        <p:spPr>
          <a:xfrm>
            <a:off x="755650" y="2060575"/>
            <a:ext cx="7064375" cy="3313113"/>
          </a:xfrm>
        </p:spPr>
        <p:txBody>
          <a:bodyPr/>
          <a:lstStyle/>
          <a:p>
            <a:pPr marL="0" indent="0" eaLnBrk="1" hangingPunct="1">
              <a:spcBef>
                <a:spcPct val="50000"/>
              </a:spcBef>
              <a:buFont typeface="Arial" pitchFamily="34" charset="0"/>
              <a:buNone/>
            </a:pPr>
            <a:r>
              <a:rPr lang="en-US" altLang="zh-CN" sz="2800" b="1" u="sng" dirty="0">
                <a:latin typeface="Times New Roman" pitchFamily="18" charset="0"/>
              </a:rPr>
              <a:t>4.3.1  </a:t>
            </a:r>
            <a:r>
              <a:rPr lang="zh-CN" altLang="en-US" sz="2800" b="1" u="sng" dirty="0">
                <a:latin typeface="Times New Roman" pitchFamily="18" charset="0"/>
              </a:rPr>
              <a:t>分支预测缓冲</a:t>
            </a:r>
            <a:endParaRPr lang="en-US" altLang="zh-CN" sz="2800" b="1" u="sng" dirty="0">
              <a:latin typeface="Times New Roman" pitchFamily="18" charset="0"/>
            </a:endParaRPr>
          </a:p>
          <a:p>
            <a:pPr marL="0" indent="0" eaLnBrk="1" hangingPunct="1">
              <a:spcBef>
                <a:spcPct val="50000"/>
              </a:spcBef>
              <a:buFont typeface="Arial" pitchFamily="34" charset="0"/>
              <a:buNone/>
            </a:pPr>
            <a:endParaRPr lang="zh-CN" altLang="en-US" sz="2800" b="1" dirty="0">
              <a:latin typeface="Times New Roman" pitchFamily="18" charset="0"/>
            </a:endParaRPr>
          </a:p>
          <a:p>
            <a:pPr marL="0" indent="0" eaLnBrk="1" hangingPunct="1">
              <a:spcBef>
                <a:spcPct val="50000"/>
              </a:spcBef>
              <a:buFont typeface="Arial" pitchFamily="34" charset="0"/>
              <a:buNone/>
            </a:pPr>
            <a:r>
              <a:rPr lang="en-US" altLang="zh-CN" sz="2800" b="1" dirty="0">
                <a:latin typeface="Times New Roman" pitchFamily="18" charset="0"/>
              </a:rPr>
              <a:t>4.3.2  </a:t>
            </a:r>
            <a:r>
              <a:rPr lang="zh-CN" altLang="en-US" sz="2800" b="1" dirty="0">
                <a:latin typeface="Times New Roman" pitchFamily="18" charset="0"/>
              </a:rPr>
              <a:t>分支目标缓冲</a:t>
            </a:r>
            <a:endParaRPr lang="en-US" altLang="zh-CN" sz="2800" b="1" dirty="0">
              <a:latin typeface="Times New Roman" pitchFamily="18" charset="0"/>
            </a:endParaRPr>
          </a:p>
          <a:p>
            <a:pPr marL="0" indent="0" eaLnBrk="1" hangingPunct="1">
              <a:spcBef>
                <a:spcPct val="50000"/>
              </a:spcBef>
              <a:buFont typeface="Arial" pitchFamily="34" charset="0"/>
              <a:buNone/>
            </a:pPr>
            <a:endParaRPr lang="en-US" altLang="zh-CN" sz="2800" b="1" dirty="0">
              <a:latin typeface="Times New Roman" pitchFamily="18" charset="0"/>
            </a:endParaRPr>
          </a:p>
          <a:p>
            <a:pPr marL="0" indent="0" eaLnBrk="1" hangingPunct="1">
              <a:spcBef>
                <a:spcPct val="50000"/>
              </a:spcBef>
              <a:buFont typeface="Arial" pitchFamily="34" charset="0"/>
              <a:buNone/>
            </a:pPr>
            <a:r>
              <a:rPr lang="en-US" altLang="zh-CN" sz="2800" b="1" dirty="0">
                <a:latin typeface="Times New Roman" pitchFamily="18" charset="0"/>
              </a:rPr>
              <a:t>4.3.3 </a:t>
            </a:r>
            <a:r>
              <a:rPr lang="zh-CN" altLang="en-US" sz="2800" b="1" dirty="0">
                <a:latin typeface="Times New Roman" pitchFamily="18" charset="0"/>
              </a:rPr>
              <a:t>基于硬件的前瞻执行</a:t>
            </a:r>
            <a:endParaRPr lang="en-US" altLang="zh-CN" sz="2800" b="1" dirty="0">
              <a:latin typeface="Times New Roman" pitchFamily="18" charset="0"/>
            </a:endParaRPr>
          </a:p>
          <a:p>
            <a:pPr marL="0" indent="0" eaLnBrk="1" hangingPunct="1">
              <a:spcBef>
                <a:spcPct val="50000"/>
              </a:spcBef>
              <a:buFont typeface="Arial" pitchFamily="34" charset="0"/>
              <a:buNone/>
            </a:pPr>
            <a:endParaRPr lang="en-US" altLang="zh-CN" sz="2800" b="1" dirty="0">
              <a:latin typeface="Times New Roman" pitchFamily="18" charset="0"/>
            </a:endParaRPr>
          </a:p>
          <a:p>
            <a:pPr marL="0" indent="0" eaLnBrk="1" hangingPunct="1">
              <a:spcBef>
                <a:spcPct val="50000"/>
              </a:spcBef>
              <a:buFont typeface="Arial" pitchFamily="34" charset="0"/>
              <a:buNone/>
            </a:pPr>
            <a:endParaRPr lang="en-US" altLang="zh-CN" b="1" dirty="0">
              <a:latin typeface="Times New Roman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28E26B0-3AB8-D2DA-8853-65618C856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77E733-F695-409B-8EB9-44D6065197D4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81A2910-6315-4A05-5D3B-1592A3C6B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C6490C-E812-EE9F-2C48-3FFE7DB81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876417"/>
      </p:ext>
    </p:extLst>
  </p:cSld>
  <p:clrMapOvr>
    <a:masterClrMapping/>
  </p:clrMapOvr>
  <p:transition spd="slow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4.3.1  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分支预测缓冲</a:t>
            </a:r>
          </a:p>
        </p:txBody>
      </p:sp>
      <p:sp>
        <p:nvSpPr>
          <p:cNvPr id="119821" name="Rectangle 1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24744"/>
            <a:ext cx="8002588" cy="4968453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动态分支预测的两个理由</a:t>
            </a:r>
            <a:endParaRPr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流出的处理器加速上限为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倍</a:t>
            </a:r>
            <a:endParaRPr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Amdahl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定律提示：在较低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CPI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机器上，控制相关导致的空转对机器性能影响大</a:t>
            </a:r>
            <a:endParaRPr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lvl="1" eaLnBrk="1" fontAlgn="auto" hangingPunct="1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前面解决控制相关的静态策略</a:t>
            </a:r>
            <a:endParaRPr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需要编译器将一条或多条指令移动到流水线产生的分支延迟槽中</a:t>
            </a:r>
            <a:endParaRPr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关于分支预测策略的两部分工作</a:t>
            </a:r>
            <a:endParaRPr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预测的分支是否成功</a:t>
            </a:r>
            <a:endParaRPr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执行分支目标指令</a:t>
            </a:r>
            <a:endParaRPr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E904405-71CF-C74E-6392-9AFB73549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11EDEBA-460E-4D7E-A417-09792F3C69C6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C7D903E-9A6D-C4AD-C647-75F1862D6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ADEBA5-DE95-0447-7489-74DDD21A4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AE633C-541A-4E3F-A22A-3C4C63E8EF5F}" type="slidenum">
              <a:rPr lang="zh-CN" altLang="en-US" smtClean="0"/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9905340"/>
      </p:ext>
    </p:extLst>
  </p:cSld>
  <p:clrMapOvr>
    <a:masterClrMapping/>
  </p:clrMapOvr>
  <p:transition spd="slow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>
                <a:latin typeface="+mj-ea"/>
              </a:rPr>
              <a:t>分支预测的效果</a:t>
            </a:r>
          </a:p>
        </p:txBody>
      </p:sp>
      <p:sp>
        <p:nvSpPr>
          <p:cNvPr id="6147" name="Rectangle 11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r>
              <a:rPr lang="zh-CN" altLang="en-US" sz="2400" b="1" dirty="0">
                <a:latin typeface="+mj-ea"/>
                <a:ea typeface="+mj-ea"/>
              </a:rPr>
              <a:t>预测的准确率</a:t>
            </a:r>
            <a:endParaRPr lang="en-US" altLang="zh-CN" sz="2400" b="1" dirty="0">
              <a:latin typeface="+mj-ea"/>
              <a:ea typeface="+mj-ea"/>
            </a:endParaRPr>
          </a:p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r>
              <a:rPr lang="zh-CN" altLang="en-US" sz="2400" b="1" dirty="0">
                <a:latin typeface="+mj-ea"/>
                <a:ea typeface="+mj-ea"/>
              </a:rPr>
              <a:t>分支的开销</a:t>
            </a:r>
            <a:endParaRPr lang="en-US" altLang="zh-CN" sz="2400" b="1" dirty="0">
              <a:latin typeface="+mj-ea"/>
              <a:ea typeface="+mj-ea"/>
            </a:endParaRPr>
          </a:p>
          <a:p>
            <a:pPr lvl="1" eaLnBrk="1" hangingPunct="1">
              <a:lnSpc>
                <a:spcPct val="150000"/>
              </a:lnSpc>
              <a:buFont typeface="Arial" charset="0"/>
              <a:buChar char="–"/>
              <a:defRPr/>
            </a:pPr>
            <a:r>
              <a:rPr lang="zh-CN" altLang="en-US" sz="2400" b="1" dirty="0">
                <a:latin typeface="+mj-ea"/>
                <a:ea typeface="+mj-ea"/>
              </a:rPr>
              <a:t>预测正确的开销</a:t>
            </a:r>
            <a:endParaRPr lang="en-US" altLang="zh-CN" sz="2400" b="1" dirty="0">
              <a:latin typeface="+mj-ea"/>
              <a:ea typeface="+mj-ea"/>
            </a:endParaRPr>
          </a:p>
          <a:p>
            <a:pPr lvl="1" eaLnBrk="1" hangingPunct="1">
              <a:lnSpc>
                <a:spcPct val="150000"/>
              </a:lnSpc>
              <a:buFont typeface="Arial" charset="0"/>
              <a:buChar char="–"/>
              <a:defRPr/>
            </a:pPr>
            <a:r>
              <a:rPr lang="zh-CN" altLang="en-US" sz="2400" b="1" dirty="0">
                <a:latin typeface="+mj-ea"/>
                <a:ea typeface="+mj-ea"/>
              </a:rPr>
              <a:t>预测错误的开销</a:t>
            </a:r>
            <a:endParaRPr lang="en-US" altLang="zh-CN" sz="2400" b="1" dirty="0">
              <a:latin typeface="+mj-ea"/>
              <a:ea typeface="+mj-ea"/>
            </a:endParaRPr>
          </a:p>
          <a:p>
            <a:pPr lvl="1" eaLnBrk="1" hangingPunct="1">
              <a:lnSpc>
                <a:spcPct val="150000"/>
              </a:lnSpc>
              <a:buFont typeface="Arial" charset="0"/>
              <a:buChar char="–"/>
              <a:defRPr/>
            </a:pPr>
            <a:r>
              <a:rPr lang="zh-CN" altLang="en-US" sz="2400" b="1" dirty="0">
                <a:latin typeface="+mj-ea"/>
                <a:ea typeface="+mj-ea"/>
              </a:rPr>
              <a:t>决定分支开销的因素：流水线的结构、预测的方法、预测错误时的恢复策略等</a:t>
            </a:r>
          </a:p>
          <a:p>
            <a:pPr lvl="1" eaLnBrk="1" hangingPunct="1">
              <a:buFont typeface="Arial" charset="0"/>
              <a:buChar char="–"/>
              <a:defRPr/>
            </a:pPr>
            <a:endParaRPr lang="zh-CN" altLang="en-US" sz="2400" b="1" dirty="0">
              <a:latin typeface="+mj-ea"/>
              <a:ea typeface="+mj-ea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4AD9F76-CE1D-CC80-ED0E-01C989283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79643C6-B4AD-494F-9306-69BCF09E9536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2741830-08E8-37F5-34A7-731354D23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FF6974-D471-AEEF-A81B-276A0DD55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AE633C-541A-4E3F-A22A-3C4C63E8EF5F}" type="slidenum">
              <a:rPr lang="zh-CN" altLang="en-US" smtClean="0"/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3131788"/>
      </p:ext>
    </p:extLst>
  </p:cSld>
  <p:clrMapOvr>
    <a:masterClrMapping/>
  </p:clrMapOvr>
  <p:transition spd="slow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分支预测缓冲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(BPB): 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原理</a:t>
            </a:r>
          </a:p>
        </p:txBody>
      </p:sp>
      <p:sp>
        <p:nvSpPr>
          <p:cNvPr id="123917" name="Rectangle 1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68760"/>
            <a:ext cx="7859216" cy="4824536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最简单的分支预测策略</a:t>
            </a:r>
            <a:endParaRPr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BPB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也被称为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BHT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History Table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BHT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分支预测缓冲是一个小的存储器阵列</a:t>
            </a:r>
            <a:endParaRPr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每个单元最小可以只有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位，记录最近一次分支是否成功的信息</a:t>
            </a:r>
          </a:p>
          <a:p>
            <a:pPr lvl="1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预测位为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时，表示预测分支成功，并从目标位置开始取指令</a:t>
            </a:r>
          </a:p>
          <a:p>
            <a:pPr lvl="1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在预测错误时，要作废已经预取和分析的指令，恢复现场，并从另一条分支路径重新取指令。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EC1178F-4E6D-6CA0-6FDA-A27777F29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D169089-8B7A-4D8F-A04D-52923A794679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C916FF9-6C65-9E2A-9201-1DF126730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7CA9E0-2AA4-675F-759B-3BC035670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AE633C-541A-4E3F-A22A-3C4C63E8EF5F}" type="slidenum">
              <a:rPr lang="zh-CN" altLang="en-US" smtClean="0"/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1063294"/>
      </p:ext>
    </p:extLst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627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218853"/>
            <a:ext cx="5791200" cy="31543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2"/>
          <p:cNvSpPr>
            <a:spLocks noGrp="1" noChangeArrowheads="1"/>
          </p:cNvSpPr>
          <p:nvPr>
            <p:ph type="title" idx="4294967295"/>
          </p:nvPr>
        </p:nvSpPr>
        <p:spPr>
          <a:xfrm>
            <a:off x="323528" y="260648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分支预测执行不成功和重新执行过程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B9B8085-A630-07EA-509E-02A6ABD04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5F3E9C-5815-4E36-9DC8-3541651EDD72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71FECEA-AB9E-8AA4-63B1-3B1FFF5E0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53D0E8-20B3-3205-B16F-D6AFA347C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CAC33D-D29A-48B3-BCD6-381D3D720D26}" type="slidenum">
              <a:rPr lang="zh-CN" altLang="en-US" smtClean="0"/>
              <a:t>59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47636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BPB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状态图</a:t>
            </a:r>
          </a:p>
        </p:txBody>
      </p:sp>
      <p:sp>
        <p:nvSpPr>
          <p:cNvPr id="8195" name="Rectangle 1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68313" y="3792538"/>
            <a:ext cx="8207375" cy="2589212"/>
          </a:xfrm>
        </p:spPr>
        <p:txBody>
          <a:bodyPr/>
          <a:lstStyle/>
          <a:p>
            <a:pPr eaLnBrk="1" hangingPunct="1">
              <a:buFont typeface="Arial" charset="0"/>
              <a:buChar char="•"/>
              <a:defRPr/>
            </a:pPr>
            <a:r>
              <a:rPr lang="zh-CN" altLang="en-US" sz="2400" b="1" dirty="0">
                <a:latin typeface="+mj-ea"/>
                <a:ea typeface="+mj-ea"/>
              </a:rPr>
              <a:t>这种单位预测策略</a:t>
            </a:r>
            <a:r>
              <a:rPr lang="en-US" altLang="zh-CN" sz="2400" b="1" dirty="0">
                <a:latin typeface="+mj-ea"/>
                <a:ea typeface="+mj-ea"/>
              </a:rPr>
              <a:t>:</a:t>
            </a:r>
          </a:p>
          <a:p>
            <a:pPr lvl="1" eaLnBrk="1" hangingPunct="1">
              <a:buFont typeface="Arial" charset="0"/>
              <a:buChar char="–"/>
              <a:defRPr/>
            </a:pPr>
            <a:r>
              <a:rPr lang="zh-CN" altLang="en-US" sz="2400" b="1" dirty="0">
                <a:latin typeface="+mj-ea"/>
                <a:ea typeface="+mj-ea"/>
              </a:rPr>
              <a:t>当分支不成功时，将会发生连续两次预测出错</a:t>
            </a:r>
            <a:endParaRPr lang="en-US" altLang="zh-CN" sz="2400" b="1" dirty="0">
              <a:latin typeface="+mj-ea"/>
              <a:ea typeface="+mj-ea"/>
            </a:endParaRPr>
          </a:p>
          <a:p>
            <a:pPr lvl="1" eaLnBrk="1" hangingPunct="1">
              <a:buFont typeface="Arial" charset="0"/>
              <a:buChar char="–"/>
              <a:defRPr/>
            </a:pPr>
            <a:r>
              <a:rPr lang="en-US" altLang="zh-CN" sz="2400" b="1" dirty="0">
                <a:latin typeface="+mj-ea"/>
                <a:ea typeface="+mj-ea"/>
              </a:rPr>
              <a:t>2</a:t>
            </a:r>
            <a:r>
              <a:rPr lang="zh-CN" altLang="en-US" sz="2400" b="1" dirty="0">
                <a:latin typeface="+mj-ea"/>
                <a:ea typeface="+mj-ea"/>
              </a:rPr>
              <a:t>位预测策略能够改善这种情况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9220" name="Rectangle 15"/>
          <p:cNvSpPr>
            <a:spLocks noChangeArrowheads="1"/>
          </p:cNvSpPr>
          <p:nvPr/>
        </p:nvSpPr>
        <p:spPr bwMode="auto">
          <a:xfrm>
            <a:off x="0" y="4445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221" name="Rectangle 22"/>
          <p:cNvSpPr>
            <a:spLocks noChangeArrowheads="1"/>
          </p:cNvSpPr>
          <p:nvPr/>
        </p:nvSpPr>
        <p:spPr bwMode="auto">
          <a:xfrm>
            <a:off x="0" y="274638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zh-CN"/>
          </a:p>
        </p:txBody>
      </p:sp>
      <p:pic>
        <p:nvPicPr>
          <p:cNvPr id="9222" name="Picture 27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968375" y="1265238"/>
            <a:ext cx="7204075" cy="2159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3DECE39-6AFC-0ADD-76E2-DE5C8141A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C7E1462-E525-440B-8A63-BB0A8AD58667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BB9BB6-36C8-1FB8-3DA1-FF307CA87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02CEB4-2F32-29CF-B271-FFBD44423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AE633C-541A-4E3F-A22A-3C4C63E8EF5F}" type="slidenum">
              <a:rPr lang="zh-CN" altLang="en-US" smtClean="0"/>
              <a:t>60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0517864"/>
      </p:ext>
    </p:extLst>
  </p:cSld>
  <p:clrMapOvr>
    <a:masterClrMapping/>
  </p:clrMapOvr>
  <p:transition spd="slow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395288" y="260350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BPB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工作原理</a:t>
            </a:r>
          </a:p>
        </p:txBody>
      </p:sp>
      <p:sp>
        <p:nvSpPr>
          <p:cNvPr id="9219" name="Rectangle 9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在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位预测策略中，一个预测必须错误两次才会改变。</a:t>
            </a:r>
            <a:endParaRPr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对于一个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4096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条记录的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BPB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，利用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位预测策略，用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SPEC89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测试，命中率为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82%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到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99%</a:t>
            </a:r>
          </a:p>
          <a:p>
            <a:pPr lvl="1" eaLnBrk="1" hangingPunct="1">
              <a:lnSpc>
                <a:spcPct val="150000"/>
              </a:lnSpc>
              <a:buFont typeface="Arial" charset="0"/>
              <a:buChar char="–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准确率最高的测试程序一般包含大量循环</a:t>
            </a:r>
            <a:endParaRPr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  <a:buFont typeface="Arial" charset="0"/>
              <a:buChar char="–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没有循环的线性代码一般准确率最差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3AD2222-023A-2618-7FFD-033E0F0D1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299FAC-7B5C-4CCB-8742-ECE15AF00CA4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38ED4D3-5194-DD77-1CE1-44EE79D50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392A68-B906-593C-9D77-BB8E4C1DF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AE633C-541A-4E3F-A22A-3C4C63E8EF5F}" type="slidenum">
              <a:rPr lang="zh-CN" altLang="en-US" smtClean="0"/>
              <a:t>61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9936840"/>
      </p:ext>
    </p:extLst>
  </p:cSld>
  <p:clrMapOvr>
    <a:masterClrMapping/>
  </p:clrMapOvr>
  <p:transition spd="slow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BPB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状态转换图</a:t>
            </a:r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 bwMode="auto">
          <a:xfrm>
            <a:off x="528638" y="1762126"/>
            <a:ext cx="7959726" cy="3679825"/>
            <a:chOff x="333" y="1110"/>
            <a:chExt cx="5014" cy="2318"/>
          </a:xfrm>
        </p:grpSpPr>
        <p:sp>
          <p:nvSpPr>
            <p:cNvPr id="3" name="AutoShape 3"/>
            <p:cNvSpPr>
              <a:spLocks noChangeAspect="1" noChangeArrowheads="1" noTextEdit="1"/>
            </p:cNvSpPr>
            <p:nvPr/>
          </p:nvSpPr>
          <p:spPr bwMode="auto">
            <a:xfrm>
              <a:off x="340" y="1117"/>
              <a:ext cx="5007" cy="2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" name="Rectangle 5"/>
            <p:cNvSpPr>
              <a:spLocks noChangeArrowheads="1"/>
            </p:cNvSpPr>
            <p:nvPr/>
          </p:nvSpPr>
          <p:spPr bwMode="auto">
            <a:xfrm>
              <a:off x="340" y="1157"/>
              <a:ext cx="130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ea typeface="宋体" pitchFamily="2" charset="-122"/>
                  <a:cs typeface="宋体" pitchFamily="2" charset="-122"/>
                </a:rPr>
                <a:t> 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5" name="Freeform 6"/>
            <p:cNvSpPr>
              <a:spLocks noEditPoints="1"/>
            </p:cNvSpPr>
            <p:nvPr/>
          </p:nvSpPr>
          <p:spPr bwMode="auto">
            <a:xfrm>
              <a:off x="333" y="2406"/>
              <a:ext cx="5000" cy="1022"/>
            </a:xfrm>
            <a:custGeom>
              <a:avLst/>
              <a:gdLst>
                <a:gd name="T0" fmla="*/ 4896 w 5000"/>
                <a:gd name="T1" fmla="*/ 14 h 1022"/>
                <a:gd name="T2" fmla="*/ 4702 w 5000"/>
                <a:gd name="T3" fmla="*/ 14 h 1022"/>
                <a:gd name="T4" fmla="*/ 4508 w 5000"/>
                <a:gd name="T5" fmla="*/ 14 h 1022"/>
                <a:gd name="T6" fmla="*/ 4314 w 5000"/>
                <a:gd name="T7" fmla="*/ 14 h 1022"/>
                <a:gd name="T8" fmla="*/ 4120 w 5000"/>
                <a:gd name="T9" fmla="*/ 14 h 1022"/>
                <a:gd name="T10" fmla="*/ 3926 w 5000"/>
                <a:gd name="T11" fmla="*/ 14 h 1022"/>
                <a:gd name="T12" fmla="*/ 3732 w 5000"/>
                <a:gd name="T13" fmla="*/ 14 h 1022"/>
                <a:gd name="T14" fmla="*/ 3538 w 5000"/>
                <a:gd name="T15" fmla="*/ 14 h 1022"/>
                <a:gd name="T16" fmla="*/ 3344 w 5000"/>
                <a:gd name="T17" fmla="*/ 14 h 1022"/>
                <a:gd name="T18" fmla="*/ 3151 w 5000"/>
                <a:gd name="T19" fmla="*/ 14 h 1022"/>
                <a:gd name="T20" fmla="*/ 2957 w 5000"/>
                <a:gd name="T21" fmla="*/ 14 h 1022"/>
                <a:gd name="T22" fmla="*/ 2763 w 5000"/>
                <a:gd name="T23" fmla="*/ 14 h 1022"/>
                <a:gd name="T24" fmla="*/ 2569 w 5000"/>
                <a:gd name="T25" fmla="*/ 14 h 1022"/>
                <a:gd name="T26" fmla="*/ 2375 w 5000"/>
                <a:gd name="T27" fmla="*/ 14 h 1022"/>
                <a:gd name="T28" fmla="*/ 2181 w 5000"/>
                <a:gd name="T29" fmla="*/ 14 h 1022"/>
                <a:gd name="T30" fmla="*/ 1987 w 5000"/>
                <a:gd name="T31" fmla="*/ 14 h 1022"/>
                <a:gd name="T32" fmla="*/ 1793 w 5000"/>
                <a:gd name="T33" fmla="*/ 14 h 1022"/>
                <a:gd name="T34" fmla="*/ 1599 w 5000"/>
                <a:gd name="T35" fmla="*/ 14 h 1022"/>
                <a:gd name="T36" fmla="*/ 1405 w 5000"/>
                <a:gd name="T37" fmla="*/ 14 h 1022"/>
                <a:gd name="T38" fmla="*/ 1211 w 5000"/>
                <a:gd name="T39" fmla="*/ 14 h 1022"/>
                <a:gd name="T40" fmla="*/ 1018 w 5000"/>
                <a:gd name="T41" fmla="*/ 14 h 1022"/>
                <a:gd name="T42" fmla="*/ 824 w 5000"/>
                <a:gd name="T43" fmla="*/ 14 h 1022"/>
                <a:gd name="T44" fmla="*/ 630 w 5000"/>
                <a:gd name="T45" fmla="*/ 14 h 1022"/>
                <a:gd name="T46" fmla="*/ 436 w 5000"/>
                <a:gd name="T47" fmla="*/ 14 h 1022"/>
                <a:gd name="T48" fmla="*/ 242 w 5000"/>
                <a:gd name="T49" fmla="*/ 14 h 1022"/>
                <a:gd name="T50" fmla="*/ 0 w 5000"/>
                <a:gd name="T51" fmla="*/ 21 h 1022"/>
                <a:gd name="T52" fmla="*/ 13 w 5000"/>
                <a:gd name="T53" fmla="*/ 215 h 1022"/>
                <a:gd name="T54" fmla="*/ 13 w 5000"/>
                <a:gd name="T55" fmla="*/ 409 h 1022"/>
                <a:gd name="T56" fmla="*/ 13 w 5000"/>
                <a:gd name="T57" fmla="*/ 603 h 1022"/>
                <a:gd name="T58" fmla="*/ 13 w 5000"/>
                <a:gd name="T59" fmla="*/ 796 h 1022"/>
                <a:gd name="T60" fmla="*/ 13 w 5000"/>
                <a:gd name="T61" fmla="*/ 990 h 1022"/>
                <a:gd name="T62" fmla="*/ 175 w 5000"/>
                <a:gd name="T63" fmla="*/ 1008 h 1022"/>
                <a:gd name="T64" fmla="*/ 369 w 5000"/>
                <a:gd name="T65" fmla="*/ 1008 h 1022"/>
                <a:gd name="T66" fmla="*/ 563 w 5000"/>
                <a:gd name="T67" fmla="*/ 1008 h 1022"/>
                <a:gd name="T68" fmla="*/ 757 w 5000"/>
                <a:gd name="T69" fmla="*/ 1008 h 1022"/>
                <a:gd name="T70" fmla="*/ 951 w 5000"/>
                <a:gd name="T71" fmla="*/ 1008 h 1022"/>
                <a:gd name="T72" fmla="*/ 1145 w 5000"/>
                <a:gd name="T73" fmla="*/ 1008 h 1022"/>
                <a:gd name="T74" fmla="*/ 1339 w 5000"/>
                <a:gd name="T75" fmla="*/ 1008 h 1022"/>
                <a:gd name="T76" fmla="*/ 1533 w 5000"/>
                <a:gd name="T77" fmla="*/ 1008 h 1022"/>
                <a:gd name="T78" fmla="*/ 1727 w 5000"/>
                <a:gd name="T79" fmla="*/ 1008 h 1022"/>
                <a:gd name="T80" fmla="*/ 1921 w 5000"/>
                <a:gd name="T81" fmla="*/ 1008 h 1022"/>
                <a:gd name="T82" fmla="*/ 2115 w 5000"/>
                <a:gd name="T83" fmla="*/ 1008 h 1022"/>
                <a:gd name="T84" fmla="*/ 2308 w 5000"/>
                <a:gd name="T85" fmla="*/ 1008 h 1022"/>
                <a:gd name="T86" fmla="*/ 2502 w 5000"/>
                <a:gd name="T87" fmla="*/ 1008 h 1022"/>
                <a:gd name="T88" fmla="*/ 2696 w 5000"/>
                <a:gd name="T89" fmla="*/ 1008 h 1022"/>
                <a:gd name="T90" fmla="*/ 2890 w 5000"/>
                <a:gd name="T91" fmla="*/ 1008 h 1022"/>
                <a:gd name="T92" fmla="*/ 3084 w 5000"/>
                <a:gd name="T93" fmla="*/ 1008 h 1022"/>
                <a:gd name="T94" fmla="*/ 3278 w 5000"/>
                <a:gd name="T95" fmla="*/ 1008 h 1022"/>
                <a:gd name="T96" fmla="*/ 3472 w 5000"/>
                <a:gd name="T97" fmla="*/ 1008 h 1022"/>
                <a:gd name="T98" fmla="*/ 3666 w 5000"/>
                <a:gd name="T99" fmla="*/ 1008 h 1022"/>
                <a:gd name="T100" fmla="*/ 3860 w 5000"/>
                <a:gd name="T101" fmla="*/ 1008 h 1022"/>
                <a:gd name="T102" fmla="*/ 4054 w 5000"/>
                <a:gd name="T103" fmla="*/ 1008 h 1022"/>
                <a:gd name="T104" fmla="*/ 4248 w 5000"/>
                <a:gd name="T105" fmla="*/ 1008 h 1022"/>
                <a:gd name="T106" fmla="*/ 4441 w 5000"/>
                <a:gd name="T107" fmla="*/ 1008 h 1022"/>
                <a:gd name="T108" fmla="*/ 4635 w 5000"/>
                <a:gd name="T109" fmla="*/ 1008 h 1022"/>
                <a:gd name="T110" fmla="*/ 4829 w 5000"/>
                <a:gd name="T111" fmla="*/ 1008 h 1022"/>
                <a:gd name="T112" fmla="*/ 4993 w 5000"/>
                <a:gd name="T113" fmla="*/ 1008 h 1022"/>
                <a:gd name="T114" fmla="*/ 5000 w 5000"/>
                <a:gd name="T115" fmla="*/ 943 h 1022"/>
                <a:gd name="T116" fmla="*/ 5000 w 5000"/>
                <a:gd name="T117" fmla="*/ 749 h 1022"/>
                <a:gd name="T118" fmla="*/ 5000 w 5000"/>
                <a:gd name="T119" fmla="*/ 555 h 1022"/>
                <a:gd name="T120" fmla="*/ 5000 w 5000"/>
                <a:gd name="T121" fmla="*/ 362 h 1022"/>
                <a:gd name="T122" fmla="*/ 5000 w 5000"/>
                <a:gd name="T123" fmla="*/ 168 h 10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000" h="1022">
                  <a:moveTo>
                    <a:pt x="4993" y="14"/>
                  </a:moveTo>
                  <a:lnTo>
                    <a:pt x="4937" y="14"/>
                  </a:lnTo>
                  <a:lnTo>
                    <a:pt x="4937" y="0"/>
                  </a:lnTo>
                  <a:lnTo>
                    <a:pt x="4993" y="0"/>
                  </a:lnTo>
                  <a:lnTo>
                    <a:pt x="4993" y="14"/>
                  </a:lnTo>
                  <a:close/>
                  <a:moveTo>
                    <a:pt x="4896" y="14"/>
                  </a:moveTo>
                  <a:lnTo>
                    <a:pt x="4840" y="14"/>
                  </a:lnTo>
                  <a:lnTo>
                    <a:pt x="4840" y="0"/>
                  </a:lnTo>
                  <a:lnTo>
                    <a:pt x="4896" y="0"/>
                  </a:lnTo>
                  <a:lnTo>
                    <a:pt x="4896" y="14"/>
                  </a:lnTo>
                  <a:close/>
                  <a:moveTo>
                    <a:pt x="4799" y="14"/>
                  </a:moveTo>
                  <a:lnTo>
                    <a:pt x="4743" y="14"/>
                  </a:lnTo>
                  <a:lnTo>
                    <a:pt x="4743" y="0"/>
                  </a:lnTo>
                  <a:lnTo>
                    <a:pt x="4799" y="0"/>
                  </a:lnTo>
                  <a:lnTo>
                    <a:pt x="4799" y="14"/>
                  </a:lnTo>
                  <a:close/>
                  <a:moveTo>
                    <a:pt x="4702" y="14"/>
                  </a:moveTo>
                  <a:lnTo>
                    <a:pt x="4646" y="14"/>
                  </a:lnTo>
                  <a:lnTo>
                    <a:pt x="4646" y="0"/>
                  </a:lnTo>
                  <a:lnTo>
                    <a:pt x="4702" y="0"/>
                  </a:lnTo>
                  <a:lnTo>
                    <a:pt x="4702" y="14"/>
                  </a:lnTo>
                  <a:close/>
                  <a:moveTo>
                    <a:pt x="4605" y="14"/>
                  </a:moveTo>
                  <a:lnTo>
                    <a:pt x="4549" y="14"/>
                  </a:lnTo>
                  <a:lnTo>
                    <a:pt x="4549" y="0"/>
                  </a:lnTo>
                  <a:lnTo>
                    <a:pt x="4605" y="0"/>
                  </a:lnTo>
                  <a:lnTo>
                    <a:pt x="4605" y="14"/>
                  </a:lnTo>
                  <a:close/>
                  <a:moveTo>
                    <a:pt x="4508" y="14"/>
                  </a:moveTo>
                  <a:lnTo>
                    <a:pt x="4452" y="14"/>
                  </a:lnTo>
                  <a:lnTo>
                    <a:pt x="4452" y="0"/>
                  </a:lnTo>
                  <a:lnTo>
                    <a:pt x="4508" y="0"/>
                  </a:lnTo>
                  <a:lnTo>
                    <a:pt x="4508" y="14"/>
                  </a:lnTo>
                  <a:close/>
                  <a:moveTo>
                    <a:pt x="4411" y="14"/>
                  </a:moveTo>
                  <a:lnTo>
                    <a:pt x="4356" y="14"/>
                  </a:lnTo>
                  <a:lnTo>
                    <a:pt x="4356" y="0"/>
                  </a:lnTo>
                  <a:lnTo>
                    <a:pt x="4411" y="0"/>
                  </a:lnTo>
                  <a:lnTo>
                    <a:pt x="4411" y="14"/>
                  </a:lnTo>
                  <a:close/>
                  <a:moveTo>
                    <a:pt x="4314" y="14"/>
                  </a:moveTo>
                  <a:lnTo>
                    <a:pt x="4259" y="14"/>
                  </a:lnTo>
                  <a:lnTo>
                    <a:pt x="4259" y="0"/>
                  </a:lnTo>
                  <a:lnTo>
                    <a:pt x="4314" y="0"/>
                  </a:lnTo>
                  <a:lnTo>
                    <a:pt x="4314" y="14"/>
                  </a:lnTo>
                  <a:close/>
                  <a:moveTo>
                    <a:pt x="4217" y="14"/>
                  </a:moveTo>
                  <a:lnTo>
                    <a:pt x="4162" y="14"/>
                  </a:lnTo>
                  <a:lnTo>
                    <a:pt x="4162" y="0"/>
                  </a:lnTo>
                  <a:lnTo>
                    <a:pt x="4217" y="0"/>
                  </a:lnTo>
                  <a:lnTo>
                    <a:pt x="4217" y="14"/>
                  </a:lnTo>
                  <a:close/>
                  <a:moveTo>
                    <a:pt x="4120" y="14"/>
                  </a:moveTo>
                  <a:lnTo>
                    <a:pt x="4065" y="14"/>
                  </a:lnTo>
                  <a:lnTo>
                    <a:pt x="4065" y="0"/>
                  </a:lnTo>
                  <a:lnTo>
                    <a:pt x="4120" y="0"/>
                  </a:lnTo>
                  <a:lnTo>
                    <a:pt x="4120" y="14"/>
                  </a:lnTo>
                  <a:close/>
                  <a:moveTo>
                    <a:pt x="4023" y="14"/>
                  </a:moveTo>
                  <a:lnTo>
                    <a:pt x="3968" y="14"/>
                  </a:lnTo>
                  <a:lnTo>
                    <a:pt x="3968" y="0"/>
                  </a:lnTo>
                  <a:lnTo>
                    <a:pt x="4023" y="0"/>
                  </a:lnTo>
                  <a:lnTo>
                    <a:pt x="4023" y="14"/>
                  </a:lnTo>
                  <a:close/>
                  <a:moveTo>
                    <a:pt x="3926" y="14"/>
                  </a:moveTo>
                  <a:lnTo>
                    <a:pt x="3871" y="14"/>
                  </a:lnTo>
                  <a:lnTo>
                    <a:pt x="3871" y="0"/>
                  </a:lnTo>
                  <a:lnTo>
                    <a:pt x="3926" y="0"/>
                  </a:lnTo>
                  <a:lnTo>
                    <a:pt x="3926" y="14"/>
                  </a:lnTo>
                  <a:close/>
                  <a:moveTo>
                    <a:pt x="3829" y="14"/>
                  </a:moveTo>
                  <a:lnTo>
                    <a:pt x="3774" y="14"/>
                  </a:lnTo>
                  <a:lnTo>
                    <a:pt x="3774" y="0"/>
                  </a:lnTo>
                  <a:lnTo>
                    <a:pt x="3829" y="0"/>
                  </a:lnTo>
                  <a:lnTo>
                    <a:pt x="3829" y="14"/>
                  </a:lnTo>
                  <a:close/>
                  <a:moveTo>
                    <a:pt x="3732" y="14"/>
                  </a:moveTo>
                  <a:lnTo>
                    <a:pt x="3677" y="14"/>
                  </a:lnTo>
                  <a:lnTo>
                    <a:pt x="3677" y="0"/>
                  </a:lnTo>
                  <a:lnTo>
                    <a:pt x="3732" y="0"/>
                  </a:lnTo>
                  <a:lnTo>
                    <a:pt x="3732" y="14"/>
                  </a:lnTo>
                  <a:close/>
                  <a:moveTo>
                    <a:pt x="3635" y="14"/>
                  </a:moveTo>
                  <a:lnTo>
                    <a:pt x="3580" y="14"/>
                  </a:lnTo>
                  <a:lnTo>
                    <a:pt x="3580" y="0"/>
                  </a:lnTo>
                  <a:lnTo>
                    <a:pt x="3635" y="0"/>
                  </a:lnTo>
                  <a:lnTo>
                    <a:pt x="3635" y="14"/>
                  </a:lnTo>
                  <a:close/>
                  <a:moveTo>
                    <a:pt x="3538" y="14"/>
                  </a:moveTo>
                  <a:lnTo>
                    <a:pt x="3483" y="14"/>
                  </a:lnTo>
                  <a:lnTo>
                    <a:pt x="3483" y="0"/>
                  </a:lnTo>
                  <a:lnTo>
                    <a:pt x="3538" y="0"/>
                  </a:lnTo>
                  <a:lnTo>
                    <a:pt x="3538" y="14"/>
                  </a:lnTo>
                  <a:close/>
                  <a:moveTo>
                    <a:pt x="3441" y="14"/>
                  </a:moveTo>
                  <a:lnTo>
                    <a:pt x="3386" y="14"/>
                  </a:lnTo>
                  <a:lnTo>
                    <a:pt x="3386" y="0"/>
                  </a:lnTo>
                  <a:lnTo>
                    <a:pt x="3441" y="0"/>
                  </a:lnTo>
                  <a:lnTo>
                    <a:pt x="3441" y="14"/>
                  </a:lnTo>
                  <a:close/>
                  <a:moveTo>
                    <a:pt x="3344" y="14"/>
                  </a:moveTo>
                  <a:lnTo>
                    <a:pt x="3289" y="14"/>
                  </a:lnTo>
                  <a:lnTo>
                    <a:pt x="3289" y="0"/>
                  </a:lnTo>
                  <a:lnTo>
                    <a:pt x="3344" y="0"/>
                  </a:lnTo>
                  <a:lnTo>
                    <a:pt x="3344" y="14"/>
                  </a:lnTo>
                  <a:close/>
                  <a:moveTo>
                    <a:pt x="3247" y="14"/>
                  </a:moveTo>
                  <a:lnTo>
                    <a:pt x="3192" y="14"/>
                  </a:lnTo>
                  <a:lnTo>
                    <a:pt x="3192" y="0"/>
                  </a:lnTo>
                  <a:lnTo>
                    <a:pt x="3247" y="0"/>
                  </a:lnTo>
                  <a:lnTo>
                    <a:pt x="3247" y="14"/>
                  </a:lnTo>
                  <a:close/>
                  <a:moveTo>
                    <a:pt x="3151" y="14"/>
                  </a:moveTo>
                  <a:lnTo>
                    <a:pt x="3095" y="14"/>
                  </a:lnTo>
                  <a:lnTo>
                    <a:pt x="3095" y="0"/>
                  </a:lnTo>
                  <a:lnTo>
                    <a:pt x="3151" y="0"/>
                  </a:lnTo>
                  <a:lnTo>
                    <a:pt x="3151" y="14"/>
                  </a:lnTo>
                  <a:close/>
                  <a:moveTo>
                    <a:pt x="3054" y="14"/>
                  </a:moveTo>
                  <a:lnTo>
                    <a:pt x="2998" y="14"/>
                  </a:lnTo>
                  <a:lnTo>
                    <a:pt x="2998" y="0"/>
                  </a:lnTo>
                  <a:lnTo>
                    <a:pt x="3054" y="0"/>
                  </a:lnTo>
                  <a:lnTo>
                    <a:pt x="3054" y="14"/>
                  </a:lnTo>
                  <a:close/>
                  <a:moveTo>
                    <a:pt x="2957" y="14"/>
                  </a:moveTo>
                  <a:lnTo>
                    <a:pt x="2901" y="14"/>
                  </a:lnTo>
                  <a:lnTo>
                    <a:pt x="2901" y="0"/>
                  </a:lnTo>
                  <a:lnTo>
                    <a:pt x="2957" y="0"/>
                  </a:lnTo>
                  <a:lnTo>
                    <a:pt x="2957" y="14"/>
                  </a:lnTo>
                  <a:close/>
                  <a:moveTo>
                    <a:pt x="2860" y="14"/>
                  </a:moveTo>
                  <a:lnTo>
                    <a:pt x="2804" y="14"/>
                  </a:lnTo>
                  <a:lnTo>
                    <a:pt x="2804" y="0"/>
                  </a:lnTo>
                  <a:lnTo>
                    <a:pt x="2860" y="0"/>
                  </a:lnTo>
                  <a:lnTo>
                    <a:pt x="2860" y="14"/>
                  </a:lnTo>
                  <a:close/>
                  <a:moveTo>
                    <a:pt x="2763" y="14"/>
                  </a:moveTo>
                  <a:lnTo>
                    <a:pt x="2707" y="14"/>
                  </a:lnTo>
                  <a:lnTo>
                    <a:pt x="2707" y="0"/>
                  </a:lnTo>
                  <a:lnTo>
                    <a:pt x="2763" y="0"/>
                  </a:lnTo>
                  <a:lnTo>
                    <a:pt x="2763" y="14"/>
                  </a:lnTo>
                  <a:close/>
                  <a:moveTo>
                    <a:pt x="2666" y="14"/>
                  </a:moveTo>
                  <a:lnTo>
                    <a:pt x="2610" y="14"/>
                  </a:lnTo>
                  <a:lnTo>
                    <a:pt x="2610" y="0"/>
                  </a:lnTo>
                  <a:lnTo>
                    <a:pt x="2666" y="0"/>
                  </a:lnTo>
                  <a:lnTo>
                    <a:pt x="2666" y="14"/>
                  </a:lnTo>
                  <a:close/>
                  <a:moveTo>
                    <a:pt x="2569" y="14"/>
                  </a:moveTo>
                  <a:lnTo>
                    <a:pt x="2513" y="14"/>
                  </a:lnTo>
                  <a:lnTo>
                    <a:pt x="2513" y="0"/>
                  </a:lnTo>
                  <a:lnTo>
                    <a:pt x="2569" y="0"/>
                  </a:lnTo>
                  <a:lnTo>
                    <a:pt x="2569" y="14"/>
                  </a:lnTo>
                  <a:close/>
                  <a:moveTo>
                    <a:pt x="2472" y="14"/>
                  </a:moveTo>
                  <a:lnTo>
                    <a:pt x="2416" y="14"/>
                  </a:lnTo>
                  <a:lnTo>
                    <a:pt x="2416" y="0"/>
                  </a:lnTo>
                  <a:lnTo>
                    <a:pt x="2472" y="0"/>
                  </a:lnTo>
                  <a:lnTo>
                    <a:pt x="2472" y="14"/>
                  </a:lnTo>
                  <a:close/>
                  <a:moveTo>
                    <a:pt x="2375" y="14"/>
                  </a:moveTo>
                  <a:lnTo>
                    <a:pt x="2319" y="14"/>
                  </a:lnTo>
                  <a:lnTo>
                    <a:pt x="2319" y="0"/>
                  </a:lnTo>
                  <a:lnTo>
                    <a:pt x="2375" y="0"/>
                  </a:lnTo>
                  <a:lnTo>
                    <a:pt x="2375" y="14"/>
                  </a:lnTo>
                  <a:close/>
                  <a:moveTo>
                    <a:pt x="2278" y="14"/>
                  </a:moveTo>
                  <a:lnTo>
                    <a:pt x="2223" y="14"/>
                  </a:lnTo>
                  <a:lnTo>
                    <a:pt x="2223" y="0"/>
                  </a:lnTo>
                  <a:lnTo>
                    <a:pt x="2278" y="0"/>
                  </a:lnTo>
                  <a:lnTo>
                    <a:pt x="2278" y="14"/>
                  </a:lnTo>
                  <a:close/>
                  <a:moveTo>
                    <a:pt x="2181" y="14"/>
                  </a:moveTo>
                  <a:lnTo>
                    <a:pt x="2126" y="14"/>
                  </a:lnTo>
                  <a:lnTo>
                    <a:pt x="2126" y="0"/>
                  </a:lnTo>
                  <a:lnTo>
                    <a:pt x="2181" y="0"/>
                  </a:lnTo>
                  <a:lnTo>
                    <a:pt x="2181" y="14"/>
                  </a:lnTo>
                  <a:close/>
                  <a:moveTo>
                    <a:pt x="2084" y="14"/>
                  </a:moveTo>
                  <a:lnTo>
                    <a:pt x="2029" y="14"/>
                  </a:lnTo>
                  <a:lnTo>
                    <a:pt x="2029" y="0"/>
                  </a:lnTo>
                  <a:lnTo>
                    <a:pt x="2084" y="0"/>
                  </a:lnTo>
                  <a:lnTo>
                    <a:pt x="2084" y="14"/>
                  </a:lnTo>
                  <a:close/>
                  <a:moveTo>
                    <a:pt x="1987" y="14"/>
                  </a:moveTo>
                  <a:lnTo>
                    <a:pt x="1932" y="14"/>
                  </a:lnTo>
                  <a:lnTo>
                    <a:pt x="1932" y="0"/>
                  </a:lnTo>
                  <a:lnTo>
                    <a:pt x="1987" y="0"/>
                  </a:lnTo>
                  <a:lnTo>
                    <a:pt x="1987" y="14"/>
                  </a:lnTo>
                  <a:close/>
                  <a:moveTo>
                    <a:pt x="1890" y="14"/>
                  </a:moveTo>
                  <a:lnTo>
                    <a:pt x="1835" y="14"/>
                  </a:lnTo>
                  <a:lnTo>
                    <a:pt x="1835" y="0"/>
                  </a:lnTo>
                  <a:lnTo>
                    <a:pt x="1890" y="0"/>
                  </a:lnTo>
                  <a:lnTo>
                    <a:pt x="1890" y="14"/>
                  </a:lnTo>
                  <a:close/>
                  <a:moveTo>
                    <a:pt x="1793" y="14"/>
                  </a:moveTo>
                  <a:lnTo>
                    <a:pt x="1738" y="14"/>
                  </a:lnTo>
                  <a:lnTo>
                    <a:pt x="1738" y="0"/>
                  </a:lnTo>
                  <a:lnTo>
                    <a:pt x="1793" y="0"/>
                  </a:lnTo>
                  <a:lnTo>
                    <a:pt x="1793" y="14"/>
                  </a:lnTo>
                  <a:close/>
                  <a:moveTo>
                    <a:pt x="1696" y="14"/>
                  </a:moveTo>
                  <a:lnTo>
                    <a:pt x="1641" y="14"/>
                  </a:lnTo>
                  <a:lnTo>
                    <a:pt x="1641" y="0"/>
                  </a:lnTo>
                  <a:lnTo>
                    <a:pt x="1696" y="0"/>
                  </a:lnTo>
                  <a:lnTo>
                    <a:pt x="1696" y="14"/>
                  </a:lnTo>
                  <a:close/>
                  <a:moveTo>
                    <a:pt x="1599" y="14"/>
                  </a:moveTo>
                  <a:lnTo>
                    <a:pt x="1544" y="14"/>
                  </a:lnTo>
                  <a:lnTo>
                    <a:pt x="1544" y="0"/>
                  </a:lnTo>
                  <a:lnTo>
                    <a:pt x="1599" y="0"/>
                  </a:lnTo>
                  <a:lnTo>
                    <a:pt x="1599" y="14"/>
                  </a:lnTo>
                  <a:close/>
                  <a:moveTo>
                    <a:pt x="1502" y="14"/>
                  </a:moveTo>
                  <a:lnTo>
                    <a:pt x="1447" y="14"/>
                  </a:lnTo>
                  <a:lnTo>
                    <a:pt x="1447" y="0"/>
                  </a:lnTo>
                  <a:lnTo>
                    <a:pt x="1502" y="0"/>
                  </a:lnTo>
                  <a:lnTo>
                    <a:pt x="1502" y="14"/>
                  </a:lnTo>
                  <a:close/>
                  <a:moveTo>
                    <a:pt x="1405" y="14"/>
                  </a:moveTo>
                  <a:lnTo>
                    <a:pt x="1350" y="14"/>
                  </a:lnTo>
                  <a:lnTo>
                    <a:pt x="1350" y="0"/>
                  </a:lnTo>
                  <a:lnTo>
                    <a:pt x="1405" y="0"/>
                  </a:lnTo>
                  <a:lnTo>
                    <a:pt x="1405" y="14"/>
                  </a:lnTo>
                  <a:close/>
                  <a:moveTo>
                    <a:pt x="1308" y="14"/>
                  </a:moveTo>
                  <a:lnTo>
                    <a:pt x="1253" y="14"/>
                  </a:lnTo>
                  <a:lnTo>
                    <a:pt x="1253" y="0"/>
                  </a:lnTo>
                  <a:lnTo>
                    <a:pt x="1308" y="0"/>
                  </a:lnTo>
                  <a:lnTo>
                    <a:pt x="1308" y="14"/>
                  </a:lnTo>
                  <a:close/>
                  <a:moveTo>
                    <a:pt x="1211" y="14"/>
                  </a:moveTo>
                  <a:lnTo>
                    <a:pt x="1156" y="14"/>
                  </a:lnTo>
                  <a:lnTo>
                    <a:pt x="1156" y="0"/>
                  </a:lnTo>
                  <a:lnTo>
                    <a:pt x="1211" y="0"/>
                  </a:lnTo>
                  <a:lnTo>
                    <a:pt x="1211" y="14"/>
                  </a:lnTo>
                  <a:close/>
                  <a:moveTo>
                    <a:pt x="1114" y="14"/>
                  </a:moveTo>
                  <a:lnTo>
                    <a:pt x="1059" y="14"/>
                  </a:lnTo>
                  <a:lnTo>
                    <a:pt x="1059" y="0"/>
                  </a:lnTo>
                  <a:lnTo>
                    <a:pt x="1114" y="0"/>
                  </a:lnTo>
                  <a:lnTo>
                    <a:pt x="1114" y="14"/>
                  </a:lnTo>
                  <a:close/>
                  <a:moveTo>
                    <a:pt x="1018" y="14"/>
                  </a:moveTo>
                  <a:lnTo>
                    <a:pt x="962" y="14"/>
                  </a:lnTo>
                  <a:lnTo>
                    <a:pt x="962" y="0"/>
                  </a:lnTo>
                  <a:lnTo>
                    <a:pt x="1018" y="0"/>
                  </a:lnTo>
                  <a:lnTo>
                    <a:pt x="1018" y="14"/>
                  </a:lnTo>
                  <a:close/>
                  <a:moveTo>
                    <a:pt x="921" y="14"/>
                  </a:moveTo>
                  <a:lnTo>
                    <a:pt x="865" y="14"/>
                  </a:lnTo>
                  <a:lnTo>
                    <a:pt x="865" y="0"/>
                  </a:lnTo>
                  <a:lnTo>
                    <a:pt x="921" y="0"/>
                  </a:lnTo>
                  <a:lnTo>
                    <a:pt x="921" y="14"/>
                  </a:lnTo>
                  <a:close/>
                  <a:moveTo>
                    <a:pt x="824" y="14"/>
                  </a:moveTo>
                  <a:lnTo>
                    <a:pt x="768" y="14"/>
                  </a:lnTo>
                  <a:lnTo>
                    <a:pt x="768" y="0"/>
                  </a:lnTo>
                  <a:lnTo>
                    <a:pt x="824" y="0"/>
                  </a:lnTo>
                  <a:lnTo>
                    <a:pt x="824" y="14"/>
                  </a:lnTo>
                  <a:close/>
                  <a:moveTo>
                    <a:pt x="727" y="14"/>
                  </a:moveTo>
                  <a:lnTo>
                    <a:pt x="671" y="14"/>
                  </a:lnTo>
                  <a:lnTo>
                    <a:pt x="671" y="0"/>
                  </a:lnTo>
                  <a:lnTo>
                    <a:pt x="727" y="0"/>
                  </a:lnTo>
                  <a:lnTo>
                    <a:pt x="727" y="14"/>
                  </a:lnTo>
                  <a:close/>
                  <a:moveTo>
                    <a:pt x="630" y="14"/>
                  </a:moveTo>
                  <a:lnTo>
                    <a:pt x="574" y="14"/>
                  </a:lnTo>
                  <a:lnTo>
                    <a:pt x="574" y="0"/>
                  </a:lnTo>
                  <a:lnTo>
                    <a:pt x="630" y="0"/>
                  </a:lnTo>
                  <a:lnTo>
                    <a:pt x="630" y="14"/>
                  </a:lnTo>
                  <a:close/>
                  <a:moveTo>
                    <a:pt x="533" y="14"/>
                  </a:moveTo>
                  <a:lnTo>
                    <a:pt x="477" y="14"/>
                  </a:lnTo>
                  <a:lnTo>
                    <a:pt x="477" y="0"/>
                  </a:lnTo>
                  <a:lnTo>
                    <a:pt x="533" y="0"/>
                  </a:lnTo>
                  <a:lnTo>
                    <a:pt x="533" y="14"/>
                  </a:lnTo>
                  <a:close/>
                  <a:moveTo>
                    <a:pt x="436" y="14"/>
                  </a:moveTo>
                  <a:lnTo>
                    <a:pt x="380" y="14"/>
                  </a:lnTo>
                  <a:lnTo>
                    <a:pt x="380" y="0"/>
                  </a:lnTo>
                  <a:lnTo>
                    <a:pt x="436" y="0"/>
                  </a:lnTo>
                  <a:lnTo>
                    <a:pt x="436" y="14"/>
                  </a:lnTo>
                  <a:close/>
                  <a:moveTo>
                    <a:pt x="339" y="14"/>
                  </a:moveTo>
                  <a:lnTo>
                    <a:pt x="283" y="14"/>
                  </a:lnTo>
                  <a:lnTo>
                    <a:pt x="283" y="0"/>
                  </a:lnTo>
                  <a:lnTo>
                    <a:pt x="339" y="0"/>
                  </a:lnTo>
                  <a:lnTo>
                    <a:pt x="339" y="14"/>
                  </a:lnTo>
                  <a:close/>
                  <a:moveTo>
                    <a:pt x="242" y="14"/>
                  </a:moveTo>
                  <a:lnTo>
                    <a:pt x="187" y="14"/>
                  </a:lnTo>
                  <a:lnTo>
                    <a:pt x="187" y="0"/>
                  </a:lnTo>
                  <a:lnTo>
                    <a:pt x="242" y="0"/>
                  </a:lnTo>
                  <a:lnTo>
                    <a:pt x="242" y="14"/>
                  </a:lnTo>
                  <a:close/>
                  <a:moveTo>
                    <a:pt x="145" y="14"/>
                  </a:moveTo>
                  <a:lnTo>
                    <a:pt x="90" y="14"/>
                  </a:lnTo>
                  <a:lnTo>
                    <a:pt x="90" y="0"/>
                  </a:lnTo>
                  <a:lnTo>
                    <a:pt x="145" y="0"/>
                  </a:lnTo>
                  <a:lnTo>
                    <a:pt x="145" y="14"/>
                  </a:lnTo>
                  <a:close/>
                  <a:moveTo>
                    <a:pt x="48" y="14"/>
                  </a:moveTo>
                  <a:lnTo>
                    <a:pt x="7" y="14"/>
                  </a:lnTo>
                  <a:lnTo>
                    <a:pt x="13" y="7"/>
                  </a:lnTo>
                  <a:lnTo>
                    <a:pt x="13" y="21"/>
                  </a:lnTo>
                  <a:lnTo>
                    <a:pt x="0" y="21"/>
                  </a:lnTo>
                  <a:lnTo>
                    <a:pt x="0" y="0"/>
                  </a:lnTo>
                  <a:lnTo>
                    <a:pt x="48" y="0"/>
                  </a:lnTo>
                  <a:lnTo>
                    <a:pt x="48" y="14"/>
                  </a:lnTo>
                  <a:close/>
                  <a:moveTo>
                    <a:pt x="13" y="62"/>
                  </a:moveTo>
                  <a:lnTo>
                    <a:pt x="13" y="118"/>
                  </a:lnTo>
                  <a:lnTo>
                    <a:pt x="0" y="118"/>
                  </a:lnTo>
                  <a:lnTo>
                    <a:pt x="0" y="62"/>
                  </a:lnTo>
                  <a:lnTo>
                    <a:pt x="13" y="62"/>
                  </a:lnTo>
                  <a:close/>
                  <a:moveTo>
                    <a:pt x="13" y="159"/>
                  </a:moveTo>
                  <a:lnTo>
                    <a:pt x="13" y="215"/>
                  </a:lnTo>
                  <a:lnTo>
                    <a:pt x="0" y="215"/>
                  </a:lnTo>
                  <a:lnTo>
                    <a:pt x="0" y="159"/>
                  </a:lnTo>
                  <a:lnTo>
                    <a:pt x="13" y="159"/>
                  </a:lnTo>
                  <a:close/>
                  <a:moveTo>
                    <a:pt x="13" y="256"/>
                  </a:moveTo>
                  <a:lnTo>
                    <a:pt x="13" y="312"/>
                  </a:lnTo>
                  <a:lnTo>
                    <a:pt x="0" y="312"/>
                  </a:lnTo>
                  <a:lnTo>
                    <a:pt x="0" y="256"/>
                  </a:lnTo>
                  <a:lnTo>
                    <a:pt x="13" y="256"/>
                  </a:lnTo>
                  <a:close/>
                  <a:moveTo>
                    <a:pt x="13" y="353"/>
                  </a:moveTo>
                  <a:lnTo>
                    <a:pt x="13" y="409"/>
                  </a:lnTo>
                  <a:lnTo>
                    <a:pt x="0" y="409"/>
                  </a:lnTo>
                  <a:lnTo>
                    <a:pt x="0" y="353"/>
                  </a:lnTo>
                  <a:lnTo>
                    <a:pt x="13" y="353"/>
                  </a:lnTo>
                  <a:close/>
                  <a:moveTo>
                    <a:pt x="13" y="450"/>
                  </a:moveTo>
                  <a:lnTo>
                    <a:pt x="13" y="506"/>
                  </a:lnTo>
                  <a:lnTo>
                    <a:pt x="0" y="506"/>
                  </a:lnTo>
                  <a:lnTo>
                    <a:pt x="0" y="450"/>
                  </a:lnTo>
                  <a:lnTo>
                    <a:pt x="13" y="450"/>
                  </a:lnTo>
                  <a:close/>
                  <a:moveTo>
                    <a:pt x="13" y="547"/>
                  </a:moveTo>
                  <a:lnTo>
                    <a:pt x="13" y="603"/>
                  </a:lnTo>
                  <a:lnTo>
                    <a:pt x="0" y="603"/>
                  </a:lnTo>
                  <a:lnTo>
                    <a:pt x="0" y="547"/>
                  </a:lnTo>
                  <a:lnTo>
                    <a:pt x="13" y="547"/>
                  </a:lnTo>
                  <a:close/>
                  <a:moveTo>
                    <a:pt x="13" y="644"/>
                  </a:moveTo>
                  <a:lnTo>
                    <a:pt x="13" y="700"/>
                  </a:lnTo>
                  <a:lnTo>
                    <a:pt x="0" y="700"/>
                  </a:lnTo>
                  <a:lnTo>
                    <a:pt x="0" y="644"/>
                  </a:lnTo>
                  <a:lnTo>
                    <a:pt x="13" y="644"/>
                  </a:lnTo>
                  <a:close/>
                  <a:moveTo>
                    <a:pt x="13" y="741"/>
                  </a:moveTo>
                  <a:lnTo>
                    <a:pt x="13" y="796"/>
                  </a:lnTo>
                  <a:lnTo>
                    <a:pt x="0" y="796"/>
                  </a:lnTo>
                  <a:lnTo>
                    <a:pt x="0" y="741"/>
                  </a:lnTo>
                  <a:lnTo>
                    <a:pt x="13" y="741"/>
                  </a:lnTo>
                  <a:close/>
                  <a:moveTo>
                    <a:pt x="13" y="838"/>
                  </a:moveTo>
                  <a:lnTo>
                    <a:pt x="13" y="893"/>
                  </a:lnTo>
                  <a:lnTo>
                    <a:pt x="0" y="893"/>
                  </a:lnTo>
                  <a:lnTo>
                    <a:pt x="0" y="838"/>
                  </a:lnTo>
                  <a:lnTo>
                    <a:pt x="13" y="838"/>
                  </a:lnTo>
                  <a:close/>
                  <a:moveTo>
                    <a:pt x="13" y="935"/>
                  </a:moveTo>
                  <a:lnTo>
                    <a:pt x="13" y="990"/>
                  </a:lnTo>
                  <a:lnTo>
                    <a:pt x="0" y="990"/>
                  </a:lnTo>
                  <a:lnTo>
                    <a:pt x="0" y="935"/>
                  </a:lnTo>
                  <a:lnTo>
                    <a:pt x="13" y="935"/>
                  </a:lnTo>
                  <a:close/>
                  <a:moveTo>
                    <a:pt x="23" y="1008"/>
                  </a:moveTo>
                  <a:lnTo>
                    <a:pt x="78" y="1008"/>
                  </a:lnTo>
                  <a:lnTo>
                    <a:pt x="78" y="1022"/>
                  </a:lnTo>
                  <a:lnTo>
                    <a:pt x="23" y="1022"/>
                  </a:lnTo>
                  <a:lnTo>
                    <a:pt x="23" y="1008"/>
                  </a:lnTo>
                  <a:close/>
                  <a:moveTo>
                    <a:pt x="120" y="1008"/>
                  </a:moveTo>
                  <a:lnTo>
                    <a:pt x="175" y="1008"/>
                  </a:lnTo>
                  <a:lnTo>
                    <a:pt x="175" y="1022"/>
                  </a:lnTo>
                  <a:lnTo>
                    <a:pt x="120" y="1022"/>
                  </a:lnTo>
                  <a:lnTo>
                    <a:pt x="120" y="1008"/>
                  </a:lnTo>
                  <a:close/>
                  <a:moveTo>
                    <a:pt x="217" y="1008"/>
                  </a:moveTo>
                  <a:lnTo>
                    <a:pt x="272" y="1008"/>
                  </a:lnTo>
                  <a:lnTo>
                    <a:pt x="272" y="1022"/>
                  </a:lnTo>
                  <a:lnTo>
                    <a:pt x="217" y="1022"/>
                  </a:lnTo>
                  <a:lnTo>
                    <a:pt x="217" y="1008"/>
                  </a:lnTo>
                  <a:close/>
                  <a:moveTo>
                    <a:pt x="314" y="1008"/>
                  </a:moveTo>
                  <a:lnTo>
                    <a:pt x="369" y="1008"/>
                  </a:lnTo>
                  <a:lnTo>
                    <a:pt x="369" y="1022"/>
                  </a:lnTo>
                  <a:lnTo>
                    <a:pt x="314" y="1022"/>
                  </a:lnTo>
                  <a:lnTo>
                    <a:pt x="314" y="1008"/>
                  </a:lnTo>
                  <a:close/>
                  <a:moveTo>
                    <a:pt x="411" y="1008"/>
                  </a:moveTo>
                  <a:lnTo>
                    <a:pt x="466" y="1008"/>
                  </a:lnTo>
                  <a:lnTo>
                    <a:pt x="466" y="1022"/>
                  </a:lnTo>
                  <a:lnTo>
                    <a:pt x="411" y="1022"/>
                  </a:lnTo>
                  <a:lnTo>
                    <a:pt x="411" y="1008"/>
                  </a:lnTo>
                  <a:close/>
                  <a:moveTo>
                    <a:pt x="508" y="1008"/>
                  </a:moveTo>
                  <a:lnTo>
                    <a:pt x="563" y="1008"/>
                  </a:lnTo>
                  <a:lnTo>
                    <a:pt x="563" y="1022"/>
                  </a:lnTo>
                  <a:lnTo>
                    <a:pt x="508" y="1022"/>
                  </a:lnTo>
                  <a:lnTo>
                    <a:pt x="508" y="1008"/>
                  </a:lnTo>
                  <a:close/>
                  <a:moveTo>
                    <a:pt x="605" y="1008"/>
                  </a:moveTo>
                  <a:lnTo>
                    <a:pt x="660" y="1008"/>
                  </a:lnTo>
                  <a:lnTo>
                    <a:pt x="660" y="1022"/>
                  </a:lnTo>
                  <a:lnTo>
                    <a:pt x="605" y="1022"/>
                  </a:lnTo>
                  <a:lnTo>
                    <a:pt x="605" y="1008"/>
                  </a:lnTo>
                  <a:close/>
                  <a:moveTo>
                    <a:pt x="702" y="1008"/>
                  </a:moveTo>
                  <a:lnTo>
                    <a:pt x="757" y="1008"/>
                  </a:lnTo>
                  <a:lnTo>
                    <a:pt x="757" y="1022"/>
                  </a:lnTo>
                  <a:lnTo>
                    <a:pt x="702" y="1022"/>
                  </a:lnTo>
                  <a:lnTo>
                    <a:pt x="702" y="1008"/>
                  </a:lnTo>
                  <a:close/>
                  <a:moveTo>
                    <a:pt x="799" y="1008"/>
                  </a:moveTo>
                  <a:lnTo>
                    <a:pt x="854" y="1008"/>
                  </a:lnTo>
                  <a:lnTo>
                    <a:pt x="854" y="1022"/>
                  </a:lnTo>
                  <a:lnTo>
                    <a:pt x="799" y="1022"/>
                  </a:lnTo>
                  <a:lnTo>
                    <a:pt x="799" y="1008"/>
                  </a:lnTo>
                  <a:close/>
                  <a:moveTo>
                    <a:pt x="896" y="1008"/>
                  </a:moveTo>
                  <a:lnTo>
                    <a:pt x="951" y="1008"/>
                  </a:lnTo>
                  <a:lnTo>
                    <a:pt x="951" y="1022"/>
                  </a:lnTo>
                  <a:lnTo>
                    <a:pt x="896" y="1022"/>
                  </a:lnTo>
                  <a:lnTo>
                    <a:pt x="896" y="1008"/>
                  </a:lnTo>
                  <a:close/>
                  <a:moveTo>
                    <a:pt x="993" y="1008"/>
                  </a:moveTo>
                  <a:lnTo>
                    <a:pt x="1048" y="1008"/>
                  </a:lnTo>
                  <a:lnTo>
                    <a:pt x="1048" y="1022"/>
                  </a:lnTo>
                  <a:lnTo>
                    <a:pt x="993" y="1022"/>
                  </a:lnTo>
                  <a:lnTo>
                    <a:pt x="993" y="1008"/>
                  </a:lnTo>
                  <a:close/>
                  <a:moveTo>
                    <a:pt x="1090" y="1008"/>
                  </a:moveTo>
                  <a:lnTo>
                    <a:pt x="1145" y="1008"/>
                  </a:lnTo>
                  <a:lnTo>
                    <a:pt x="1145" y="1022"/>
                  </a:lnTo>
                  <a:lnTo>
                    <a:pt x="1090" y="1022"/>
                  </a:lnTo>
                  <a:lnTo>
                    <a:pt x="1090" y="1008"/>
                  </a:lnTo>
                  <a:close/>
                  <a:moveTo>
                    <a:pt x="1187" y="1008"/>
                  </a:moveTo>
                  <a:lnTo>
                    <a:pt x="1242" y="1008"/>
                  </a:lnTo>
                  <a:lnTo>
                    <a:pt x="1242" y="1022"/>
                  </a:lnTo>
                  <a:lnTo>
                    <a:pt x="1187" y="1022"/>
                  </a:lnTo>
                  <a:lnTo>
                    <a:pt x="1187" y="1008"/>
                  </a:lnTo>
                  <a:close/>
                  <a:moveTo>
                    <a:pt x="1283" y="1008"/>
                  </a:moveTo>
                  <a:lnTo>
                    <a:pt x="1339" y="1008"/>
                  </a:lnTo>
                  <a:lnTo>
                    <a:pt x="1339" y="1022"/>
                  </a:lnTo>
                  <a:lnTo>
                    <a:pt x="1283" y="1022"/>
                  </a:lnTo>
                  <a:lnTo>
                    <a:pt x="1283" y="1008"/>
                  </a:lnTo>
                  <a:close/>
                  <a:moveTo>
                    <a:pt x="1380" y="1008"/>
                  </a:moveTo>
                  <a:lnTo>
                    <a:pt x="1436" y="1008"/>
                  </a:lnTo>
                  <a:lnTo>
                    <a:pt x="1436" y="1022"/>
                  </a:lnTo>
                  <a:lnTo>
                    <a:pt x="1380" y="1022"/>
                  </a:lnTo>
                  <a:lnTo>
                    <a:pt x="1380" y="1008"/>
                  </a:lnTo>
                  <a:close/>
                  <a:moveTo>
                    <a:pt x="1477" y="1008"/>
                  </a:moveTo>
                  <a:lnTo>
                    <a:pt x="1533" y="1008"/>
                  </a:lnTo>
                  <a:lnTo>
                    <a:pt x="1533" y="1022"/>
                  </a:lnTo>
                  <a:lnTo>
                    <a:pt x="1477" y="1022"/>
                  </a:lnTo>
                  <a:lnTo>
                    <a:pt x="1477" y="1008"/>
                  </a:lnTo>
                  <a:close/>
                  <a:moveTo>
                    <a:pt x="1574" y="1008"/>
                  </a:moveTo>
                  <a:lnTo>
                    <a:pt x="1630" y="1008"/>
                  </a:lnTo>
                  <a:lnTo>
                    <a:pt x="1630" y="1022"/>
                  </a:lnTo>
                  <a:lnTo>
                    <a:pt x="1574" y="1022"/>
                  </a:lnTo>
                  <a:lnTo>
                    <a:pt x="1574" y="1008"/>
                  </a:lnTo>
                  <a:close/>
                  <a:moveTo>
                    <a:pt x="1671" y="1008"/>
                  </a:moveTo>
                  <a:lnTo>
                    <a:pt x="1727" y="1008"/>
                  </a:lnTo>
                  <a:lnTo>
                    <a:pt x="1727" y="1022"/>
                  </a:lnTo>
                  <a:lnTo>
                    <a:pt x="1671" y="1022"/>
                  </a:lnTo>
                  <a:lnTo>
                    <a:pt x="1671" y="1008"/>
                  </a:lnTo>
                  <a:close/>
                  <a:moveTo>
                    <a:pt x="1768" y="1008"/>
                  </a:moveTo>
                  <a:lnTo>
                    <a:pt x="1824" y="1008"/>
                  </a:lnTo>
                  <a:lnTo>
                    <a:pt x="1824" y="1022"/>
                  </a:lnTo>
                  <a:lnTo>
                    <a:pt x="1768" y="1022"/>
                  </a:lnTo>
                  <a:lnTo>
                    <a:pt x="1768" y="1008"/>
                  </a:lnTo>
                  <a:close/>
                  <a:moveTo>
                    <a:pt x="1865" y="1008"/>
                  </a:moveTo>
                  <a:lnTo>
                    <a:pt x="1921" y="1008"/>
                  </a:lnTo>
                  <a:lnTo>
                    <a:pt x="1921" y="1022"/>
                  </a:lnTo>
                  <a:lnTo>
                    <a:pt x="1865" y="1022"/>
                  </a:lnTo>
                  <a:lnTo>
                    <a:pt x="1865" y="1008"/>
                  </a:lnTo>
                  <a:close/>
                  <a:moveTo>
                    <a:pt x="1962" y="1008"/>
                  </a:moveTo>
                  <a:lnTo>
                    <a:pt x="2018" y="1008"/>
                  </a:lnTo>
                  <a:lnTo>
                    <a:pt x="2018" y="1022"/>
                  </a:lnTo>
                  <a:lnTo>
                    <a:pt x="1962" y="1022"/>
                  </a:lnTo>
                  <a:lnTo>
                    <a:pt x="1962" y="1008"/>
                  </a:lnTo>
                  <a:close/>
                  <a:moveTo>
                    <a:pt x="2059" y="1008"/>
                  </a:moveTo>
                  <a:lnTo>
                    <a:pt x="2115" y="1008"/>
                  </a:lnTo>
                  <a:lnTo>
                    <a:pt x="2115" y="1022"/>
                  </a:lnTo>
                  <a:lnTo>
                    <a:pt x="2059" y="1022"/>
                  </a:lnTo>
                  <a:lnTo>
                    <a:pt x="2059" y="1008"/>
                  </a:lnTo>
                  <a:close/>
                  <a:moveTo>
                    <a:pt x="2156" y="1008"/>
                  </a:moveTo>
                  <a:lnTo>
                    <a:pt x="2211" y="1008"/>
                  </a:lnTo>
                  <a:lnTo>
                    <a:pt x="2211" y="1022"/>
                  </a:lnTo>
                  <a:lnTo>
                    <a:pt x="2156" y="1022"/>
                  </a:lnTo>
                  <a:lnTo>
                    <a:pt x="2156" y="1008"/>
                  </a:lnTo>
                  <a:close/>
                  <a:moveTo>
                    <a:pt x="2253" y="1008"/>
                  </a:moveTo>
                  <a:lnTo>
                    <a:pt x="2308" y="1008"/>
                  </a:lnTo>
                  <a:lnTo>
                    <a:pt x="2308" y="1022"/>
                  </a:lnTo>
                  <a:lnTo>
                    <a:pt x="2253" y="1022"/>
                  </a:lnTo>
                  <a:lnTo>
                    <a:pt x="2253" y="1008"/>
                  </a:lnTo>
                  <a:close/>
                  <a:moveTo>
                    <a:pt x="2350" y="1008"/>
                  </a:moveTo>
                  <a:lnTo>
                    <a:pt x="2405" y="1008"/>
                  </a:lnTo>
                  <a:lnTo>
                    <a:pt x="2405" y="1022"/>
                  </a:lnTo>
                  <a:lnTo>
                    <a:pt x="2350" y="1022"/>
                  </a:lnTo>
                  <a:lnTo>
                    <a:pt x="2350" y="1008"/>
                  </a:lnTo>
                  <a:close/>
                  <a:moveTo>
                    <a:pt x="2447" y="1008"/>
                  </a:moveTo>
                  <a:lnTo>
                    <a:pt x="2502" y="1008"/>
                  </a:lnTo>
                  <a:lnTo>
                    <a:pt x="2502" y="1022"/>
                  </a:lnTo>
                  <a:lnTo>
                    <a:pt x="2447" y="1022"/>
                  </a:lnTo>
                  <a:lnTo>
                    <a:pt x="2447" y="1008"/>
                  </a:lnTo>
                  <a:close/>
                  <a:moveTo>
                    <a:pt x="2544" y="1008"/>
                  </a:moveTo>
                  <a:lnTo>
                    <a:pt x="2599" y="1008"/>
                  </a:lnTo>
                  <a:lnTo>
                    <a:pt x="2599" y="1022"/>
                  </a:lnTo>
                  <a:lnTo>
                    <a:pt x="2544" y="1022"/>
                  </a:lnTo>
                  <a:lnTo>
                    <a:pt x="2544" y="1008"/>
                  </a:lnTo>
                  <a:close/>
                  <a:moveTo>
                    <a:pt x="2641" y="1008"/>
                  </a:moveTo>
                  <a:lnTo>
                    <a:pt x="2696" y="1008"/>
                  </a:lnTo>
                  <a:lnTo>
                    <a:pt x="2696" y="1022"/>
                  </a:lnTo>
                  <a:lnTo>
                    <a:pt x="2641" y="1022"/>
                  </a:lnTo>
                  <a:lnTo>
                    <a:pt x="2641" y="1008"/>
                  </a:lnTo>
                  <a:close/>
                  <a:moveTo>
                    <a:pt x="2738" y="1008"/>
                  </a:moveTo>
                  <a:lnTo>
                    <a:pt x="2793" y="1008"/>
                  </a:lnTo>
                  <a:lnTo>
                    <a:pt x="2793" y="1022"/>
                  </a:lnTo>
                  <a:lnTo>
                    <a:pt x="2738" y="1022"/>
                  </a:lnTo>
                  <a:lnTo>
                    <a:pt x="2738" y="1008"/>
                  </a:lnTo>
                  <a:close/>
                  <a:moveTo>
                    <a:pt x="2835" y="1008"/>
                  </a:moveTo>
                  <a:lnTo>
                    <a:pt x="2890" y="1008"/>
                  </a:lnTo>
                  <a:lnTo>
                    <a:pt x="2890" y="1022"/>
                  </a:lnTo>
                  <a:lnTo>
                    <a:pt x="2835" y="1022"/>
                  </a:lnTo>
                  <a:lnTo>
                    <a:pt x="2835" y="1008"/>
                  </a:lnTo>
                  <a:close/>
                  <a:moveTo>
                    <a:pt x="2932" y="1008"/>
                  </a:moveTo>
                  <a:lnTo>
                    <a:pt x="2987" y="1008"/>
                  </a:lnTo>
                  <a:lnTo>
                    <a:pt x="2987" y="1022"/>
                  </a:lnTo>
                  <a:lnTo>
                    <a:pt x="2932" y="1022"/>
                  </a:lnTo>
                  <a:lnTo>
                    <a:pt x="2932" y="1008"/>
                  </a:lnTo>
                  <a:close/>
                  <a:moveTo>
                    <a:pt x="3029" y="1008"/>
                  </a:moveTo>
                  <a:lnTo>
                    <a:pt x="3084" y="1008"/>
                  </a:lnTo>
                  <a:lnTo>
                    <a:pt x="3084" y="1022"/>
                  </a:lnTo>
                  <a:lnTo>
                    <a:pt x="3029" y="1022"/>
                  </a:lnTo>
                  <a:lnTo>
                    <a:pt x="3029" y="1008"/>
                  </a:lnTo>
                  <a:close/>
                  <a:moveTo>
                    <a:pt x="3126" y="1008"/>
                  </a:moveTo>
                  <a:lnTo>
                    <a:pt x="3181" y="1008"/>
                  </a:lnTo>
                  <a:lnTo>
                    <a:pt x="3181" y="1022"/>
                  </a:lnTo>
                  <a:lnTo>
                    <a:pt x="3126" y="1022"/>
                  </a:lnTo>
                  <a:lnTo>
                    <a:pt x="3126" y="1008"/>
                  </a:lnTo>
                  <a:close/>
                  <a:moveTo>
                    <a:pt x="3223" y="1008"/>
                  </a:moveTo>
                  <a:lnTo>
                    <a:pt x="3278" y="1008"/>
                  </a:lnTo>
                  <a:lnTo>
                    <a:pt x="3278" y="1022"/>
                  </a:lnTo>
                  <a:lnTo>
                    <a:pt x="3223" y="1022"/>
                  </a:lnTo>
                  <a:lnTo>
                    <a:pt x="3223" y="1008"/>
                  </a:lnTo>
                  <a:close/>
                  <a:moveTo>
                    <a:pt x="3320" y="1008"/>
                  </a:moveTo>
                  <a:lnTo>
                    <a:pt x="3375" y="1008"/>
                  </a:lnTo>
                  <a:lnTo>
                    <a:pt x="3375" y="1022"/>
                  </a:lnTo>
                  <a:lnTo>
                    <a:pt x="3320" y="1022"/>
                  </a:lnTo>
                  <a:lnTo>
                    <a:pt x="3320" y="1008"/>
                  </a:lnTo>
                  <a:close/>
                  <a:moveTo>
                    <a:pt x="3416" y="1008"/>
                  </a:moveTo>
                  <a:lnTo>
                    <a:pt x="3472" y="1008"/>
                  </a:lnTo>
                  <a:lnTo>
                    <a:pt x="3472" y="1022"/>
                  </a:lnTo>
                  <a:lnTo>
                    <a:pt x="3416" y="1022"/>
                  </a:lnTo>
                  <a:lnTo>
                    <a:pt x="3416" y="1008"/>
                  </a:lnTo>
                  <a:close/>
                  <a:moveTo>
                    <a:pt x="3513" y="1008"/>
                  </a:moveTo>
                  <a:lnTo>
                    <a:pt x="3569" y="1008"/>
                  </a:lnTo>
                  <a:lnTo>
                    <a:pt x="3569" y="1022"/>
                  </a:lnTo>
                  <a:lnTo>
                    <a:pt x="3513" y="1022"/>
                  </a:lnTo>
                  <a:lnTo>
                    <a:pt x="3513" y="1008"/>
                  </a:lnTo>
                  <a:close/>
                  <a:moveTo>
                    <a:pt x="3610" y="1008"/>
                  </a:moveTo>
                  <a:lnTo>
                    <a:pt x="3666" y="1008"/>
                  </a:lnTo>
                  <a:lnTo>
                    <a:pt x="3666" y="1022"/>
                  </a:lnTo>
                  <a:lnTo>
                    <a:pt x="3610" y="1022"/>
                  </a:lnTo>
                  <a:lnTo>
                    <a:pt x="3610" y="1008"/>
                  </a:lnTo>
                  <a:close/>
                  <a:moveTo>
                    <a:pt x="3707" y="1008"/>
                  </a:moveTo>
                  <a:lnTo>
                    <a:pt x="3763" y="1008"/>
                  </a:lnTo>
                  <a:lnTo>
                    <a:pt x="3763" y="1022"/>
                  </a:lnTo>
                  <a:lnTo>
                    <a:pt x="3707" y="1022"/>
                  </a:lnTo>
                  <a:lnTo>
                    <a:pt x="3707" y="1008"/>
                  </a:lnTo>
                  <a:close/>
                  <a:moveTo>
                    <a:pt x="3804" y="1008"/>
                  </a:moveTo>
                  <a:lnTo>
                    <a:pt x="3860" y="1008"/>
                  </a:lnTo>
                  <a:lnTo>
                    <a:pt x="3860" y="1022"/>
                  </a:lnTo>
                  <a:lnTo>
                    <a:pt x="3804" y="1022"/>
                  </a:lnTo>
                  <a:lnTo>
                    <a:pt x="3804" y="1008"/>
                  </a:lnTo>
                  <a:close/>
                  <a:moveTo>
                    <a:pt x="3901" y="1008"/>
                  </a:moveTo>
                  <a:lnTo>
                    <a:pt x="3957" y="1008"/>
                  </a:lnTo>
                  <a:lnTo>
                    <a:pt x="3957" y="1022"/>
                  </a:lnTo>
                  <a:lnTo>
                    <a:pt x="3901" y="1022"/>
                  </a:lnTo>
                  <a:lnTo>
                    <a:pt x="3901" y="1008"/>
                  </a:lnTo>
                  <a:close/>
                  <a:moveTo>
                    <a:pt x="3998" y="1008"/>
                  </a:moveTo>
                  <a:lnTo>
                    <a:pt x="4054" y="1008"/>
                  </a:lnTo>
                  <a:lnTo>
                    <a:pt x="4054" y="1022"/>
                  </a:lnTo>
                  <a:lnTo>
                    <a:pt x="3998" y="1022"/>
                  </a:lnTo>
                  <a:lnTo>
                    <a:pt x="3998" y="1008"/>
                  </a:lnTo>
                  <a:close/>
                  <a:moveTo>
                    <a:pt x="4095" y="1008"/>
                  </a:moveTo>
                  <a:lnTo>
                    <a:pt x="4151" y="1008"/>
                  </a:lnTo>
                  <a:lnTo>
                    <a:pt x="4151" y="1022"/>
                  </a:lnTo>
                  <a:lnTo>
                    <a:pt x="4095" y="1022"/>
                  </a:lnTo>
                  <a:lnTo>
                    <a:pt x="4095" y="1008"/>
                  </a:lnTo>
                  <a:close/>
                  <a:moveTo>
                    <a:pt x="4192" y="1008"/>
                  </a:moveTo>
                  <a:lnTo>
                    <a:pt x="4248" y="1008"/>
                  </a:lnTo>
                  <a:lnTo>
                    <a:pt x="4248" y="1022"/>
                  </a:lnTo>
                  <a:lnTo>
                    <a:pt x="4192" y="1022"/>
                  </a:lnTo>
                  <a:lnTo>
                    <a:pt x="4192" y="1008"/>
                  </a:lnTo>
                  <a:close/>
                  <a:moveTo>
                    <a:pt x="4289" y="1008"/>
                  </a:moveTo>
                  <a:lnTo>
                    <a:pt x="4344" y="1008"/>
                  </a:lnTo>
                  <a:lnTo>
                    <a:pt x="4344" y="1022"/>
                  </a:lnTo>
                  <a:lnTo>
                    <a:pt x="4289" y="1022"/>
                  </a:lnTo>
                  <a:lnTo>
                    <a:pt x="4289" y="1008"/>
                  </a:lnTo>
                  <a:close/>
                  <a:moveTo>
                    <a:pt x="4386" y="1008"/>
                  </a:moveTo>
                  <a:lnTo>
                    <a:pt x="4441" y="1008"/>
                  </a:lnTo>
                  <a:lnTo>
                    <a:pt x="4441" y="1022"/>
                  </a:lnTo>
                  <a:lnTo>
                    <a:pt x="4386" y="1022"/>
                  </a:lnTo>
                  <a:lnTo>
                    <a:pt x="4386" y="1008"/>
                  </a:lnTo>
                  <a:close/>
                  <a:moveTo>
                    <a:pt x="4483" y="1008"/>
                  </a:moveTo>
                  <a:lnTo>
                    <a:pt x="4538" y="1008"/>
                  </a:lnTo>
                  <a:lnTo>
                    <a:pt x="4538" y="1022"/>
                  </a:lnTo>
                  <a:lnTo>
                    <a:pt x="4483" y="1022"/>
                  </a:lnTo>
                  <a:lnTo>
                    <a:pt x="4483" y="1008"/>
                  </a:lnTo>
                  <a:close/>
                  <a:moveTo>
                    <a:pt x="4580" y="1008"/>
                  </a:moveTo>
                  <a:lnTo>
                    <a:pt x="4635" y="1008"/>
                  </a:lnTo>
                  <a:lnTo>
                    <a:pt x="4635" y="1022"/>
                  </a:lnTo>
                  <a:lnTo>
                    <a:pt x="4580" y="1022"/>
                  </a:lnTo>
                  <a:lnTo>
                    <a:pt x="4580" y="1008"/>
                  </a:lnTo>
                  <a:close/>
                  <a:moveTo>
                    <a:pt x="4677" y="1008"/>
                  </a:moveTo>
                  <a:lnTo>
                    <a:pt x="4732" y="1008"/>
                  </a:lnTo>
                  <a:lnTo>
                    <a:pt x="4732" y="1022"/>
                  </a:lnTo>
                  <a:lnTo>
                    <a:pt x="4677" y="1022"/>
                  </a:lnTo>
                  <a:lnTo>
                    <a:pt x="4677" y="1008"/>
                  </a:lnTo>
                  <a:close/>
                  <a:moveTo>
                    <a:pt x="4774" y="1008"/>
                  </a:moveTo>
                  <a:lnTo>
                    <a:pt x="4829" y="1008"/>
                  </a:lnTo>
                  <a:lnTo>
                    <a:pt x="4829" y="1022"/>
                  </a:lnTo>
                  <a:lnTo>
                    <a:pt x="4774" y="1022"/>
                  </a:lnTo>
                  <a:lnTo>
                    <a:pt x="4774" y="1008"/>
                  </a:lnTo>
                  <a:close/>
                  <a:moveTo>
                    <a:pt x="4871" y="1008"/>
                  </a:moveTo>
                  <a:lnTo>
                    <a:pt x="4926" y="1008"/>
                  </a:lnTo>
                  <a:lnTo>
                    <a:pt x="4926" y="1022"/>
                  </a:lnTo>
                  <a:lnTo>
                    <a:pt x="4871" y="1022"/>
                  </a:lnTo>
                  <a:lnTo>
                    <a:pt x="4871" y="1008"/>
                  </a:lnTo>
                  <a:close/>
                  <a:moveTo>
                    <a:pt x="4968" y="1008"/>
                  </a:moveTo>
                  <a:lnTo>
                    <a:pt x="4993" y="1008"/>
                  </a:lnTo>
                  <a:lnTo>
                    <a:pt x="4986" y="1015"/>
                  </a:lnTo>
                  <a:lnTo>
                    <a:pt x="4986" y="985"/>
                  </a:lnTo>
                  <a:lnTo>
                    <a:pt x="5000" y="985"/>
                  </a:lnTo>
                  <a:lnTo>
                    <a:pt x="5000" y="1022"/>
                  </a:lnTo>
                  <a:lnTo>
                    <a:pt x="4968" y="1022"/>
                  </a:lnTo>
                  <a:lnTo>
                    <a:pt x="4968" y="1008"/>
                  </a:lnTo>
                  <a:close/>
                  <a:moveTo>
                    <a:pt x="4986" y="943"/>
                  </a:moveTo>
                  <a:lnTo>
                    <a:pt x="4986" y="888"/>
                  </a:lnTo>
                  <a:lnTo>
                    <a:pt x="5000" y="888"/>
                  </a:lnTo>
                  <a:lnTo>
                    <a:pt x="5000" y="943"/>
                  </a:lnTo>
                  <a:lnTo>
                    <a:pt x="4986" y="943"/>
                  </a:lnTo>
                  <a:close/>
                  <a:moveTo>
                    <a:pt x="4986" y="846"/>
                  </a:moveTo>
                  <a:lnTo>
                    <a:pt x="4986" y="791"/>
                  </a:lnTo>
                  <a:lnTo>
                    <a:pt x="5000" y="791"/>
                  </a:lnTo>
                  <a:lnTo>
                    <a:pt x="5000" y="846"/>
                  </a:lnTo>
                  <a:lnTo>
                    <a:pt x="4986" y="846"/>
                  </a:lnTo>
                  <a:close/>
                  <a:moveTo>
                    <a:pt x="4986" y="749"/>
                  </a:moveTo>
                  <a:lnTo>
                    <a:pt x="4986" y="694"/>
                  </a:lnTo>
                  <a:lnTo>
                    <a:pt x="5000" y="694"/>
                  </a:lnTo>
                  <a:lnTo>
                    <a:pt x="5000" y="749"/>
                  </a:lnTo>
                  <a:lnTo>
                    <a:pt x="4986" y="749"/>
                  </a:lnTo>
                  <a:close/>
                  <a:moveTo>
                    <a:pt x="4986" y="652"/>
                  </a:moveTo>
                  <a:lnTo>
                    <a:pt x="4986" y="597"/>
                  </a:lnTo>
                  <a:lnTo>
                    <a:pt x="5000" y="597"/>
                  </a:lnTo>
                  <a:lnTo>
                    <a:pt x="5000" y="652"/>
                  </a:lnTo>
                  <a:lnTo>
                    <a:pt x="4986" y="652"/>
                  </a:lnTo>
                  <a:close/>
                  <a:moveTo>
                    <a:pt x="4986" y="555"/>
                  </a:moveTo>
                  <a:lnTo>
                    <a:pt x="4986" y="500"/>
                  </a:lnTo>
                  <a:lnTo>
                    <a:pt x="5000" y="500"/>
                  </a:lnTo>
                  <a:lnTo>
                    <a:pt x="5000" y="555"/>
                  </a:lnTo>
                  <a:lnTo>
                    <a:pt x="4986" y="555"/>
                  </a:lnTo>
                  <a:close/>
                  <a:moveTo>
                    <a:pt x="4986" y="459"/>
                  </a:moveTo>
                  <a:lnTo>
                    <a:pt x="4986" y="403"/>
                  </a:lnTo>
                  <a:lnTo>
                    <a:pt x="5000" y="403"/>
                  </a:lnTo>
                  <a:lnTo>
                    <a:pt x="5000" y="459"/>
                  </a:lnTo>
                  <a:lnTo>
                    <a:pt x="4986" y="459"/>
                  </a:lnTo>
                  <a:close/>
                  <a:moveTo>
                    <a:pt x="4986" y="362"/>
                  </a:moveTo>
                  <a:lnTo>
                    <a:pt x="4986" y="306"/>
                  </a:lnTo>
                  <a:lnTo>
                    <a:pt x="5000" y="306"/>
                  </a:lnTo>
                  <a:lnTo>
                    <a:pt x="5000" y="362"/>
                  </a:lnTo>
                  <a:lnTo>
                    <a:pt x="4986" y="362"/>
                  </a:lnTo>
                  <a:close/>
                  <a:moveTo>
                    <a:pt x="4986" y="265"/>
                  </a:moveTo>
                  <a:lnTo>
                    <a:pt x="4986" y="209"/>
                  </a:lnTo>
                  <a:lnTo>
                    <a:pt x="5000" y="209"/>
                  </a:lnTo>
                  <a:lnTo>
                    <a:pt x="5000" y="265"/>
                  </a:lnTo>
                  <a:lnTo>
                    <a:pt x="4986" y="265"/>
                  </a:lnTo>
                  <a:close/>
                  <a:moveTo>
                    <a:pt x="4986" y="168"/>
                  </a:moveTo>
                  <a:lnTo>
                    <a:pt x="4986" y="112"/>
                  </a:lnTo>
                  <a:lnTo>
                    <a:pt x="5000" y="112"/>
                  </a:lnTo>
                  <a:lnTo>
                    <a:pt x="5000" y="168"/>
                  </a:lnTo>
                  <a:lnTo>
                    <a:pt x="4986" y="168"/>
                  </a:lnTo>
                  <a:close/>
                  <a:moveTo>
                    <a:pt x="4986" y="71"/>
                  </a:moveTo>
                  <a:lnTo>
                    <a:pt x="4986" y="15"/>
                  </a:lnTo>
                  <a:lnTo>
                    <a:pt x="5000" y="15"/>
                  </a:lnTo>
                  <a:lnTo>
                    <a:pt x="5000" y="71"/>
                  </a:lnTo>
                  <a:lnTo>
                    <a:pt x="4986" y="71"/>
                  </a:lnTo>
                  <a:close/>
                </a:path>
              </a:pathLst>
            </a:custGeom>
            <a:solidFill>
              <a:srgbClr val="000000"/>
            </a:solidFill>
            <a:ln w="1" cap="flat">
              <a:solidFill>
                <a:srgbClr val="000000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481" y="2541"/>
              <a:ext cx="110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ea typeface="宋体" pitchFamily="2" charset="-122"/>
                  <a:cs typeface="宋体" pitchFamily="2" charset="-122"/>
                </a:rPr>
                <a:t> 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7" name="Rectangle 8"/>
            <p:cNvSpPr>
              <a:spLocks noChangeArrowheads="1"/>
            </p:cNvSpPr>
            <p:nvPr/>
          </p:nvSpPr>
          <p:spPr bwMode="auto">
            <a:xfrm>
              <a:off x="481" y="2837"/>
              <a:ext cx="25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预测</a:t>
              </a:r>
              <a:endParaRPr kumimoji="0" 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8" name="Rectangle 9"/>
            <p:cNvSpPr>
              <a:spLocks noChangeArrowheads="1"/>
            </p:cNvSpPr>
            <p:nvPr/>
          </p:nvSpPr>
          <p:spPr bwMode="auto">
            <a:xfrm>
              <a:off x="813" y="2832"/>
              <a:ext cx="114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ea typeface="宋体" pitchFamily="2" charset="-122"/>
                  <a:cs typeface="宋体" pitchFamily="2" charset="-122"/>
                </a:rPr>
                <a:t>: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9" name="Rectangle 10"/>
            <p:cNvSpPr>
              <a:spLocks noChangeArrowheads="1"/>
            </p:cNvSpPr>
            <p:nvPr/>
          </p:nvSpPr>
          <p:spPr bwMode="auto">
            <a:xfrm>
              <a:off x="860" y="2832"/>
              <a:ext cx="110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ea typeface="宋体" pitchFamily="2" charset="-122"/>
                  <a:cs typeface="宋体" pitchFamily="2" charset="-122"/>
                </a:rPr>
                <a:t> 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0" name="Rectangle 11"/>
            <p:cNvSpPr>
              <a:spLocks noChangeArrowheads="1"/>
            </p:cNvSpPr>
            <p:nvPr/>
          </p:nvSpPr>
          <p:spPr bwMode="auto">
            <a:xfrm>
              <a:off x="481" y="3125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不成功</a:t>
              </a:r>
              <a:endParaRPr kumimoji="0" 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1" name="Rectangle 12"/>
            <p:cNvSpPr>
              <a:spLocks noChangeArrowheads="1"/>
            </p:cNvSpPr>
            <p:nvPr/>
          </p:nvSpPr>
          <p:spPr bwMode="auto">
            <a:xfrm>
              <a:off x="979" y="3120"/>
              <a:ext cx="110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ea typeface="宋体" pitchFamily="2" charset="-122"/>
                  <a:cs typeface="宋体" pitchFamily="2" charset="-122"/>
                </a:rPr>
                <a:t> 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2" name="Freeform 13"/>
            <p:cNvSpPr>
              <a:spLocks noEditPoints="1"/>
            </p:cNvSpPr>
            <p:nvPr/>
          </p:nvSpPr>
          <p:spPr bwMode="auto">
            <a:xfrm>
              <a:off x="333" y="1110"/>
              <a:ext cx="5000" cy="1022"/>
            </a:xfrm>
            <a:custGeom>
              <a:avLst/>
              <a:gdLst>
                <a:gd name="T0" fmla="*/ 4896 w 5000"/>
                <a:gd name="T1" fmla="*/ 13 h 1022"/>
                <a:gd name="T2" fmla="*/ 4702 w 5000"/>
                <a:gd name="T3" fmla="*/ 13 h 1022"/>
                <a:gd name="T4" fmla="*/ 4508 w 5000"/>
                <a:gd name="T5" fmla="*/ 13 h 1022"/>
                <a:gd name="T6" fmla="*/ 4314 w 5000"/>
                <a:gd name="T7" fmla="*/ 13 h 1022"/>
                <a:gd name="T8" fmla="*/ 4120 w 5000"/>
                <a:gd name="T9" fmla="*/ 13 h 1022"/>
                <a:gd name="T10" fmla="*/ 3926 w 5000"/>
                <a:gd name="T11" fmla="*/ 13 h 1022"/>
                <a:gd name="T12" fmla="*/ 3732 w 5000"/>
                <a:gd name="T13" fmla="*/ 13 h 1022"/>
                <a:gd name="T14" fmla="*/ 3538 w 5000"/>
                <a:gd name="T15" fmla="*/ 13 h 1022"/>
                <a:gd name="T16" fmla="*/ 3344 w 5000"/>
                <a:gd name="T17" fmla="*/ 13 h 1022"/>
                <a:gd name="T18" fmla="*/ 3151 w 5000"/>
                <a:gd name="T19" fmla="*/ 13 h 1022"/>
                <a:gd name="T20" fmla="*/ 2957 w 5000"/>
                <a:gd name="T21" fmla="*/ 13 h 1022"/>
                <a:gd name="T22" fmla="*/ 2763 w 5000"/>
                <a:gd name="T23" fmla="*/ 13 h 1022"/>
                <a:gd name="T24" fmla="*/ 2569 w 5000"/>
                <a:gd name="T25" fmla="*/ 13 h 1022"/>
                <a:gd name="T26" fmla="*/ 2375 w 5000"/>
                <a:gd name="T27" fmla="*/ 13 h 1022"/>
                <a:gd name="T28" fmla="*/ 2181 w 5000"/>
                <a:gd name="T29" fmla="*/ 13 h 1022"/>
                <a:gd name="T30" fmla="*/ 1987 w 5000"/>
                <a:gd name="T31" fmla="*/ 13 h 1022"/>
                <a:gd name="T32" fmla="*/ 1793 w 5000"/>
                <a:gd name="T33" fmla="*/ 13 h 1022"/>
                <a:gd name="T34" fmla="*/ 1599 w 5000"/>
                <a:gd name="T35" fmla="*/ 13 h 1022"/>
                <a:gd name="T36" fmla="*/ 1405 w 5000"/>
                <a:gd name="T37" fmla="*/ 13 h 1022"/>
                <a:gd name="T38" fmla="*/ 1211 w 5000"/>
                <a:gd name="T39" fmla="*/ 13 h 1022"/>
                <a:gd name="T40" fmla="*/ 1018 w 5000"/>
                <a:gd name="T41" fmla="*/ 13 h 1022"/>
                <a:gd name="T42" fmla="*/ 824 w 5000"/>
                <a:gd name="T43" fmla="*/ 13 h 1022"/>
                <a:gd name="T44" fmla="*/ 630 w 5000"/>
                <a:gd name="T45" fmla="*/ 13 h 1022"/>
                <a:gd name="T46" fmla="*/ 436 w 5000"/>
                <a:gd name="T47" fmla="*/ 13 h 1022"/>
                <a:gd name="T48" fmla="*/ 242 w 5000"/>
                <a:gd name="T49" fmla="*/ 13 h 1022"/>
                <a:gd name="T50" fmla="*/ 0 w 5000"/>
                <a:gd name="T51" fmla="*/ 20 h 1022"/>
                <a:gd name="T52" fmla="*/ 13 w 5000"/>
                <a:gd name="T53" fmla="*/ 214 h 1022"/>
                <a:gd name="T54" fmla="*/ 13 w 5000"/>
                <a:gd name="T55" fmla="*/ 408 h 1022"/>
                <a:gd name="T56" fmla="*/ 13 w 5000"/>
                <a:gd name="T57" fmla="*/ 602 h 1022"/>
                <a:gd name="T58" fmla="*/ 13 w 5000"/>
                <a:gd name="T59" fmla="*/ 796 h 1022"/>
                <a:gd name="T60" fmla="*/ 13 w 5000"/>
                <a:gd name="T61" fmla="*/ 990 h 1022"/>
                <a:gd name="T62" fmla="*/ 175 w 5000"/>
                <a:gd name="T63" fmla="*/ 1008 h 1022"/>
                <a:gd name="T64" fmla="*/ 369 w 5000"/>
                <a:gd name="T65" fmla="*/ 1008 h 1022"/>
                <a:gd name="T66" fmla="*/ 563 w 5000"/>
                <a:gd name="T67" fmla="*/ 1008 h 1022"/>
                <a:gd name="T68" fmla="*/ 757 w 5000"/>
                <a:gd name="T69" fmla="*/ 1008 h 1022"/>
                <a:gd name="T70" fmla="*/ 951 w 5000"/>
                <a:gd name="T71" fmla="*/ 1008 h 1022"/>
                <a:gd name="T72" fmla="*/ 1145 w 5000"/>
                <a:gd name="T73" fmla="*/ 1008 h 1022"/>
                <a:gd name="T74" fmla="*/ 1339 w 5000"/>
                <a:gd name="T75" fmla="*/ 1008 h 1022"/>
                <a:gd name="T76" fmla="*/ 1533 w 5000"/>
                <a:gd name="T77" fmla="*/ 1008 h 1022"/>
                <a:gd name="T78" fmla="*/ 1727 w 5000"/>
                <a:gd name="T79" fmla="*/ 1008 h 1022"/>
                <a:gd name="T80" fmla="*/ 1921 w 5000"/>
                <a:gd name="T81" fmla="*/ 1008 h 1022"/>
                <a:gd name="T82" fmla="*/ 2115 w 5000"/>
                <a:gd name="T83" fmla="*/ 1008 h 1022"/>
                <a:gd name="T84" fmla="*/ 2308 w 5000"/>
                <a:gd name="T85" fmla="*/ 1008 h 1022"/>
                <a:gd name="T86" fmla="*/ 2502 w 5000"/>
                <a:gd name="T87" fmla="*/ 1008 h 1022"/>
                <a:gd name="T88" fmla="*/ 2696 w 5000"/>
                <a:gd name="T89" fmla="*/ 1008 h 1022"/>
                <a:gd name="T90" fmla="*/ 2890 w 5000"/>
                <a:gd name="T91" fmla="*/ 1008 h 1022"/>
                <a:gd name="T92" fmla="*/ 3084 w 5000"/>
                <a:gd name="T93" fmla="*/ 1008 h 1022"/>
                <a:gd name="T94" fmla="*/ 3278 w 5000"/>
                <a:gd name="T95" fmla="*/ 1008 h 1022"/>
                <a:gd name="T96" fmla="*/ 3472 w 5000"/>
                <a:gd name="T97" fmla="*/ 1008 h 1022"/>
                <a:gd name="T98" fmla="*/ 3666 w 5000"/>
                <a:gd name="T99" fmla="*/ 1008 h 1022"/>
                <a:gd name="T100" fmla="*/ 3860 w 5000"/>
                <a:gd name="T101" fmla="*/ 1008 h 1022"/>
                <a:gd name="T102" fmla="*/ 4054 w 5000"/>
                <a:gd name="T103" fmla="*/ 1008 h 1022"/>
                <a:gd name="T104" fmla="*/ 4248 w 5000"/>
                <a:gd name="T105" fmla="*/ 1008 h 1022"/>
                <a:gd name="T106" fmla="*/ 4441 w 5000"/>
                <a:gd name="T107" fmla="*/ 1008 h 1022"/>
                <a:gd name="T108" fmla="*/ 4635 w 5000"/>
                <a:gd name="T109" fmla="*/ 1008 h 1022"/>
                <a:gd name="T110" fmla="*/ 4829 w 5000"/>
                <a:gd name="T111" fmla="*/ 1008 h 1022"/>
                <a:gd name="T112" fmla="*/ 4993 w 5000"/>
                <a:gd name="T113" fmla="*/ 1008 h 1022"/>
                <a:gd name="T114" fmla="*/ 5000 w 5000"/>
                <a:gd name="T115" fmla="*/ 943 h 1022"/>
                <a:gd name="T116" fmla="*/ 5000 w 5000"/>
                <a:gd name="T117" fmla="*/ 749 h 1022"/>
                <a:gd name="T118" fmla="*/ 5000 w 5000"/>
                <a:gd name="T119" fmla="*/ 555 h 1022"/>
                <a:gd name="T120" fmla="*/ 5000 w 5000"/>
                <a:gd name="T121" fmla="*/ 361 h 1022"/>
                <a:gd name="T122" fmla="*/ 5000 w 5000"/>
                <a:gd name="T123" fmla="*/ 167 h 10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000" h="1022">
                  <a:moveTo>
                    <a:pt x="4993" y="13"/>
                  </a:moveTo>
                  <a:lnTo>
                    <a:pt x="4937" y="13"/>
                  </a:lnTo>
                  <a:lnTo>
                    <a:pt x="4937" y="0"/>
                  </a:lnTo>
                  <a:lnTo>
                    <a:pt x="4993" y="0"/>
                  </a:lnTo>
                  <a:lnTo>
                    <a:pt x="4993" y="13"/>
                  </a:lnTo>
                  <a:close/>
                  <a:moveTo>
                    <a:pt x="4896" y="13"/>
                  </a:moveTo>
                  <a:lnTo>
                    <a:pt x="4840" y="13"/>
                  </a:lnTo>
                  <a:lnTo>
                    <a:pt x="4840" y="0"/>
                  </a:lnTo>
                  <a:lnTo>
                    <a:pt x="4896" y="0"/>
                  </a:lnTo>
                  <a:lnTo>
                    <a:pt x="4896" y="13"/>
                  </a:lnTo>
                  <a:close/>
                  <a:moveTo>
                    <a:pt x="4799" y="13"/>
                  </a:moveTo>
                  <a:lnTo>
                    <a:pt x="4743" y="13"/>
                  </a:lnTo>
                  <a:lnTo>
                    <a:pt x="4743" y="0"/>
                  </a:lnTo>
                  <a:lnTo>
                    <a:pt x="4799" y="0"/>
                  </a:lnTo>
                  <a:lnTo>
                    <a:pt x="4799" y="13"/>
                  </a:lnTo>
                  <a:close/>
                  <a:moveTo>
                    <a:pt x="4702" y="13"/>
                  </a:moveTo>
                  <a:lnTo>
                    <a:pt x="4646" y="13"/>
                  </a:lnTo>
                  <a:lnTo>
                    <a:pt x="4646" y="0"/>
                  </a:lnTo>
                  <a:lnTo>
                    <a:pt x="4702" y="0"/>
                  </a:lnTo>
                  <a:lnTo>
                    <a:pt x="4702" y="13"/>
                  </a:lnTo>
                  <a:close/>
                  <a:moveTo>
                    <a:pt x="4605" y="13"/>
                  </a:moveTo>
                  <a:lnTo>
                    <a:pt x="4549" y="13"/>
                  </a:lnTo>
                  <a:lnTo>
                    <a:pt x="4549" y="0"/>
                  </a:lnTo>
                  <a:lnTo>
                    <a:pt x="4605" y="0"/>
                  </a:lnTo>
                  <a:lnTo>
                    <a:pt x="4605" y="13"/>
                  </a:lnTo>
                  <a:close/>
                  <a:moveTo>
                    <a:pt x="4508" y="13"/>
                  </a:moveTo>
                  <a:lnTo>
                    <a:pt x="4452" y="13"/>
                  </a:lnTo>
                  <a:lnTo>
                    <a:pt x="4452" y="0"/>
                  </a:lnTo>
                  <a:lnTo>
                    <a:pt x="4508" y="0"/>
                  </a:lnTo>
                  <a:lnTo>
                    <a:pt x="4508" y="13"/>
                  </a:lnTo>
                  <a:close/>
                  <a:moveTo>
                    <a:pt x="4411" y="13"/>
                  </a:moveTo>
                  <a:lnTo>
                    <a:pt x="4356" y="13"/>
                  </a:lnTo>
                  <a:lnTo>
                    <a:pt x="4356" y="0"/>
                  </a:lnTo>
                  <a:lnTo>
                    <a:pt x="4411" y="0"/>
                  </a:lnTo>
                  <a:lnTo>
                    <a:pt x="4411" y="13"/>
                  </a:lnTo>
                  <a:close/>
                  <a:moveTo>
                    <a:pt x="4314" y="13"/>
                  </a:moveTo>
                  <a:lnTo>
                    <a:pt x="4259" y="13"/>
                  </a:lnTo>
                  <a:lnTo>
                    <a:pt x="4259" y="0"/>
                  </a:lnTo>
                  <a:lnTo>
                    <a:pt x="4314" y="0"/>
                  </a:lnTo>
                  <a:lnTo>
                    <a:pt x="4314" y="13"/>
                  </a:lnTo>
                  <a:close/>
                  <a:moveTo>
                    <a:pt x="4217" y="13"/>
                  </a:moveTo>
                  <a:lnTo>
                    <a:pt x="4162" y="13"/>
                  </a:lnTo>
                  <a:lnTo>
                    <a:pt x="4162" y="0"/>
                  </a:lnTo>
                  <a:lnTo>
                    <a:pt x="4217" y="0"/>
                  </a:lnTo>
                  <a:lnTo>
                    <a:pt x="4217" y="13"/>
                  </a:lnTo>
                  <a:close/>
                  <a:moveTo>
                    <a:pt x="4120" y="13"/>
                  </a:moveTo>
                  <a:lnTo>
                    <a:pt x="4065" y="13"/>
                  </a:lnTo>
                  <a:lnTo>
                    <a:pt x="4065" y="0"/>
                  </a:lnTo>
                  <a:lnTo>
                    <a:pt x="4120" y="0"/>
                  </a:lnTo>
                  <a:lnTo>
                    <a:pt x="4120" y="13"/>
                  </a:lnTo>
                  <a:close/>
                  <a:moveTo>
                    <a:pt x="4023" y="13"/>
                  </a:moveTo>
                  <a:lnTo>
                    <a:pt x="3968" y="13"/>
                  </a:lnTo>
                  <a:lnTo>
                    <a:pt x="3968" y="0"/>
                  </a:lnTo>
                  <a:lnTo>
                    <a:pt x="4023" y="0"/>
                  </a:lnTo>
                  <a:lnTo>
                    <a:pt x="4023" y="13"/>
                  </a:lnTo>
                  <a:close/>
                  <a:moveTo>
                    <a:pt x="3926" y="13"/>
                  </a:moveTo>
                  <a:lnTo>
                    <a:pt x="3871" y="13"/>
                  </a:lnTo>
                  <a:lnTo>
                    <a:pt x="3871" y="0"/>
                  </a:lnTo>
                  <a:lnTo>
                    <a:pt x="3926" y="0"/>
                  </a:lnTo>
                  <a:lnTo>
                    <a:pt x="3926" y="13"/>
                  </a:lnTo>
                  <a:close/>
                  <a:moveTo>
                    <a:pt x="3829" y="13"/>
                  </a:moveTo>
                  <a:lnTo>
                    <a:pt x="3774" y="13"/>
                  </a:lnTo>
                  <a:lnTo>
                    <a:pt x="3774" y="0"/>
                  </a:lnTo>
                  <a:lnTo>
                    <a:pt x="3829" y="0"/>
                  </a:lnTo>
                  <a:lnTo>
                    <a:pt x="3829" y="13"/>
                  </a:lnTo>
                  <a:close/>
                  <a:moveTo>
                    <a:pt x="3732" y="13"/>
                  </a:moveTo>
                  <a:lnTo>
                    <a:pt x="3677" y="13"/>
                  </a:lnTo>
                  <a:lnTo>
                    <a:pt x="3677" y="0"/>
                  </a:lnTo>
                  <a:lnTo>
                    <a:pt x="3732" y="0"/>
                  </a:lnTo>
                  <a:lnTo>
                    <a:pt x="3732" y="13"/>
                  </a:lnTo>
                  <a:close/>
                  <a:moveTo>
                    <a:pt x="3635" y="13"/>
                  </a:moveTo>
                  <a:lnTo>
                    <a:pt x="3580" y="13"/>
                  </a:lnTo>
                  <a:lnTo>
                    <a:pt x="3580" y="0"/>
                  </a:lnTo>
                  <a:lnTo>
                    <a:pt x="3635" y="0"/>
                  </a:lnTo>
                  <a:lnTo>
                    <a:pt x="3635" y="13"/>
                  </a:lnTo>
                  <a:close/>
                  <a:moveTo>
                    <a:pt x="3538" y="13"/>
                  </a:moveTo>
                  <a:lnTo>
                    <a:pt x="3483" y="13"/>
                  </a:lnTo>
                  <a:lnTo>
                    <a:pt x="3483" y="0"/>
                  </a:lnTo>
                  <a:lnTo>
                    <a:pt x="3538" y="0"/>
                  </a:lnTo>
                  <a:lnTo>
                    <a:pt x="3538" y="13"/>
                  </a:lnTo>
                  <a:close/>
                  <a:moveTo>
                    <a:pt x="3441" y="13"/>
                  </a:moveTo>
                  <a:lnTo>
                    <a:pt x="3386" y="13"/>
                  </a:lnTo>
                  <a:lnTo>
                    <a:pt x="3386" y="0"/>
                  </a:lnTo>
                  <a:lnTo>
                    <a:pt x="3441" y="0"/>
                  </a:lnTo>
                  <a:lnTo>
                    <a:pt x="3441" y="13"/>
                  </a:lnTo>
                  <a:close/>
                  <a:moveTo>
                    <a:pt x="3344" y="13"/>
                  </a:moveTo>
                  <a:lnTo>
                    <a:pt x="3289" y="13"/>
                  </a:lnTo>
                  <a:lnTo>
                    <a:pt x="3289" y="0"/>
                  </a:lnTo>
                  <a:lnTo>
                    <a:pt x="3344" y="0"/>
                  </a:lnTo>
                  <a:lnTo>
                    <a:pt x="3344" y="13"/>
                  </a:lnTo>
                  <a:close/>
                  <a:moveTo>
                    <a:pt x="3247" y="13"/>
                  </a:moveTo>
                  <a:lnTo>
                    <a:pt x="3192" y="13"/>
                  </a:lnTo>
                  <a:lnTo>
                    <a:pt x="3192" y="0"/>
                  </a:lnTo>
                  <a:lnTo>
                    <a:pt x="3247" y="0"/>
                  </a:lnTo>
                  <a:lnTo>
                    <a:pt x="3247" y="13"/>
                  </a:lnTo>
                  <a:close/>
                  <a:moveTo>
                    <a:pt x="3151" y="13"/>
                  </a:moveTo>
                  <a:lnTo>
                    <a:pt x="3095" y="13"/>
                  </a:lnTo>
                  <a:lnTo>
                    <a:pt x="3095" y="0"/>
                  </a:lnTo>
                  <a:lnTo>
                    <a:pt x="3151" y="0"/>
                  </a:lnTo>
                  <a:lnTo>
                    <a:pt x="3151" y="13"/>
                  </a:lnTo>
                  <a:close/>
                  <a:moveTo>
                    <a:pt x="3054" y="13"/>
                  </a:moveTo>
                  <a:lnTo>
                    <a:pt x="2998" y="13"/>
                  </a:lnTo>
                  <a:lnTo>
                    <a:pt x="2998" y="0"/>
                  </a:lnTo>
                  <a:lnTo>
                    <a:pt x="3054" y="0"/>
                  </a:lnTo>
                  <a:lnTo>
                    <a:pt x="3054" y="13"/>
                  </a:lnTo>
                  <a:close/>
                  <a:moveTo>
                    <a:pt x="2957" y="13"/>
                  </a:moveTo>
                  <a:lnTo>
                    <a:pt x="2901" y="13"/>
                  </a:lnTo>
                  <a:lnTo>
                    <a:pt x="2901" y="0"/>
                  </a:lnTo>
                  <a:lnTo>
                    <a:pt x="2957" y="0"/>
                  </a:lnTo>
                  <a:lnTo>
                    <a:pt x="2957" y="13"/>
                  </a:lnTo>
                  <a:close/>
                  <a:moveTo>
                    <a:pt x="2860" y="13"/>
                  </a:moveTo>
                  <a:lnTo>
                    <a:pt x="2804" y="13"/>
                  </a:lnTo>
                  <a:lnTo>
                    <a:pt x="2804" y="0"/>
                  </a:lnTo>
                  <a:lnTo>
                    <a:pt x="2860" y="0"/>
                  </a:lnTo>
                  <a:lnTo>
                    <a:pt x="2860" y="13"/>
                  </a:lnTo>
                  <a:close/>
                  <a:moveTo>
                    <a:pt x="2763" y="13"/>
                  </a:moveTo>
                  <a:lnTo>
                    <a:pt x="2707" y="13"/>
                  </a:lnTo>
                  <a:lnTo>
                    <a:pt x="2707" y="0"/>
                  </a:lnTo>
                  <a:lnTo>
                    <a:pt x="2763" y="0"/>
                  </a:lnTo>
                  <a:lnTo>
                    <a:pt x="2763" y="13"/>
                  </a:lnTo>
                  <a:close/>
                  <a:moveTo>
                    <a:pt x="2666" y="13"/>
                  </a:moveTo>
                  <a:lnTo>
                    <a:pt x="2610" y="13"/>
                  </a:lnTo>
                  <a:lnTo>
                    <a:pt x="2610" y="0"/>
                  </a:lnTo>
                  <a:lnTo>
                    <a:pt x="2666" y="0"/>
                  </a:lnTo>
                  <a:lnTo>
                    <a:pt x="2666" y="13"/>
                  </a:lnTo>
                  <a:close/>
                  <a:moveTo>
                    <a:pt x="2569" y="13"/>
                  </a:moveTo>
                  <a:lnTo>
                    <a:pt x="2513" y="13"/>
                  </a:lnTo>
                  <a:lnTo>
                    <a:pt x="2513" y="0"/>
                  </a:lnTo>
                  <a:lnTo>
                    <a:pt x="2569" y="0"/>
                  </a:lnTo>
                  <a:lnTo>
                    <a:pt x="2569" y="13"/>
                  </a:lnTo>
                  <a:close/>
                  <a:moveTo>
                    <a:pt x="2472" y="13"/>
                  </a:moveTo>
                  <a:lnTo>
                    <a:pt x="2416" y="13"/>
                  </a:lnTo>
                  <a:lnTo>
                    <a:pt x="2416" y="0"/>
                  </a:lnTo>
                  <a:lnTo>
                    <a:pt x="2472" y="0"/>
                  </a:lnTo>
                  <a:lnTo>
                    <a:pt x="2472" y="13"/>
                  </a:lnTo>
                  <a:close/>
                  <a:moveTo>
                    <a:pt x="2375" y="13"/>
                  </a:moveTo>
                  <a:lnTo>
                    <a:pt x="2319" y="13"/>
                  </a:lnTo>
                  <a:lnTo>
                    <a:pt x="2319" y="0"/>
                  </a:lnTo>
                  <a:lnTo>
                    <a:pt x="2375" y="0"/>
                  </a:lnTo>
                  <a:lnTo>
                    <a:pt x="2375" y="13"/>
                  </a:lnTo>
                  <a:close/>
                  <a:moveTo>
                    <a:pt x="2278" y="13"/>
                  </a:moveTo>
                  <a:lnTo>
                    <a:pt x="2223" y="13"/>
                  </a:lnTo>
                  <a:lnTo>
                    <a:pt x="2223" y="0"/>
                  </a:lnTo>
                  <a:lnTo>
                    <a:pt x="2278" y="0"/>
                  </a:lnTo>
                  <a:lnTo>
                    <a:pt x="2278" y="13"/>
                  </a:lnTo>
                  <a:close/>
                  <a:moveTo>
                    <a:pt x="2181" y="13"/>
                  </a:moveTo>
                  <a:lnTo>
                    <a:pt x="2126" y="13"/>
                  </a:lnTo>
                  <a:lnTo>
                    <a:pt x="2126" y="0"/>
                  </a:lnTo>
                  <a:lnTo>
                    <a:pt x="2181" y="0"/>
                  </a:lnTo>
                  <a:lnTo>
                    <a:pt x="2181" y="13"/>
                  </a:lnTo>
                  <a:close/>
                  <a:moveTo>
                    <a:pt x="2084" y="13"/>
                  </a:moveTo>
                  <a:lnTo>
                    <a:pt x="2029" y="13"/>
                  </a:lnTo>
                  <a:lnTo>
                    <a:pt x="2029" y="0"/>
                  </a:lnTo>
                  <a:lnTo>
                    <a:pt x="2084" y="0"/>
                  </a:lnTo>
                  <a:lnTo>
                    <a:pt x="2084" y="13"/>
                  </a:lnTo>
                  <a:close/>
                  <a:moveTo>
                    <a:pt x="1987" y="13"/>
                  </a:moveTo>
                  <a:lnTo>
                    <a:pt x="1932" y="13"/>
                  </a:lnTo>
                  <a:lnTo>
                    <a:pt x="1932" y="0"/>
                  </a:lnTo>
                  <a:lnTo>
                    <a:pt x="1987" y="0"/>
                  </a:lnTo>
                  <a:lnTo>
                    <a:pt x="1987" y="13"/>
                  </a:lnTo>
                  <a:close/>
                  <a:moveTo>
                    <a:pt x="1890" y="13"/>
                  </a:moveTo>
                  <a:lnTo>
                    <a:pt x="1835" y="13"/>
                  </a:lnTo>
                  <a:lnTo>
                    <a:pt x="1835" y="0"/>
                  </a:lnTo>
                  <a:lnTo>
                    <a:pt x="1890" y="0"/>
                  </a:lnTo>
                  <a:lnTo>
                    <a:pt x="1890" y="13"/>
                  </a:lnTo>
                  <a:close/>
                  <a:moveTo>
                    <a:pt x="1793" y="13"/>
                  </a:moveTo>
                  <a:lnTo>
                    <a:pt x="1738" y="13"/>
                  </a:lnTo>
                  <a:lnTo>
                    <a:pt x="1738" y="0"/>
                  </a:lnTo>
                  <a:lnTo>
                    <a:pt x="1793" y="0"/>
                  </a:lnTo>
                  <a:lnTo>
                    <a:pt x="1793" y="13"/>
                  </a:lnTo>
                  <a:close/>
                  <a:moveTo>
                    <a:pt x="1696" y="13"/>
                  </a:moveTo>
                  <a:lnTo>
                    <a:pt x="1641" y="13"/>
                  </a:lnTo>
                  <a:lnTo>
                    <a:pt x="1641" y="0"/>
                  </a:lnTo>
                  <a:lnTo>
                    <a:pt x="1696" y="0"/>
                  </a:lnTo>
                  <a:lnTo>
                    <a:pt x="1696" y="13"/>
                  </a:lnTo>
                  <a:close/>
                  <a:moveTo>
                    <a:pt x="1599" y="13"/>
                  </a:moveTo>
                  <a:lnTo>
                    <a:pt x="1544" y="13"/>
                  </a:lnTo>
                  <a:lnTo>
                    <a:pt x="1544" y="0"/>
                  </a:lnTo>
                  <a:lnTo>
                    <a:pt x="1599" y="0"/>
                  </a:lnTo>
                  <a:lnTo>
                    <a:pt x="1599" y="13"/>
                  </a:lnTo>
                  <a:close/>
                  <a:moveTo>
                    <a:pt x="1502" y="13"/>
                  </a:moveTo>
                  <a:lnTo>
                    <a:pt x="1447" y="13"/>
                  </a:lnTo>
                  <a:lnTo>
                    <a:pt x="1447" y="0"/>
                  </a:lnTo>
                  <a:lnTo>
                    <a:pt x="1502" y="0"/>
                  </a:lnTo>
                  <a:lnTo>
                    <a:pt x="1502" y="13"/>
                  </a:lnTo>
                  <a:close/>
                  <a:moveTo>
                    <a:pt x="1405" y="13"/>
                  </a:moveTo>
                  <a:lnTo>
                    <a:pt x="1350" y="13"/>
                  </a:lnTo>
                  <a:lnTo>
                    <a:pt x="1350" y="0"/>
                  </a:lnTo>
                  <a:lnTo>
                    <a:pt x="1405" y="0"/>
                  </a:lnTo>
                  <a:lnTo>
                    <a:pt x="1405" y="13"/>
                  </a:lnTo>
                  <a:close/>
                  <a:moveTo>
                    <a:pt x="1308" y="13"/>
                  </a:moveTo>
                  <a:lnTo>
                    <a:pt x="1253" y="13"/>
                  </a:lnTo>
                  <a:lnTo>
                    <a:pt x="1253" y="0"/>
                  </a:lnTo>
                  <a:lnTo>
                    <a:pt x="1308" y="0"/>
                  </a:lnTo>
                  <a:lnTo>
                    <a:pt x="1308" y="13"/>
                  </a:lnTo>
                  <a:close/>
                  <a:moveTo>
                    <a:pt x="1211" y="13"/>
                  </a:moveTo>
                  <a:lnTo>
                    <a:pt x="1156" y="13"/>
                  </a:lnTo>
                  <a:lnTo>
                    <a:pt x="1156" y="0"/>
                  </a:lnTo>
                  <a:lnTo>
                    <a:pt x="1211" y="0"/>
                  </a:lnTo>
                  <a:lnTo>
                    <a:pt x="1211" y="13"/>
                  </a:lnTo>
                  <a:close/>
                  <a:moveTo>
                    <a:pt x="1114" y="13"/>
                  </a:moveTo>
                  <a:lnTo>
                    <a:pt x="1059" y="13"/>
                  </a:lnTo>
                  <a:lnTo>
                    <a:pt x="1059" y="0"/>
                  </a:lnTo>
                  <a:lnTo>
                    <a:pt x="1114" y="0"/>
                  </a:lnTo>
                  <a:lnTo>
                    <a:pt x="1114" y="13"/>
                  </a:lnTo>
                  <a:close/>
                  <a:moveTo>
                    <a:pt x="1018" y="13"/>
                  </a:moveTo>
                  <a:lnTo>
                    <a:pt x="962" y="13"/>
                  </a:lnTo>
                  <a:lnTo>
                    <a:pt x="962" y="0"/>
                  </a:lnTo>
                  <a:lnTo>
                    <a:pt x="1018" y="0"/>
                  </a:lnTo>
                  <a:lnTo>
                    <a:pt x="1018" y="13"/>
                  </a:lnTo>
                  <a:close/>
                  <a:moveTo>
                    <a:pt x="921" y="13"/>
                  </a:moveTo>
                  <a:lnTo>
                    <a:pt x="865" y="13"/>
                  </a:lnTo>
                  <a:lnTo>
                    <a:pt x="865" y="0"/>
                  </a:lnTo>
                  <a:lnTo>
                    <a:pt x="921" y="0"/>
                  </a:lnTo>
                  <a:lnTo>
                    <a:pt x="921" y="13"/>
                  </a:lnTo>
                  <a:close/>
                  <a:moveTo>
                    <a:pt x="824" y="13"/>
                  </a:moveTo>
                  <a:lnTo>
                    <a:pt x="768" y="13"/>
                  </a:lnTo>
                  <a:lnTo>
                    <a:pt x="768" y="0"/>
                  </a:lnTo>
                  <a:lnTo>
                    <a:pt x="824" y="0"/>
                  </a:lnTo>
                  <a:lnTo>
                    <a:pt x="824" y="13"/>
                  </a:lnTo>
                  <a:close/>
                  <a:moveTo>
                    <a:pt x="727" y="13"/>
                  </a:moveTo>
                  <a:lnTo>
                    <a:pt x="671" y="13"/>
                  </a:lnTo>
                  <a:lnTo>
                    <a:pt x="671" y="0"/>
                  </a:lnTo>
                  <a:lnTo>
                    <a:pt x="727" y="0"/>
                  </a:lnTo>
                  <a:lnTo>
                    <a:pt x="727" y="13"/>
                  </a:lnTo>
                  <a:close/>
                  <a:moveTo>
                    <a:pt x="630" y="13"/>
                  </a:moveTo>
                  <a:lnTo>
                    <a:pt x="574" y="13"/>
                  </a:lnTo>
                  <a:lnTo>
                    <a:pt x="574" y="0"/>
                  </a:lnTo>
                  <a:lnTo>
                    <a:pt x="630" y="0"/>
                  </a:lnTo>
                  <a:lnTo>
                    <a:pt x="630" y="13"/>
                  </a:lnTo>
                  <a:close/>
                  <a:moveTo>
                    <a:pt x="533" y="13"/>
                  </a:moveTo>
                  <a:lnTo>
                    <a:pt x="477" y="13"/>
                  </a:lnTo>
                  <a:lnTo>
                    <a:pt x="477" y="0"/>
                  </a:lnTo>
                  <a:lnTo>
                    <a:pt x="533" y="0"/>
                  </a:lnTo>
                  <a:lnTo>
                    <a:pt x="533" y="13"/>
                  </a:lnTo>
                  <a:close/>
                  <a:moveTo>
                    <a:pt x="436" y="13"/>
                  </a:moveTo>
                  <a:lnTo>
                    <a:pt x="380" y="13"/>
                  </a:lnTo>
                  <a:lnTo>
                    <a:pt x="380" y="0"/>
                  </a:lnTo>
                  <a:lnTo>
                    <a:pt x="436" y="0"/>
                  </a:lnTo>
                  <a:lnTo>
                    <a:pt x="436" y="13"/>
                  </a:lnTo>
                  <a:close/>
                  <a:moveTo>
                    <a:pt x="339" y="13"/>
                  </a:moveTo>
                  <a:lnTo>
                    <a:pt x="283" y="13"/>
                  </a:lnTo>
                  <a:lnTo>
                    <a:pt x="283" y="0"/>
                  </a:lnTo>
                  <a:lnTo>
                    <a:pt x="339" y="0"/>
                  </a:lnTo>
                  <a:lnTo>
                    <a:pt x="339" y="13"/>
                  </a:lnTo>
                  <a:close/>
                  <a:moveTo>
                    <a:pt x="242" y="13"/>
                  </a:moveTo>
                  <a:lnTo>
                    <a:pt x="187" y="13"/>
                  </a:lnTo>
                  <a:lnTo>
                    <a:pt x="187" y="0"/>
                  </a:lnTo>
                  <a:lnTo>
                    <a:pt x="242" y="0"/>
                  </a:lnTo>
                  <a:lnTo>
                    <a:pt x="242" y="13"/>
                  </a:lnTo>
                  <a:close/>
                  <a:moveTo>
                    <a:pt x="145" y="13"/>
                  </a:moveTo>
                  <a:lnTo>
                    <a:pt x="90" y="13"/>
                  </a:lnTo>
                  <a:lnTo>
                    <a:pt x="90" y="0"/>
                  </a:lnTo>
                  <a:lnTo>
                    <a:pt x="145" y="0"/>
                  </a:lnTo>
                  <a:lnTo>
                    <a:pt x="145" y="13"/>
                  </a:lnTo>
                  <a:close/>
                  <a:moveTo>
                    <a:pt x="48" y="13"/>
                  </a:moveTo>
                  <a:lnTo>
                    <a:pt x="7" y="13"/>
                  </a:lnTo>
                  <a:lnTo>
                    <a:pt x="13" y="7"/>
                  </a:lnTo>
                  <a:lnTo>
                    <a:pt x="13" y="20"/>
                  </a:lnTo>
                  <a:lnTo>
                    <a:pt x="0" y="20"/>
                  </a:lnTo>
                  <a:lnTo>
                    <a:pt x="0" y="0"/>
                  </a:lnTo>
                  <a:lnTo>
                    <a:pt x="48" y="0"/>
                  </a:lnTo>
                  <a:lnTo>
                    <a:pt x="48" y="13"/>
                  </a:lnTo>
                  <a:close/>
                  <a:moveTo>
                    <a:pt x="13" y="62"/>
                  </a:moveTo>
                  <a:lnTo>
                    <a:pt x="13" y="117"/>
                  </a:lnTo>
                  <a:lnTo>
                    <a:pt x="0" y="117"/>
                  </a:lnTo>
                  <a:lnTo>
                    <a:pt x="0" y="62"/>
                  </a:lnTo>
                  <a:lnTo>
                    <a:pt x="13" y="62"/>
                  </a:lnTo>
                  <a:close/>
                  <a:moveTo>
                    <a:pt x="13" y="159"/>
                  </a:moveTo>
                  <a:lnTo>
                    <a:pt x="13" y="214"/>
                  </a:lnTo>
                  <a:lnTo>
                    <a:pt x="0" y="214"/>
                  </a:lnTo>
                  <a:lnTo>
                    <a:pt x="0" y="159"/>
                  </a:lnTo>
                  <a:lnTo>
                    <a:pt x="13" y="159"/>
                  </a:lnTo>
                  <a:close/>
                  <a:moveTo>
                    <a:pt x="13" y="256"/>
                  </a:moveTo>
                  <a:lnTo>
                    <a:pt x="13" y="311"/>
                  </a:lnTo>
                  <a:lnTo>
                    <a:pt x="0" y="311"/>
                  </a:lnTo>
                  <a:lnTo>
                    <a:pt x="0" y="256"/>
                  </a:lnTo>
                  <a:lnTo>
                    <a:pt x="13" y="256"/>
                  </a:lnTo>
                  <a:close/>
                  <a:moveTo>
                    <a:pt x="13" y="353"/>
                  </a:moveTo>
                  <a:lnTo>
                    <a:pt x="13" y="408"/>
                  </a:lnTo>
                  <a:lnTo>
                    <a:pt x="0" y="408"/>
                  </a:lnTo>
                  <a:lnTo>
                    <a:pt x="0" y="353"/>
                  </a:lnTo>
                  <a:lnTo>
                    <a:pt x="13" y="353"/>
                  </a:lnTo>
                  <a:close/>
                  <a:moveTo>
                    <a:pt x="13" y="450"/>
                  </a:moveTo>
                  <a:lnTo>
                    <a:pt x="13" y="505"/>
                  </a:lnTo>
                  <a:lnTo>
                    <a:pt x="0" y="505"/>
                  </a:lnTo>
                  <a:lnTo>
                    <a:pt x="0" y="450"/>
                  </a:lnTo>
                  <a:lnTo>
                    <a:pt x="13" y="450"/>
                  </a:lnTo>
                  <a:close/>
                  <a:moveTo>
                    <a:pt x="13" y="547"/>
                  </a:moveTo>
                  <a:lnTo>
                    <a:pt x="13" y="602"/>
                  </a:lnTo>
                  <a:lnTo>
                    <a:pt x="0" y="602"/>
                  </a:lnTo>
                  <a:lnTo>
                    <a:pt x="0" y="547"/>
                  </a:lnTo>
                  <a:lnTo>
                    <a:pt x="13" y="547"/>
                  </a:lnTo>
                  <a:close/>
                  <a:moveTo>
                    <a:pt x="13" y="644"/>
                  </a:moveTo>
                  <a:lnTo>
                    <a:pt x="13" y="699"/>
                  </a:lnTo>
                  <a:lnTo>
                    <a:pt x="0" y="699"/>
                  </a:lnTo>
                  <a:lnTo>
                    <a:pt x="0" y="644"/>
                  </a:lnTo>
                  <a:lnTo>
                    <a:pt x="13" y="644"/>
                  </a:lnTo>
                  <a:close/>
                  <a:moveTo>
                    <a:pt x="13" y="741"/>
                  </a:moveTo>
                  <a:lnTo>
                    <a:pt x="13" y="796"/>
                  </a:lnTo>
                  <a:lnTo>
                    <a:pt x="0" y="796"/>
                  </a:lnTo>
                  <a:lnTo>
                    <a:pt x="0" y="741"/>
                  </a:lnTo>
                  <a:lnTo>
                    <a:pt x="13" y="741"/>
                  </a:lnTo>
                  <a:close/>
                  <a:moveTo>
                    <a:pt x="13" y="838"/>
                  </a:moveTo>
                  <a:lnTo>
                    <a:pt x="13" y="893"/>
                  </a:lnTo>
                  <a:lnTo>
                    <a:pt x="0" y="893"/>
                  </a:lnTo>
                  <a:lnTo>
                    <a:pt x="0" y="838"/>
                  </a:lnTo>
                  <a:lnTo>
                    <a:pt x="13" y="838"/>
                  </a:lnTo>
                  <a:close/>
                  <a:moveTo>
                    <a:pt x="13" y="934"/>
                  </a:moveTo>
                  <a:lnTo>
                    <a:pt x="13" y="990"/>
                  </a:lnTo>
                  <a:lnTo>
                    <a:pt x="0" y="990"/>
                  </a:lnTo>
                  <a:lnTo>
                    <a:pt x="0" y="934"/>
                  </a:lnTo>
                  <a:lnTo>
                    <a:pt x="13" y="934"/>
                  </a:lnTo>
                  <a:close/>
                  <a:moveTo>
                    <a:pt x="23" y="1008"/>
                  </a:moveTo>
                  <a:lnTo>
                    <a:pt x="78" y="1008"/>
                  </a:lnTo>
                  <a:lnTo>
                    <a:pt x="78" y="1022"/>
                  </a:lnTo>
                  <a:lnTo>
                    <a:pt x="23" y="1022"/>
                  </a:lnTo>
                  <a:lnTo>
                    <a:pt x="23" y="1008"/>
                  </a:lnTo>
                  <a:close/>
                  <a:moveTo>
                    <a:pt x="120" y="1008"/>
                  </a:moveTo>
                  <a:lnTo>
                    <a:pt x="175" y="1008"/>
                  </a:lnTo>
                  <a:lnTo>
                    <a:pt x="175" y="1022"/>
                  </a:lnTo>
                  <a:lnTo>
                    <a:pt x="120" y="1022"/>
                  </a:lnTo>
                  <a:lnTo>
                    <a:pt x="120" y="1008"/>
                  </a:lnTo>
                  <a:close/>
                  <a:moveTo>
                    <a:pt x="217" y="1008"/>
                  </a:moveTo>
                  <a:lnTo>
                    <a:pt x="272" y="1008"/>
                  </a:lnTo>
                  <a:lnTo>
                    <a:pt x="272" y="1022"/>
                  </a:lnTo>
                  <a:lnTo>
                    <a:pt x="217" y="1022"/>
                  </a:lnTo>
                  <a:lnTo>
                    <a:pt x="217" y="1008"/>
                  </a:lnTo>
                  <a:close/>
                  <a:moveTo>
                    <a:pt x="314" y="1008"/>
                  </a:moveTo>
                  <a:lnTo>
                    <a:pt x="369" y="1008"/>
                  </a:lnTo>
                  <a:lnTo>
                    <a:pt x="369" y="1022"/>
                  </a:lnTo>
                  <a:lnTo>
                    <a:pt x="314" y="1022"/>
                  </a:lnTo>
                  <a:lnTo>
                    <a:pt x="314" y="1008"/>
                  </a:lnTo>
                  <a:close/>
                  <a:moveTo>
                    <a:pt x="411" y="1008"/>
                  </a:moveTo>
                  <a:lnTo>
                    <a:pt x="466" y="1008"/>
                  </a:lnTo>
                  <a:lnTo>
                    <a:pt x="466" y="1022"/>
                  </a:lnTo>
                  <a:lnTo>
                    <a:pt x="411" y="1022"/>
                  </a:lnTo>
                  <a:lnTo>
                    <a:pt x="411" y="1008"/>
                  </a:lnTo>
                  <a:close/>
                  <a:moveTo>
                    <a:pt x="508" y="1008"/>
                  </a:moveTo>
                  <a:lnTo>
                    <a:pt x="563" y="1008"/>
                  </a:lnTo>
                  <a:lnTo>
                    <a:pt x="563" y="1022"/>
                  </a:lnTo>
                  <a:lnTo>
                    <a:pt x="508" y="1022"/>
                  </a:lnTo>
                  <a:lnTo>
                    <a:pt x="508" y="1008"/>
                  </a:lnTo>
                  <a:close/>
                  <a:moveTo>
                    <a:pt x="605" y="1008"/>
                  </a:moveTo>
                  <a:lnTo>
                    <a:pt x="660" y="1008"/>
                  </a:lnTo>
                  <a:lnTo>
                    <a:pt x="660" y="1022"/>
                  </a:lnTo>
                  <a:lnTo>
                    <a:pt x="605" y="1022"/>
                  </a:lnTo>
                  <a:lnTo>
                    <a:pt x="605" y="1008"/>
                  </a:lnTo>
                  <a:close/>
                  <a:moveTo>
                    <a:pt x="702" y="1008"/>
                  </a:moveTo>
                  <a:lnTo>
                    <a:pt x="757" y="1008"/>
                  </a:lnTo>
                  <a:lnTo>
                    <a:pt x="757" y="1022"/>
                  </a:lnTo>
                  <a:lnTo>
                    <a:pt x="702" y="1022"/>
                  </a:lnTo>
                  <a:lnTo>
                    <a:pt x="702" y="1008"/>
                  </a:lnTo>
                  <a:close/>
                  <a:moveTo>
                    <a:pt x="799" y="1008"/>
                  </a:moveTo>
                  <a:lnTo>
                    <a:pt x="854" y="1008"/>
                  </a:lnTo>
                  <a:lnTo>
                    <a:pt x="854" y="1022"/>
                  </a:lnTo>
                  <a:lnTo>
                    <a:pt x="799" y="1022"/>
                  </a:lnTo>
                  <a:lnTo>
                    <a:pt x="799" y="1008"/>
                  </a:lnTo>
                  <a:close/>
                  <a:moveTo>
                    <a:pt x="896" y="1008"/>
                  </a:moveTo>
                  <a:lnTo>
                    <a:pt x="951" y="1008"/>
                  </a:lnTo>
                  <a:lnTo>
                    <a:pt x="951" y="1022"/>
                  </a:lnTo>
                  <a:lnTo>
                    <a:pt x="896" y="1022"/>
                  </a:lnTo>
                  <a:lnTo>
                    <a:pt x="896" y="1008"/>
                  </a:lnTo>
                  <a:close/>
                  <a:moveTo>
                    <a:pt x="993" y="1008"/>
                  </a:moveTo>
                  <a:lnTo>
                    <a:pt x="1048" y="1008"/>
                  </a:lnTo>
                  <a:lnTo>
                    <a:pt x="1048" y="1022"/>
                  </a:lnTo>
                  <a:lnTo>
                    <a:pt x="993" y="1022"/>
                  </a:lnTo>
                  <a:lnTo>
                    <a:pt x="993" y="1008"/>
                  </a:lnTo>
                  <a:close/>
                  <a:moveTo>
                    <a:pt x="1090" y="1008"/>
                  </a:moveTo>
                  <a:lnTo>
                    <a:pt x="1145" y="1008"/>
                  </a:lnTo>
                  <a:lnTo>
                    <a:pt x="1145" y="1022"/>
                  </a:lnTo>
                  <a:lnTo>
                    <a:pt x="1090" y="1022"/>
                  </a:lnTo>
                  <a:lnTo>
                    <a:pt x="1090" y="1008"/>
                  </a:lnTo>
                  <a:close/>
                  <a:moveTo>
                    <a:pt x="1187" y="1008"/>
                  </a:moveTo>
                  <a:lnTo>
                    <a:pt x="1242" y="1008"/>
                  </a:lnTo>
                  <a:lnTo>
                    <a:pt x="1242" y="1022"/>
                  </a:lnTo>
                  <a:lnTo>
                    <a:pt x="1187" y="1022"/>
                  </a:lnTo>
                  <a:lnTo>
                    <a:pt x="1187" y="1008"/>
                  </a:lnTo>
                  <a:close/>
                  <a:moveTo>
                    <a:pt x="1283" y="1008"/>
                  </a:moveTo>
                  <a:lnTo>
                    <a:pt x="1339" y="1008"/>
                  </a:lnTo>
                  <a:lnTo>
                    <a:pt x="1339" y="1022"/>
                  </a:lnTo>
                  <a:lnTo>
                    <a:pt x="1283" y="1022"/>
                  </a:lnTo>
                  <a:lnTo>
                    <a:pt x="1283" y="1008"/>
                  </a:lnTo>
                  <a:close/>
                  <a:moveTo>
                    <a:pt x="1380" y="1008"/>
                  </a:moveTo>
                  <a:lnTo>
                    <a:pt x="1436" y="1008"/>
                  </a:lnTo>
                  <a:lnTo>
                    <a:pt x="1436" y="1022"/>
                  </a:lnTo>
                  <a:lnTo>
                    <a:pt x="1380" y="1022"/>
                  </a:lnTo>
                  <a:lnTo>
                    <a:pt x="1380" y="1008"/>
                  </a:lnTo>
                  <a:close/>
                  <a:moveTo>
                    <a:pt x="1477" y="1008"/>
                  </a:moveTo>
                  <a:lnTo>
                    <a:pt x="1533" y="1008"/>
                  </a:lnTo>
                  <a:lnTo>
                    <a:pt x="1533" y="1022"/>
                  </a:lnTo>
                  <a:lnTo>
                    <a:pt x="1477" y="1022"/>
                  </a:lnTo>
                  <a:lnTo>
                    <a:pt x="1477" y="1008"/>
                  </a:lnTo>
                  <a:close/>
                  <a:moveTo>
                    <a:pt x="1574" y="1008"/>
                  </a:moveTo>
                  <a:lnTo>
                    <a:pt x="1630" y="1008"/>
                  </a:lnTo>
                  <a:lnTo>
                    <a:pt x="1630" y="1022"/>
                  </a:lnTo>
                  <a:lnTo>
                    <a:pt x="1574" y="1022"/>
                  </a:lnTo>
                  <a:lnTo>
                    <a:pt x="1574" y="1008"/>
                  </a:lnTo>
                  <a:close/>
                  <a:moveTo>
                    <a:pt x="1671" y="1008"/>
                  </a:moveTo>
                  <a:lnTo>
                    <a:pt x="1727" y="1008"/>
                  </a:lnTo>
                  <a:lnTo>
                    <a:pt x="1727" y="1022"/>
                  </a:lnTo>
                  <a:lnTo>
                    <a:pt x="1671" y="1022"/>
                  </a:lnTo>
                  <a:lnTo>
                    <a:pt x="1671" y="1008"/>
                  </a:lnTo>
                  <a:close/>
                  <a:moveTo>
                    <a:pt x="1768" y="1008"/>
                  </a:moveTo>
                  <a:lnTo>
                    <a:pt x="1824" y="1008"/>
                  </a:lnTo>
                  <a:lnTo>
                    <a:pt x="1824" y="1022"/>
                  </a:lnTo>
                  <a:lnTo>
                    <a:pt x="1768" y="1022"/>
                  </a:lnTo>
                  <a:lnTo>
                    <a:pt x="1768" y="1008"/>
                  </a:lnTo>
                  <a:close/>
                  <a:moveTo>
                    <a:pt x="1865" y="1008"/>
                  </a:moveTo>
                  <a:lnTo>
                    <a:pt x="1921" y="1008"/>
                  </a:lnTo>
                  <a:lnTo>
                    <a:pt x="1921" y="1022"/>
                  </a:lnTo>
                  <a:lnTo>
                    <a:pt x="1865" y="1022"/>
                  </a:lnTo>
                  <a:lnTo>
                    <a:pt x="1865" y="1008"/>
                  </a:lnTo>
                  <a:close/>
                  <a:moveTo>
                    <a:pt x="1962" y="1008"/>
                  </a:moveTo>
                  <a:lnTo>
                    <a:pt x="2018" y="1008"/>
                  </a:lnTo>
                  <a:lnTo>
                    <a:pt x="2018" y="1022"/>
                  </a:lnTo>
                  <a:lnTo>
                    <a:pt x="1962" y="1022"/>
                  </a:lnTo>
                  <a:lnTo>
                    <a:pt x="1962" y="1008"/>
                  </a:lnTo>
                  <a:close/>
                  <a:moveTo>
                    <a:pt x="2059" y="1008"/>
                  </a:moveTo>
                  <a:lnTo>
                    <a:pt x="2115" y="1008"/>
                  </a:lnTo>
                  <a:lnTo>
                    <a:pt x="2115" y="1022"/>
                  </a:lnTo>
                  <a:lnTo>
                    <a:pt x="2059" y="1022"/>
                  </a:lnTo>
                  <a:lnTo>
                    <a:pt x="2059" y="1008"/>
                  </a:lnTo>
                  <a:close/>
                  <a:moveTo>
                    <a:pt x="2156" y="1008"/>
                  </a:moveTo>
                  <a:lnTo>
                    <a:pt x="2211" y="1008"/>
                  </a:lnTo>
                  <a:lnTo>
                    <a:pt x="2211" y="1022"/>
                  </a:lnTo>
                  <a:lnTo>
                    <a:pt x="2156" y="1022"/>
                  </a:lnTo>
                  <a:lnTo>
                    <a:pt x="2156" y="1008"/>
                  </a:lnTo>
                  <a:close/>
                  <a:moveTo>
                    <a:pt x="2253" y="1008"/>
                  </a:moveTo>
                  <a:lnTo>
                    <a:pt x="2308" y="1008"/>
                  </a:lnTo>
                  <a:lnTo>
                    <a:pt x="2308" y="1022"/>
                  </a:lnTo>
                  <a:lnTo>
                    <a:pt x="2253" y="1022"/>
                  </a:lnTo>
                  <a:lnTo>
                    <a:pt x="2253" y="1008"/>
                  </a:lnTo>
                  <a:close/>
                  <a:moveTo>
                    <a:pt x="2350" y="1008"/>
                  </a:moveTo>
                  <a:lnTo>
                    <a:pt x="2405" y="1008"/>
                  </a:lnTo>
                  <a:lnTo>
                    <a:pt x="2405" y="1022"/>
                  </a:lnTo>
                  <a:lnTo>
                    <a:pt x="2350" y="1022"/>
                  </a:lnTo>
                  <a:lnTo>
                    <a:pt x="2350" y="1008"/>
                  </a:lnTo>
                  <a:close/>
                  <a:moveTo>
                    <a:pt x="2447" y="1008"/>
                  </a:moveTo>
                  <a:lnTo>
                    <a:pt x="2502" y="1008"/>
                  </a:lnTo>
                  <a:lnTo>
                    <a:pt x="2502" y="1022"/>
                  </a:lnTo>
                  <a:lnTo>
                    <a:pt x="2447" y="1022"/>
                  </a:lnTo>
                  <a:lnTo>
                    <a:pt x="2447" y="1008"/>
                  </a:lnTo>
                  <a:close/>
                  <a:moveTo>
                    <a:pt x="2544" y="1008"/>
                  </a:moveTo>
                  <a:lnTo>
                    <a:pt x="2599" y="1008"/>
                  </a:lnTo>
                  <a:lnTo>
                    <a:pt x="2599" y="1022"/>
                  </a:lnTo>
                  <a:lnTo>
                    <a:pt x="2544" y="1022"/>
                  </a:lnTo>
                  <a:lnTo>
                    <a:pt x="2544" y="1008"/>
                  </a:lnTo>
                  <a:close/>
                  <a:moveTo>
                    <a:pt x="2641" y="1008"/>
                  </a:moveTo>
                  <a:lnTo>
                    <a:pt x="2696" y="1008"/>
                  </a:lnTo>
                  <a:lnTo>
                    <a:pt x="2696" y="1022"/>
                  </a:lnTo>
                  <a:lnTo>
                    <a:pt x="2641" y="1022"/>
                  </a:lnTo>
                  <a:lnTo>
                    <a:pt x="2641" y="1008"/>
                  </a:lnTo>
                  <a:close/>
                  <a:moveTo>
                    <a:pt x="2738" y="1008"/>
                  </a:moveTo>
                  <a:lnTo>
                    <a:pt x="2793" y="1008"/>
                  </a:lnTo>
                  <a:lnTo>
                    <a:pt x="2793" y="1022"/>
                  </a:lnTo>
                  <a:lnTo>
                    <a:pt x="2738" y="1022"/>
                  </a:lnTo>
                  <a:lnTo>
                    <a:pt x="2738" y="1008"/>
                  </a:lnTo>
                  <a:close/>
                  <a:moveTo>
                    <a:pt x="2835" y="1008"/>
                  </a:moveTo>
                  <a:lnTo>
                    <a:pt x="2890" y="1008"/>
                  </a:lnTo>
                  <a:lnTo>
                    <a:pt x="2890" y="1022"/>
                  </a:lnTo>
                  <a:lnTo>
                    <a:pt x="2835" y="1022"/>
                  </a:lnTo>
                  <a:lnTo>
                    <a:pt x="2835" y="1008"/>
                  </a:lnTo>
                  <a:close/>
                  <a:moveTo>
                    <a:pt x="2932" y="1008"/>
                  </a:moveTo>
                  <a:lnTo>
                    <a:pt x="2987" y="1008"/>
                  </a:lnTo>
                  <a:lnTo>
                    <a:pt x="2987" y="1022"/>
                  </a:lnTo>
                  <a:lnTo>
                    <a:pt x="2932" y="1022"/>
                  </a:lnTo>
                  <a:lnTo>
                    <a:pt x="2932" y="1008"/>
                  </a:lnTo>
                  <a:close/>
                  <a:moveTo>
                    <a:pt x="3029" y="1008"/>
                  </a:moveTo>
                  <a:lnTo>
                    <a:pt x="3084" y="1008"/>
                  </a:lnTo>
                  <a:lnTo>
                    <a:pt x="3084" y="1022"/>
                  </a:lnTo>
                  <a:lnTo>
                    <a:pt x="3029" y="1022"/>
                  </a:lnTo>
                  <a:lnTo>
                    <a:pt x="3029" y="1008"/>
                  </a:lnTo>
                  <a:close/>
                  <a:moveTo>
                    <a:pt x="3126" y="1008"/>
                  </a:moveTo>
                  <a:lnTo>
                    <a:pt x="3181" y="1008"/>
                  </a:lnTo>
                  <a:lnTo>
                    <a:pt x="3181" y="1022"/>
                  </a:lnTo>
                  <a:lnTo>
                    <a:pt x="3126" y="1022"/>
                  </a:lnTo>
                  <a:lnTo>
                    <a:pt x="3126" y="1008"/>
                  </a:lnTo>
                  <a:close/>
                  <a:moveTo>
                    <a:pt x="3223" y="1008"/>
                  </a:moveTo>
                  <a:lnTo>
                    <a:pt x="3278" y="1008"/>
                  </a:lnTo>
                  <a:lnTo>
                    <a:pt x="3278" y="1022"/>
                  </a:lnTo>
                  <a:lnTo>
                    <a:pt x="3223" y="1022"/>
                  </a:lnTo>
                  <a:lnTo>
                    <a:pt x="3223" y="1008"/>
                  </a:lnTo>
                  <a:close/>
                  <a:moveTo>
                    <a:pt x="3320" y="1008"/>
                  </a:moveTo>
                  <a:lnTo>
                    <a:pt x="3375" y="1008"/>
                  </a:lnTo>
                  <a:lnTo>
                    <a:pt x="3375" y="1022"/>
                  </a:lnTo>
                  <a:lnTo>
                    <a:pt x="3320" y="1022"/>
                  </a:lnTo>
                  <a:lnTo>
                    <a:pt x="3320" y="1008"/>
                  </a:lnTo>
                  <a:close/>
                  <a:moveTo>
                    <a:pt x="3416" y="1008"/>
                  </a:moveTo>
                  <a:lnTo>
                    <a:pt x="3472" y="1008"/>
                  </a:lnTo>
                  <a:lnTo>
                    <a:pt x="3472" y="1022"/>
                  </a:lnTo>
                  <a:lnTo>
                    <a:pt x="3416" y="1022"/>
                  </a:lnTo>
                  <a:lnTo>
                    <a:pt x="3416" y="1008"/>
                  </a:lnTo>
                  <a:close/>
                  <a:moveTo>
                    <a:pt x="3513" y="1008"/>
                  </a:moveTo>
                  <a:lnTo>
                    <a:pt x="3569" y="1008"/>
                  </a:lnTo>
                  <a:lnTo>
                    <a:pt x="3569" y="1022"/>
                  </a:lnTo>
                  <a:lnTo>
                    <a:pt x="3513" y="1022"/>
                  </a:lnTo>
                  <a:lnTo>
                    <a:pt x="3513" y="1008"/>
                  </a:lnTo>
                  <a:close/>
                  <a:moveTo>
                    <a:pt x="3610" y="1008"/>
                  </a:moveTo>
                  <a:lnTo>
                    <a:pt x="3666" y="1008"/>
                  </a:lnTo>
                  <a:lnTo>
                    <a:pt x="3666" y="1022"/>
                  </a:lnTo>
                  <a:lnTo>
                    <a:pt x="3610" y="1022"/>
                  </a:lnTo>
                  <a:lnTo>
                    <a:pt x="3610" y="1008"/>
                  </a:lnTo>
                  <a:close/>
                  <a:moveTo>
                    <a:pt x="3707" y="1008"/>
                  </a:moveTo>
                  <a:lnTo>
                    <a:pt x="3763" y="1008"/>
                  </a:lnTo>
                  <a:lnTo>
                    <a:pt x="3763" y="1022"/>
                  </a:lnTo>
                  <a:lnTo>
                    <a:pt x="3707" y="1022"/>
                  </a:lnTo>
                  <a:lnTo>
                    <a:pt x="3707" y="1008"/>
                  </a:lnTo>
                  <a:close/>
                  <a:moveTo>
                    <a:pt x="3804" y="1008"/>
                  </a:moveTo>
                  <a:lnTo>
                    <a:pt x="3860" y="1008"/>
                  </a:lnTo>
                  <a:lnTo>
                    <a:pt x="3860" y="1022"/>
                  </a:lnTo>
                  <a:lnTo>
                    <a:pt x="3804" y="1022"/>
                  </a:lnTo>
                  <a:lnTo>
                    <a:pt x="3804" y="1008"/>
                  </a:lnTo>
                  <a:close/>
                  <a:moveTo>
                    <a:pt x="3901" y="1008"/>
                  </a:moveTo>
                  <a:lnTo>
                    <a:pt x="3957" y="1008"/>
                  </a:lnTo>
                  <a:lnTo>
                    <a:pt x="3957" y="1022"/>
                  </a:lnTo>
                  <a:lnTo>
                    <a:pt x="3901" y="1022"/>
                  </a:lnTo>
                  <a:lnTo>
                    <a:pt x="3901" y="1008"/>
                  </a:lnTo>
                  <a:close/>
                  <a:moveTo>
                    <a:pt x="3998" y="1008"/>
                  </a:moveTo>
                  <a:lnTo>
                    <a:pt x="4054" y="1008"/>
                  </a:lnTo>
                  <a:lnTo>
                    <a:pt x="4054" y="1022"/>
                  </a:lnTo>
                  <a:lnTo>
                    <a:pt x="3998" y="1022"/>
                  </a:lnTo>
                  <a:lnTo>
                    <a:pt x="3998" y="1008"/>
                  </a:lnTo>
                  <a:close/>
                  <a:moveTo>
                    <a:pt x="4095" y="1008"/>
                  </a:moveTo>
                  <a:lnTo>
                    <a:pt x="4151" y="1008"/>
                  </a:lnTo>
                  <a:lnTo>
                    <a:pt x="4151" y="1022"/>
                  </a:lnTo>
                  <a:lnTo>
                    <a:pt x="4095" y="1022"/>
                  </a:lnTo>
                  <a:lnTo>
                    <a:pt x="4095" y="1008"/>
                  </a:lnTo>
                  <a:close/>
                  <a:moveTo>
                    <a:pt x="4192" y="1008"/>
                  </a:moveTo>
                  <a:lnTo>
                    <a:pt x="4248" y="1008"/>
                  </a:lnTo>
                  <a:lnTo>
                    <a:pt x="4248" y="1022"/>
                  </a:lnTo>
                  <a:lnTo>
                    <a:pt x="4192" y="1022"/>
                  </a:lnTo>
                  <a:lnTo>
                    <a:pt x="4192" y="1008"/>
                  </a:lnTo>
                  <a:close/>
                  <a:moveTo>
                    <a:pt x="4289" y="1008"/>
                  </a:moveTo>
                  <a:lnTo>
                    <a:pt x="4344" y="1008"/>
                  </a:lnTo>
                  <a:lnTo>
                    <a:pt x="4344" y="1022"/>
                  </a:lnTo>
                  <a:lnTo>
                    <a:pt x="4289" y="1022"/>
                  </a:lnTo>
                  <a:lnTo>
                    <a:pt x="4289" y="1008"/>
                  </a:lnTo>
                  <a:close/>
                  <a:moveTo>
                    <a:pt x="4386" y="1008"/>
                  </a:moveTo>
                  <a:lnTo>
                    <a:pt x="4441" y="1008"/>
                  </a:lnTo>
                  <a:lnTo>
                    <a:pt x="4441" y="1022"/>
                  </a:lnTo>
                  <a:lnTo>
                    <a:pt x="4386" y="1022"/>
                  </a:lnTo>
                  <a:lnTo>
                    <a:pt x="4386" y="1008"/>
                  </a:lnTo>
                  <a:close/>
                  <a:moveTo>
                    <a:pt x="4483" y="1008"/>
                  </a:moveTo>
                  <a:lnTo>
                    <a:pt x="4538" y="1008"/>
                  </a:lnTo>
                  <a:lnTo>
                    <a:pt x="4538" y="1022"/>
                  </a:lnTo>
                  <a:lnTo>
                    <a:pt x="4483" y="1022"/>
                  </a:lnTo>
                  <a:lnTo>
                    <a:pt x="4483" y="1008"/>
                  </a:lnTo>
                  <a:close/>
                  <a:moveTo>
                    <a:pt x="4580" y="1008"/>
                  </a:moveTo>
                  <a:lnTo>
                    <a:pt x="4635" y="1008"/>
                  </a:lnTo>
                  <a:lnTo>
                    <a:pt x="4635" y="1022"/>
                  </a:lnTo>
                  <a:lnTo>
                    <a:pt x="4580" y="1022"/>
                  </a:lnTo>
                  <a:lnTo>
                    <a:pt x="4580" y="1008"/>
                  </a:lnTo>
                  <a:close/>
                  <a:moveTo>
                    <a:pt x="4677" y="1008"/>
                  </a:moveTo>
                  <a:lnTo>
                    <a:pt x="4732" y="1008"/>
                  </a:lnTo>
                  <a:lnTo>
                    <a:pt x="4732" y="1022"/>
                  </a:lnTo>
                  <a:lnTo>
                    <a:pt x="4677" y="1022"/>
                  </a:lnTo>
                  <a:lnTo>
                    <a:pt x="4677" y="1008"/>
                  </a:lnTo>
                  <a:close/>
                  <a:moveTo>
                    <a:pt x="4774" y="1008"/>
                  </a:moveTo>
                  <a:lnTo>
                    <a:pt x="4829" y="1008"/>
                  </a:lnTo>
                  <a:lnTo>
                    <a:pt x="4829" y="1022"/>
                  </a:lnTo>
                  <a:lnTo>
                    <a:pt x="4774" y="1022"/>
                  </a:lnTo>
                  <a:lnTo>
                    <a:pt x="4774" y="1008"/>
                  </a:lnTo>
                  <a:close/>
                  <a:moveTo>
                    <a:pt x="4871" y="1008"/>
                  </a:moveTo>
                  <a:lnTo>
                    <a:pt x="4926" y="1008"/>
                  </a:lnTo>
                  <a:lnTo>
                    <a:pt x="4926" y="1022"/>
                  </a:lnTo>
                  <a:lnTo>
                    <a:pt x="4871" y="1022"/>
                  </a:lnTo>
                  <a:lnTo>
                    <a:pt x="4871" y="1008"/>
                  </a:lnTo>
                  <a:close/>
                  <a:moveTo>
                    <a:pt x="4968" y="1008"/>
                  </a:moveTo>
                  <a:lnTo>
                    <a:pt x="4993" y="1008"/>
                  </a:lnTo>
                  <a:lnTo>
                    <a:pt x="4986" y="1015"/>
                  </a:lnTo>
                  <a:lnTo>
                    <a:pt x="4986" y="984"/>
                  </a:lnTo>
                  <a:lnTo>
                    <a:pt x="5000" y="984"/>
                  </a:lnTo>
                  <a:lnTo>
                    <a:pt x="5000" y="1022"/>
                  </a:lnTo>
                  <a:lnTo>
                    <a:pt x="4968" y="1022"/>
                  </a:lnTo>
                  <a:lnTo>
                    <a:pt x="4968" y="1008"/>
                  </a:lnTo>
                  <a:close/>
                  <a:moveTo>
                    <a:pt x="4986" y="943"/>
                  </a:moveTo>
                  <a:lnTo>
                    <a:pt x="4986" y="887"/>
                  </a:lnTo>
                  <a:lnTo>
                    <a:pt x="5000" y="887"/>
                  </a:lnTo>
                  <a:lnTo>
                    <a:pt x="5000" y="943"/>
                  </a:lnTo>
                  <a:lnTo>
                    <a:pt x="4986" y="943"/>
                  </a:lnTo>
                  <a:close/>
                  <a:moveTo>
                    <a:pt x="4986" y="846"/>
                  </a:moveTo>
                  <a:lnTo>
                    <a:pt x="4986" y="790"/>
                  </a:lnTo>
                  <a:lnTo>
                    <a:pt x="5000" y="790"/>
                  </a:lnTo>
                  <a:lnTo>
                    <a:pt x="5000" y="846"/>
                  </a:lnTo>
                  <a:lnTo>
                    <a:pt x="4986" y="846"/>
                  </a:lnTo>
                  <a:close/>
                  <a:moveTo>
                    <a:pt x="4986" y="749"/>
                  </a:moveTo>
                  <a:lnTo>
                    <a:pt x="4986" y="693"/>
                  </a:lnTo>
                  <a:lnTo>
                    <a:pt x="5000" y="693"/>
                  </a:lnTo>
                  <a:lnTo>
                    <a:pt x="5000" y="749"/>
                  </a:lnTo>
                  <a:lnTo>
                    <a:pt x="4986" y="749"/>
                  </a:lnTo>
                  <a:close/>
                  <a:moveTo>
                    <a:pt x="4986" y="652"/>
                  </a:moveTo>
                  <a:lnTo>
                    <a:pt x="4986" y="597"/>
                  </a:lnTo>
                  <a:lnTo>
                    <a:pt x="5000" y="597"/>
                  </a:lnTo>
                  <a:lnTo>
                    <a:pt x="5000" y="652"/>
                  </a:lnTo>
                  <a:lnTo>
                    <a:pt x="4986" y="652"/>
                  </a:lnTo>
                  <a:close/>
                  <a:moveTo>
                    <a:pt x="4986" y="555"/>
                  </a:moveTo>
                  <a:lnTo>
                    <a:pt x="4986" y="500"/>
                  </a:lnTo>
                  <a:lnTo>
                    <a:pt x="5000" y="500"/>
                  </a:lnTo>
                  <a:lnTo>
                    <a:pt x="5000" y="555"/>
                  </a:lnTo>
                  <a:lnTo>
                    <a:pt x="4986" y="555"/>
                  </a:lnTo>
                  <a:close/>
                  <a:moveTo>
                    <a:pt x="4986" y="458"/>
                  </a:moveTo>
                  <a:lnTo>
                    <a:pt x="4986" y="403"/>
                  </a:lnTo>
                  <a:lnTo>
                    <a:pt x="5000" y="403"/>
                  </a:lnTo>
                  <a:lnTo>
                    <a:pt x="5000" y="458"/>
                  </a:lnTo>
                  <a:lnTo>
                    <a:pt x="4986" y="458"/>
                  </a:lnTo>
                  <a:close/>
                  <a:moveTo>
                    <a:pt x="4986" y="361"/>
                  </a:moveTo>
                  <a:lnTo>
                    <a:pt x="4986" y="306"/>
                  </a:lnTo>
                  <a:lnTo>
                    <a:pt x="5000" y="306"/>
                  </a:lnTo>
                  <a:lnTo>
                    <a:pt x="5000" y="361"/>
                  </a:lnTo>
                  <a:lnTo>
                    <a:pt x="4986" y="361"/>
                  </a:lnTo>
                  <a:close/>
                  <a:moveTo>
                    <a:pt x="4986" y="264"/>
                  </a:moveTo>
                  <a:lnTo>
                    <a:pt x="4986" y="209"/>
                  </a:lnTo>
                  <a:lnTo>
                    <a:pt x="5000" y="209"/>
                  </a:lnTo>
                  <a:lnTo>
                    <a:pt x="5000" y="264"/>
                  </a:lnTo>
                  <a:lnTo>
                    <a:pt x="4986" y="264"/>
                  </a:lnTo>
                  <a:close/>
                  <a:moveTo>
                    <a:pt x="4986" y="167"/>
                  </a:moveTo>
                  <a:lnTo>
                    <a:pt x="4986" y="112"/>
                  </a:lnTo>
                  <a:lnTo>
                    <a:pt x="5000" y="112"/>
                  </a:lnTo>
                  <a:lnTo>
                    <a:pt x="5000" y="167"/>
                  </a:lnTo>
                  <a:lnTo>
                    <a:pt x="4986" y="167"/>
                  </a:lnTo>
                  <a:close/>
                  <a:moveTo>
                    <a:pt x="4986" y="70"/>
                  </a:moveTo>
                  <a:lnTo>
                    <a:pt x="4986" y="15"/>
                  </a:lnTo>
                  <a:lnTo>
                    <a:pt x="5000" y="15"/>
                  </a:lnTo>
                  <a:lnTo>
                    <a:pt x="5000" y="70"/>
                  </a:lnTo>
                  <a:lnTo>
                    <a:pt x="4986" y="70"/>
                  </a:lnTo>
                  <a:close/>
                </a:path>
              </a:pathLst>
            </a:custGeom>
            <a:solidFill>
              <a:srgbClr val="000000"/>
            </a:solidFill>
            <a:ln w="1" cap="flat">
              <a:solidFill>
                <a:srgbClr val="000000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Rectangle 14"/>
            <p:cNvSpPr>
              <a:spLocks noChangeArrowheads="1"/>
            </p:cNvSpPr>
            <p:nvPr/>
          </p:nvSpPr>
          <p:spPr bwMode="auto">
            <a:xfrm>
              <a:off x="4809" y="1252"/>
              <a:ext cx="25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预测</a:t>
              </a:r>
              <a:endParaRPr kumimoji="0" 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4" name="Rectangle 15"/>
            <p:cNvSpPr>
              <a:spLocks noChangeArrowheads="1"/>
            </p:cNvSpPr>
            <p:nvPr/>
          </p:nvSpPr>
          <p:spPr bwMode="auto">
            <a:xfrm>
              <a:off x="5141" y="1247"/>
              <a:ext cx="114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ea typeface="宋体" pitchFamily="2" charset="-122"/>
                  <a:cs typeface="宋体" pitchFamily="2" charset="-122"/>
                </a:rPr>
                <a:t>: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5" name="Rectangle 16"/>
            <p:cNvSpPr>
              <a:spLocks noChangeArrowheads="1"/>
            </p:cNvSpPr>
            <p:nvPr/>
          </p:nvSpPr>
          <p:spPr bwMode="auto">
            <a:xfrm>
              <a:off x="5188" y="1247"/>
              <a:ext cx="110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ea typeface="宋体" pitchFamily="2" charset="-122"/>
                  <a:cs typeface="宋体" pitchFamily="2" charset="-122"/>
                </a:rPr>
                <a:t> 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6" name="Rectangle 17"/>
            <p:cNvSpPr>
              <a:spLocks noChangeArrowheads="1"/>
            </p:cNvSpPr>
            <p:nvPr/>
          </p:nvSpPr>
          <p:spPr bwMode="auto">
            <a:xfrm>
              <a:off x="4855" y="1540"/>
              <a:ext cx="25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成功</a:t>
              </a:r>
              <a:endParaRPr kumimoji="0" 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7" name="Rectangle 18"/>
            <p:cNvSpPr>
              <a:spLocks noChangeArrowheads="1"/>
            </p:cNvSpPr>
            <p:nvPr/>
          </p:nvSpPr>
          <p:spPr bwMode="auto">
            <a:xfrm>
              <a:off x="5188" y="1535"/>
              <a:ext cx="110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ea typeface="宋体" pitchFamily="2" charset="-122"/>
                  <a:cs typeface="宋体" pitchFamily="2" charset="-122"/>
                </a:rPr>
                <a:t> 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8" name="Oval 19"/>
            <p:cNvSpPr>
              <a:spLocks noChangeArrowheads="1"/>
            </p:cNvSpPr>
            <p:nvPr/>
          </p:nvSpPr>
          <p:spPr bwMode="auto">
            <a:xfrm>
              <a:off x="1508" y="1266"/>
              <a:ext cx="664" cy="665"/>
            </a:xfrm>
            <a:prstGeom prst="ellipse">
              <a:avLst/>
            </a:prstGeom>
            <a:noFill/>
            <a:ln w="14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Rectangle 20"/>
            <p:cNvSpPr>
              <a:spLocks noChangeArrowheads="1"/>
            </p:cNvSpPr>
            <p:nvPr/>
          </p:nvSpPr>
          <p:spPr bwMode="auto">
            <a:xfrm>
              <a:off x="1761" y="1529"/>
              <a:ext cx="236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ea typeface="宋体" pitchFamily="2" charset="-122"/>
                  <a:cs typeface="宋体" pitchFamily="2" charset="-122"/>
                </a:rPr>
                <a:t>11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" name="Rectangle 21"/>
            <p:cNvSpPr>
              <a:spLocks noChangeArrowheads="1"/>
            </p:cNvSpPr>
            <p:nvPr/>
          </p:nvSpPr>
          <p:spPr bwMode="auto">
            <a:xfrm>
              <a:off x="1920" y="1529"/>
              <a:ext cx="110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ea typeface="宋体" pitchFamily="2" charset="-122"/>
                  <a:cs typeface="宋体" pitchFamily="2" charset="-122"/>
                </a:rPr>
                <a:t> 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1" name="Oval 22"/>
            <p:cNvSpPr>
              <a:spLocks noChangeArrowheads="1"/>
            </p:cNvSpPr>
            <p:nvPr/>
          </p:nvSpPr>
          <p:spPr bwMode="auto">
            <a:xfrm>
              <a:off x="3336" y="1269"/>
              <a:ext cx="665" cy="665"/>
            </a:xfrm>
            <a:prstGeom prst="ellipse">
              <a:avLst/>
            </a:prstGeom>
            <a:noFill/>
            <a:ln w="14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Rectangle 23"/>
            <p:cNvSpPr>
              <a:spLocks noChangeArrowheads="1"/>
            </p:cNvSpPr>
            <p:nvPr/>
          </p:nvSpPr>
          <p:spPr bwMode="auto">
            <a:xfrm>
              <a:off x="3585" y="1530"/>
              <a:ext cx="236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ea typeface="宋体" pitchFamily="2" charset="-122"/>
                  <a:cs typeface="宋体" pitchFamily="2" charset="-122"/>
                </a:rPr>
                <a:t>10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3" name="Rectangle 24"/>
            <p:cNvSpPr>
              <a:spLocks noChangeArrowheads="1"/>
            </p:cNvSpPr>
            <p:nvPr/>
          </p:nvSpPr>
          <p:spPr bwMode="auto">
            <a:xfrm>
              <a:off x="3752" y="1530"/>
              <a:ext cx="110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ea typeface="宋体" pitchFamily="2" charset="-122"/>
                  <a:cs typeface="宋体" pitchFamily="2" charset="-122"/>
                </a:rPr>
                <a:t> 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4" name="Freeform 25"/>
            <p:cNvSpPr>
              <a:spLocks noEditPoints="1"/>
            </p:cNvSpPr>
            <p:nvPr/>
          </p:nvSpPr>
          <p:spPr bwMode="auto">
            <a:xfrm>
              <a:off x="1171" y="1406"/>
              <a:ext cx="385" cy="468"/>
            </a:xfrm>
            <a:custGeom>
              <a:avLst/>
              <a:gdLst>
                <a:gd name="T0" fmla="*/ 4582 w 5573"/>
                <a:gd name="T1" fmla="*/ 6226 h 6751"/>
                <a:gd name="T2" fmla="*/ 4103 w 5573"/>
                <a:gd name="T3" fmla="*/ 6394 h 6751"/>
                <a:gd name="T4" fmla="*/ 3603 w 5573"/>
                <a:gd name="T5" fmla="*/ 6489 h 6751"/>
                <a:gd name="T6" fmla="*/ 3092 w 5573"/>
                <a:gd name="T7" fmla="*/ 6503 h 6751"/>
                <a:gd name="T8" fmla="*/ 2604 w 5573"/>
                <a:gd name="T9" fmla="*/ 6442 h 6751"/>
                <a:gd name="T10" fmla="*/ 2140 w 5573"/>
                <a:gd name="T11" fmla="*/ 6311 h 6751"/>
                <a:gd name="T12" fmla="*/ 1707 w 5573"/>
                <a:gd name="T13" fmla="*/ 6117 h 6751"/>
                <a:gd name="T14" fmla="*/ 1190 w 5573"/>
                <a:gd name="T15" fmla="*/ 5769 h 6751"/>
                <a:gd name="T16" fmla="*/ 560 w 5573"/>
                <a:gd name="T17" fmla="*/ 5078 h 6751"/>
                <a:gd name="T18" fmla="*/ 323 w 5573"/>
                <a:gd name="T19" fmla="*/ 4667 h 6751"/>
                <a:gd name="T20" fmla="*/ 147 w 5573"/>
                <a:gd name="T21" fmla="*/ 4224 h 6751"/>
                <a:gd name="T22" fmla="*/ 38 w 5573"/>
                <a:gd name="T23" fmla="*/ 3751 h 6751"/>
                <a:gd name="T24" fmla="*/ 0 w 5573"/>
                <a:gd name="T25" fmla="*/ 3257 h 6751"/>
                <a:gd name="T26" fmla="*/ 37 w 5573"/>
                <a:gd name="T27" fmla="*/ 2762 h 6751"/>
                <a:gd name="T28" fmla="*/ 145 w 5573"/>
                <a:gd name="T29" fmla="*/ 2289 h 6751"/>
                <a:gd name="T30" fmla="*/ 320 w 5573"/>
                <a:gd name="T31" fmla="*/ 1845 h 6751"/>
                <a:gd name="T32" fmla="*/ 554 w 5573"/>
                <a:gd name="T33" fmla="*/ 1437 h 6751"/>
                <a:gd name="T34" fmla="*/ 1180 w 5573"/>
                <a:gd name="T35" fmla="*/ 747 h 6751"/>
                <a:gd name="T36" fmla="*/ 1701 w 5573"/>
                <a:gd name="T37" fmla="*/ 394 h 6751"/>
                <a:gd name="T38" fmla="*/ 2134 w 5573"/>
                <a:gd name="T39" fmla="*/ 198 h 6751"/>
                <a:gd name="T40" fmla="*/ 2596 w 5573"/>
                <a:gd name="T41" fmla="*/ 67 h 6751"/>
                <a:gd name="T42" fmla="*/ 3085 w 5573"/>
                <a:gd name="T43" fmla="*/ 5 h 6751"/>
                <a:gd name="T44" fmla="*/ 3545 w 5573"/>
                <a:gd name="T45" fmla="*/ 13 h 6751"/>
                <a:gd name="T46" fmla="*/ 3974 w 5573"/>
                <a:gd name="T47" fmla="*/ 81 h 6751"/>
                <a:gd name="T48" fmla="*/ 4652 w 5573"/>
                <a:gd name="T49" fmla="*/ 315 h 6751"/>
                <a:gd name="T50" fmla="*/ 5381 w 5573"/>
                <a:gd name="T51" fmla="*/ 789 h 6751"/>
                <a:gd name="T52" fmla="*/ 5006 w 5573"/>
                <a:gd name="T53" fmla="*/ 832 h 6751"/>
                <a:gd name="T54" fmla="*/ 4305 w 5573"/>
                <a:gd name="T55" fmla="*/ 456 h 6751"/>
                <a:gd name="T56" fmla="*/ 3790 w 5573"/>
                <a:gd name="T57" fmla="*/ 315 h 6751"/>
                <a:gd name="T58" fmla="*/ 3394 w 5573"/>
                <a:gd name="T59" fmla="*/ 270 h 6751"/>
                <a:gd name="T60" fmla="*/ 2953 w 5573"/>
                <a:gd name="T61" fmla="*/ 282 h 6751"/>
                <a:gd name="T62" fmla="*/ 2512 w 5573"/>
                <a:gd name="T63" fmla="*/ 360 h 6751"/>
                <a:gd name="T64" fmla="*/ 2096 w 5573"/>
                <a:gd name="T65" fmla="*/ 500 h 6751"/>
                <a:gd name="T66" fmla="*/ 1709 w 5573"/>
                <a:gd name="T67" fmla="*/ 698 h 6751"/>
                <a:gd name="T68" fmla="*/ 1147 w 5573"/>
                <a:gd name="T69" fmla="*/ 1137 h 6751"/>
                <a:gd name="T70" fmla="*/ 701 w 5573"/>
                <a:gd name="T71" fmla="*/ 1702 h 6751"/>
                <a:gd name="T72" fmla="*/ 502 w 5573"/>
                <a:gd name="T73" fmla="*/ 2089 h 6751"/>
                <a:gd name="T74" fmla="*/ 361 w 5573"/>
                <a:gd name="T75" fmla="*/ 2504 h 6751"/>
                <a:gd name="T76" fmla="*/ 282 w 5573"/>
                <a:gd name="T77" fmla="*/ 2945 h 6751"/>
                <a:gd name="T78" fmla="*/ 270 w 5573"/>
                <a:gd name="T79" fmla="*/ 3404 h 6751"/>
                <a:gd name="T80" fmla="*/ 326 w 5573"/>
                <a:gd name="T81" fmla="*/ 3852 h 6751"/>
                <a:gd name="T82" fmla="*/ 447 w 5573"/>
                <a:gd name="T83" fmla="*/ 4278 h 6751"/>
                <a:gd name="T84" fmla="*/ 626 w 5573"/>
                <a:gd name="T85" fmla="*/ 4675 h 6751"/>
                <a:gd name="T86" fmla="*/ 945 w 5573"/>
                <a:gd name="T87" fmla="*/ 5149 h 6751"/>
                <a:gd name="T88" fmla="*/ 1583 w 5573"/>
                <a:gd name="T89" fmla="*/ 5728 h 6751"/>
                <a:gd name="T90" fmla="*/ 1958 w 5573"/>
                <a:gd name="T91" fmla="*/ 5944 h 6751"/>
                <a:gd name="T92" fmla="*/ 2364 w 5573"/>
                <a:gd name="T93" fmla="*/ 6105 h 6751"/>
                <a:gd name="T94" fmla="*/ 2797 w 5573"/>
                <a:gd name="T95" fmla="*/ 6205 h 6751"/>
                <a:gd name="T96" fmla="*/ 3253 w 5573"/>
                <a:gd name="T97" fmla="*/ 6240 h 6751"/>
                <a:gd name="T98" fmla="*/ 3723 w 5573"/>
                <a:gd name="T99" fmla="*/ 6203 h 6751"/>
                <a:gd name="T100" fmla="*/ 4177 w 5573"/>
                <a:gd name="T101" fmla="*/ 6095 h 6751"/>
                <a:gd name="T102" fmla="*/ 4607 w 5573"/>
                <a:gd name="T103" fmla="*/ 5918 h 6751"/>
                <a:gd name="T104" fmla="*/ 4796 w 5573"/>
                <a:gd name="T105" fmla="*/ 6119 h 6751"/>
                <a:gd name="T106" fmla="*/ 5573 w 5573"/>
                <a:gd name="T107" fmla="*/ 5345 h 6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573" h="6751">
                  <a:moveTo>
                    <a:pt x="4796" y="6119"/>
                  </a:moveTo>
                  <a:lnTo>
                    <a:pt x="4734" y="6153"/>
                  </a:lnTo>
                  <a:lnTo>
                    <a:pt x="4582" y="6226"/>
                  </a:lnTo>
                  <a:lnTo>
                    <a:pt x="4425" y="6290"/>
                  </a:lnTo>
                  <a:lnTo>
                    <a:pt x="4266" y="6346"/>
                  </a:lnTo>
                  <a:lnTo>
                    <a:pt x="4103" y="6394"/>
                  </a:lnTo>
                  <a:lnTo>
                    <a:pt x="3939" y="6434"/>
                  </a:lnTo>
                  <a:lnTo>
                    <a:pt x="3772" y="6466"/>
                  </a:lnTo>
                  <a:lnTo>
                    <a:pt x="3603" y="6489"/>
                  </a:lnTo>
                  <a:lnTo>
                    <a:pt x="3432" y="6502"/>
                  </a:lnTo>
                  <a:lnTo>
                    <a:pt x="3260" y="6507"/>
                  </a:lnTo>
                  <a:lnTo>
                    <a:pt x="3092" y="6503"/>
                  </a:lnTo>
                  <a:lnTo>
                    <a:pt x="2927" y="6490"/>
                  </a:lnTo>
                  <a:lnTo>
                    <a:pt x="2764" y="6470"/>
                  </a:lnTo>
                  <a:lnTo>
                    <a:pt x="2604" y="6442"/>
                  </a:lnTo>
                  <a:lnTo>
                    <a:pt x="2446" y="6405"/>
                  </a:lnTo>
                  <a:lnTo>
                    <a:pt x="2291" y="6362"/>
                  </a:lnTo>
                  <a:lnTo>
                    <a:pt x="2140" y="6311"/>
                  </a:lnTo>
                  <a:lnTo>
                    <a:pt x="1992" y="6253"/>
                  </a:lnTo>
                  <a:lnTo>
                    <a:pt x="1847" y="6187"/>
                  </a:lnTo>
                  <a:lnTo>
                    <a:pt x="1707" y="6117"/>
                  </a:lnTo>
                  <a:lnTo>
                    <a:pt x="1571" y="6038"/>
                  </a:lnTo>
                  <a:lnTo>
                    <a:pt x="1438" y="5952"/>
                  </a:lnTo>
                  <a:lnTo>
                    <a:pt x="1190" y="5769"/>
                  </a:lnTo>
                  <a:lnTo>
                    <a:pt x="959" y="5558"/>
                  </a:lnTo>
                  <a:lnTo>
                    <a:pt x="748" y="5328"/>
                  </a:lnTo>
                  <a:lnTo>
                    <a:pt x="560" y="5078"/>
                  </a:lnTo>
                  <a:lnTo>
                    <a:pt x="473" y="4943"/>
                  </a:lnTo>
                  <a:lnTo>
                    <a:pt x="395" y="4808"/>
                  </a:lnTo>
                  <a:lnTo>
                    <a:pt x="323" y="4667"/>
                  </a:lnTo>
                  <a:lnTo>
                    <a:pt x="257" y="4524"/>
                  </a:lnTo>
                  <a:lnTo>
                    <a:pt x="198" y="4375"/>
                  </a:lnTo>
                  <a:lnTo>
                    <a:pt x="147" y="4224"/>
                  </a:lnTo>
                  <a:lnTo>
                    <a:pt x="103" y="4070"/>
                  </a:lnTo>
                  <a:lnTo>
                    <a:pt x="67" y="3913"/>
                  </a:lnTo>
                  <a:lnTo>
                    <a:pt x="38" y="3751"/>
                  </a:lnTo>
                  <a:lnTo>
                    <a:pt x="17" y="3589"/>
                  </a:lnTo>
                  <a:lnTo>
                    <a:pt x="5" y="3425"/>
                  </a:lnTo>
                  <a:lnTo>
                    <a:pt x="0" y="3257"/>
                  </a:lnTo>
                  <a:lnTo>
                    <a:pt x="4" y="3089"/>
                  </a:lnTo>
                  <a:lnTo>
                    <a:pt x="17" y="2924"/>
                  </a:lnTo>
                  <a:lnTo>
                    <a:pt x="37" y="2762"/>
                  </a:lnTo>
                  <a:lnTo>
                    <a:pt x="65" y="2601"/>
                  </a:lnTo>
                  <a:lnTo>
                    <a:pt x="102" y="2443"/>
                  </a:lnTo>
                  <a:lnTo>
                    <a:pt x="145" y="2289"/>
                  </a:lnTo>
                  <a:lnTo>
                    <a:pt x="196" y="2138"/>
                  </a:lnTo>
                  <a:lnTo>
                    <a:pt x="255" y="1990"/>
                  </a:lnTo>
                  <a:lnTo>
                    <a:pt x="320" y="1845"/>
                  </a:lnTo>
                  <a:lnTo>
                    <a:pt x="392" y="1705"/>
                  </a:lnTo>
                  <a:lnTo>
                    <a:pt x="470" y="1569"/>
                  </a:lnTo>
                  <a:lnTo>
                    <a:pt x="554" y="1437"/>
                  </a:lnTo>
                  <a:lnTo>
                    <a:pt x="740" y="1189"/>
                  </a:lnTo>
                  <a:lnTo>
                    <a:pt x="950" y="958"/>
                  </a:lnTo>
                  <a:lnTo>
                    <a:pt x="1180" y="747"/>
                  </a:lnTo>
                  <a:lnTo>
                    <a:pt x="1431" y="559"/>
                  </a:lnTo>
                  <a:lnTo>
                    <a:pt x="1564" y="473"/>
                  </a:lnTo>
                  <a:lnTo>
                    <a:pt x="1701" y="394"/>
                  </a:lnTo>
                  <a:lnTo>
                    <a:pt x="1842" y="322"/>
                  </a:lnTo>
                  <a:lnTo>
                    <a:pt x="1985" y="257"/>
                  </a:lnTo>
                  <a:lnTo>
                    <a:pt x="2134" y="198"/>
                  </a:lnTo>
                  <a:lnTo>
                    <a:pt x="2285" y="147"/>
                  </a:lnTo>
                  <a:lnTo>
                    <a:pt x="2439" y="103"/>
                  </a:lnTo>
                  <a:lnTo>
                    <a:pt x="2596" y="67"/>
                  </a:lnTo>
                  <a:lnTo>
                    <a:pt x="2757" y="38"/>
                  </a:lnTo>
                  <a:lnTo>
                    <a:pt x="2920" y="17"/>
                  </a:lnTo>
                  <a:lnTo>
                    <a:pt x="3085" y="5"/>
                  </a:lnTo>
                  <a:lnTo>
                    <a:pt x="3253" y="0"/>
                  </a:lnTo>
                  <a:lnTo>
                    <a:pt x="3399" y="3"/>
                  </a:lnTo>
                  <a:lnTo>
                    <a:pt x="3545" y="13"/>
                  </a:lnTo>
                  <a:lnTo>
                    <a:pt x="3689" y="29"/>
                  </a:lnTo>
                  <a:lnTo>
                    <a:pt x="3833" y="52"/>
                  </a:lnTo>
                  <a:lnTo>
                    <a:pt x="3974" y="81"/>
                  </a:lnTo>
                  <a:lnTo>
                    <a:pt x="4113" y="115"/>
                  </a:lnTo>
                  <a:lnTo>
                    <a:pt x="4386" y="203"/>
                  </a:lnTo>
                  <a:lnTo>
                    <a:pt x="4652" y="315"/>
                  </a:lnTo>
                  <a:lnTo>
                    <a:pt x="4908" y="451"/>
                  </a:lnTo>
                  <a:lnTo>
                    <a:pt x="5151" y="609"/>
                  </a:lnTo>
                  <a:lnTo>
                    <a:pt x="5381" y="789"/>
                  </a:lnTo>
                  <a:cubicBezTo>
                    <a:pt x="5439" y="834"/>
                    <a:pt x="5449" y="918"/>
                    <a:pt x="5403" y="976"/>
                  </a:cubicBezTo>
                  <a:cubicBezTo>
                    <a:pt x="5358" y="1034"/>
                    <a:pt x="5274" y="1044"/>
                    <a:pt x="5216" y="998"/>
                  </a:cubicBezTo>
                  <a:lnTo>
                    <a:pt x="5006" y="832"/>
                  </a:lnTo>
                  <a:lnTo>
                    <a:pt x="4783" y="686"/>
                  </a:lnTo>
                  <a:lnTo>
                    <a:pt x="4548" y="560"/>
                  </a:lnTo>
                  <a:lnTo>
                    <a:pt x="4305" y="456"/>
                  </a:lnTo>
                  <a:lnTo>
                    <a:pt x="4050" y="374"/>
                  </a:lnTo>
                  <a:lnTo>
                    <a:pt x="3921" y="342"/>
                  </a:lnTo>
                  <a:lnTo>
                    <a:pt x="3790" y="315"/>
                  </a:lnTo>
                  <a:lnTo>
                    <a:pt x="3660" y="294"/>
                  </a:lnTo>
                  <a:lnTo>
                    <a:pt x="3526" y="279"/>
                  </a:lnTo>
                  <a:lnTo>
                    <a:pt x="3394" y="270"/>
                  </a:lnTo>
                  <a:lnTo>
                    <a:pt x="3260" y="267"/>
                  </a:lnTo>
                  <a:lnTo>
                    <a:pt x="3106" y="270"/>
                  </a:lnTo>
                  <a:lnTo>
                    <a:pt x="2953" y="282"/>
                  </a:lnTo>
                  <a:lnTo>
                    <a:pt x="2803" y="301"/>
                  </a:lnTo>
                  <a:lnTo>
                    <a:pt x="2657" y="326"/>
                  </a:lnTo>
                  <a:lnTo>
                    <a:pt x="2512" y="360"/>
                  </a:lnTo>
                  <a:lnTo>
                    <a:pt x="2370" y="400"/>
                  </a:lnTo>
                  <a:lnTo>
                    <a:pt x="2231" y="447"/>
                  </a:lnTo>
                  <a:lnTo>
                    <a:pt x="2096" y="500"/>
                  </a:lnTo>
                  <a:lnTo>
                    <a:pt x="1962" y="561"/>
                  </a:lnTo>
                  <a:lnTo>
                    <a:pt x="1834" y="625"/>
                  </a:lnTo>
                  <a:lnTo>
                    <a:pt x="1709" y="698"/>
                  </a:lnTo>
                  <a:lnTo>
                    <a:pt x="1590" y="774"/>
                  </a:lnTo>
                  <a:lnTo>
                    <a:pt x="1359" y="944"/>
                  </a:lnTo>
                  <a:lnTo>
                    <a:pt x="1147" y="1137"/>
                  </a:lnTo>
                  <a:lnTo>
                    <a:pt x="953" y="1348"/>
                  </a:lnTo>
                  <a:lnTo>
                    <a:pt x="779" y="1582"/>
                  </a:lnTo>
                  <a:lnTo>
                    <a:pt x="701" y="1702"/>
                  </a:lnTo>
                  <a:lnTo>
                    <a:pt x="629" y="1828"/>
                  </a:lnTo>
                  <a:lnTo>
                    <a:pt x="563" y="1956"/>
                  </a:lnTo>
                  <a:lnTo>
                    <a:pt x="502" y="2089"/>
                  </a:lnTo>
                  <a:lnTo>
                    <a:pt x="449" y="2223"/>
                  </a:lnTo>
                  <a:lnTo>
                    <a:pt x="402" y="2362"/>
                  </a:lnTo>
                  <a:lnTo>
                    <a:pt x="361" y="2504"/>
                  </a:lnTo>
                  <a:lnTo>
                    <a:pt x="328" y="2647"/>
                  </a:lnTo>
                  <a:lnTo>
                    <a:pt x="302" y="2795"/>
                  </a:lnTo>
                  <a:lnTo>
                    <a:pt x="282" y="2945"/>
                  </a:lnTo>
                  <a:lnTo>
                    <a:pt x="271" y="3096"/>
                  </a:lnTo>
                  <a:lnTo>
                    <a:pt x="267" y="3250"/>
                  </a:lnTo>
                  <a:lnTo>
                    <a:pt x="270" y="3404"/>
                  </a:lnTo>
                  <a:lnTo>
                    <a:pt x="282" y="3556"/>
                  </a:lnTo>
                  <a:lnTo>
                    <a:pt x="301" y="3705"/>
                  </a:lnTo>
                  <a:lnTo>
                    <a:pt x="326" y="3852"/>
                  </a:lnTo>
                  <a:lnTo>
                    <a:pt x="360" y="3997"/>
                  </a:lnTo>
                  <a:lnTo>
                    <a:pt x="400" y="4139"/>
                  </a:lnTo>
                  <a:lnTo>
                    <a:pt x="447" y="4278"/>
                  </a:lnTo>
                  <a:lnTo>
                    <a:pt x="500" y="4413"/>
                  </a:lnTo>
                  <a:lnTo>
                    <a:pt x="560" y="4546"/>
                  </a:lnTo>
                  <a:lnTo>
                    <a:pt x="626" y="4675"/>
                  </a:lnTo>
                  <a:lnTo>
                    <a:pt x="698" y="4800"/>
                  </a:lnTo>
                  <a:lnTo>
                    <a:pt x="773" y="4918"/>
                  </a:lnTo>
                  <a:lnTo>
                    <a:pt x="945" y="5149"/>
                  </a:lnTo>
                  <a:lnTo>
                    <a:pt x="1138" y="5361"/>
                  </a:lnTo>
                  <a:lnTo>
                    <a:pt x="1349" y="5554"/>
                  </a:lnTo>
                  <a:lnTo>
                    <a:pt x="1583" y="5728"/>
                  </a:lnTo>
                  <a:lnTo>
                    <a:pt x="1704" y="5807"/>
                  </a:lnTo>
                  <a:lnTo>
                    <a:pt x="1827" y="5878"/>
                  </a:lnTo>
                  <a:lnTo>
                    <a:pt x="1958" y="5944"/>
                  </a:lnTo>
                  <a:lnTo>
                    <a:pt x="2089" y="6004"/>
                  </a:lnTo>
                  <a:lnTo>
                    <a:pt x="2225" y="6058"/>
                  </a:lnTo>
                  <a:lnTo>
                    <a:pt x="2364" y="6105"/>
                  </a:lnTo>
                  <a:lnTo>
                    <a:pt x="2505" y="6146"/>
                  </a:lnTo>
                  <a:lnTo>
                    <a:pt x="2651" y="6179"/>
                  </a:lnTo>
                  <a:lnTo>
                    <a:pt x="2797" y="6205"/>
                  </a:lnTo>
                  <a:lnTo>
                    <a:pt x="2948" y="6225"/>
                  </a:lnTo>
                  <a:lnTo>
                    <a:pt x="3099" y="6236"/>
                  </a:lnTo>
                  <a:lnTo>
                    <a:pt x="3253" y="6240"/>
                  </a:lnTo>
                  <a:lnTo>
                    <a:pt x="3411" y="6237"/>
                  </a:lnTo>
                  <a:lnTo>
                    <a:pt x="3568" y="6224"/>
                  </a:lnTo>
                  <a:lnTo>
                    <a:pt x="3723" y="6203"/>
                  </a:lnTo>
                  <a:lnTo>
                    <a:pt x="3876" y="6175"/>
                  </a:lnTo>
                  <a:lnTo>
                    <a:pt x="4028" y="6139"/>
                  </a:lnTo>
                  <a:lnTo>
                    <a:pt x="4177" y="6095"/>
                  </a:lnTo>
                  <a:lnTo>
                    <a:pt x="4324" y="6043"/>
                  </a:lnTo>
                  <a:lnTo>
                    <a:pt x="4467" y="5985"/>
                  </a:lnTo>
                  <a:lnTo>
                    <a:pt x="4607" y="5918"/>
                  </a:lnTo>
                  <a:lnTo>
                    <a:pt x="4670" y="5885"/>
                  </a:lnTo>
                  <a:cubicBezTo>
                    <a:pt x="4734" y="5850"/>
                    <a:pt x="4815" y="5874"/>
                    <a:pt x="4850" y="5939"/>
                  </a:cubicBezTo>
                  <a:cubicBezTo>
                    <a:pt x="4885" y="6004"/>
                    <a:pt x="4861" y="6084"/>
                    <a:pt x="4796" y="6119"/>
                  </a:cubicBezTo>
                  <a:close/>
                  <a:moveTo>
                    <a:pt x="4733" y="6002"/>
                  </a:moveTo>
                  <a:lnTo>
                    <a:pt x="3984" y="5910"/>
                  </a:lnTo>
                  <a:lnTo>
                    <a:pt x="5573" y="5345"/>
                  </a:lnTo>
                  <a:lnTo>
                    <a:pt x="4641" y="6751"/>
                  </a:lnTo>
                  <a:lnTo>
                    <a:pt x="4733" y="6002"/>
                  </a:lnTo>
                  <a:close/>
                </a:path>
              </a:pathLst>
            </a:custGeom>
            <a:solidFill>
              <a:srgbClr val="000000"/>
            </a:solidFill>
            <a:ln w="1" cap="flat">
              <a:solidFill>
                <a:srgbClr val="000000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26"/>
            <p:cNvSpPr>
              <a:spLocks noEditPoints="1"/>
            </p:cNvSpPr>
            <p:nvPr/>
          </p:nvSpPr>
          <p:spPr bwMode="auto">
            <a:xfrm>
              <a:off x="2172" y="1661"/>
              <a:ext cx="1173" cy="74"/>
            </a:xfrm>
            <a:custGeom>
              <a:avLst/>
              <a:gdLst>
                <a:gd name="T0" fmla="*/ 533 w 8466"/>
                <a:gd name="T1" fmla="*/ 200 h 533"/>
                <a:gd name="T2" fmla="*/ 8400 w 8466"/>
                <a:gd name="T3" fmla="*/ 200 h 533"/>
                <a:gd name="T4" fmla="*/ 8466 w 8466"/>
                <a:gd name="T5" fmla="*/ 266 h 533"/>
                <a:gd name="T6" fmla="*/ 8400 w 8466"/>
                <a:gd name="T7" fmla="*/ 333 h 533"/>
                <a:gd name="T8" fmla="*/ 533 w 8466"/>
                <a:gd name="T9" fmla="*/ 333 h 533"/>
                <a:gd name="T10" fmla="*/ 466 w 8466"/>
                <a:gd name="T11" fmla="*/ 266 h 533"/>
                <a:gd name="T12" fmla="*/ 533 w 8466"/>
                <a:gd name="T13" fmla="*/ 200 h 533"/>
                <a:gd name="T14" fmla="*/ 533 w 8466"/>
                <a:gd name="T15" fmla="*/ 266 h 533"/>
                <a:gd name="T16" fmla="*/ 800 w 8466"/>
                <a:gd name="T17" fmla="*/ 533 h 533"/>
                <a:gd name="T18" fmla="*/ 0 w 8466"/>
                <a:gd name="T19" fmla="*/ 266 h 533"/>
                <a:gd name="T20" fmla="*/ 800 w 8466"/>
                <a:gd name="T21" fmla="*/ 0 h 533"/>
                <a:gd name="T22" fmla="*/ 533 w 8466"/>
                <a:gd name="T23" fmla="*/ 266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466" h="533">
                  <a:moveTo>
                    <a:pt x="533" y="200"/>
                  </a:moveTo>
                  <a:lnTo>
                    <a:pt x="8400" y="200"/>
                  </a:lnTo>
                  <a:cubicBezTo>
                    <a:pt x="8437" y="200"/>
                    <a:pt x="8466" y="230"/>
                    <a:pt x="8466" y="266"/>
                  </a:cubicBezTo>
                  <a:cubicBezTo>
                    <a:pt x="8466" y="303"/>
                    <a:pt x="8437" y="333"/>
                    <a:pt x="8400" y="333"/>
                  </a:cubicBezTo>
                  <a:lnTo>
                    <a:pt x="533" y="333"/>
                  </a:lnTo>
                  <a:cubicBezTo>
                    <a:pt x="496" y="333"/>
                    <a:pt x="466" y="303"/>
                    <a:pt x="466" y="266"/>
                  </a:cubicBezTo>
                  <a:cubicBezTo>
                    <a:pt x="466" y="230"/>
                    <a:pt x="496" y="200"/>
                    <a:pt x="533" y="200"/>
                  </a:cubicBezTo>
                  <a:close/>
                  <a:moveTo>
                    <a:pt x="533" y="266"/>
                  </a:moveTo>
                  <a:lnTo>
                    <a:pt x="800" y="533"/>
                  </a:lnTo>
                  <a:lnTo>
                    <a:pt x="0" y="266"/>
                  </a:lnTo>
                  <a:lnTo>
                    <a:pt x="800" y="0"/>
                  </a:lnTo>
                  <a:lnTo>
                    <a:pt x="533" y="266"/>
                  </a:lnTo>
                  <a:close/>
                </a:path>
              </a:pathLst>
            </a:custGeom>
            <a:solidFill>
              <a:srgbClr val="000000"/>
            </a:solidFill>
            <a:ln w="1" cap="flat">
              <a:solidFill>
                <a:srgbClr val="000000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27"/>
            <p:cNvSpPr>
              <a:spLocks noEditPoints="1"/>
            </p:cNvSpPr>
            <p:nvPr/>
          </p:nvSpPr>
          <p:spPr bwMode="auto">
            <a:xfrm>
              <a:off x="2163" y="1517"/>
              <a:ext cx="1173" cy="74"/>
            </a:xfrm>
            <a:custGeom>
              <a:avLst/>
              <a:gdLst>
                <a:gd name="T0" fmla="*/ 67 w 8467"/>
                <a:gd name="T1" fmla="*/ 200 h 533"/>
                <a:gd name="T2" fmla="*/ 7933 w 8467"/>
                <a:gd name="T3" fmla="*/ 200 h 533"/>
                <a:gd name="T4" fmla="*/ 8000 w 8467"/>
                <a:gd name="T5" fmla="*/ 266 h 533"/>
                <a:gd name="T6" fmla="*/ 7933 w 8467"/>
                <a:gd name="T7" fmla="*/ 333 h 533"/>
                <a:gd name="T8" fmla="*/ 67 w 8467"/>
                <a:gd name="T9" fmla="*/ 333 h 533"/>
                <a:gd name="T10" fmla="*/ 0 w 8467"/>
                <a:gd name="T11" fmla="*/ 266 h 533"/>
                <a:gd name="T12" fmla="*/ 67 w 8467"/>
                <a:gd name="T13" fmla="*/ 200 h 533"/>
                <a:gd name="T14" fmla="*/ 7933 w 8467"/>
                <a:gd name="T15" fmla="*/ 266 h 533"/>
                <a:gd name="T16" fmla="*/ 7667 w 8467"/>
                <a:gd name="T17" fmla="*/ 0 h 533"/>
                <a:gd name="T18" fmla="*/ 8467 w 8467"/>
                <a:gd name="T19" fmla="*/ 266 h 533"/>
                <a:gd name="T20" fmla="*/ 7667 w 8467"/>
                <a:gd name="T21" fmla="*/ 533 h 533"/>
                <a:gd name="T22" fmla="*/ 7933 w 8467"/>
                <a:gd name="T23" fmla="*/ 266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467" h="533">
                  <a:moveTo>
                    <a:pt x="67" y="200"/>
                  </a:moveTo>
                  <a:lnTo>
                    <a:pt x="7933" y="200"/>
                  </a:lnTo>
                  <a:cubicBezTo>
                    <a:pt x="7970" y="200"/>
                    <a:pt x="8000" y="230"/>
                    <a:pt x="8000" y="266"/>
                  </a:cubicBezTo>
                  <a:cubicBezTo>
                    <a:pt x="8000" y="303"/>
                    <a:pt x="7970" y="333"/>
                    <a:pt x="7933" y="333"/>
                  </a:cubicBezTo>
                  <a:lnTo>
                    <a:pt x="67" y="333"/>
                  </a:lnTo>
                  <a:cubicBezTo>
                    <a:pt x="30" y="333"/>
                    <a:pt x="0" y="303"/>
                    <a:pt x="0" y="266"/>
                  </a:cubicBezTo>
                  <a:cubicBezTo>
                    <a:pt x="0" y="230"/>
                    <a:pt x="30" y="200"/>
                    <a:pt x="67" y="200"/>
                  </a:cubicBezTo>
                  <a:close/>
                  <a:moveTo>
                    <a:pt x="7933" y="266"/>
                  </a:moveTo>
                  <a:lnTo>
                    <a:pt x="7667" y="0"/>
                  </a:lnTo>
                  <a:lnTo>
                    <a:pt x="8467" y="266"/>
                  </a:lnTo>
                  <a:lnTo>
                    <a:pt x="7667" y="533"/>
                  </a:lnTo>
                  <a:lnTo>
                    <a:pt x="7933" y="266"/>
                  </a:lnTo>
                  <a:close/>
                </a:path>
              </a:pathLst>
            </a:custGeom>
            <a:solidFill>
              <a:srgbClr val="000000"/>
            </a:solidFill>
            <a:ln w="1" cap="flat">
              <a:solidFill>
                <a:srgbClr val="000000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Rectangle 28"/>
            <p:cNvSpPr>
              <a:spLocks noChangeArrowheads="1"/>
            </p:cNvSpPr>
            <p:nvPr/>
          </p:nvSpPr>
          <p:spPr bwMode="auto">
            <a:xfrm>
              <a:off x="2422" y="1347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不成功</a:t>
              </a:r>
              <a:endParaRPr kumimoji="0" 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8" name="Rectangle 29"/>
            <p:cNvSpPr>
              <a:spLocks noChangeArrowheads="1"/>
            </p:cNvSpPr>
            <p:nvPr/>
          </p:nvSpPr>
          <p:spPr bwMode="auto">
            <a:xfrm>
              <a:off x="2921" y="1342"/>
              <a:ext cx="110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ea typeface="宋体" pitchFamily="2" charset="-122"/>
                  <a:cs typeface="宋体" pitchFamily="2" charset="-122"/>
                </a:rPr>
                <a:t> 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9" name="Rectangle 30"/>
            <p:cNvSpPr>
              <a:spLocks noChangeArrowheads="1"/>
            </p:cNvSpPr>
            <p:nvPr/>
          </p:nvSpPr>
          <p:spPr bwMode="auto">
            <a:xfrm>
              <a:off x="2501" y="1721"/>
              <a:ext cx="25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成功</a:t>
              </a:r>
              <a:endParaRPr kumimoji="0" 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0" name="Rectangle 31"/>
            <p:cNvSpPr>
              <a:spLocks noChangeArrowheads="1"/>
            </p:cNvSpPr>
            <p:nvPr/>
          </p:nvSpPr>
          <p:spPr bwMode="auto">
            <a:xfrm>
              <a:off x="2833" y="1716"/>
              <a:ext cx="110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ea typeface="宋体" pitchFamily="2" charset="-122"/>
                  <a:cs typeface="宋体" pitchFamily="2" charset="-122"/>
                </a:rPr>
                <a:t> 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31" name="Rectangle 32"/>
            <p:cNvSpPr>
              <a:spLocks noChangeArrowheads="1"/>
            </p:cNvSpPr>
            <p:nvPr/>
          </p:nvSpPr>
          <p:spPr bwMode="auto">
            <a:xfrm>
              <a:off x="3742" y="2190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不成功</a:t>
              </a:r>
              <a:endParaRPr kumimoji="0" 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1264" name="Rectangle 33"/>
            <p:cNvSpPr>
              <a:spLocks noChangeArrowheads="1"/>
            </p:cNvSpPr>
            <p:nvPr/>
          </p:nvSpPr>
          <p:spPr bwMode="auto">
            <a:xfrm>
              <a:off x="3830" y="2185"/>
              <a:ext cx="110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ea typeface="宋体" pitchFamily="2" charset="-122"/>
                  <a:cs typeface="宋体" pitchFamily="2" charset="-122"/>
                </a:rPr>
                <a:t> 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1265" name="Rectangle 34"/>
            <p:cNvSpPr>
              <a:spLocks noChangeArrowheads="1"/>
            </p:cNvSpPr>
            <p:nvPr/>
          </p:nvSpPr>
          <p:spPr bwMode="auto">
            <a:xfrm>
              <a:off x="511" y="1614"/>
              <a:ext cx="25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成功</a:t>
              </a:r>
              <a:endParaRPr kumimoji="0" 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1266" name="Rectangle 35"/>
            <p:cNvSpPr>
              <a:spLocks noChangeArrowheads="1"/>
            </p:cNvSpPr>
            <p:nvPr/>
          </p:nvSpPr>
          <p:spPr bwMode="auto">
            <a:xfrm>
              <a:off x="843" y="1609"/>
              <a:ext cx="110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ea typeface="宋体" pitchFamily="2" charset="-122"/>
                  <a:cs typeface="宋体" pitchFamily="2" charset="-122"/>
                </a:rPr>
                <a:t> 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1268" name="Oval 36"/>
            <p:cNvSpPr>
              <a:spLocks noChangeArrowheads="1"/>
            </p:cNvSpPr>
            <p:nvPr/>
          </p:nvSpPr>
          <p:spPr bwMode="auto">
            <a:xfrm>
              <a:off x="1503" y="2563"/>
              <a:ext cx="665" cy="664"/>
            </a:xfrm>
            <a:prstGeom prst="ellipse">
              <a:avLst/>
            </a:prstGeom>
            <a:noFill/>
            <a:ln w="14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269" name="Rectangle 37"/>
            <p:cNvSpPr>
              <a:spLocks noChangeArrowheads="1"/>
            </p:cNvSpPr>
            <p:nvPr/>
          </p:nvSpPr>
          <p:spPr bwMode="auto">
            <a:xfrm>
              <a:off x="1753" y="2825"/>
              <a:ext cx="236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ea typeface="宋体" pitchFamily="2" charset="-122"/>
                  <a:cs typeface="宋体" pitchFamily="2" charset="-122"/>
                </a:rPr>
                <a:t>01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1270" name="Rectangle 38"/>
            <p:cNvSpPr>
              <a:spLocks noChangeArrowheads="1"/>
            </p:cNvSpPr>
            <p:nvPr/>
          </p:nvSpPr>
          <p:spPr bwMode="auto">
            <a:xfrm>
              <a:off x="1919" y="2825"/>
              <a:ext cx="110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ea typeface="宋体" pitchFamily="2" charset="-122"/>
                  <a:cs typeface="宋体" pitchFamily="2" charset="-122"/>
                </a:rPr>
                <a:t> 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1271" name="Oval 39"/>
            <p:cNvSpPr>
              <a:spLocks noChangeArrowheads="1"/>
            </p:cNvSpPr>
            <p:nvPr/>
          </p:nvSpPr>
          <p:spPr bwMode="auto">
            <a:xfrm>
              <a:off x="3331" y="2565"/>
              <a:ext cx="665" cy="665"/>
            </a:xfrm>
            <a:prstGeom prst="ellipse">
              <a:avLst/>
            </a:prstGeom>
            <a:noFill/>
            <a:ln w="14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272" name="Rectangle 40"/>
            <p:cNvSpPr>
              <a:spLocks noChangeArrowheads="1"/>
            </p:cNvSpPr>
            <p:nvPr/>
          </p:nvSpPr>
          <p:spPr bwMode="auto">
            <a:xfrm>
              <a:off x="3581" y="2826"/>
              <a:ext cx="236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ea typeface="宋体" pitchFamily="2" charset="-122"/>
                  <a:cs typeface="宋体" pitchFamily="2" charset="-122"/>
                </a:rPr>
                <a:t>00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1273" name="Rectangle 41"/>
            <p:cNvSpPr>
              <a:spLocks noChangeArrowheads="1"/>
            </p:cNvSpPr>
            <p:nvPr/>
          </p:nvSpPr>
          <p:spPr bwMode="auto">
            <a:xfrm>
              <a:off x="3747" y="2826"/>
              <a:ext cx="110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ea typeface="宋体" pitchFamily="2" charset="-122"/>
                  <a:cs typeface="宋体" pitchFamily="2" charset="-122"/>
                </a:rPr>
                <a:t> 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1274" name="Freeform 42"/>
            <p:cNvSpPr>
              <a:spLocks noEditPoints="1"/>
            </p:cNvSpPr>
            <p:nvPr/>
          </p:nvSpPr>
          <p:spPr bwMode="auto">
            <a:xfrm>
              <a:off x="3952" y="2697"/>
              <a:ext cx="386" cy="468"/>
            </a:xfrm>
            <a:custGeom>
              <a:avLst/>
              <a:gdLst>
                <a:gd name="T0" fmla="*/ 553 w 2786"/>
                <a:gd name="T1" fmla="*/ 2992 h 3375"/>
                <a:gd name="T2" fmla="*/ 772 w 2786"/>
                <a:gd name="T3" fmla="*/ 3069 h 3375"/>
                <a:gd name="T4" fmla="*/ 1003 w 2786"/>
                <a:gd name="T5" fmla="*/ 3112 h 3375"/>
                <a:gd name="T6" fmla="*/ 1237 w 2786"/>
                <a:gd name="T7" fmla="*/ 3118 h 3375"/>
                <a:gd name="T8" fmla="*/ 1461 w 2786"/>
                <a:gd name="T9" fmla="*/ 3089 h 3375"/>
                <a:gd name="T10" fmla="*/ 1674 w 2786"/>
                <a:gd name="T11" fmla="*/ 3029 h 3375"/>
                <a:gd name="T12" fmla="*/ 1872 w 2786"/>
                <a:gd name="T13" fmla="*/ 2939 h 3375"/>
                <a:gd name="T14" fmla="*/ 2112 w 2786"/>
                <a:gd name="T15" fmla="*/ 2777 h 3375"/>
                <a:gd name="T16" fmla="*/ 2400 w 2786"/>
                <a:gd name="T17" fmla="*/ 2459 h 3375"/>
                <a:gd name="T18" fmla="*/ 2506 w 2786"/>
                <a:gd name="T19" fmla="*/ 2273 h 3375"/>
                <a:gd name="T20" fmla="*/ 2586 w 2786"/>
                <a:gd name="T21" fmla="*/ 2069 h 3375"/>
                <a:gd name="T22" fmla="*/ 2636 w 2786"/>
                <a:gd name="T23" fmla="*/ 1852 h 3375"/>
                <a:gd name="T24" fmla="*/ 2653 w 2786"/>
                <a:gd name="T25" fmla="*/ 1625 h 3375"/>
                <a:gd name="T26" fmla="*/ 2635 w 2786"/>
                <a:gd name="T27" fmla="*/ 1397 h 3375"/>
                <a:gd name="T28" fmla="*/ 2585 w 2786"/>
                <a:gd name="T29" fmla="*/ 1181 h 3375"/>
                <a:gd name="T30" fmla="*/ 2505 w 2786"/>
                <a:gd name="T31" fmla="*/ 977 h 3375"/>
                <a:gd name="T32" fmla="*/ 2397 w 2786"/>
                <a:gd name="T33" fmla="*/ 791 h 3375"/>
                <a:gd name="T34" fmla="*/ 2106 w 2786"/>
                <a:gd name="T35" fmla="*/ 472 h 3375"/>
                <a:gd name="T36" fmla="*/ 1869 w 2786"/>
                <a:gd name="T37" fmla="*/ 312 h 3375"/>
                <a:gd name="T38" fmla="*/ 1671 w 2786"/>
                <a:gd name="T39" fmla="*/ 223 h 3375"/>
                <a:gd name="T40" fmla="*/ 1458 w 2786"/>
                <a:gd name="T41" fmla="*/ 163 h 3375"/>
                <a:gd name="T42" fmla="*/ 1234 w 2786"/>
                <a:gd name="T43" fmla="*/ 135 h 3375"/>
                <a:gd name="T44" fmla="*/ 1023 w 2786"/>
                <a:gd name="T45" fmla="*/ 139 h 3375"/>
                <a:gd name="T46" fmla="*/ 826 w 2786"/>
                <a:gd name="T47" fmla="*/ 171 h 3375"/>
                <a:gd name="T48" fmla="*/ 513 w 2786"/>
                <a:gd name="T49" fmla="*/ 280 h 3375"/>
                <a:gd name="T50" fmla="*/ 179 w 2786"/>
                <a:gd name="T51" fmla="*/ 499 h 3375"/>
                <a:gd name="T52" fmla="*/ 211 w 2786"/>
                <a:gd name="T53" fmla="*/ 304 h 3375"/>
                <a:gd name="T54" fmla="*/ 593 w 2786"/>
                <a:gd name="T55" fmla="*/ 101 h 3375"/>
                <a:gd name="T56" fmla="*/ 870 w 2786"/>
                <a:gd name="T57" fmla="*/ 26 h 3375"/>
                <a:gd name="T58" fmla="*/ 1087 w 2786"/>
                <a:gd name="T59" fmla="*/ 1 h 3375"/>
                <a:gd name="T60" fmla="*/ 1326 w 2786"/>
                <a:gd name="T61" fmla="*/ 8 h 3375"/>
                <a:gd name="T62" fmla="*/ 1567 w 2786"/>
                <a:gd name="T63" fmla="*/ 51 h 3375"/>
                <a:gd name="T64" fmla="*/ 1794 w 2786"/>
                <a:gd name="T65" fmla="*/ 128 h 3375"/>
                <a:gd name="T66" fmla="*/ 2004 w 2786"/>
                <a:gd name="T67" fmla="*/ 236 h 3375"/>
                <a:gd name="T68" fmla="*/ 2311 w 2786"/>
                <a:gd name="T69" fmla="*/ 478 h 3375"/>
                <a:gd name="T70" fmla="*/ 2551 w 2786"/>
                <a:gd name="T71" fmla="*/ 784 h 3375"/>
                <a:gd name="T72" fmla="*/ 2659 w 2786"/>
                <a:gd name="T73" fmla="*/ 995 h 3375"/>
                <a:gd name="T74" fmla="*/ 2735 w 2786"/>
                <a:gd name="T75" fmla="*/ 1221 h 3375"/>
                <a:gd name="T76" fmla="*/ 2778 w 2786"/>
                <a:gd name="T77" fmla="*/ 1462 h 3375"/>
                <a:gd name="T78" fmla="*/ 2784 w 2786"/>
                <a:gd name="T79" fmla="*/ 1712 h 3375"/>
                <a:gd name="T80" fmla="*/ 2753 w 2786"/>
                <a:gd name="T81" fmla="*/ 1956 h 3375"/>
                <a:gd name="T82" fmla="*/ 2687 w 2786"/>
                <a:gd name="T83" fmla="*/ 2187 h 3375"/>
                <a:gd name="T84" fmla="*/ 2589 w 2786"/>
                <a:gd name="T85" fmla="*/ 2404 h 3375"/>
                <a:gd name="T86" fmla="*/ 2412 w 2786"/>
                <a:gd name="T87" fmla="*/ 2664 h 3375"/>
                <a:gd name="T88" fmla="*/ 2067 w 2786"/>
                <a:gd name="T89" fmla="*/ 2976 h 3375"/>
                <a:gd name="T90" fmla="*/ 1863 w 2786"/>
                <a:gd name="T91" fmla="*/ 3093 h 3375"/>
                <a:gd name="T92" fmla="*/ 1641 w 2786"/>
                <a:gd name="T93" fmla="*/ 3181 h 3375"/>
                <a:gd name="T94" fmla="*/ 1404 w 2786"/>
                <a:gd name="T95" fmla="*/ 3235 h 3375"/>
                <a:gd name="T96" fmla="*/ 1157 w 2786"/>
                <a:gd name="T97" fmla="*/ 3253 h 3375"/>
                <a:gd name="T98" fmla="*/ 901 w 2786"/>
                <a:gd name="T99" fmla="*/ 3233 h 3375"/>
                <a:gd name="T100" fmla="*/ 653 w 2786"/>
                <a:gd name="T101" fmla="*/ 3173 h 3375"/>
                <a:gd name="T102" fmla="*/ 420 w 2786"/>
                <a:gd name="T103" fmla="*/ 3076 h 3375"/>
                <a:gd name="T104" fmla="*/ 452 w 2786"/>
                <a:gd name="T105" fmla="*/ 2942 h 3375"/>
                <a:gd name="T106" fmla="*/ 0 w 2786"/>
                <a:gd name="T107" fmla="*/ 2672 h 3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786" h="3375">
                  <a:moveTo>
                    <a:pt x="452" y="2942"/>
                  </a:moveTo>
                  <a:lnTo>
                    <a:pt x="483" y="2959"/>
                  </a:lnTo>
                  <a:lnTo>
                    <a:pt x="553" y="2992"/>
                  </a:lnTo>
                  <a:lnTo>
                    <a:pt x="625" y="3021"/>
                  </a:lnTo>
                  <a:lnTo>
                    <a:pt x="698" y="3047"/>
                  </a:lnTo>
                  <a:lnTo>
                    <a:pt x="772" y="3069"/>
                  </a:lnTo>
                  <a:lnTo>
                    <a:pt x="848" y="3087"/>
                  </a:lnTo>
                  <a:lnTo>
                    <a:pt x="925" y="3101"/>
                  </a:lnTo>
                  <a:lnTo>
                    <a:pt x="1003" y="3112"/>
                  </a:lnTo>
                  <a:lnTo>
                    <a:pt x="1081" y="3118"/>
                  </a:lnTo>
                  <a:lnTo>
                    <a:pt x="1160" y="3120"/>
                  </a:lnTo>
                  <a:lnTo>
                    <a:pt x="1237" y="3118"/>
                  </a:lnTo>
                  <a:lnTo>
                    <a:pt x="1313" y="3112"/>
                  </a:lnTo>
                  <a:lnTo>
                    <a:pt x="1387" y="3102"/>
                  </a:lnTo>
                  <a:lnTo>
                    <a:pt x="1461" y="3089"/>
                  </a:lnTo>
                  <a:lnTo>
                    <a:pt x="1533" y="3073"/>
                  </a:lnTo>
                  <a:lnTo>
                    <a:pt x="1604" y="3052"/>
                  </a:lnTo>
                  <a:lnTo>
                    <a:pt x="1674" y="3029"/>
                  </a:lnTo>
                  <a:lnTo>
                    <a:pt x="1742" y="3002"/>
                  </a:lnTo>
                  <a:lnTo>
                    <a:pt x="1807" y="2972"/>
                  </a:lnTo>
                  <a:lnTo>
                    <a:pt x="1872" y="2939"/>
                  </a:lnTo>
                  <a:lnTo>
                    <a:pt x="1935" y="2903"/>
                  </a:lnTo>
                  <a:lnTo>
                    <a:pt x="1995" y="2864"/>
                  </a:lnTo>
                  <a:lnTo>
                    <a:pt x="2112" y="2777"/>
                  </a:lnTo>
                  <a:lnTo>
                    <a:pt x="2217" y="2680"/>
                  </a:lnTo>
                  <a:lnTo>
                    <a:pt x="2314" y="2574"/>
                  </a:lnTo>
                  <a:lnTo>
                    <a:pt x="2400" y="2459"/>
                  </a:lnTo>
                  <a:lnTo>
                    <a:pt x="2437" y="2400"/>
                  </a:lnTo>
                  <a:lnTo>
                    <a:pt x="2473" y="2337"/>
                  </a:lnTo>
                  <a:lnTo>
                    <a:pt x="2506" y="2273"/>
                  </a:lnTo>
                  <a:lnTo>
                    <a:pt x="2536" y="2206"/>
                  </a:lnTo>
                  <a:lnTo>
                    <a:pt x="2563" y="2139"/>
                  </a:lnTo>
                  <a:lnTo>
                    <a:pt x="2586" y="2069"/>
                  </a:lnTo>
                  <a:lnTo>
                    <a:pt x="2606" y="1998"/>
                  </a:lnTo>
                  <a:lnTo>
                    <a:pt x="2623" y="1926"/>
                  </a:lnTo>
                  <a:lnTo>
                    <a:pt x="2636" y="1852"/>
                  </a:lnTo>
                  <a:lnTo>
                    <a:pt x="2645" y="1777"/>
                  </a:lnTo>
                  <a:lnTo>
                    <a:pt x="2651" y="1702"/>
                  </a:lnTo>
                  <a:lnTo>
                    <a:pt x="2653" y="1625"/>
                  </a:lnTo>
                  <a:lnTo>
                    <a:pt x="2651" y="1548"/>
                  </a:lnTo>
                  <a:lnTo>
                    <a:pt x="2645" y="1472"/>
                  </a:lnTo>
                  <a:lnTo>
                    <a:pt x="2635" y="1397"/>
                  </a:lnTo>
                  <a:lnTo>
                    <a:pt x="2622" y="1323"/>
                  </a:lnTo>
                  <a:lnTo>
                    <a:pt x="2606" y="1252"/>
                  </a:lnTo>
                  <a:lnTo>
                    <a:pt x="2585" y="1181"/>
                  </a:lnTo>
                  <a:lnTo>
                    <a:pt x="2562" y="1111"/>
                  </a:lnTo>
                  <a:lnTo>
                    <a:pt x="2535" y="1044"/>
                  </a:lnTo>
                  <a:lnTo>
                    <a:pt x="2505" y="977"/>
                  </a:lnTo>
                  <a:lnTo>
                    <a:pt x="2472" y="913"/>
                  </a:lnTo>
                  <a:lnTo>
                    <a:pt x="2436" y="851"/>
                  </a:lnTo>
                  <a:lnTo>
                    <a:pt x="2397" y="791"/>
                  </a:lnTo>
                  <a:lnTo>
                    <a:pt x="2310" y="674"/>
                  </a:lnTo>
                  <a:lnTo>
                    <a:pt x="2213" y="568"/>
                  </a:lnTo>
                  <a:lnTo>
                    <a:pt x="2106" y="472"/>
                  </a:lnTo>
                  <a:lnTo>
                    <a:pt x="1991" y="386"/>
                  </a:lnTo>
                  <a:lnTo>
                    <a:pt x="1932" y="349"/>
                  </a:lnTo>
                  <a:lnTo>
                    <a:pt x="1869" y="312"/>
                  </a:lnTo>
                  <a:lnTo>
                    <a:pt x="1805" y="280"/>
                  </a:lnTo>
                  <a:lnTo>
                    <a:pt x="1738" y="250"/>
                  </a:lnTo>
                  <a:lnTo>
                    <a:pt x="1671" y="223"/>
                  </a:lnTo>
                  <a:lnTo>
                    <a:pt x="1601" y="200"/>
                  </a:lnTo>
                  <a:lnTo>
                    <a:pt x="1530" y="180"/>
                  </a:lnTo>
                  <a:lnTo>
                    <a:pt x="1458" y="163"/>
                  </a:lnTo>
                  <a:lnTo>
                    <a:pt x="1384" y="150"/>
                  </a:lnTo>
                  <a:lnTo>
                    <a:pt x="1309" y="141"/>
                  </a:lnTo>
                  <a:lnTo>
                    <a:pt x="1234" y="135"/>
                  </a:lnTo>
                  <a:lnTo>
                    <a:pt x="1157" y="133"/>
                  </a:lnTo>
                  <a:lnTo>
                    <a:pt x="1090" y="135"/>
                  </a:lnTo>
                  <a:lnTo>
                    <a:pt x="1023" y="139"/>
                  </a:lnTo>
                  <a:lnTo>
                    <a:pt x="957" y="147"/>
                  </a:lnTo>
                  <a:lnTo>
                    <a:pt x="891" y="157"/>
                  </a:lnTo>
                  <a:lnTo>
                    <a:pt x="826" y="171"/>
                  </a:lnTo>
                  <a:lnTo>
                    <a:pt x="761" y="187"/>
                  </a:lnTo>
                  <a:lnTo>
                    <a:pt x="634" y="228"/>
                  </a:lnTo>
                  <a:lnTo>
                    <a:pt x="513" y="280"/>
                  </a:lnTo>
                  <a:lnTo>
                    <a:pt x="395" y="343"/>
                  </a:lnTo>
                  <a:lnTo>
                    <a:pt x="284" y="416"/>
                  </a:lnTo>
                  <a:lnTo>
                    <a:pt x="179" y="499"/>
                  </a:lnTo>
                  <a:cubicBezTo>
                    <a:pt x="150" y="522"/>
                    <a:pt x="108" y="517"/>
                    <a:pt x="85" y="488"/>
                  </a:cubicBezTo>
                  <a:cubicBezTo>
                    <a:pt x="62" y="459"/>
                    <a:pt x="67" y="417"/>
                    <a:pt x="96" y="394"/>
                  </a:cubicBezTo>
                  <a:lnTo>
                    <a:pt x="211" y="304"/>
                  </a:lnTo>
                  <a:lnTo>
                    <a:pt x="333" y="225"/>
                  </a:lnTo>
                  <a:lnTo>
                    <a:pt x="460" y="157"/>
                  </a:lnTo>
                  <a:lnTo>
                    <a:pt x="593" y="101"/>
                  </a:lnTo>
                  <a:lnTo>
                    <a:pt x="730" y="57"/>
                  </a:lnTo>
                  <a:lnTo>
                    <a:pt x="799" y="40"/>
                  </a:lnTo>
                  <a:lnTo>
                    <a:pt x="870" y="26"/>
                  </a:lnTo>
                  <a:lnTo>
                    <a:pt x="942" y="14"/>
                  </a:lnTo>
                  <a:lnTo>
                    <a:pt x="1014" y="6"/>
                  </a:lnTo>
                  <a:lnTo>
                    <a:pt x="1087" y="1"/>
                  </a:lnTo>
                  <a:lnTo>
                    <a:pt x="1160" y="0"/>
                  </a:lnTo>
                  <a:lnTo>
                    <a:pt x="1244" y="2"/>
                  </a:lnTo>
                  <a:lnTo>
                    <a:pt x="1326" y="8"/>
                  </a:lnTo>
                  <a:lnTo>
                    <a:pt x="1407" y="19"/>
                  </a:lnTo>
                  <a:lnTo>
                    <a:pt x="1488" y="33"/>
                  </a:lnTo>
                  <a:lnTo>
                    <a:pt x="1567" y="51"/>
                  </a:lnTo>
                  <a:lnTo>
                    <a:pt x="1644" y="73"/>
                  </a:lnTo>
                  <a:lnTo>
                    <a:pt x="1719" y="99"/>
                  </a:lnTo>
                  <a:lnTo>
                    <a:pt x="1794" y="128"/>
                  </a:lnTo>
                  <a:lnTo>
                    <a:pt x="1865" y="161"/>
                  </a:lnTo>
                  <a:lnTo>
                    <a:pt x="1936" y="197"/>
                  </a:lnTo>
                  <a:lnTo>
                    <a:pt x="2004" y="236"/>
                  </a:lnTo>
                  <a:lnTo>
                    <a:pt x="2071" y="279"/>
                  </a:lnTo>
                  <a:lnTo>
                    <a:pt x="2196" y="373"/>
                  </a:lnTo>
                  <a:lnTo>
                    <a:pt x="2311" y="478"/>
                  </a:lnTo>
                  <a:lnTo>
                    <a:pt x="2416" y="594"/>
                  </a:lnTo>
                  <a:lnTo>
                    <a:pt x="2509" y="718"/>
                  </a:lnTo>
                  <a:lnTo>
                    <a:pt x="2551" y="784"/>
                  </a:lnTo>
                  <a:lnTo>
                    <a:pt x="2590" y="852"/>
                  </a:lnTo>
                  <a:lnTo>
                    <a:pt x="2626" y="922"/>
                  </a:lnTo>
                  <a:lnTo>
                    <a:pt x="2659" y="995"/>
                  </a:lnTo>
                  <a:lnTo>
                    <a:pt x="2688" y="1069"/>
                  </a:lnTo>
                  <a:lnTo>
                    <a:pt x="2714" y="1144"/>
                  </a:lnTo>
                  <a:lnTo>
                    <a:pt x="2735" y="1221"/>
                  </a:lnTo>
                  <a:lnTo>
                    <a:pt x="2754" y="1300"/>
                  </a:lnTo>
                  <a:lnTo>
                    <a:pt x="2768" y="1380"/>
                  </a:lnTo>
                  <a:lnTo>
                    <a:pt x="2778" y="1462"/>
                  </a:lnTo>
                  <a:lnTo>
                    <a:pt x="2784" y="1544"/>
                  </a:lnTo>
                  <a:lnTo>
                    <a:pt x="2786" y="1628"/>
                  </a:lnTo>
                  <a:lnTo>
                    <a:pt x="2784" y="1712"/>
                  </a:lnTo>
                  <a:lnTo>
                    <a:pt x="2778" y="1794"/>
                  </a:lnTo>
                  <a:lnTo>
                    <a:pt x="2767" y="1875"/>
                  </a:lnTo>
                  <a:lnTo>
                    <a:pt x="2753" y="1956"/>
                  </a:lnTo>
                  <a:lnTo>
                    <a:pt x="2735" y="2035"/>
                  </a:lnTo>
                  <a:lnTo>
                    <a:pt x="2713" y="2112"/>
                  </a:lnTo>
                  <a:lnTo>
                    <a:pt x="2687" y="2187"/>
                  </a:lnTo>
                  <a:lnTo>
                    <a:pt x="2658" y="2262"/>
                  </a:lnTo>
                  <a:lnTo>
                    <a:pt x="2625" y="2333"/>
                  </a:lnTo>
                  <a:lnTo>
                    <a:pt x="2589" y="2404"/>
                  </a:lnTo>
                  <a:lnTo>
                    <a:pt x="2550" y="2471"/>
                  </a:lnTo>
                  <a:lnTo>
                    <a:pt x="2506" y="2539"/>
                  </a:lnTo>
                  <a:lnTo>
                    <a:pt x="2412" y="2664"/>
                  </a:lnTo>
                  <a:lnTo>
                    <a:pt x="2307" y="2779"/>
                  </a:lnTo>
                  <a:lnTo>
                    <a:pt x="2191" y="2884"/>
                  </a:lnTo>
                  <a:lnTo>
                    <a:pt x="2067" y="2976"/>
                  </a:lnTo>
                  <a:lnTo>
                    <a:pt x="2001" y="3019"/>
                  </a:lnTo>
                  <a:lnTo>
                    <a:pt x="1932" y="3058"/>
                  </a:lnTo>
                  <a:lnTo>
                    <a:pt x="1863" y="3093"/>
                  </a:lnTo>
                  <a:lnTo>
                    <a:pt x="1790" y="3126"/>
                  </a:lnTo>
                  <a:lnTo>
                    <a:pt x="1716" y="3155"/>
                  </a:lnTo>
                  <a:lnTo>
                    <a:pt x="1641" y="3181"/>
                  </a:lnTo>
                  <a:lnTo>
                    <a:pt x="1564" y="3202"/>
                  </a:lnTo>
                  <a:lnTo>
                    <a:pt x="1484" y="3221"/>
                  </a:lnTo>
                  <a:lnTo>
                    <a:pt x="1404" y="3235"/>
                  </a:lnTo>
                  <a:lnTo>
                    <a:pt x="1323" y="3245"/>
                  </a:lnTo>
                  <a:lnTo>
                    <a:pt x="1241" y="3251"/>
                  </a:lnTo>
                  <a:lnTo>
                    <a:pt x="1157" y="3253"/>
                  </a:lnTo>
                  <a:lnTo>
                    <a:pt x="1071" y="3251"/>
                  </a:lnTo>
                  <a:lnTo>
                    <a:pt x="985" y="3244"/>
                  </a:lnTo>
                  <a:lnTo>
                    <a:pt x="901" y="3233"/>
                  </a:lnTo>
                  <a:lnTo>
                    <a:pt x="817" y="3217"/>
                  </a:lnTo>
                  <a:lnTo>
                    <a:pt x="735" y="3197"/>
                  </a:lnTo>
                  <a:lnTo>
                    <a:pt x="653" y="3173"/>
                  </a:lnTo>
                  <a:lnTo>
                    <a:pt x="574" y="3145"/>
                  </a:lnTo>
                  <a:lnTo>
                    <a:pt x="496" y="3113"/>
                  </a:lnTo>
                  <a:lnTo>
                    <a:pt x="420" y="3076"/>
                  </a:lnTo>
                  <a:lnTo>
                    <a:pt x="389" y="3059"/>
                  </a:lnTo>
                  <a:cubicBezTo>
                    <a:pt x="356" y="3042"/>
                    <a:pt x="344" y="3002"/>
                    <a:pt x="362" y="2969"/>
                  </a:cubicBezTo>
                  <a:cubicBezTo>
                    <a:pt x="379" y="2937"/>
                    <a:pt x="420" y="2925"/>
                    <a:pt x="452" y="2942"/>
                  </a:cubicBezTo>
                  <a:close/>
                  <a:moveTo>
                    <a:pt x="420" y="3001"/>
                  </a:moveTo>
                  <a:lnTo>
                    <a:pt x="466" y="3375"/>
                  </a:lnTo>
                  <a:lnTo>
                    <a:pt x="0" y="2672"/>
                  </a:lnTo>
                  <a:lnTo>
                    <a:pt x="795" y="2955"/>
                  </a:lnTo>
                  <a:lnTo>
                    <a:pt x="420" y="3001"/>
                  </a:lnTo>
                  <a:close/>
                </a:path>
              </a:pathLst>
            </a:custGeom>
            <a:solidFill>
              <a:srgbClr val="000000"/>
            </a:solidFill>
            <a:ln w="1" cap="flat">
              <a:solidFill>
                <a:srgbClr val="000000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275" name="Freeform 43"/>
            <p:cNvSpPr>
              <a:spLocks noEditPoints="1"/>
            </p:cNvSpPr>
            <p:nvPr/>
          </p:nvSpPr>
          <p:spPr bwMode="auto">
            <a:xfrm>
              <a:off x="2168" y="2958"/>
              <a:ext cx="1172" cy="74"/>
            </a:xfrm>
            <a:custGeom>
              <a:avLst/>
              <a:gdLst>
                <a:gd name="T0" fmla="*/ 534 w 8467"/>
                <a:gd name="T1" fmla="*/ 200 h 533"/>
                <a:gd name="T2" fmla="*/ 8400 w 8467"/>
                <a:gd name="T3" fmla="*/ 200 h 533"/>
                <a:gd name="T4" fmla="*/ 8467 w 8467"/>
                <a:gd name="T5" fmla="*/ 266 h 533"/>
                <a:gd name="T6" fmla="*/ 8400 w 8467"/>
                <a:gd name="T7" fmla="*/ 333 h 533"/>
                <a:gd name="T8" fmla="*/ 534 w 8467"/>
                <a:gd name="T9" fmla="*/ 333 h 533"/>
                <a:gd name="T10" fmla="*/ 467 w 8467"/>
                <a:gd name="T11" fmla="*/ 266 h 533"/>
                <a:gd name="T12" fmla="*/ 534 w 8467"/>
                <a:gd name="T13" fmla="*/ 200 h 533"/>
                <a:gd name="T14" fmla="*/ 534 w 8467"/>
                <a:gd name="T15" fmla="*/ 266 h 533"/>
                <a:gd name="T16" fmla="*/ 800 w 8467"/>
                <a:gd name="T17" fmla="*/ 533 h 533"/>
                <a:gd name="T18" fmla="*/ 0 w 8467"/>
                <a:gd name="T19" fmla="*/ 266 h 533"/>
                <a:gd name="T20" fmla="*/ 800 w 8467"/>
                <a:gd name="T21" fmla="*/ 0 h 533"/>
                <a:gd name="T22" fmla="*/ 534 w 8467"/>
                <a:gd name="T23" fmla="*/ 266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467" h="533">
                  <a:moveTo>
                    <a:pt x="534" y="200"/>
                  </a:moveTo>
                  <a:lnTo>
                    <a:pt x="8400" y="200"/>
                  </a:lnTo>
                  <a:cubicBezTo>
                    <a:pt x="8437" y="200"/>
                    <a:pt x="8467" y="230"/>
                    <a:pt x="8467" y="266"/>
                  </a:cubicBezTo>
                  <a:cubicBezTo>
                    <a:pt x="8467" y="303"/>
                    <a:pt x="8437" y="333"/>
                    <a:pt x="8400" y="333"/>
                  </a:cubicBezTo>
                  <a:lnTo>
                    <a:pt x="534" y="333"/>
                  </a:lnTo>
                  <a:cubicBezTo>
                    <a:pt x="497" y="333"/>
                    <a:pt x="467" y="303"/>
                    <a:pt x="467" y="266"/>
                  </a:cubicBezTo>
                  <a:cubicBezTo>
                    <a:pt x="467" y="230"/>
                    <a:pt x="497" y="200"/>
                    <a:pt x="534" y="200"/>
                  </a:cubicBezTo>
                  <a:close/>
                  <a:moveTo>
                    <a:pt x="534" y="266"/>
                  </a:moveTo>
                  <a:lnTo>
                    <a:pt x="800" y="533"/>
                  </a:lnTo>
                  <a:lnTo>
                    <a:pt x="0" y="266"/>
                  </a:lnTo>
                  <a:lnTo>
                    <a:pt x="800" y="0"/>
                  </a:lnTo>
                  <a:lnTo>
                    <a:pt x="534" y="266"/>
                  </a:lnTo>
                  <a:close/>
                </a:path>
              </a:pathLst>
            </a:custGeom>
            <a:solidFill>
              <a:srgbClr val="000000"/>
            </a:solidFill>
            <a:ln w="1" cap="flat">
              <a:solidFill>
                <a:srgbClr val="000000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276" name="Freeform 44"/>
            <p:cNvSpPr>
              <a:spLocks noEditPoints="1"/>
            </p:cNvSpPr>
            <p:nvPr/>
          </p:nvSpPr>
          <p:spPr bwMode="auto">
            <a:xfrm>
              <a:off x="2159" y="2814"/>
              <a:ext cx="1172" cy="74"/>
            </a:xfrm>
            <a:custGeom>
              <a:avLst/>
              <a:gdLst>
                <a:gd name="T0" fmla="*/ 66 w 8466"/>
                <a:gd name="T1" fmla="*/ 200 h 533"/>
                <a:gd name="T2" fmla="*/ 7933 w 8466"/>
                <a:gd name="T3" fmla="*/ 200 h 533"/>
                <a:gd name="T4" fmla="*/ 8000 w 8466"/>
                <a:gd name="T5" fmla="*/ 266 h 533"/>
                <a:gd name="T6" fmla="*/ 7933 w 8466"/>
                <a:gd name="T7" fmla="*/ 333 h 533"/>
                <a:gd name="T8" fmla="*/ 66 w 8466"/>
                <a:gd name="T9" fmla="*/ 333 h 533"/>
                <a:gd name="T10" fmla="*/ 0 w 8466"/>
                <a:gd name="T11" fmla="*/ 266 h 533"/>
                <a:gd name="T12" fmla="*/ 66 w 8466"/>
                <a:gd name="T13" fmla="*/ 200 h 533"/>
                <a:gd name="T14" fmla="*/ 7933 w 8466"/>
                <a:gd name="T15" fmla="*/ 266 h 533"/>
                <a:gd name="T16" fmla="*/ 7666 w 8466"/>
                <a:gd name="T17" fmla="*/ 0 h 533"/>
                <a:gd name="T18" fmla="*/ 8466 w 8466"/>
                <a:gd name="T19" fmla="*/ 266 h 533"/>
                <a:gd name="T20" fmla="*/ 7666 w 8466"/>
                <a:gd name="T21" fmla="*/ 533 h 533"/>
                <a:gd name="T22" fmla="*/ 7933 w 8466"/>
                <a:gd name="T23" fmla="*/ 266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466" h="533">
                  <a:moveTo>
                    <a:pt x="66" y="200"/>
                  </a:moveTo>
                  <a:lnTo>
                    <a:pt x="7933" y="200"/>
                  </a:lnTo>
                  <a:cubicBezTo>
                    <a:pt x="7970" y="200"/>
                    <a:pt x="8000" y="230"/>
                    <a:pt x="8000" y="266"/>
                  </a:cubicBezTo>
                  <a:cubicBezTo>
                    <a:pt x="8000" y="303"/>
                    <a:pt x="7970" y="333"/>
                    <a:pt x="7933" y="333"/>
                  </a:cubicBezTo>
                  <a:lnTo>
                    <a:pt x="66" y="333"/>
                  </a:lnTo>
                  <a:cubicBezTo>
                    <a:pt x="30" y="333"/>
                    <a:pt x="0" y="303"/>
                    <a:pt x="0" y="266"/>
                  </a:cubicBezTo>
                  <a:cubicBezTo>
                    <a:pt x="0" y="230"/>
                    <a:pt x="30" y="200"/>
                    <a:pt x="66" y="200"/>
                  </a:cubicBezTo>
                  <a:close/>
                  <a:moveTo>
                    <a:pt x="7933" y="266"/>
                  </a:moveTo>
                  <a:lnTo>
                    <a:pt x="7666" y="0"/>
                  </a:lnTo>
                  <a:lnTo>
                    <a:pt x="8466" y="266"/>
                  </a:lnTo>
                  <a:lnTo>
                    <a:pt x="7666" y="533"/>
                  </a:lnTo>
                  <a:lnTo>
                    <a:pt x="7933" y="266"/>
                  </a:lnTo>
                  <a:close/>
                </a:path>
              </a:pathLst>
            </a:custGeom>
            <a:solidFill>
              <a:srgbClr val="000000"/>
            </a:solidFill>
            <a:ln w="1" cap="flat">
              <a:solidFill>
                <a:srgbClr val="000000"/>
              </a:solidFill>
              <a:prstDash val="solid"/>
              <a:bevel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277" name="Rectangle 45"/>
            <p:cNvSpPr>
              <a:spLocks noChangeArrowheads="1"/>
            </p:cNvSpPr>
            <p:nvPr/>
          </p:nvSpPr>
          <p:spPr bwMode="auto">
            <a:xfrm>
              <a:off x="2620" y="2644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不成功</a:t>
              </a:r>
              <a:endParaRPr kumimoji="0" 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1278" name="Rectangle 46"/>
            <p:cNvSpPr>
              <a:spLocks noChangeArrowheads="1"/>
            </p:cNvSpPr>
            <p:nvPr/>
          </p:nvSpPr>
          <p:spPr bwMode="auto">
            <a:xfrm>
              <a:off x="3119" y="2639"/>
              <a:ext cx="110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ea typeface="宋体" pitchFamily="2" charset="-122"/>
                  <a:cs typeface="宋体" pitchFamily="2" charset="-122"/>
                </a:rPr>
                <a:t> 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1279" name="Rectangle 47"/>
            <p:cNvSpPr>
              <a:spLocks noChangeArrowheads="1"/>
            </p:cNvSpPr>
            <p:nvPr/>
          </p:nvSpPr>
          <p:spPr bwMode="auto">
            <a:xfrm>
              <a:off x="2667" y="3020"/>
              <a:ext cx="25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成功</a:t>
              </a:r>
              <a:endParaRPr kumimoji="0" 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1280" name="Rectangle 48"/>
            <p:cNvSpPr>
              <a:spLocks noChangeArrowheads="1"/>
            </p:cNvSpPr>
            <p:nvPr/>
          </p:nvSpPr>
          <p:spPr bwMode="auto">
            <a:xfrm>
              <a:off x="2999" y="3015"/>
              <a:ext cx="110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ea typeface="宋体" pitchFamily="2" charset="-122"/>
                  <a:cs typeface="宋体" pitchFamily="2" charset="-122"/>
                </a:rPr>
                <a:t> 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1281" name="Rectangle 49"/>
            <p:cNvSpPr>
              <a:spLocks noChangeArrowheads="1"/>
            </p:cNvSpPr>
            <p:nvPr/>
          </p:nvSpPr>
          <p:spPr bwMode="auto">
            <a:xfrm>
              <a:off x="4495" y="2911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不成功</a:t>
              </a:r>
              <a:endParaRPr kumimoji="0" 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1282" name="Rectangle 50"/>
            <p:cNvSpPr>
              <a:spLocks noChangeArrowheads="1"/>
            </p:cNvSpPr>
            <p:nvPr/>
          </p:nvSpPr>
          <p:spPr bwMode="auto">
            <a:xfrm>
              <a:off x="4994" y="2906"/>
              <a:ext cx="110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ea typeface="宋体" pitchFamily="2" charset="-122"/>
                  <a:cs typeface="宋体" pitchFamily="2" charset="-122"/>
                </a:rPr>
                <a:t> 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1283" name="Rectangle 51"/>
            <p:cNvSpPr>
              <a:spLocks noChangeArrowheads="1"/>
            </p:cNvSpPr>
            <p:nvPr/>
          </p:nvSpPr>
          <p:spPr bwMode="auto">
            <a:xfrm>
              <a:off x="1882" y="2190"/>
              <a:ext cx="25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成功</a:t>
              </a:r>
              <a:endParaRPr kumimoji="0" 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1284" name="Rectangle 52"/>
            <p:cNvSpPr>
              <a:spLocks noChangeArrowheads="1"/>
            </p:cNvSpPr>
            <p:nvPr/>
          </p:nvSpPr>
          <p:spPr bwMode="auto">
            <a:xfrm>
              <a:off x="2334" y="2185"/>
              <a:ext cx="110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ea typeface="宋体" pitchFamily="2" charset="-122"/>
                  <a:cs typeface="宋体" pitchFamily="2" charset="-122"/>
                </a:rPr>
                <a:t> 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</p:grpSp>
      <p:cxnSp>
        <p:nvCxnSpPr>
          <p:cNvPr id="11288" name="直接箭头连接符 11287"/>
          <p:cNvCxnSpPr/>
          <p:nvPr/>
        </p:nvCxnSpPr>
        <p:spPr>
          <a:xfrm>
            <a:off x="5796136" y="3060652"/>
            <a:ext cx="0" cy="1008112"/>
          </a:xfrm>
          <a:prstGeom prst="straightConnector1">
            <a:avLst/>
          </a:prstGeom>
          <a:ln w="19050" cmpd="sng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/>
        </p:nvCxnSpPr>
        <p:spPr>
          <a:xfrm flipH="1" flipV="1">
            <a:off x="2906442" y="3097735"/>
            <a:ext cx="851" cy="936104"/>
          </a:xfrm>
          <a:prstGeom prst="straightConnector1">
            <a:avLst/>
          </a:prstGeom>
          <a:ln w="19050" cmpd="sng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日期占位符 31">
            <a:extLst>
              <a:ext uri="{FF2B5EF4-FFF2-40B4-BE49-F238E27FC236}">
                <a16:creationId xmlns:a16="http://schemas.microsoft.com/office/drawing/2014/main" id="{159AF86E-557F-93DD-9628-09441B014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E396A9-40C1-4E31-AB55-D4B3EE43A254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3" name="页脚占位符 32">
            <a:extLst>
              <a:ext uri="{FF2B5EF4-FFF2-40B4-BE49-F238E27FC236}">
                <a16:creationId xmlns:a16="http://schemas.microsoft.com/office/drawing/2014/main" id="{5A63DA42-BD0A-E6EB-9C52-432864736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34" name="灯片编号占位符 33">
            <a:extLst>
              <a:ext uri="{FF2B5EF4-FFF2-40B4-BE49-F238E27FC236}">
                <a16:creationId xmlns:a16="http://schemas.microsoft.com/office/drawing/2014/main" id="{45DB62BC-6B2A-BBA2-7AD4-4CF313C84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AE633C-541A-4E3F-A22A-3C4C63E8EF5F}" type="slidenum">
              <a:rPr lang="zh-CN" altLang="en-US" smtClean="0"/>
              <a:t>62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9670764"/>
      </p:ext>
    </p:extLst>
  </p:cSld>
  <p:clrMapOvr>
    <a:masterClrMapping/>
  </p:clrMapOvr>
  <p:transition spd="slow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rc 25"/>
          <p:cNvSpPr>
            <a:spLocks/>
          </p:cNvSpPr>
          <p:nvPr/>
        </p:nvSpPr>
        <p:spPr bwMode="hidden">
          <a:xfrm>
            <a:off x="1606550" y="1981200"/>
            <a:ext cx="1822450" cy="823913"/>
          </a:xfrm>
          <a:custGeom>
            <a:avLst/>
            <a:gdLst>
              <a:gd name="T0" fmla="*/ 2147483647 w 43200"/>
              <a:gd name="T1" fmla="*/ 2147483647 h 23303"/>
              <a:gd name="T2" fmla="*/ 2147483647 w 43200"/>
              <a:gd name="T3" fmla="*/ 2147483647 h 23303"/>
              <a:gd name="T4" fmla="*/ 2147483647 w 43200"/>
              <a:gd name="T5" fmla="*/ 2147483647 h 2330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23303" fill="none" extrusionOk="0">
                <a:moveTo>
                  <a:pt x="44" y="22982"/>
                </a:moveTo>
                <a:cubicBezTo>
                  <a:pt x="14" y="22522"/>
                  <a:pt x="0" y="2206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2168"/>
                  <a:pt x="43177" y="22736"/>
                  <a:pt x="43132" y="23302"/>
                </a:cubicBezTo>
              </a:path>
              <a:path w="43200" h="23303" stroke="0" extrusionOk="0">
                <a:moveTo>
                  <a:pt x="44" y="22982"/>
                </a:moveTo>
                <a:cubicBezTo>
                  <a:pt x="14" y="22522"/>
                  <a:pt x="0" y="2206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2168"/>
                  <a:pt x="43177" y="22736"/>
                  <a:pt x="43132" y="23302"/>
                </a:cubicBezTo>
                <a:lnTo>
                  <a:pt x="21600" y="21600"/>
                </a:lnTo>
                <a:lnTo>
                  <a:pt x="44" y="22982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prstDash val="dash"/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7" name="Rectangle 30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BPB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另一种状态转换图</a:t>
            </a:r>
          </a:p>
        </p:txBody>
      </p:sp>
      <p:sp>
        <p:nvSpPr>
          <p:cNvPr id="12292" name="Oval 3"/>
          <p:cNvSpPr>
            <a:spLocks noChangeArrowheads="1"/>
          </p:cNvSpPr>
          <p:nvPr/>
        </p:nvSpPr>
        <p:spPr bwMode="hidden">
          <a:xfrm>
            <a:off x="1219200" y="2667000"/>
            <a:ext cx="2590800" cy="10668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sz="2400"/>
              <a:t>  预测成功</a:t>
            </a:r>
            <a:endParaRPr lang="en-US" altLang="zh-CN" sz="2400"/>
          </a:p>
        </p:txBody>
      </p:sp>
      <p:sp>
        <p:nvSpPr>
          <p:cNvPr id="12293" name="Oval 4"/>
          <p:cNvSpPr>
            <a:spLocks noChangeArrowheads="1"/>
          </p:cNvSpPr>
          <p:nvPr/>
        </p:nvSpPr>
        <p:spPr bwMode="hidden">
          <a:xfrm>
            <a:off x="1219200" y="4295775"/>
            <a:ext cx="2590800" cy="106680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sz="2400"/>
              <a:t> 预测不成功</a:t>
            </a:r>
            <a:endParaRPr lang="en-US" altLang="zh-CN" sz="2400"/>
          </a:p>
        </p:txBody>
      </p:sp>
      <p:sp>
        <p:nvSpPr>
          <p:cNvPr id="12294" name="Oval 5"/>
          <p:cNvSpPr>
            <a:spLocks noChangeArrowheads="1"/>
          </p:cNvSpPr>
          <p:nvPr/>
        </p:nvSpPr>
        <p:spPr bwMode="hidden">
          <a:xfrm>
            <a:off x="5410200" y="4295775"/>
            <a:ext cx="2590800" cy="106680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sz="2400"/>
              <a:t> 预测不成功</a:t>
            </a:r>
            <a:endParaRPr lang="en-US" altLang="zh-CN" sz="2400"/>
          </a:p>
        </p:txBody>
      </p:sp>
      <p:sp>
        <p:nvSpPr>
          <p:cNvPr id="12295" name="Oval 6"/>
          <p:cNvSpPr>
            <a:spLocks noChangeArrowheads="1"/>
          </p:cNvSpPr>
          <p:nvPr/>
        </p:nvSpPr>
        <p:spPr bwMode="hidden">
          <a:xfrm>
            <a:off x="5410200" y="2667000"/>
            <a:ext cx="2590800" cy="10668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sz="2400"/>
              <a:t>   预测成功</a:t>
            </a:r>
            <a:endParaRPr lang="en-US" altLang="zh-CN" sz="2400"/>
          </a:p>
        </p:txBody>
      </p:sp>
      <p:sp>
        <p:nvSpPr>
          <p:cNvPr id="12296" name="Line 7"/>
          <p:cNvSpPr>
            <a:spLocks noChangeShapeType="1"/>
          </p:cNvSpPr>
          <p:nvPr/>
        </p:nvSpPr>
        <p:spPr bwMode="hidden">
          <a:xfrm>
            <a:off x="3733800" y="2971800"/>
            <a:ext cx="1752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7" name="Line 9"/>
          <p:cNvSpPr>
            <a:spLocks noChangeShapeType="1"/>
          </p:cNvSpPr>
          <p:nvPr/>
        </p:nvSpPr>
        <p:spPr bwMode="hidden">
          <a:xfrm>
            <a:off x="3733800" y="4600575"/>
            <a:ext cx="1752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8" name="Line 10"/>
          <p:cNvSpPr>
            <a:spLocks noChangeShapeType="1"/>
          </p:cNvSpPr>
          <p:nvPr/>
        </p:nvSpPr>
        <p:spPr bwMode="hidden">
          <a:xfrm flipH="1">
            <a:off x="3733800" y="3429000"/>
            <a:ext cx="17526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9" name="Line 12"/>
          <p:cNvSpPr>
            <a:spLocks noChangeShapeType="1"/>
          </p:cNvSpPr>
          <p:nvPr/>
        </p:nvSpPr>
        <p:spPr bwMode="hidden">
          <a:xfrm flipH="1">
            <a:off x="3733800" y="5057775"/>
            <a:ext cx="17526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0" name="Text Box 13"/>
          <p:cNvSpPr txBox="1">
            <a:spLocks noChangeArrowheads="1"/>
          </p:cNvSpPr>
          <p:nvPr/>
        </p:nvSpPr>
        <p:spPr bwMode="hidden">
          <a:xfrm>
            <a:off x="4160838" y="3429000"/>
            <a:ext cx="79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Verdana" pitchFamily="34" charset="0"/>
              </a:rPr>
              <a:t>成功</a:t>
            </a:r>
            <a:endParaRPr lang="en-US" altLang="zh-CN" sz="2400">
              <a:latin typeface="Verdana" pitchFamily="34" charset="0"/>
            </a:endParaRPr>
          </a:p>
        </p:txBody>
      </p:sp>
      <p:sp>
        <p:nvSpPr>
          <p:cNvPr id="12301" name="Text Box 15"/>
          <p:cNvSpPr txBox="1">
            <a:spLocks noChangeArrowheads="1"/>
          </p:cNvSpPr>
          <p:nvPr/>
        </p:nvSpPr>
        <p:spPr bwMode="hidden">
          <a:xfrm>
            <a:off x="4160838" y="5057775"/>
            <a:ext cx="79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Verdana" pitchFamily="34" charset="0"/>
              </a:rPr>
              <a:t>成功</a:t>
            </a:r>
            <a:endParaRPr lang="en-US" altLang="zh-CN" sz="2400">
              <a:latin typeface="Verdana" pitchFamily="34" charset="0"/>
            </a:endParaRPr>
          </a:p>
        </p:txBody>
      </p:sp>
      <p:sp>
        <p:nvSpPr>
          <p:cNvPr id="12302" name="Text Box 16"/>
          <p:cNvSpPr txBox="1">
            <a:spLocks noChangeArrowheads="1"/>
          </p:cNvSpPr>
          <p:nvPr/>
        </p:nvSpPr>
        <p:spPr bwMode="hidden">
          <a:xfrm>
            <a:off x="3886200" y="2514600"/>
            <a:ext cx="1098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Verdana" pitchFamily="34" charset="0"/>
              </a:rPr>
              <a:t>不成功</a:t>
            </a:r>
            <a:endParaRPr lang="en-US" altLang="zh-CN" sz="2400">
              <a:latin typeface="Verdana" pitchFamily="34" charset="0"/>
            </a:endParaRPr>
          </a:p>
        </p:txBody>
      </p:sp>
      <p:sp>
        <p:nvSpPr>
          <p:cNvPr id="12303" name="Line 8"/>
          <p:cNvSpPr>
            <a:spLocks noChangeShapeType="1"/>
          </p:cNvSpPr>
          <p:nvPr/>
        </p:nvSpPr>
        <p:spPr bwMode="hidden">
          <a:xfrm>
            <a:off x="6705600" y="3749675"/>
            <a:ext cx="0" cy="5461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4" name="Line 11"/>
          <p:cNvSpPr>
            <a:spLocks noChangeShapeType="1"/>
          </p:cNvSpPr>
          <p:nvPr/>
        </p:nvSpPr>
        <p:spPr bwMode="hidden">
          <a:xfrm flipV="1">
            <a:off x="2514600" y="3749675"/>
            <a:ext cx="0" cy="5461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5" name="Text Box 14"/>
          <p:cNvSpPr txBox="1">
            <a:spLocks noChangeArrowheads="1"/>
          </p:cNvSpPr>
          <p:nvPr/>
        </p:nvSpPr>
        <p:spPr bwMode="hidden">
          <a:xfrm>
            <a:off x="1570038" y="3733800"/>
            <a:ext cx="79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Verdana" pitchFamily="34" charset="0"/>
              </a:rPr>
              <a:t>成功</a:t>
            </a:r>
            <a:endParaRPr lang="en-US" altLang="zh-CN" sz="2400">
              <a:latin typeface="Verdana" pitchFamily="34" charset="0"/>
            </a:endParaRPr>
          </a:p>
        </p:txBody>
      </p:sp>
      <p:sp>
        <p:nvSpPr>
          <p:cNvPr id="12306" name="Text Box 17"/>
          <p:cNvSpPr txBox="1">
            <a:spLocks noChangeArrowheads="1"/>
          </p:cNvSpPr>
          <p:nvPr/>
        </p:nvSpPr>
        <p:spPr bwMode="hidden">
          <a:xfrm>
            <a:off x="6777038" y="3733800"/>
            <a:ext cx="1098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Verdana" pitchFamily="34" charset="0"/>
              </a:rPr>
              <a:t>不成功</a:t>
            </a:r>
            <a:endParaRPr lang="en-US" altLang="zh-CN" sz="2400">
              <a:latin typeface="Verdana" pitchFamily="34" charset="0"/>
            </a:endParaRPr>
          </a:p>
        </p:txBody>
      </p:sp>
      <p:sp>
        <p:nvSpPr>
          <p:cNvPr id="12307" name="Text Box 18"/>
          <p:cNvSpPr txBox="1">
            <a:spLocks noChangeArrowheads="1"/>
          </p:cNvSpPr>
          <p:nvPr/>
        </p:nvSpPr>
        <p:spPr bwMode="hidden">
          <a:xfrm>
            <a:off x="3946525" y="4143375"/>
            <a:ext cx="1098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Verdana" pitchFamily="34" charset="0"/>
              </a:rPr>
              <a:t>不成功</a:t>
            </a:r>
            <a:endParaRPr lang="en-US" altLang="zh-CN" sz="2400">
              <a:latin typeface="Verdana" pitchFamily="34" charset="0"/>
            </a:endParaRPr>
          </a:p>
        </p:txBody>
      </p:sp>
      <p:sp>
        <p:nvSpPr>
          <p:cNvPr id="12308" name="Arc 22"/>
          <p:cNvSpPr>
            <a:spLocks/>
          </p:cNvSpPr>
          <p:nvPr/>
        </p:nvSpPr>
        <p:spPr bwMode="hidden">
          <a:xfrm flipV="1">
            <a:off x="5797550" y="5195888"/>
            <a:ext cx="1822450" cy="823912"/>
          </a:xfrm>
          <a:custGeom>
            <a:avLst/>
            <a:gdLst>
              <a:gd name="T0" fmla="*/ 2147483647 w 43200"/>
              <a:gd name="T1" fmla="*/ 2147483647 h 23303"/>
              <a:gd name="T2" fmla="*/ 2147483647 w 43200"/>
              <a:gd name="T3" fmla="*/ 2147483647 h 23303"/>
              <a:gd name="T4" fmla="*/ 2147483647 w 43200"/>
              <a:gd name="T5" fmla="*/ 2147483647 h 2330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23303" fill="none" extrusionOk="0">
                <a:moveTo>
                  <a:pt x="44" y="22982"/>
                </a:moveTo>
                <a:cubicBezTo>
                  <a:pt x="14" y="22522"/>
                  <a:pt x="0" y="2206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2168"/>
                  <a:pt x="43177" y="22736"/>
                  <a:pt x="43132" y="23302"/>
                </a:cubicBezTo>
              </a:path>
              <a:path w="43200" h="23303" stroke="0" extrusionOk="0">
                <a:moveTo>
                  <a:pt x="44" y="22982"/>
                </a:moveTo>
                <a:cubicBezTo>
                  <a:pt x="14" y="22522"/>
                  <a:pt x="0" y="2206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2168"/>
                  <a:pt x="43177" y="22736"/>
                  <a:pt x="43132" y="23302"/>
                </a:cubicBezTo>
                <a:lnTo>
                  <a:pt x="21600" y="21600"/>
                </a:lnTo>
                <a:lnTo>
                  <a:pt x="44" y="22982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9" name="Text Box 24"/>
          <p:cNvSpPr txBox="1">
            <a:spLocks noChangeArrowheads="1"/>
          </p:cNvSpPr>
          <p:nvPr/>
        </p:nvSpPr>
        <p:spPr bwMode="hidden">
          <a:xfrm>
            <a:off x="6200775" y="5362575"/>
            <a:ext cx="1098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Verdana" pitchFamily="34" charset="0"/>
              </a:rPr>
              <a:t>不成功</a:t>
            </a:r>
            <a:endParaRPr lang="en-US" altLang="zh-CN" sz="2400">
              <a:latin typeface="Verdana" pitchFamily="34" charset="0"/>
            </a:endParaRPr>
          </a:p>
        </p:txBody>
      </p:sp>
      <p:sp>
        <p:nvSpPr>
          <p:cNvPr id="12310" name="Text Box 26"/>
          <p:cNvSpPr txBox="1">
            <a:spLocks noChangeArrowheads="1"/>
          </p:cNvSpPr>
          <p:nvPr/>
        </p:nvSpPr>
        <p:spPr bwMode="hidden">
          <a:xfrm>
            <a:off x="2041525" y="2209800"/>
            <a:ext cx="79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Verdana" pitchFamily="34" charset="0"/>
              </a:rPr>
              <a:t>成功</a:t>
            </a:r>
            <a:endParaRPr lang="en-US" altLang="zh-CN" sz="2400">
              <a:latin typeface="Verdana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89BDFFC-D898-586E-D1AA-2D08C61F2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D6251F-7C1E-4A9A-BA73-5411D156BC05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195AF5E-01FE-EDA2-C5C8-B9C80118E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6DBC92-8770-6CBE-037E-8B1D80E7C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AE633C-541A-4E3F-A22A-3C4C63E8EF5F}" type="slidenum">
              <a:rPr lang="zh-CN" altLang="en-US" smtClean="0"/>
              <a:t>63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558366"/>
      </p:ext>
    </p:extLst>
  </p:cSld>
  <p:clrMapOvr>
    <a:masterClrMapping/>
  </p:clrMapOvr>
  <p:transition spd="slow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0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4096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单元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BPB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的预测错误率</a:t>
            </a:r>
          </a:p>
        </p:txBody>
      </p:sp>
      <p:sp>
        <p:nvSpPr>
          <p:cNvPr id="12291" name="Rectangle 11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测试程序为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SPEC89</a:t>
            </a:r>
            <a:endParaRPr lang="zh-CN" altLang="en-US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整数测试程序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平均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11%</a:t>
            </a:r>
          </a:p>
          <a:p>
            <a:pPr lvl="1" eaLnBrk="1" hangingPunct="1">
              <a:lnSpc>
                <a:spcPct val="150000"/>
              </a:lnSpc>
              <a:buFont typeface="Arial" charset="0"/>
              <a:buChar char="–"/>
              <a:defRPr/>
            </a:pPr>
            <a:r>
              <a:rPr lang="en-US" altLang="zh-CN" sz="24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gcc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espresso, </a:t>
            </a:r>
            <a:r>
              <a:rPr lang="en-US" altLang="zh-CN" sz="24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eqntott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li</a:t>
            </a:r>
          </a:p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浮点测试程序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平均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4%</a:t>
            </a:r>
          </a:p>
          <a:p>
            <a:pPr lvl="1" eaLnBrk="1" hangingPunct="1">
              <a:lnSpc>
                <a:spcPct val="150000"/>
              </a:lnSpc>
              <a:buFont typeface="Arial" charset="0"/>
              <a:buChar char="–"/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nasa7, matrix300, </a:t>
            </a:r>
            <a:r>
              <a:rPr lang="en-US" altLang="zh-CN" sz="24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tomcatv</a:t>
            </a:r>
            <a:endParaRPr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为什么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endParaRPr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B0BC15C-6946-EDD0-6D33-49261D536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7B2253-585E-494B-BAFB-C6F2DD631422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070ACAC-FD66-4B2C-1BEF-0FE1E4660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6284ED-FB54-5EC8-5A6D-FFB07D2D6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AE633C-541A-4E3F-A22A-3C4C63E8EF5F}" type="slidenum">
              <a:rPr lang="zh-CN" altLang="en-US" smtClean="0"/>
              <a:t>64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189074"/>
      </p:ext>
    </p:extLst>
  </p:cSld>
  <p:clrMapOvr>
    <a:masterClrMapping/>
  </p:clrMapOvr>
  <p:transition spd="slow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88640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4096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单元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BPB: 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预测错误率</a:t>
            </a:r>
          </a:p>
        </p:txBody>
      </p:sp>
      <p:graphicFrame>
        <p:nvGraphicFramePr>
          <p:cNvPr id="14339" name="Object 9"/>
          <p:cNvGraphicFramePr>
            <a:graphicFrameLocks noGrp="1" noChangeAspect="1"/>
          </p:cNvGraphicFramePr>
          <p:nvPr>
            <p:ph idx="4294967295"/>
          </p:nvPr>
        </p:nvGraphicFramePr>
        <p:xfrm>
          <a:off x="468313" y="1290638"/>
          <a:ext cx="8207375" cy="485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8762943" imgH="5181621" progId="MSGraph.Chart.8">
                  <p:embed followColorScheme="full"/>
                </p:oleObj>
              </mc:Choice>
              <mc:Fallback>
                <p:oleObj name="Chart" r:id="rId2" imgW="8762943" imgH="5181621" progId="MSGraph.Chart.8">
                  <p:embed followColorScheme="full"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290638"/>
                        <a:ext cx="8207375" cy="4852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532B7F9-EB44-699F-0346-645EBB106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7F66E36-F894-4669-9956-BA4A88CCF0FE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7C6BCB-9BFF-BDF8-DC29-A2FD67C67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3BC2B9-0DA2-685E-2F60-68A550718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AE633C-541A-4E3F-A22A-3C4C63E8EF5F}" type="slidenum">
              <a:rPr lang="zh-CN" altLang="en-US" smtClean="0"/>
              <a:t>65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2125890"/>
      </p:ext>
    </p:extLst>
  </p:cSld>
  <p:clrMapOvr>
    <a:masterClrMapping/>
  </p:clrMapOvr>
  <p:transition spd="slow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44450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BPB: 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vs. 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无穷多</a:t>
            </a:r>
          </a:p>
        </p:txBody>
      </p:sp>
      <p:graphicFrame>
        <p:nvGraphicFramePr>
          <p:cNvPr id="16387" name="Object 9"/>
          <p:cNvGraphicFramePr>
            <a:graphicFrameLocks noGrp="1" noChangeAspect="1"/>
          </p:cNvGraphicFramePr>
          <p:nvPr>
            <p:ph idx="4294967295"/>
          </p:nvPr>
        </p:nvGraphicFramePr>
        <p:xfrm>
          <a:off x="0" y="1012825"/>
          <a:ext cx="9144000" cy="540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8762943" imgH="5181621" progId="MSGraph.Chart.8">
                  <p:embed followColorScheme="full"/>
                </p:oleObj>
              </mc:Choice>
              <mc:Fallback>
                <p:oleObj name="Chart" r:id="rId2" imgW="8762943" imgH="5181621" progId="MSGraph.Chart.8">
                  <p:embed followColorScheme="full"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012825"/>
                        <a:ext cx="9144000" cy="540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2619220-2E58-B6E7-401B-1537D214B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356E7A-D9DA-4E03-92BF-4DE190226789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8D09-9CED-20E3-ADC1-70CFE6E9D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62882A-BA4C-F7F2-7381-5C7D9D08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AE633C-541A-4E3F-A22A-3C4C63E8EF5F}" type="slidenum">
              <a:rPr lang="zh-CN" altLang="en-US" smtClean="0"/>
              <a:t>66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8035119"/>
      </p:ext>
    </p:extLst>
  </p:cSld>
  <p:clrMapOvr>
    <a:masterClrMapping/>
  </p:clrMapOvr>
  <p:transition spd="slow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BPB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实现</a:t>
            </a:r>
          </a:p>
        </p:txBody>
      </p:sp>
      <p:sp>
        <p:nvSpPr>
          <p:cNvPr id="136205" name="Rectangle 1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68760"/>
            <a:ext cx="8229600" cy="4853136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BPB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的实现方案</a:t>
            </a:r>
            <a:endParaRPr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 eaLnBrk="1" fontAlgn="auto" hangingPunct="1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实现一个小而特殊的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“cache”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，利用指令地址进行索引，在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IF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流水段访问。</a:t>
            </a:r>
            <a:endParaRPr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 eaLnBrk="1" fontAlgn="auto" hangingPunct="1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或者，为指令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cache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中每一块增加附加位，与指令一起取出</a:t>
            </a: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若一个指令在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ID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段被译码为分支指令，且对应的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BPB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标志位预测其成功，则</a:t>
            </a:r>
            <a:endParaRPr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 eaLnBrk="1" fontAlgn="auto" hangingPunct="1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一旦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PC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已知，立刻从分支目标位置开始取指</a:t>
            </a:r>
            <a:endParaRPr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000" lvl="1" indent="-342000" eaLnBrk="1" fontAlgn="auto" hangingPunct="1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对于改进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MIPS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，分支判断和计算分支目标地址都在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段完成，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BPB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无效果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1" fontAlgn="auto" hangingPunct="1">
              <a:spcAft>
                <a:spcPts val="0"/>
              </a:spcAft>
              <a:buNone/>
              <a:defRPr/>
            </a:pPr>
            <a:endParaRPr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endParaRPr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AE7E7C2-90FF-86F1-C21C-D6B49806A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457E167-E1C8-4A20-998E-2702C284ED58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8534300-79B8-8232-7904-CE9D8EC68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计算学部 计算机体系结构 刘宏伟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009D65-3F5D-BF55-AB4B-848629EFB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AE633C-541A-4E3F-A22A-3C4C63E8EF5F}" type="slidenum">
              <a:rPr lang="zh-CN" altLang="en-US" smtClean="0"/>
              <a:t>67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1160744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10233</TotalTime>
  <Words>2689</Words>
  <Application>Microsoft Office PowerPoint</Application>
  <PresentationFormat>全屏显示(4:3)</PresentationFormat>
  <Paragraphs>533</Paragraphs>
  <Slides>67</Slides>
  <Notes>52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67</vt:i4>
      </vt:variant>
    </vt:vector>
  </HeadingPairs>
  <TitlesOfParts>
    <vt:vector size="78" baseType="lpstr">
      <vt:lpstr>宋体</vt:lpstr>
      <vt:lpstr>Arial</vt:lpstr>
      <vt:lpstr>Calibri</vt:lpstr>
      <vt:lpstr>Calibri Light</vt:lpstr>
      <vt:lpstr>Comic Sans MS</vt:lpstr>
      <vt:lpstr>Times New Roman</vt:lpstr>
      <vt:lpstr>Verdana</vt:lpstr>
      <vt:lpstr>Wingdings</vt:lpstr>
      <vt:lpstr>Office 主题​​</vt:lpstr>
      <vt:lpstr>Microsoft Word Picture</vt:lpstr>
      <vt:lpstr>Chart</vt:lpstr>
      <vt:lpstr>计算机体系结构</vt:lpstr>
      <vt:lpstr>Recap</vt:lpstr>
      <vt:lpstr>PowerPoint 演示文稿</vt:lpstr>
      <vt:lpstr>PowerPoint 演示文稿</vt:lpstr>
      <vt:lpstr>PowerPoint 演示文稿</vt:lpstr>
      <vt:lpstr>PowerPoint 演示文稿</vt:lpstr>
      <vt:lpstr>指令序列在Tomasulo算法下如何工作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基于Tomasulo算法的动态循环展开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Tomasulo算法的优点</vt:lpstr>
      <vt:lpstr>Tomasulo算法的缺点</vt:lpstr>
      <vt:lpstr>动态调度方法中的异常行为处理</vt:lpstr>
      <vt:lpstr>动态调度方法中的异常行为处理</vt:lpstr>
      <vt:lpstr>第四章 指令级并行</vt:lpstr>
      <vt:lpstr>4.3  控制相关的动态解决技术</vt:lpstr>
      <vt:lpstr>4.3.1  分支预测缓冲</vt:lpstr>
      <vt:lpstr>分支预测的效果</vt:lpstr>
      <vt:lpstr>分支预测缓冲(BPB): 原理</vt:lpstr>
      <vt:lpstr>分支预测执行不成功和重新执行过程</vt:lpstr>
      <vt:lpstr>1位BPB状态图</vt:lpstr>
      <vt:lpstr>2位BPB工作原理</vt:lpstr>
      <vt:lpstr>2位BPB状态转换图</vt:lpstr>
      <vt:lpstr>2位BPB另一种状态转换图</vt:lpstr>
      <vt:lpstr>4096单元2位BPB的预测错误率</vt:lpstr>
      <vt:lpstr>4096单元2位BPB: 预测错误率</vt:lpstr>
      <vt:lpstr>2位BPB: 4K vs. 无穷多</vt:lpstr>
      <vt:lpstr>BPB实现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suzi</dc:creator>
  <cp:lastModifiedBy>hw liu</cp:lastModifiedBy>
  <cp:revision>2075</cp:revision>
  <cp:lastPrinted>2021-11-02T07:06:20Z</cp:lastPrinted>
  <dcterms:created xsi:type="dcterms:W3CDTF">2113-01-01T00:00:00Z</dcterms:created>
  <dcterms:modified xsi:type="dcterms:W3CDTF">2025-10-24T03:48:22Z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2052-10.1.0.7520</vt:lpwstr>
  </property>
</Properties>
</file>