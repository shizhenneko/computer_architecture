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1033" r:id="rId3"/>
    <p:sldId id="2077" r:id="rId4"/>
    <p:sldId id="1967" r:id="rId5"/>
    <p:sldId id="2022" r:id="rId6"/>
    <p:sldId id="2023" r:id="rId7"/>
    <p:sldId id="1969" r:id="rId8"/>
    <p:sldId id="1971" r:id="rId9"/>
    <p:sldId id="2083" r:id="rId10"/>
    <p:sldId id="331" r:id="rId11"/>
    <p:sldId id="2081" r:id="rId12"/>
    <p:sldId id="736" r:id="rId13"/>
    <p:sldId id="906" r:id="rId14"/>
    <p:sldId id="737" r:id="rId15"/>
    <p:sldId id="2026" r:id="rId16"/>
    <p:sldId id="2030" r:id="rId17"/>
    <p:sldId id="2032" r:id="rId18"/>
    <p:sldId id="1034" r:id="rId19"/>
    <p:sldId id="1977" r:id="rId20"/>
    <p:sldId id="565" r:id="rId21"/>
    <p:sldId id="1979" r:id="rId22"/>
    <p:sldId id="1980" r:id="rId23"/>
    <p:sldId id="1981" r:id="rId24"/>
    <p:sldId id="1982" r:id="rId25"/>
    <p:sldId id="1983" r:id="rId26"/>
    <p:sldId id="1984" r:id="rId27"/>
    <p:sldId id="1985" r:id="rId28"/>
    <p:sldId id="1986" r:id="rId29"/>
    <p:sldId id="1987" r:id="rId30"/>
    <p:sldId id="1988" r:id="rId31"/>
    <p:sldId id="1989" r:id="rId32"/>
    <p:sldId id="1990" r:id="rId33"/>
    <p:sldId id="1991" r:id="rId34"/>
    <p:sldId id="1992" r:id="rId35"/>
    <p:sldId id="1993" r:id="rId36"/>
    <p:sldId id="1994" r:id="rId37"/>
    <p:sldId id="1995" r:id="rId38"/>
    <p:sldId id="550" r:id="rId39"/>
    <p:sldId id="2027" r:id="rId40"/>
    <p:sldId id="399" r:id="rId41"/>
    <p:sldId id="2028" r:id="rId42"/>
    <p:sldId id="2029" r:id="rId43"/>
    <p:sldId id="430" r:id="rId44"/>
    <p:sldId id="2085" r:id="rId45"/>
    <p:sldId id="1968" r:id="rId46"/>
  </p:sldIdLst>
  <p:sldSz cx="9144000" cy="6858000" type="screen4x3"/>
  <p:notesSz cx="6797675" cy="9925050"/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66FF"/>
    <a:srgbClr val="003399"/>
    <a:srgbClr val="33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9" autoAdjust="0"/>
    <p:restoredTop sz="80735" autoAdjust="0"/>
  </p:normalViewPr>
  <p:slideViewPr>
    <p:cSldViewPr>
      <p:cViewPr varScale="1">
        <p:scale>
          <a:sx n="128" d="100"/>
          <a:sy n="128" d="100"/>
        </p:scale>
        <p:origin x="504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29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5714"/>
          </a:xfrm>
          <a:prstGeom prst="rect">
            <a:avLst/>
          </a:prstGeom>
        </p:spPr>
        <p:txBody>
          <a:bodyPr vert="horz" lIns="95549" tIns="47774" rIns="95549" bIns="47774" rtlCol="0"/>
          <a:lstStyle>
            <a:lvl1pPr algn="l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295" y="1"/>
            <a:ext cx="2945862" cy="495714"/>
          </a:xfrm>
          <a:prstGeom prst="rect">
            <a:avLst/>
          </a:prstGeom>
        </p:spPr>
        <p:txBody>
          <a:bodyPr vert="horz" lIns="95549" tIns="47774" rIns="95549" bIns="47774" rtlCol="0"/>
          <a:lstStyle>
            <a:lvl1pPr algn="r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C9833CB-0817-44DC-BDA6-97E8269B2A4B}" type="datetimeFigureOut">
              <a:rPr lang="zh-CN" altLang="en-US"/>
              <a:t>2025/11/7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7798"/>
            <a:ext cx="2945862" cy="495714"/>
          </a:xfrm>
          <a:prstGeom prst="rect">
            <a:avLst/>
          </a:prstGeom>
        </p:spPr>
        <p:txBody>
          <a:bodyPr vert="horz" lIns="95549" tIns="47774" rIns="95549" bIns="47774" rtlCol="0" anchor="b"/>
          <a:lstStyle>
            <a:lvl1pPr algn="l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295" y="9427798"/>
            <a:ext cx="2945862" cy="495714"/>
          </a:xfrm>
          <a:prstGeom prst="rect">
            <a:avLst/>
          </a:prstGeom>
        </p:spPr>
        <p:txBody>
          <a:bodyPr vert="horz" lIns="95549" tIns="47774" rIns="95549" bIns="47774" rtlCol="0" anchor="b"/>
          <a:lstStyle>
            <a:lvl1pPr algn="r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8BBD55E-9969-4143-865D-25DDD65926A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276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7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t" anchorCtr="0" compatLnSpc="1"/>
          <a:lstStyle>
            <a:lvl1pPr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815" y="1"/>
            <a:ext cx="2945862" cy="4957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t" anchorCtr="0" compatLnSpc="1"/>
          <a:lstStyle>
            <a:lvl1pPr algn="r"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2950"/>
            <a:ext cx="4962525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53" y="4713900"/>
            <a:ext cx="4985773" cy="44660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337"/>
            <a:ext cx="2945862" cy="4957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b" anchorCtr="0" compatLnSpc="1"/>
          <a:lstStyle>
            <a:lvl1pPr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815" y="9429337"/>
            <a:ext cx="2945862" cy="4957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b" anchorCtr="0" compatLnSpc="1"/>
          <a:lstStyle>
            <a:lvl1pPr algn="r"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900B983-0E40-4C29-87BA-CE566D420E2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2892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3212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4397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938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6FB8AAC7-7E75-481C-9D52-899BCD41EB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/>
              <a:t>The University of Adelaide, School of Computer Science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28E19855-05D1-4458-B8E7-C5481A31A65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6DE31D6-C630-4897-A4B8-E5633F02BF70}" type="datetime3">
              <a:rPr lang="en-US" altLang="zh-CN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 November 2025</a:t>
            </a:fld>
            <a:endParaRPr lang="en-US" altLang="zh-CN"/>
          </a:p>
        </p:txBody>
      </p:sp>
      <p:sp>
        <p:nvSpPr>
          <p:cNvPr id="143364" name="Rectangle 6">
            <a:extLst>
              <a:ext uri="{FF2B5EF4-FFF2-40B4-BE49-F238E27FC236}">
                <a16:creationId xmlns:a16="http://schemas.microsoft.com/office/drawing/2014/main" id="{6171BAF5-1035-4B75-8B9D-39A0177506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/>
              <a:t>Chapter 2 — Instructions: Language of the Computer</a:t>
            </a:r>
          </a:p>
        </p:txBody>
      </p:sp>
      <p:sp>
        <p:nvSpPr>
          <p:cNvPr id="143365" name="Rectangle 7">
            <a:extLst>
              <a:ext uri="{FF2B5EF4-FFF2-40B4-BE49-F238E27FC236}">
                <a16:creationId xmlns:a16="http://schemas.microsoft.com/office/drawing/2014/main" id="{37D9835E-F205-4949-B549-089E5FA3DA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3E9BB86-4540-49A5-AA0C-18B741335283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143366" name="Rectangle 2">
            <a:extLst>
              <a:ext uri="{FF2B5EF4-FFF2-40B4-BE49-F238E27FC236}">
                <a16:creationId xmlns:a16="http://schemas.microsoft.com/office/drawing/2014/main" id="{C25233D9-CC39-4137-80E4-841B264FB7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7" name="Rectangle 3">
            <a:extLst>
              <a:ext uri="{FF2B5EF4-FFF2-40B4-BE49-F238E27FC236}">
                <a16:creationId xmlns:a16="http://schemas.microsoft.com/office/drawing/2014/main" id="{E85AC323-B01D-4EB9-8913-A10F9D671B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zh-CN" dirty="0"/>
          </a:p>
        </p:txBody>
      </p:sp>
    </p:spTree>
    <p:extLst>
      <p:ext uri="{BB962C8B-B14F-4D97-AF65-F5344CB8AC3E}">
        <p14:creationId xmlns:p14="http://schemas.microsoft.com/office/powerpoint/2010/main" val="3964087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6FB8AAC7-7E75-481C-9D52-899BCD41EB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/>
              <a:t>The University of Adelaide, School of Computer Science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28E19855-05D1-4458-B8E7-C5481A31A65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6DE31D6-C630-4897-A4B8-E5633F02BF70}" type="datetime3">
              <a:rPr lang="en-US" altLang="zh-CN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 November 2025</a:t>
            </a:fld>
            <a:endParaRPr lang="en-US" altLang="zh-CN"/>
          </a:p>
        </p:txBody>
      </p:sp>
      <p:sp>
        <p:nvSpPr>
          <p:cNvPr id="143364" name="Rectangle 6">
            <a:extLst>
              <a:ext uri="{FF2B5EF4-FFF2-40B4-BE49-F238E27FC236}">
                <a16:creationId xmlns:a16="http://schemas.microsoft.com/office/drawing/2014/main" id="{6171BAF5-1035-4B75-8B9D-39A0177506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/>
              <a:t>Chapter 2 — Instructions: Language of the Computer</a:t>
            </a:r>
          </a:p>
        </p:txBody>
      </p:sp>
      <p:sp>
        <p:nvSpPr>
          <p:cNvPr id="143365" name="Rectangle 7">
            <a:extLst>
              <a:ext uri="{FF2B5EF4-FFF2-40B4-BE49-F238E27FC236}">
                <a16:creationId xmlns:a16="http://schemas.microsoft.com/office/drawing/2014/main" id="{37D9835E-F205-4949-B549-089E5FA3DA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3E9BB86-4540-49A5-AA0C-18B741335283}" type="slidenum">
              <a:rPr lang="en-US" altLang="zh-CN" smtClean="0"/>
              <a:pPr/>
              <a:t>10</a:t>
            </a:fld>
            <a:endParaRPr lang="en-US" altLang="zh-CN"/>
          </a:p>
        </p:txBody>
      </p:sp>
      <p:sp>
        <p:nvSpPr>
          <p:cNvPr id="143366" name="Rectangle 2">
            <a:extLst>
              <a:ext uri="{FF2B5EF4-FFF2-40B4-BE49-F238E27FC236}">
                <a16:creationId xmlns:a16="http://schemas.microsoft.com/office/drawing/2014/main" id="{C25233D9-CC39-4137-80E4-841B264FB7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7" name="Rectangle 3">
            <a:extLst>
              <a:ext uri="{FF2B5EF4-FFF2-40B4-BE49-F238E27FC236}">
                <a16:creationId xmlns:a16="http://schemas.microsoft.com/office/drawing/2014/main" id="{E85AC323-B01D-4EB9-8913-A10F9D671B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BAA3B63A-C57E-42DB-8404-91AC20445C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/>
              <a:t>The University of Adelaide, School of Computer Science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9AC8AB8C-E7AD-4769-B0F3-F09078AAD37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5290724-0A21-4AA2-9229-619F8FDA5A21}" type="datetime3">
              <a:rPr lang="en-US" altLang="zh-CN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 November 2025</a:t>
            </a:fld>
            <a:endParaRPr lang="en-US" altLang="zh-CN"/>
          </a:p>
        </p:txBody>
      </p:sp>
      <p:sp>
        <p:nvSpPr>
          <p:cNvPr id="129028" name="Rectangle 6">
            <a:extLst>
              <a:ext uri="{FF2B5EF4-FFF2-40B4-BE49-F238E27FC236}">
                <a16:creationId xmlns:a16="http://schemas.microsoft.com/office/drawing/2014/main" id="{41617478-0095-4770-9BD0-3651541F9B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/>
              <a:t>Chapter 2 — Instructions: Language of the Computer</a:t>
            </a:r>
          </a:p>
        </p:txBody>
      </p:sp>
      <p:sp>
        <p:nvSpPr>
          <p:cNvPr id="129029" name="Rectangle 7">
            <a:extLst>
              <a:ext uri="{FF2B5EF4-FFF2-40B4-BE49-F238E27FC236}">
                <a16:creationId xmlns:a16="http://schemas.microsoft.com/office/drawing/2014/main" id="{AA247539-12FE-4B5C-8F06-EA83ECB648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83BBC8F8-1253-46E6-9D09-9A481108EC29}" type="slidenum">
              <a:rPr lang="en-US" altLang="zh-CN" smtClean="0"/>
              <a:pPr/>
              <a:t>11</a:t>
            </a:fld>
            <a:endParaRPr lang="en-US" altLang="zh-CN"/>
          </a:p>
        </p:txBody>
      </p:sp>
      <p:sp>
        <p:nvSpPr>
          <p:cNvPr id="129030" name="Rectangle 2">
            <a:extLst>
              <a:ext uri="{FF2B5EF4-FFF2-40B4-BE49-F238E27FC236}">
                <a16:creationId xmlns:a16="http://schemas.microsoft.com/office/drawing/2014/main" id="{6292C945-4D39-4BAC-94E6-AE8BFEBC2D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9031" name="Rectangle 3">
            <a:extLst>
              <a:ext uri="{FF2B5EF4-FFF2-40B4-BE49-F238E27FC236}">
                <a16:creationId xmlns:a16="http://schemas.microsoft.com/office/drawing/2014/main" id="{5BC28916-EAA1-4DE5-B830-0632DFD0E2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5" name="幻灯片图像占位符 1">
            <a:extLst>
              <a:ext uri="{FF2B5EF4-FFF2-40B4-BE49-F238E27FC236}">
                <a16:creationId xmlns:a16="http://schemas.microsoft.com/office/drawing/2014/main" id="{3918767E-54A5-48FC-B971-4E0B5E7A0A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6306" name="备注占位符 2">
            <a:extLst>
              <a:ext uri="{FF2B5EF4-FFF2-40B4-BE49-F238E27FC236}">
                <a16:creationId xmlns:a16="http://schemas.microsoft.com/office/drawing/2014/main" id="{6CA1CF95-12F2-4FD7-8B03-5B4345679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26307" name="灯片编号占位符 3">
            <a:extLst>
              <a:ext uri="{FF2B5EF4-FFF2-40B4-BE49-F238E27FC236}">
                <a16:creationId xmlns:a16="http://schemas.microsoft.com/office/drawing/2014/main" id="{47A2174D-1A25-47D4-AA3B-E5886976E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4919" indent="-29710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93009" indent="-23737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70825" indent="-23737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48641" indent="-23737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89701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30762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71823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12884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E3204F-D9F6-44D1-B4F0-4FA39C44DDC0}" type="slidenum">
              <a:rPr lang="en-US" altLang="zh-CN" sz="1300"/>
              <a:pPr>
                <a:spcBef>
                  <a:spcPct val="0"/>
                </a:spcBef>
              </a:pPr>
              <a:t>12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7" name="幻灯片图像占位符 1">
            <a:extLst>
              <a:ext uri="{FF2B5EF4-FFF2-40B4-BE49-F238E27FC236}">
                <a16:creationId xmlns:a16="http://schemas.microsoft.com/office/drawing/2014/main" id="{2F3AF45A-B94D-454C-992C-EC59E7FE9F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9378" name="备注占位符 2">
            <a:extLst>
              <a:ext uri="{FF2B5EF4-FFF2-40B4-BE49-F238E27FC236}">
                <a16:creationId xmlns:a16="http://schemas.microsoft.com/office/drawing/2014/main" id="{3F41154B-7888-462F-A015-CBC4D98B6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379" name="灯片编号占位符 3">
            <a:extLst>
              <a:ext uri="{FF2B5EF4-FFF2-40B4-BE49-F238E27FC236}">
                <a16:creationId xmlns:a16="http://schemas.microsoft.com/office/drawing/2014/main" id="{E80AE30B-E2B3-4C70-AB9B-3633BB55B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4919" indent="-29710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93009" indent="-23737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70825" indent="-23737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48641" indent="-23737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89701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30762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71823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12884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769757B-7CE8-49CD-AF47-E97A27127C84}" type="slidenum">
              <a:rPr lang="en-US" altLang="zh-CN" sz="1300"/>
              <a:pPr>
                <a:spcBef>
                  <a:spcPct val="0"/>
                </a:spcBef>
              </a:pPr>
              <a:t>14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0902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85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9188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87AE9D80-989A-495B-801C-C9D48F7D34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6724" indent="-275663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2652" indent="-22053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3713" indent="-22053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84774" indent="-22053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25835" indent="-22053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66895" indent="-22053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07956" indent="-22053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49017" indent="-22053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37FAB7-B897-4E08-89E2-70D220DF8329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20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2A23946A-A22D-48A2-969C-C743451A17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20B578F0-2516-4B13-A250-FC1F6B986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7B195EF-55C2-4FE2-AB6A-23BFCF6C60B8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23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50086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CA3B4C-A352-448F-A9B8-2B47EAD7FD37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24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7258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05F41CC-308C-4699-9BFE-8B7516924DA7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25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03615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B791C2B-73BC-4C1B-98DF-48380D8ED8E1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26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26731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26F55D1-5132-4474-B848-3B65641CB369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27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4611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10C37CF-292B-4F9A-B752-B838869BEC78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28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5837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E1010F-0030-4F65-B293-9C658BD8D905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29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88461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2544D73-3754-4573-94DC-C25012A2BD49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30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04315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273B88B-A9B8-44F2-A6CC-E4F1AE8F5639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31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41482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73841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93AC319-4C86-43D4-9412-AEE85F779D07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34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62821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DC6FDF-6668-4A49-A821-1F8DAD9D1C38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37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28730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26541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9BDDEA3-264D-437F-989C-D0D1423E792F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39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05389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17294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DE37C2-65EE-4556-A4EC-D189A270B84D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41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66401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D9C107E-BBBC-4607-89BE-494D49DB4D4F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42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30867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328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8639B-2878-4814-8BDF-DE0A9E872422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E633C-541A-4E3F-A22A-3C4C63E8EF5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3F618C-2D2C-4022-B233-7EEF8167EA50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AC33D-D29A-48B3-BCD6-381D3D720D2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3D048B-4F5F-416C-A12D-8F2947442A49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6AFD5-B4CE-4309-A85F-E56CFD43117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850DE-9E47-4E4F-82E4-40FDA99255F1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CC3E9-608E-4023-AA79-77ECC6312F5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11C64-66EC-46A6-8DA0-D19EF9110F9B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980664-B5A2-458D-9781-BDBB3E44461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7838FE-94F5-4C00-8FB0-DEB386B09C8D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2FEDC-7E89-472C-BFD5-D857A9C78A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6E48E-37FB-45CE-93FD-629166B54403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7EA61-351E-4105-9AD9-76D38C6E993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95D3C8-395D-4C3B-BBE5-F7662B6E93FE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75736-67D3-4C0D-9AD3-EBB1133B7A1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0B02C-AB16-46F8-B50B-09302283851A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3B5C7-14AB-4EB9-8E35-9962854618D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892E48-C99F-4723-97F0-5ED7F9240087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9E446-6F6B-46FF-A641-54E99657CB0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83563-F00E-4CDA-A450-56A7F59CF288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603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0" y="1341438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6450" y="1341438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72812669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47650"/>
            <a:ext cx="8305800" cy="59245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9D3C6E0A-4B4E-4CF8-8835-E2002E7E1D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7D4DB9-ACC6-40A5-B325-ACBA018C7DC3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5904EABB-93B4-4D2C-ABB3-9304AE9DD4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5" name="Rectangle 1031">
            <a:extLst>
              <a:ext uri="{FF2B5EF4-FFF2-40B4-BE49-F238E27FC236}">
                <a16:creationId xmlns:a16="http://schemas.microsoft.com/office/drawing/2014/main" id="{A102A728-0536-4FF5-B391-E4DE3CBA9B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729DA-49AD-4951-956B-19282FE642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3636633"/>
      </p:ext>
    </p:extLst>
  </p:cSld>
  <p:clrMapOvr>
    <a:masterClrMapping/>
  </p:clrMapOvr>
  <p:transition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5F18DAD-AB60-4444-AAEF-60BBA8C5389F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E38698-3FD2-4DD5-AB6F-61E8F41EBC15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696" y="1266825"/>
            <a:ext cx="6480646" cy="1143000"/>
          </a:xfrm>
        </p:spPr>
        <p:txBody>
          <a:bodyPr/>
          <a:lstStyle/>
          <a:p>
            <a:pPr algn="dist" eaLnBrk="1" hangingPunct="1"/>
            <a:r>
              <a:rPr lang="zh-CN" altLang="en-US" sz="5400" b="1" dirty="0"/>
              <a:t>计算机体系结构</a:t>
            </a:r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3714750" y="5072063"/>
            <a:ext cx="2951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刘宏伟</a:t>
            </a:r>
          </a:p>
        </p:txBody>
      </p:sp>
      <p:sp>
        <p:nvSpPr>
          <p:cNvPr id="2052" name="Text Box 7"/>
          <p:cNvSpPr txBox="1">
            <a:spLocks noChangeArrowheads="1"/>
          </p:cNvSpPr>
          <p:nvPr/>
        </p:nvSpPr>
        <p:spPr bwMode="auto">
          <a:xfrm>
            <a:off x="2571750" y="4500563"/>
            <a:ext cx="4357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 计算机科学与技术学院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714500" y="3071813"/>
            <a:ext cx="5673725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defRPr/>
            </a:pPr>
            <a:r>
              <a:rPr lang="zh-CN" altLang="en-US" sz="4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第十八讲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FA7C5A-2713-CC63-8C4C-D772463DF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024087-A266-4308-A8AC-B1D4E1274C83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43B9E8-5EF1-9FB9-F7FB-9A2C5C819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D121BD-5576-0EC7-861C-DAFD16A6F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title"/>
          </p:nvPr>
        </p:nvSpPr>
        <p:spPr>
          <a:xfrm>
            <a:off x="685800" y="122907"/>
            <a:ext cx="7772400" cy="785813"/>
          </a:xfrm>
        </p:spPr>
        <p:txBody>
          <a:bodyPr/>
          <a:lstStyle/>
          <a:p>
            <a:pPr eaLnBrk="1" hangingPunct="1"/>
            <a:r>
              <a:rPr lang="en-US" altLang="zh-CN" b="1" dirty="0"/>
              <a:t>Recap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273" y="908720"/>
            <a:ext cx="8352927" cy="5718994"/>
          </a:xfrm>
        </p:spPr>
        <p:txBody>
          <a:bodyPr rtlCol="0">
            <a:noAutofit/>
          </a:bodyPr>
          <a:lstStyle/>
          <a:p>
            <a:pPr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/>
              <a:t>降低</a:t>
            </a:r>
            <a:r>
              <a:rPr lang="en-US" altLang="zh-CN" sz="2400" b="1" dirty="0"/>
              <a:t>Cache</a:t>
            </a:r>
            <a:r>
              <a:rPr lang="zh-CN" altLang="en-US" sz="2400" b="1" dirty="0"/>
              <a:t>失效率</a:t>
            </a:r>
            <a:endParaRPr lang="en-US" altLang="zh-CN" sz="2400" b="1" dirty="0"/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编译器控制的预取</a:t>
            </a:r>
            <a:endParaRPr lang="en-US" altLang="zh-CN" sz="2400" b="1" dirty="0"/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编译器优化</a:t>
            </a:r>
            <a:r>
              <a:rPr lang="en-US" altLang="zh-CN" sz="2400" b="1" dirty="0"/>
              <a:t> </a:t>
            </a:r>
          </a:p>
          <a:p>
            <a:pPr marL="1519200" lvl="1" indent="-342900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/>
              <a:t>数组合并、内外循环交换、循环融合、分块</a:t>
            </a:r>
            <a:r>
              <a:rPr lang="en-US" altLang="zh-CN" sz="2400" b="1" dirty="0"/>
              <a:t>  </a:t>
            </a:r>
          </a:p>
          <a:p>
            <a:pPr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/>
              <a:t>减少</a:t>
            </a:r>
            <a:r>
              <a:rPr lang="en-US" altLang="zh-CN" sz="2400" b="1" dirty="0"/>
              <a:t>Cache</a:t>
            </a:r>
            <a:r>
              <a:rPr lang="zh-CN" altLang="en-US" sz="2400" b="1" dirty="0"/>
              <a:t>失效开销</a:t>
            </a:r>
            <a:endParaRPr lang="en-US" altLang="zh-CN" sz="2400" b="1" dirty="0"/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写缓冲及写合并</a:t>
            </a:r>
            <a:endParaRPr lang="en-US" altLang="zh-CN" sz="2400" b="1" dirty="0"/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让读失效优于写</a:t>
            </a:r>
            <a:endParaRPr lang="en-US" altLang="zh-CN" sz="2400" b="1" dirty="0"/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>
                <a:latin typeface="+mj-lt"/>
              </a:rPr>
              <a:t>请求字处理</a:t>
            </a:r>
            <a:endParaRPr lang="en-US" altLang="zh-CN" sz="2400" b="1" dirty="0">
              <a:latin typeface="+mj-lt"/>
            </a:endParaRPr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>
                <a:latin typeface="+mj-lt"/>
              </a:rPr>
              <a:t>二级</a:t>
            </a:r>
            <a:r>
              <a:rPr lang="en-US" altLang="zh-CN" sz="2400" b="1" dirty="0">
                <a:latin typeface="+mj-lt"/>
              </a:rPr>
              <a:t>Cache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96E7B7-9C07-B632-14DB-6C994A906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7992B1-6DF2-474A-A51B-B3D89E2D0068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86D61A-7283-146F-BDC9-D2BD799E0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980C3E-931C-7E69-5C90-D231589C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051720" y="3520998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5.4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多体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318938" y="2185324"/>
            <a:ext cx="71863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471488" lvl="1" indent="250825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2 虚拟化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334540" y="1515577"/>
            <a:ext cx="683186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471488" indent="250825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lvl="1">
              <a:buFont typeface="Wingdings" pitchFamily="2" charset="2"/>
              <a:buNone/>
            </a:pP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5.5.1 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容量小、结构简单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A3DE16BF-B491-46C4-B73A-E76A9AE48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067" y="4840328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5.6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Trace 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5F44A32E-CAE3-4B48-9FB5-D7A66EF39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70" y="260648"/>
            <a:ext cx="8229600" cy="1143000"/>
          </a:xfrm>
        </p:spPr>
        <p:txBody>
          <a:bodyPr/>
          <a:lstStyle/>
          <a:p>
            <a:r>
              <a:rPr kumimoji="1" lang="en-US" altLang="zh-CN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5.5 </a:t>
            </a:r>
            <a:r>
              <a:rPr kumimoji="1" lang="zh-CN" altLang="en-US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减少命中时间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32D55AAB-C600-4B5D-A1DC-834ED6F7C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951" y="2844989"/>
            <a:ext cx="71863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471488" lvl="1" indent="250825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5.3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访问流水化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D914DAEB-2692-4213-A5CA-DCC11834C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4187137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路预测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2099B1-56A6-7E5C-4073-4F2318AFC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DB9BBC-D812-47DE-B626-93A23489C5AC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533467E-975A-0120-570A-11FCFB95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ACF23F-29AF-7FAA-057E-2310B899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47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1696243" y="144015"/>
            <a:ext cx="5965825" cy="70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5.5.2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虚拟</a:t>
            </a: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</a:p>
        </p:txBody>
      </p:sp>
      <p:sp>
        <p:nvSpPr>
          <p:cNvPr id="8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865981" y="1000993"/>
            <a:ext cx="7702550" cy="257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900113" indent="-271463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物理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</a:p>
          <a:p>
            <a:pPr lvl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使用物理地址进行访问的传统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 lvl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标识存储器中存放的是物理地址，进行地址检测也是用物理地址。</a:t>
            </a:r>
          </a:p>
          <a:p>
            <a:pPr lvl="1" eaLnBrk="1" hangingPunct="1"/>
            <a:endParaRPr lang="en-US" altLang="zh-CN" dirty="0">
              <a:solidFill>
                <a:srgbClr val="E24C05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505618" y="3207654"/>
            <a:ext cx="8062913" cy="10572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eaLnBrk="1" hangingPunct="1">
              <a:buNone/>
            </a:pPr>
            <a:r>
              <a:rPr kumimoji="0" lang="zh-CN" altLang="en-US" sz="24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缺点：</a:t>
            </a:r>
            <a:r>
              <a:rPr kumimoji="0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地址转换和访问</a:t>
            </a:r>
            <a:r>
              <a:rPr kumimoji="0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串行进行，访问速度很慢</a:t>
            </a:r>
            <a:r>
              <a:rPr kumimoji="0" lang="zh-CN" altLang="en-US" sz="2400" b="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1403348" y="4077072"/>
          <a:ext cx="6551613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3557016" imgH="792480" progId="Word.Picture.8">
                  <p:embed/>
                </p:oleObj>
              </mc:Choice>
              <mc:Fallback>
                <p:oleObj name="图片" r:id="rId2" imgW="3557016" imgH="792480" progId="Word.Picture.8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48" y="4077072"/>
                        <a:ext cx="6551613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419872" y="5857007"/>
            <a:ext cx="2663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物理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存储系统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992CC8-E7D0-9732-7D25-4461E5FE2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D6B2A1-4FCE-48FC-8767-259BEA321650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19E3D7-47DF-D1E6-CB1F-28576BAF6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D4919-5C74-17BE-1869-A7C2A344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063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39552" y="404664"/>
            <a:ext cx="1928733" cy="497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虚拟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</a:p>
        </p:txBody>
      </p:sp>
      <p:sp>
        <p:nvSpPr>
          <p:cNvPr id="4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539552" y="1063625"/>
            <a:ext cx="7847013" cy="47307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0113" lvl="1" indent="-271463"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可以直接用虚拟地址进行访问的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。标识存储器中存放的是虚拟地址，进行地址检测用的也是虚拟地址。 </a:t>
            </a:r>
          </a:p>
          <a:p>
            <a:pPr marL="1085850" lvl="1" indent="-457200" eaLnBrk="1" hangingPunct="1">
              <a:lnSpc>
                <a:spcPct val="110000"/>
              </a:lnSpc>
            </a:pPr>
            <a:r>
              <a:rPr kumimoji="0" lang="zh-CN" altLang="en-US" sz="2400" b="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优点：</a:t>
            </a:r>
          </a:p>
          <a:p>
            <a:pPr lvl="2" eaLnBrk="1" hangingPunct="1">
              <a:lnSpc>
                <a:spcPct val="110000"/>
              </a:lnSpc>
            </a:pPr>
            <a:r>
              <a:rPr kumimoji="0"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在命中时不需要地址转换，省去了地址转换的时间。即使不命中，地址转换和访问</a:t>
            </a:r>
            <a:r>
              <a:rPr kumimoji="0"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也是并行进行的，其速度比物理</a:t>
            </a:r>
            <a:r>
              <a:rPr kumimoji="0"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快很多。 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339752" y="4581128"/>
          <a:ext cx="4751387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2956560" imgH="947928" progId="Word.Picture.8">
                  <p:embed/>
                </p:oleObj>
              </mc:Choice>
              <mc:Fallback>
                <p:oleObj name="图片" r:id="rId2" imgW="2956560" imgH="947928" progId="Word.Picture.8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581128"/>
                        <a:ext cx="4751387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5FC5A5-E3AA-2DD3-2520-0F1BE7A42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6CD050-73F3-40C4-B5C1-FC253A710217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693CDC-1300-DBA1-4402-9B37563E9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B412F3-71D2-BE12-9975-6B1E4A50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089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359532" y="116632"/>
            <a:ext cx="8424936" cy="633670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AutoNum type="arabicPeriod" startAt="3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并非都采用虚拟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 (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为什么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?)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不同进程可能使用相同的虚地址来指向不同的物理地址</a:t>
            </a:r>
            <a:endParaRPr lang="en-US" altLang="zh-CN" sz="2400" dirty="0">
              <a:solidFill>
                <a:srgbClr val="003399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784800" lvl="2" eaLnBrk="1" hangingPunct="1">
              <a:lnSpc>
                <a:spcPct val="120000"/>
              </a:lnSpc>
            </a:pPr>
            <a:r>
              <a:rPr kumimoji="0"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解决方法：进程切换时清空</a:t>
            </a:r>
            <a:r>
              <a:rPr kumimoji="0"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</a:p>
          <a:p>
            <a:pPr marL="914400" lvl="2" indent="0" eaLnBrk="1" hangingPunct="1">
              <a:lnSpc>
                <a:spcPct val="120000"/>
              </a:lnSpc>
              <a:buNone/>
            </a:pPr>
            <a:r>
              <a:rPr kumimoji="0"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kumimoji="0"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在地址标识中增加</a:t>
            </a:r>
            <a:r>
              <a:rPr kumimoji="0"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PID</a:t>
            </a:r>
            <a:r>
              <a:rPr kumimoji="0"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字段</a:t>
            </a:r>
            <a:r>
              <a:rPr kumimoji="0"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进程标识符</a:t>
            </a:r>
            <a:r>
              <a:rPr kumimoji="0"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914400" lvl="2" indent="0" eaLnBrk="1" hangingPunct="1">
              <a:lnSpc>
                <a:spcPct val="120000"/>
              </a:lnSpc>
              <a:buNone/>
            </a:pPr>
            <a:r>
              <a:rPr kumimoji="0"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2" action="ppaction://hlinksldjump"/>
              </a:rPr>
              <a:t>三种情况下失效率的比较</a:t>
            </a:r>
            <a:endParaRPr kumimoji="0" lang="zh-CN" altLang="en-US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3" eaLnBrk="1" hangingPunct="1">
              <a:lnSpc>
                <a:spcPct val="120000"/>
              </a:lnSpc>
            </a:pPr>
            <a:r>
              <a:rPr kumimoji="0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单进程，</a:t>
            </a:r>
            <a:r>
              <a:rPr kumimoji="0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PIDs</a:t>
            </a:r>
            <a:r>
              <a:rPr kumimoji="0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，清空</a:t>
            </a:r>
          </a:p>
          <a:p>
            <a:pPr lvl="3" eaLnBrk="1" hangingPunct="1">
              <a:lnSpc>
                <a:spcPct val="120000"/>
              </a:lnSpc>
            </a:pPr>
            <a:r>
              <a:rPr kumimoji="0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PIDs</a:t>
            </a:r>
            <a:r>
              <a:rPr kumimoji="0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与单进程相比：</a:t>
            </a:r>
            <a:r>
              <a:rPr kumimoji="0" lang="zh-CN" altLang="en-US" sz="24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0" lang="en-US" altLang="zh-CN" sz="24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0.3</a:t>
            </a:r>
            <a:r>
              <a:rPr kumimoji="0" lang="zh-CN" altLang="en-US" sz="24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％～＋</a:t>
            </a:r>
            <a:r>
              <a:rPr kumimoji="0" lang="en-US" altLang="zh-CN" sz="24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0.6</a:t>
            </a:r>
            <a:r>
              <a:rPr kumimoji="0" lang="zh-CN" altLang="en-US" sz="24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％</a:t>
            </a:r>
          </a:p>
          <a:p>
            <a:pPr lvl="3" eaLnBrk="1" hangingPunct="1">
              <a:lnSpc>
                <a:spcPct val="120000"/>
              </a:lnSpc>
            </a:pPr>
            <a:r>
              <a:rPr kumimoji="0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PIDs</a:t>
            </a:r>
            <a:r>
              <a:rPr kumimoji="0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与清空相比：  </a:t>
            </a:r>
            <a:r>
              <a:rPr kumimoji="0" lang="zh-CN" altLang="en-US" sz="24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kumimoji="0" lang="en-US" altLang="zh-CN" sz="24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0.6</a:t>
            </a:r>
            <a:r>
              <a:rPr kumimoji="0" lang="zh-CN" altLang="en-US" sz="24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％～－</a:t>
            </a:r>
            <a:r>
              <a:rPr kumimoji="0" lang="en-US" altLang="zh-CN" sz="24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4.3%</a:t>
            </a:r>
          </a:p>
          <a:p>
            <a:pPr marL="0" lvl="3" indent="0" eaLnBrk="1" hangingPunct="1">
              <a:lnSpc>
                <a:spcPct val="12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某些共享空间，同一物理地址可能有不同形式的虚拟地址，这些地址又称为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同义（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synonym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别名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 alias)</a:t>
            </a:r>
          </a:p>
          <a:p>
            <a:pPr marL="784800" lvl="2" indent="-230400" eaLnBrk="1" hangingPunct="1">
              <a:lnSpc>
                <a:spcPct val="120000"/>
              </a:lnSpc>
              <a:buClr>
                <a:schemeClr val="tx1"/>
              </a:buClr>
              <a:buSzPct val="90000"/>
            </a:pPr>
            <a:r>
              <a:rPr kumimoji="0"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解决方法</a:t>
            </a:r>
            <a:r>
              <a:rPr kumimoji="0"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硬件检查并作废相同物理地址的副本</a:t>
            </a:r>
            <a:endParaRPr kumimoji="0" lang="en-US" altLang="zh-CN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554400" lvl="2" indent="0" eaLnBrk="1" hangingPunct="1">
              <a:lnSpc>
                <a:spcPct val="120000"/>
              </a:lnSpc>
              <a:buClr>
                <a:schemeClr val="tx1"/>
              </a:buClr>
              <a:buSzPct val="90000"/>
              <a:buNone/>
            </a:pPr>
            <a:r>
              <a:rPr kumimoji="0"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       </a:t>
            </a:r>
            <a:r>
              <a:rPr kumimoji="0"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页着色，通过软件强制别名的某些位相同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AE5250-139F-6DF7-1BE0-260B24599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7F4A26-3D91-4EA5-B5D4-949DE64992AC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58BA1F-41A7-4B9F-9CBA-00895A139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D3EE6B-83C2-358C-F93A-0B8C1F0DE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1214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Text Box 2"/>
          <p:cNvSpPr txBox="1">
            <a:spLocks noChangeArrowheads="1"/>
          </p:cNvSpPr>
          <p:nvPr/>
        </p:nvSpPr>
        <p:spPr bwMode="auto">
          <a:xfrm>
            <a:off x="547543" y="244812"/>
            <a:ext cx="8040831" cy="2921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虚拟索引＋物理标识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利用虚拟地址找到索引读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，同时进行虚实地址转换：      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前提是虚拟索引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物理索引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而：页内位移在虚实地址变换时不变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优点：兼得虚拟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和物理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的好处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局限性：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容量受限 ≤ 页大小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×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相联度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69925" y="3410223"/>
            <a:ext cx="7429500" cy="100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举例：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IBM3033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</a:p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页大小＝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4KB    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相联度＝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081213" y="4940474"/>
            <a:ext cx="2667000" cy="762000"/>
          </a:xfrm>
          <a:prstGeom prst="rect">
            <a:avLst/>
          </a:prstGeom>
          <a:solidFill>
            <a:srgbClr val="FCFDCD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748213" y="4940474"/>
            <a:ext cx="2667000" cy="762000"/>
          </a:xfrm>
          <a:prstGeom prst="rect">
            <a:avLst/>
          </a:prstGeom>
          <a:solidFill>
            <a:srgbClr val="FCFDCD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6254750" y="5321474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708275" y="5003974"/>
            <a:ext cx="1676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页地址</a:t>
            </a:r>
            <a:b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地址标识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5416550" y="5008736"/>
            <a:ext cx="1628775" cy="310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页内位移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035550" y="5338936"/>
            <a:ext cx="1066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索  引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6254750" y="5372274"/>
            <a:ext cx="1524000" cy="310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块内位移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014538" y="4664249"/>
            <a:ext cx="685800" cy="330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31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4225925" y="4653136"/>
            <a:ext cx="1295400" cy="330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12  11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7107238" y="4653136"/>
            <a:ext cx="466725" cy="330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            </a:t>
            </a:r>
          </a:p>
        </p:txBody>
      </p:sp>
      <p:sp>
        <p:nvSpPr>
          <p:cNvPr id="16" name="矩形 13"/>
          <p:cNvSpPr>
            <a:spLocks noChangeArrowheads="1"/>
          </p:cNvSpPr>
          <p:nvPr/>
        </p:nvSpPr>
        <p:spPr bwMode="auto">
          <a:xfrm>
            <a:off x="1851992" y="5797182"/>
            <a:ext cx="6367115" cy="520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108585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Cache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容量＝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16×4KB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64KB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7CF56-AEAB-20BB-DEB2-63117426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CE77D68-83C1-44C4-8C44-7112C698F9C0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70368A-03FA-6736-9F96-594B1372E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11132D-8DC3-FC75-4E6A-62EF8E486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462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907704" y="260648"/>
            <a:ext cx="5486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5.5.3 Cache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访问流水化</a:t>
            </a:r>
          </a:p>
        </p:txBody>
      </p:sp>
      <p:sp>
        <p:nvSpPr>
          <p:cNvPr id="5" name="Rectangle 6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95558" y="1404324"/>
            <a:ext cx="8340938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108585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714500" indent="-4572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对第一级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的访问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" action="ppaction://noaction"/>
              </a:rPr>
              <a:t>按流水方式组织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访问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需要多个时钟周期才可以完成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例如</a:t>
            </a:r>
          </a:p>
          <a:p>
            <a:pPr lvl="2" eaLnBrk="1" hangingPunct="1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Pentium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访问指令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需要一个时钟周期</a:t>
            </a:r>
          </a:p>
          <a:p>
            <a:pPr lvl="2" eaLnBrk="1" hangingPunct="1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Pentium Pro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Pentium Ⅲ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需要两个时钟周期</a:t>
            </a:r>
          </a:p>
          <a:p>
            <a:pPr lvl="2" eaLnBrk="1" hangingPunct="1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Pentium 4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Core i7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则需要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5756" y="4581128"/>
            <a:ext cx="7905189" cy="138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访问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周期数的增加使得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流水线的段数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也增加了，进一步增加了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分支预测失败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的代价，也增加了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load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指令发射到使用该数据间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的时间间隔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40B9DA-E536-6504-2EA6-C249B5492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2B9053-CA6A-4AC9-810D-D965BC135705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4ED21F-4138-FF20-6C69-F78809AB5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7711B0-9120-806A-4F63-5348661E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030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3">
            <a:extLst>
              <a:ext uri="{FF2B5EF4-FFF2-40B4-BE49-F238E27FC236}">
                <a16:creationId xmlns:a16="http://schemas.microsoft.com/office/drawing/2014/main" id="{F4AF51E7-0C33-48CB-AB39-EAE2663C8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1219200"/>
            <a:ext cx="8555038" cy="49577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组织为多个独立的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banks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，以支持并行访问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ARM Cortex-A8 supports 1-4 banks for L2</a:t>
            </a:r>
          </a:p>
          <a:p>
            <a:pPr lvl="1" eaLnBrk="1" hangingPunct="1"/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Intel i7 supports 4 banks for L1 and 8 banks for L2</a:t>
            </a:r>
          </a:p>
          <a:p>
            <a:pPr marL="457200" lvl="1" indent="0" eaLnBrk="1" hangingPunct="1">
              <a:buNone/>
            </a:pP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根据块号进行多体交叉编址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F632594A-B77A-4994-9FD0-50F155DCF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260648"/>
            <a:ext cx="5486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5.5.4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多体</a:t>
            </a: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endParaRPr lang="zh-CN" altLang="en-US" sz="36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84E353-5222-4FB7-8F1A-1DAD09B55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685877"/>
            <a:ext cx="7884368" cy="155223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2F59A3E-3877-401C-B949-84C016D871EA}"/>
              </a:ext>
            </a:extLst>
          </p:cNvPr>
          <p:cNvSpPr/>
          <p:nvPr/>
        </p:nvSpPr>
        <p:spPr>
          <a:xfrm>
            <a:off x="300583" y="5381188"/>
            <a:ext cx="869047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2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Four-way interleaved cache banks using block addressing. </a:t>
            </a:r>
            <a:r>
              <a:rPr lang="en-US" altLang="zh-CN" sz="2200" b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Assuming 64 bytes per blocks, each of these addresses would be multiplied by 64 to get byte addressing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C6A81C-7E0C-A1F4-2908-CAD3DDA4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F457C8-C7B3-4DB7-AE03-F56CFF9C9F32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63C4BF-2034-6E61-18F6-72F3FC80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8BDCA9-C47E-521C-89E0-16E055CA9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310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3">
            <a:extLst>
              <a:ext uri="{FF2B5EF4-FFF2-40B4-BE49-F238E27FC236}">
                <a16:creationId xmlns:a16="http://schemas.microsoft.com/office/drawing/2014/main" id="{F4AF51E7-0C33-48CB-AB39-EAE2663C8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1219200"/>
            <a:ext cx="8555038" cy="4957763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多体结构的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两方面的作用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当多个体利用同一个组索引进行访存时，它可以使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组相联结构的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中的一组数据和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Tag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同时被访问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，加快查找时间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当多个体可以利用不同地址进行独立访问时，它可以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更有效地支持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发出的多个访存请求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，减小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的平均命中时间，增大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的吞吐率。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lvl="1" indent="0" eaLnBrk="1" hangingPunct="1">
              <a:buNone/>
            </a:pP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F632594A-B77A-4994-9FD0-50F155DCF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260648"/>
            <a:ext cx="5486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5.5.4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多体</a:t>
            </a: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endParaRPr lang="zh-CN" altLang="en-US" sz="36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FACA83-2862-F2CE-87EF-678568D5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D33CD7-5A1D-40D3-8F38-FEE6B4447F54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EAFD3A-58BD-47AF-97A4-15774CF81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4A7988-29DC-61F0-26C3-97CC8F8A1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10</a:t>
            </a:fld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>
            <a:extLst>
              <a:ext uri="{FF2B5EF4-FFF2-40B4-BE49-F238E27FC236}">
                <a16:creationId xmlns:a16="http://schemas.microsoft.com/office/drawing/2014/main" id="{C32B7EE4-83B8-4F8F-B462-52865E8B0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980728"/>
            <a:ext cx="8784976" cy="5688632"/>
          </a:xfrm>
        </p:spPr>
        <p:txBody>
          <a:bodyPr/>
          <a:lstStyle/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组相联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为改进命中时间，预测被选中的路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(way)</a:t>
            </a:r>
          </a:p>
          <a:p>
            <a:pPr lvl="1" eaLnBrk="1" hangingPunct="1">
              <a:lnSpc>
                <a:spcPct val="114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每一组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保存一些预测位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，表示下一次访问本组时应命中的块。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读取时只需比较一个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Tag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，若不正确再匹配其他块的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Tag</a:t>
            </a:r>
          </a:p>
          <a:p>
            <a:pPr lvl="1" eaLnBrk="1" hangingPunct="1">
              <a:lnSpc>
                <a:spcPct val="114000"/>
              </a:lnSpc>
              <a:spcBef>
                <a:spcPts val="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预测的准确性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14000"/>
              </a:lnSpc>
              <a:spcBef>
                <a:spcPts val="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90%+ for two-way</a:t>
            </a:r>
          </a:p>
          <a:p>
            <a:pPr lvl="2" eaLnBrk="1" hangingPunct="1">
              <a:lnSpc>
                <a:spcPct val="114000"/>
              </a:lnSpc>
              <a:spcBef>
                <a:spcPts val="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80%+ for four-way</a:t>
            </a:r>
          </a:p>
          <a:p>
            <a:pPr lvl="2" eaLnBrk="1" hangingPunct="1">
              <a:lnSpc>
                <a:spcPct val="114000"/>
              </a:lnSpc>
              <a:spcBef>
                <a:spcPts val="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I-cache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比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D-cache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具有更好的准确性</a:t>
            </a:r>
            <a:endParaRPr lang="en-US" altLang="zh-CN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4000"/>
              </a:lnSpc>
              <a:spcBef>
                <a:spcPts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90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年代中期第一次用于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MIPS R10000</a:t>
            </a:r>
          </a:p>
          <a:p>
            <a:pPr lvl="1" eaLnBrk="1" hangingPunct="1">
              <a:lnSpc>
                <a:spcPct val="114000"/>
              </a:lnSpc>
              <a:spcBef>
                <a:spcPts val="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用于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ARM Cortex-A8</a:t>
            </a: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 Way Prediction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方法也可降低功耗：直接预测要访问的块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4000"/>
              </a:lnSpc>
              <a:spcBef>
                <a:spcPts val="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也称“路选择”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 “Way selection”</a:t>
            </a:r>
          </a:p>
          <a:p>
            <a:pPr lvl="1" eaLnBrk="1" hangingPunct="1">
              <a:lnSpc>
                <a:spcPct val="114000"/>
              </a:lnSpc>
              <a:spcBef>
                <a:spcPts val="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可有效降低功耗，但一旦预测错误会有更长的命中时间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65B5ECBA-306B-4E8F-9BC0-0834C0793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88640"/>
            <a:ext cx="5486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5.5.5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路预测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B8D509-A9EE-A563-4C2E-7564FC4F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0585EB-C9EE-48FD-9428-D681ADA7D35F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7FEBAD-E079-0CAD-D33F-797AF5D1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2B0762-5B24-24EA-7D5F-790CF37F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11</a:t>
            </a:fld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1" name="Rectangle 2">
            <a:extLst>
              <a:ext uri="{FF2B5EF4-FFF2-40B4-BE49-F238E27FC236}">
                <a16:creationId xmlns:a16="http://schemas.microsoft.com/office/drawing/2014/main" id="{20112EF1-AD97-4B77-86FA-8EDCF3DCB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pPr eaLnBrk="1" hangingPunct="1"/>
            <a:r>
              <a:rPr kumimoji="1" lang="en-US" altLang="zh-CN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5.5.6 Trace Cache</a:t>
            </a:r>
            <a:endParaRPr kumimoji="1" lang="zh-CN" altLang="en-US" sz="36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528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66D58DF-BB78-4AC5-93B3-CC60516D9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1412776"/>
            <a:ext cx="8083927" cy="3673475"/>
          </a:xfrm>
        </p:spPr>
        <p:txBody>
          <a:bodyPr/>
          <a:lstStyle/>
          <a:p>
            <a:pPr marL="0" indent="0" eaLnBrk="1" hangingPunct="1">
              <a:lnSpc>
                <a:spcPct val="13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sv-SE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开发指令级并行性所遇到的一个挑战是：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7020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sv-SE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当要每个时钟周期流出超过</a:t>
            </a:r>
            <a:r>
              <a:rPr lang="sv-SE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sv-SE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条指令时，要提供足够多条彼此互不相关的指令是很困难的。</a:t>
            </a:r>
          </a:p>
          <a:p>
            <a:pPr marL="0" indent="0" eaLnBrk="1" hangingPunct="1">
              <a:lnSpc>
                <a:spcPct val="13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sv-SE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一个解决方法：</a:t>
            </a:r>
            <a:r>
              <a:rPr lang="zh-CN" altLang="sv-SE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采用踪迹 </a:t>
            </a:r>
            <a:r>
              <a:rPr lang="sv-SE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7020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sv-SE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存放</a:t>
            </a:r>
            <a:r>
              <a:rPr lang="sv-SE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sv-SE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所执行的动态指令序列</a:t>
            </a:r>
          </a:p>
          <a:p>
            <a:pPr marL="1085850" lvl="1" indent="-45720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sv-SE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sv-SE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包含了由分支预测展开的指令，该分支预测是否正确需要在取到该指令时进行确认。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C31E9F-22AE-50D0-05B6-BC6F2FC8D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F7E297A-15B7-45F6-A66B-E521BCF4B82D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FA0D92-14E6-31D0-1FB8-B83E5E2A0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EED097-974E-F68C-0BA0-A6BAF31DC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12</a:t>
            </a:fld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72523BF-7831-4AE7-97AF-2B924F0D68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84784"/>
            <a:ext cx="7772400" cy="2281237"/>
          </a:xfrm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sv-SE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优缺点</a:t>
            </a:r>
          </a:p>
          <a:p>
            <a:pPr lvl="2" eaLnBrk="1" hangingPunct="1"/>
            <a:r>
              <a:rPr lang="zh-CN" altLang="sv-SE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地址映象机制复杂</a:t>
            </a:r>
          </a:p>
          <a:p>
            <a:pPr lvl="2" eaLnBrk="1" hangingPunct="1"/>
            <a:r>
              <a:rPr lang="zh-CN" altLang="sv-SE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相同的指令序列有可能被当作条件分支的不同选择而重复存放</a:t>
            </a:r>
            <a:endParaRPr lang="sv-SE" altLang="zh-CN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zh-CN" altLang="sv-SE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能够提高指令</a:t>
            </a:r>
            <a:r>
              <a:rPr lang="sv-SE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sv-SE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的空间利用率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EDC3FC1-19EC-44F4-93CA-847483ED5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pPr eaLnBrk="1" hangingPunct="1"/>
            <a:r>
              <a:rPr kumimoji="1" lang="en-US" altLang="zh-CN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5.5.6 Trace Cache</a:t>
            </a:r>
            <a:endParaRPr kumimoji="1" lang="zh-CN" altLang="en-US" sz="36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65E074-0A47-7D3D-28F4-397C1202F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7B2065-4456-4D1C-B513-CA066B127A60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A27E12-8DEF-4AE7-D30F-457061D18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1E3EDA-DB21-907F-12FF-1D4F81AB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13</a:t>
            </a:fld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157711E4-7431-4FF0-A5E2-9E67899BB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pPr eaLnBrk="1" hangingPunct="1"/>
            <a:r>
              <a:rPr kumimoji="1" lang="en-US" altLang="zh-CN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5.5.7 </a:t>
            </a:r>
            <a:r>
              <a:rPr kumimoji="1" lang="zh-CN" altLang="en-US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减少命中时间方法总结</a:t>
            </a:r>
          </a:p>
        </p:txBody>
      </p:sp>
      <p:sp>
        <p:nvSpPr>
          <p:cNvPr id="4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D085CDC-5077-4494-B3F8-CA90C5B8C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976" y="2780928"/>
            <a:ext cx="5110336" cy="228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714500" indent="-4572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 eaLnBrk="1" hangingPunct="1">
              <a:buNone/>
            </a:pPr>
            <a:r>
              <a:rPr lang="en-US" altLang="zh-CN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＋”号：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表示改进了相应指标。</a:t>
            </a:r>
          </a:p>
          <a:p>
            <a:pPr marL="0" lvl="2" indent="0" eaLnBrk="1" hangingPunct="1">
              <a:buNone/>
            </a:pPr>
            <a:r>
              <a:rPr lang="zh-CN" altLang="en-US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“－”号：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表示它使该指标变差。</a:t>
            </a:r>
          </a:p>
          <a:p>
            <a:pPr marL="0" lvl="2" indent="0" eaLnBrk="1" hangingPunct="1">
              <a:buNone/>
            </a:pPr>
            <a:r>
              <a:rPr lang="zh-CN" altLang="en-US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空格栏：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表示它对该指标无影响。</a:t>
            </a:r>
          </a:p>
          <a:p>
            <a:pPr marL="0" lvl="2" indent="0" eaLnBrk="1" hangingPunct="1">
              <a:buNone/>
            </a:pPr>
            <a:r>
              <a:rPr lang="zh-CN" altLang="en-US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复杂性：</a:t>
            </a:r>
            <a:r>
              <a:rPr lang="en-US" altLang="zh-CN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表示最容易，</a:t>
            </a:r>
            <a:r>
              <a:rPr lang="en-US" altLang="zh-CN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表示最复杂。 </a:t>
            </a:r>
            <a:endParaRPr lang="zh-CN" altLang="sv-SE" sz="22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AutoNum type="arabicPeriod" startAt="3"/>
            </a:pPr>
            <a:endParaRPr lang="en-US" altLang="zh-CN" sz="22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031146-226E-4A2D-9480-67651E21A97C}"/>
              </a:ext>
            </a:extLst>
          </p:cNvPr>
          <p:cNvSpPr/>
          <p:nvPr/>
        </p:nvSpPr>
        <p:spPr>
          <a:xfrm>
            <a:off x="395536" y="1844824"/>
            <a:ext cx="4572000" cy="33973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容量小、结构简单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虚拟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访问流水化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多体Cache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路预测</a:t>
            </a: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Trace Cache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DE3A992-E902-DC6B-25AF-ACBCFC8D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20566-4469-48C2-840F-BA6906202061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427D28-86D7-6A3D-046A-7D127506D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F153C5-3F58-7ED0-3678-8EF1CEB8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14</a:t>
            </a:fld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1838" name="Group 110"/>
          <p:cNvGraphicFramePr>
            <a:graphicFrameLocks noGrp="1"/>
          </p:cNvGraphicFramePr>
          <p:nvPr>
            <p:ph/>
          </p:nvPr>
        </p:nvGraphicFramePr>
        <p:xfrm>
          <a:off x="250825" y="908720"/>
          <a:ext cx="8642350" cy="5557534"/>
        </p:xfrm>
        <a:graphic>
          <a:graphicData uri="http://schemas.openxmlformats.org/drawingml/2006/table">
            <a:tbl>
              <a:tblPr/>
              <a:tblGrid>
                <a:gridCol w="1728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570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777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优化技术 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不命中率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不命中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开销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命中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时间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硬件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复杂度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说 明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237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容量小且结构简单的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 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实现容易，被广泛采用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02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虚拟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45698" marB="456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对于小容量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来说实现容易，已被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Alpha 21164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UltraSPARC Ⅲ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46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流水化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访问 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1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被广泛采用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多体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45698" marB="456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+mn-ea"/>
                        </a:rPr>
                        <a:t>Operon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+mn-ea"/>
                        </a:rPr>
                        <a:t>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+mn-ea"/>
                        </a:rPr>
                        <a:t>Niagara L2 Cache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+mn-ea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443696"/>
                  </a:ext>
                </a:extLst>
              </a:tr>
              <a:tr h="748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路预测</a:t>
                      </a:r>
                    </a:p>
                  </a:txBody>
                  <a:tcPr marT="45698" marB="456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+mn-ea"/>
                        </a:rPr>
                        <a:t>Pentium 4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+mn-ea"/>
                        </a:rPr>
                        <a:t>采用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807294"/>
                  </a:ext>
                </a:extLst>
              </a:tr>
              <a:tr h="748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Trace Cache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45698" marB="456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 4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97855"/>
                  </a:ext>
                </a:extLst>
              </a:tr>
            </a:tbl>
          </a:graphicData>
        </a:graphic>
      </p:graphicFrame>
      <p:sp>
        <p:nvSpPr>
          <p:cNvPr id="3" name="Text Box 80"/>
          <p:cNvSpPr txBox="1">
            <a:spLocks noChangeArrowheads="1"/>
          </p:cNvSpPr>
          <p:nvPr/>
        </p:nvSpPr>
        <p:spPr bwMode="auto">
          <a:xfrm>
            <a:off x="2195736" y="89355"/>
            <a:ext cx="4752528" cy="604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lang="zh-CN" altLang="en-US" sz="3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itchFamily="49" charset="-122"/>
                <a:ea typeface="幼圆" pitchFamily="49" charset="-122"/>
              </a:rPr>
              <a:t>减小命中时间的方法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DA33DA-E750-EB23-BBA5-8AAD97DB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E56E78-E010-437C-9360-BF95FD4A1AEA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119E32-2B17-B4EA-B905-082F2772B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FFD7D8-766D-7D41-2EE0-846CDB02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729DA-49AD-4951-956B-19282FE642DF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5181103"/>
      </p:ext>
    </p:extLst>
  </p:cSld>
  <p:clrMapOvr>
    <a:masterClrMapping/>
  </p:clrMapOvr>
  <p:transition>
    <p:pull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30238" y="-9947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kumimoji="1"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+mn-cs"/>
              </a:rPr>
              <a:t>第 </a:t>
            </a:r>
            <a:r>
              <a:rPr kumimoji="1" lang="en-US" altLang="zh-CN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+mn-cs"/>
              </a:rPr>
              <a:t>5 </a:t>
            </a:r>
            <a:r>
              <a:rPr kumimoji="1"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+mn-cs"/>
              </a:rPr>
              <a:t>章  存储层次</a:t>
            </a:r>
            <a:endParaRPr lang="zh-CN" altLang="en-US" sz="4000" b="1" dirty="0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2A5BEA6-7CED-462F-8F3E-E7570126A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34" y="1971253"/>
            <a:ext cx="50292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5.2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　</a:t>
            </a: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Cache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基本知识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5A464274-E486-4D80-9BCD-80B258C79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34" y="2504653"/>
            <a:ext cx="574357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5.3    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降低</a:t>
            </a: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Cache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失效率的方法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E73DEC4E-3C4F-40BD-92E0-743E088D9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34" y="3038053"/>
            <a:ext cx="5226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5.4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　减少</a:t>
            </a: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Cache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失效开销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0F4898E9-C4F0-4F68-83D8-A70F1477F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34" y="1437853"/>
            <a:ext cx="4832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>
            <a:defPPr>
              <a:defRPr lang="en-US"/>
            </a:defPPr>
            <a:lvl1pPr>
              <a:defRPr sz="28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r>
              <a:rPr lang="en-US" altLang="zh-CN" u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5.1</a:t>
            </a:r>
            <a:r>
              <a:rPr lang="zh-CN" altLang="en-US" u="none" dirty="0">
                <a:solidFill>
                  <a:schemeClr val="tx1"/>
                </a:solidFill>
                <a:effectLst/>
              </a:rPr>
              <a:t>　</a:t>
            </a:r>
            <a:r>
              <a:rPr lang="zh-CN" altLang="en-US" u="none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存储器的层次结构</a:t>
            </a:r>
            <a:endParaRPr lang="zh-CN" altLang="en-US" u="none" dirty="0"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FE55A58C-D019-4973-BBAC-B882ADD9A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684" y="3571453"/>
            <a:ext cx="5226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5.5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　减少命中时间</a:t>
            </a:r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B3394BD0-7A70-4854-BF2B-F2F83E27D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684" y="4104853"/>
            <a:ext cx="5226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u="sng" dirty="0">
                <a:latin typeface="Times New Roman" pitchFamily="18" charset="0"/>
                <a:ea typeface="华文中宋" pitchFamily="2" charset="-122"/>
              </a:rPr>
              <a:t>5.6</a:t>
            </a:r>
            <a:r>
              <a:rPr kumimoji="1" lang="zh-CN" altLang="en-US" sz="2800" u="sng" dirty="0">
                <a:latin typeface="Times New Roman" pitchFamily="18" charset="0"/>
                <a:ea typeface="华文中宋" pitchFamily="2" charset="-122"/>
              </a:rPr>
              <a:t>　主存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4C94A4A4-B7BA-444C-AC9D-0DA36C5C5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684" y="4638253"/>
            <a:ext cx="5226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5.7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　虚拟存储器</a:t>
            </a:r>
            <a:endParaRPr kumimoji="1" lang="zh-CN" altLang="en-US" sz="2800" dirty="0">
              <a:latin typeface="Times New Roman" pitchFamily="18" charset="0"/>
              <a:ea typeface="华文中宋" pitchFamily="2" charset="-122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0EE57336-28E3-4052-832A-5B869E0CC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6562" y="5181975"/>
            <a:ext cx="5226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5.8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　虚拟保护和虚存实例</a:t>
            </a:r>
            <a:endParaRPr kumimoji="1" lang="zh-CN" altLang="en-US" sz="2800" dirty="0">
              <a:latin typeface="Times New Roman" pitchFamily="18" charset="0"/>
              <a:ea typeface="华文中宋" pitchFamily="2" charset="-122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8106C331-E33F-4272-98E1-EE98B0C34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34" y="5744864"/>
            <a:ext cx="5226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5.9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　综合实例</a:t>
            </a:r>
            <a:endParaRPr kumimoji="1" lang="zh-CN" altLang="en-US" sz="2800" dirty="0">
              <a:latin typeface="Times New Roman" pitchFamily="18" charset="0"/>
              <a:ea typeface="华文中宋" pitchFamily="2" charset="-122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637388-6494-3C78-127F-A4C3DBD6D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E84128-7EF6-4FC0-ACA5-B17AF959E421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0BF349-8B86-7BDC-0E00-7FD8EF34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98A12-BB18-F7A5-B9B2-D69EEC8C0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0402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26064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5.6 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 存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755576" y="1589558"/>
            <a:ext cx="7776864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471488" indent="250825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lvl="1" indent="0" algn="just">
              <a:buFont typeface="Wingdings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… the one single development that put computers on their feet was the invention of a reliable form of memory, namely, the core memory … Its cost was reasonable, it was reliable and, because it was reliable, it could in due course  be made large. [p. 209]</a:t>
            </a:r>
          </a:p>
          <a:p>
            <a:pPr marL="0" lvl="1" indent="0" algn="just">
              <a:buFont typeface="Wingdings" pitchFamily="2" charset="2"/>
              <a:buNone/>
            </a:pPr>
            <a:endParaRPr lang="en-US" altLang="zh-CN" sz="24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  <a:p>
            <a:pPr marL="0" lvl="1" indent="0" algn="r">
              <a:buFont typeface="Wingdings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Maurice Wilkes</a:t>
            </a:r>
          </a:p>
          <a:p>
            <a:pPr marL="0" lvl="1" indent="0" algn="r">
              <a:buFont typeface="Wingdings" pitchFamily="2" charset="2"/>
              <a:buNone/>
            </a:pPr>
            <a:r>
              <a:rPr lang="en-US" altLang="zh-CN" sz="2400" b="0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Memoirs of a Computer Pioneer </a:t>
            </a:r>
            <a:r>
              <a:rPr lang="en-US" altLang="zh-CN" sz="2400" b="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(1985)</a:t>
            </a:r>
            <a:endParaRPr lang="zh-CN" altLang="en-US" sz="2400" b="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3956BC-D78F-372B-7770-DFA7846D9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BDBF6B-B833-4AAB-BCC2-4AF873B1CE06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24D929-561F-E9D2-D411-D003431A5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390F12-1092-786D-8994-7C267856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6431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26064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5.6 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 存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406018" y="2791131"/>
            <a:ext cx="71863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471488" lvl="1" indent="250825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6.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2 存储器芯片技术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377418" y="1853121"/>
            <a:ext cx="683186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471488" indent="250825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lvl="1">
              <a:buFont typeface="Wingdings" pitchFamily="2" charset="2"/>
              <a:buNone/>
            </a:pP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4D6B14-9FEB-0153-B2F0-84522BC71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DF9733-025D-4B11-ABD7-577AF2C2419A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991C0E-BD7D-ABB4-9C1E-9AD1A488C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9DD4B8-4BE0-B333-1AFA-59678BCA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653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341438"/>
            <a:ext cx="7993063" cy="2087562"/>
          </a:xfrm>
        </p:spPr>
        <p:txBody>
          <a:bodyPr/>
          <a:lstStyle/>
          <a:p>
            <a:pPr eaLnBrk="1" hangingPunct="1"/>
            <a:r>
              <a:rPr lang="zh-CN" altLang="en-US"/>
              <a:t>存储层次的性价比特征</a:t>
            </a:r>
          </a:p>
          <a:p>
            <a:pPr lvl="1" eaLnBrk="1" hangingPunct="1"/>
            <a:r>
              <a:rPr lang="zh-CN" altLang="en-US"/>
              <a:t>速度越快，每位价格就越高；</a:t>
            </a:r>
          </a:p>
          <a:p>
            <a:pPr lvl="1" eaLnBrk="1" hangingPunct="1"/>
            <a:r>
              <a:rPr lang="zh-CN" altLang="en-US"/>
              <a:t>容量越大，每位价格就越低；</a:t>
            </a:r>
          </a:p>
          <a:p>
            <a:pPr lvl="1" eaLnBrk="1" hangingPunct="1"/>
            <a:r>
              <a:rPr lang="zh-CN" altLang="en-US"/>
              <a:t>容量越大，速度越慢。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2814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539750" y="3671888"/>
          <a:ext cx="8135938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119726" imgH="1585570" progId="Visio.Drawing.11">
                  <p:embed/>
                </p:oleObj>
              </mc:Choice>
              <mc:Fallback>
                <p:oleObj name="Visio" r:id="rId3" imgW="5119726" imgH="1585570" progId="Visio.Drawing.11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671888"/>
                        <a:ext cx="8135938" cy="234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2" name="Rectangle 6"/>
          <p:cNvSpPr>
            <a:spLocks noChangeArrowheads="1"/>
          </p:cNvSpPr>
          <p:nvPr/>
        </p:nvSpPr>
        <p:spPr bwMode="auto">
          <a:xfrm>
            <a:off x="646113" y="231775"/>
            <a:ext cx="7381875" cy="6762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主存</a:t>
            </a:r>
          </a:p>
        </p:txBody>
      </p:sp>
      <p:graphicFrame>
        <p:nvGraphicFramePr>
          <p:cNvPr id="316491" name="Group 7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62479999"/>
              </p:ext>
            </p:extLst>
          </p:nvPr>
        </p:nvGraphicFramePr>
        <p:xfrm>
          <a:off x="395288" y="1125538"/>
          <a:ext cx="8569325" cy="5053013"/>
        </p:xfrm>
        <a:graphic>
          <a:graphicData uri="http://schemas.openxmlformats.org/drawingml/2006/table">
            <a:tbl>
              <a:tblPr/>
              <a:tblGrid>
                <a:gridCol w="1684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6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56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名称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寄存器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Cache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主存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磁盘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典型大小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&lt;1KB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&lt;16MB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&lt;512G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&gt;1TB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实现技术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定制多端口存储器，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CMOS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片上或片外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CMOS SRAM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CMOS DRAM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磁介质盘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访问时间（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0.25-0.5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0.5-25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50-250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5,000,000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带宽（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MB/s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50,000-500,000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5000-20,000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2500-10,000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50-500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管理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编译器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硬件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操作系统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操作系统和用户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后备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Cache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主存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磁盘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CD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itchFamily="2" charset="-122"/>
                          <a:cs typeface="Times New Roman" panose="02020603050405020304" pitchFamily="18" charset="0"/>
                        </a:rPr>
                        <a:t>或磁带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07536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3">
            <a:extLst>
              <a:ext uri="{FF2B5EF4-FFF2-40B4-BE49-F238E27FC236}">
                <a16:creationId xmlns:a16="http://schemas.microsoft.com/office/drawing/2014/main" id="{5EFCB36B-DCD0-47AD-BE33-71550BE14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497552"/>
            <a:ext cx="7272808" cy="1582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主存的主要性能指标：延迟和带宽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以往：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主要关心延迟，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I/O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主要关心带宽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现在：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关心两者</a:t>
            </a:r>
          </a:p>
        </p:txBody>
      </p:sp>
      <p:sp>
        <p:nvSpPr>
          <p:cNvPr id="9219" name="Text Box 4">
            <a:extLst>
              <a:ext uri="{FF2B5EF4-FFF2-40B4-BE49-F238E27FC236}">
                <a16:creationId xmlns:a16="http://schemas.microsoft.com/office/drawing/2014/main" id="{A9494890-3083-4500-A861-58AC0F888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872" y="401270"/>
            <a:ext cx="330041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 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主 存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10557E3-BC49-4953-B6CC-F70AF9F47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038" y="3585962"/>
            <a:ext cx="8001000" cy="1582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 eaLnBrk="1" hangingPunct="1">
              <a:lnSpc>
                <a:spcPct val="14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本节讨论几种提高主存性能的存储器组织技术。在下面的讨论中，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以处理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失效为开销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说明各种存储器组织结构的好处。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BE1BE6-0D59-AB12-2C6E-1018AD7D2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1DC821-919B-4EC9-83F8-79A3E38ECEE2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CE40B9-14BD-D55A-6514-36C801C3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9A3C20-F8DD-6DFA-E8D2-D8DE816B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20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/>
          <p:cNvSpPr txBox="1">
            <a:spLocks noChangeArrowheads="1"/>
          </p:cNvSpPr>
          <p:nvPr/>
        </p:nvSpPr>
        <p:spPr bwMode="auto">
          <a:xfrm>
            <a:off x="877850" y="3140968"/>
            <a:ext cx="7388299" cy="497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增加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块大小能利用主存带宽增所带来的好处。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244" name="Text Box 6"/>
          <p:cNvSpPr txBox="1">
            <a:spLocks noChangeArrowheads="1"/>
          </p:cNvSpPr>
          <p:nvPr/>
        </p:nvSpPr>
        <p:spPr bwMode="auto">
          <a:xfrm>
            <a:off x="899592" y="1154219"/>
            <a:ext cx="579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为了减少失效开销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应该：</a:t>
            </a:r>
          </a:p>
        </p:txBody>
      </p:sp>
      <p:sp>
        <p:nvSpPr>
          <p:cNvPr id="10245" name="Text Box 7"/>
          <p:cNvSpPr txBox="1">
            <a:spLocks noChangeArrowheads="1"/>
          </p:cNvSpPr>
          <p:nvPr/>
        </p:nvSpPr>
        <p:spPr bwMode="auto">
          <a:xfrm>
            <a:off x="1074440" y="1844824"/>
            <a:ext cx="4114800" cy="941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702000" indent="-342900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减少主存延迟</a:t>
            </a:r>
          </a:p>
          <a:p>
            <a:pPr marL="702000" indent="-342900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提高主存带宽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BDDD3115-9102-46CB-9020-78CAE6FF8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840" y="223629"/>
            <a:ext cx="3300413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 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主 存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AFD498-BFCA-5F02-15B7-0BDEA9C6A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9F0183-C395-4F9A-A119-368F02FD655B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F54D3F-C4E3-0FDE-B2F2-E4FEE6B4F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8CF79-0296-BB0E-5527-4E361928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440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467544" y="3356992"/>
            <a:ext cx="7334250" cy="271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FFA3A3"/>
              </a:buClr>
              <a:buSzPct val="80000"/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大小为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个字，则：</a:t>
            </a:r>
          </a:p>
          <a:p>
            <a:pPr eaLnBrk="1" hangingPunct="1">
              <a:lnSpc>
                <a:spcPct val="120000"/>
              </a:lnSpc>
              <a:buClr>
                <a:srgbClr val="FFA3A3"/>
              </a:buClr>
              <a:buSzPct val="80000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失效开销＝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4×(4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4)</a:t>
            </a:r>
            <a:b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     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4×32</a:t>
            </a:r>
          </a:p>
          <a:p>
            <a:pPr eaLnBrk="1" hangingPunct="1">
              <a:lnSpc>
                <a:spcPct val="120000"/>
              </a:lnSpc>
              <a:buClr>
                <a:srgbClr val="FFA3A3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     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128 (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时钟周期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Clr>
                <a:srgbClr val="FFA3A3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带宽＝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16/128</a:t>
            </a:r>
          </a:p>
          <a:p>
            <a:pPr eaLnBrk="1" hangingPunct="1">
              <a:lnSpc>
                <a:spcPct val="120000"/>
              </a:lnSpc>
              <a:buClr>
                <a:srgbClr val="FFA3A3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     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0.0125 (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字节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时钟周期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683568" y="1155041"/>
            <a:ext cx="7748339" cy="1965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FFA3A3"/>
              </a:buClr>
              <a:buSzPct val="80000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假设基本存储器结构的性能为：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3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送地址需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</a:t>
            </a:r>
          </a:p>
          <a:p>
            <a:pPr marL="342900" indent="-342900" eaLnBrk="1" hangingPunct="1">
              <a:lnSpc>
                <a:spcPct val="13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每个字的访问时间为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</a:t>
            </a:r>
          </a:p>
          <a:p>
            <a:pPr marL="342900" indent="-342900" eaLnBrk="1" hangingPunct="1">
              <a:lnSpc>
                <a:spcPct val="13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传送一个字（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个字节）的数据需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92A3546-8CDB-49A1-AF67-0F7CBAA7F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856" y="260648"/>
            <a:ext cx="330041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 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主 存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4C215D-8152-C9B6-B5D2-B4AE98016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778D79-A0CE-4438-B270-45ABE3969C6B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D9A831-09A2-3E11-BCF7-11575239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3A4545-E820-3B2B-B2DA-78001A46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02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"/>
          <p:cNvSpPr txBox="1">
            <a:spLocks noChangeArrowheads="1"/>
          </p:cNvSpPr>
          <p:nvPr/>
        </p:nvSpPr>
        <p:spPr bwMode="auto">
          <a:xfrm>
            <a:off x="635467" y="1173274"/>
            <a:ext cx="6172200" cy="52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1. </a:t>
            </a:r>
            <a:r>
              <a:rPr kumimoji="1"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增加存储器的宽度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860550"/>
            <a:ext cx="5464175" cy="435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C51CC5-A328-479C-9BA2-69835ADA1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74347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FFF3B8-725F-5105-0AEA-3E7B6B20C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D2EEBB-CB1D-4C31-8202-1DF4BC12EA63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B7E9FB-28B7-00F7-0ABC-FE2EBE09D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444725-28C8-38F5-5F59-D770FE065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8664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7" name="Text Box 5"/>
          <p:cNvSpPr txBox="1">
            <a:spLocks noChangeArrowheads="1"/>
          </p:cNvSpPr>
          <p:nvPr/>
        </p:nvSpPr>
        <p:spPr bwMode="auto">
          <a:xfrm>
            <a:off x="785432" y="3068960"/>
            <a:ext cx="7993063" cy="2926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缺点：</a:t>
            </a:r>
          </a:p>
          <a:p>
            <a:pPr marL="892800" indent="-171450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b="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增加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和存储器之间的连接通路宽度</a:t>
            </a:r>
          </a:p>
          <a:p>
            <a:pPr marL="1062000" indent="-342900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之间有一个多路选择器</a:t>
            </a:r>
          </a:p>
          <a:p>
            <a:pPr marL="1062000" indent="-342900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扩充主存的最小增量增加了相应的倍数</a:t>
            </a:r>
          </a:p>
          <a:p>
            <a:pPr marL="1062000" indent="-342900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写入有可能变得复杂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实例：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DEC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Alpha Axp21064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256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位宽</a:t>
            </a:r>
          </a:p>
        </p:txBody>
      </p:sp>
      <p:sp>
        <p:nvSpPr>
          <p:cNvPr id="13316" name="矩形 4"/>
          <p:cNvSpPr>
            <a:spLocks noChangeArrowheads="1"/>
          </p:cNvSpPr>
          <p:nvPr/>
        </p:nvSpPr>
        <p:spPr bwMode="auto">
          <a:xfrm>
            <a:off x="785432" y="1484784"/>
            <a:ext cx="7286625" cy="1485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性能分析　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参照前面的假设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892800" indent="-172800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当宽度为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个字时：失效开销＝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1×32(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周期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892800" indent="-172800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带宽＝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16/32=0.5(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字节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周期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FF26D1-0A93-4C18-926A-F00CF0FEA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74347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71BFBE-7977-8C2C-F049-7945AC2E4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04986F-1871-40CB-BC5D-5A9BE5C7C7A2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09BC06-690F-D1EE-62BB-7E3B1160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097F81-F2A8-4E89-C674-454A013B5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2779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179512" y="973892"/>
            <a:ext cx="77041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采用简单的多体交叉存储器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存储系统中采用多个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DRAM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，利用它们潜在的并行性</a:t>
            </a:r>
          </a:p>
        </p:txBody>
      </p:sp>
      <p:pic>
        <p:nvPicPr>
          <p:cNvPr id="9216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65350"/>
            <a:ext cx="9144000" cy="469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2357438"/>
            <a:ext cx="5857875" cy="398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B5423D22-BD39-4CEA-9ED2-74BBDD1B4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44624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A54EB2-891C-B16E-703A-16FF6266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8C83F9-A501-460F-9FC4-AFE4FED09DBD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516CB5-3C91-EC2E-7D36-87C983BE8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F3D481-CB9F-1C2F-77ED-27D5ADF6D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982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576411" y="1055556"/>
            <a:ext cx="7704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高位交叉与低位交叉编址</a:t>
            </a:r>
          </a:p>
        </p:txBody>
      </p:sp>
      <p:pic>
        <p:nvPicPr>
          <p:cNvPr id="1536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1714500"/>
            <a:ext cx="6386513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4A18613-B259-4D17-A702-95FA9A65F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16632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6263BC-7A5F-368E-C603-7AB5998A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AB729C-2CD6-4E66-8E78-76B1FB3F25EE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616989-8075-A998-1627-4D9CB6B96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07CDA9-9619-AC9F-44BE-177D04407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1601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29979" y="1015739"/>
            <a:ext cx="7704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低位交叉编址</a:t>
            </a:r>
          </a:p>
        </p:txBody>
      </p:sp>
      <p:pic>
        <p:nvPicPr>
          <p:cNvPr id="1638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628775"/>
            <a:ext cx="6913562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3C80C6B-EA34-4074-BD11-C6E15C0D1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136" y="188640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264110-487E-B841-BD76-DAF21B7FE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EDA0D6-3BD8-460B-8C0A-A9587B6B025A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4C4792-7CFE-C2C6-329F-E5D9DC06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24BFE9-1391-26B5-0EEE-5CF58E592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2566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719931" y="1127270"/>
            <a:ext cx="7704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高位交叉编址</a:t>
            </a:r>
          </a:p>
        </p:txBody>
      </p:sp>
      <p:pic>
        <p:nvPicPr>
          <p:cNvPr id="1741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700213"/>
            <a:ext cx="7129463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640C2DA-518B-42C0-B05B-4F19317D6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74347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852B6F-8B9B-5F87-8D49-3C160910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5E3F4C-6268-44E3-86B4-AE6FAAA88EAA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8BB559-3229-3EEC-7B30-404A68E8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A40CFC-8161-DA7B-FCBE-3C3CE046D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87946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5" name="Text Box 3"/>
          <p:cNvSpPr txBox="1">
            <a:spLocks noChangeArrowheads="1"/>
          </p:cNvSpPr>
          <p:nvPr/>
        </p:nvSpPr>
        <p:spPr bwMode="auto">
          <a:xfrm>
            <a:off x="684213" y="1196975"/>
            <a:ext cx="6343650" cy="52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同时启动</a:t>
            </a:r>
          </a:p>
        </p:txBody>
      </p:sp>
      <p:pic>
        <p:nvPicPr>
          <p:cNvPr id="4894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844675"/>
            <a:ext cx="7416800" cy="434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5A54741-11BF-4A70-9FBD-CF27BA1E4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74347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6AFBC1-7122-A156-0C90-90D7C59D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258DEF-9BAE-4B7C-A86C-8D1771B1C9F4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AC1288-22CF-6D05-8917-912897CF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EB9D45-A53B-F3F5-CF25-625FB408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5402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9" name="Text Box 3"/>
          <p:cNvSpPr txBox="1">
            <a:spLocks noChangeArrowheads="1"/>
          </p:cNvSpPr>
          <p:nvPr/>
        </p:nvSpPr>
        <p:spPr bwMode="auto">
          <a:xfrm>
            <a:off x="580614" y="1204227"/>
            <a:ext cx="6343650" cy="52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分时启动</a:t>
            </a:r>
          </a:p>
        </p:txBody>
      </p:sp>
      <p:graphicFrame>
        <p:nvGraphicFramePr>
          <p:cNvPr id="485382" name="Object 6"/>
          <p:cNvGraphicFramePr>
            <a:graphicFrameLocks noChangeAspect="1"/>
          </p:cNvGraphicFramePr>
          <p:nvPr/>
        </p:nvGraphicFramePr>
        <p:xfrm>
          <a:off x="684213" y="1773238"/>
          <a:ext cx="7559675" cy="437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714037" imgH="2728570" progId="Visio.Drawing.11">
                  <p:embed/>
                </p:oleObj>
              </mc:Choice>
              <mc:Fallback>
                <p:oleObj name="Visio" r:id="rId3" imgW="4714037" imgH="2728570" progId="Visio.Drawing.11">
                  <p:embed/>
                  <p:pic>
                    <p:nvPicPr>
                      <p:cNvPr id="4853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773238"/>
                        <a:ext cx="7559675" cy="437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8538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717" y="1124744"/>
            <a:ext cx="6481763" cy="491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CC4F4B04-67FA-4500-A326-A59DDBAE1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034" y="171664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735288-8A45-9594-4993-BD9CD6CCB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DF8930-F74C-4D95-AE0B-1C7D507E31BE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92005A-EEBF-CE98-613E-CD4E0747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40092A-6161-D091-825A-97D2A55F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354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5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5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85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85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Text Box 2"/>
          <p:cNvSpPr txBox="1">
            <a:spLocks noChangeArrowheads="1"/>
          </p:cNvSpPr>
          <p:nvPr/>
        </p:nvSpPr>
        <p:spPr bwMode="auto">
          <a:xfrm>
            <a:off x="652463" y="3141663"/>
            <a:ext cx="7375525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存储器的各个体一般是按字交叉的，低位字交叉存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储器非常适合于处理：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读失效，写回法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中的写回</a:t>
            </a:r>
          </a:p>
        </p:txBody>
      </p:sp>
      <p:sp>
        <p:nvSpPr>
          <p:cNvPr id="495619" name="Text Box 3"/>
          <p:cNvSpPr txBox="1">
            <a:spLocks noChangeArrowheads="1"/>
          </p:cNvSpPr>
          <p:nvPr/>
        </p:nvSpPr>
        <p:spPr bwMode="auto">
          <a:xfrm>
            <a:off x="684213" y="1268413"/>
            <a:ext cx="6343650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性能举例：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参照前面的假设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失效开销＝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4×4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44(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周期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带宽＝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0.4(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字节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周期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E1B46FF-D299-486C-8145-549A75F7D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034" y="171664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69EEFF-0938-A7A2-1606-795BC678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CC92CD-CC42-44E5-9275-EF3676F11C54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60E1F1-E309-40C2-AE5F-00C1E996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721048-93F1-818B-BAA5-82113792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4648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900113" y="1698625"/>
            <a:ext cx="7467600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假设某台机器的特性及其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的性能为：</a:t>
            </a:r>
          </a:p>
          <a:p>
            <a:pPr marL="702000" indent="-342900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块大小为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个字</a:t>
            </a:r>
          </a:p>
          <a:p>
            <a:pPr marL="702000" indent="-342900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存储器总线宽度为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个字（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位）</a:t>
            </a:r>
          </a:p>
          <a:p>
            <a:pPr marL="702000" indent="-342900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失效率为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3%</a:t>
            </a:r>
          </a:p>
          <a:p>
            <a:pPr marL="702000" indent="-342900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平均每条指令访存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次</a:t>
            </a:r>
          </a:p>
          <a:p>
            <a:pPr marL="702000" indent="-342900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失效开销为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个时钟周期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和上面相同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</a:p>
          <a:p>
            <a:pPr marL="702000" indent="-342900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平均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CPI(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忽略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试问多体交叉和增加存储器宽度对提高性能各有何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作用？    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611188" y="1196975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例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5.14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6BC1CE-DC75-4D82-A21E-84CD881EE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74347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C33E60-7141-58F3-2774-20A314FA2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D4E2FB-8C95-4E95-A64D-E80A37FE431B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BC77721-CD7C-3B0B-7EC8-DB0525EB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2AA80F-AEBE-925E-1404-BDB1956A5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892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2"/>
          <p:cNvSpPr txBox="1">
            <a:spLocks noChangeArrowheads="1"/>
          </p:cNvSpPr>
          <p:nvPr/>
        </p:nvSpPr>
        <p:spPr bwMode="auto">
          <a:xfrm>
            <a:off x="971550" y="1268413"/>
            <a:ext cx="72009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如果当把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块大小变为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个字时，失效率降为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2%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；块大小变为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个字时，失效率降为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1%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根据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前面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中给出的访问时间，求在采用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路、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路多体交叉存取以及将存储器和总线宽度增加一倍时，性能分别提高多少？</a:t>
            </a: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684213" y="4089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解：</a:t>
            </a: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1331913" y="4038600"/>
            <a:ext cx="6769100" cy="1569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在改变前的机器中，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块大小为一个字，其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CPI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为：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(1.2×3%×32)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3.15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9AA8CFA-771C-4DF2-A819-C3B642405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74347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01F9AF-24B1-1F6A-64DE-1A1673DF2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F7A1A3-1017-4D54-BC4B-D1AD2C18C09F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1D4287-80D3-D65D-8130-CDF04F71E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95C30E-471C-BFD9-07DE-ABDA734AA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52298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2"/>
          <p:cNvSpPr txBox="1">
            <a:spLocks noChangeArrowheads="1"/>
          </p:cNvSpPr>
          <p:nvPr/>
        </p:nvSpPr>
        <p:spPr bwMode="auto">
          <a:xfrm>
            <a:off x="965572" y="1192212"/>
            <a:ext cx="7489824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当将块大小增加为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个字时，在下面三种情况下的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CPI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分别为：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(1) 32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位总线和存储器，不采用多体交叉： 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(1.2×2%×2×32)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3.54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 32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位总线和存储器，采用多体交叉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路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(1.2×2%×(4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8))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2.86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性能提高了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10%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(3) 64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位总线和存储器，不采用多体交叉： 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(1.2×2%×1×32)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2.77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性能提高了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14%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BD31F2-2E8D-4DA9-851B-AF22BA0B6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88640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DEFF42-87E7-AB21-B486-C83F2051A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E21044-6177-4ED7-80D5-8AE018A7F6FF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35553D-45CB-CEBF-8C52-5CF3E737E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0A81B4-769B-5FF4-B5CE-DCA8923E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67340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1027"/>
          <p:cNvSpPr>
            <a:spLocks noChangeArrowheads="1"/>
          </p:cNvSpPr>
          <p:nvPr/>
        </p:nvSpPr>
        <p:spPr bwMode="auto">
          <a:xfrm>
            <a:off x="1115616" y="1412776"/>
            <a:ext cx="6647974" cy="4190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Aft>
                <a:spcPct val="20000"/>
              </a:spcAft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如果将块大小增加到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个字，则：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(1) 32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位总线和存储器，不采用多体交叉： 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(1.2×1%×4×32)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3.54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 32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位总线和存储器，采用多体交叉（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路）： 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(1.2×1%×(4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16))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2.53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性能提高了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25%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(3) 64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位总线和存储器，不采用多体交叉： 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(1.2×1%×2×32)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2.77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性能提高了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14%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913740-E3CA-4FA5-AD77-76D6618B3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74347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318154-77DA-1381-3261-1B9BDD8A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291B20-599E-4E79-B1CE-C6F22D1726DB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6F57C9-7967-4339-A875-DD4746E8B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2C12DE-917B-FB49-F8CA-2A6ACC4D6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1203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827088" y="1196975"/>
            <a:ext cx="7848600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采用简单的多体交叉存储器</a:t>
            </a:r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存储体的数目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</a:t>
            </a:r>
          </a:p>
          <a:p>
            <a:pPr eaLnBrk="1" hangingPunct="1">
              <a:lnSpc>
                <a:spcPct val="140000"/>
              </a:lnSpc>
            </a:pP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体的数目≥访问体中一个字所需的时钟周期</a:t>
            </a:r>
          </a:p>
        </p:txBody>
      </p:sp>
      <p:graphicFrame>
        <p:nvGraphicFramePr>
          <p:cNvPr id="333830" name="Object 6"/>
          <p:cNvGraphicFramePr>
            <a:graphicFrameLocks noChangeAspect="1"/>
          </p:cNvGraphicFramePr>
          <p:nvPr/>
        </p:nvGraphicFramePr>
        <p:xfrm>
          <a:off x="1042988" y="2089150"/>
          <a:ext cx="7416800" cy="371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714037" imgH="2587142" progId="Visio.Drawing.11">
                  <p:embed/>
                </p:oleObj>
              </mc:Choice>
              <mc:Fallback>
                <p:oleObj name="Visio" r:id="rId2" imgW="4714037" imgH="2587142" progId="Visio.Drawing.11">
                  <p:embed/>
                  <p:pic>
                    <p:nvPicPr>
                      <p:cNvPr id="3338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089150"/>
                        <a:ext cx="7416800" cy="371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2" name="Object 8"/>
          <p:cNvGraphicFramePr>
            <a:graphicFrameLocks noChangeAspect="1"/>
          </p:cNvGraphicFramePr>
          <p:nvPr/>
        </p:nvGraphicFramePr>
        <p:xfrm>
          <a:off x="1042988" y="2205038"/>
          <a:ext cx="7345362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714037" imgH="2587142" progId="Visio.Drawing.11">
                  <p:embed/>
                </p:oleObj>
              </mc:Choice>
              <mc:Fallback>
                <p:oleObj name="Visio" r:id="rId4" imgW="4714037" imgH="2587142" progId="Visio.Drawing.11">
                  <p:embed/>
                  <p:pic>
                    <p:nvPicPr>
                      <p:cNvPr id="3338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205038"/>
                        <a:ext cx="7345362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3FC9D30A-5638-4E5D-A684-0572BC62B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74347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70B66C-3117-2AB2-135D-37D592B04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E662DD-5220-4848-B52A-47BFF2F29FE8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3A3EB0-DF05-87A5-3503-1BA9C8A13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12765B-9538-1946-0955-FF41BDE47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575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3338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38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1116013" y="2781300"/>
            <a:ext cx="7488237" cy="219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每个体有独立的地址线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非阻塞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与多体结构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失效时仍允许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进行其它的访存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这样的设计对于独立多体结构才有意义。</a:t>
            </a: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684213" y="1268413"/>
            <a:ext cx="7488237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独立存储体</a:t>
            </a:r>
          </a:p>
          <a:p>
            <a:pPr lvl="1" eaLnBrk="1" hangingPunct="1">
              <a:lnSpc>
                <a:spcPct val="120000"/>
              </a:lnSpc>
              <a:spcBef>
                <a:spcPct val="30000"/>
              </a:spcBef>
            </a:pPr>
            <a:r>
              <a:rPr kumimoji="1" lang="zh-CN" altLang="en-US" sz="24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设置多个存储控制器，使多个体能独立操作，以便能同时进行多个独立的访存。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FFB980-2E55-4229-BCDA-AB92FE1E6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74347"/>
            <a:ext cx="7489825" cy="73718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5.6.1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存储器组织技术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2D45B6-296D-2DD3-52D4-08E43C3B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C65409-4CE9-47D3-A711-883918E59CA8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0307F9-2AD5-1730-7003-1C39D10DF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D5D357-D030-045C-9640-109056B46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7069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>
            <a:extLst>
              <a:ext uri="{FF2B5EF4-FFF2-40B4-BE49-F238E27FC236}">
                <a16:creationId xmlns:a16="http://schemas.microsoft.com/office/drawing/2014/main" id="{FBE121AD-D58D-4966-8C2D-C4CFFE86A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1785938"/>
            <a:ext cx="7786687" cy="353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24B457-1382-E52F-492F-0901D7FD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A2CD4D-D1C7-4532-8DD4-EC1A987C079B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116A95-9DAA-B6F2-BFFA-1B2F316A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50C7A-DEF9-7265-690D-CE0E361C9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38</a:t>
            </a:fld>
            <a:endParaRPr lang="en-US" altLang="zh-C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/>
          <p:cNvSpPr txBox="1">
            <a:spLocks noChangeArrowheads="1"/>
          </p:cNvSpPr>
          <p:nvPr/>
        </p:nvSpPr>
        <p:spPr bwMode="auto">
          <a:xfrm>
            <a:off x="885825" y="1125538"/>
            <a:ext cx="7286625" cy="4329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 DRAM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与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SRAM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容量：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～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存储周期：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～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16:1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价格：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～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16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一般来说：主存：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DRAM     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SRAM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Amdahl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经验规则：</a:t>
            </a:r>
          </a:p>
          <a:p>
            <a:pPr marL="702000" indent="-342900" eaLnBrk="1" hangingPunct="1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为了保持系统平衡，存储容量应随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速度的提高而线性增加。 （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4/3y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646113" y="231775"/>
            <a:ext cx="7381875" cy="6762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5.6.2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存储器芯片技术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318415-99EF-3CA9-832B-360F4B342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FD7825-4017-4F17-971A-D7BED514C355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487562-E008-A192-4407-295CF68F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4E99CD-E3A6-1160-AA1F-B472A12E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51817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59">
            <a:extLst>
              <a:ext uri="{FF2B5EF4-FFF2-40B4-BE49-F238E27FC236}">
                <a16:creationId xmlns:a16="http://schemas.microsoft.com/office/drawing/2014/main" id="{91DE99F4-86DA-4DCA-9B07-9EE8BE06F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163513"/>
            <a:ext cx="6275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楷体_GB2312" pitchFamily="49" charset="-122"/>
                <a:ea typeface="楷体_GB2312" pitchFamily="49" charset="-122"/>
              </a:rPr>
              <a:t>各代 </a:t>
            </a:r>
            <a:r>
              <a:rPr kumimoji="1" lang="en-US" altLang="zh-CN" sz="2800" dirty="0">
                <a:latin typeface="楷体_GB2312" pitchFamily="49" charset="-122"/>
                <a:ea typeface="楷体_GB2312" pitchFamily="49" charset="-122"/>
              </a:rPr>
              <a:t>DRAM </a:t>
            </a:r>
            <a:r>
              <a:rPr kumimoji="1" lang="zh-CN" altLang="en-US" sz="2800" dirty="0">
                <a:latin typeface="楷体_GB2312" pitchFamily="49" charset="-122"/>
                <a:ea typeface="楷体_GB2312" pitchFamily="49" charset="-122"/>
              </a:rPr>
              <a:t>的典型时间参数</a:t>
            </a:r>
          </a:p>
        </p:txBody>
      </p:sp>
      <p:pic>
        <p:nvPicPr>
          <p:cNvPr id="5" name="图片 6">
            <a:extLst>
              <a:ext uri="{FF2B5EF4-FFF2-40B4-BE49-F238E27FC236}">
                <a16:creationId xmlns:a16="http://schemas.microsoft.com/office/drawing/2014/main" id="{07EB65A9-CFA7-4D72-94E5-63A6B36517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" y="1000125"/>
            <a:ext cx="8980488" cy="569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288346-3688-BF87-37B1-5C25A569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160CD5-A208-4B6D-9AB6-4DBDC4B1F24B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00B6A4-AD0E-610E-6387-C3B179A4E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F8C770-0C35-7B7C-1D54-40D9088D7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40</a:t>
            </a:fld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Text Box 2"/>
          <p:cNvSpPr txBox="1">
            <a:spLocks noChangeArrowheads="1"/>
          </p:cNvSpPr>
          <p:nvPr/>
        </p:nvSpPr>
        <p:spPr bwMode="auto">
          <a:xfrm>
            <a:off x="885825" y="1125538"/>
            <a:ext cx="7286625" cy="239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2. DIMM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dual inline memory modules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多个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DRAM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芯片经常被组装在称为条的小型板上，构成“双列直插式存储模块”。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一个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DIMM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通常包含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4~16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片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DRAM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芯片，这些芯片常被组织成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字节宽的主存（带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ECC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校验）</a:t>
            </a:r>
          </a:p>
        </p:txBody>
      </p:sp>
      <p:sp>
        <p:nvSpPr>
          <p:cNvPr id="326659" name="Rectangle 3"/>
          <p:cNvSpPr>
            <a:spLocks noChangeArrowheads="1"/>
          </p:cNvSpPr>
          <p:nvPr/>
        </p:nvSpPr>
        <p:spPr bwMode="auto">
          <a:xfrm>
            <a:off x="646113" y="231775"/>
            <a:ext cx="7381875" cy="6762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5.6.2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存储器芯片技术</a:t>
            </a:r>
          </a:p>
        </p:txBody>
      </p:sp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3643313"/>
            <a:ext cx="2520950" cy="223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697288"/>
            <a:ext cx="3311525" cy="217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B13CC5-5ABE-1462-DA2F-C4CA84564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FE5DBC-BBF5-46D6-B75A-C5BEECD3DE93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51C1F9-16EA-C2A3-0A17-4E3ADC66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6F107E-F3BE-F6EA-10B7-A5362074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0633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268760"/>
            <a:ext cx="8318375" cy="5670558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3. DRAM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芯片优化技术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芯片内部优化技术是提高主存系统性能的一个重要方面。    </a:t>
            </a:r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SDRAM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Synchronous DRAM</a:t>
            </a:r>
            <a:r>
              <a:rPr kumimoji="1" lang="zh-CN" altLang="en-US" sz="2400" b="1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kumimoji="1" lang="en-US" altLang="zh-CN" sz="2400" b="1">
                <a:latin typeface="Times New Roman" panose="02020603050405020304" pitchFamily="18" charset="0"/>
                <a:ea typeface="华文中宋" panose="02010600040101010101" pitchFamily="2" charset="-122"/>
              </a:rPr>
              <a:t>DRAM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接口增加一个时钟信号可使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DRAM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能针对一个请求连续同步地传输多个数据而不需同步开销。</a:t>
            </a:r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DDR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double data rate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）：在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DRAM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时钟的上沿和下沿都进行数据传输，可把数据传输率提高一倍。</a:t>
            </a:r>
            <a:endParaRPr kumimoji="1"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CDRAM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 DRAM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: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带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DRAM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DRAM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芯片里集成一个小的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SRAM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，暂存最后读出行数据。</a:t>
            </a:r>
          </a:p>
        </p:txBody>
      </p:sp>
      <p:sp>
        <p:nvSpPr>
          <p:cNvPr id="328708" name="Rectangle 4"/>
          <p:cNvSpPr>
            <a:spLocks noChangeArrowheads="1"/>
          </p:cNvSpPr>
          <p:nvPr/>
        </p:nvSpPr>
        <p:spPr bwMode="auto">
          <a:xfrm>
            <a:off x="646113" y="231775"/>
            <a:ext cx="7381875" cy="6762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5.6.2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存储器芯片技术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2C4A7C-9B4B-8B1E-B30D-55DC3541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2F973E-9880-42B1-9A5F-F304F72B9487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B41D1A-CDC5-1BD8-B06E-A78AE36D2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236E77-7180-7813-12F7-016A6252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3695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>
            <a:extLst>
              <a:ext uri="{FF2B5EF4-FFF2-40B4-BE49-F238E27FC236}">
                <a16:creationId xmlns:a16="http://schemas.microsoft.com/office/drawing/2014/main" id="{16B0E7BC-A672-4C23-8072-FD76639D4A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341438"/>
            <a:ext cx="7856537" cy="42672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总结：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DDR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技术规定的标准电压为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2.5V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DDR2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技术的电压将为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1.8V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，工作频率范围为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266MHz~400MHz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DDR3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的电压为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1.5V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，最大工作频率为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800MHz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DDR4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的电压为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1.2V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，最大工作频率为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1600MHz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存储器优化技术都是通过增加少量逻辑来开发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DRAM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内部潜在的高带宽，这种优化代价很小，却能使带宽显著提高。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C3DA95-5054-4334-915F-229201A63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231775"/>
            <a:ext cx="7381875" cy="6762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5.6.2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存储器芯片技术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2454FB-EA36-3535-A90D-6D4F6904F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576DBF-091A-4EC1-B322-A1019AA2ACAF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ADEA0D-9926-7097-D4D3-008D5AD30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00DA76-FFAE-E705-775C-04AFBAA39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43</a:t>
            </a:fld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hlinkClick r:id="rId2" action="ppaction://hlinksldjump"/>
            <a:extLst>
              <a:ext uri="{FF2B5EF4-FFF2-40B4-BE49-F238E27FC236}">
                <a16:creationId xmlns:a16="http://schemas.microsoft.com/office/drawing/2014/main" id="{9ED3B245-1407-4AC6-BDF5-B6287B809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61F6D9-0E24-5409-9512-67809AAA0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CDCFF9-0299-4F62-8968-6C1EB181B546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5FFAE4-D20C-81D3-31EB-A28DF8F1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4D89DB-45FB-66D8-74AE-AC26AB82D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94036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5-27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277813"/>
            <a:ext cx="7643812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6DC07E-4792-6349-29E7-EDA7DE978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D6D273-72BE-4963-BC8F-FDE34723E485}" type="datetime1">
              <a:rPr lang="zh-CN" altLang="en-US" smtClean="0"/>
              <a:t>2025/11/7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35DB2C-0C44-1B7A-BF8C-284926999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计算机系统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4679AA-2538-203C-FF00-83CF3E7A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80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12066</TotalTime>
  <Words>3025</Words>
  <Application>Microsoft Office PowerPoint</Application>
  <PresentationFormat>全屏显示(4:3)</PresentationFormat>
  <Paragraphs>502</Paragraphs>
  <Slides>45</Slides>
  <Notes>31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58" baseType="lpstr">
      <vt:lpstr>黑体</vt:lpstr>
      <vt:lpstr>华文中宋</vt:lpstr>
      <vt:lpstr>楷体_GB2312</vt:lpstr>
      <vt:lpstr>宋体</vt:lpstr>
      <vt:lpstr>幼圆</vt:lpstr>
      <vt:lpstr>Arial</vt:lpstr>
      <vt:lpstr>Calibri</vt:lpstr>
      <vt:lpstr>Tahoma</vt:lpstr>
      <vt:lpstr>Times New Roman</vt:lpstr>
      <vt:lpstr>Wingdings</vt:lpstr>
      <vt:lpstr>Office 主题​​</vt:lpstr>
      <vt:lpstr>图片</vt:lpstr>
      <vt:lpstr>Visio</vt:lpstr>
      <vt:lpstr>计算机体系结构</vt:lpstr>
      <vt:lpstr>Recap</vt:lpstr>
      <vt:lpstr>5.5 减少命中时间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5.5.6 Trace Cache</vt:lpstr>
      <vt:lpstr>5.5.6 Trace Cache</vt:lpstr>
      <vt:lpstr>5.5.7 减少命中时间方法总结</vt:lpstr>
      <vt:lpstr>PowerPoint 演示文稿</vt:lpstr>
      <vt:lpstr>第 5 章  存储层次</vt:lpstr>
      <vt:lpstr>5.6 主 存</vt:lpstr>
      <vt:lpstr>5.6 主 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suzi</dc:creator>
  <cp:lastModifiedBy>hw liu</cp:lastModifiedBy>
  <cp:revision>2156</cp:revision>
  <cp:lastPrinted>2023-10-31T06:59:33Z</cp:lastPrinted>
  <dcterms:created xsi:type="dcterms:W3CDTF">2113-01-01T00:00:00Z</dcterms:created>
  <dcterms:modified xsi:type="dcterms:W3CDTF">2025-11-07T03:44:38Z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2052-10.1.0.7520</vt:lpwstr>
  </property>
</Properties>
</file>